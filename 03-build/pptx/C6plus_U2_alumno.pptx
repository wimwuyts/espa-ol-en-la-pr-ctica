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77" r:id="rId28"/>
    <p:sldId id="278" r:id="rId29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2 · Airbnb honesto — ✍️ creatieve beperking</a:t>
            </a:r>
          </a:p>
          <a:p>
            <a:r>
              <a:t>OPDRACHT: Schrijf de advertentie met de zes gebreken erin, en zonder te liegen.</a:t>
            </a:r>
          </a:p>
          <a:p>
            <a:r>
              <a:t>DE REGEL: Alle zes de gebreken staan erin, letterlijk. Je mag ze omkaderen maar niet weglaten, en je mag niets verzinnen dat er niet is.</a:t>
            </a:r>
          </a:p>
          <a:p>
            <a:r>
              <a:t>VERLOOP: Leed el piso y sus seis defectos. | Buscad para cada defecto su lado bueno. | Escribid el anuncio: ocho frases. | La clase vota: ¿lo alquilan o no?</a:t>
            </a:r>
          </a:p>
          <a:p>
            <a:r>
              <a:t>SLEUTEL: De opdracht traint precies wat het leerplan «functioneel taalgebruik» noemt: dezelfde waarheid anders kaderen zonder te liegen. «No hay ascensor» wordt «un cuarto piso sin ascensor: subes las escaleras y ya has hecho deporte».  ||  «Aunque» en «así que» zijn de twee conectoren die het werk doen. Wie er geen enkele gebruikt, heeft een lijst geschreven, geen advertentie.  ||  De stemming aan het eind is de toets: als niemand het zou huren, is het te eerlijk geworden; als iedereen het zou huren, is er iets weggemoffeld. Kijk na welk gebrek.</a:t>
            </a:r>
          </a:p>
          <a:p>
            <a:r>
              <a:t>NOTA: Vergelijk met een echte advertentie op het scherm. De klas ziet meteen welke gebreken daar níet in staan — en dat is het beste gesprek van de les.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5 · Reforma con 500 € — ⚖️ onderhandeling &amp; dilemma</a:t>
            </a:r>
          </a:p>
          <a:p>
            <a:r>
              <a:t>OPDRACHT: Beslis wat jullie kopen en zeg exact waar elk ding komt.</a:t>
            </a:r>
          </a:p>
          <a:p>
            <a:r>
              <a:t>DE REGEL: Vijfhonderd euro, geen cent meer. En elke aankoop wordt verdedigd met een plaatsbepaling: «la estantería, encima del escritorio, porque…». Zonder plaats telt het voorstel niet.</a:t>
            </a:r>
          </a:p>
          <a:p>
            <a:r>
              <a:t>VERLOOP: Mirad la habitación y la lista de precios. | Cada uno propone dos cosas, con su sitio. | Negociad hasta los 500 €. | Presentad la habitación nueva a la clase.</a:t>
            </a:r>
          </a:p>
          <a:p>
            <a:r>
              <a:t>SLEUTEL: De kamer is twaalf vierkante meter: de kast van 150 € vreet bijna een derde van het budget én de ruimte. Elke groep botst op die keuze.  ||  De plaatsbepaling is de taalopdracht; het budget is alleen de motor. Toets of elk voorstel een voorzetsel bevat.  ||  De vorm die op de tong ligt («yo pondría») is condicional en hoort niet in dit leerplan. Het marco geeft daarom «yo pongo»; «propongo poner» werkt even goed.</a:t>
            </a:r>
          </a:p>
          <a:p>
            <a:r>
              <a:t>NOTA: Werk met echte prijzen van een echte winkel als je die bij de hand hebt. Het verschil in ernst is meteen hoorbaar.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9 · Tour de 40 segundos — 📻 mediaformat</a:t>
            </a:r>
          </a:p>
          <a:p>
            <a:r>
              <a:t>OPDRACHT: Doe de rondgang al pratend: zes voorzetsels en drie gerundio's, zonder te stoppen.</a:t>
            </a:r>
          </a:p>
          <a:p>
            <a:r>
              <a:t>DE REGEL: Eén doorlopende take van veertig seconden. Stoppen mag niet, herbeginnen wel — maar dan vanaf nul. Zes verschillende voorzetsels en drie gerundio's.</a:t>
            </a:r>
          </a:p>
          <a:p>
            <a:r>
              <a:t>VERLOOP: Planifica la ruta: de la puerta al último sitio. | Escribe las seis preposiciones que vas a usar. | Graba de una vez, sin cortes. | ¿Cuarenta segundos? ¿Seis y tres? Si no, otra vez.</a:t>
            </a:r>
          </a:p>
          <a:p>
            <a:r>
              <a:t>SLEUTEL: De combinatie is de moeilijkheid: gerundio's om de beweging te dragen («pasando», «subiendo») en voorzetsels om de plaatsen vast te zetten. In één take betekent dat vooruit denken terwijl je praat.  ||  Veertig seconden is bewust krap: het dwingt tot een route in plaats van een opsomming.  ||  Wie zijn eigen huis niet wil filmen, doet de school, een verzonnen huis of alleen de audio. Beoordeeld wordt de taal, niet het beeld.</a:t>
            </a:r>
          </a:p>
          <a:p>
            <a:r>
              <a:t>NOTA: Zonder camera werkt het even goed: ogen dicht en de rondgang alleen in woorden. Sommige leerlingen leveren dan hun beste Spaans.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7.xml"/><Relationship Id="rId5" Type="http://schemas.openxmlformats.org/officeDocument/2006/relationships/slide" Target="slide11.xml"/><Relationship Id="rId6" Type="http://schemas.openxmlformats.org/officeDocument/2006/relationships/slide" Target="slide10.xml"/><Relationship Id="rId7" Type="http://schemas.openxmlformats.org/officeDocument/2006/relationships/slide" Target="slide9.xml"/><Relationship Id="rId8" Type="http://schemas.openxmlformats.org/officeDocument/2006/relationships/slide" Target="slide17.xml"/><Relationship Id="rId9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14736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CARTAGENA 🇨🇴 · AQUÍ VIVO 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FFFFFF"/>
                </a:solidFill>
                <a:latin typeface="Bricolage Grotesque"/>
              </a:rPr>
              <a:t>Aquí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Tu casa y tu barrio: hay/estar + preposiciones · estar + gerundio · lo/la/los/las.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¿Dónde vives tú?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Waar woon jij?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2: Cartagena (Valen)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«Mapa de mi barrio»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La casa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habitaciones · muebles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Hay / 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+ preposiciones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Gerundio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estar + -ando/-iendo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Lo / 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los/las (OD)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barrio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cómo llegar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10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mi barrio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vivienda hispana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🗺️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barrio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plano + ruta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casa — habitaciones y muebles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je huis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dormitorio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slaapkamer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cama, el armario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salón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woonkamer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sofá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cocina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keuken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nevera, la mesa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baño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badkamer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espejo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cama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bed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dormir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sofá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zetel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salón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armario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ropa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nevera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koelkast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cocina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¡Ojo! el/la: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el dormitorio, el salón, el sofá (m) · la cocina, la cama, la nevera (v)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En cada habitación hay muebles: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en el dormitorio hay una cama; en el salón, un sofá.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el sofá (m ondanks -á) · la mano, la foto (v ondanks -o).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vs estar — ¿qué y dónde?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hay = er is (onbepaald) · está(n) = staat (bepaald). Kleur = de functie.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En el salón </a:t>
            </a:r>
            <a:r>
              <a:rPr sz="1800" b="1" i="0">
                <a:solidFill>
                  <a:srgbClr val="EA7317"/>
                </a:solidFill>
                <a:latin typeface="Inter"/>
              </a:rPr>
              <a:t>hay </a:t>
            </a:r>
            <a:r>
              <a:rPr sz="1600" b="1" i="0">
                <a:solidFill>
                  <a:srgbClr val="B4309A"/>
                </a:solidFill>
                <a:latin typeface="Inter"/>
              </a:rPr>
              <a:t>un sofá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563EB"/>
                </a:solidFill>
                <a:latin typeface="Inter"/>
              </a:rPr>
              <a:t>El sofá </a:t>
            </a:r>
            <a:r>
              <a:rPr sz="1800" b="1" i="0">
                <a:solidFill>
                  <a:srgbClr val="64748B"/>
                </a:solidFill>
                <a:latin typeface="Inter"/>
              </a:rPr>
              <a:t>está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delante de la tele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hay + un/una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19" y="288036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onbepaald: hay un parque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hay + dos/mucho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355701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hay dos baños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hay = invariable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19" y="423367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verandert nooit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está + el/la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199" y="288036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bepaald: el parque está…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están + los/las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199" y="355701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los libros están…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🔴 hay ≠ está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423367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un parque / el parque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920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onbepaald (un/dos/mucho) → hay · bepaald (el/la/mi) → está(n). Hay un parque → El parque está cerca.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¿hay o está(n)?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het lidwoord.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En el salón ___ un sofá.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 sofá ___ delante de la tele.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En mi barrio ___ dos parques.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Los parques ___ cerca.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¿___ una farmacia cerca?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La farmacia ___ en la esquina.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un/una/dos/mucho → hay · el/la/los/las/mi → está(n).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preposiciones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preposición. Casi todas met «de» (de+el=del).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op / boven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encima 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onder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debajo 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naast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al lado 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vóór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delante 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achter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detrás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tussen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entre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dichtbij ↔ 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cerca de ↔ lejos 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rechts ↔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a la derecha/izquierda 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La habitación: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La cama está al lado de la ventana. Los libros están encima de la estantería.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de + el = del: al lado del banco (niet «de el»). Bij la/los/las blijft de: al lado de la plaza.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+ gerundio — ahora mismo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estar + -ando (-ar) / -iendo (-er,-ir). «aan het …».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Bricolage Grotesque"/>
              </a:rPr>
              <a:t>Valen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está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cocinando </a:t>
            </a:r>
            <a:r>
              <a:rPr sz="2200" b="1" i="0">
                <a:solidFill>
                  <a:srgbClr val="64748B"/>
                </a:solidFill>
                <a:latin typeface="Bricolage Grotesque"/>
              </a:rPr>
              <a:t>en la cocina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formación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-ar cocinar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A7317"/>
                </a:solidFill>
                <a:latin typeface="Inter"/>
              </a:rPr>
              <a:t>cocin- + ando → cocinando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-er comer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A7317"/>
                </a:solidFill>
                <a:latin typeface="Inter"/>
              </a:rPr>
              <a:t>com- + iendo → comiendo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-ir escribir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A7317"/>
                </a:solidFill>
                <a:latin typeface="Inter"/>
              </a:rPr>
              <a:t>escrib- + iendo → escribiendo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4" name="Rounded Rectangle 3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estar (vervoegd) + gerundio. Enkel estar verandert: estoy/estás/está… comiendo.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Onregelmatig: leer→leyendo · dormir→durmiendo · pedir→pidiendo · decir→diciendo.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están haciendo?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Valen ___ (cocinar).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 cocinando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(estudiar).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estoy estudiando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Los niños ___ (dormir).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están durmiendo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¿Tú ___ (leer)?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estás leyendo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Mamá ___ (escribir).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 escribiendo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Diego ___ (pedir) pizza.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está pidiendo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Enkel estar verandert: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estoy/estás/está/estamos/estáis/están + gerundio.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Irregulares: leyendo · durmiendo · pidiendo.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perfiles — «Mi barrio»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a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«Vivo en el centro histórico de Cartagena. Mi casa es antigua, con un balcón con flores. Delante hay una plaza; al lado está la panadería. Mi barrio es tranquilo.»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«Vivo en un barrio grande de CDMX. Es ruidoso pero me gusta. Detrás de mi edificio hay un mercado. El metro está cerca y lo cojo cada día.»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hay delante de la casa de Valen?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Una plaza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¿Dónde está la panadería?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Al lado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¿Cómo es el barrio de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Ruidoso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transporte coge Diego?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metro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hay/está + lugares — niet élk woord.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¿Cómo llego a la plaza?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de ruta. Klik un paso → de instructie. (audio + plano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1️⃣ Sal de casa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…y ve a la calle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2️⃣ Sigue recto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hasta el semáforo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3️⃣ Gira a la derecha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en la esquina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🔊 paso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4️⃣ La plaza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7C56A9"/>
                </a:solidFill>
                <a:latin typeface="Inter"/>
              </a:rPr>
              <a:t>está a la izquierda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«Sal de casa, sigue recto hasta el semáforo, gira a la derecha y la plaza está a la izquierda.»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vraagt de weg, B geeft die (info-gap).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lo/la/los/las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Vervang het voorwerp; concordancia + plaats vóór het werkwoord.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Veo </a:t>
            </a:r>
            <a:r>
              <a:rPr sz="1600" b="1" i="0">
                <a:solidFill>
                  <a:srgbClr val="B4309A"/>
                </a:solidFill>
                <a:latin typeface="Inter"/>
              </a:rPr>
              <a:t>la casa</a:t>
            </a:r>
            <a:r>
              <a:rPr sz="16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La</a:t>
            </a:r>
            <a:r>
              <a:rPr sz="1600" b="0" i="0">
                <a:solidFill>
                  <a:srgbClr val="20242E"/>
                </a:solidFill>
                <a:latin typeface="Inter"/>
              </a:rPr>
              <a:t> veo.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Compro </a:t>
            </a:r>
            <a:r>
              <a:rPr sz="1600" b="1" i="0">
                <a:solidFill>
                  <a:srgbClr val="B4309A"/>
                </a:solidFill>
                <a:latin typeface="Inter"/>
              </a:rPr>
              <a:t>los muebles</a:t>
            </a:r>
            <a:r>
              <a:rPr sz="1600" b="0" i="0">
                <a:solidFill>
                  <a:srgbClr val="6A6E78"/>
                </a:solidFill>
                <a:latin typeface="Inter"/>
              </a:rPr>
              <a:t> →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Los</a:t>
            </a:r>
            <a:r>
              <a:rPr sz="1600" b="0" i="0">
                <a:solidFill>
                  <a:srgbClr val="20242E"/>
                </a:solidFill>
                <a:latin typeface="Inter"/>
              </a:rPr>
              <a:t> compro.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2880360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m. ev. (el libro → lo)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880360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880360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880360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v. ev. (la casa → la)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575304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3575304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m. mv. (los muebles → los)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3575304"/>
            <a:ext cx="54864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575304"/>
            <a:ext cx="10972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B4309A"/>
                </a:solidFill>
                <a:latin typeface="Bricolage Grotesque"/>
              </a:rPr>
              <a:t>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575304"/>
            <a:ext cx="4114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v. mv. (las sillas → las)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434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het pronomen komt overeen (m/v·ev/mv) en staat vóór het vervoegde werkwoord.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Bij infinitief/gerundio ook achteraan: Voy a comprarlo = Lo voy a comprar · Estoy leyéndolo.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4215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¿lo, la, los o las?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het juiste pronomen. Kijk naar het voorwerp.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sofá? ___ pongo aquí.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 cama? ___ pongo aquí.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¿Los platos? ___ lavo.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¿Las sillas? ___ pongo.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¿La tele? ___ veo.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¿El coche? ___ aparco.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Concordancia: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el→lo · la→la · los→los · las→las. Plaats: vóór het werkwoord.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Describe tu casa y da la ruta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En mi casa hay…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¿Dónde está?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La cama está…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Preposición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…al lado de / encima de…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Cómo llegar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Sigue recto, gira…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Distancia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Está a … minutos.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Opinión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Me gusta porque…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839358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habitación / da direcciones»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«En mi cuarto hay una cama y un armario. La cama está al lado de la ventana. Para ir a la plaza, sigue recto y gira a la derecha.»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Mapa de mi barrio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buurtbeschrijving.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aquí tu barrio: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qué hay (hay un/una…)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dónde está (está al lado de…)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4 preposiciones de lugar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ruta (sigue recto, gira…)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la distancia (a … minutos)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(me gusta… porque)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«En mi barrio hay una plaza y un parque. La tienda está al lado de mi casa. Para ir al insti, sigo recto y giro a la izquierda; está a cinco minutos. Me gusta mi barrio porque es tranquilo.»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barrio y las direcciones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plaza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het plein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el parque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het 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tienda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winkel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farmacia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1554480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apotheek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parada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halte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el semáforo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verkeerslicht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sigue recto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ga rechtdoor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gira a la derecha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2322576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sla rechts af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cruza la calle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steek over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está a … minutos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348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op … minuten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¿cómo llego a…?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hoe geraak ik bij…?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la esquina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3090672"/>
            <a:ext cx="9601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→ de hoek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Direcciones: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¿Cómo llego a…? → sigue recto · gira a la derecha/izquierda · cruza · está a … minutos.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Lugares: la plaza, el parque, la tienda, la farmacia, la parada, la estación, el banco.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b/v + adverbios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ruimte.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b of v (klinken gelijk)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_entana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ventana (v)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_arrio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41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barrio (b)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_ivir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vivir (v)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_alcón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5818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balcón (b)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adverbios: aquí · ahí · allí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aquí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hier (dichtbij)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ahí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 (bij jou)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allí / allá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 (ver)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cerca ↔ lejos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dichtbij ↔ ver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b en v klinken gelijk (≈ b); de spelling leer je uit het hoofd: ventana, vivir, barrio, balcón.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aquí (hier) · ahí (bij jou) · allí/allá (ver).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5584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2: CARTAGENA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vivienda hispana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Patios, balcones y plazas.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🏛️ El patio andaluz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het zuiden van España (Sevilla, Córdoba) heeft het huis een patio: een binnentuin met planten en een fontein, koel in de zomer.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Lucía kent ze goed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🌺 Los balcones de Cartagena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Cartagena (Colombia) zijn de koloniale huizen kleurrijk, met houten balcones vol bloemen. De ciudad amurallada is UNESCO-erfgoed.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Valen woont 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🟨 La plaza, corazón del barrio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Overal in de Spaanstalige wereld is de plaza het middelpunt: markt, terrasjes, ontmoeting. «Quedamos en la plaza».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corazón del barrio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compara tu casa/barrio con un patio o un balcón hispano. ¿Qué hay? ¿Qué es diferente?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🗺️ Tarea final · Mapa de mi barrio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Dibuja el plano de tu barrio y haz una ruta guiada.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Dibuja el plano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5–6 lugares (tienda, parque, parada…)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qué hay y dónde está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«hay un…» · «la tienda está al lado de…»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una ruta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«sigue recto, gira…» (está a … minutos)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«me gusta mi barrio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hay + está(n)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4 preposiciones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ruta (sigue/gira)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 (porque)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je barrio delen · situatie een rondleiding · resultaat: plano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el salón ___ un sofá (hay/está)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sofá ___ delante de la tele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de + el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comer → gerundio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comiendo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dormir → gerundio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durmiendo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¿La casa? ___ veo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¿Los muebles? ___ compro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«naast» 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al lado 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hay/estar + preposiciones · estar + gerundio · lo/la/los/las · direcciones.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Hay vs estar: hay + un/dos (onbepaald) · está(n) + el/la/mi (bepaald).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Preposiciones: encima/debajo/al lado/delante/detrás de · entre · cerca/lejos de. (de+el=del).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Estar + gerundio: estoy/estás/está… + -ando/-iendo. Irreg.: leyendo, durmiendo, pidiendo.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Lo/la/los/las (OD): vervangt het voorwerp, concordantie, vóór het ww. of achter inf./gerundio.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hay ≠ está · de+el=del · lo/la vóór het ww. · concordancia lo/la/los/las.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mijn huis beschrijven (habitaciones/muebles)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hay + estar + preposiciones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estar + gerundio (qué está pasando)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pronombres lo/la/los/las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weg vragen en wijzen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U2 · AQUÍ VIVO   ·   C6+ · aquí vivo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2 · CREATIEVE BEPERKING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Airbnb honesto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Todos los defectos tienen que salir. Y aún así hay que alquilarlo.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Alle gebreken moeten erin. En tóch moet het verhuurd raken.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Alle zes de gebreken staan erin, letterlijk. Je mag ze omkaderen maar niet weglaten, en je mag niets verzinnen dat er niet is.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dónde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 el centro, a dos minutos de la plaza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tamaño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35 m², una habitación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450 € al mes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defecto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está en un cuarto piso y no hay ascensor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defecto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la ventana da a un patio interior: hay poca luz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defecto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el bar de abajo cierra a las dos de la mañana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defecto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hay lavadora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defecto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la cocina está dentro del salón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defecto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las paredes son muy finas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Se alquila … en …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 pequeño, pero …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tiene …, aunque …</a:t>
            </a:r>
          </a:p>
        </p:txBody>
      </p:sp>
      <p:sp>
        <p:nvSpPr>
          <p:cNvPr id="35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Está en …, así que …</a:t>
            </a:r>
          </a:p>
        </p:txBody>
      </p:sp>
      <p:sp>
        <p:nvSpPr>
          <p:cNvPr id="37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Ideal para quien …</a:t>
            </a:r>
          </a:p>
        </p:txBody>
      </p:sp>
      <p:sp>
        <p:nvSpPr>
          <p:cNvPr id="39" name="Tarjeta 14"/>
          <p:cNvSpPr/>
          <p:nvPr/>
        </p:nvSpPr>
        <p:spPr>
          <a:xfrm>
            <a:off x="6167628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arjetaTxt 14"/>
          <p:cNvSpPr txBox="1"/>
          <p:nvPr/>
        </p:nvSpPr>
        <p:spPr>
          <a:xfrm>
            <a:off x="6259068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 mejor: 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5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Reforma con 500 €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Quinientos euros, una habitación fea y cuatro opiniones.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Vijfhonderd euro, een lelijke kamer en vier meningen.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Vijfhonderd euro, geen cent meer. En elke aankoop wordt verdedigd met een plaatsbepaling: «la estantería, encima del escritorio, porque…». Zonder plaats telt het voorstel niet.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habitación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Doce metros cuadrados. Paredes blancas, una ventana pequeña, una cama y nada más.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una estantería (60 €) · un escritorio (120 €) · una silla de escritorio (90 €)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una lámpara de pie (45 €) · una alfombra (55 €) · cortinas (35 €)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pintura para una pared (40 €) · un espejo grande (70 €) · plantas (25 €)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un armario pequeño (150 €) · una mesita de noche (40 €) · cuadros o pósters (20 €)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Yo pongo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Ponemos … encima de … porque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Debajo de la ventana no cabe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Sin … la habitación sigue igual.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Nos quedan … euros. ¿Qué hacemos?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9 · MEDIAFORMAT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Tour de 40 segundos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👤 Solo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12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Cuarenta segundos, una sola toma, toda la casa.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Veertig seconden, één take, het hele huis.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Eén doorlopende take van veertig seconden. Stoppen mag niet, herbeginnen wel — maar dan vanaf nul. Zes verschillende voorzetsels en drie gerundio's.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Preposiciones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al lado de · enfrente de · detrás de · debajo de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Preposiciones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encima de · entre · al final de · a la derecha de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Gerundios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entrando · pasando · subiendo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Gerundios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girando · saliendo · llegando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Empezamos aquí, entrando por …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A la derecha de … está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Pasando por el pasillo llegamos a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Entre … y … hay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Y al final, saliendo a …, se ve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