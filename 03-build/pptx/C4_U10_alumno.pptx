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VbXY7Bjp2yEs0MTry3g-UmpBHKhtY5Qa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VbXY7Bjp2yEs0MTry3g-UmpBHKhtY5Qa/preview" TargetMode="External"/><Relationship Id="rId5" Type="http://schemas.microsoft.com/office/2007/relationships/media" Target="https://drive.google.com/file/d/1VbXY7Bjp2yEs0MTry3g-UmpBHKhtY5Qa/pre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31561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Las tareas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Hay que limpiar esto.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Yo te ayudo. ¿Qué tengo que hacer?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wat er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moet gebeuren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,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kunt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— 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hulp aanbieden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(hay que · sé · yo te ayudo).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la asistenta está enferma, dus Julio, María y Paul moeten de academie zélf schoonmaken.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Nombrar las tareas de casa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limpiar el polvo · pasar la aspiradora · fregar los platos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lo que hay que hacer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hay que limpiar (algemeen) ↔ tengo que limpiar (ík)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lo que sabes hacer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sé pasar la aspiradora · no sé cocinar · ¿sabes…?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Ofrecer y pedir ayuda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yo te ayudo · no es molestia · ¿qué tengo que hacer?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g fuerte · gue / gui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La máquina de frases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hay que / tengo que / sé + inf.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las tareas · ofrecer ayuda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hay que · saber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ofrece ayuda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reparto de las tareas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¿Quién hace qué?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Ná «hay que», «tengo que» en «sé» komt áltijd het hele werkwoord: hay que limpiar · tengo que fregar · sé cocinar. En «kunnen» = saber (geleerd) óf poder (het lukt nu)!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de asistenta is ziek, dus de academie moet zélf gepoetst worden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544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Perdona, ¿qué haces?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49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7666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Limpiar el polvo, la asistenta está enferma.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970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787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Hay que limpiar esto.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091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1909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Yo te ayudo.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21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4030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 tienes que molestarte.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334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6151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 es molestia, te ayudo.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8456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28273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¿Qué tengo que hacer?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0577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0394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Pues puedes ordenar los armarios, las estanterías.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698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2516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También puedo pasar la aspiradora.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820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4637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Yo no soy machista: los hombres también sabemos limpiar.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6941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6758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Ahí está la aspiradora.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90630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38880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¿Qué hacéis?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1184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1001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Limpiar un poco. Hoy no tenemos asistenta.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3305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43123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 puede venir en toda la semana, está enferma.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54272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45244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Déjame, lo hago yo.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548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473658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Pero, ¿sabes pasar la aspiradora?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9670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" y="494872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¿Sabes cómo funciona?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17914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516086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Claro que sé cómo funciona.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391288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Paul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537300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Lo que pasa es que esto no funciona. ¡Ahí está!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6034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81328" y="5585140"/>
            <a:ext cx="57150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Van a dejar la academia muy muy limpia.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Hay que limpiar · tengo que fregar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te ayudo · ¿Te ayudo? · No es molestia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tengo que hacer? · ¿Y ahora?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¿Sabes…? · Claro que sé · No sé cocinar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está enferma · no funciona · ¡Ahí está!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10 — klik om af te spelen</a:t>
            </a:r>
          </a:p>
        </p:txBody>
      </p:sp>
      <p:sp>
        <p:nvSpPr>
          <p:cNvPr id="53" name="Rounded Rectangle 52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54" name="Picture 53" descr="video_poster_U10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g fuerte · gue / gui · ¿/g/ o jota?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Vóór a/o/u klinkt g als «goal» — en vóór e/i is de u van gue/gui STIL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La g fuerte · g + a / o /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uapo · a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ua · lue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o · 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ato · al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o · ami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</a:t>
            </a:r>
            <a:r>
              <a:rPr sz="1450" b="0" i="0">
                <a:solidFill>
                  <a:srgbClr val="20242E"/>
                </a:solidFill>
                <a:latin typeface="Inter"/>
              </a:rPr>
              <a:t>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Zoals in het Nederlandse «goal» — een harde g, geen keelklank.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gue / gui · la u muda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Inter"/>
              </a:rPr>
              <a:t>gui</a:t>
            </a:r>
            <a:r>
              <a:rPr sz="1450" b="0" i="0">
                <a:solidFill>
                  <a:srgbClr val="20242E"/>
                </a:solidFill>
                <a:latin typeface="Inter"/>
              </a:rPr>
              <a:t>tarra · se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gui</a:t>
            </a:r>
            <a:r>
              <a:rPr sz="1450" b="0" i="0">
                <a:solidFill>
                  <a:srgbClr val="20242E"/>
                </a:solidFill>
                <a:latin typeface="Inter"/>
              </a:rPr>
              <a:t>r · ju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te · 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rra · Mi</a:t>
            </a:r>
            <a:r>
              <a:rPr sz="1450" b="1" i="0">
                <a:solidFill>
                  <a:srgbClr val="D64550"/>
                </a:solidFill>
                <a:latin typeface="Inter"/>
              </a:rPr>
              <a:t>gue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«guitarra» klinkt als «gi-tarra» — de u hóór je niet.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De u van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gue / gui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is een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schrijftruc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— precies zoals bij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que / qui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(U7). Laat je die u weg, dan wordt het de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jota /x/</a:t>
            </a:r>
            <a:r>
              <a:rPr sz="1300" b="0" i="0">
                <a:solidFill>
                  <a:srgbClr val="20242E"/>
                </a:solidFill>
                <a:latin typeface="Inter"/>
              </a:rPr>
              <a:t>: gente · gimnasio (U2).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¿/g/ o jota? · hoor het verschil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15568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64550"/>
                </a:solidFill>
                <a:latin typeface="Bricolage Grotesque"/>
              </a:rPr>
              <a:t>g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ato   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g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uapo   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gui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tarra      ↔      </a:t>
            </a:r>
            <a:r>
              <a:rPr sz="1900" b="1" i="0">
                <a:solidFill>
                  <a:srgbClr val="DC2626"/>
                </a:solidFill>
                <a:latin typeface="Bricolage Grotesque"/>
              </a:rPr>
              <a:t>ge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nte   </a:t>
            </a:r>
            <a:r>
              <a:rPr sz="1900" b="1" i="0">
                <a:solidFill>
                  <a:srgbClr val="DC2626"/>
                </a:solidFill>
                <a:latin typeface="Bricolage Grotesque"/>
              </a:rPr>
              <a:t>gi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mnasio   </a:t>
            </a:r>
            <a:r>
              <a:rPr sz="1900" b="1" i="0">
                <a:solidFill>
                  <a:srgbClr val="DC2626"/>
                </a:solidFill>
                <a:latin typeface="Bricolage Grotesque"/>
              </a:rPr>
              <a:t>ge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1556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④ Repaso · aguda o llana?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as·pi·ra·DO·ra (llana) · or·de·NAR (aguda) · ar·MA·rio (llana) · lim·PIAR (aguda)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LA MÁQUINA DE FRASES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que / Tengo que / Sé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Drie formules, altijd hetzelfde patroon — klik en de zin verschijnt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517904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664208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Hay que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moet gebeuren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517904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664208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17904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664208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limpiar · fregar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73936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517904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Hay que limpiar.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Er moet gepoetst worden.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414016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560320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Tengo que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ík moet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14016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560320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414016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560320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planchar · fregar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70048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414016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Tengo que planchar.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moet strijken.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10128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56432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Sé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ik kán het (geleerd)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310128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3456432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10128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456432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cocinar · limpiar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66160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3310128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Sé cocinar.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kan koken.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261104"/>
            <a:ext cx="11201400" cy="658368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334256"/>
            <a:ext cx="1069848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blok 1 (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 que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sé</a:t>
            </a:r>
            <a:r>
              <a:rPr sz="1250" b="0" i="0">
                <a:solidFill>
                  <a:srgbClr val="20242E"/>
                </a:solidFill>
                <a:latin typeface="Inter"/>
              </a:rPr>
              <a:t>) + blok 2 = altijd het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hele werkwoord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(el infinitivo: -ar · -er · -ir). Nooit een vervoegde vorm!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Ook zo: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voy a limpiar (U9) · puedo limpiar (U6) · tienes que limpiar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 —   en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mag nooit weg na hay / tengo / tienes.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4748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Construye · bouw zelf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algemeen + ordenar los armarios  ·  ík + fregar los platos  ·  geleerd + planchar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44068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Hay que ordenar los armarios. · Tengo que fregar los platos. · Sé planchar.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3126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51" name="Rounded Rectangle 5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tareas · ofrecer ayuda · saber hacerlo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huistaken benoemen, hulp aanbieden en zeggen wat je kunt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Las tareas de casa 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limpiar el polvo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afstoffen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pasar la aspiradora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stofzuigen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fregar los platos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vaat doen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ordenar los armarios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kasten opruimen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hacer la cama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bed opmaken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planchar · cocinar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strijken · koken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Ofrecer y pedir ayuda 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Yo te ayudo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help 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¿Te ayudo?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help ik je?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No es molestia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geen moeite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¿Qué tengo que hacer?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wat moet ik doen?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¿Me ayudas?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help je me?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Déjame, lo hago yo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laat mij maar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¿Sabes hacerlo? 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Sé pasar la aspiradora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kan stofzuigen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¿Sabes…?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kan jij…?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Claro que sé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natuurlijk kan ik dat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No sé cocinar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kan niet koken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Sabemos limpiar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wij kunnen poetsen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¿Sabes cómo funciona?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weet je hoe het werkt?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que… · problemitas en la academia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dat iets moet gebeuren — en de taal voor als iets misloopt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Hay que… · «het moet gebeuren»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que limpiar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moet gepoetst worden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que ordenar esto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moet opgeruimd worden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que fregar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ík moet de vaat doen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Tienes que planchar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jíj moet strijken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tienes que molestarte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je hoeft geen moeite te doen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En la academia · problemitas 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La asistenta está enferma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poetshulp is ziek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puede venir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ze kan niet komen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 no funciona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werkt niet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desorden!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een rommel!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¡Ahí está!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daar is het! / gelukt!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«hay que» zegt níet wie · «no puede venir» = het lukt niet (poder), «no sabe cocinar» = ze heeft het nooit geleerd (saber).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que + infinitivo ↔ tener que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wat er moet gebeuren: mét of zónder een persoon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hay que  ·  tengo que  ·  tienes que  +  infinitivo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77440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95728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hay 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395728"/>
            <a:ext cx="14630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moet gebeuren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2395728"/>
            <a:ext cx="33832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Hay que limpiar esto.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52928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71216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tengo 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" y="2871216"/>
            <a:ext cx="14630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ík moet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2871216"/>
            <a:ext cx="33832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Tengo que fregar los platos.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328416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346704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tienes 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3346704"/>
            <a:ext cx="14630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jíj moet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3346704"/>
            <a:ext cx="33832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Tienes que ordenar los armarios.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31920"/>
            <a:ext cx="6492240" cy="566928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778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05072"/>
            <a:ext cx="6217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«hay que» no cambia nunca: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 que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limpiar · fregar · planchar  —  </a:t>
            </a:r>
            <a:r>
              <a:rPr sz="1200" b="0" i="1">
                <a:solidFill>
                  <a:srgbClr val="6A6E78"/>
                </a:solidFill>
                <a:latin typeface="Inter"/>
              </a:rPr>
              <a:t>net als «hay» (er is/er zijn).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17720"/>
            <a:ext cx="649224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💡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Wil je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niet zeggen wie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het moet doen? Gebruik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hay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Wil je het wél duidelijk maken? </a:t>
            </a:r>
            <a:r>
              <a:rPr sz="1200" b="1" i="0">
                <a:solidFill>
                  <a:srgbClr val="2563EB"/>
                </a:solidFill>
                <a:latin typeface="Inter"/>
              </a:rPr>
              <a:t>tengo / tienes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 para preguntar: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¿Qué tengo que hacer? · ¿Qué hay que limpiar?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1609344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🔎 FÍJATE · EN LA ESCENA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10312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Je hoorde het al: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 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limpiar esto.»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«¿Qué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hacer?»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«No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tienes que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molestarte.»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Puedes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ordenar los armarios.»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343400"/>
            <a:ext cx="356616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¿Y tú? · En jij?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¿Qué hay que hacer en tu casa?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Antwoord met «Hay que…» + het hele werkwoord.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saber + infinitivo ↔ poder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Twee soorten «kunnen»: het geléérd hebben ↔ de kans/mogelijkheid hebben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saber + infinitivo · iets kúnnen (geleerd)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sé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ik kan / ik weet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Sé pasar la aspiradora.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84832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¿sabes…?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kan jij…?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¿Sabes cómo funciona?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14016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sabemos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wij kunnen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Los hombres también sabemos limpiar.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23744"/>
            <a:ext cx="5120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Letterlijk: «ik </a:t>
            </a:r>
            <a:r>
              <a:rPr sz="1100" b="1" i="0">
                <a:solidFill>
                  <a:srgbClr val="A8323B"/>
                </a:solidFill>
                <a:latin typeface="Inter"/>
              </a:rPr>
              <a:t>weet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stofzuigen» → ik heb het geleerd.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poder + infinitivo · het lukt / het mag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530E"/>
                </a:solidFill>
                <a:latin typeface="Inter"/>
              </a:rPr>
              <a:t>💡 saber = geleerd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Sé cocinar.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No sé planchar.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40AF"/>
                </a:solidFill>
                <a:latin typeface="Inter"/>
              </a:rPr>
              <a:t>🔓 poder = het lukt/mag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puede venir.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Puedes ordenar los armarios.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«ik kan koken» = </a:t>
            </a:r>
            <a:r>
              <a:rPr sz="1700" b="1" i="0">
                <a:solidFill>
                  <a:srgbClr val="EA7317"/>
                </a:solidFill>
                <a:latin typeface="Bricolage Grotesque"/>
              </a:rPr>
              <a:t>sé cocinar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niet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puedo cocinar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— dat betekent «het lukt me vandaag».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«hay que» heeft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geen persoon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hay que limpiar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(niet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hay que yo limpiar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de </a:t>
            </a:r>
            <a:r>
              <a:rPr sz="140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blijft: tengo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fregar  (niet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tengo fregar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69663"/>
            <a:ext cx="11201400" cy="71323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42816"/>
            <a:ext cx="1078992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Ofrecer ayuda ·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«— ¿Qué haces? —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Yo te ayudo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—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No tienes que molestarte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— </a:t>
            </a:r>
            <a:r>
              <a:rPr sz="1250" b="1" i="0">
                <a:solidFill>
                  <a:srgbClr val="A8323B"/>
                </a:solidFill>
                <a:latin typeface="Inter"/>
              </a:rPr>
              <a:t>No es molestia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¿Qué tengo que hacer?»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Tres pasos: </a:t>
            </a:r>
            <a:r>
              <a:rPr sz="1150" b="1" i="0">
                <a:solidFill>
                  <a:srgbClr val="EA7317"/>
                </a:solidFill>
                <a:latin typeface="Inter"/>
              </a:rPr>
              <a:t>ofrecer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→ </a:t>
            </a:r>
            <a:r>
              <a:rPr sz="1150" b="1" i="0">
                <a:solidFill>
                  <a:srgbClr val="A8323B"/>
                </a:solidFill>
                <a:latin typeface="Inter"/>
              </a:rPr>
              <a:t>insistir (no es molestia)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→ </a:t>
            </a:r>
            <a:r>
              <a:rPr sz="1150" b="1" i="0">
                <a:solidFill>
                  <a:srgbClr val="2563EB"/>
                </a:solidFill>
                <a:latin typeface="Inter"/>
              </a:rPr>
              <a:t>pedir instrucciones (¿qué tengo que hacer?)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¡Qué desorden! ___ que limpiar.   Yo ___ cocinar (geleerd).   Ella no ___ venir, está enferma.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76672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hay · sé · puede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24865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4" name="Rounded Rectangle 3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¡Qué desorden! ___ que limpiar esto.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Yo te ___. ¿Qué ___ que hacer?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No tienes que molestarte.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No es 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¿___ pasar la aspiradora?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0242E"/>
                </a:solidFill>
                <a:latin typeface="Inter"/>
              </a:rPr>
              <a:t>— Claro que ___. ¡Ahí está!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Hay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ayudo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tengo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molestia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Sabes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6. sé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Ofrece ayuda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Bied hulp aan, dring vriendelijk aan en vraag wat je moet doen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«— ¡Qué desorden! Hay que limpiar esto.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Yo te ayudo. ¿Qué tengo que hacer?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No tienes que molestarte. — No es molestia.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Pues, ¿sabes pasar la aspiradora? — Claro que sé.»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Constata: «¡Qué desorden! Hay que…».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Ofrece: «Yo te ayudo» · «¿Te ayudo?».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Insiste: «No es molestia».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Pide instrucciones: «¿Qué tengo que hacer?».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5. Di lo que sabes: «Sé…» / «No sé…».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hulp aanbieden, vriendelijk aandringen én afspreken wie wat doet. Bied 3× hulp aan; je buur weigert 1× («no tienes que molestarte»). Verstaan? Zeg: «¿Cómo? / ¿Puedes repetir?»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reparto de las tareas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Wie doet wat in huis? — en muziek erbij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Malamente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Bebe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Ella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Ana Tijoux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1977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🇨🇱 Chile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Natalia Lafourcade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Hasta la Raíz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🇲🇽 México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🧹 El reparto de las tareas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Julio zegt het zelf: «yo no soy machista: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los hombres también sabemos pasar la aspiradora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». De eerlijke verdeling van huistaken is in Spanje en Latijns-Amerika een levend gespreksonderwerp.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asistenta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(poetshulp) is er gewoner dan bij ons, ook in gewone gezinnen. Vrouwen doen er nog altijd méér huishouden dan mannen, maar bij jonge koppels loopt dat verschil zichtbaar terug. Playlist + LyricsTraining op de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hace qué?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Maak samen een cuadro de tareas: wat moet gebeuren, wie doet het, wie kán het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4572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CUADRO DE TAREAS · Academia «Welcome to Spanish»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121408"/>
            <a:ext cx="219456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39696"/>
            <a:ext cx="219456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8323B"/>
                </a:solidFill>
                <a:latin typeface="Bricolage Grotesque"/>
              </a:rPr>
              <a:t>Hay que…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2121408"/>
            <a:ext cx="192024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139696"/>
            <a:ext cx="19202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8323B"/>
                </a:solidFill>
                <a:latin typeface="Bricolage Grotesque"/>
              </a:rPr>
              <a:t>¿Quién? (tengo/tienes 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21408"/>
            <a:ext cx="173736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39696"/>
            <a:ext cx="173736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A8323B"/>
                </a:solidFill>
                <a:latin typeface="Bricolage Grotesque"/>
              </a:rPr>
              <a:t>¿Sabe? (sé/no sé)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468880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496312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🧹  hay que 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1216" y="2468880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246888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2944368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971800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🍽️  hay que 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1216" y="2944368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46320" y="2944368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419856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447288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👕  hay que 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71216" y="3419856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46320" y="3419856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" y="3895344"/>
            <a:ext cx="219456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922776"/>
            <a:ext cx="201168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🚪  hay que 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71216" y="3895344"/>
            <a:ext cx="192024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3895344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34840"/>
            <a:ext cx="56692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🤝 Nuestro reparto: Tú tienes que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y yo tengo que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A8323B"/>
                </a:solidFill>
                <a:latin typeface="Inter"/>
              </a:rPr>
              <a:t>. ¡Yo te ayudo!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719072"/>
            <a:ext cx="44805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1. ¿Qué hay que hacer? Noteer met je groep 4 taken: «Hay que + infinitivo».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2. ¿Qué sabes hacer? Zeg wat jíj kunt en vraag het je groepsgenoten: «Yo sé…» · «¿Sabes…?» · «No sé…».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3. Repartid las tareas: «Tú tienes que… y yo tengo que…» · «Yo te ayudo».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4. Presentad el cuadro aan de klas — sin leer del papel.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4 taken noemt met «hay que + werkwoord», zegt wat je wél/niet kunt met «(no) sé + werkwoord», de taken verdeelt met «tengo/tienes que» en één keer hulp aanbiedt met «yo te ayudo» — zónder af te lezen.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hay que + infinitivo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saber + infinitivo correct (sé / no sé)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hulp aanbieden &amp; taken verdelen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22 / 22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3408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4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3408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094807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12223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26468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94807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2223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26468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25406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55283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69528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25406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55283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69528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9560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834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1258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9560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29834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1258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3866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4140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5564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386605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414037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55648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817204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384463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398708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817204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3844636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398708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247803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27523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4417681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247803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275235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4417681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6784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47058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48482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6784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47058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48482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1090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51364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52788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· el fin de semana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5109002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5136434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8" y="5278880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· te veo en veinte minutos 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539601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" y="556703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Hablar de planes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570947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Voy a + infinitivo (voy a preparar café) · Vamos a dormir un poquito más · El domingo voy a quedar con amigas · ¿Vamos a pasear?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5539601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4808" y="5567033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Expresar obligación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5709479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Tengo que + infinitivo (tengo que trabajar) · Tengo cosas que hacer · ¿Tienes que hacer algo? · tengo hambre · tengo sueño (tener + naamwoord) 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970200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" y="599763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Ofrecer y pedir ayuda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" y="614007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Yo te ayudo · ¿Te ayudo? · ¿Qué tengo que hacer? · No es molestia · Déjame, lo hago yo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970200"/>
            <a:ext cx="5394960" cy="33915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64808" y="5997632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0242E"/>
                </a:solidFill>
                <a:latin typeface="Bricolage Grotesque"/>
              </a:rPr>
              <a:t>Decir lo que sé hacer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4808" y="6140078"/>
            <a:ext cx="4992624" cy="16957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60" b="0" i="0">
                <a:solidFill>
                  <a:srgbClr val="6A6E78"/>
                </a:solidFill>
                <a:latin typeface="Inter"/>
              </a:rPr>
              <a:t>Sé + infinitivo (sé pasar la aspiradora) · ¿Sabes…? · ¿Sabes cómo funciona? · Sabemos… (nosotros) · Claro que sé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er moet gebeuren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Hay que limpiar · Hay que fregar los platos (zónder persoon)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que planchar · Tienes que ordenar (mét persoon)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je kunt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Sé pasar la aspiradora · ¿Sabes cómo funciona? · No sé cocinar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Sabemos limpiar · Claro que sé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bied je hulp aan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te ayudo · ¿Te ayudo? · No es molestia · ¿Qué tengo que hacer?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2312"/>
            <a:ext cx="64922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las dos trampas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«ik kan koken» =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sé cocinar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(geleerd) ↔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no puede venir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(het lukt niet).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En: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hay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krijgt nooit een persoon ·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blijft staan: tengo que fregar.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huistaken benoemen (limpiar el polvo…)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wat moet (hay que + inf.)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wie het moet (tengo/tienes 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wat ik kan (sé / no sé + inf.)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hulp aanbieden (yo te ayudo · no es molestia)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om instructies vragen (¿qué tengo que hacer?)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el reparto de tareas · ¿saber o poder?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U10 · TAREAS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