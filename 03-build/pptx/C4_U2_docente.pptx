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Functioneel: enkel estoy/estás/está (estar voor toestand/gevoel). Geen volledige conjugatie. Saludo volgens de klok (días/tardes/noches). Geen ser/estar-contrast als systeem — dat is C5/C6.</a:t>
            </a:r>
          </a:p>
          <a:p/>
          <a:p>
            <a:r>
              <a:t>— SOLUCIÓN (docent · presenter view) —</a:t>
            </a:r>
          </a:p>
          <a:p>
            <a:r>
              <a:t>estoy · estás · está · Buenos días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leerlingen eerst zelf proberen (in duo). Klik daarna de oplossing open. Let op estar (estoy/estás) + saludo por hora.</a:t>
            </a:r>
          </a:p>
          <a:p/>
          <a:p>
            <a:r>
              <a:t>— SOLUCIÓN (docent · presenter view) —</a:t>
            </a:r>
          </a:p>
          <a:p>
            <a:r>
              <a:t>1. días · estás</a:t>
            </a:r>
          </a:p>
          <a:p>
            <a:r>
              <a:t>2. Estoy</a:t>
            </a:r>
          </a:p>
          <a:p>
            <a:r>
              <a:t>3. estoy</a:t>
            </a:r>
          </a:p>
          <a:p>
            <a:r>
              <a:t>4. luego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video" Target="https://www.youtube.com/embed/2E51CKpanmU" TargetMode="External"/><Relationship Id="rId4" Type="http://schemas.microsoft.com/office/2007/relationships/media" Target="https://www.youtube.com/embed/2E51CKpanmU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1645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0" b="1" i="0">
                <a:solidFill>
                  <a:srgbClr val="FFFFFF"/>
                </a:solidFill>
                <a:latin typeface="Bricolage Grotesque"/>
              </a:rPr>
              <a:t>Saludos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FFFFF"/>
                </a:solidFill>
                <a:latin typeface="Inter"/>
              </a:rPr>
              <a:t>¡Buenos días! Groeten volgens het moment van de dag en zeggen </a:t>
            </a:r>
            <a:r>
              <a:rPr sz="1700" b="1" i="0">
                <a:solidFill>
                  <a:srgbClr val="FFFFFF"/>
                </a:solidFill>
                <a:latin typeface="Inter"/>
              </a:rPr>
              <a:t>hoe je je voelt.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todo lo que oyes, lo puedes usar enseguida.</a:t>
            </a:r>
          </a:p>
        </p:txBody>
      </p:sp>
      <p:pic>
        <p:nvPicPr>
          <p:cNvPr id="8" name="Picture 7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800600"/>
            <a:ext cx="8229600" cy="1280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Saludar según el momento del día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días · tardes · noches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cómo estás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estar + estado (bien, cansado…)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Despedirte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adiós · hasta luego · hasta mañana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 scène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jota · h muda · acento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saludos por el día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estar · saludo por hora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 día de saludos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Música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banda sonora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 día de saludos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Luister eerst, spreek na, en durf zelf te praten. Fouten maken hoort erbij.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de scène speelt op 09.00 · 16.00 · 21.05 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2763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Josefina… Buenos días.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76272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Josefina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5798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¿Cómo estás?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0662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8833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Bien, bien. Es María, la nueva profesora.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36976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Josefina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218688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Yo estoy ocupada. Muy ocupada.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6732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749040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Buenas tardes. ¿Cómo estás?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976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Josefina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7939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Estoy enferma. Un poco enferma.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28032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80974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 tú, ¿cómo estás?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583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Josefina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4009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Uf, cansada, muy cansada.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417320"/>
            <a:ext cx="4206240" cy="22402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572768"/>
            <a:ext cx="3749039" cy="2011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Buenos días · Buenas tardes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Buenas noches · ¿Cómo estás?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Estoy bien / cansado-a / ocupado-a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Hasta luego · Adiós · Hasta mañana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767328"/>
            <a:ext cx="42062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🎬 Sitcom · Episodio 2 — klik om af te spelen</a:t>
            </a:r>
          </a:p>
        </p:txBody>
      </p:sp>
      <p:pic>
        <p:nvPicPr>
          <p:cNvPr id="29" name="Picture 28" descr="video_poster_U2.png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7498079" y="4069080"/>
            <a:ext cx="4206240" cy="233172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jota /x/ · la h muda · el acento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jota, de stille h &amp; de klemtoon — luister en spreek 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jota /x/ · j en g+e,i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Josefina · jueves · gente · gimnasio · trabajo · mujer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Keelklank, zoals de NL «g» maar krachtiger.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h muda · de stille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hola · hasta · hija · ahora · hombre · hospital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Je schrijft de h wél, maar je hóórt ze niet: «hola» = «ola».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g + a/o/u = /g/ (gato, gusto)  ·  maar g + e/i = /x/ (gente, gimnasio) — net als de j.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El acento en los saludos · waar ligt de klemtoon?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1556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0242E"/>
                </a:solidFill>
                <a:latin typeface="Bricolage Grotesque"/>
              </a:rPr>
              <a:t>bue·nos 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DÍ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·as      bue·nas 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TAR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·des      bue·nas 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NO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Saludar por el día y despedirse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Groeten volgens het moment &amp; afscheid nemen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Saludar · begroeten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Buenos días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goedemorgen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Buenas tardes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goedemiddag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Buenas noches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goedenavond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¡Hola!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hallo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¡Buenas!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hoi (informeel)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Preguntar · vragen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¿Qué tal?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hoe gaat het?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¿Cómo estás?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hoe gaat het? (jij)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¿Cómo está usted?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… met u?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¿Y tú?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en jij?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Despedirse · afscheid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Adiós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Hasta luego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tot straks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Hasta mañana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tot morgen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¡Nos vemos!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we zien elkaar!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Chao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doei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Decir cómo estoy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Zeggen hoe je je voelt · estar + estado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¿Cómo estás? → Estoy…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Estoy bien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voel me goed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Muy bien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heel goed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Regular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gaat wel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Estoy cansado / cansada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 moe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Estoy ocupado / ocupada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heb het druk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Más estados · meer toestanden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Estoy nervioso / nerviosa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 nerveus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Estoy enfermo / enferma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 ziek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Estoy fatal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heel slecht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¿Y tú?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en jij?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Estoy bien (niet «Soy bien»). Man: -o · vrouw: -a.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estar · saludo por la hora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Hoe je je voelt &amp; groeten volgens de klok — functioneel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estar — hoe je je voelt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yo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estoy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 / voel 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70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tú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estás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jij bent / voelt je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09544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él/ella/usted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está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hij/zij is · u bent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saludo según la hora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🌅 la mañana 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Buenos días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~6–12 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770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☀️ la tarde 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Buenas tardes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~12–20 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09544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🌙 la noche 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Buenas noches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~20–6 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977639"/>
            <a:ext cx="11201400" cy="15544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Yo ___ bien.  ¿Cómo ___ (tú)?  María ___ cansada.  08.30 → ___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70916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estoy · estás · está · Buenos días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36" name="Rounded Rectangle 3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-o / -a · tú / usted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Man/vrouw (op de estados) &amp; informeel/beleefd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E8F0FE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40AF"/>
                </a:solidFill>
                <a:latin typeface="Bricolage Grotesque"/>
              </a:rPr>
              <a:t>♂ Un chico dice…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E40AF"/>
                </a:solidFill>
                <a:latin typeface="Inter"/>
              </a:rPr>
              <a:t>Estoy cansado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40AF"/>
                </a:solidFill>
                <a:latin typeface="Inter"/>
              </a:rPr>
              <a:t>ocupado · nervioso · enfermo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FCE7F0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174D"/>
                </a:solidFill>
                <a:latin typeface="Bricolage Grotesque"/>
              </a:rPr>
              <a:t>♀ Una chica dice…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9D174D"/>
                </a:solidFill>
                <a:latin typeface="Inter"/>
              </a:rPr>
              <a:t>Estoy cansada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174D"/>
                </a:solidFill>
                <a:latin typeface="Inter"/>
              </a:rPr>
              <a:t>ocupada · nerviosa · enferma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11201400" cy="1645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tú  ↔  usted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Met vrienden en klasgenoten: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tú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 (¿Cómo estás? · ¿Qué tal?).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Formeel, met een onbekende volwassene / de directeur: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usted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 (¿Cómo está usted?).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Buenos ___, ¿cómo ___?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___ bien, gracias. ¿Y tú?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Regular… ___ un poco cansada.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Vaya. ¡Hasta ___!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días · estás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Estoy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estoy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luego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9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Un día de saludos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Groet volgens het uur en zeg hoe het gaat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 (por la mañana):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«¡Buenos días! ¿Qué tal?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Estoy bien, ¿y tú?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Regular, estoy un poco cansado.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Vaya. ¡Hasta luego!»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Kies een moment (🌅☀️🌙).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Groet gepast + vraag ¿cómo estás?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Antwoord met estar + estado.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Neem afscheid. Wissel (3×).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beurt nemen, luisteren en reageren. Begrijp je iets niet? Zeg: «¿Cómo? / Otra vez, por favor.»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Saludos &amp; banda sonora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Warme begroetingen (dos besos) + muziek die jullie kennen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Perla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flamenco+pop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Luis Fonsi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Despacito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🇵🇷 pop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Manu Chao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Me gustas tú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🌎 clásico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Aitana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6 de febrero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pop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Karol 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TQG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reggaetón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Quevedo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Bzrp #52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urban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1069848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🎧 La playlist de la clase (Spotify)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+ LyricsTraining (vul de tekst aan terwijl je luistert). Alles op de digitale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Un día de saludos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Speel 3 mini-gesprekjes, één per moment van de dag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86400" cy="50292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DIARIO DE SALUDOS · noteer je gesprekjes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22860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🌅 Saludo 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____________  Estoy 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☀️ Saludo 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____________  Estoy 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🌙 Saludo 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____________  Estoy ______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502920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Kies een moment: mañana / tarde / noche.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Groet gepast + «¿cómo estás?»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Antwoord met estar: «Estoy ___» (‑o/‑a).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Sluit af: «Hasta luego / mañana. Adiós.»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je op elk moment de juiste groet kiest (días/tardes/noches), met estar zegt hoe je je voelt (juiste ‑o/‑a) en netjes afscheid neemt — zónder af te lezen.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 funciones comunicativas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Lo que ya sé hacer — crece cada 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Mi repertorio: 6 / 8 funciones — </a:t>
            </a:r>
            <a:r>
              <a:rPr sz="1200" b="0" i="0">
                <a:solidFill>
                  <a:srgbClr val="6A6E78"/>
                </a:solidFill>
                <a:latin typeface="Inter"/>
              </a:rPr>
              <a:t>no solo palabras: lo que puedo HACER con el español.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801368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Saludar y despedirse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▲ nivel+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94560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Hola · Adiós · Hasta luego · Buenos días / tardes / noches · ¡Buenas! · Hasta mañana · ¡Nos vemos!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801368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Presentarse (decir quién soy)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194560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Me llamo… · (Yo) soy… · Encantado/a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98648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008376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Pedir y dar información personal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401568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¿Cómo te llamas? · ¿Y tú?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98648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3008376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Reaccionar con cortesía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401568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Por favor · Gracias · Muchas gracias · De nada · Perdona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05656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21538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Preguntar y decir cómo estoy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4608576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¿Qué tal? · ¿Cómo estás? · Estoy bien / cansado-a / ocupado-a · Regular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105656"/>
            <a:ext cx="5394960" cy="1060704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21538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Bricolage Grotesque"/>
              </a:rPr>
              <a:t>Gestionar la comprensión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▲ nivel+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4608576"/>
            <a:ext cx="4992624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A6E78"/>
                </a:solidFill>
                <a:latin typeface="Inter"/>
              </a:rPr>
              <a:t>¿Cómo? · Otra vez, por favor · ¿Puedes repetir?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4023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6492240" cy="3657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groet je volgens het uur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🌅 Buenos días · ☀️ Buenas tardes · 🌙 Buenas noches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Afscheid: Adiós · Hasta luego · Hasta mañana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zeg je hoe het gaat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¿Cómo estás? → Estoy bien / cansad_ / ocupad_.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estar: estoy · estás · está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-o = ♂ · -a = ♀   |   tú = vriend · usted = beleefd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554480"/>
            <a:ext cx="4023360" cy="40233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33172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groeten volgens het moment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898648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hoe het gaat zeggen (estar)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465576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afscheid nemen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032504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-o/-a &amp; tú/usted kiezen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89204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Docentendossier · Unidad 2 «Saludos»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Timing (2 lesuren van 50 min).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Les 1: Escucha (sitcom ep. 2, 3 momenten) + Suena bien (jota/h muda) + Kit (saludos por el día · estar+estado). Les 2: gramática functioneel (estar · saludo por hora), hablar, tarea + música.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Aanpak C4 (survival).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Chunks komen auditief binnen (luisteren → naspreken). estar enkel functioneel (estoy/estás/está voor toestand), géén ser/estar-contrast als systeem en géén volledige conjugatie — dat is C5/C6. Doelcodes: C4-GE-1/2 · C4-WS-2 · C4-MEC-3 · C4-CU-2.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Evaluatie.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Mondelinge mini-taak («un día de saludos»: 3 momenten groeten + estar) + herkennen van saludos/estados. Geen leerplan → focus op «kunnen gebruiken in de praktijk».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A6A29A"/>
                </a:solidFill>
                <a:latin typeface="Inter"/>
              </a:rPr>
              <a:t>Oplossingen staan bij elke oefendia in de presenter-notities; antwoorden verschijnen bij klik.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SALUDOS   ·   C4 · La Ruta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