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de preposiciones de lugar herkennen &amp; gebruiken om te situeren (encima de · debajo de · dentro de · al lado de · delante de · detrás de · entre). Kernvalstrik: de+el=del en a+el=al (encima del sofá, al lado del armario — nooit «de el»). Kleurcode turquoise = plaats/preposities. Doelcodes: C4-TS-3 · C4-WS-1.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hay = iets bestaat/is er (nieuw, onbekend) → «hay un sofá». está = waar dat bekende ding zich bevindt → «¿dónde está el bolso? · está encima de la mesa». poder om permiso te vragen: ¿puedo…? (ik) / ¿puedes…? (jij) + hele werkwoord (fumar, venir). Géén volledig werkwoordsysteem — enkel deze vaste vormen (dat blijft C5). Oplossing: está · Está · Puedo.</a:t>
            </a:r>
          </a:p>
          <a:p/>
          <a:p>
            <a:r>
              <a:t>— SOLUCIÓN (docent · presenter view) —</a:t>
            </a:r>
          </a:p>
          <a:p>
            <a:r>
              <a:t>está · Está · Puedo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duo). Klik daarna de oplossing open. Let op: ¿dónde está…? / está = plaats van een bekend ding; debajo de la mesa (preposición); ¿puedo…? (ik vraag) → antwoord «sí, puedes» (jij mag). de+el=del (encima del sofá). Oplossing: está · Está · debajo · puedes.</a:t>
            </a:r>
          </a:p>
          <a:p/>
          <a:p>
            <a:r>
              <a:t>— SOLUCIÓN (docent · presenter view) —</a:t>
            </a:r>
          </a:p>
          <a:p>
            <a:r>
              <a:t>1. está</a:t>
            </a:r>
          </a:p>
          <a:p>
            <a:r>
              <a:t>2. Está</a:t>
            </a:r>
          </a:p>
          <a:p>
            <a:r>
              <a:t>3. debajo</a:t>
            </a:r>
          </a:p>
          <a:p>
            <a:r>
              <a:t>4. puedes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oDu5s6q4YKg" TargetMode="External"/><Relationship Id="rId4" Type="http://schemas.microsoft.com/office/2007/relationships/media" Target="https://www.youtube.com/embed/oDu5s6q4YKg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La casa y los lugares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¿Dónde está el bolso?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Está encima de la mesa.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De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kamers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van je huis benoemen en zeggen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waar alles staat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(preposiciones · hay/está · ¿puedo?).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describir la casa y situar las cosas.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Nombrar las habitaciones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la cocina · el salón · el dormitorio…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Usar preposiciones de lugar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encima de · debajo de · al lado del…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dónde está y pedir permiso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hay/está · ¿puedo…? / ¿puedes…?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 = v · llana/aguda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casa · habitaciones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preposiciones · hay/está · poder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describe una habitación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casas del mundo hispano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Plano de mi casa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Teken je huis, benoem de kamers en zeg waar alles staat. Durf raden —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Julio is nerveus: María's spullen liggen overal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Necesito café urgente, tengo mucho sueño. Estoy nervioso.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María deja su crema en el cuarto de baño, se olvida el bolso en la cocina.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Hay cosas encima de todas las sillas, debajo de la cama.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Dentro del frigorífico tengo tres botellas de leche.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Ella quiere una casa, un nido.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¿Puedo fumar?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Aquí dentro no, pero puedes ir fuera.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 sé qué hace con Paul. Un empresario inglés con mucho éxito.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encima de · debajo de · dentro del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cocina · el cuarto de baño · la cama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¿dónde está…? · está en… · hay…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¿puedo…? · puedes ir fuera · aquí 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6 — klik om af te spelen</a:t>
            </a:r>
          </a:p>
        </p:txBody>
      </p:sp>
      <p:pic>
        <p:nvPicPr>
          <p:cNvPr id="29" name="Picture 28" descr="video_poster_U6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b = la v · llana ↔ aguda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b en v klinken hetzelfde &amp; waar ligt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b y la v · un solo sonido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bien · vino · bueno · vivir · beber · ventana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b en v klinken nét hetzelfde (betacismo) — één klank.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Llana ↔ aguda · la fuerza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ca·SA · co·CI·na (llana)  ↔  sa·LÓN · so·FÁ (aguda)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llana = klemtoon voorlaatste · aguda = laatste lettergreep.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ba</a:t>
            </a:r>
            <a:r>
              <a:rPr sz="1300" b="1" i="0">
                <a:solidFill>
                  <a:srgbClr val="A8323B"/>
                </a:solidFill>
                <a:latin typeface="Inter"/>
              </a:rPr>
              <a:t>c</a:t>
            </a:r>
            <a:r>
              <a:rPr sz="1300" b="0" i="0">
                <a:solidFill>
                  <a:srgbClr val="20242E"/>
                </a:solidFill>
                <a:latin typeface="Inter"/>
              </a:rPr>
              <a:t>a (imperiaal) klinkt als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v</a:t>
            </a:r>
            <a:r>
              <a:rPr sz="1300" b="0" i="0">
                <a:solidFill>
                  <a:srgbClr val="20242E"/>
                </a:solidFill>
                <a:latin typeface="Inter"/>
              </a:rPr>
              <a:t>aca (koe) ·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</a:t>
            </a:r>
            <a:r>
              <a:rPr sz="1300" b="0" i="0">
                <a:solidFill>
                  <a:srgbClr val="20242E"/>
                </a:solidFill>
                <a:latin typeface="Inter"/>
              </a:rPr>
              <a:t>ien =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v</a:t>
            </a:r>
            <a:r>
              <a:rPr sz="1300" b="0" i="0">
                <a:solidFill>
                  <a:srgbClr val="20242E"/>
                </a:solidFill>
                <a:latin typeface="Inter"/>
              </a:rPr>
              <a:t>ien-klank. De klank is gelijk — enkel de spelling verschilt!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tilde · waar ligt de klemtoon? — het accent staat op de sterkste lettergreep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ca·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SA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so·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FÁ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sa·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LÓN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co·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CI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casa · habitaciones y muebles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kamers, de meubels &amp; de plaats-woorden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Las habitaciones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 cocina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keuken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salón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woonkamer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dormitorio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slaapkamer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cuarto de baño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badkamer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 entrada · el pasillo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 · gang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En casa · muebles y cosas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 cama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het bed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sofá · la mesa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bank · tafel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armario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kast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frigorífico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koelkast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 ventana · la puerta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raam · deur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¿Dónde está? · preposiciones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encima de · debajo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op/boven · onder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dentro de · entre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in/binnen · tussen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al lado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naast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delante de · detrás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voor · achter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aquí · ahí · fuera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hier · daar · buiten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Situar · ¿dónde está? &amp; pedir permiso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waar iets is &amp; om toestemming vragen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Situar · ¿dónde está?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¿Dónde está…?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is…?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Está en…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het is in/op…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Hay … en la cocina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er is … in de keuken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aquí · ahí · fuera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hier · daar · buiten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está encima de…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het staat op…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Pedir permiso · poder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¿Puedo…?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mag/kan ik…?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¿Puedes…?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kan/mag jij…?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Sí, puedes…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ja, je mag…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Aquí no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hier niet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puedes ir fuera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je mag naar buiten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de + el = del (encima del sofá) · poder + hele werkwoord (fumar, no fumo).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preposiciones de lugar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Plaats-woorden: zeggen waar iets is (turquoise)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6949440" cy="37490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¿Dónde está? — de plaats-woorden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3291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encima de 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op / boven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331720"/>
            <a:ext cx="3291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debajo de 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onder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2770632"/>
            <a:ext cx="3291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dentro de 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in / binnen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2770632"/>
            <a:ext cx="3291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al lado de 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naast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09544"/>
            <a:ext cx="3291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delante de 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voor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3209544"/>
            <a:ext cx="3291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detrás de 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achter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648456"/>
            <a:ext cx="3291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entre 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tussen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80960" y="1737360"/>
            <a:ext cx="4023360" cy="374903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09560" y="1874519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de + el = del · a + el = 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2468880"/>
            <a:ext cx="3566160" cy="2560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encima </a:t>
            </a:r>
            <a:r>
              <a:rPr sz="1400" b="1" i="0">
                <a:solidFill>
                  <a:srgbClr val="0E9E97"/>
                </a:solidFill>
                <a:latin typeface="Inter"/>
              </a:rPr>
              <a:t>de + el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sofá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→ encima </a:t>
            </a:r>
            <a:r>
              <a:rPr sz="1500" b="1" i="0">
                <a:solidFill>
                  <a:srgbClr val="0E9E97"/>
                </a:solidFill>
                <a:latin typeface="Inter"/>
              </a:rPr>
              <a:t>del</a:t>
            </a:r>
            <a:r>
              <a:rPr sz="1500" b="0" i="0">
                <a:solidFill>
                  <a:srgbClr val="20242E"/>
                </a:solidFill>
                <a:latin typeface="Inter"/>
              </a:rPr>
              <a:t> sofá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al lado </a:t>
            </a:r>
            <a:r>
              <a:rPr sz="1400" b="1" i="0">
                <a:solidFill>
                  <a:srgbClr val="0E9E97"/>
                </a:solidFill>
                <a:latin typeface="Inter"/>
              </a:rPr>
              <a:t>a + el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armario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→ al lado </a:t>
            </a:r>
            <a:r>
              <a:rPr sz="1500" b="1" i="0">
                <a:solidFill>
                  <a:srgbClr val="0E9E97"/>
                </a:solidFill>
                <a:latin typeface="Inter"/>
              </a:rPr>
              <a:t>del</a:t>
            </a:r>
            <a:r>
              <a:rPr sz="1500" b="0" i="0">
                <a:solidFill>
                  <a:srgbClr val="20242E"/>
                </a:solidFill>
                <a:latin typeface="Inter"/>
              </a:rPr>
              <a:t> armario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47091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nooit «de el» of «a el».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hay vs. está · poder (¿puedo?)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Iets nieuw → hay · waar dat ding staat → está · toestemming → poder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6949440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hay vs. está — er is / het staat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hay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iets nieuw (bestaat er)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el salón hay un sofá.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24328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¿dónde está…?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waar is dat bekende ding?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¿Dónde está el bolso?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99816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está / están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het staat / ze staan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Está encima de la mesa.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508760"/>
            <a:ext cx="4023360" cy="22860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164592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poder · pedir permiso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148840"/>
            <a:ext cx="356616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</a:t>
            </a:r>
            <a:r>
              <a:rPr sz="1400" b="1" i="0">
                <a:solidFill>
                  <a:srgbClr val="EA7317"/>
                </a:solidFill>
                <a:latin typeface="Inter"/>
              </a:rPr>
              <a:t>Puedo</a:t>
            </a:r>
            <a:r>
              <a:rPr sz="1400" b="0" i="0">
                <a:solidFill>
                  <a:srgbClr val="20242E"/>
                </a:solidFill>
                <a:latin typeface="Inter"/>
              </a:rPr>
              <a:t>…?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ik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</a:t>
            </a:r>
            <a:r>
              <a:rPr sz="1400" b="1" i="0">
                <a:solidFill>
                  <a:srgbClr val="EA7317"/>
                </a:solidFill>
                <a:latin typeface="Inter"/>
              </a:rPr>
              <a:t>Puedes</a:t>
            </a:r>
            <a:r>
              <a:rPr sz="1400" b="0" i="0">
                <a:solidFill>
                  <a:srgbClr val="20242E"/>
                </a:solidFill>
                <a:latin typeface="Inter"/>
              </a:rPr>
              <a:t>…?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jij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+ hele werkwoord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(fumar…)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6A6E78"/>
                </a:solidFill>
                <a:latin typeface="Inter"/>
              </a:rPr>
              <a:t>Sí, puedes · Aquí no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¿Dónde ___ el bolso? — ___ encima del sofá.  ¿___ mirar? Sí.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está · Está · Puedo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23" name="Rounded Rectangle 2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¿Dónde ___ mi bolso?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encima del sofá.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las llaves? — Están ___ de la mesa.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¿Puedo mirar en la cocina? — Sí, ___.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está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Está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debajo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puedes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Describe una habitación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Beschrijf een kamer: wat er is &amp; waar het staat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«— En el salón hay un sofá.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Está encima de una alfombra,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al lado de la ventana.»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kamer (la cocina, el salón…).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¿Qué hay? «En … hay un/una…».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¿Dónde está? «Está + preposición».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rol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aanwijzen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Casas del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Typische huizen &amp; plekken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Shakira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Antología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Juanes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Camisa Negra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Los Ángeles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Luis Fonsi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Despacito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P. Rico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TKN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🏠 Casas y lugares típicos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(el patio andaluz · la casa colonial de Cartagena · el balcón · la hamaca del Caribe). La playlist + LyricsTraining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Plano de mi casa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Teken je plattegrond, benoem de kamers &amp; zeg waar alles staat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PLANO · noteer je frames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🏠 Aquí está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 (la cocina · el salón…).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📦 En … hay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 (un sofá · una cama…).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📍 Está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 (encima de · al lado del…).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Dibuja el plano (4 habitaciones).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Etiqueta: «Aquí está la cocina…».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Sitúa: «hay un sofá · está encima de…».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Preséntalo a la clase — zónder af te lezen.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4 kamers benoemt en per kamer zegt wat er is («hay…») én waar het staat (preposición + del)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14 / 14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64208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74650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985162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64208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74650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Presentarse y presentar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1985162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 · Esta es mi madre · Este es mi padre · Es mi hermano/a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340864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423160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661818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340864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2423160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2661818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017520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309981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3338474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017520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09981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3338474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694176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77647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015130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uno · dos · tres · cinco · diez · veinte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694176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8" y="377647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4015130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370832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445312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Hablar de la familia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4691786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mi madre · mi padre · mi hermano/a · mi abuelo/a · el tío / la tía · la hermana de María (de + nombre)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370832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445312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Describir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4808" y="4691786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es alto/a · bajo/a · guapo/a · es simpático/a · divertido/a · inteligente · es muy… · un poco…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047488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" y="51297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Identificar objetos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" y="5368442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¿Qué es esto? · Esto es un/una… · Esto son… (meervoud) · un libro · una mesa (el/la)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5047488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64808" y="51297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Decir qué hay y para qué sirve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4808" y="5368442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¿Hay…? · (No) hay… · Sí que hay… · … que sirve para + infinitivo · sirve para abrir · beber · descansar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724144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088" y="5806440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Ubicar cosas · decir dónde está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6045098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¿Dónde está…? · está en… · encima de · debajo de · dentro de · al lado de · delante de · detrás de · Hay … en la cocina · del (de+el)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5724144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64808" y="5806440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Pedir y dar permiso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4808" y="6045098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¿Puedo…? · ¿Puedes…? · Sí, puedes… · Aquí no · puedes ir fuera · ¿Puedo fumar? · ¿Puedes venir?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waar iets is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¿Dónde está…? — Está encima de / debajo de / al lado del…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encima · debajo · dentro · al lado · delante · detrás · entre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de + el = del · a + el = al (al lado del armario)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hay vs. está · pedir permiso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hay = iets nieuw (er is…) · está = waar dat bekende ding staat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¿Puedo…? (ik) · ¿Puedes…? (jij) + hele werkwoord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la cocina · el salón · el dormitorio · el cuarto de baño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2860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de kamers benoemen (la cocina, el salón…)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52928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preposiciones de lugar gebruiken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19856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de+el=del / a+el=al juist maken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3986784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hay / está juist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553712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toestemming vragen (¿puedo? / ¿puedes?)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51206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plano de mi casa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6 «La casa y los lugares»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Les 1: Escucha (sitcom ep. 6 · id oDu5s6q4YKg, Julio is nerveus: María's spullen liggen overal) + Suena bien (b = v · llana ↔ aguda) + Kit (las habitaciones · muebles · preposiciones de lugar). Les 2: gramática functioneel (preposiciones de lugar + de+el=del/a+el=al · hay vs. está · poder ¿puedo?/¿puedes?), hablar «describe una habitación», tarea «Plano de mi casa» + cultura.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Chunks komen auditief binnen (luisteren → naspreken). Preposiciones de lugar, hay/está en poder enkel functioneel (vaste vormen, herkennen &amp; gebruiken), géén volledig werkwoordsysteem — dat is C5. b=v = één klank (betacismo): baca/vaca klinken gelijk, enkel de spelling verschilt. Kernvalstrik: de+el=del (encima del sofá, nooit «de el») en a+el=al; hay = iets nieuw ↔ está = waar dat bekende ding staat; poder + hele werkwoord (fumar, niet fumo). Doelcodes: C4-TS-3 · C4-WS-1 · C4-GE-2 · C4-SP-2 · C4-MEC-1/2 · C4-CU-1.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Mondelinge mini-taak («Plano de mi casa»: 4 kamers benoemen, per kamer zeggen wat er is met «hay» en waar het staat met een preposición + del). Geen leerplan → focus op «kunnen gebruiken in de praktijk». Rubric: habitaciones benoemen · hay/está + preposición correct · uitspraak &amp; durf.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