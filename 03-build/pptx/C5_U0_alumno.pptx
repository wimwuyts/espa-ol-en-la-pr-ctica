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7.xml"/><Relationship Id="rId4" Type="http://schemas.openxmlformats.org/officeDocument/2006/relationships/slide" Target="slide10.xml"/><Relationship Id="rId5" Type="http://schemas.openxmlformats.org/officeDocument/2006/relationships/slide" Target="slide13.xml"/><Relationship Id="rId6" Type="http://schemas.openxmlformats.org/officeDocument/2006/relationships/slide" Target="slide16.xml"/><Relationship Id="rId7" Type="http://schemas.openxmlformats.org/officeDocument/2006/relationships/slide" Target="slide18.xml"/><Relationship Id="rId8" Type="http://schemas.openxmlformats.org/officeDocument/2006/relationships/slide" Target="slide19.xml"/><Relationship Id="rId9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0 · EL MUNDO HISPANO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0" b="1" i="0">
                <a:solidFill>
                  <a:srgbClr val="FFFFFF"/>
                </a:solidFill>
                <a:latin typeface="Bricolage Grotesque"/>
              </a:rPr>
              <a:t>¡Empezamos!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1">
                <a:solidFill>
                  <a:srgbClr val="E4F4EE"/>
                </a:solidFill>
                <a:latin typeface="Inter"/>
              </a:rPr>
              <a:t>We beginnen! — jouw eerste stappen in het Spaans en op La Ruta.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¿Estás listo/a para el viaje?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Klaar voor de reis?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 (of volg de volgorde). Alles oefent naar de Tarea final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Sonar en español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alfabet · uitspraak · klanktrampas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4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La regla del sombrero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klemtoon · aguda/llana/esdrújula · tilde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7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Números 0–100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tellen · leeftijd · telefoon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10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Saludos y clase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groeten · voorstellen · lengua de clase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13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¿Dónde se habla español? (+20 países)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final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Tarjeta de embarque (eindmissie)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18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B7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7860B"/>
                </a:solidFill>
                <a:latin typeface="Bricolage Grotesque"/>
              </a:rPr>
              <a:t>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Quiz «La mezcla»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gemengde ophaal — mét oplossing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19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LA RUTA · PERSONAJES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gente de la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Je koppelt de reis aan mensen, niet aan een landenlijst. Tú = de reiziger (jij).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212848" cy="3931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E07A5F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2212848" cy="128016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73736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3200400"/>
            <a:ext cx="2212848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242E"/>
                </a:solidFill>
                <a:latin typeface="Bricolage Grotesque"/>
              </a:rPr>
              <a:t>Lucía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2212848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07A5F"/>
                </a:solidFill>
                <a:latin typeface="Inter"/>
              </a:rPr>
              <a:t>Sevilla 🇪🇸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1938528" cy="822960"/>
          </a:xfrm>
          <a:prstGeom prst="roundRect">
            <a:avLst>
              <a:gd name="adj" fmla="val 1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i="1" b="1">
                <a:solidFill>
                  <a:srgbClr val="157355"/>
                </a:solidFill>
                <a:latin typeface="Inter"/>
              </a:rPr>
              <a:t>«¡Hola! Yo soy Lucía, de Sevilla.»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46320"/>
            <a:ext cx="199339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gastvrouw España · familie (U2)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1417320"/>
            <a:ext cx="2212848" cy="3931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5B8DEF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8920" y="1417320"/>
            <a:ext cx="2212848" cy="128016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4" y="1737360"/>
            <a:ext cx="1371600" cy="1371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88920" y="3200400"/>
            <a:ext cx="2212848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242E"/>
                </a:solidFill>
                <a:latin typeface="Bricolage Grotesque"/>
              </a:rPr>
              <a:t>Diego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566160"/>
            <a:ext cx="2212848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8DEF"/>
                </a:solidFill>
                <a:latin typeface="Inter"/>
              </a:rPr>
              <a:t>CDMX 🇲🇽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3931920"/>
            <a:ext cx="1938528" cy="822960"/>
          </a:xfrm>
          <a:prstGeom prst="roundRect">
            <a:avLst>
              <a:gd name="adj" fmla="val 1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i="1" b="1">
                <a:solidFill>
                  <a:srgbClr val="157355"/>
                </a:solidFill>
                <a:latin typeface="Inter"/>
              </a:rPr>
              <a:t>«¡Qué onda! Soy Diego, de México.»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4846320"/>
            <a:ext cx="199339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eten &amp; markt (U5–U6)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1417320"/>
            <a:ext cx="2212848" cy="3931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2FA8A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0" y="1417320"/>
            <a:ext cx="2212848" cy="128016"/>
          </a:xfrm>
          <a:prstGeom prst="rect">
            <a:avLst/>
          </a:prstGeom>
          <a:solidFill>
            <a:srgbClr val="2F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264" y="1737360"/>
            <a:ext cx="1371600" cy="1371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120640" y="3200400"/>
            <a:ext cx="2212848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242E"/>
                </a:solidFill>
                <a:latin typeface="Bricolage Grotesque"/>
              </a:rPr>
              <a:t>Valen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566160"/>
            <a:ext cx="2212848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FA8A0"/>
                </a:solidFill>
                <a:latin typeface="Inter"/>
              </a:rPr>
              <a:t>Cartagena 🇨🇴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3931920"/>
            <a:ext cx="1938528" cy="822960"/>
          </a:xfrm>
          <a:prstGeom prst="roundRect">
            <a:avLst>
              <a:gd name="adj" fmla="val 1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i="1" b="1">
                <a:solidFill>
                  <a:srgbClr val="157355"/>
                </a:solidFill>
                <a:latin typeface="Inter"/>
              </a:rPr>
              <a:t>«¡Hey! Soy Valen, de Colombia.»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4846320"/>
            <a:ext cx="199339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wonen &amp; barrio (U7)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1417320"/>
            <a:ext cx="2212848" cy="3931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D69A2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1417320"/>
            <a:ext cx="2212848" cy="128016"/>
          </a:xfrm>
          <a:prstGeom prst="rect">
            <a:avLst/>
          </a:prstGeom>
          <a:solidFill>
            <a:srgbClr val="D6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984" y="1737360"/>
            <a:ext cx="1371600" cy="1371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3200400"/>
            <a:ext cx="2212848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242E"/>
                </a:solidFill>
                <a:latin typeface="Bricolage Grotesque"/>
              </a:rPr>
              <a:t>Nina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566160"/>
            <a:ext cx="2212848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9A2E"/>
                </a:solidFill>
                <a:latin typeface="Inter"/>
              </a:rPr>
              <a:t>Cusco 🇵🇪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3931920"/>
            <a:ext cx="1938528" cy="822960"/>
          </a:xfrm>
          <a:prstGeom prst="roundRect">
            <a:avLst>
              <a:gd name="adj" fmla="val 1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i="1" b="1">
                <a:solidFill>
                  <a:srgbClr val="157355"/>
                </a:solidFill>
                <a:latin typeface="Inter"/>
              </a:rPr>
              <a:t>«¡Buenas! Soy Nina, de Perú.»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2088" y="4846320"/>
            <a:ext cx="199339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reizen &amp; natuur (U8)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1417320"/>
            <a:ext cx="2212848" cy="3931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8A7BE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84080" y="1417320"/>
            <a:ext cx="2212848" cy="128016"/>
          </a:xfrm>
          <a:prstGeom prst="rect">
            <a:avLst/>
          </a:prstGeom>
          <a:solidFill>
            <a:srgbClr val="8A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4" y="1737360"/>
            <a:ext cx="1371600" cy="1371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784080" y="3200400"/>
            <a:ext cx="2212848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242E"/>
                </a:solidFill>
                <a:latin typeface="Bricolage Grotesque"/>
              </a:rPr>
              <a:t>Tú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3566160"/>
            <a:ext cx="2212848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A7BE0"/>
                </a:solidFill>
                <a:latin typeface="Inter"/>
              </a:rPr>
              <a:t>Flandes 🇧🇪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1240" y="3931920"/>
            <a:ext cx="1938528" cy="822960"/>
          </a:xfrm>
          <a:prstGeom prst="roundRect">
            <a:avLst>
              <a:gd name="adj" fmla="val 1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i="1" b="1">
                <a:solidFill>
                  <a:srgbClr val="157355"/>
                </a:solidFill>
                <a:latin typeface="Inter"/>
              </a:rPr>
              <a:t>«Yo soy… — en jij?»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93808" y="4846320"/>
            <a:ext cx="199339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🎒 </a:t>
            </a:r>
            <a:r>
              <a:rPr sz="1250" b="1" i="0">
                <a:solidFill>
                  <a:srgbClr val="157355"/>
                </a:solidFill>
                <a:latin typeface="Bricolage Grotesque"/>
              </a:rPr>
              <a:t>La mochila viajera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 = reisgezel. Klasritueel: </a:t>
            </a:r>
            <a:r>
              <a:rPr sz="1200" b="1" i="1">
                <a:solidFill>
                  <a:srgbClr val="1E9E74"/>
                </a:solidFill>
                <a:latin typeface="Inter"/>
              </a:rPr>
              <a:t>¿Cómo se llama nuestra mochila?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 (de klas kiest de naam — meteen een mini-taak).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Teaser C6: </a:t>
            </a:r>
            <a:r>
              <a:rPr sz="1050" b="1" i="1">
                <a:solidFill>
                  <a:srgbClr val="6A6E78"/>
                </a:solidFill>
                <a:latin typeface="Inter"/>
              </a:rPr>
              <a:t>Mateo, de Buenos Aires 🇦🇷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komt er pas in het 6de bij (voseo). Niet productief in C5.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SONAR EN ESPAÑOL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abecedario — las 27 letras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Spaans lees je zoals je het schrijft. Eén keer de klankregels → daarna lees je bijna elk woord correct hardop.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Doel: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de klanken &amp; letters herkennen · je naam kunnen spellen (deletrear).  </a:t>
            </a:r>
            <a:r>
              <a:rPr sz="950" b="0" i="1">
                <a:solidFill>
                  <a:srgbClr val="6A6E78"/>
                </a:solidFill>
                <a:latin typeface="Inter"/>
              </a:rPr>
              <a:t>[LPD · Taalsysteem — klank–schriftbeeld A1]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19072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19072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80944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0944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2816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04688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4688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efe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2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2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C2626"/>
                </a:solidFill>
                <a:latin typeface="Bricolage Grotesque"/>
              </a:rPr>
              <a:t>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2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90304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0304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C2626"/>
                </a:solidFill>
                <a:latin typeface="Bricolage Grotesque"/>
              </a:rPr>
              <a:t>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0304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hache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52176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52176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52176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C2626"/>
                </a:solidFill>
                <a:latin typeface="Bricolage Grotesque"/>
              </a:rPr>
              <a:t>J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jota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19072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19072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19072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ka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80944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80944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80944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42816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42816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42816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04688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04688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4688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66560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60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C2626"/>
                </a:solidFill>
                <a:latin typeface="Bricolage Grotesque"/>
              </a:rPr>
              <a:t>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eñe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28432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28432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28432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90304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90304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90304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pe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552176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52176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Q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52176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cu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C2626"/>
                </a:solidFill>
                <a:latin typeface="Bricolage Grotesque"/>
              </a:rPr>
              <a:t>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erre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719072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19072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19072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ese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980944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80944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80944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te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42816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42816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U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42816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u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504688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504688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C2626"/>
                </a:solidFill>
                <a:latin typeface="Bricolage Grotesque"/>
              </a:rPr>
              <a:t>V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04688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uve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766560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66560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W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66560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uve doble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28432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28432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28432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equis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290304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90304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90304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ye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552176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52176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C2626"/>
                </a:solidFill>
                <a:latin typeface="Bricolage Grotesque"/>
              </a:rPr>
              <a:t>Z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52176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zeta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7200" y="461772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778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2960" y="4599432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= klanktrampa (klinkt anders dan in het NL) → dia 5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57200" y="5074920"/>
            <a:ext cx="11274552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27 letras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= 26 van het NL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+ ñ</a:t>
            </a:r>
            <a:r>
              <a:rPr sz="1200" b="0" i="0">
                <a:solidFill>
                  <a:srgbClr val="157355"/>
                </a:solidFill>
                <a:latin typeface="Inter"/>
              </a:rPr>
              <a:t>.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ch / ll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= dígrafos (klankcombinaties), géén aparte letters meer.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De letternaam verraadt soms de klank: </a:t>
            </a:r>
            <a:r>
              <a:rPr sz="1200" b="1" i="1">
                <a:solidFill>
                  <a:srgbClr val="1E9E74"/>
                </a:solidFill>
                <a:latin typeface="Inter"/>
              </a:rPr>
              <a:t>«jota», «ge», «zeta».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¿Welke letter zie je niet in het NL? →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ñ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 ·  ¿Welke hoor je nooit? →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h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94360" y="4946904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OBSERVAR + REGLA · docent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64261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TRAMPAS PARA NEERLANDESES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sonidos que cambian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Een handvol letters doet iets anders dan je gewend bent. Vorm + label + icoon dragen de info (geen kleur alleen).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377647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109728" cy="157276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35024"/>
            <a:ext cx="3502152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La jota /x/</a:t>
            </a:r>
            <a:r>
              <a:rPr sz="1150" b="1" i="0">
                <a:solidFill>
                  <a:srgbClr val="1E9E74"/>
                </a:solidFill>
                <a:latin typeface="Inter"/>
              </a:rPr>
              <a:t>   j · ge · 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350215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hard, achter in de keel — als «ch» in lachen, acht, Bach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3502152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Ej.: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Juan · jamón · gente · Gijón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41448"/>
            <a:ext cx="3502152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C2626"/>
                </a:solidFill>
                <a:latin typeface="Inter"/>
              </a:rPr>
              <a:t>🔴 niet de NL-j! Juan = «Choean»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280160"/>
            <a:ext cx="377647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280160"/>
            <a:ext cx="109728" cy="157276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1335024"/>
            <a:ext cx="3502152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ll / y /ʝ/</a:t>
            </a:r>
            <a:r>
              <a:rPr sz="1150" b="1" i="0">
                <a:solidFill>
                  <a:srgbClr val="1E9E74"/>
                </a:solidFill>
                <a:latin typeface="Inter"/>
              </a:rPr>
              <a:t>   ll · 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691640"/>
            <a:ext cx="350215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als «j» in ja, jong (yeísmo)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148840"/>
            <a:ext cx="3502152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Ej.: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calle · paella · yo · playa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441448"/>
            <a:ext cx="3502152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C2626"/>
                </a:solidFill>
                <a:latin typeface="Inter"/>
              </a:rPr>
              <a:t>🔴 paella = «pa-e-JA», geen l-l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280160"/>
            <a:ext cx="377647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280160"/>
            <a:ext cx="109728" cy="157276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1335024"/>
            <a:ext cx="3502152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ñ /ɲ/</a:t>
            </a:r>
            <a:r>
              <a:rPr sz="1150" b="1" i="0">
                <a:solidFill>
                  <a:srgbClr val="1E9E74"/>
                </a:solidFill>
                <a:latin typeface="Inter"/>
              </a:rPr>
              <a:t>   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1691640"/>
            <a:ext cx="350215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als «nj» in oranje, Anja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148840"/>
            <a:ext cx="3502152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Ej.: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España · niño · año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441448"/>
            <a:ext cx="3502152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C2626"/>
                </a:solidFill>
                <a:latin typeface="Inter"/>
              </a:rPr>
              <a:t>🔴 año ≠ ano — het streepje telt!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962656"/>
            <a:ext cx="377647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962656"/>
            <a:ext cx="109728" cy="157276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017520"/>
            <a:ext cx="3502152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b = v /b/</a:t>
            </a:r>
            <a:r>
              <a:rPr sz="1150" b="1" i="0">
                <a:solidFill>
                  <a:srgbClr val="1E9E74"/>
                </a:solidFill>
                <a:latin typeface="Inter"/>
              </a:rPr>
              <a:t>   b · 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374136"/>
            <a:ext cx="350215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b én v klinken exact gelijk (/b/)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831336"/>
            <a:ext cx="3502152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Ej.: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Bélgica · vino · Sevilla · vivir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123944"/>
            <a:ext cx="3502152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C2626"/>
                </a:solidFill>
                <a:latin typeface="Inter"/>
              </a:rPr>
              <a:t>🔴 vivir = «bi-bir»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24528" y="2962656"/>
            <a:ext cx="377647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24528" y="2962656"/>
            <a:ext cx="109728" cy="157276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3017520"/>
            <a:ext cx="3502152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h muda</a:t>
            </a:r>
            <a:r>
              <a:rPr sz="1150" b="1" i="0">
                <a:solidFill>
                  <a:srgbClr val="1E9E74"/>
                </a:solidFill>
                <a:latin typeface="Inter"/>
              </a:rPr>
              <a:t>   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3374136"/>
            <a:ext cx="350215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de h zwijgt altijd — doe alsof ze er niet staat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8" y="3831336"/>
            <a:ext cx="3502152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Ej.: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hola · hora · ahora · hay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4123944"/>
            <a:ext cx="3502152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C2626"/>
                </a:solidFill>
                <a:latin typeface="Inter"/>
              </a:rPr>
              <a:t>🔴 hola = «ola» (ch = wél eigen klank)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3296" y="2962656"/>
            <a:ext cx="377647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83296" y="2962656"/>
            <a:ext cx="109728" cy="157276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6176" y="3017520"/>
            <a:ext cx="3502152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qu / z /k/ /θ/</a:t>
            </a:r>
            <a:r>
              <a:rPr sz="1150" b="1" i="0">
                <a:solidFill>
                  <a:srgbClr val="1E9E74"/>
                </a:solidFill>
                <a:latin typeface="Inter"/>
              </a:rPr>
              <a:t>   qu · z · ce · ci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3374136"/>
            <a:ext cx="350215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qu = «k» (u zwijgt) · z/ce/ci = «th» (España)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6" y="3831336"/>
            <a:ext cx="3502152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Ej.: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queso · aquí · zapato · gracias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4123944"/>
            <a:ext cx="3502152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C2626"/>
                </a:solidFill>
                <a:latin typeface="Inter"/>
              </a:rPr>
              <a:t>🔴 aquí = «a-kie», gracias met «th»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47436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 · ESCUCHA Y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oyes? — klankdiscriminatie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Je hoort één woord; kruis aan wat je hoort. Daarna spreek je beide vormen zelf in. (idee 38: uitspraakcontrast)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A · ¿B o V? ¿H o sin H?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91640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691640"/>
            <a:ext cx="3657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91640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vaca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691640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baca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1810512"/>
            <a:ext cx="329184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50008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350008"/>
            <a:ext cx="3657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50008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350008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tente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2468880"/>
            <a:ext cx="329184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08376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008376"/>
            <a:ext cx="3657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008376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casa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008376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caza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3127248"/>
            <a:ext cx="329184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66744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666744"/>
            <a:ext cx="3657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666744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hola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666744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ola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1720" y="3785616"/>
            <a:ext cx="329184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32588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B · ¿</a:t>
            </a:r>
            <a:r>
              <a:rPr sz="1400" b="1" i="0">
                <a:solidFill>
                  <a:srgbClr val="157355"/>
                </a:solidFill>
                <a:latin typeface="Bricolage Grotesque"/>
              </a:rPr>
              <a:t>pero</a:t>
            </a:r>
            <a:r>
              <a:rPr sz="1400" b="1" i="0">
                <a:solidFill>
                  <a:srgbClr val="157355"/>
                </a:solidFill>
                <a:latin typeface="Bricolage Grotesque"/>
              </a:rPr>
              <a:t> o </a:t>
            </a:r>
            <a:r>
              <a:rPr sz="1400" b="1" i="0">
                <a:solidFill>
                  <a:srgbClr val="157355"/>
                </a:solidFill>
                <a:latin typeface="Bricolage Grotesque"/>
              </a:rPr>
              <a:t>perro</a:t>
            </a:r>
            <a:r>
              <a:rPr sz="1400" b="1" i="0">
                <a:solidFill>
                  <a:srgbClr val="157355"/>
                </a:solidFill>
                <a:latin typeface="Bricolage Grotesque"/>
              </a:rPr>
              <a:t>? — één tik ↔ rol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1691640"/>
            <a:ext cx="539496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6916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pero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16916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perro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1691640"/>
            <a:ext cx="20116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maar / hond 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2350008"/>
            <a:ext cx="539496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2350008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caro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350008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carro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350008"/>
            <a:ext cx="20116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duur / kar 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3008376"/>
            <a:ext cx="539496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300837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coro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300837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corro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008376"/>
            <a:ext cx="20116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koor / ik ren 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3666744"/>
            <a:ext cx="539496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3666744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pera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3666744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perra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3666744"/>
            <a:ext cx="20116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peer / teef 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8" name="Rounded Rectangle 4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434840"/>
            <a:ext cx="11247120" cy="9601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 · «geen fout, dat is Spaans!» 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vaca=baca en hola=ola klinken IDENTIEK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(b=v, h muda).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gente≠tente (jota-klank), casa≠caza (s ↔ th).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B · r/rr: 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één tik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tussen klinkers (pero) ↔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rol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bij rr, woordbegin en na n/l/s (perro, Roma, Enrique). Betekenis verandert!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43068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acento — «la regla del sombrero»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Welke lettergreep zeg je harder (sílaba tónica)? En wanneer schrijf je een hoedje (´)?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① Observeren — luister &amp; klap 👏.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Elk woord heeft één 'sterke' lettergreep. Klap ze aan.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371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café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865376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42616" y="1792224"/>
            <a:ext cx="758952" cy="457200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524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FÉ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1627632"/>
            <a:ext cx="758952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37360"/>
            <a:ext cx="15544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(laatste)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37360"/>
            <a:ext cx="1371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casa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792224"/>
            <a:ext cx="758952" cy="457200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524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1627632"/>
            <a:ext cx="758952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7616" y="1865376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1737360"/>
            <a:ext cx="15544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(voorlaatste)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95728"/>
            <a:ext cx="1371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México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2450592"/>
            <a:ext cx="758952" cy="457200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524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MÉ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286000"/>
            <a:ext cx="758952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42616" y="2523744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xi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6432" y="2523744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395728"/>
            <a:ext cx="15544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(3e van achteren)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395728"/>
            <a:ext cx="1371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teléfono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2523744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57616" y="2450592"/>
            <a:ext cx="758952" cy="457200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524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LÉ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2286000"/>
            <a:ext cx="758952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71432" y="2523744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fo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85248" y="2523744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395728"/>
            <a:ext cx="15544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(3e van achteren)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054096"/>
            <a:ext cx="1371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Perú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3182112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42616" y="3108960"/>
            <a:ext cx="758952" cy="457200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524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RÚ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42616" y="2944368"/>
            <a:ext cx="758952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3054096"/>
            <a:ext cx="15544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(laatste)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054096"/>
            <a:ext cx="1371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número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3108960"/>
            <a:ext cx="758952" cy="457200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524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NÚ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2944368"/>
            <a:ext cx="758952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7616" y="3182112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71432" y="3182112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3054096"/>
            <a:ext cx="15544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(3e van achteren)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160520"/>
            <a:ext cx="11247120" cy="12344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 1 ·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Elk woord heeft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één sílaba tónica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— die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hoor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je altijd; het streepje (´)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schrijf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je maar soms.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Kernvalstrik: </a:t>
            </a:r>
            <a:r>
              <a:rPr sz="1200" b="1" i="0">
                <a:solidFill>
                  <a:srgbClr val="DC2626"/>
                </a:solidFill>
                <a:latin typeface="Inter"/>
              </a:rPr>
              <a:t>klemtoon ≠ tilde</a:t>
            </a:r>
            <a:r>
              <a:rPr sz="1200" b="0" i="0">
                <a:solidFill>
                  <a:srgbClr val="157355"/>
                </a:solidFill>
                <a:latin typeface="Inter"/>
              </a:rPr>
              <a:t>.  Bij casa hoor je de klap op 'ca', maar er staat géén hoedje.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NL-valstrik: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leg je Nederlandse klemtoon af — «pe-RÚ» (niet PE-ru), «es-pa-ÑOL» (niet ES-panjol).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032504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OBSERVAR → REGLA · docent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LA REGLA DEL SOMBRERO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Tres familias · ¿cuándo la tilde?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Drie families naar de plaats van de klap — en dé regel voor het hoedje: de magische eindletters -n, -s, klinker.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65760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E07A5F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57600" cy="420624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98448"/>
            <a:ext cx="36576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Bricolage Grotesque"/>
              </a:rPr>
              <a:t>agudas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73936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klap op de </a:t>
            </a:r>
            <a:r>
              <a:rPr sz="1100" b="1" i="0">
                <a:solidFill>
                  <a:srgbClr val="E07A5F"/>
                </a:solidFill>
                <a:latin typeface="Inter"/>
              </a:rPr>
              <a:t>laatste lettergreep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383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ca-fé · Pe-rú · es-pa-ñol · Ma-drid · ja-món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280160"/>
            <a:ext cx="365760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1280160"/>
            <a:ext cx="3657600" cy="420624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1298448"/>
            <a:ext cx="36576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Bricolage Grotesque"/>
              </a:rPr>
              <a:t>llanas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1773936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klap op de </a:t>
            </a:r>
            <a:r>
              <a:rPr sz="1100" b="1" i="0">
                <a:solidFill>
                  <a:srgbClr val="1E9E74"/>
                </a:solidFill>
                <a:latin typeface="Inter"/>
              </a:rPr>
              <a:t>voorlaatste (de gewoonste!)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2148840"/>
            <a:ext cx="3383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ca-sa · lu-nes · a-mi-go · ár-bol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280160"/>
            <a:ext cx="365760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8A7BE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1280160"/>
            <a:ext cx="3657600" cy="420624"/>
          </a:xfrm>
          <a:prstGeom prst="rect">
            <a:avLst/>
          </a:prstGeom>
          <a:solidFill>
            <a:srgbClr val="8A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1298448"/>
            <a:ext cx="36576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Bricolage Grotesque"/>
              </a:rPr>
              <a:t>esdrújulas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773936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klap op de </a:t>
            </a:r>
            <a:r>
              <a:rPr sz="1100" b="1" i="0">
                <a:solidFill>
                  <a:srgbClr val="8A7BE0"/>
                </a:solidFill>
                <a:latin typeface="Inter"/>
              </a:rPr>
              <a:t>derde van achteren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2148840"/>
            <a:ext cx="3383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Mé-xi-co · te-lé-fo-no · mú-si-ca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46120"/>
            <a:ext cx="6766560" cy="23317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9E74"/>
                </a:solidFill>
                <a:latin typeface="Inter"/>
              </a:rPr>
              <a:t>REGLA DEL SOMBRERO 🎩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• Esdrújula →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SIEMPRE ´</a:t>
            </a:r>
            <a:r>
              <a:rPr sz="1200" b="0" i="1">
                <a:solidFill>
                  <a:srgbClr val="157355"/>
                </a:solidFill>
                <a:latin typeface="Inter"/>
              </a:rPr>
              <a:t>  (México, teléfono, música)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• Aguda → ´ als ze eindigt op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-n, -s of klinker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157355"/>
                </a:solidFill>
                <a:latin typeface="Inter"/>
              </a:rPr>
              <a:t>     wél: café, Perú, jamón, adiós  ·  niet: Madrid, español, reloj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• Llana → ´ als ze NÍET zo eindigt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157355"/>
                </a:solidFill>
                <a:latin typeface="Inter"/>
              </a:rPr>
              <a:t>     wél: árbol, lápiz, Cádiz  ·  niet: casa, lunes, examen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• Monosílabo (1 lettergreep) → géén ´ (sol, pan, tres)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11810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de kern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246120"/>
            <a:ext cx="4315968" cy="233172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778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3337560"/>
            <a:ext cx="40233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7860B"/>
                </a:solidFill>
                <a:latin typeface="Bricolage Grotesque"/>
              </a:rPr>
              <a:t>🟡 Spiegel-truc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749039"/>
            <a:ext cx="40233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Dezelfde 3 eindletters (-n · -s · klinker) doen bij </a:t>
            </a:r>
            <a:r>
              <a:rPr sz="1100" b="1" i="0">
                <a:solidFill>
                  <a:srgbClr val="E07A5F"/>
                </a:solidFill>
                <a:latin typeface="Inter"/>
              </a:rPr>
              <a:t>agudas</a:t>
            </a:r>
            <a:r>
              <a:rPr sz="1100" b="0" i="0">
                <a:solidFill>
                  <a:srgbClr val="20242E"/>
                </a:solidFill>
                <a:latin typeface="Inter"/>
              </a:rPr>
              <a:t> het hoedje verschijnen en bij </a:t>
            </a:r>
            <a:r>
              <a:rPr sz="1100" b="1" i="0">
                <a:solidFill>
                  <a:srgbClr val="1E9E74"/>
                </a:solidFill>
                <a:latin typeface="Inter"/>
              </a:rPr>
              <a:t>llanas</a:t>
            </a:r>
            <a:r>
              <a:rPr sz="1100" b="0" i="0">
                <a:solidFill>
                  <a:srgbClr val="20242E"/>
                </a:solidFill>
                <a:latin typeface="Inter"/>
              </a:rPr>
              <a:t> verdwijnen.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663440"/>
            <a:ext cx="4023360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Beslisboom: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¿Esdrújula? </a:t>
            </a:r>
            <a:r>
              <a:rPr sz="1100" b="1" i="0">
                <a:solidFill>
                  <a:srgbClr val="1E9E74"/>
                </a:solidFill>
                <a:latin typeface="Inter"/>
              </a:rPr>
              <a:t>→ sí: 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¿No? → ¿termina en -n/-s/vocal?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aguda: sí→´  ·  llana: no→´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QUIZ · COLOCA LA TILDE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¿Lleva sombrero o no?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Zet de tilde ALLEEN waar het moet — en enkel op de tónica-klinker. Beslis eerst, onthul dan.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9047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Peru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199339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Perú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141732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49047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cafe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192024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76472" y="199339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café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141732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49047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casa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192024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92824" y="199339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casa · sin 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41732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06256" y="149047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arbol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192024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9176" y="199339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árbol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46888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54203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Mexico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97180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304495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México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246888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3552" y="254203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numero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3552" y="297180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76472" y="304495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número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9904" y="246888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9904" y="254203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lunes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297180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92824" y="304495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lunes · sin 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06256" y="246888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06256" y="254203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adios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297180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09176" y="304495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adiós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2" name="Rounded Rectangle 41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977639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Perú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(aguda -ú)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café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(aguda -é)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casa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→ GEEN (llana -a)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árbol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(llana -l → wél)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México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(esdrújula → altijd)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número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(esdrújula)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lunes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→ GEEN (llana -s)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adiós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(aguda -s → wél)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Ojo — geen hoedjes strooien!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lunes en profesor krijgen er GÉÉN. De grootste A1-fout is te veel tildes zetten.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3849623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Números 0–100 — en tres capas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Geen kale lijst: drie bouwlagen, elk met één truc. Voor je leeftijd (edad) en je telefoonnummer.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1274552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74552" cy="38404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44168"/>
            <a:ext cx="11000232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Bricolage Grotesque"/>
              </a:rPr>
              <a:t>Laag 1 · los cimientos (0–15)</a:t>
            </a:r>
            <a:r>
              <a:rPr sz="1050" b="0" i="1">
                <a:solidFill>
                  <a:srgbClr val="E4F4EE"/>
                </a:solidFill>
                <a:latin typeface="Inter"/>
              </a:rPr>
              <a:t>   apart leren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801368"/>
            <a:ext cx="10945368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0 cero · 1 uno · 2 dos · 3 tres · 4 cuatro · 5 cinco · 6 seis · 7 siete · 8 ocho · 9 nueve · 10 diez · 11 once · 12 doce · 13 trece · 14 catorce · 15 quince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80360"/>
            <a:ext cx="11274552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11274552" cy="384048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98648"/>
            <a:ext cx="11000232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Bricolage Grotesque"/>
              </a:rPr>
              <a:t>Laag 2 · «todo junto» (16–29)</a:t>
            </a:r>
            <a:r>
              <a:rPr sz="1050" b="0" i="1">
                <a:solidFill>
                  <a:srgbClr val="E4F4EE"/>
                </a:solidFill>
                <a:latin typeface="Inter"/>
              </a:rPr>
              <a:t>   één woord, geen «y» · let op 4 hoedjes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355848"/>
            <a:ext cx="10945368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16 dieciséis · 17 diecisiete · 18 dieciocho · 19 diecinueve · 20 veinte · 21 veintiuno · 22 veintidós · 23 veintitrés · 24 veinticuatro · 25 veinticinco · 26 veintiséis · 27 veintisiete · 28 veintiocho · 29 veintinueve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34840"/>
            <a:ext cx="713232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7132320" cy="38404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53128"/>
            <a:ext cx="6858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Bricolage Grotesque"/>
              </a:rPr>
              <a:t>Laag 3 · las decenas + «y» (30–100)</a:t>
            </a:r>
            <a:r>
              <a:rPr sz="1050" b="0" i="1">
                <a:solidFill>
                  <a:srgbClr val="E4F4EE"/>
                </a:solidFill>
                <a:latin typeface="Inter"/>
              </a:rPr>
              <a:t>   drie stukjes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892040"/>
            <a:ext cx="68580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30 treinta · 40 cuarenta · 50 cincuenta · 60 sesenta · 70 setenta · 80 ochenta · 90 noventa · 100 cien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434840"/>
            <a:ext cx="3959352" cy="141732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778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452628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7860B"/>
                </a:solidFill>
                <a:latin typeface="Bricolage Grotesque"/>
              </a:rPr>
              <a:t>⚙ La máquina «y»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892040"/>
            <a:ext cx="3657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63EB"/>
                </a:solidFill>
                <a:latin typeface="Inter"/>
              </a:rPr>
              <a:t>[ decena ] +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y</a:t>
            </a:r>
            <a:r>
              <a:rPr sz="1200" b="1" i="0">
                <a:solidFill>
                  <a:srgbClr val="1E9E74"/>
                </a:solidFill>
                <a:latin typeface="Inter"/>
              </a:rPr>
              <a:t> + [ unidad 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563EB"/>
                </a:solidFill>
                <a:latin typeface="Inter"/>
              </a:rPr>
              <a:t>treinta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y</a:t>
            </a:r>
            <a:r>
              <a:rPr sz="1200" b="0" i="0">
                <a:solidFill>
                  <a:srgbClr val="1E9E74"/>
                </a:solidFill>
                <a:latin typeface="Inter"/>
              </a:rPr>
              <a:t> cinco → </a:t>
            </a:r>
            <a:r>
              <a:rPr sz="1200" b="1" i="0">
                <a:solidFill>
                  <a:srgbClr val="20242E"/>
                </a:solidFill>
                <a:latin typeface="Inter"/>
              </a:rPr>
              <a:t>35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563EB"/>
                </a:solidFill>
                <a:latin typeface="Inter"/>
              </a:rPr>
              <a:t>noventa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y</a:t>
            </a:r>
            <a:r>
              <a:rPr sz="1200" b="0" i="0">
                <a:solidFill>
                  <a:srgbClr val="1E9E74"/>
                </a:solidFill>
                <a:latin typeface="Inter"/>
              </a:rPr>
              <a:t> nueve → </a:t>
            </a:r>
            <a:r>
              <a:rPr sz="1200" b="1" i="0">
                <a:solidFill>
                  <a:srgbClr val="20242E"/>
                </a:solidFill>
                <a:latin typeface="Inter"/>
              </a:rPr>
              <a:t>99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¡OJO! + TU EDAD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Valstrikken + «tener … años»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kernvalstrik van U0/U1: leeftijd = tener, niet ser. En de substitutietabel om je edad te zeggen.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77840" cy="4114800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778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52120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C2626"/>
                </a:solidFill>
                <a:latin typeface="Bricolage Grotesque"/>
              </a:rPr>
              <a:t>🔴 Trampas para neerlandeses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25780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• Leeftijd = tener, niet ser.  </a:t>
            </a:r>
            <a:r>
              <a:rPr sz="1050" b="0" i="0">
                <a:solidFill>
                  <a:srgbClr val="157355"/>
                </a:solidFill>
                <a:latin typeface="Inter"/>
              </a:rPr>
              <a:t>Tengo 14 años ✔  ·  ~Soy 14 años~ ✘ (NL «ik ben 14»)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50591"/>
            <a:ext cx="525780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• «y» alleen bij 30–100.  </a:t>
            </a:r>
            <a:r>
              <a:rPr sz="1050" b="0" i="0">
                <a:solidFill>
                  <a:srgbClr val="157355"/>
                </a:solidFill>
                <a:latin typeface="Inter"/>
              </a:rPr>
              <a:t>dieciséis (1 woord) ↔ treinta y seis (3 woorden)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26663"/>
            <a:ext cx="525780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• «y» klinkt als /i/.  </a:t>
            </a:r>
            <a:r>
              <a:rPr sz="1050" b="0" i="0">
                <a:solidFill>
                  <a:srgbClr val="157355"/>
                </a:solidFill>
                <a:latin typeface="Inter"/>
              </a:rPr>
              <a:t>cuarenta y cinco = [koe-a-REN-ta i SIN-ko]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02735"/>
            <a:ext cx="525780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• Hoedjes niet vergeten.  </a:t>
            </a:r>
            <a:r>
              <a:rPr sz="1050" b="0" i="0">
                <a:solidFill>
                  <a:srgbClr val="157355"/>
                </a:solidFill>
                <a:latin typeface="Inter"/>
              </a:rPr>
              <a:t>~veintidos~ → veintidós · ~dieciseis~ → dieciséis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78807"/>
            <a:ext cx="525780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• 100 = cien.  </a:t>
            </a:r>
            <a:r>
              <a:rPr sz="1050" b="0" i="0">
                <a:solidFill>
                  <a:srgbClr val="157355"/>
                </a:solidFill>
                <a:latin typeface="Inter"/>
              </a:rPr>
              <a:t>cien años, cien euros (niet ciento voor exact 100)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79"/>
            <a:ext cx="525780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• Lastige paren.  </a:t>
            </a:r>
            <a:r>
              <a:rPr sz="1050" b="0" i="0">
                <a:solidFill>
                  <a:srgbClr val="157355"/>
                </a:solidFill>
                <a:latin typeface="Inter"/>
              </a:rPr>
              <a:t>seis↔siete · nueve↔nuevo → extra luisteren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Substitutietabel — </a:t>
            </a:r>
            <a:r>
              <a:rPr sz="1300" b="1" i="0">
                <a:solidFill>
                  <a:srgbClr val="EA7317"/>
                </a:solidFill>
                <a:latin typeface="Bricolage Grotesque"/>
              </a:rPr>
              <a:t>tener + número + años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173736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783080"/>
            <a:ext cx="17373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Inter"/>
              </a:rPr>
              <a:t>Persoon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783080"/>
            <a:ext cx="1371600" cy="384048"/>
          </a:xfrm>
          <a:prstGeom prst="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783080"/>
            <a:ext cx="13716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Inter"/>
              </a:rPr>
              <a:t>tener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1783080"/>
            <a:ext cx="2286000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783080"/>
            <a:ext cx="22860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Inter"/>
              </a:rPr>
              <a:t>número + años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167128"/>
            <a:ext cx="17373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167128"/>
            <a:ext cx="173736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563EB"/>
                </a:solidFill>
                <a:latin typeface="Inter"/>
              </a:rPr>
              <a:t>Yo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167128"/>
            <a:ext cx="13716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2167128"/>
            <a:ext cx="13716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7317"/>
                </a:solidFill>
                <a:latin typeface="Inter"/>
              </a:rPr>
              <a:t>tengo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2167128"/>
            <a:ext cx="2286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2167128"/>
            <a:ext cx="22860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3AED"/>
                </a:solidFill>
                <a:latin typeface="Inter"/>
              </a:rPr>
              <a:t>catorce años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569464"/>
            <a:ext cx="17373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569464"/>
            <a:ext cx="173736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563EB"/>
                </a:solidFill>
                <a:latin typeface="Inter"/>
              </a:rPr>
              <a:t>Tú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2569464"/>
            <a:ext cx="13716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2569464"/>
            <a:ext cx="13716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7317"/>
                </a:solidFill>
                <a:latin typeface="Inter"/>
              </a:rPr>
              <a:t>tienes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2569464"/>
            <a:ext cx="2286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2569464"/>
            <a:ext cx="22860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3AED"/>
                </a:solidFill>
                <a:latin typeface="Inter"/>
              </a:rPr>
              <a:t>quince años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971800"/>
            <a:ext cx="17373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971800"/>
            <a:ext cx="173736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563EB"/>
                </a:solidFill>
                <a:latin typeface="Inter"/>
              </a:rPr>
              <a:t>Lucía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2971800"/>
            <a:ext cx="13716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2971800"/>
            <a:ext cx="13716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7317"/>
                </a:solidFill>
                <a:latin typeface="Inter"/>
              </a:rPr>
              <a:t>tiene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2971800"/>
            <a:ext cx="2286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2971800"/>
            <a:ext cx="22860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3AED"/>
                </a:solidFill>
                <a:latin typeface="Inter"/>
              </a:rPr>
              <a:t>dieciséis años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374136"/>
            <a:ext cx="17373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374136"/>
            <a:ext cx="173736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563EB"/>
                </a:solidFill>
                <a:latin typeface="Inter"/>
              </a:rPr>
              <a:t>Mi hermano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3374136"/>
            <a:ext cx="13716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3374136"/>
            <a:ext cx="13716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7317"/>
                </a:solidFill>
                <a:latin typeface="Inter"/>
              </a:rPr>
              <a:t>tiene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3374136"/>
            <a:ext cx="2286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0" y="3374136"/>
            <a:ext cx="22860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3AED"/>
                </a:solidFill>
                <a:latin typeface="Inter"/>
              </a:rPr>
              <a:t>veinte años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3913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60920" y="3950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25512" y="3904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13801" y="3950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78393" y="3904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09989" y="3950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4581" y="3904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92792" y="3950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57384" y="3904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88980" y="3950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53572" y="3904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09360" y="4297680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Vraag-antwoordspiegel: 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¿Cuántos años tienes?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→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Tengo ___ años.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Apocope: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veintiún años, treinta y un años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 (uno → un vóór «años»).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46520" y="416966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89499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PRACTICA · ESCRIBE EN LETRAS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número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Let op: 16–29 = één woord · 30–100 = drie woorden met «y». Schrijf voluit.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61188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664208"/>
            <a:ext cx="6400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463040"/>
            <a:ext cx="265176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dieci______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196596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 dieciocho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463040"/>
            <a:ext cx="361188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1688" y="1664208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664208"/>
            <a:ext cx="6400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463040"/>
            <a:ext cx="265176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veinti______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96596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 veinticuatro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63040"/>
            <a:ext cx="361188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56448" y="1664208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1664208"/>
            <a:ext cx="6400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463040"/>
            <a:ext cx="265176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cincuenta ___ ______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196596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 cincuenta y tres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578608"/>
            <a:ext cx="361188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2779776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779776"/>
            <a:ext cx="6400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2578608"/>
            <a:ext cx="265176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______ y 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3081528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 setenta y uno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2578608"/>
            <a:ext cx="361188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61688" y="2779776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2779776"/>
            <a:ext cx="6400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2578608"/>
            <a:ext cx="265176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______ y 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3081528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 noventa y seis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578608"/>
            <a:ext cx="361188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56448" y="2779776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6448" y="2779776"/>
            <a:ext cx="6400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578608"/>
            <a:ext cx="265176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______ y ______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3081528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 cuarenta y siete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0" name="Rounded Rectangle 3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206240"/>
            <a:ext cx="11247120" cy="11887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18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dieciocho</a:t>
            </a:r>
            <a:r>
              <a:rPr sz="1200" b="1" i="0">
                <a:solidFill>
                  <a:srgbClr val="157355"/>
                </a:solidFill>
                <a:latin typeface="Inter"/>
              </a:rPr>
              <a:t>  ·  24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veinticuatro</a:t>
            </a:r>
            <a:r>
              <a:rPr sz="1200" b="1" i="0">
                <a:solidFill>
                  <a:srgbClr val="157355"/>
                </a:solidFill>
                <a:latin typeface="Inter"/>
              </a:rPr>
              <a:t>  ·  53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cincuenta y tres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71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setenta y uno</a:t>
            </a:r>
            <a:r>
              <a:rPr sz="1200" b="1" i="0">
                <a:solidFill>
                  <a:srgbClr val="157355"/>
                </a:solidFill>
                <a:latin typeface="Inter"/>
              </a:rPr>
              <a:t>  ·  96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noventa y seis</a:t>
            </a:r>
            <a:r>
              <a:rPr sz="1200" b="1" i="0">
                <a:solidFill>
                  <a:srgbClr val="157355"/>
                </a:solidFill>
                <a:latin typeface="Inter"/>
              </a:rPr>
              <a:t>  ·  47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cuarenta y siete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Mini-transfer: </a:t>
            </a:r>
            <a:r>
              <a:rPr sz="1200" b="0" i="1">
                <a:solidFill>
                  <a:srgbClr val="157355"/>
                </a:solidFill>
                <a:latin typeface="Inter"/>
              </a:rPr>
              <a:t>schrijf jouw huisnummer en jouw schoenmaat voluit in letters.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40782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SALUDOS · SPEAKING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Saludar y presentarse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Kant-en-klare chunks: je leert ze als één geheel. Ze openen elke kennismaking op de reis.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5760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EA7317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3657600" cy="438912"/>
          </a:xfrm>
          <a:prstGeom prst="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44168"/>
            <a:ext cx="338328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🟠 Saludar / despedirse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874519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¡Hola! · Buenos días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Hallo! · Goedemorgen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7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Buenas tardes / noches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Goeimiddag / -avond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008375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¿Qué tal? · ¿Cómo estás?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Hoe gaat het?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575303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(Muy) bien, gracias. ¿Y tú?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(Heel) goed, dank je. En jij?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142231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Adiós · Hasta luego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Dag · Tot straks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709159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Chao (informal)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Doei (onder vrienden)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325880"/>
            <a:ext cx="365760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325880"/>
            <a:ext cx="3657600" cy="4389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344168"/>
            <a:ext cx="338328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🔵 Presentarse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1874519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Me llamo … / Soy …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Ik heet … / Ik ben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441447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¿Cómo te llamas?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Hoe heet jij?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3008375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Encantado / Encantada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Aangenaam (m / 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575303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Mucho gusto · Igualmente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Aangenaam · Insgelijks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142231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Este es… / Esta es…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Dit is… (m / 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709159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Soy de Bélgica.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Ik kom uit België.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325880"/>
            <a:ext cx="365760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EAB308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325880"/>
            <a:ext cx="3657600" cy="438912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1344168"/>
            <a:ext cx="338328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🟡 Lengua de clase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1874519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¿Cómo se dice … en español?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Hoe zeg je … in het Spaans?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2441447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¿Qué significa …?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Wat betekent …?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3008375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No entiendo.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Ik begrijp het niet.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3575303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¿Puedes repetir, por favor?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Kun je herhalen, a.u.b.?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142231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Más despacio, por favor.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Trager, a.u.b.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709159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¿Cómo se escribe?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Hoe schrijf je dat?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DIÁLOGO ·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Presentarse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Een kennismaking van begin tot eind. Route: saludar → presentarse → preguntar → reaccionar → despedirse.</a:t>
            </a:r>
          </a:p>
        </p:txBody>
      </p:sp>
      <p:pic>
        <p:nvPicPr>
          <p:cNvPr id="8" name="Picture 7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66928" cy="5669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143000" y="1325880"/>
            <a:ext cx="6766560" cy="658368"/>
          </a:xfrm>
          <a:prstGeom prst="roundRect">
            <a:avLst>
              <a:gd name="adj" fmla="val 14000"/>
            </a:avLst>
          </a:prstGeom>
          <a:solidFill>
            <a:srgbClr val="E4F4EE"/>
          </a:solidFill>
          <a:ln w="1524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100" b="1">
                <a:solidFill>
                  <a:srgbClr val="E07A5F"/>
                </a:solidFill>
                <a:latin typeface="Inter"/>
              </a:rPr>
              <a:t>Lucía: </a:t>
            </a:r>
            <a:r>
              <a:rPr sz="1300">
                <a:solidFill>
                  <a:srgbClr val="20242E"/>
                </a:solidFill>
                <a:latin typeface="Inter"/>
              </a:rPr>
              <a:t>¡Hola! Buenos días. Me llamo Lucía. ¿Y tú, cómo te llamas?</a:t>
            </a:r>
          </a:p>
        </p:txBody>
      </p:sp>
      <p:pic>
        <p:nvPicPr>
          <p:cNvPr id="10" name="Picture 9" descr="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075688"/>
            <a:ext cx="566928" cy="5669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754880" y="2075688"/>
            <a:ext cx="6309360" cy="658368"/>
          </a:xfrm>
          <a:prstGeom prst="roundRect">
            <a:avLst>
              <a:gd name="adj" fmla="val 14000"/>
            </a:avLst>
          </a:prstGeom>
          <a:solidFill>
            <a:srgbClr val="EAEEFC"/>
          </a:solidFill>
          <a:ln w="15240">
            <a:solidFill>
              <a:srgbClr val="8A7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100" b="1">
                <a:solidFill>
                  <a:srgbClr val="8A7BE0"/>
                </a:solidFill>
                <a:latin typeface="Inter"/>
              </a:rPr>
              <a:t>Tú: </a:t>
            </a:r>
            <a:r>
              <a:rPr sz="1300">
                <a:solidFill>
                  <a:srgbClr val="20242E"/>
                </a:solidFill>
                <a:latin typeface="Inter"/>
              </a:rPr>
              <a:t>Hola, buenos días. Soy Tom. Soy de Bélgica.</a:t>
            </a:r>
          </a:p>
        </p:txBody>
      </p:sp>
      <p:pic>
        <p:nvPicPr>
          <p:cNvPr id="12" name="Picture 11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25496"/>
            <a:ext cx="566928" cy="5669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143000" y="2825496"/>
            <a:ext cx="6766560" cy="658368"/>
          </a:xfrm>
          <a:prstGeom prst="roundRect">
            <a:avLst>
              <a:gd name="adj" fmla="val 14000"/>
            </a:avLst>
          </a:prstGeom>
          <a:solidFill>
            <a:srgbClr val="E4F4EE"/>
          </a:solidFill>
          <a:ln w="1524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100" b="1">
                <a:solidFill>
                  <a:srgbClr val="E07A5F"/>
                </a:solidFill>
                <a:latin typeface="Inter"/>
              </a:rPr>
              <a:t>Lucía: </a:t>
            </a:r>
            <a:r>
              <a:rPr sz="1300">
                <a:solidFill>
                  <a:srgbClr val="20242E"/>
                </a:solidFill>
                <a:latin typeface="Inter"/>
              </a:rPr>
              <a:t>¡Encantada, Tom!</a:t>
            </a:r>
          </a:p>
        </p:txBody>
      </p:sp>
      <p:pic>
        <p:nvPicPr>
          <p:cNvPr id="14" name="Picture 13" descr="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3575304"/>
            <a:ext cx="566928" cy="56692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754880" y="3575304"/>
            <a:ext cx="6309360" cy="658368"/>
          </a:xfrm>
          <a:prstGeom prst="roundRect">
            <a:avLst>
              <a:gd name="adj" fmla="val 14000"/>
            </a:avLst>
          </a:prstGeom>
          <a:solidFill>
            <a:srgbClr val="EAEEFC"/>
          </a:solidFill>
          <a:ln w="15240">
            <a:solidFill>
              <a:srgbClr val="8A7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100" b="1">
                <a:solidFill>
                  <a:srgbClr val="8A7BE0"/>
                </a:solidFill>
                <a:latin typeface="Inter"/>
              </a:rPr>
              <a:t>Tú: </a:t>
            </a:r>
            <a:r>
              <a:rPr sz="1300">
                <a:solidFill>
                  <a:srgbClr val="20242E"/>
                </a:solidFill>
                <a:latin typeface="Inter"/>
              </a:rPr>
              <a:t>Igualmente. ¿Qué tal?</a:t>
            </a:r>
          </a:p>
        </p:txBody>
      </p:sp>
      <p:pic>
        <p:nvPicPr>
          <p:cNvPr id="16" name="Picture 15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25112"/>
            <a:ext cx="566928" cy="5669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143000" y="4325112"/>
            <a:ext cx="6766560" cy="658368"/>
          </a:xfrm>
          <a:prstGeom prst="roundRect">
            <a:avLst>
              <a:gd name="adj" fmla="val 14000"/>
            </a:avLst>
          </a:prstGeom>
          <a:solidFill>
            <a:srgbClr val="E4F4EE"/>
          </a:solidFill>
          <a:ln w="1524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100" b="1">
                <a:solidFill>
                  <a:srgbClr val="E07A5F"/>
                </a:solidFill>
                <a:latin typeface="Inter"/>
              </a:rPr>
              <a:t>Lucía: </a:t>
            </a:r>
            <a:r>
              <a:rPr sz="1300">
                <a:solidFill>
                  <a:srgbClr val="20242E"/>
                </a:solidFill>
                <a:latin typeface="Inter"/>
              </a:rPr>
              <a:t>Muy bien, gracias. ¡Hasta luego!</a:t>
            </a:r>
          </a:p>
        </p:txBody>
      </p:sp>
      <p:pic>
        <p:nvPicPr>
          <p:cNvPr id="18" name="Picture 17" descr="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5074920"/>
            <a:ext cx="566928" cy="56692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754880" y="5074920"/>
            <a:ext cx="6309360" cy="658368"/>
          </a:xfrm>
          <a:prstGeom prst="roundRect">
            <a:avLst>
              <a:gd name="adj" fmla="val 14000"/>
            </a:avLst>
          </a:prstGeom>
          <a:solidFill>
            <a:srgbClr val="EAEEFC"/>
          </a:solidFill>
          <a:ln w="15240">
            <a:solidFill>
              <a:srgbClr val="8A7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100" b="1">
                <a:solidFill>
                  <a:srgbClr val="8A7BE0"/>
                </a:solidFill>
                <a:latin typeface="Inter"/>
              </a:rPr>
              <a:t>Tú: </a:t>
            </a:r>
            <a:r>
              <a:rPr sz="1300">
                <a:solidFill>
                  <a:srgbClr val="20242E"/>
                </a:solidFill>
                <a:latin typeface="Inter"/>
              </a:rPr>
              <a:t>¡Adiós!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53212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Opmerken (betekenis vóór vorm):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Lucía reageert op «Soy Tom» met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«¡Encantada!»</a:t>
            </a:r>
            <a:r>
              <a:rPr sz="1200" b="0" i="0">
                <a:solidFill>
                  <a:srgbClr val="157355"/>
                </a:solidFill>
                <a:latin typeface="Inter"/>
              </a:rPr>
              <a:t>. Tú antwoordt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«Igualmente»</a:t>
            </a:r>
            <a:r>
              <a:rPr sz="1200" b="0" i="0">
                <a:solidFill>
                  <a:srgbClr val="157355"/>
                </a:solidFill>
                <a:latin typeface="Inter"/>
              </a:rPr>
              <a:t>. Begin = saludo, einde = despedida (Hasta luego / Adiós).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041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OBSERVAR · docent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LENGUA DE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dices? — la reddingsboei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Koppel elke situatie aan de juiste klastaal-chunk. Betekenis vóór vorm: kies je 'reddingsboei'.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0058400" cy="292608"/>
          </a:xfrm>
          <a:prstGeom prst="roundRect">
            <a:avLst>
              <a:gd name="adj" fmla="val 50000"/>
            </a:avLst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50" b="1">
                <a:solidFill>
                  <a:srgbClr val="157355"/>
                </a:solidFill>
                <a:latin typeface="Inter"/>
              </a:rPr>
              <a:t>Banco de frases:  ¿cómo se dice…?  ·  no entiendo  ·  ¿puedes repetir?  ·  más despacio  ·  ¿qué significa…?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557784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00253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02536"/>
            <a:ext cx="347472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783080"/>
            <a:ext cx="4846320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De docent praat te snel.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240280"/>
            <a:ext cx="5532120" cy="18288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801368"/>
            <a:ext cx="5486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→ Más despacio, por favor.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51760"/>
            <a:ext cx="557784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287121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871216"/>
            <a:ext cx="347472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651760"/>
            <a:ext cx="4846320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Je kent een woord niet in het Spaans.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108960"/>
            <a:ext cx="5532120" cy="18288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670048"/>
            <a:ext cx="5486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→ ¿Cómo se dice «…» en español?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20440"/>
            <a:ext cx="557784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73989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739896"/>
            <a:ext cx="347472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520440"/>
            <a:ext cx="4846320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Je verstond de vraag niet.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977640"/>
            <a:ext cx="5532120" cy="18288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538728"/>
            <a:ext cx="5486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→ ¿Puedes repetir, por favor?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89120"/>
            <a:ext cx="557784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460857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608576"/>
            <a:ext cx="347472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389120"/>
            <a:ext cx="4846320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Je snapt de betekenis van «tarea» niet.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846320"/>
            <a:ext cx="5532120" cy="18288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4407408"/>
            <a:ext cx="5486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→ ¿Qué significa «tarea»?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9496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Mini-rollenspel (geen steun):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A speelt docent (praat te snel / zegt een nieuw woord); B reageert met de passende chunk. Wissel.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2669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89499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CULTURA · IDENTIDAD EN DIVERSIDAD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¿Dónde se habla español?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Officiële taal in +20 landen. Je koppelt de reis aan de wereldkaart en aan de cast.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7040880" cy="41148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66751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🗺️ El mundo hispano — lengua oficial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Inter"/>
              </a:rPr>
              <a:t>★ España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1828800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1828800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Inter"/>
              </a:rPr>
              <a:t>★ México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1828800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1828800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Guatemala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267712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67712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Honduras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8648" y="2267712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8648" y="2267712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El Salvador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8928" y="2267712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2267712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Nicaragua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06624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706624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Costa Rica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98648" y="2706624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98648" y="2706624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Panamá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38928" y="2706624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8928" y="2706624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Cuba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145536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145536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Rep. Dominicana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98648" y="3145536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98648" y="3145536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Puerto Rico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38928" y="3145536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38928" y="3145536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Inter"/>
              </a:rPr>
              <a:t>★ Colombia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3584448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584448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Venezuela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98648" y="3584448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98648" y="3584448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Ecuador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38928" y="3584448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38928" y="3584448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Inter"/>
              </a:rPr>
              <a:t>★ Perú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23360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023360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Bolivia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98648" y="4023360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98648" y="4023360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Paraguay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023360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38928" y="4023360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Uruguay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4462272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462272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Argentina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98648" y="4462272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98648" y="4462272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Chile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38928" y="4462272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38928" y="4462272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Guinea Ecuatorial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5029200"/>
            <a:ext cx="667512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A6E78"/>
                </a:solidFill>
                <a:latin typeface="Inter"/>
              </a:rPr>
              <a:t>★ = una parada de C5 (España · México · Colombia · Perú)  ·  🇺🇸 EE.UU. = millones de hispanohablantes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80960" y="1463040"/>
            <a:ext cx="40233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63840" y="1517904"/>
            <a:ext cx="36576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9E74"/>
                </a:solidFill>
                <a:latin typeface="Bricolage Grotesque"/>
              </a:rPr>
              <a:t>~500 mln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1883664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moedertaalsprekers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80960" y="2304288"/>
            <a:ext cx="40233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63840" y="2359152"/>
            <a:ext cx="36576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9E74"/>
                </a:solidFill>
                <a:latin typeface="Bricolage Grotesque"/>
              </a:rPr>
              <a:t>+20 países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2724912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lengua oficial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80960" y="3145536"/>
            <a:ext cx="40233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63840" y="3200400"/>
            <a:ext cx="36576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9E74"/>
                </a:solidFill>
                <a:latin typeface="Bricolage Grotesque"/>
              </a:rPr>
              <a:t>2ª lengua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3566160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materna del mundo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80960" y="3986784"/>
            <a:ext cx="40233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63840" y="4041648"/>
            <a:ext cx="36576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9E74"/>
                </a:solidFill>
                <a:latin typeface="Bricolage Grotesque"/>
              </a:rPr>
              <a:t>español = castellano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4407408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twee namen, één taal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680960" y="4846320"/>
            <a:ext cx="4023360" cy="59436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651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18120" y="4901184"/>
            <a:ext cx="3794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7860B"/>
                </a:solidFill>
                <a:latin typeface="Inter"/>
              </a:rPr>
              <a:t>🟡 Cognados: </a:t>
            </a:r>
            <a:r>
              <a:rPr sz="1050" b="0" i="0">
                <a:solidFill>
                  <a:srgbClr val="20242E"/>
                </a:solidFill>
                <a:latin typeface="Inter"/>
              </a:rPr>
              <a:t>hospital, animal, chocolate, familia, taxi… je herkent al véél Spaans!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CULTURA · VARIACIÓN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Mismo idioma, pequeñas diferencias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Zelfde taal, kleine verschillen in woorden en klanken. Géén grammatica — enkel bewustwording (A1).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29184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2918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371600"/>
            <a:ext cx="329184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371600"/>
            <a:ext cx="32918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🌎 Hispanoamérica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371600"/>
            <a:ext cx="3291840" cy="4572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371600"/>
            <a:ext cx="32918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🇳🇱 Nederlands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8288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coche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18288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18288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carro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18288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18288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de auto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2860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2860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móvil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22860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2860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celular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22860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22860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de gsm / mobiel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7432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7432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ordenador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0" y="27432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27432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computadora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27432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27432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de computer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004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2004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zumo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32004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6200" y="32004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jugo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32004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32004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het (vruchten)sap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6576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6576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patata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40" y="36576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6200" y="36576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papa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36576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36576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de aardappel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1148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1148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vosotros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40" y="41148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86200" y="41148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ustedes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41148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78040" y="41148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jullie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5720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45720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¡vale!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40" y="45720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86200" y="45720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¡dale! / ¡listo!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40880" y="45720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78040" y="45720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oké!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515600" y="1371600"/>
            <a:ext cx="1216152" cy="36576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651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07040" y="1463040"/>
            <a:ext cx="1051560" cy="3474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7860B"/>
                </a:solidFill>
                <a:latin typeface="Inter"/>
              </a:rPr>
              <a:t>seseo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c(e/i)/z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= /s/ in LatAm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= /θ/ «th»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in España.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57355"/>
                </a:solidFill>
                <a:latin typeface="Inter"/>
              </a:rPr>
              <a:t>Beide OK!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120640"/>
            <a:ext cx="978408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Valstrik (spelling):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landen mét hoofdletter (España, México, Perú), maar de taal met kleine letter: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el español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(niet «el Español»).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" y="4992624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OJO · docent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★ TAREA FINAL · EINDMISSIE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Tu tarjeta de embarque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Jouw instapkaart voor La Ruta. Alles komt samen: spellen · groeten · één klasvraag stellen.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035040" cy="2880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17320"/>
            <a:ext cx="5669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Bricolage Grotesque"/>
              </a:rPr>
              <a:t>Communicatief kader (§14)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10512"/>
            <a:ext cx="1874519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✈️ Situación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810512"/>
            <a:ext cx="3886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Aan de gate stel je je kort voor voor de eerste etappe.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86000"/>
            <a:ext cx="1874519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🗣️ Afzender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286000"/>
            <a:ext cx="3886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jij (de reiziger).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761488"/>
            <a:ext cx="1874519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👥 Ontvanger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761488"/>
            <a:ext cx="3886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een klasgenoot / de mochila / de klas.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236976"/>
            <a:ext cx="1874519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🎯 Doel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236976"/>
            <a:ext cx="3886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voorstellen + spellen · groeten · één klasvraag stellen.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712464"/>
            <a:ext cx="1874519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🎁 Resultaat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712464"/>
            <a:ext cx="3886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ingevulde tarjeta + korte gesproken kennismaking (live/opname).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325880"/>
            <a:ext cx="5029200" cy="20116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325880"/>
            <a:ext cx="5029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1344168"/>
            <a:ext cx="4754880" cy="42062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Bricolage Grotesque"/>
              </a:rPr>
              <a:t>✈  TARJETA DE EMBARQUE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920240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A6E78"/>
                </a:solidFill>
                <a:latin typeface="Inter"/>
              </a:rPr>
              <a:t>NOMBRE / NAAM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920240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176272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A6E78"/>
                </a:solidFill>
                <a:latin typeface="Inter"/>
              </a:rPr>
              <a:t>DESTINO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176272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ESPAÑA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432304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A6E78"/>
                </a:solidFill>
                <a:latin typeface="Inter"/>
              </a:rPr>
              <a:t>RUTA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32304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EL MUNDO HISPANO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688336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A6E78"/>
                </a:solidFill>
                <a:latin typeface="Inter"/>
              </a:rPr>
              <a:t>PUERTA (gate)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688336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U0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944368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A6E78"/>
                </a:solidFill>
                <a:latin typeface="Inter"/>
              </a:rPr>
              <a:t>ASIENTO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944368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___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4572000" cy="1828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▮▮▯▮▯▮▮▯▮  ·  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520440"/>
            <a:ext cx="50292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Pasos (steun bouwt af):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3840480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1 Prepara tu tarjeta (MODEL)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4206240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2 Ensaya tu nombre (alfabet)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4572000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3 Escribe tu mini-diálogo (frame)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4937760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4 Practica en duo (cue)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5303520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5 Preséntate (SIN AYUDA)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343400"/>
            <a:ext cx="6035040" cy="14630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Modelo (en la puerta):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57355"/>
                </a:solidFill>
                <a:latin typeface="Inter"/>
              </a:rPr>
              <a:t>Lucía: ¡Hola! Yo soy Lucía. ¿Y tú?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57355"/>
                </a:solidFill>
                <a:latin typeface="Inter"/>
              </a:rPr>
              <a:t>Tú: ¡Hola! Yo soy Sam.  — Lucía: ¿Cómo se escribe?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57355"/>
                </a:solidFill>
                <a:latin typeface="Inter"/>
              </a:rPr>
              <a:t>Tú: Ese-a-eme. Sam.  Una pregunta: ¿cómo se dice «rugzak»?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57355"/>
                </a:solidFill>
                <a:latin typeface="Inter"/>
              </a:rPr>
              <a:t>Lucía: Se dice «la mochila». — Tú: ¡Gracias! ¡Hasta luego!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21538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B7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B7860B"/>
                </a:solidFill>
                <a:latin typeface="Inter"/>
              </a:rPr>
              <a:t>QUIZ ·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«La mezcla» — gemengde 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Vijf mini-items, elk uit een ándere sectie. Kies zélf de juiste regel. (retrieval vóór herlezen, §14)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50876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157355"/>
                </a:solidFill>
                <a:latin typeface="Inter"/>
              </a:rPr>
              <a:t>1 · §2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371600"/>
            <a:ext cx="6766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¿Lleva tilde: «Peru» o «Perú»?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499616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 Perú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11680"/>
            <a:ext cx="11247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14884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157355"/>
                </a:solidFill>
                <a:latin typeface="Inter"/>
              </a:rPr>
              <a:t>2 · §1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011680"/>
            <a:ext cx="6766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¿«h» klinkt of niet in «hola»?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139696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 de h zwijgt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51760"/>
            <a:ext cx="11247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7889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157355"/>
                </a:solidFill>
                <a:latin typeface="Inter"/>
              </a:rPr>
              <a:t>3 · §3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651760"/>
            <a:ext cx="6766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Escribe 47 en letras.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2779776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 cuarenta y siete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91840"/>
            <a:ext cx="11247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4290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157355"/>
                </a:solidFill>
                <a:latin typeface="Inter"/>
              </a:rPr>
              <a:t>4 · §4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291840"/>
            <a:ext cx="6766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¿Encantado o encantada dice Nina?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3419856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 Encantada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31920"/>
            <a:ext cx="11247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40690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157355"/>
                </a:solidFill>
                <a:latin typeface="Inter"/>
              </a:rPr>
              <a:t>5 · §2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931920"/>
            <a:ext cx="6766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Ordena: llana / esdrújula → «casa», «México».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4059936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 casa=llana · México=esdrújula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754880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1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Perú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(aguda -ú)   ·  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2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de h zwijgt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(hola = «ola»)   ·  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3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cuarenta y siete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4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Encantada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(Nina is een meisje — de uitgang volgt wie spreekt)   ·  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5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casa = llana · México = esdrújula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6268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◎ 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 + semáforo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hele U0 op één plaat + zelfevaluatie. Retrieval eerst (dia 19), dán terugbladeren.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09728" cy="1600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99032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🗺️ El mundo hispano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28800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+20 landen · ~500 mln sprekers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57984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español = castellano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87168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kleine verschillen (coche/carro)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25880"/>
            <a:ext cx="553212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109728" cy="1600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99032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🔤 Sonar en español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828800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27 letras (+ñ) · h zwijgt · b=v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157984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j+ge/gi=jota · ll/y=«j» · ñ=«nj»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487168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qu=«k» · z/ce/ci=«th» · r↔rr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90672"/>
            <a:ext cx="553212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090672"/>
            <a:ext cx="109728" cy="1600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163824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🎩 La regla del sombrero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593592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esdrújula → altijd 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922776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aguda → ´ als -n/-s/klinker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251960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llana → ´ als NIET zo · monosíl. geen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090672"/>
            <a:ext cx="553212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090672"/>
            <a:ext cx="109728" cy="1600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163824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🔢 Números &amp; 👋 saludos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593592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0-15 apart · 16-29 één woord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3922776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30-100 decena+y+unidad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251960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edad = tener años (🔴 niet ser)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983480"/>
            <a:ext cx="11274552" cy="96012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651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5047488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🚦 Semáforo — ¿cómo lo llevas?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394960"/>
            <a:ext cx="1097280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🔴 nog niet  ·  🟠 met steun  ·  🟢 zelfstandig — kleur per rij (receptief «ik herken» / productief «ik doe het zelf»).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Volledige checklist in de PDF/HTML.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