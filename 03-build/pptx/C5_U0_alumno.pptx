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7.xml"/><Relationship Id="rId4" Type="http://schemas.openxmlformats.org/officeDocument/2006/relationships/slide" Target="slide10.xml"/><Relationship Id="rId5" Type="http://schemas.openxmlformats.org/officeDocument/2006/relationships/slide" Target="slide13.xml"/><Relationship Id="rId6" Type="http://schemas.openxmlformats.org/officeDocument/2006/relationships/slide" Target="slide16.xml"/><Relationship Id="rId7" Type="http://schemas.openxmlformats.org/officeDocument/2006/relationships/slide" Target="slide18.xml"/><Relationship Id="rId8" Type="http://schemas.openxmlformats.org/officeDocument/2006/relationships/slide" Target="slide19.xml"/><Relationship Id="rId9" Type="http://schemas.openxmlformats.org/officeDocument/2006/relationships/slide" Target="slide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2EB085"/>
                </a:solidFill>
                <a:latin typeface="Bricolage Grotesque"/>
              </a:rPr>
              <a:t>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323148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LA RUTA · PARADA 0 · EL MUNDO HISPANO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200" b="1" i="0">
                <a:solidFill>
                  <a:srgbClr val="FFFFFF"/>
                </a:solidFill>
                <a:latin typeface="Bricolage Grotesque"/>
              </a:rPr>
              <a:t>¡Empezamos!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1">
                <a:solidFill>
                  <a:srgbClr val="E4F4EE"/>
                </a:solidFill>
                <a:latin typeface="Inter"/>
              </a:rPr>
              <a:t>We beginnen! — jouw eerste stappen in het Spaans en op La Ruta.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¿Estás listo/a para el viaje?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Klaar voor de reis?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La gente de la ruta — je reisgezellen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Kies je route — klik een tegel (of volg de volgorde). Alles oefent naar de Tarea final toe.</a:t>
            </a:r>
          </a:p>
        </p:txBody>
      </p:sp>
      <p:sp>
        <p:nvSpPr>
          <p:cNvPr id="9" name="Rounded Rectangle 8">
            <a:hlinkClick action="ppaction://hlinksldjump" r:id="rId2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2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Sonar en español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alfabet · uitspraak · klanktrampas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4</a:t>
            </a:r>
          </a:p>
        </p:txBody>
      </p:sp>
      <p:sp>
        <p:nvSpPr>
          <p:cNvPr id="15" name="Rounded Rectangle 14">
            <a:hlinkClick action="ppaction://hlinksldjump" r:id="rId3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3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La regla del sombrero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klemtoon · aguda/llana/esdrújula · tilde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7</a:t>
            </a:r>
          </a:p>
        </p:txBody>
      </p:sp>
      <p:sp>
        <p:nvSpPr>
          <p:cNvPr id="21" name="Rounded Rectangle 20">
            <a:hlinkClick action="ppaction://hlinksldjump" r:id="rId4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4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Números 0–100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tellen · leeftijd · telefoon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10</a:t>
            </a:r>
          </a:p>
        </p:txBody>
      </p:sp>
      <p:sp>
        <p:nvSpPr>
          <p:cNvPr id="27" name="Rounded Rectangle 26">
            <a:hlinkClick action="ppaction://hlinksldjump" r:id="rId5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5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Saludos y clase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groeten · voorstellen · lengua de clase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13</a:t>
            </a:r>
          </a:p>
        </p:txBody>
      </p:sp>
      <p:sp>
        <p:nvSpPr>
          <p:cNvPr id="33" name="Rounded Rectangle 32">
            <a:hlinkClick action="ppaction://hlinksldjump" r:id="rId6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6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¿Dónde se habla español? (+20 países)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16</a:t>
            </a:r>
          </a:p>
        </p:txBody>
      </p:sp>
      <p:sp>
        <p:nvSpPr>
          <p:cNvPr id="39" name="Rounded Rectangle 38">
            <a:hlinkClick action="ppaction://hlinksldjump" r:id="rId7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7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final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Tarjeta de embarque (eindmissie)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18</a:t>
            </a:r>
          </a:p>
        </p:txBody>
      </p:sp>
      <p:sp>
        <p:nvSpPr>
          <p:cNvPr id="45" name="Rounded Rectangle 44">
            <a:hlinkClick action="ppaction://hlinksldjump" r:id="rId8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8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B7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B7860B"/>
                </a:solidFill>
                <a:latin typeface="Bricolage Grotesque"/>
              </a:rPr>
              <a:t>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Quiz «La mezcla»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gemengde ophaal — mét oplossing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19</a:t>
            </a:r>
          </a:p>
        </p:txBody>
      </p:sp>
      <p:sp>
        <p:nvSpPr>
          <p:cNvPr id="51" name="Rounded Rectangle 50">
            <a:hlinkClick action="ppaction://hlinksldjump" r:id="rId9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9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Repaso + semáforo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 esencial · zelfevaluatie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LA RUTA · PERSONAJES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gente de la ruta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Je koppelt de reis aan mensen, niet aan een landenlijst. Tú = de reiziger (jij).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17320"/>
            <a:ext cx="2212848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2860">
            <a:solidFill>
              <a:srgbClr val="E07A5F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2212848" cy="128016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1737360"/>
            <a:ext cx="1371600" cy="1371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3200400"/>
            <a:ext cx="2212848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0242E"/>
                </a:solidFill>
                <a:latin typeface="Bricolage Grotesque"/>
              </a:rPr>
              <a:t>Lucía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566160"/>
            <a:ext cx="2212848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E07A5F"/>
                </a:solidFill>
                <a:latin typeface="Inter"/>
              </a:rPr>
              <a:t>Sevilla 🇪🇸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931920"/>
            <a:ext cx="1938528" cy="822960"/>
          </a:xfrm>
          <a:prstGeom prst="roundRect">
            <a:avLst>
              <a:gd name="adj" fmla="val 1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00" i="1" b="1">
                <a:solidFill>
                  <a:srgbClr val="157355"/>
                </a:solidFill>
                <a:latin typeface="Inter"/>
              </a:rPr>
              <a:t>«¡Hola! Yo soy Lucía, de Sevilla.»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846320"/>
            <a:ext cx="199339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gastvrouw España · familie (U2)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88920" y="1417320"/>
            <a:ext cx="2212848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2860">
            <a:solidFill>
              <a:srgbClr val="5B8DEF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88920" y="1417320"/>
            <a:ext cx="2212848" cy="128016"/>
          </a:xfrm>
          <a:prstGeom prst="rect">
            <a:avLst/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9544" y="1737360"/>
            <a:ext cx="1371600" cy="13716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788920" y="3200400"/>
            <a:ext cx="2212848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0242E"/>
                </a:solidFill>
                <a:latin typeface="Bricolage Grotesque"/>
              </a:rPr>
              <a:t>Diego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8920" y="3566160"/>
            <a:ext cx="2212848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8DEF"/>
                </a:solidFill>
                <a:latin typeface="Inter"/>
              </a:rPr>
              <a:t>CDMX 🇲🇽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26080" y="3931920"/>
            <a:ext cx="1938528" cy="822960"/>
          </a:xfrm>
          <a:prstGeom prst="roundRect">
            <a:avLst>
              <a:gd name="adj" fmla="val 1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00" i="1" b="1">
                <a:solidFill>
                  <a:srgbClr val="157355"/>
                </a:solidFill>
                <a:latin typeface="Inter"/>
              </a:rPr>
              <a:t>«¡Qué onda! Soy Diego, de México.»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98648" y="4846320"/>
            <a:ext cx="199339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eten &amp; markt (U5–U6)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20640" y="1417320"/>
            <a:ext cx="2212848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2860">
            <a:solidFill>
              <a:srgbClr val="2FA8A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20640" y="1417320"/>
            <a:ext cx="2212848" cy="128016"/>
          </a:xfrm>
          <a:prstGeom prst="rect">
            <a:avLst/>
          </a:prstGeom>
          <a:solidFill>
            <a:srgbClr val="2F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41264" y="1737360"/>
            <a:ext cx="1371600" cy="13716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120640" y="3200400"/>
            <a:ext cx="2212848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0242E"/>
                </a:solidFill>
                <a:latin typeface="Bricolage Grotesque"/>
              </a:rPr>
              <a:t>Valen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3566160"/>
            <a:ext cx="2212848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FA8A0"/>
                </a:solidFill>
                <a:latin typeface="Inter"/>
              </a:rPr>
              <a:t>Cartagena 🇨🇴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57800" y="3931920"/>
            <a:ext cx="1938528" cy="822960"/>
          </a:xfrm>
          <a:prstGeom prst="roundRect">
            <a:avLst>
              <a:gd name="adj" fmla="val 1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00" i="1" b="1">
                <a:solidFill>
                  <a:srgbClr val="157355"/>
                </a:solidFill>
                <a:latin typeface="Inter"/>
              </a:rPr>
              <a:t>«¡Hey! Soy Valen, de Colombia.»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30368" y="4846320"/>
            <a:ext cx="199339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wonen &amp; barrio (U7)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452360" y="1417320"/>
            <a:ext cx="2212848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2860">
            <a:solidFill>
              <a:srgbClr val="D69A2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52360" y="1417320"/>
            <a:ext cx="2212848" cy="128016"/>
          </a:xfrm>
          <a:prstGeom prst="rect">
            <a:avLst/>
          </a:prstGeom>
          <a:solidFill>
            <a:srgbClr val="D6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2984" y="1737360"/>
            <a:ext cx="1371600" cy="13716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452360" y="3200400"/>
            <a:ext cx="2212848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0242E"/>
                </a:solidFill>
                <a:latin typeface="Bricolage Grotesque"/>
              </a:rPr>
              <a:t>Nina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52360" y="3566160"/>
            <a:ext cx="2212848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9A2E"/>
                </a:solidFill>
                <a:latin typeface="Inter"/>
              </a:rPr>
              <a:t>Cusco 🇵🇪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89520" y="3931920"/>
            <a:ext cx="1938528" cy="822960"/>
          </a:xfrm>
          <a:prstGeom prst="roundRect">
            <a:avLst>
              <a:gd name="adj" fmla="val 1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00" i="1" b="1">
                <a:solidFill>
                  <a:srgbClr val="157355"/>
                </a:solidFill>
                <a:latin typeface="Inter"/>
              </a:rPr>
              <a:t>«¡Buenas! Soy Nina, de Perú.»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62088" y="4846320"/>
            <a:ext cx="199339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reizen &amp; natuur (U8)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784080" y="1417320"/>
            <a:ext cx="2212848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2860">
            <a:solidFill>
              <a:srgbClr val="8A7BE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784080" y="1417320"/>
            <a:ext cx="2212848" cy="128016"/>
          </a:xfrm>
          <a:prstGeom prst="rect">
            <a:avLst/>
          </a:prstGeom>
          <a:solidFill>
            <a:srgbClr val="8A7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04704" y="1737360"/>
            <a:ext cx="1371600" cy="13716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9784080" y="3200400"/>
            <a:ext cx="2212848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0242E"/>
                </a:solidFill>
                <a:latin typeface="Bricolage Grotesque"/>
              </a:rPr>
              <a:t>Tú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84080" y="3566160"/>
            <a:ext cx="2212848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8A7BE0"/>
                </a:solidFill>
                <a:latin typeface="Inter"/>
              </a:rPr>
              <a:t>Flandes 🇧🇪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921240" y="3931920"/>
            <a:ext cx="1938528" cy="822960"/>
          </a:xfrm>
          <a:prstGeom prst="roundRect">
            <a:avLst>
              <a:gd name="adj" fmla="val 1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00" i="1" b="1">
                <a:solidFill>
                  <a:srgbClr val="157355"/>
                </a:solidFill>
                <a:latin typeface="Inter"/>
              </a:rPr>
              <a:t>«Yo soy… — en jij?»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93808" y="4846320"/>
            <a:ext cx="199339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🎒 </a:t>
            </a:r>
            <a:r>
              <a:rPr sz="1250" b="1" i="0">
                <a:solidFill>
                  <a:srgbClr val="157355"/>
                </a:solidFill>
                <a:latin typeface="Bricolage Grotesque"/>
              </a:rPr>
              <a:t>La mochila viajera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 = reisgezel. Klasritueel: </a:t>
            </a:r>
            <a:r>
              <a:rPr sz="1200" b="1" i="1">
                <a:solidFill>
                  <a:srgbClr val="1E9E74"/>
                </a:solidFill>
                <a:latin typeface="Inter"/>
              </a:rPr>
              <a:t>¿Cómo se llama nuestra mochila?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 (de klas kiest de naam — meteen een mini-taak).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Teaser C6: </a:t>
            </a:r>
            <a:r>
              <a:rPr sz="1050" b="1" i="1">
                <a:solidFill>
                  <a:srgbClr val="6A6E78"/>
                </a:solidFill>
                <a:latin typeface="Inter"/>
              </a:rPr>
              <a:t>Mateo, de Buenos Aires 🇦🇷</a:t>
            </a:r>
            <a:r>
              <a:rPr sz="1050" b="0" i="1">
                <a:solidFill>
                  <a:srgbClr val="6A6E78"/>
                </a:solidFill>
                <a:latin typeface="Inter"/>
              </a:rPr>
              <a:t> komt er pas in het 6de bij (voseo). Niet productief in C5.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SONAR EN ESPAÑOL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abecedario — las 27 letras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Spaans lees je zoals je het schrijft. Eén keer de klankregels → daarna lees je bijna elk woord correct hardop.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4712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Doel: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de klanken &amp; letters herkennen · je naam kunnen spellen (deletrear).  </a:t>
            </a:r>
            <a:r>
              <a:rPr sz="950" b="0" i="1">
                <a:solidFill>
                  <a:srgbClr val="6A6E78"/>
                </a:solidFill>
                <a:latin typeface="Inter"/>
              </a:rPr>
              <a:t>[LPD · Taalsysteem — klank–schriftbeeld A1]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719072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19072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19072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be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80944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80944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80944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42816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42816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42816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de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04688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04688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04688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66560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efe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28432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28432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DC2626"/>
                </a:solidFill>
                <a:latin typeface="Bricolage Grotesque"/>
              </a:rPr>
              <a:t>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28432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ge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290304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90304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DC2626"/>
                </a:solidFill>
                <a:latin typeface="Bricolage Grotesque"/>
              </a:rPr>
              <a:t>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90304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hache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552176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552176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52176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i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DC2626"/>
                </a:solidFill>
                <a:latin typeface="Bricolage Grotesque"/>
              </a:rPr>
              <a:t>J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jota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719072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719072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19072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ka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980944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980944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80944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ele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42816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42816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42816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eme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504688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504688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04688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ene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766560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766560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DC2626"/>
                </a:solidFill>
                <a:latin typeface="Bricolage Grotesque"/>
              </a:rPr>
              <a:t>Ñ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66560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eñe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028432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028432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28432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o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290304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290304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90304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pe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552176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552176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Q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552176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cu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57200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57200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DC2626"/>
                </a:solidFill>
                <a:latin typeface="Bricolage Grotesque"/>
              </a:rPr>
              <a:t>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erre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719072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719072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719072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ese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980944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980944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80944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te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242816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242816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U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42816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u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504688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504688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DC2626"/>
                </a:solidFill>
                <a:latin typeface="Bricolage Grotesque"/>
              </a:rPr>
              <a:t>V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504688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uve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766560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766560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W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766560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uve doble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028432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028432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X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028432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equis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290304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290304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290304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ye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0552176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52176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DC2626"/>
                </a:solidFill>
                <a:latin typeface="Bricolage Grotesque"/>
              </a:rPr>
              <a:t>Z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552176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zeta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57200" y="4617720"/>
            <a:ext cx="292608" cy="292608"/>
          </a:xfrm>
          <a:prstGeom prst="roundRect">
            <a:avLst>
              <a:gd name="adj" fmla="val 20000"/>
            </a:avLst>
          </a:prstGeom>
          <a:solidFill>
            <a:srgbClr val="FDECEC"/>
          </a:solidFill>
          <a:ln w="1778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22960" y="4599432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= klanktrampa (klinkt anders dan in het NL) → dia 5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57200" y="5074920"/>
            <a:ext cx="11274552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Regla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27 letras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= 26 van het NL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+ ñ</a:t>
            </a:r>
            <a:r>
              <a:rPr sz="1200" b="0" i="0">
                <a:solidFill>
                  <a:srgbClr val="157355"/>
                </a:solidFill>
                <a:latin typeface="Inter"/>
              </a:rPr>
              <a:t>.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ch / ll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= dígrafos (klankcombinaties), géén aparte letters meer.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De letternaam verraadt soms de klank: </a:t>
            </a:r>
            <a:r>
              <a:rPr sz="1200" b="1" i="1">
                <a:solidFill>
                  <a:srgbClr val="1E9E74"/>
                </a:solidFill>
                <a:latin typeface="Inter"/>
              </a:rPr>
              <a:t>«jota», «ge», «zeta».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¿Welke letter zie je niet in het NL? →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ñ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 ·  ¿Welke hoor je nooit? →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h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594360" y="4946904"/>
            <a:ext cx="2221991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OBSERVAR + REGLA · docent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64261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TRAMPAS PARA NEERLANDESES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sonidos que cambian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Een handvol letters doet iets anders dan je gewend bent. Vorm + label + icoon dragen de info (geen kleur alleen).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280160"/>
            <a:ext cx="3776472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280160"/>
            <a:ext cx="109728" cy="157276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335024"/>
            <a:ext cx="3502152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La jota /x/</a:t>
            </a:r>
            <a:r>
              <a:rPr sz="1150" b="1" i="0">
                <a:solidFill>
                  <a:srgbClr val="1E9E74"/>
                </a:solidFill>
                <a:latin typeface="Inter"/>
              </a:rPr>
              <a:t>   j · ge · gi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350215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hard, achter in de keel — als «ch» in lachen, acht, Bach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148840"/>
            <a:ext cx="3502152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Ej.: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Juan · jamón · gente · Gijón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441448"/>
            <a:ext cx="3502152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DC2626"/>
                </a:solidFill>
                <a:latin typeface="Inter"/>
              </a:rPr>
              <a:t>🔴 niet de NL-j! Juan = «Choean»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24528" y="1280160"/>
            <a:ext cx="3776472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24528" y="1280160"/>
            <a:ext cx="109728" cy="157276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07408" y="1335024"/>
            <a:ext cx="3502152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ll / y /ʝ/</a:t>
            </a:r>
            <a:r>
              <a:rPr sz="1150" b="1" i="0">
                <a:solidFill>
                  <a:srgbClr val="1E9E74"/>
                </a:solidFill>
                <a:latin typeface="Inter"/>
              </a:rPr>
              <a:t>   ll · 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1691640"/>
            <a:ext cx="350215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als «j» in ja, jong (yeísmo)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2148840"/>
            <a:ext cx="3502152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Ej.: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calle · paella · yo · playa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7408" y="2441448"/>
            <a:ext cx="3502152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DC2626"/>
                </a:solidFill>
                <a:latin typeface="Inter"/>
              </a:rPr>
              <a:t>🔴 paella = «pa-e-JA», geen l-l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3296" y="1280160"/>
            <a:ext cx="3776472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83296" y="1280160"/>
            <a:ext cx="109728" cy="157276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66176" y="1335024"/>
            <a:ext cx="3502152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ñ /ɲ/</a:t>
            </a:r>
            <a:r>
              <a:rPr sz="1150" b="1" i="0">
                <a:solidFill>
                  <a:srgbClr val="1E9E74"/>
                </a:solidFill>
                <a:latin typeface="Inter"/>
              </a:rPr>
              <a:t>   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66176" y="1691640"/>
            <a:ext cx="350215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als «nj» in oranje, Anja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66176" y="2148840"/>
            <a:ext cx="3502152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Ej.: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España · niño · año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6176" y="2441448"/>
            <a:ext cx="3502152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DC2626"/>
                </a:solidFill>
                <a:latin typeface="Inter"/>
              </a:rPr>
              <a:t>🔴 año ≠ ano — het streepje telt!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5760" y="2962656"/>
            <a:ext cx="3776472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2962656"/>
            <a:ext cx="109728" cy="157276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3017520"/>
            <a:ext cx="3502152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b = v /b/</a:t>
            </a:r>
            <a:r>
              <a:rPr sz="1150" b="1" i="0">
                <a:solidFill>
                  <a:srgbClr val="1E9E74"/>
                </a:solidFill>
                <a:latin typeface="Inter"/>
              </a:rPr>
              <a:t>   b · v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374136"/>
            <a:ext cx="350215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b én v klinken exact gelijk (/b/)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3831336"/>
            <a:ext cx="3502152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Ej.: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Bélgica · vino · Sevilla · vivir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123944"/>
            <a:ext cx="3502152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DC2626"/>
                </a:solidFill>
                <a:latin typeface="Inter"/>
              </a:rPr>
              <a:t>🔴 vivir = «bi-bir»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24528" y="2962656"/>
            <a:ext cx="3776472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24528" y="2962656"/>
            <a:ext cx="109728" cy="157276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07408" y="3017520"/>
            <a:ext cx="3502152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h muda</a:t>
            </a:r>
            <a:r>
              <a:rPr sz="1150" b="1" i="0">
                <a:solidFill>
                  <a:srgbClr val="1E9E74"/>
                </a:solidFill>
                <a:latin typeface="Inter"/>
              </a:rPr>
              <a:t>   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07408" y="3374136"/>
            <a:ext cx="350215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de h zwijgt altijd — doe alsof ze er niet staat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07408" y="3831336"/>
            <a:ext cx="3502152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Ej.: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hola · hora · ahora · hay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07408" y="4123944"/>
            <a:ext cx="3502152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DC2626"/>
                </a:solidFill>
                <a:latin typeface="Inter"/>
              </a:rPr>
              <a:t>🔴 hola = «ola» (ch = wél eigen klank)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83296" y="2962656"/>
            <a:ext cx="3776472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83296" y="2962656"/>
            <a:ext cx="109728" cy="157276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66176" y="3017520"/>
            <a:ext cx="3502152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qu / z /k/ /θ/</a:t>
            </a:r>
            <a:r>
              <a:rPr sz="1150" b="1" i="0">
                <a:solidFill>
                  <a:srgbClr val="1E9E74"/>
                </a:solidFill>
                <a:latin typeface="Inter"/>
              </a:rPr>
              <a:t>   qu · z · ce · ci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66176" y="3374136"/>
            <a:ext cx="350215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qu = «k» (u zwijgt) · z/ce/ci = «th» (España)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66176" y="3831336"/>
            <a:ext cx="3502152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Ej.: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queso · aquí · zapato · gracias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66176" y="4123944"/>
            <a:ext cx="3502152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DC2626"/>
                </a:solidFill>
                <a:latin typeface="Inter"/>
              </a:rPr>
              <a:t>🔴 aquí = «a-kie», gracias met «th»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47436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 · ESCUCHA Y DECIDE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oyes? — klankdiscriminatie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Je hoort één woord; kruis aan wat je hoort. Daarna spreek je beide vormen zelf in. (idee 38: uitspraakcontrast)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A · ¿B o V? ¿H o sin H?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91640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691640"/>
            <a:ext cx="3657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1691640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vaca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691640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baca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31720" y="1810512"/>
            <a:ext cx="329184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350008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350008"/>
            <a:ext cx="3657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350008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gente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2350008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tente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31720" y="2468880"/>
            <a:ext cx="329184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008376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008376"/>
            <a:ext cx="3657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3008376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casa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3008376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caza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331720" y="3127248"/>
            <a:ext cx="329184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666744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3666744"/>
            <a:ext cx="3657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3666744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hola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80" y="3666744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ola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331720" y="3785616"/>
            <a:ext cx="329184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132588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B · ¿</a:t>
            </a:r>
            <a:r>
              <a:rPr sz="1400" b="1" i="0">
                <a:solidFill>
                  <a:srgbClr val="157355"/>
                </a:solidFill>
                <a:latin typeface="Bricolage Grotesque"/>
              </a:rPr>
              <a:t>pero</a:t>
            </a:r>
            <a:r>
              <a:rPr sz="1400" b="1" i="0">
                <a:solidFill>
                  <a:srgbClr val="157355"/>
                </a:solidFill>
                <a:latin typeface="Bricolage Grotesque"/>
              </a:rPr>
              <a:t> o </a:t>
            </a:r>
            <a:r>
              <a:rPr sz="1400" b="1" i="0">
                <a:solidFill>
                  <a:srgbClr val="157355"/>
                </a:solidFill>
                <a:latin typeface="Bricolage Grotesque"/>
              </a:rPr>
              <a:t>perro</a:t>
            </a:r>
            <a:r>
              <a:rPr sz="1400" b="1" i="0">
                <a:solidFill>
                  <a:srgbClr val="157355"/>
                </a:solidFill>
                <a:latin typeface="Bricolage Grotesque"/>
              </a:rPr>
              <a:t>? — één tik ↔ rol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09360" y="1691640"/>
            <a:ext cx="539496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9088" y="16916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pero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79" y="16916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perro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0" y="1691640"/>
            <a:ext cx="20116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maar / hond 🐶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09360" y="2350008"/>
            <a:ext cx="539496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19088" y="2350008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caro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55279" y="2350008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carro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0" y="2350008"/>
            <a:ext cx="20116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duur / kar 🚗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09360" y="3008376"/>
            <a:ext cx="539496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19088" y="300837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coro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55279" y="300837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corro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0" y="3008376"/>
            <a:ext cx="20116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koor / ik ren 🏃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309360" y="3666744"/>
            <a:ext cx="539496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19088" y="3666744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pera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55279" y="3666744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perra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0" y="3666744"/>
            <a:ext cx="20116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peer / teef 🍐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8" name="Rounded Rectangle 4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57200" y="4434840"/>
            <a:ext cx="11247120" cy="9601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 · «geen fout, dat is Spaans!» 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vaca=baca en hola=ola klinken IDENTIEK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(b=v, h muda).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gente≠tente (jota-klank), casa≠caza (s ↔ th).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B · r/rr: 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één tik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tussen klinkers (pero) ↔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rol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bij rr, woordbegin en na n/l/s (perro, Roma, Enrique). Betekenis verandert!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94360" y="43068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acento — «la regla del sombrero»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Welke lettergreep zeg je harder (sílaba tónica)? En wanneer schrijf je een hoedje (´)?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4712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① Observeren — luister &amp; klap 👏.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Elk woord heeft één 'sterke' lettergreep. Klap ze aan.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37360"/>
            <a:ext cx="1371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café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0" y="1865376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ca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42616" y="1792224"/>
            <a:ext cx="758952" cy="457200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524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FÉ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42616" y="1627632"/>
            <a:ext cx="758952" cy="228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1737360"/>
            <a:ext cx="15544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(laatste)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1737360"/>
            <a:ext cx="1371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casa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43800" y="1792224"/>
            <a:ext cx="758952" cy="457200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524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43800" y="1627632"/>
            <a:ext cx="758952" cy="228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57616" y="1865376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sa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5560" y="1737360"/>
            <a:ext cx="15544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(voorlaatste)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395728"/>
            <a:ext cx="1371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México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828800" y="2450592"/>
            <a:ext cx="758952" cy="457200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524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MÉ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2286000"/>
            <a:ext cx="758952" cy="228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42616" y="2523744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xi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56432" y="2523744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co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2395728"/>
            <a:ext cx="15544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(3e van achteren)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2395728"/>
            <a:ext cx="1371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teléfono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43800" y="2523744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357616" y="2450592"/>
            <a:ext cx="758952" cy="457200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524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LÉ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7616" y="2286000"/>
            <a:ext cx="758952" cy="228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71432" y="2523744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fo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985248" y="2523744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no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5560" y="2395728"/>
            <a:ext cx="15544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(3e van achteren)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3054096"/>
            <a:ext cx="1371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Perú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828800" y="3182112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pe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42616" y="3108960"/>
            <a:ext cx="758952" cy="457200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524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RÚ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42616" y="2944368"/>
            <a:ext cx="758952" cy="228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0560" y="3054096"/>
            <a:ext cx="15544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(laatste)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200" y="3054096"/>
            <a:ext cx="1371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número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543800" y="3108960"/>
            <a:ext cx="758952" cy="457200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524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NÚ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43800" y="2944368"/>
            <a:ext cx="758952" cy="228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🎩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57616" y="3182112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me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71432" y="3182112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ro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054096"/>
            <a:ext cx="15544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(3e van achteren)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4160520"/>
            <a:ext cx="11247120" cy="12344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Regla 1 ·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Elk woord heeft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één sílaba tónica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— die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hoor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je altijd; het streepje (´)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schrijf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je maar soms.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Kernvalstrik: </a:t>
            </a:r>
            <a:r>
              <a:rPr sz="1200" b="1" i="0">
                <a:solidFill>
                  <a:srgbClr val="DC2626"/>
                </a:solidFill>
                <a:latin typeface="Inter"/>
              </a:rPr>
              <a:t>klemtoon ≠ tilde</a:t>
            </a:r>
            <a:r>
              <a:rPr sz="1200" b="0" i="0">
                <a:solidFill>
                  <a:srgbClr val="157355"/>
                </a:solidFill>
                <a:latin typeface="Inter"/>
              </a:rPr>
              <a:t>.  Bij casa hoor je de klap op 'ca', maar er staat géén hoedje.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NL-valstrik: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leg je Nederlandse klemtoon af — «pe-RÚ» (niet PE-ru), «es-pa-ÑOL» (niet ES-panjol).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4360" y="4032504"/>
            <a:ext cx="2221991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OBSERVAR → REGLA · docent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0611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LA REGLA DEL SOMBRERO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Tres familias · ¿cuándo la tilde?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Drie families naar de plaats van de klap — en dé regel voor het hoedje: de magische eindletters -n, -s, klinker.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3657600" cy="1600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E07A5F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3657600" cy="420624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298448"/>
            <a:ext cx="365760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Bricolage Grotesque"/>
              </a:rPr>
              <a:t>agudas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773936"/>
            <a:ext cx="3383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klap op de </a:t>
            </a:r>
            <a:r>
              <a:rPr sz="1100" b="1" i="0">
                <a:solidFill>
                  <a:srgbClr val="E07A5F"/>
                </a:solidFill>
                <a:latin typeface="Inter"/>
              </a:rPr>
              <a:t>laatste lettergreep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148840"/>
            <a:ext cx="338328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ca-fé · Pe-rú · es-pa-ñol · Ma-drid · ja-món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1104" y="1280160"/>
            <a:ext cx="3657600" cy="1600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61104" y="1280160"/>
            <a:ext cx="3657600" cy="420624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61104" y="1298448"/>
            <a:ext cx="365760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Bricolage Grotesque"/>
              </a:rPr>
              <a:t>llanas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98264" y="1773936"/>
            <a:ext cx="3383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klap op de </a:t>
            </a:r>
            <a:r>
              <a:rPr sz="1100" b="1" i="0">
                <a:solidFill>
                  <a:srgbClr val="1E9E74"/>
                </a:solidFill>
                <a:latin typeface="Inter"/>
              </a:rPr>
              <a:t>voorlaatste (de gewoonste!)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98264" y="2148840"/>
            <a:ext cx="338328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ca-sa · lu-nes · a-mi-go · ár-bol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5008" y="1280160"/>
            <a:ext cx="3657600" cy="1600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8A7BE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5008" y="1280160"/>
            <a:ext cx="3657600" cy="420624"/>
          </a:xfrm>
          <a:prstGeom prst="rect">
            <a:avLst/>
          </a:prstGeom>
          <a:solidFill>
            <a:srgbClr val="8A7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65008" y="1298448"/>
            <a:ext cx="365760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Bricolage Grotesque"/>
              </a:rPr>
              <a:t>esdrújulas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02168" y="1773936"/>
            <a:ext cx="3383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klap op de </a:t>
            </a:r>
            <a:r>
              <a:rPr sz="1100" b="1" i="0">
                <a:solidFill>
                  <a:srgbClr val="8A7BE0"/>
                </a:solidFill>
                <a:latin typeface="Inter"/>
              </a:rPr>
              <a:t>derde van achteren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02168" y="2148840"/>
            <a:ext cx="338328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Mé-xi-co · te-lé-fo-no · mú-si-ca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46120"/>
            <a:ext cx="6766560" cy="23317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REGLA DEL SOMBRERO 🎩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• Esdrújula →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SIEMPRE ´</a:t>
            </a:r>
            <a:r>
              <a:rPr sz="1200" b="0" i="1">
                <a:solidFill>
                  <a:srgbClr val="157355"/>
                </a:solidFill>
                <a:latin typeface="Inter"/>
              </a:rPr>
              <a:t>  (México, teléfono, música)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• Aguda → ´ als ze eindigt op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-n, -s of klinker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1">
                <a:solidFill>
                  <a:srgbClr val="157355"/>
                </a:solidFill>
                <a:latin typeface="Inter"/>
              </a:rPr>
              <a:t>     wél: café, Perú, jamón, adiós  ·  niet: Madrid, español, reloj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• Llana → ´ als ze NÍET zo eindigt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1">
                <a:solidFill>
                  <a:srgbClr val="157355"/>
                </a:solidFill>
                <a:latin typeface="Inter"/>
              </a:rPr>
              <a:t>     wél: árbol, lápiz, Cádiz  ·  niet: casa, lunes, examen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• Monosílabo (1 lettergreep) → géén ´ (sol, pan, tres)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311810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de kern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06640" y="3246120"/>
            <a:ext cx="4315968" cy="233172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778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0" y="3337560"/>
            <a:ext cx="40233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B7860B"/>
                </a:solidFill>
                <a:latin typeface="Bricolage Grotesque"/>
              </a:rPr>
              <a:t>🟡 Spiegel-truc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3749039"/>
            <a:ext cx="40233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Dezelfde 3 eindletters (-n · -s · klinker) doen bij </a:t>
            </a:r>
            <a:r>
              <a:rPr sz="1100" b="1" i="0">
                <a:solidFill>
                  <a:srgbClr val="E07A5F"/>
                </a:solidFill>
                <a:latin typeface="Inter"/>
              </a:rPr>
              <a:t>agudas</a:t>
            </a:r>
            <a:r>
              <a:rPr sz="1100" b="0" i="0">
                <a:solidFill>
                  <a:srgbClr val="20242E"/>
                </a:solidFill>
                <a:latin typeface="Inter"/>
              </a:rPr>
              <a:t> het hoedje verschijnen en bij </a:t>
            </a:r>
            <a:r>
              <a:rPr sz="1100" b="1" i="0">
                <a:solidFill>
                  <a:srgbClr val="1E9E74"/>
                </a:solidFill>
                <a:latin typeface="Inter"/>
              </a:rPr>
              <a:t>llanas</a:t>
            </a:r>
            <a:r>
              <a:rPr sz="1100" b="0" i="0">
                <a:solidFill>
                  <a:srgbClr val="20242E"/>
                </a:solidFill>
                <a:latin typeface="Inter"/>
              </a:rPr>
              <a:t> verdwijnen.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4663440"/>
            <a:ext cx="40233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Beslisboom: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¿Esdrújula? </a:t>
            </a:r>
            <a:r>
              <a:rPr sz="1100" b="1" i="0">
                <a:solidFill>
                  <a:srgbClr val="1E9E74"/>
                </a:solidFill>
                <a:latin typeface="Inter"/>
              </a:rPr>
              <a:t>→ sí: 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¿No? → ¿termina en -n/-s/vocal?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aguda: sí→´  ·  llana: no→´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QUIZ · COLOCA LA TILDE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¿Lleva sombrero o no?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Zet de tilde ALLEEN waar het moet — en enkel op de tónica-klinker. Beslis eerst, onthul dan.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1732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49047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Peru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199339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Perú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73552" y="141732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73552" y="149047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cafe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73552" y="192024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76472" y="199339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café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89904" y="141732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89904" y="149047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casa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9904" y="192024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92824" y="199339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casa · sin 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06256" y="141732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06256" y="149047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arbol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06256" y="192024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409176" y="199339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árbol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46888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54203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Mexico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297180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0120" y="304495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México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73552" y="246888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73552" y="254203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numero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73552" y="297180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776472" y="304495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número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89904" y="246888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89904" y="254203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lunes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9904" y="297180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92824" y="304495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lunes · sin ´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06256" y="246888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06256" y="254203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adios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06256" y="297180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409176" y="304495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adiós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2" name="Rounded Rectangle 41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3977639"/>
            <a:ext cx="11247120" cy="14173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Perú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(aguda -ú)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café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(aguda -é)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casa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→ GEEN (llana -a)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árbol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(llana -l → wél)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México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(esdrújula → altijd)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número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(esdrújula)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lunes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→ GEEN (llana -s)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adiós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(aguda -s → wél)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Ojo — geen hoedjes strooien!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lunes en profesor krijgen er GÉÉN. De grootste A1-fout is te veel tildes zetten.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4360" y="3849623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Números 0–100 — en tres capas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Geen kale lijst: drie bouwlagen, elk met één truc. Voor je leeftijd (edad) en je telefoonnummer.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11274552" cy="14173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11274552" cy="38404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44168"/>
            <a:ext cx="11000232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Bricolage Grotesque"/>
              </a:rPr>
              <a:t>Laag 1 · los cimientos (0–15)</a:t>
            </a:r>
            <a:r>
              <a:rPr sz="1050" b="0" i="1">
                <a:solidFill>
                  <a:srgbClr val="E4F4EE"/>
                </a:solidFill>
                <a:latin typeface="Inter"/>
              </a:rPr>
              <a:t>   apart leren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801368"/>
            <a:ext cx="10945368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0 cero · 1 uno · 2 dos · 3 tres · 4 cuatro · 5 cinco · 6 seis · 7 siete · 8 ocho · 9 nueve · 10 diez · 11 once · 12 doce · 13 trece · 14 catorce · 15 quince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880360"/>
            <a:ext cx="11274552" cy="14173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880360"/>
            <a:ext cx="11274552" cy="384048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898648"/>
            <a:ext cx="11000232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Bricolage Grotesque"/>
              </a:rPr>
              <a:t>Laag 2 · «todo junto» (16–29)</a:t>
            </a:r>
            <a:r>
              <a:rPr sz="1050" b="0" i="1">
                <a:solidFill>
                  <a:srgbClr val="E4F4EE"/>
                </a:solidFill>
                <a:latin typeface="Inter"/>
              </a:rPr>
              <a:t>   één woord, geen «y» · let op 4 hoedjes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355848"/>
            <a:ext cx="10945368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16 dieciséis · 17 diecisiete · 18 dieciocho · 19 diecinueve · 20 veinte · 21 veintiuno · 22 veintidós · 23 veintitrés · 24 veinticuatro · 25 veinticinco · 26 veintiséis · 27 veintisiete · 28 veintiocho · 29 veintinueve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434840"/>
            <a:ext cx="7132320" cy="14173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434840"/>
            <a:ext cx="7132320" cy="38404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453128"/>
            <a:ext cx="6858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Bricolage Grotesque"/>
              </a:rPr>
              <a:t>Laag 3 · las decenas + «y» (30–100)</a:t>
            </a:r>
            <a:r>
              <a:rPr sz="1050" b="0" i="1">
                <a:solidFill>
                  <a:srgbClr val="E4F4EE"/>
                </a:solidFill>
                <a:latin typeface="Inter"/>
              </a:rPr>
              <a:t>   drie stukjes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4892040"/>
            <a:ext cx="68580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30 treinta · 40 cuarenta · 50 cincuenta · 60 sesenta · 70 setenta · 80 ochenta · 90 noventa · 100 cien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0" y="4434840"/>
            <a:ext cx="3959352" cy="141732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778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36992" y="4526280"/>
            <a:ext cx="36576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B7860B"/>
                </a:solidFill>
                <a:latin typeface="Bricolage Grotesque"/>
              </a:rPr>
              <a:t>⚙ La máquina «y»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36992" y="4892040"/>
            <a:ext cx="3657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563EB"/>
                </a:solidFill>
                <a:latin typeface="Inter"/>
              </a:rPr>
              <a:t>[ decena ] +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y</a:t>
            </a:r>
            <a:r>
              <a:rPr sz="1200" b="1" i="0">
                <a:solidFill>
                  <a:srgbClr val="1E9E74"/>
                </a:solidFill>
                <a:latin typeface="Inter"/>
              </a:rPr>
              <a:t> + [ unidad ]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563EB"/>
                </a:solidFill>
                <a:latin typeface="Inter"/>
              </a:rPr>
              <a:t>treinta </a:t>
            </a:r>
            <a:r>
              <a:rPr sz="1200" b="1" i="0">
                <a:solidFill>
                  <a:srgbClr val="EA7317"/>
                </a:solidFill>
                <a:latin typeface="Inter"/>
              </a:rPr>
              <a:t>y</a:t>
            </a:r>
            <a:r>
              <a:rPr sz="1200" b="0" i="0">
                <a:solidFill>
                  <a:srgbClr val="1E9E74"/>
                </a:solidFill>
                <a:latin typeface="Inter"/>
              </a:rPr>
              <a:t> cinco → </a:t>
            </a:r>
            <a:r>
              <a:rPr sz="1200" b="1" i="0">
                <a:solidFill>
                  <a:srgbClr val="20242E"/>
                </a:solidFill>
                <a:latin typeface="Inter"/>
              </a:rPr>
              <a:t>35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563EB"/>
                </a:solidFill>
                <a:latin typeface="Inter"/>
              </a:rPr>
              <a:t>noventa </a:t>
            </a:r>
            <a:r>
              <a:rPr sz="1200" b="1" i="0">
                <a:solidFill>
                  <a:srgbClr val="EA7317"/>
                </a:solidFill>
                <a:latin typeface="Inter"/>
              </a:rPr>
              <a:t>y</a:t>
            </a:r>
            <a:r>
              <a:rPr sz="1200" b="0" i="0">
                <a:solidFill>
                  <a:srgbClr val="1E9E74"/>
                </a:solidFill>
                <a:latin typeface="Inter"/>
              </a:rPr>
              <a:t> nueve → </a:t>
            </a:r>
            <a:r>
              <a:rPr sz="1200" b="1" i="0">
                <a:solidFill>
                  <a:srgbClr val="20242E"/>
                </a:solidFill>
                <a:latin typeface="Inter"/>
              </a:rPr>
              <a:t>99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¡OJO! + TU EDAD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Valstrikken + «tener … años»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kernvalstrik van U0/U1: leeftijd = tener, niet ser. En de substitutietabel om je edad te zeggen.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5577840" cy="4114800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7780">
            <a:solidFill>
              <a:srgbClr val="DC2626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44752"/>
            <a:ext cx="52120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DC2626"/>
                </a:solidFill>
                <a:latin typeface="Bricolage Grotesque"/>
              </a:rPr>
              <a:t>🔴 Trampas para neerlandeses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874519"/>
            <a:ext cx="5257800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• Leeftijd = tener, niet ser.  </a:t>
            </a:r>
            <a:r>
              <a:rPr sz="1050" b="0" i="0">
                <a:solidFill>
                  <a:srgbClr val="157355"/>
                </a:solidFill>
                <a:latin typeface="Inter"/>
              </a:rPr>
              <a:t>Tengo 14 años ✔  ·  ~Soy 14 años~ ✘ (NL «ik ben 14»)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450591"/>
            <a:ext cx="5257800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• «y» alleen bij 30–100.  </a:t>
            </a:r>
            <a:r>
              <a:rPr sz="1050" b="0" i="0">
                <a:solidFill>
                  <a:srgbClr val="157355"/>
                </a:solidFill>
                <a:latin typeface="Inter"/>
              </a:rPr>
              <a:t>dieciséis (1 woord) ↔ treinta y seis (3 woorden)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26663"/>
            <a:ext cx="5257800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• «y» klinkt als /i/.  </a:t>
            </a:r>
            <a:r>
              <a:rPr sz="1050" b="0" i="0">
                <a:solidFill>
                  <a:srgbClr val="157355"/>
                </a:solidFill>
                <a:latin typeface="Inter"/>
              </a:rPr>
              <a:t>cuarenta y cinco = [koe-a-REN-ta i SIN-ko]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02735"/>
            <a:ext cx="5257800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• Hoedjes niet vergeten.  </a:t>
            </a:r>
            <a:r>
              <a:rPr sz="1050" b="0" i="0">
                <a:solidFill>
                  <a:srgbClr val="157355"/>
                </a:solidFill>
                <a:latin typeface="Inter"/>
              </a:rPr>
              <a:t>~veintidos~ → veintidós · ~dieciseis~ → dieciséis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78807"/>
            <a:ext cx="5257800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• 100 = cien.  </a:t>
            </a:r>
            <a:r>
              <a:rPr sz="1050" b="0" i="0">
                <a:solidFill>
                  <a:srgbClr val="157355"/>
                </a:solidFill>
                <a:latin typeface="Inter"/>
              </a:rPr>
              <a:t>cien años, cien euros (niet ciento voor exact 100)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754879"/>
            <a:ext cx="5257800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• Lastige paren.  </a:t>
            </a:r>
            <a:r>
              <a:rPr sz="1050" b="0" i="0">
                <a:solidFill>
                  <a:srgbClr val="157355"/>
                </a:solidFill>
                <a:latin typeface="Inter"/>
              </a:rPr>
              <a:t>seis↔siete · nueve↔nuevo → extra luisteren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1371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Substitutietabel — </a:t>
            </a:r>
            <a:r>
              <a:rPr sz="1300" b="1" i="0">
                <a:solidFill>
                  <a:srgbClr val="EA7317"/>
                </a:solidFill>
                <a:latin typeface="Bricolage Grotesque"/>
              </a:rPr>
              <a:t>tener + número + años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1783080"/>
            <a:ext cx="1737360" cy="3840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1783080"/>
            <a:ext cx="17373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Inter"/>
              </a:rPr>
              <a:t>Persoon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1783080"/>
            <a:ext cx="1371600" cy="384048"/>
          </a:xfrm>
          <a:prstGeom prst="rect">
            <a:avLst/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1783080"/>
            <a:ext cx="137160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Inter"/>
              </a:rPr>
              <a:t>tener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18320" y="1783080"/>
            <a:ext cx="2286000" cy="3840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0" y="1783080"/>
            <a:ext cx="228600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Inter"/>
              </a:rPr>
              <a:t>número + años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2167128"/>
            <a:ext cx="173736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167128"/>
            <a:ext cx="173736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563EB"/>
                </a:solidFill>
                <a:latin typeface="Inter"/>
              </a:rPr>
              <a:t>Yo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46720" y="2167128"/>
            <a:ext cx="13716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0" y="2167128"/>
            <a:ext cx="13716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EA7317"/>
                </a:solidFill>
                <a:latin typeface="Inter"/>
              </a:rPr>
              <a:t>tengo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18320" y="2167128"/>
            <a:ext cx="22860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8320" y="2167128"/>
            <a:ext cx="22860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3AED"/>
                </a:solidFill>
                <a:latin typeface="Inter"/>
              </a:rPr>
              <a:t>catorce años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2569464"/>
            <a:ext cx="173736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0" y="2569464"/>
            <a:ext cx="173736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563EB"/>
                </a:solidFill>
                <a:latin typeface="Inter"/>
              </a:rPr>
              <a:t>Tú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46720" y="2569464"/>
            <a:ext cx="13716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46720" y="2569464"/>
            <a:ext cx="13716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EA7317"/>
                </a:solidFill>
                <a:latin typeface="Inter"/>
              </a:rPr>
              <a:t>tienes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18320" y="2569464"/>
            <a:ext cx="22860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18320" y="2569464"/>
            <a:ext cx="22860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3AED"/>
                </a:solidFill>
                <a:latin typeface="Inter"/>
              </a:rPr>
              <a:t>quince años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2971800"/>
            <a:ext cx="173736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60" y="2971800"/>
            <a:ext cx="173736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563EB"/>
                </a:solidFill>
                <a:latin typeface="Inter"/>
              </a:rPr>
              <a:t>Lucía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46720" y="2971800"/>
            <a:ext cx="13716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46720" y="2971800"/>
            <a:ext cx="13716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EA7317"/>
                </a:solidFill>
                <a:latin typeface="Inter"/>
              </a:rPr>
              <a:t>tiene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418320" y="2971800"/>
            <a:ext cx="22860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418320" y="2971800"/>
            <a:ext cx="22860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3AED"/>
                </a:solidFill>
                <a:latin typeface="Inter"/>
              </a:rPr>
              <a:t>dieciséis años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3374136"/>
            <a:ext cx="173736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09360" y="3374136"/>
            <a:ext cx="173736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563EB"/>
                </a:solidFill>
                <a:latin typeface="Inter"/>
              </a:rPr>
              <a:t>Mi hermano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046720" y="3374136"/>
            <a:ext cx="13716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20" y="3374136"/>
            <a:ext cx="13716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EA7317"/>
                </a:solidFill>
                <a:latin typeface="Inter"/>
              </a:rPr>
              <a:t>tiene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418320" y="3374136"/>
            <a:ext cx="22860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418320" y="3374136"/>
            <a:ext cx="22860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3AED"/>
                </a:solidFill>
                <a:latin typeface="Inter"/>
              </a:rPr>
              <a:t>veinte años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3913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360920" y="3950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25512" y="3904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013801" y="3950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393" y="3904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609989" y="3950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774581" y="3904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092792" y="3950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257384" y="3904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688980" y="3950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53572" y="3904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309360" y="4297680"/>
            <a:ext cx="5394960" cy="114300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Vraag-antwoordspiegel:  </a:t>
            </a:r>
            <a:r>
              <a:rPr sz="1200" b="1" i="0">
                <a:solidFill>
                  <a:srgbClr val="7C3AED"/>
                </a:solidFill>
                <a:latin typeface="Inter"/>
              </a:rPr>
              <a:t>¿Cuántos años tienes?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→ </a:t>
            </a:r>
            <a:r>
              <a:rPr sz="1200" b="1" i="0">
                <a:solidFill>
                  <a:srgbClr val="EA7317"/>
                </a:solidFill>
                <a:latin typeface="Inter"/>
              </a:rPr>
              <a:t>Tengo ___ años.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Apocope: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veintiún años, treinta y un años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 (uno → un vóór «años»).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446520" y="416966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89499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PRACTICA · ESCRIBE EN LETRAS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el número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Let op: 16–29 = één woord · 30–100 = drie woorden met «y». Schrijf voluit.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63040"/>
            <a:ext cx="361188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664208"/>
            <a:ext cx="640080" cy="502920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664208"/>
            <a:ext cx="6400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1463040"/>
            <a:ext cx="265176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dieci______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25880" y="1965960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dieciocho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463040"/>
            <a:ext cx="361188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61688" y="1664208"/>
            <a:ext cx="640080" cy="502920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61688" y="1664208"/>
            <a:ext cx="6400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1463040"/>
            <a:ext cx="265176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veinti______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20640" y="1965960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veinticuatro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1463040"/>
            <a:ext cx="361188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156448" y="1664208"/>
            <a:ext cx="640080" cy="502920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6448" y="1664208"/>
            <a:ext cx="6400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53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1463040"/>
            <a:ext cx="265176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cincuenta ___ ______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15400" y="1965960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cincuenta y tres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2578608"/>
            <a:ext cx="361188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66928" y="2779776"/>
            <a:ext cx="640080" cy="502920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2779776"/>
            <a:ext cx="6400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71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2578608"/>
            <a:ext cx="265176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______ y ______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325880" y="3081528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setenta y uno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51960" y="2578608"/>
            <a:ext cx="361188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361688" y="2779776"/>
            <a:ext cx="640080" cy="502920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61688" y="2779776"/>
            <a:ext cx="6400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96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0640" y="2578608"/>
            <a:ext cx="265176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______ y ______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120640" y="3081528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noventa y seis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46720" y="2578608"/>
            <a:ext cx="361188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156448" y="2779776"/>
            <a:ext cx="640080" cy="502920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56448" y="2779776"/>
            <a:ext cx="6400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47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15400" y="2578608"/>
            <a:ext cx="265176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______ y ______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15400" y="3081528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cuarenta y siete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0" name="Rounded Rectangle 39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4206240"/>
            <a:ext cx="11247120" cy="11887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18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dieciocho</a:t>
            </a:r>
            <a:r>
              <a:rPr sz="1200" b="1" i="0">
                <a:solidFill>
                  <a:srgbClr val="157355"/>
                </a:solidFill>
                <a:latin typeface="Inter"/>
              </a:rPr>
              <a:t>  ·  24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veinticuatro</a:t>
            </a:r>
            <a:r>
              <a:rPr sz="1200" b="1" i="0">
                <a:solidFill>
                  <a:srgbClr val="157355"/>
                </a:solidFill>
                <a:latin typeface="Inter"/>
              </a:rPr>
              <a:t>  ·  53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cincuenta y tres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71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setenta y uno</a:t>
            </a:r>
            <a:r>
              <a:rPr sz="1200" b="1" i="0">
                <a:solidFill>
                  <a:srgbClr val="157355"/>
                </a:solidFill>
                <a:latin typeface="Inter"/>
              </a:rPr>
              <a:t>  ·  96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noventa y seis</a:t>
            </a:r>
            <a:r>
              <a:rPr sz="1200" b="1" i="0">
                <a:solidFill>
                  <a:srgbClr val="157355"/>
                </a:solidFill>
                <a:latin typeface="Inter"/>
              </a:rPr>
              <a:t>  ·  47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cuarenta y siete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Mini-transfer: </a:t>
            </a:r>
            <a:r>
              <a:rPr sz="1200" b="0" i="1">
                <a:solidFill>
                  <a:srgbClr val="157355"/>
                </a:solidFill>
                <a:latin typeface="Inter"/>
              </a:rPr>
              <a:t>schrijf jouw huisnummer en jouw schoenmaat voluit in letters.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94360" y="40782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SALUDOS · SPEAKING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Saludar y presentarse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Kant-en-klare chunks: je leert ze als één geheel. Ze openen elke kennismaking op de reis.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365760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EA7317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3657600" cy="438912"/>
          </a:xfrm>
          <a:prstGeom prst="rect">
            <a:avLst/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44168"/>
            <a:ext cx="338328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🟠 Saludar / despedirse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874519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¡Hola! · Buenos días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Hallo! · Goedemorgen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441447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Buenas tardes / noches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Goeimiddag / -avond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008375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¿Qué tal? · ¿Cómo estás?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Hoe gaat het?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575303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(Muy) bien, gracias. ¿Y tú?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(Heel) goed, dank je. En jij?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142231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Adiós · Hasta luego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Dag · Tot straks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4709159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Chao (informal)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Doei (onder vrienden)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51960" y="1325880"/>
            <a:ext cx="365760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51960" y="1325880"/>
            <a:ext cx="3657600" cy="4389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0" y="1344168"/>
            <a:ext cx="338328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🔵 Presentarse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6552" y="1874519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Me llamo … / Soy …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Ik heet … / Ik ben 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6552" y="2441447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¿Cómo te llamas?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Hoe heet jij?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6552" y="3008375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Encantado / Encantada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Aangenaam (m / v)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6552" y="3575303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Mucho gusto · Igualmente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Aangenaam · Insgelijks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6552" y="4142231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Este es… / Esta es…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Dit is… (m / v)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6552" y="4709159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Soy de Bélgica.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Ik kom uit België.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1325880"/>
            <a:ext cx="365760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EAB308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46720" y="1325880"/>
            <a:ext cx="3657600" cy="438912"/>
          </a:xfrm>
          <a:prstGeom prst="rect">
            <a:avLst/>
          </a:prstGeom>
          <a:solidFill>
            <a:srgbClr val="EAB3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3880" y="1344168"/>
            <a:ext cx="338328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🟡 Lengua de clase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11312" y="1874519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¿Cómo se dice … en español?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Hoe zeg je … in het Spaans?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1312" y="2441447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¿Qué significa …?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Wat betekent …?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1312" y="3008375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No entiendo.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Ik begrijp het niet.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1312" y="3575303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¿Puedes repetir, por favor?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Kun je herhalen, a.u.b.?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1312" y="4142231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Más despacio, por favor.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Trager, a.u.b.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709159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¿Cómo se escribe?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Hoe schrijf je dat?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DIÁLOGO · MODELO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Presentarse en vivo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Een kennismaking van begin tot eind. Route: saludar → presentarse → preguntar → reaccionar → despedirse.</a:t>
            </a:r>
          </a:p>
        </p:txBody>
      </p:sp>
      <p:pic>
        <p:nvPicPr>
          <p:cNvPr id="8" name="Picture 7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566928" cy="56692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1143000" y="1325880"/>
            <a:ext cx="6766560" cy="658368"/>
          </a:xfrm>
          <a:prstGeom prst="roundRect">
            <a:avLst>
              <a:gd name="adj" fmla="val 14000"/>
            </a:avLst>
          </a:prstGeom>
          <a:solidFill>
            <a:srgbClr val="E4F4EE"/>
          </a:solidFill>
          <a:ln w="15240">
            <a:solidFill>
              <a:srgbClr val="E07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/>
          <a:lstStyle/>
          <a:p>
            <a:pPr algn="l"/>
            <a:r>
              <a:rPr sz="1100" b="1">
                <a:solidFill>
                  <a:srgbClr val="E07A5F"/>
                </a:solidFill>
                <a:latin typeface="Inter"/>
              </a:rPr>
              <a:t>Lucía: </a:t>
            </a:r>
            <a:r>
              <a:rPr sz="1300">
                <a:solidFill>
                  <a:srgbClr val="20242E"/>
                </a:solidFill>
                <a:latin typeface="Inter"/>
              </a:rPr>
              <a:t>¡Hola! Buenos días. Me llamo Lucía. ¿Y tú, cómo te llamas?</a:t>
            </a:r>
          </a:p>
        </p:txBody>
      </p:sp>
      <p:pic>
        <p:nvPicPr>
          <p:cNvPr id="10" name="Picture 9" descr="t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2075688"/>
            <a:ext cx="566928" cy="56692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754880" y="2075688"/>
            <a:ext cx="6309360" cy="658368"/>
          </a:xfrm>
          <a:prstGeom prst="roundRect">
            <a:avLst>
              <a:gd name="adj" fmla="val 14000"/>
            </a:avLst>
          </a:prstGeom>
          <a:solidFill>
            <a:srgbClr val="EAEEFC"/>
          </a:solidFill>
          <a:ln w="15240">
            <a:solidFill>
              <a:srgbClr val="8A7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/>
          <a:lstStyle/>
          <a:p>
            <a:pPr algn="r"/>
            <a:r>
              <a:rPr sz="1100" b="1">
                <a:solidFill>
                  <a:srgbClr val="8A7BE0"/>
                </a:solidFill>
                <a:latin typeface="Inter"/>
              </a:rPr>
              <a:t>Tú: </a:t>
            </a:r>
            <a:r>
              <a:rPr sz="1300">
                <a:solidFill>
                  <a:srgbClr val="20242E"/>
                </a:solidFill>
                <a:latin typeface="Inter"/>
              </a:rPr>
              <a:t>Hola, buenos días. Soy Tom. Soy de Bélgica.</a:t>
            </a:r>
          </a:p>
        </p:txBody>
      </p:sp>
      <p:pic>
        <p:nvPicPr>
          <p:cNvPr id="12" name="Picture 11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825496"/>
            <a:ext cx="566928" cy="56692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143000" y="2825496"/>
            <a:ext cx="6766560" cy="658368"/>
          </a:xfrm>
          <a:prstGeom prst="roundRect">
            <a:avLst>
              <a:gd name="adj" fmla="val 14000"/>
            </a:avLst>
          </a:prstGeom>
          <a:solidFill>
            <a:srgbClr val="E4F4EE"/>
          </a:solidFill>
          <a:ln w="15240">
            <a:solidFill>
              <a:srgbClr val="E07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/>
          <a:lstStyle/>
          <a:p>
            <a:pPr algn="l"/>
            <a:r>
              <a:rPr sz="1100" b="1">
                <a:solidFill>
                  <a:srgbClr val="E07A5F"/>
                </a:solidFill>
                <a:latin typeface="Inter"/>
              </a:rPr>
              <a:t>Lucía: </a:t>
            </a:r>
            <a:r>
              <a:rPr sz="1300">
                <a:solidFill>
                  <a:srgbClr val="20242E"/>
                </a:solidFill>
                <a:latin typeface="Inter"/>
              </a:rPr>
              <a:t>¡Encantada, Tom!</a:t>
            </a:r>
          </a:p>
        </p:txBody>
      </p:sp>
      <p:pic>
        <p:nvPicPr>
          <p:cNvPr id="14" name="Picture 13" descr="t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3575304"/>
            <a:ext cx="566928" cy="56692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754880" y="3575304"/>
            <a:ext cx="6309360" cy="658368"/>
          </a:xfrm>
          <a:prstGeom prst="roundRect">
            <a:avLst>
              <a:gd name="adj" fmla="val 14000"/>
            </a:avLst>
          </a:prstGeom>
          <a:solidFill>
            <a:srgbClr val="EAEEFC"/>
          </a:solidFill>
          <a:ln w="15240">
            <a:solidFill>
              <a:srgbClr val="8A7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/>
          <a:lstStyle/>
          <a:p>
            <a:pPr algn="r"/>
            <a:r>
              <a:rPr sz="1100" b="1">
                <a:solidFill>
                  <a:srgbClr val="8A7BE0"/>
                </a:solidFill>
                <a:latin typeface="Inter"/>
              </a:rPr>
              <a:t>Tú: </a:t>
            </a:r>
            <a:r>
              <a:rPr sz="1300">
                <a:solidFill>
                  <a:srgbClr val="20242E"/>
                </a:solidFill>
                <a:latin typeface="Inter"/>
              </a:rPr>
              <a:t>Igualmente. ¿Qué tal?</a:t>
            </a:r>
          </a:p>
        </p:txBody>
      </p:sp>
      <p:pic>
        <p:nvPicPr>
          <p:cNvPr id="16" name="Picture 15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325112"/>
            <a:ext cx="566928" cy="566928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1143000" y="4325112"/>
            <a:ext cx="6766560" cy="658368"/>
          </a:xfrm>
          <a:prstGeom prst="roundRect">
            <a:avLst>
              <a:gd name="adj" fmla="val 14000"/>
            </a:avLst>
          </a:prstGeom>
          <a:solidFill>
            <a:srgbClr val="E4F4EE"/>
          </a:solidFill>
          <a:ln w="15240">
            <a:solidFill>
              <a:srgbClr val="E07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/>
          <a:lstStyle/>
          <a:p>
            <a:pPr algn="l"/>
            <a:r>
              <a:rPr sz="1100" b="1">
                <a:solidFill>
                  <a:srgbClr val="E07A5F"/>
                </a:solidFill>
                <a:latin typeface="Inter"/>
              </a:rPr>
              <a:t>Lucía: </a:t>
            </a:r>
            <a:r>
              <a:rPr sz="1300">
                <a:solidFill>
                  <a:srgbClr val="20242E"/>
                </a:solidFill>
                <a:latin typeface="Inter"/>
              </a:rPr>
              <a:t>Muy bien, gracias. ¡Hasta luego!</a:t>
            </a:r>
          </a:p>
        </p:txBody>
      </p:sp>
      <p:pic>
        <p:nvPicPr>
          <p:cNvPr id="18" name="Picture 17" descr="t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5074920"/>
            <a:ext cx="566928" cy="566928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754880" y="5074920"/>
            <a:ext cx="6309360" cy="658368"/>
          </a:xfrm>
          <a:prstGeom prst="roundRect">
            <a:avLst>
              <a:gd name="adj" fmla="val 14000"/>
            </a:avLst>
          </a:prstGeom>
          <a:solidFill>
            <a:srgbClr val="EAEEFC"/>
          </a:solidFill>
          <a:ln w="15240">
            <a:solidFill>
              <a:srgbClr val="8A7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/>
          <a:lstStyle/>
          <a:p>
            <a:pPr algn="r"/>
            <a:r>
              <a:rPr sz="1100" b="1">
                <a:solidFill>
                  <a:srgbClr val="8A7BE0"/>
                </a:solidFill>
                <a:latin typeface="Inter"/>
              </a:rPr>
              <a:t>Tú: </a:t>
            </a:r>
            <a:r>
              <a:rPr sz="1300">
                <a:solidFill>
                  <a:srgbClr val="20242E"/>
                </a:solidFill>
                <a:latin typeface="Inter"/>
              </a:rPr>
              <a:t>¡Adiós!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53212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Opmerken (betekenis vóór vorm):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Lucía reageert op «Soy Tom» met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«¡Encantada!»</a:t>
            </a:r>
            <a:r>
              <a:rPr sz="1200" b="0" i="0">
                <a:solidFill>
                  <a:srgbClr val="157355"/>
                </a:solidFill>
                <a:latin typeface="Inter"/>
              </a:rPr>
              <a:t>. Tú antwoordt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«Igualmente»</a:t>
            </a:r>
            <a:r>
              <a:rPr sz="1200" b="0" i="0">
                <a:solidFill>
                  <a:srgbClr val="157355"/>
                </a:solidFill>
                <a:latin typeface="Inter"/>
              </a:rPr>
              <a:t>. Begin = saludo, einde = despedida (Hasta luego / Adiós).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540410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OBSERVAR · docent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LENGUA DE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dices? — la reddingsboei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Koppel elke situatie aan de juiste klastaal-chunk. Betekenis vóór vorm: kies je 'reddingsboei'.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0058400" cy="292608"/>
          </a:xfrm>
          <a:prstGeom prst="roundRect">
            <a:avLst>
              <a:gd name="adj" fmla="val 50000"/>
            </a:avLst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50" b="1">
                <a:solidFill>
                  <a:srgbClr val="157355"/>
                </a:solidFill>
                <a:latin typeface="Inter"/>
              </a:rPr>
              <a:t>Banco de frases:  ¿cómo se dice…?  ·  no entiendo  ·  ¿puedes repetir?  ·  más despacio  ·  ¿qué significa…?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783080"/>
            <a:ext cx="557784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397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2002536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002536"/>
            <a:ext cx="347472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1783080"/>
            <a:ext cx="4846320" cy="7772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De docent praat te snel.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2240280"/>
            <a:ext cx="5532120" cy="18288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1801368"/>
            <a:ext cx="54864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→ Más despacio, por favor.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651760"/>
            <a:ext cx="557784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397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2871216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2871216"/>
            <a:ext cx="347472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2651760"/>
            <a:ext cx="4846320" cy="7772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Je kent een woord niet in het Spaans.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3108960"/>
            <a:ext cx="5532120" cy="18288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0" y="2670048"/>
            <a:ext cx="54864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→ ¿Cómo se dice «…» en español?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520440"/>
            <a:ext cx="557784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397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66928" y="3739896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739896"/>
            <a:ext cx="347472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520440"/>
            <a:ext cx="4846320" cy="7772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Je verstond de vraag niet.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977640"/>
            <a:ext cx="5532120" cy="18288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72200" y="3538728"/>
            <a:ext cx="54864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→ ¿Puedes repetir, por favor?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389120"/>
            <a:ext cx="557784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397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66928" y="4608576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4608576"/>
            <a:ext cx="347472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4389120"/>
            <a:ext cx="4846320" cy="7772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Je snapt de betekenis van «tarea» niet.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2200" y="4846320"/>
            <a:ext cx="5532120" cy="18288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72200" y="4407408"/>
            <a:ext cx="54864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→ ¿Qué significa «tarea»?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539496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Mini-rollenspel (geen steun):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A speelt docent (praat te snel / zegt een nieuw woord); B reageert met de passende chunk. Wissel.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52669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89499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CULTURA · IDENTIDAD EN DIVERSIDAD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¿Dónde se habla español?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Officiële taal in +20 landen. Je koppelt de reis aan de wereldkaart en aan de cast.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7040880" cy="411480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17320"/>
            <a:ext cx="6675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🗺️ El mundo hispano — lengua oficial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828800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828800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Inter"/>
              </a:rPr>
              <a:t>★ España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98648" y="1828800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98648" y="1828800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Inter"/>
              </a:rPr>
              <a:t>★ México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38928" y="1828800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38928" y="1828800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Guatemala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2267712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267712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Honduras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98648" y="2267712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98648" y="2267712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El Salvador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38928" y="2267712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38928" y="2267712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Nicaragua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706624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2706624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Costa Rica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98648" y="2706624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98648" y="2706624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Panamá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138928" y="2706624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38928" y="2706624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Cuba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3145536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3145536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Rep. Dominicana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98648" y="3145536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98648" y="3145536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Puerto Rico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138928" y="3145536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38928" y="3145536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Inter"/>
              </a:rPr>
              <a:t>★ Colombia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3584448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3584448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Venezuela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898648" y="3584448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898648" y="3584448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Ecuador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138928" y="3584448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38928" y="3584448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Inter"/>
              </a:rPr>
              <a:t>★ Perú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8368" y="4023360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4023360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Bolivia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898648" y="4023360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98648" y="4023360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Paraguay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138928" y="4023360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138928" y="4023360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Uruguay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58368" y="4462272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4462272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Argentina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898648" y="4462272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898648" y="4462272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Chile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138928" y="4462272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38928" y="4462272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Guinea Ecuatorial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8368" y="5029200"/>
            <a:ext cx="667512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1">
                <a:solidFill>
                  <a:srgbClr val="6A6E78"/>
                </a:solidFill>
                <a:latin typeface="Inter"/>
              </a:rPr>
              <a:t>★ = una parada de C5 (España · México · Colombia · Perú)  ·  🇺🇸 EE.UU. = millones de hispanohablantes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680960" y="1463040"/>
            <a:ext cx="40233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63840" y="1517904"/>
            <a:ext cx="36576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1E9E74"/>
                </a:solidFill>
                <a:latin typeface="Bricolage Grotesque"/>
              </a:rPr>
              <a:t>~500 mln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863840" y="1883664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moedertaalsprekers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680960" y="2304288"/>
            <a:ext cx="40233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863840" y="2359152"/>
            <a:ext cx="36576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1E9E74"/>
                </a:solidFill>
                <a:latin typeface="Bricolage Grotesque"/>
              </a:rPr>
              <a:t>+20 países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63840" y="2724912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lengua oficial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680960" y="3145536"/>
            <a:ext cx="40233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63840" y="3200400"/>
            <a:ext cx="36576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1E9E74"/>
                </a:solidFill>
                <a:latin typeface="Bricolage Grotesque"/>
              </a:rPr>
              <a:t>2ª lengua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863840" y="3566160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materna del mundo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680960" y="3986784"/>
            <a:ext cx="40233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63840" y="4041648"/>
            <a:ext cx="36576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1E9E74"/>
                </a:solidFill>
                <a:latin typeface="Bricolage Grotesque"/>
              </a:rPr>
              <a:t>español = castellano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4407408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twee namen, één taal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680960" y="4846320"/>
            <a:ext cx="4023360" cy="59436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651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818120" y="4901184"/>
            <a:ext cx="3794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B7860B"/>
                </a:solidFill>
                <a:latin typeface="Inter"/>
              </a:rPr>
              <a:t>🟡 Cognados: </a:t>
            </a:r>
            <a:r>
              <a:rPr sz="1050" b="0" i="0">
                <a:solidFill>
                  <a:srgbClr val="20242E"/>
                </a:solidFill>
                <a:latin typeface="Inter"/>
              </a:rPr>
              <a:t>hospital, animal, chocolate, familia, taxi… je herkent al véél Spaans!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57200" y="5559552"/>
            <a:ext cx="2474366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👀 LEER · comprensión lectora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7315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V/F · Lee la lista: «En Brasil se habla español.»  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69280" y="5943600"/>
            <a:ext cx="19202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C2626"/>
                </a:solidFill>
                <a:latin typeface="Inter"/>
              </a:rPr>
              <a:t>→ FALSO (portugués)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772400" y="5943600"/>
            <a:ext cx="3147364" cy="292608"/>
          </a:xfrm>
          <a:prstGeom prst="roundRect">
            <a:avLst>
              <a:gd name="adj" fmla="val 50000"/>
            </a:avLst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157355"/>
                </a:solidFill>
                <a:latin typeface="Inter"/>
              </a:rPr>
              <a:t>🔗 Online: mapa clicable + flip cards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717243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CULTURA · VARIACIÓN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Mismo idioma, pequeñas diferencias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Zelfde taal, kleine verschillen in woorden en klanken. Géén grammatica — enkel bewustwording (A1).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29184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32918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Inter"/>
              </a:rPr>
              <a:t>🇪🇸 España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49040" y="1371600"/>
            <a:ext cx="329184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0" y="1371600"/>
            <a:ext cx="32918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Inter"/>
              </a:rPr>
              <a:t>🌎 Hispanoamérica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0880" y="1371600"/>
            <a:ext cx="3291840" cy="457200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0" y="1371600"/>
            <a:ext cx="32918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🇳🇱 Nederlands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8288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18288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coche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49040" y="18288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86200" y="18288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carro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0880" y="18288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78040" y="18288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de auto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2860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22860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móvil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49040" y="22860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2860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celular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40880" y="22860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78040" y="22860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de gsm / mobiel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27432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27432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ordenador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49040" y="27432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86200" y="27432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la computadora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040880" y="27432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78040" y="27432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de computer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2004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2004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zumo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49040" y="32004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86200" y="32004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jugo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040880" y="32004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78040" y="32004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het (vruchten)sap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36576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" y="36576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la patata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749040" y="36576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886200" y="36576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la papa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040880" y="36576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78040" y="36576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de aardappel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41148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" y="41148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vosotros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749040" y="41148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886200" y="41148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ustedes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40880" y="41148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78040" y="41148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jullie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45720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94360" y="45720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¡vale!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749040" y="45720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886200" y="45720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¡dale! / ¡listo!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40880" y="45720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78040" y="45720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oké!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515600" y="1371600"/>
            <a:ext cx="1216152" cy="36576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651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607040" y="1463040"/>
            <a:ext cx="1051560" cy="3474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🔊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B7860B"/>
                </a:solidFill>
                <a:latin typeface="Inter"/>
              </a:rPr>
              <a:t>seseo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c(e/i)/z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= /s/ in LatAm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= /θ/ «th»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in España.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157355"/>
                </a:solidFill>
                <a:latin typeface="Inter"/>
              </a:rPr>
              <a:t>Beide OK!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57200" y="5120640"/>
            <a:ext cx="978408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Valstrik (spelling):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landen mét hoofdletter (España, México, Perú), maar de taal met kleine letter: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el español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(niet «el Español»).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94360" y="4992624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OJO · docent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§5 · LECTURA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«El Club de Español»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Een echte tekst. Je hoeft niet alles te begrijpen om de informatie eruit te halen.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577840" cy="4160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5577840" cy="38404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44168"/>
            <a:ext cx="53035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Bricolage Grotesque"/>
              </a:rPr>
              <a:t>anuncio (cartel del instituto)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10512"/>
            <a:ext cx="5212080" cy="35661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Bricolage Grotesque"/>
              </a:rPr>
              <a:t>¡APÚNTATE AL CLUB DE ESPAÑOL! 🇪🇸🇲🇽🇨🇴🇵🇪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Un idioma, veinte países, una ruta.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¿Hablas un poco de español? ¿O cero español? ¡No importa! En el club hablamos, cantamos y jugamos en español.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¿Cuándo? Los martes y los jueves, de cuatro a cinco.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¿Dónde? En el aula catorce, primera planta.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¿Cuánto cuesta? ¡Cero euros!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¿Cuántos somos? Ahora somos dieciocho. Hay sitio para veinte.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Este año viajamos por el mundo hispano: España, México, Colombia y Perú. Cada mes, un país y una fiesta.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Escribe a: club.espanol@instituto.be — o habla con la señora Ortega.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325880"/>
            <a:ext cx="5468112" cy="196596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417320"/>
            <a:ext cx="5120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Escanea — busca el dato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175564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¿En qué aula es el club?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¿Cuántos alumnos hay ahora en el club?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¿Cuánto cuesta? (en cifras)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4. ¿Cuántos países visita el club este año?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29000"/>
            <a:ext cx="5468112" cy="2057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3520440"/>
            <a:ext cx="5120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¿Verdadero o falso? — y la prueba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858768"/>
            <a:ext cx="5120640" cy="1554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El club es gratis.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El club es solo para alumnos que ya hablan español.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El club se reúne dos días por semana.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4. Todavía hay sitio en el club.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596128"/>
            <a:ext cx="11274552" cy="658368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Escanear: 1) 14 · 2) 18 · 3) 0 · 4) 4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1) V — «¡Cero euros!»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2) F — «¿O cero español? ¡No importa!»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3) V — «Los martes y los jueves»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4) V — «Hay sitio para veinte»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5468112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§6 · ESCUCHA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«En la puerta de embarque»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Eerst de situatie, dan luisteren. Het transcript komt pas ná de taken.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11274552" cy="105156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17320"/>
            <a:ext cx="108813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¿Dónde?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El aeropuerto de Barajas, Madrid — puerta B12</a:t>
            </a:r>
            <a:r>
              <a:rPr sz="1100" b="1" i="0">
                <a:solidFill>
                  <a:srgbClr val="157355"/>
                </a:solidFill>
                <a:latin typeface="Inter"/>
              </a:rPr>
              <a:t>     ¿Quién?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Lucía (de Sevilla) y tú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¿Qué pasa?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Esperáis el mismo vuelo y os presentáis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Palabras clave: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¿Cómo te llamas? · Soy de… · ¿Cómo se escribe?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514600"/>
            <a:ext cx="5577840" cy="2971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606040"/>
            <a:ext cx="52120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Escucha con detalle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944368"/>
            <a:ext cx="5212080" cy="23774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¿Cuál es la puerta de embarque?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¿De dónde es Lucía?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¿Cuántos años tiene Sam?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4. ¿Cuántos años tiene Lucía?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5. ¿A qué hora sale el vuelo?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514600"/>
            <a:ext cx="5468112" cy="29718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606040"/>
            <a:ext cx="5120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¿Verdadero o falso? — y la prueba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94436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Sam habla dos lenguas.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Lucía es de Madrid.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Sam deletrea su nombre.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572000"/>
            <a:ext cx="512064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157355"/>
                </a:solidFill>
                <a:latin typeface="Inter"/>
              </a:rPr>
              <a:t>Tu reacción: </a:t>
            </a:r>
            <a:r>
              <a:rPr sz="1000" b="0" i="0">
                <a:solidFill>
                  <a:srgbClr val="20242E"/>
                </a:solidFill>
                <a:latin typeface="Inter"/>
              </a:rPr>
              <a:t>Lucía te pregunta: «¿Y tú, cómo te llamas y de dónde eres?» Contesta en tres frases: nombre · origen · edad.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596128"/>
            <a:ext cx="11274552" cy="658368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Detalle: 1) B12 · 2) De Sevilla · 3) 16 · 4) 17 · 5) A las once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1) V — «Hablo neerlandés y un poco de español»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2) F — «Yo soy de Sevilla»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3) V — «Ese, a, eme»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5468112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0611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★ TAREA FINAL · EINDMISSIE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Tu tarjeta de embarque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Jouw instapkaart voor La Ruta. Alles komt samen: spellen · groeten · één klasvraag stellen.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6035040" cy="28803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417320"/>
            <a:ext cx="5669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Bricolage Grotesque"/>
              </a:rPr>
              <a:t>Communicatief kader (§14)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810512"/>
            <a:ext cx="1874519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✈️ Situación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1810512"/>
            <a:ext cx="3886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Aan de gate stel je je kort voor voor de eerste etappe.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86000"/>
            <a:ext cx="1874519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🗣️ Afzender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2286000"/>
            <a:ext cx="3886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jij (de reiziger).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2761488"/>
            <a:ext cx="1874519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👥 Ontvanger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2761488"/>
            <a:ext cx="3886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een klasgenoot / de mochila / de klas.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236976"/>
            <a:ext cx="1874519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🎯 Doel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14600" y="3236976"/>
            <a:ext cx="3886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voorstellen + spellen · groeten · één klasvraag stellen.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3712464"/>
            <a:ext cx="1874519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🎁 Resultaat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14600" y="3712464"/>
            <a:ext cx="3886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ingevulde tarjeta + korte gesproken kennismaking (live/opname).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75120" y="1325880"/>
            <a:ext cx="5029200" cy="20116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75120" y="1325880"/>
            <a:ext cx="5029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12280" y="1344168"/>
            <a:ext cx="4754880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Bricolage Grotesque"/>
              </a:rPr>
              <a:t>✈  TARJETA DE EMBARQUE · LA RUTA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1920240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6A6E78"/>
                </a:solidFill>
                <a:latin typeface="Inter"/>
              </a:rPr>
              <a:t>NOMBRE / NAAM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1920240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___________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2176272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6A6E78"/>
                </a:solidFill>
                <a:latin typeface="Inter"/>
              </a:rPr>
              <a:t>DESTINO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2176272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ESPAÑA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2432304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6A6E78"/>
                </a:solidFill>
                <a:latin typeface="Inter"/>
              </a:rPr>
              <a:t>RUTA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432304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EL MUNDO HISPANO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2688336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6A6E78"/>
                </a:solidFill>
                <a:latin typeface="Inter"/>
              </a:rPr>
              <a:t>PUERTA (gate)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5440" y="2688336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U0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2944368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6A6E78"/>
                </a:solidFill>
                <a:latin typeface="Inter"/>
              </a:rPr>
              <a:t>ASIENTO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2944368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___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3200400"/>
            <a:ext cx="4572000" cy="1828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▮▮▯▮▯▮▮▯▮  ·  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75120" y="3520440"/>
            <a:ext cx="50292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Pasos (steun bouwt af):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75120" y="3840480"/>
            <a:ext cx="45720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1 Prepara tu tarjeta (MODEL)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75120" y="4206240"/>
            <a:ext cx="45720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2 Ensaya tu nombre (alfabet)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75120" y="4572000"/>
            <a:ext cx="45720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3 Escribe tu mini-diálogo (frame)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675120" y="4937760"/>
            <a:ext cx="45720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4 Practica en duo (cue)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75120" y="5303520"/>
            <a:ext cx="45720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5 Preséntate (SIN AYUDA)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4343400"/>
            <a:ext cx="6035040" cy="14630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Modelo (en la puerta):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57355"/>
                </a:solidFill>
                <a:latin typeface="Inter"/>
              </a:rPr>
              <a:t>Lucía: ¡Hola! Yo soy Lucía. ¿Y tú?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57355"/>
                </a:solidFill>
                <a:latin typeface="Inter"/>
              </a:rPr>
              <a:t>Tú: ¡Hola! Yo soy Sam.  — Lucía: ¿Cómo se escribe?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57355"/>
                </a:solidFill>
                <a:latin typeface="Inter"/>
              </a:rPr>
              <a:t>Tú: Ese-a-eme. Sam.  Una pregunta: ¿cómo se dice «rugzak»?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57355"/>
                </a:solidFill>
                <a:latin typeface="Inter"/>
              </a:rPr>
              <a:t>Lucía: Se dice «la mochila». — Tú: ¡Gracias! ¡Hasta luego!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94360" y="421538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B7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B7860B"/>
                </a:solidFill>
                <a:latin typeface="Inter"/>
              </a:rPr>
              <a:t>QUIZ · RETRIEVAL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«La mezcla» — gemengde quiz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Vijf mini-items, elk uit een ándere sectie. Kies zélf de juiste regel. (retrieval vóór herlezen, §14)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11247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50876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157355"/>
                </a:solidFill>
                <a:latin typeface="Inter"/>
              </a:rPr>
              <a:t>1 · §2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1371600"/>
            <a:ext cx="6766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20242E"/>
                </a:solidFill>
                <a:latin typeface="Inter"/>
              </a:rPr>
              <a:t>¿Lleva tilde: «Peru» o «Perú»?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0" y="1499616"/>
            <a:ext cx="292608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Perú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011680"/>
            <a:ext cx="11247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214884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157355"/>
                </a:solidFill>
                <a:latin typeface="Inter"/>
              </a:rPr>
              <a:t>2 · §1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011680"/>
            <a:ext cx="6766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20242E"/>
                </a:solidFill>
                <a:latin typeface="Inter"/>
              </a:rPr>
              <a:t>¿«h» klinkt of niet in «hola»?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0" y="2139696"/>
            <a:ext cx="292608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de h zwijgt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651760"/>
            <a:ext cx="11247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278892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157355"/>
                </a:solidFill>
                <a:latin typeface="Inter"/>
              </a:rPr>
              <a:t>3 · §3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2651760"/>
            <a:ext cx="6766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20242E"/>
                </a:solidFill>
                <a:latin typeface="Inter"/>
              </a:rPr>
              <a:t>Escribe 47 en letras.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0" y="2779776"/>
            <a:ext cx="292608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cuarenta y siete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291840"/>
            <a:ext cx="11247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66928" y="342900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157355"/>
                </a:solidFill>
                <a:latin typeface="Inter"/>
              </a:rPr>
              <a:t>4 · §4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3291840"/>
            <a:ext cx="6766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20242E"/>
                </a:solidFill>
                <a:latin typeface="Inter"/>
              </a:rPr>
              <a:t>¿Encantado o encantada dice Nina?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0" y="3419856"/>
            <a:ext cx="292608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Encantada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931920"/>
            <a:ext cx="11247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66928" y="406908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157355"/>
                </a:solidFill>
                <a:latin typeface="Inter"/>
              </a:rPr>
              <a:t>5 · §2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83080" y="3931920"/>
            <a:ext cx="6766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20242E"/>
                </a:solidFill>
                <a:latin typeface="Inter"/>
              </a:rPr>
              <a:t>Ordena: llana / esdrújula → «casa», «México».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0" y="4059936"/>
            <a:ext cx="292608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casa=llana · México=esdrújula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4754880"/>
            <a:ext cx="11247120" cy="10972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1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Perú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(aguda -ú)   ·  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2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de h zwijgt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(hola = «ola»)   ·  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3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cuarenta y siete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4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Encantada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(Nina is een meisje — de uitgang volgt wie spreekt)   ·  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5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casa = llana · México = esdrújula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46268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◎ REPASO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 + semáforo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hele U0 op één plaat + zelfevaluatie. Retrieval eerst (dia 19), dán terugbladeren.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5532120" cy="1600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25880"/>
            <a:ext cx="109728" cy="1600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399032"/>
            <a:ext cx="51663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🗺️ El mundo hispano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1828800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+20 landen · ~500 mln sprekers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157984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español = castellano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487168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kleine verschillen (coche/carro)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25880"/>
            <a:ext cx="5532120" cy="1600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25880"/>
            <a:ext cx="109728" cy="1600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399032"/>
            <a:ext cx="51663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🔤 Sonar en español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1828800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27 letras (+ñ) · h zwijgt · b=v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2157984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j+ge/gi=jota · ll/y=«j» · ñ=«nj»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2" y="2487168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qu=«k» · z/ce/ci=«th» · r↔rr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090672"/>
            <a:ext cx="5532120" cy="1600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090672"/>
            <a:ext cx="109728" cy="1600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163824"/>
            <a:ext cx="51663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🎩 La regla del sombrero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3593592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esdrújula → altijd 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3922776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aguda → ´ als -n/-s/klinker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4251960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llana → ´ als NIET zo · monosíl. geen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090672"/>
            <a:ext cx="5532120" cy="1600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090672"/>
            <a:ext cx="109728" cy="1600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163824"/>
            <a:ext cx="51663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🔢 Números &amp; 👋 saludos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28232" y="3593592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0-15 apart · 16-29 één woord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28232" y="3922776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30-100 decena+y+unidad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28232" y="4251960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edad = tener años (🔴 niet ser)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4983480"/>
            <a:ext cx="11274552" cy="96012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651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1792" y="5047488"/>
            <a:ext cx="36576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🚦 Semáforo — ¿cómo lo llevas?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" y="5394960"/>
            <a:ext cx="1097280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🔴 nog niet  ·  🟠 met steun  ·  🟢 zelfstandig — kleur per rij (receptief «ik herken» / productief «ik doe het zelf»).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Volledige checklist in de PDF/HTML.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