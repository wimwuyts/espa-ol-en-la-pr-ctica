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77" r:id="rId29"/>
    <p:sldId id="278" r:id="rId30"/>
    <p:sldId id="279" r:id="rId31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Parada 7 = Cartagena (Colombia): bajamos por el Caribe. Gastvrouw = Valen. Doel: la casa/habitaciones/muebles benoemen, hay/estar (er is/waar het staat), preposiciones de lugar, estar + gerundio (nu bezig), imperativo (de weg wijzen) en ordinales + apócope (el primer piso). Kernvalstrik: niet «hay el parque»; de+el=del; estoy comiendo; el primer piso. Docentdeck = vrije navigatie + oplossing in notities; leerlingdeck (.pptx, F5) = elke klik onthult het volgende antwoord.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LESSON_MENU. Elke tegel = hyperlink; op elke oefendia staat ⌂ Menú terug. Richttijd 50 min. Begin bij §1 (hay/estar) → §2 (preposiciones) = het hart van de unit. Kruisverwijzing print/HTML: «oefen online — 20 juegos».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VOCABULARY. Toon per cluster (casa/habitaciones/muebles). Laat raden zónder de NL-gloss. Online: flip cards + Memoria de la casa + Memoria del barrio + ¿hay o está?</a:t>
            </a:r>
          </a:p>
          <a:p/>
          <a:p>
            <a:r>
              <a:t>— SOLUCIÓN (docent · presenter view) —</a:t>
            </a:r>
          </a:p>
          <a:p>
            <a:r>
              <a:t>🔴 Hay vs. estar: Hay un sofá (nieuw) · El sofá está al lado (bekend + plaats).</a:t>
            </a:r>
          </a:p>
          <a:p>
            <a:r>
              <a:t>Nooit «hay el/la…». De casa = habitaciones (kamers) + muebles (meubels).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(color-coding). Maak het contrast fysiek zichtbaar. Truc: un/una/número → hay; el/la + plaats → está/están. Online: «¿hay o está?» (classify) + «señala en el plano».</a:t>
            </a:r>
          </a:p>
          <a:p/>
          <a:p>
            <a:r>
              <a:t>— SOLUCIÓN (docent · presenter view) —</a:t>
            </a:r>
          </a:p>
          <a:p>
            <a:r>
              <a:t>Regla: hay = er is/zijn (nieuw, geen el/la) · está/están = waar iets bekends staat (met el/la + plaats).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(reveal). Laat de klas eerst kiezen, klik dan. Online: «¿hay o está?» (classify).</a:t>
            </a:r>
          </a:p>
          <a:p/>
          <a:p>
            <a:r>
              <a:t>— SOLUCIÓN (docent · presenter view) —</a:t>
            </a:r>
          </a:p>
          <a:p>
            <a:r>
              <a:t>hay = iets nieuws (un/una/número) · está/están = waar iets bekends (el/la) staat. Meervoud → están.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preposiciones. Onthul per kaart; laat de betekenis voorspellen met een echt voorwerp in de klas. Online: «preposición de lugar» (cloze) + «señala en la habitación».</a:t>
            </a:r>
          </a:p>
          <a:p/>
          <a:p>
            <a:r>
              <a:t>— SOLUCIÓN (docent · presenter view) —</a:t>
            </a:r>
          </a:p>
          <a:p>
            <a:r>
              <a:t>🔴 de + el = del (al lado del parque). Bij «entre» géén «de»: entre la mesa y la silla. Vorm: está (ev.) / están (mv.).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preposiciones (retrieval). Klas roept de preposición vóór de klik. Daarna een info-gap in parejas (¿dónde está…?).</a:t>
            </a:r>
          </a:p>
          <a:p/>
          <a:p>
            <a:r>
              <a:t>— SOLUCIÓN (docent · presenter view) —</a:t>
            </a:r>
          </a:p>
          <a:p>
            <a:r>
              <a:t>Tegenstellingen: encima ↔ debajo · delante ↔ detrás · cerca ↔ lejos · dentro ↔ fuera.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APLICACIÓN plano + ordinales. Onthul per gebouw; laat leerlingen de positie beschrijven. Apócope: primer/tercer + m. sing. Online: «señala en el plano del barrio» + ordinales-quiz.</a:t>
            </a:r>
          </a:p>
          <a:p/>
          <a:p>
            <a:r>
              <a:t>— SOLUCIÓN (docent · presenter view) —</a:t>
            </a:r>
          </a:p>
          <a:p>
            <a:r>
              <a:t>Voor het adres: la planta baja · el primer piso · el segundo piso… (calle Real, 3º).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 (lezen→spreken-keten). Eerst globaal (waarover?), dan scannen. Onthul de antwoorden pas na de klas. Daarna: leerlingen beschrijven zelf een woning (transfer → Tarea Mi barrio).</a:t>
            </a:r>
          </a:p>
          <a:p/>
          <a:p>
            <a:r>
              <a:t>— SOLUCIÓN (docent · presenter view) —</a:t>
            </a:r>
          </a:p>
          <a:p>
            <a:r>
              <a:t>🎯 Leesdoel: scannen naar habitaciones, piso y precio — niet élk woord begrijpen.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 (selectief → spreken). Lees Valens beschrijving voor (of TTS). Klas noteert ¿qué hay? + ¿dónde?; onthul per klik. Koppel meteen aan hun eigen barrio.</a:t>
            </a:r>
          </a:p>
          <a:p/>
          <a:p>
            <a:r>
              <a:t>— SOLUCIÓN (docent · presenter view) —</a:t>
            </a:r>
          </a:p>
          <a:p>
            <a:r>
              <a:t>Modelo-audio (docent leest of TTS): «Enfrente de mi casa hay una plaza. La panadería está al lado y el parque está cerca del mar.» …</a:t>
            </a:r>
          </a:p>
          <a:p>
            <a:r>
              <a:t>Daarna spreken: leerling beschrijft zelf zijn barrio.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estar + gerundio. Onthul per kaart; laat de vorm voorspellen. Twee delen: estar (vervoegd) + gerundio (onveranderd). Online: «completa: estar + gerundio» (cloze).</a:t>
            </a:r>
          </a:p>
          <a:p/>
          <a:p>
            <a:r>
              <a:t>— SOLUCIÓN (docent · presenter view) —</a:t>
            </a:r>
          </a:p>
          <a:p>
            <a:r>
              <a:t>🔴 -ar → -ando (cocinar → cocinando) · -er/-ir → -iendo (comer → comiendo, vivir → viviendo). Onregelmatig: leer → leyendo, dormir → durmiendo.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(interactie). Automatiseer preguntar→seguir→girar→llegar in rondes met afbouwende steun. Online: recorder (opname + zelfevaluatie). Print blijft bruikbaar zonder opname.</a:t>
            </a:r>
          </a:p>
          <a:p/>
          <a:p>
            <a:r>
              <a:t>— SOLUCIÓN (docent · presenter view) —</a:t>
            </a:r>
          </a:p>
          <a:p>
            <a:r>
              <a:t>Modelo: «Perdona, ¿cómo se va a la plaza? — Sigue todo recto, gira a la derecha y cruza el semáforo. Está al final.»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(lezen→schrijven). Checklist = zichtbare steun; onthul het model pas na het schrijven (retrieval). Nakijkfocus: hay/estar, preposiciones, imperativo. Dit voedt de Tarea «Mi barrio».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muebles/barrio. Klik onthult; koppel elk woord aan een preposición-zin. Volledige set + audio op de digitale pagina (flip cards + memoria).</a:t>
            </a:r>
          </a:p>
          <a:p/>
          <a:p>
            <a:r>
              <a:t>— SOLUCIÓN (docent · presenter view) —</a:t>
            </a:r>
          </a:p>
          <a:p>
            <a:r>
              <a:t>Combineer met preposición: el sofá está al lado de la ventana · la panadería está enfrente del banco.</a:t>
            </a:r>
          </a:p>
          <a:p>
            <a:r>
              <a:t>Transporte: en autobús · en metro · en bici · a pie. Direcciones: a la derecha / izquierda · todo recto.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TALLER. Conectores de lugar = ideaal met een plano. Diptongo/hiato = spelling-leerlijn U7 (sombrero). Meteen toepassen in de descripción. Online: «diptongo o hiato» + «ordena las instrucciones».</a:t>
            </a:r>
          </a:p>
          <a:p/>
          <a:p>
            <a:r>
              <a:t>— SOLUCIÓN (docent · presenter view) —</a:t>
            </a:r>
          </a:p>
          <a:p>
            <a:r>
              <a:t>A: conectores de lugar structureren de rondleiding (todo recto → a la derecha → al final de).</a:t>
            </a:r>
          </a:p>
          <a:p>
            <a:r>
              <a:t>🔴 B: hiato = tilde op í/ú breekt de tweeklank: panadería, día, país. Diptongo = twee klinkers samen: puerta, bueno.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(identiteit in diversiteit, LPD 5). Onthul per kaart. Vergelijk plazas ES/MX/CO/PE. Bruggetje naar de Tarea Mi barrio. Online: «lugar ↔ país» (match).</a:t>
            </a:r>
          </a:p>
          <a:p/>
          <a:p>
            <a:r>
              <a:t>— SOLUCIÓN (docent · presenter view) —</a:t>
            </a:r>
          </a:p>
          <a:p>
            <a:r>
              <a:t>Actividad: schrijf 3 zinnen over een plein of buurt bij jou (¿qué hay? ¿dónde está? ¿qué haces ahí?).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camino (interactie). Klas vult vóór de klik. Daarna de rollenspel-scène (¿cómo se va a…?) in parejas.</a:t>
            </a:r>
          </a:p>
          <a:p/>
          <a:p>
            <a:r>
              <a:t>— SOLUCIÓN (docent · presenter view) —</a:t>
            </a:r>
          </a:p>
          <a:p>
            <a:r>
              <a:t>Imperativo (tú): -ar → -a (gira, cruza) · -er/-ir → -e (sube, sigue). ir → ve. Apócope: primer/tercer piso.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(communicatieve eindtaak). Afzender/ontvanger/doel/situatie/resultaat expliciet. Beoordeel met de rúbrica; opname + zelfevaluatie op de digitale pagina. Voeg een mini-encuesta + grafiekje toe (¿qué hay en el barrio?).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 vóór herlezen). Zonder waarschuwing door elkaar. Exit-ticket. Zwakke punten → terug via menu.</a:t>
            </a:r>
          </a:p>
          <a:p/>
          <a:p>
            <a:r>
              <a:t>— SOLUCIÓN (docent · presenter view) —</a:t>
            </a:r>
          </a:p>
          <a:p>
            <a:r>
              <a:t>Alles komt terug: hay/estar · preposiciones · estar + gerundio · imperativo · ordinales.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FEEDBACK/REPASO. Semáforo = zelfevaluatie. Repaso-drills online (20 spellen). Bruggetje: U8 «¿Qué has hecho?» — viajar y contar lo que has hecho (pretérito perfecto).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Alleen in het docentdeck. Volledige LPD-dekking en didactische route staan in het cursusdossier (bron.md).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3 · Urbanistas por un día — ⚖️ onderhandeling &amp; dilemma</a:t>
            </a:r>
          </a:p>
          <a:p>
            <a:r>
              <a:t>OPDRACHT: Kies wat jullie bouwen en verdedig waarom wél het park en niet de parking.</a:t>
            </a:r>
          </a:p>
          <a:p>
            <a:r>
              <a:t>DE REGEL: Twaalf punten, geen dertien. Elke keuze wordt verdedigd met «hay que…» of «es importante porque…» — een keuze zonder reden wordt geschrapt door de klas.</a:t>
            </a:r>
          </a:p>
          <a:p>
            <a:r>
              <a:t>VERLOOP: Mirad la manzana vacía y la lista de precios. | Negociad: doce puntos, ni uno más. | Colocad cada cosa en el plano y decid dónde está. | Defended vuestro barrio ante la clase. | La clase vota el barrio donde quiere vivir.</a:t>
            </a:r>
          </a:p>
          <a:p>
            <a:r>
              <a:t>SLEUTEL: Twaalf punten dwingen tot een echt dilemma: woningen (5) plus school (4) laat maar drie punten over. Elke groep moet iets opgeven en dat hardop verantwoorden.  ||  De sterkste verdediging gebruikt plaatsbepaling: niet «wij hebben een park» maar «el parque está entre las viviendas y la escuela, para que los niños no crucen la calle».  ||  Toets de verdediging, niet de wijk. Er is geen juiste wijk; er is wel een wijk die in het Spaans overtuigend uitgelegd wordt.</a:t>
            </a:r>
          </a:p>
          <a:p>
            <a:r>
              <a:t>NOTA: Sluit aan bij de Cultura-sectie over de plaza als hart van het barrio: de klas ontdekt zelf waarom die plek er is.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7 · La casa del futuro sin futuro — ✍️ creatieve beperking</a:t>
            </a:r>
          </a:p>
          <a:p>
            <a:r>
              <a:t>OPDRACHT: Beschrijf je huis van de toekomst enkel in het presente: en mi casa hay…</a:t>
            </a:r>
          </a:p>
          <a:p>
            <a:r>
              <a:t>DE REGEL: Alles in de tegenwoordige tijd, alsof je er nu rondloopt. Geen «zal», geen «gaat zijn». Wél «hay», «está», «tiene» en «se puede».</a:t>
            </a:r>
          </a:p>
          <a:p>
            <a:r>
              <a:t>VERLOOP: Piensa en tres cosas que hoy no existen. | Descríbelas como si estuvieran ahí ahora. | Di dónde está cada una. | Lee en voz alta. La clase busca un futuro escondido.</a:t>
            </a:r>
          </a:p>
          <a:p>
            <a:r>
              <a:t>SLEUTEL: De beperking bewaakt de leerplangrens: futuro simple hoort niet in C5. Door de toekomst in het presente te beschrijven, is de oefening tegelijk creatief en conform.  ||  «Voy a tener» is de sluipweg — grammaticaal kent de klas hem uit U5, maar hij breekt de opdracht. Laat hem herformuleren naar «en mi casa hay».  ||  De sterkste teksten gebruiken plaatsbepaling: een huis beschrijven zonder «encima», «debajo» of «al lado» wordt een opsomming.</a:t>
            </a:r>
          </a:p>
          <a:p>
            <a:r>
              <a:t>NOTA: Levert meteen materiaal voor de tarea final: wie zijn droomhuis kan beschrijven, beschrijft ook zijn echte barrio.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8 · El vecino ruidoso — 🎭 simulatie met beperking</a:t>
            </a:r>
          </a:p>
          <a:p>
            <a:r>
              <a:t>OPDRACHT: Schrijf beide briefjes. Allebei beleefd, elk met twee imperatieven.</a:t>
            </a:r>
          </a:p>
          <a:p>
            <a:r>
              <a:t>DE REGEL: Geen scheldwoorden, geen dreigementen, geen uitroeptekens. Elke nota bevat twee imperatieven én één zin die de ander gelijk geeft («entiendo que…»).</a:t>
            </a:r>
          </a:p>
          <a:p>
            <a:r>
              <a:t>VERLOOP: Leed la situación y elegid papel: vecino de arriba o de abajo. | Escribid vuestra nota. Educada, con dos imperativos. | Intercambiad las notas y contestad. | ¿Se resuelve? La clase decide qué nota funciona mejor.</a:t>
            </a:r>
          </a:p>
          <a:p>
            <a:r>
              <a:t>SLEUTEL: De twee imperatieven en de begripszin zijn objectief te tellen — dat maakt de beleefdheid meetbaar in plaats van een gevoel.  ||  De sterkste briefjes gebruiken een imperatief als áánbod («llámame», «dime»), niet alleen als eis («baja la música»). Wijs daarop bij de nabespreking.  ||  Beide buren hebben gelijk: de drummer oefent, de nachtwerker slaapt. Er is geen schuldige — de opdracht is een oplossing, geen vonnis.</a:t>
            </a:r>
          </a:p>
          <a:p>
            <a:r>
              <a:t>NOTA: Werkt uitstekend als échte briefwisseling: twee ronden heen en weer, en dan pas de klasbespreking.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6.xml"/><Relationship Id="rId5" Type="http://schemas.openxmlformats.org/officeDocument/2006/relationships/slide" Target="slide11.xml"/><Relationship Id="rId6" Type="http://schemas.openxmlformats.org/officeDocument/2006/relationships/slide" Target="slide12.xml"/><Relationship Id="rId7" Type="http://schemas.openxmlformats.org/officeDocument/2006/relationships/slide" Target="slide9.xml"/><Relationship Id="rId8" Type="http://schemas.openxmlformats.org/officeDocument/2006/relationships/slide" Target="slide16.xml"/><Relationship Id="rId9" Type="http://schemas.openxmlformats.org/officeDocument/2006/relationships/slide" Target="slide18.xml"/><Relationship Id="rId10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Relationship Id="rId4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Relationship Id="rId4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82036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7 · CARTAGENA · COLOMBIA 🇨🇴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800" b="1" i="0">
                <a:solidFill>
                  <a:srgbClr val="FFFFFF"/>
                </a:solidFill>
                <a:latin typeface="Bricolage Grotesque"/>
              </a:rPr>
              <a:t>Mi casa y mi barrio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4F4EE"/>
                </a:solidFill>
                <a:latin typeface="Inter"/>
              </a:rPr>
              <a:t>La casa, las habitaciones, dónde está todo y cómo llegar — en Cartagena, con Valen.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Bricolage Grotesque"/>
              </a:rPr>
              <a:t>¿Dónde vives? ¿Cómo es tu barrio?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Waar woon je? Hoe is jouw buurt?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val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anfitriona</a:t>
            </a:r>
          </a:p>
        </p:txBody>
      </p:sp>
      <p:pic>
        <p:nvPicPr>
          <p:cNvPr id="13" name="Picture 12" descr="luc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5" name="Picture 14" descr="die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«Mi barrio»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Hay / estar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er is · waar het staat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Preposiciones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encima de · al lado 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6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Estar + gerundio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estoy cocinando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11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El camino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imperativo: gira, sigue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12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anuncio de piso · barrio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9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 · la plaza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barrio · Cartagena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🏘️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Mi barrio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plano + visita guiada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18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casa y las habitaciones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woorden van thuis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casa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huis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piso · el apartamento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habitación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kamer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dormitorio · el salón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cocina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keuken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baño · el comedor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los muebles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meubels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mesa · la silla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sofá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bank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78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cama · el armario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puerta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deur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78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ventana · la pared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escalera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trap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78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ascensor · el pasillo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terraza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terras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78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jardín 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Preposiciones de lugar: </a:t>
            </a:r>
            <a:r>
              <a:rPr sz="1300" b="1" i="0">
                <a:solidFill>
                  <a:srgbClr val="14B8A6"/>
                </a:solidFill>
                <a:latin typeface="Inter"/>
              </a:rPr>
              <a:t>encima 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14B8A6"/>
                </a:solidFill>
                <a:latin typeface="Inter"/>
              </a:rPr>
              <a:t>al lado 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14B8A6"/>
                </a:solidFill>
                <a:latin typeface="Inter"/>
              </a:rPr>
              <a:t>entre · debajo de · enfrente de · dentro de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Hay vs. estar: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Hay un sofá (nieuw) · El sofá está al lado (bekend + plaats).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Nooit «hay el/la…». De casa = habitaciones (kamers) + muebles (meubels).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Hay / estar — ¿qué hay y dónde está?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de plaats. Hay = nieuw · estar = waar iets bekends staat.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20242E"/>
                </a:solidFill>
                <a:latin typeface="Bricolage Grotesque"/>
              </a:rPr>
              <a:t>En mi barrio </a:t>
            </a:r>
            <a:r>
              <a:rPr sz="2200" b="1" i="0">
                <a:solidFill>
                  <a:srgbClr val="1E9E74"/>
                </a:solidFill>
                <a:latin typeface="Bricolage Grotesque"/>
              </a:rPr>
              <a:t>hay </a:t>
            </a:r>
            <a:r>
              <a:rPr sz="2200" b="1" i="0">
                <a:solidFill>
                  <a:srgbClr val="20242E"/>
                </a:solidFill>
                <a:latin typeface="Bricolage Grotesque"/>
              </a:rPr>
              <a:t>una plaza,</a:t>
            </a:r>
            <a:r>
              <a:rPr sz="2200" b="1" i="0">
                <a:solidFill>
                  <a:srgbClr val="20242E"/>
                </a:solidFill>
                <a:latin typeface="Bricolage Grotesque"/>
              </a:rPr>
              <a:t> y la iglesia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está </a:t>
            </a:r>
            <a:r>
              <a:rPr sz="2200" b="1" i="0">
                <a:solidFill>
                  <a:srgbClr val="14B8A6"/>
                </a:solidFill>
                <a:latin typeface="Bricolage Grotesque"/>
              </a:rPr>
              <a:t>enfrente </a:t>
            </a:r>
            <a:r>
              <a:rPr sz="2200" b="1" i="0">
                <a:solidFill>
                  <a:srgbClr val="20242E"/>
                </a:solidFill>
                <a:latin typeface="Bricolage Grotesque"/>
              </a:rPr>
              <a:t>de la plaza.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¿hay o estar? — la decisión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188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A7317"/>
                </a:solidFill>
                <a:latin typeface="Inter"/>
              </a:rPr>
              <a:t>hay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3080" y="3291840"/>
            <a:ext cx="2194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+ un/una/número (nieuw)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188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A7317"/>
                </a:solidFill>
                <a:latin typeface="Inter"/>
              </a:rPr>
              <a:t>hay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3080" y="3968496"/>
            <a:ext cx="2194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geen el/la: «hay un parque»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188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A7317"/>
                </a:solidFill>
                <a:latin typeface="Inter"/>
              </a:rPr>
              <a:t>está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4645152"/>
            <a:ext cx="2194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el/la + singular + plaats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188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A7317"/>
                </a:solidFill>
                <a:latin typeface="Inter"/>
              </a:rPr>
              <a:t>están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23560" y="3291840"/>
            <a:ext cx="2194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los/las + plural + plaats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188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A7317"/>
                </a:solidFill>
                <a:latin typeface="Inter"/>
              </a:rPr>
              <a:t>está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3560" y="3968496"/>
            <a:ext cx="2194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«La plaza está en el centro»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188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A7317"/>
                </a:solidFill>
                <a:latin typeface="Inter"/>
              </a:rPr>
              <a:t>están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23560" y="4645152"/>
            <a:ext cx="2194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«Los baños están arriba»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1208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hay = er is/zijn (nieuw, geen el/la) · está/están = waar iets bekends staat (met el/la + plaats).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08406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¿hay, está o están?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zin → de juiste vorm verschijnt. Nieuw → hay · bekend + plaats → está/están.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En el salón ___ un sofá.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hay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un sofá = nieuw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sofá ___ al lado.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está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bekend + plaats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___ tres habitaciones.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hay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número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Los baños ___ arriba.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están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mv. bekend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___ una plaza cerca.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hay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una = nieuw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farmacia ___ en la esquina.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está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bekend + plaats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hay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iets nieuws (un/una/número)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está/están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waar iets bekends (el/la) staat. Meervoud → están.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¿Dónde está? — preposiciones de lugar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de betekenis verschijnt. de + el = del.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El gato está… </a:t>
            </a:r>
            <a:r>
              <a:rPr sz="1400" b="1" i="0">
                <a:solidFill>
                  <a:srgbClr val="14B8A6"/>
                </a:solidFill>
                <a:latin typeface="Inter"/>
              </a:rPr>
              <a:t>encima de </a:t>
            </a:r>
            <a:r>
              <a:rPr sz="1400" b="1" i="0">
                <a:solidFill>
                  <a:srgbClr val="14B8A6"/>
                </a:solidFill>
                <a:latin typeface="Inter"/>
              </a:rPr>
              <a:t>· debajo de · al lado de · entre… </a:t>
            </a:r>
            <a:r>
              <a:rPr sz="1400" b="0" i="0">
                <a:solidFill>
                  <a:srgbClr val="20242E"/>
                </a:solidFill>
                <a:latin typeface="Inter"/>
              </a:rPr>
              <a:t>  (de + el = del)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11680"/>
            <a:ext cx="3566160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121408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encima 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514600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→ boven op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011680"/>
            <a:ext cx="3566160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2121408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debajo 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514600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→ onder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2011680"/>
            <a:ext cx="3566160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2121408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al lado 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2514600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→ naast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081528"/>
            <a:ext cx="3566160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191256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entre A y 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584448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→ tussen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081528"/>
            <a:ext cx="3566160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0" y="3191256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delante 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3584448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→ vóór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3081528"/>
            <a:ext cx="3566160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0" y="3191256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detrás 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3584448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→ achter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151376"/>
            <a:ext cx="3566160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261104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dentro 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654296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→ binnen 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4151376"/>
            <a:ext cx="3566160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97680" y="4261104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enfrente 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4654296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→ tegenover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0" y="4151376"/>
            <a:ext cx="3566160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20" y="4261104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cerca 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6720" y="4654296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→ dichtbij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3949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de + el = del (al lado del parque). Bij «entre» géén «de»: entre la mesa y la silla. Vorm: está (ev.) / están (mv.).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52669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preposición?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zin → de juiste preposición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lámpara está ___ la mesa (boven).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encima 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gato está ___ la cama (onder).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debajo 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banco está ___ la farmacia (naast).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al lado 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cine está ___ el banco y el parque.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entre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jardín está ___ la casa (achter).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detrás 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museo está ___ la iglesia (tegenover).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enfrente de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Tegenstellingen: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encima ↔ debajo · delante ↔ detrás · cerca ↔ lejos · dentro ↔ fuera.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APLICACIÓN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plano del barrio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un edificio → dónde está. Aprende a decir la posición.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755648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🥖 La panadería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está en la esquina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45920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1755648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🏦 El banco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03120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está al lado de la farmacia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724912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83464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🎬 El cine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182112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está entre el banco y el parque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724912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5080" y="283464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🏛️ El museo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182112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está enfrente de la iglesia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803904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913632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🌳 El parque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261104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está al final de la calle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803904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55080" y="3913632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⛲ La plaza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4261104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está en el centro del barrio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07492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B7860B"/>
                </a:solidFill>
                <a:latin typeface="Inter"/>
              </a:rPr>
              <a:t>🟡 Ordinales + apócope: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primero → el primer piso · tercero → el tercer piso (m. sing.).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57784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Voor het adres: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la planta baja · el primer piso · el segundo piso… (calle Real, 3º).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4498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Se alquila piso (anuncio)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al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20240" y="1828800"/>
            <a:ext cx="347472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«Bonito piso en el centro. Tercer piso con ascensor. Dos habitaciones, salón, cocina y baño. Terraza con vistas a la plaza. Cerca de la panadería y del parque. 600 € al mes.»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¿En qué piso está?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Tercer piso (con ascensor)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¿Cuántas habitaciones?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Dos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hay en la terraza?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Vistas a la plaza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 cuesta al mes?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600 €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scannen naar habitaciones, piso y precio — niet élk woord begrijpen.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barrio de Valen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un lugar → dónde está.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🔊  La plaza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¿Dónde?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enfrente de la casa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Detalle: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con palmeras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🔊  La panadería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¿Dónde?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al lado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Detalle: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pan fresco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🔊  El parque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¿Dónde?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cerca del mar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Detalle: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para pasear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🔊  El supermercado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¿Dónde?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en la esquina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Detalle: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para la compra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«Enfrente de mi casa hay una plaza. La panadería está al lado y el parque está cerca del mar.»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Daarna spreken: leerling beschrijft zelf zijn barrio.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Estar + gerundio — ¿qué pasa ahora?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kolomkop → de vormen. Fórmula: estar (presente) + -ando/-iendo.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La fórmula: </a:t>
            </a:r>
            <a:r>
              <a:rPr sz="1400" b="1" i="0">
                <a:solidFill>
                  <a:srgbClr val="EA7317"/>
                </a:solidFill>
                <a:latin typeface="Inter"/>
              </a:rPr>
              <a:t>estar (estoy, estás, está…) </a:t>
            </a:r>
            <a:r>
              <a:rPr sz="1400" b="1" i="0">
                <a:solidFill>
                  <a:srgbClr val="1E9E74"/>
                </a:solidFill>
                <a:latin typeface="Inter"/>
              </a:rPr>
              <a:t>+ gerundio </a:t>
            </a:r>
            <a:r>
              <a:rPr sz="1400" b="0" i="0">
                <a:solidFill>
                  <a:srgbClr val="20242E"/>
                </a:solidFill>
                <a:latin typeface="Inter"/>
              </a:rPr>
              <a:t>   →   Estoy cocinando en la cocina.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3040" y="201168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212140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45059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estoy …ndo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201168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212140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45059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estás …ndo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01168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212140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45059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está …ndo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24612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335584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368503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estamos …ndo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324612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0" y="335584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368503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estáis …ndo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324612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335584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368503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están …ndo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1206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-ar → -ando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(cocinar → cocinando) · -er/-ir → -iendo (comer → comiendo, vivir → viviendo). Onregelmatig: leer → leyendo, dormir → durmiendo.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9926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¡Explica el camino!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Speel de scène.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Preguntar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¿Cómo se va a…?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Salir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Sal de casa.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Seguir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Sigue todo recto.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Girar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Gira a la derecha.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Cruzar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Cruza el semáforo.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Llegar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Está a la izquierda.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hoofd, andere ruta.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 en de digitale pagina.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51960"/>
            <a:ext cx="4745736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«Mensaje de voz: explica el camino»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«Perdona, ¿cómo se va a la plaza? — Sigue todo recto, gira a la derecha y cruza el semáforo. Está al final.»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barrio (descripción)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Beschrijf je buurt.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 sobre tu barrio: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¿qué hay? (hay una plaza…)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¿dónde está? (está al lado de…)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2 preposiciones de lugar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¿cómo se llega? (imperativo)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mueble / edificio típico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¿qué está pasando ahora?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«En mi barrio hay una plaza. La panadería está al lado y el parque está enfrente. Para llegar, sigue todo recto. Ahora la gente está paseando.»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22199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 · BARRIO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Muebles y edificios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de vertaling verschijnt.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sofá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bank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cama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bed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armario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kast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nevera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koelkast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panadería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bakkerij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farmacia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apotheek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banco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bank (geld)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parque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park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estación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station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autobús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bus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metro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8096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metro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bicicleta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fiets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Combineer met preposición: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el sofá está al lado de la ventana · la panadería está enfrente del banco.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Transporte: en autobús · en metro · en bici · a pie. Direcciones: a la derecha / izquierda · todo recto.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Conectores de lugar + ortografía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Gereedschap voor de ruta en spelling.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A · conectores de lugar: todo recto · a la derecha · al final de…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Sigue ___ (rechtdoor)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78308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todo recto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Gira ___ (rechts)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244144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a la derecha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plaza está ___ (aan het eind)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309981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al final de la calle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museo está ___ (tegenover)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375818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enfrente 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B · ortografía: ¿diptongo o hiato?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panaderia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panadería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hiato: tilde op 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puerta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puerta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diptongo (ue)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pais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país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hiato: tilde op 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0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día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hiato: tilde op í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conectores de lugar structureren de rondleiding (todo recto → a la derecha → al final de).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hiato = tilde op í/ú breekt de tweeklank: panadería, día, país. Diptongo = twee klinkers samen: puerta, bueno.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plaza y el barrio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 verschijnt. La plaza es el corazón del barrio.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🏛️ La plaza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centro del barrio: hay bancos, árboles y una iglesia. Por la tarde la gente está paseando y charlando. En Cartagena, la Plaza de los Coches es famosa.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plaza = de ontmoetingsplek.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🏘️ Casas de colores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Cartagena tiene un casco histórico con casas de colores y balcones con flores. Las murallas protegen la ciudad frente al mar Caribe. Barrio Getsemaní = arte y color.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Color, música y arte.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🌎 ¿Cómo se vive?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España: un piso. En América: un apartamento. Con jardín: chalet (ES) o casa (AM). En el adres: la planta baja, el primer piso…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piso 🇪🇸 ↔ apartamento 🌎.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schrijf 3 zinnen over een plein of buurt bij jou (¿qué hay? ¿dónde está? ¿qué haces ahí?).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camino: completa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Wat past? Klik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3832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todo recto. (seguir)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1600200"/>
            <a:ext cx="18288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Sigue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3832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a la derecha. (girar)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2478024"/>
            <a:ext cx="18288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Gira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3832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la calle. (cruzar)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3355848"/>
            <a:ext cx="18288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Cruza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3832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Vivo en el ___ piso. (1º)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1600200"/>
            <a:ext cx="18288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primer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3832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baño está ___ pasillo (aan 't eind).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8360" y="2478024"/>
            <a:ext cx="18288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al final del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3832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farmacia está ___ (op de hoek).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38360" y="3355848"/>
            <a:ext cx="18288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en la esquina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Imperativo (tú):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-ar → -a (gira, cruza) · -er/-ir → -e (sube, sigue). ir → ve. Apócope: primer/tercer piso.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🏘️ Tarea final · Mi barrio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Maak el plano de tu barrio y da una visita guiada — di qué hay, dónde está y cómo llegar.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Dibuja el plano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554480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calles, plaza, tiendas, tu casa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5 frases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121408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qué hay + dónde está (preposiciones)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el camino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88336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tu casa a la plaza (imperativo)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Da la visita guiada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255264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pareja (of neem audio op)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Responde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822192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«¿Dónde está la farmacia?»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5+ lugares con nombre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hay + está/están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preposiciones de lugar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el camino (imperativo)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(de gids) · ontvanger een bezoeker · doel je buurt voorstellen &amp; de weg uitleggen · situatie un paseo por el barrio · resultaat: plano + gespeelde rondleiding.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el salón ___ un sofá.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1600200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hay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sofá ___ al lado.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2313432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está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estar+ger, yo → cocinar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3026664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estoy cocinando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gira, ¿infinitivo?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3739896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girar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___ piso (1º)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1600200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primer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lámpara está ___ la mesa (boven).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313432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encima de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Los baños ___ arriba.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026664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están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sigue, ¿infinitivo?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3739896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seguir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hay/estar · preposiciones · estar + gerundio · imperativo · ordinales.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(20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Hay / estar: hay + un/una/número (nieuw) · el/la … está/están + plaats (bekend). Nooit «hay el/la».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Preposiciones: encima/debajo/al lado/entre/delante/detrás/dentro/enfrente de (de + el = del).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Estar + gerundio: estoy/estás/está… + -ando (-ar) / -iendo (-er/-ir): «Estoy cocinando».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Imperativo (el camino): gira · sigue · cruza · toma · ve (ir). -ar→-a · -er/-ir→-e.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niet «hay el parque» · de+el=del · estoy comiendo · el primer piso · hiato panadería.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 casa beschrijven (habitaciones/muebles)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hay/estar juist gebruiken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preposiciones de lugar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estar + gerundio (nu)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camino (imperativo)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TEACHER_NOTES · U7 «Mi casa y mi barrio»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Timing (50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Menu 2' · hay/estar 10' · preposiciones 10' · estar+gerundio 8' · imperativo/camino 8' · lectura/escucha 6' · cultura 3' · Tarea-briefing 3'.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Kernvalstrikken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Niet «hay el parque» (hay ≠ estar) · de+el=del · estoy comi-E-ndo · el primer/tercer piso (apócope, m. sing.) · hiato panadería/día/país.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28416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Differentiatie (zij-instromers)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Alles start vanaf nul. Sterker: hele rondleiding + eigen plano + preguntas del visitante. Zwakker: hay/estar-kaart en preposición-ficha langer open, imperativo-frames houden.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52544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Digitaal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91456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20 spellen + flip cards + klikbare kaart + recorder (Hablar) + Lectura (anuncio + barrio) op de página digital. QR's in het boek → juiste anker. Conjugador = aparte tool.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76672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9824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Evaluatie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15584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Tarea «Mi barrio» met rúbrica (4 criteria). LPD 3·4·7·8 + 5 (cultura) + 1·2 (receptief: lezen/luisteren).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RETO 3 · ONDERHANDELING &amp; DILEMMA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Urbanistas por un día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👨‍👩‍👧 En grupos</a:t>
            </a:r>
          </a:p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± 18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157355"/>
                </a:solidFill>
                <a:latin typeface="Bricolage Grotesque"/>
              </a:rPr>
              <a:t>Una manzana vacía, doce puntos y un barrio que construir.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Een leeg bouwblok, twaalf punten en een wijk om te bouwen.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Twaalf punten, geen dertien. Elke keuze wordt verdedigd met «hay que…» of «es importante porque…» — een keuze zonder reden wordt geschrapt door de klas.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Precios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un parque (4) · un parking (3) · un supermercado (3) · una escuela (4)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Precios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un centro de salud (4) · una cancha de fútbol (2) · una biblioteca (3) · un mercado (3)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Precios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viviendas (5) · una parada de bus (1) · una plaza con bancos (2) · un café (1)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Nosotros ponemos … porque …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Hay que tener … cerca de …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No hace falta …, ya hay uno en …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 importante porque la gente …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El … está entre … y …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dilema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Sin viviendas no vive nadie en el barrio.</a:t>
            </a:r>
          </a:p>
        </p:txBody>
      </p:sp>
      <p:sp>
        <p:nvSpPr>
          <p:cNvPr id="29" name="Tarjeta 9"/>
          <p:cNvSpPr/>
          <p:nvPr/>
        </p:nvSpPr>
        <p:spPr>
          <a:xfrm>
            <a:off x="3312414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rjetaTxt 9"/>
          <p:cNvSpPr txBox="1"/>
          <p:nvPr/>
        </p:nvSpPr>
        <p:spPr>
          <a:xfrm>
            <a:off x="3403854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dilema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Sin parking los coches ocupan la plaza.</a:t>
            </a:r>
          </a:p>
        </p:txBody>
      </p:sp>
      <p:sp>
        <p:nvSpPr>
          <p:cNvPr id="31" name="Tarjeta 10"/>
          <p:cNvSpPr/>
          <p:nvPr/>
        </p:nvSpPr>
        <p:spPr>
          <a:xfrm>
            <a:off x="6167628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10"/>
          <p:cNvSpPr txBox="1"/>
          <p:nvPr/>
        </p:nvSpPr>
        <p:spPr>
          <a:xfrm>
            <a:off x="6259068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dilema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La escuela y el centro de salud juntos cuestan ocho puntos: casi todo.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RETO 7 · CREATIEVE BEPERKING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La casa del futuro sin futuro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👤 Solo</a:t>
            </a:r>
          </a:p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± 12 min · ★★☆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157355"/>
                </a:solidFill>
                <a:latin typeface="Bricolage Grotesque"/>
              </a:rPr>
              <a:t>Tu casa del año 2100. Y ni un solo verbo en futuro.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Jouw huis van het jaar 2100. En geen enkel werkwoord in de toekomende tijd.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Alles in de tegenwoordige tijd, alsof je er nu rondloopt. Geen «zal», geen «gaat zijn». Wél «hay», «está», «tiene» en «se puede».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Arranque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En mi casa hay …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Arranque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En el salón está …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Arranque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Desde la ventana se ve …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Arranque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Debajo de la casa hay …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Arranque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Lo mejor es que …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ejemplo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una cocina que cocina sola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ejemplo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un jardín en el techo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ejemplo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una habitación que cambia de color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ejemplo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un ascensor para la bici</a:t>
            </a:r>
          </a:p>
        </p:txBody>
      </p:sp>
      <p:sp>
        <p:nvSpPr>
          <p:cNvPr id="29" name="Tarjeta 9"/>
          <p:cNvSpPr/>
          <p:nvPr/>
        </p:nvSpPr>
        <p:spPr>
          <a:xfrm>
            <a:off x="3312414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rjetaTxt 9"/>
          <p:cNvSpPr txBox="1"/>
          <p:nvPr/>
        </p:nvSpPr>
        <p:spPr>
          <a:xfrm>
            <a:off x="3403854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PROHIBIDO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será</a:t>
            </a:r>
          </a:p>
        </p:txBody>
      </p:sp>
      <p:sp>
        <p:nvSpPr>
          <p:cNvPr id="31" name="Tarjeta 10"/>
          <p:cNvSpPr/>
          <p:nvPr/>
        </p:nvSpPr>
        <p:spPr>
          <a:xfrm>
            <a:off x="6167628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10"/>
          <p:cNvSpPr txBox="1"/>
          <p:nvPr/>
        </p:nvSpPr>
        <p:spPr>
          <a:xfrm>
            <a:off x="6259068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PROHIBIDO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habrá</a:t>
            </a:r>
          </a:p>
        </p:txBody>
      </p:sp>
      <p:sp>
        <p:nvSpPr>
          <p:cNvPr id="33" name="Tarjeta 11"/>
          <p:cNvSpPr/>
          <p:nvPr/>
        </p:nvSpPr>
        <p:spPr>
          <a:xfrm>
            <a:off x="9022842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arjetaTxt 11"/>
          <p:cNvSpPr txBox="1"/>
          <p:nvPr/>
        </p:nvSpPr>
        <p:spPr>
          <a:xfrm>
            <a:off x="9114282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PROHIBIDO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tendré</a:t>
            </a:r>
          </a:p>
        </p:txBody>
      </p:sp>
      <p:sp>
        <p:nvSpPr>
          <p:cNvPr id="35" name="Tarjeta 12"/>
          <p:cNvSpPr/>
          <p:nvPr/>
        </p:nvSpPr>
        <p:spPr>
          <a:xfrm>
            <a:off x="457200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arjetaTxt 12"/>
          <p:cNvSpPr txBox="1"/>
          <p:nvPr/>
        </p:nvSpPr>
        <p:spPr>
          <a:xfrm>
            <a:off x="548640" y="5804154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PROHIBIDO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voy a tener</a:t>
            </a:r>
          </a:p>
        </p:txBody>
      </p:sp>
      <p:sp>
        <p:nvSpPr>
          <p:cNvPr id="37" name="Tarjeta 13"/>
          <p:cNvSpPr/>
          <p:nvPr/>
        </p:nvSpPr>
        <p:spPr>
          <a:xfrm>
            <a:off x="3312414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arjetaTxt 13"/>
          <p:cNvSpPr txBox="1"/>
          <p:nvPr/>
        </p:nvSpPr>
        <p:spPr>
          <a:xfrm>
            <a:off x="3403854" y="5804154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PROHIBIDO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estará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RETO 8 · SIMULATIE MET BEPERKING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El vecino ruidoso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👥 En parejas</a:t>
            </a:r>
          </a:p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± 15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157355"/>
                </a:solidFill>
                <a:latin typeface="Bricolage Grotesque"/>
              </a:rPr>
              <a:t>Una nota bajo la puerta. Y la respuesta, también por debajo.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Een briefje onder de deur. En het antwoord, ook onder de deur.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Geen scheldwoorden, geen dreigementen, geen uitroeptekens. Elke nota bevat twee imperatieven én één zin die de ander gelijk geeft («entiendo que…»).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vecino de arriba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Ensaya la batería a las once de la noche.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vecino de abajo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Trabaja de noche y duerme de día. Le despierta todo.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imperativo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baja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imperativo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pon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imperativo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avisa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imperativo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llama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imperativo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espera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imperativo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ven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imperativo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dime</a:t>
            </a:r>
          </a:p>
        </p:txBody>
      </p:sp>
      <p:sp>
        <p:nvSpPr>
          <p:cNvPr id="29" name="Tarjeta 9"/>
          <p:cNvSpPr/>
          <p:nvPr/>
        </p:nvSpPr>
        <p:spPr>
          <a:xfrm>
            <a:off x="3312414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rjetaTxt 9"/>
          <p:cNvSpPr txBox="1"/>
          <p:nvPr/>
        </p:nvSpPr>
        <p:spPr>
          <a:xfrm>
            <a:off x="3403854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imperativo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perdona</a:t>
            </a:r>
          </a:p>
        </p:txBody>
      </p:sp>
      <p:sp>
        <p:nvSpPr>
          <p:cNvPr id="31" name="Tarjeta 10"/>
          <p:cNvSpPr/>
          <p:nvPr/>
        </p:nvSpPr>
        <p:spPr>
          <a:xfrm>
            <a:off x="6167628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10"/>
          <p:cNvSpPr txBox="1"/>
          <p:nvPr/>
        </p:nvSpPr>
        <p:spPr>
          <a:xfrm>
            <a:off x="6259068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cortesía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Entiendo que …</a:t>
            </a:r>
          </a:p>
        </p:txBody>
      </p:sp>
      <p:sp>
        <p:nvSpPr>
          <p:cNvPr id="33" name="Tarjeta 11"/>
          <p:cNvSpPr/>
          <p:nvPr/>
        </p:nvSpPr>
        <p:spPr>
          <a:xfrm>
            <a:off x="9022842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arjetaTxt 11"/>
          <p:cNvSpPr txBox="1"/>
          <p:nvPr/>
        </p:nvSpPr>
        <p:spPr>
          <a:xfrm>
            <a:off x="9114282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cortesía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No es nada personal, pero …</a:t>
            </a:r>
          </a:p>
        </p:txBody>
      </p:sp>
      <p:sp>
        <p:nvSpPr>
          <p:cNvPr id="35" name="Tarjeta 12"/>
          <p:cNvSpPr/>
          <p:nvPr/>
        </p:nvSpPr>
        <p:spPr>
          <a:xfrm>
            <a:off x="457200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arjetaTxt 12"/>
          <p:cNvSpPr txBox="1"/>
          <p:nvPr/>
        </p:nvSpPr>
        <p:spPr>
          <a:xfrm>
            <a:off x="548640" y="5804154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cortesía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¿Te parece bien si …?</a:t>
            </a:r>
          </a:p>
        </p:txBody>
      </p:sp>
      <p:sp>
        <p:nvSpPr>
          <p:cNvPr id="37" name="Tarjeta 13"/>
          <p:cNvSpPr/>
          <p:nvPr/>
        </p:nvSpPr>
        <p:spPr>
          <a:xfrm>
            <a:off x="3312414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arjetaTxt 13"/>
          <p:cNvSpPr txBox="1"/>
          <p:nvPr/>
        </p:nvSpPr>
        <p:spPr>
          <a:xfrm>
            <a:off x="3403854" y="5804154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cortesía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Gracias por entenderlo.</a:t>
            </a:r>
          </a:p>
        </p:txBody>
      </p:sp>
      <p:sp>
        <p:nvSpPr>
          <p:cNvPr id="39" name="Tarjeta 14"/>
          <p:cNvSpPr/>
          <p:nvPr/>
        </p:nvSpPr>
        <p:spPr>
          <a:xfrm>
            <a:off x="6167628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arjetaTxt 14"/>
          <p:cNvSpPr txBox="1"/>
          <p:nvPr/>
        </p:nvSpPr>
        <p:spPr>
          <a:xfrm>
            <a:off x="6259068" y="5804154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cortesía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Si te molesta algo mío, dímelo.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