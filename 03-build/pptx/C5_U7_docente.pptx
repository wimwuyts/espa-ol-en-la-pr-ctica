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7 = Cartagena (Colombia): bajamos por el Caribe. Gastvrouw = Valen. Doel: la casa/habitaciones/muebles benoemen, hay/estar (er is/waar het staat), preposiciones de lugar, estar + gerundio (nu bezig), imperativo (de weg wijzen) en ordinales + apócope (el primer piso). Kernvalstrik: niet «hay el parque»; de+el=del; estoy comiendo; el primer piso.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(hay/estar) → §2 (preposiciones) = het hart van de unit. Kruisverwijzing print/HTML: «oefen online — 20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per cluster (casa/habitaciones/muebles). Laat raden zónder de NL-gloss. Online: flip cards + Memoria de la casa + Memoria del barrio + ¿hay o está?</a:t>
            </a:r>
          </a:p>
          <a:p/>
          <a:p>
            <a:r>
              <a:t>— SOLUCIÓN (docent · presenter view) —</a:t>
            </a:r>
          </a:p>
          <a:p>
            <a:r>
              <a:t>🔴 Hay vs. estar: Hay un sofá (nieuw) · El sofá está al lado (bekend + plaats).</a:t>
            </a:r>
          </a:p>
          <a:p>
            <a:r>
              <a:t>Nooit «hay el/la…». De casa = habitaciones (kamers) + muebles (meubels).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het contrast fysiek zichtbaar. Truc: un/una/número → hay; el/la + plaats → está/están. Online: «¿hay o está?» (classify) + «señala en el plano».</a:t>
            </a:r>
          </a:p>
          <a:p/>
          <a:p>
            <a:r>
              <a:t>— SOLUCIÓN (docent · presenter view) —</a:t>
            </a:r>
          </a:p>
          <a:p>
            <a:r>
              <a:t>Regla: hay = er is/zijn (nieuw, geen el/la) · está/están = waar iets bekends staat (met el/la + plaats).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Online: «¿hay o está?» (classify).</a:t>
            </a:r>
          </a:p>
          <a:p/>
          <a:p>
            <a:r>
              <a:t>— SOLUCIÓN (docent · presenter view) —</a:t>
            </a:r>
          </a:p>
          <a:p>
            <a:r>
              <a:t>hay = iets nieuws (un/una/número) · está/están = waar iets bekends (el/la) staat. Meervoud → están.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preposiciones. Onthul per kaart; laat de betekenis voorspellen met een echt voorwerp in de klas. Online: «preposición de lugar» (cloze) + «señala en la habitación».</a:t>
            </a:r>
          </a:p>
          <a:p/>
          <a:p>
            <a:r>
              <a:t>— SOLUCIÓN (docent · presenter view) —</a:t>
            </a:r>
          </a:p>
          <a:p>
            <a:r>
              <a:t>🔴 de + el = del (al lado del parque). Bij «entre» géén «de»: entre la mesa y la silla. Vorm: está (ev.) / están (mv.).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preposiciones (retrieval). Klas roept de preposición vóór de klik. Daarna een info-gap in parejas (¿dónde está…?).</a:t>
            </a:r>
          </a:p>
          <a:p/>
          <a:p>
            <a:r>
              <a:t>— SOLUCIÓN (docent · presenter view) —</a:t>
            </a:r>
          </a:p>
          <a:p>
            <a:r>
              <a:t>Tegenstellingen: encima ↔ debajo · delante ↔ detrás · cerca ↔ lejos · dentro ↔ fuera.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APLICACIÓN plano + ordinales. Onthul per gebouw; laat leerlingen de positie beschrijven. Apócope: primer/tercer + m. sing. Online: «señala en el plano del barrio» + ordinales-quiz.</a:t>
            </a:r>
          </a:p>
          <a:p/>
          <a:p>
            <a:r>
              <a:t>— SOLUCIÓN (docent · presenter view) —</a:t>
            </a:r>
          </a:p>
          <a:p>
            <a:r>
              <a:t>Voor het adres: la planta baja · el primer piso · el segundo piso… (calle Real, 3º).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 (waarover?), dan scannen. Onthul de antwoorden pas na de klas. Daarna: leerlingen beschrijven zelf een woning (transfer → Tarea Mi barrio).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habitaciones, piso y precio — niet élk woord begrijpen.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Valens beschrijving voor (of TTS). Klas noteert ¿qué hay? + ¿dónde?; onthul per klik. Koppel meteen aan hun eigen barrio.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«Enfrente de mi casa hay una plaza. La panadería está al lado y el parque está cerca del mar.» …</a:t>
            </a:r>
          </a:p>
          <a:p>
            <a:r>
              <a:t>Daarna spreken: leerling beschrijft zelf zijn barrio.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estar + gerundio. Onthul per kaart; laat de vorm voorspellen. Twee delen: estar (vervoegd) + gerundio (onveranderd). Online: «completa: estar + gerundio» (cloze).</a:t>
            </a:r>
          </a:p>
          <a:p/>
          <a:p>
            <a:r>
              <a:t>— SOLUCIÓN (docent · presenter view) —</a:t>
            </a:r>
          </a:p>
          <a:p>
            <a:r>
              <a:t>🔴 -ar → -ando (cocinar → cocinando) · -er/-ir → -iendo (comer → comiendo, vivir → viviendo). Onregelmatig: leer → leyendo, dormir → durmiendo.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preguntar→seguir→girar→llegar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«Perdona, ¿cómo se va a la plaza? — Sigue todo recto, gira a la derecha y cruza el semáforo. Está al final.»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hay/estar, preposiciones, imperativo. Dit voedt de Tarea «Mi barrio».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muebles/barrio. Klik onthult; koppel elk woord aan een preposición-zin. Volledige set + audio op de digitale pagina (flip cards + memoria).</a:t>
            </a:r>
          </a:p>
          <a:p/>
          <a:p>
            <a:r>
              <a:t>— SOLUCIÓN (docent · presenter view) —</a:t>
            </a:r>
          </a:p>
          <a:p>
            <a:r>
              <a:t>Combineer met preposición: el sofá está al lado de la ventana · la panadería está enfrente del banco.</a:t>
            </a:r>
          </a:p>
          <a:p>
            <a:r>
              <a:t>Transporte: en autobús · en metro · en bici · a pie. Direcciones: a la derecha / izquierda · todo recto.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Conectores de lugar = ideaal met een plano. Diptongo/hiato = spelling-leerlijn U7 (sombrero). Meteen toepassen in de descripción. Online: «diptongo o hiato» + «ordena las instrucciones».</a:t>
            </a:r>
          </a:p>
          <a:p/>
          <a:p>
            <a:r>
              <a:t>— SOLUCIÓN (docent · presenter view) —</a:t>
            </a:r>
          </a:p>
          <a:p>
            <a:r>
              <a:t>A: conectores de lugar structureren de rondleiding (todo recto → a la derecha → al final de).</a:t>
            </a:r>
          </a:p>
          <a:p>
            <a:r>
              <a:t>🔴 B: hiato = tilde op í/ú breekt de tweeklank: panadería, día, país. Diptongo = twee klinkers samen: puerta, bueno.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Vergelijk plazas ES/MX/CO/PE. Bruggetje naar de Tarea Mi barrio. Online: «lugar ↔ país» (match).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een plein of buurt bij jou (¿qué hay? ¿dónde está? ¿qué haces ahí?).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camino (interactie). Klas vult vóór de klik. Daarna de rollenspel-scène (¿cómo se va a…?) in parejas.</a:t>
            </a:r>
          </a:p>
          <a:p/>
          <a:p>
            <a:r>
              <a:t>— SOLUCIÓN (docent · presenter view) —</a:t>
            </a:r>
          </a:p>
          <a:p>
            <a:r>
              <a:t>Imperativo (tú): -ar → -a (gira, cruza) · -er/-ir → -e (sube, sigue). ir → ve. Apócope: primer/tercer piso.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(¿qué hay en el barrio?).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hay/estar · preposiciones · estar + gerundio · imperativo · ordinales.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spellen). Bruggetje: U8 «¿Qué has hecho?» — viajar y contar lo que has hecho (pretérito perfecto).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82036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7 · CARTAGENA · COLOMBIA 🇨🇴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Bricolage Grotesque"/>
              </a:rPr>
              <a:t>Mi casa y mi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casa, las habitaciones, dónde está todo y cómo llegar — en Cartagena, con Valen.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Bricolage Grotesque"/>
              </a:rPr>
              <a:t>¿Dónde vives? ¿Cómo es tu barrio?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Waar woon je? Hoe is jouw buurt?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anfitriona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die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barrio»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Hay / estar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 is · waar het staat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Preposiciones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encima de · al lado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Estar + gerundio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estoy cocinando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camino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imperativo: gira, sigue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12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anuncio de piso · barrio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la plaza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barrio · Cartagena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🏘️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barrio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plano + visita guiada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y las habitaciones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thuis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huis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piso · el apartamento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habitación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dormitorio · el salón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cocina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keuken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baño · el comedor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muebles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meubels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mesa · la silla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sofá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cama · el armario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puerta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deur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ventana · la pared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escalera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trap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ascensor · el pasillo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terraza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terras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jardín 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Preposiciones de lugar: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encima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al lado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entre · debajo de · enfrente de · dentro 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Hay vs. 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Hay un sofá (nieuw) · El sofá está al lado (bekend + plaats).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Nooit «hay el/la…». De casa = habitaciones (kamers) + muebles (meubels).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/ estar — ¿qué hay y dónde está?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de plaats. Hay = nieuw · estar = waar iets bekends staat.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En mi barrio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hay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una plaza,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y la iglesia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está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enfrente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de la plaza.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¿hay o estar? — la decisión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hay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291840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+ un/una/número (nieuw)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hay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968496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geen el/la: «hay un parque»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4645152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el/la + singular + plaats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3291840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los/las + plural + plaats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3968496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«La plaza está en el centro»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60" y="4645152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«Los baños están arriba»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hay = er is/zijn (nieuw, geen el/la) · está/están = waar iets bekends staat (met el/la + plaats).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¿hay, está o están?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Nieuw → hay · bekend + plaats → está/están.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un sofá = nieuw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sofá ___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bekend + plaats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tres habitaciones.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número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Los baños ___ arriba.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 bekend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una plaza cerca.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una = nieuw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farmacia ___ en la esquina.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bekend + plaats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hay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iets nieuws (un/una/número)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está/están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waar iets bekends (el/la) staat. Meervoud → están.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está? —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betekenis verschijnt. de + el = 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El gato está… </a:t>
            </a:r>
            <a:r>
              <a:rPr sz="1400" b="1" i="0">
                <a:solidFill>
                  <a:srgbClr val="14B8A6"/>
                </a:solidFill>
                <a:latin typeface="Inter"/>
              </a:rPr>
              <a:t>encima de </a:t>
            </a:r>
            <a:r>
              <a:rPr sz="1400" b="1" i="0">
                <a:solidFill>
                  <a:srgbClr val="14B8A6"/>
                </a:solidFill>
                <a:latin typeface="Inter"/>
              </a:rPr>
              <a:t>· debajo de · al lado de · entre…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(de + el = del)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encima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boven 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debajo 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onder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al lado 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naast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entre A y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tussen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delante 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vóór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detrás 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achter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dentro 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binnen 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enfrente 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tegenover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cerca 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dichtbij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+ el = del (al lado del parque). Bij «entre» géén «de»: entre la mesa y la silla. Vorm: está (ev.) / están (mv.).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2669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preposición?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preposición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lámpara está ___ la mesa (boven).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encima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gato está ___ la cama (onder).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debajo 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banco está ___ la farmacia (naast).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 lado 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cine está ___ el banco y el parque.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entre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jardín está ___ la casa (achter).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detrás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museo está ___ la iglesia (tegenover).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enfrente 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Tegenstellingen: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encima ↔ debajo · delante ↔ detrás · cerca ↔ lejos · dentro ↔ fuera.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plano del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un edificio → dónde está. Aprende a decir la posición.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🥖 La panadería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 la esquina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🏦 El 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al lado de la farmacia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🎬 El cine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entre el banco y el parque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🏛️ El museo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enfrente de la iglesia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🌳 El parque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al final de la calle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⛲ La plaza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 el centro del barrio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🟡 Ordinales + apócope: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primero → el primer piso · tercero → el tercer piso (m. sing.).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Voor het adres: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planta baja · el primer piso · el segundo piso… (calle Real, 3º).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 alquila piso (anuncio)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«Bonito piso en el centro. Tercer piso con ascensor. Dos habitaciones, salón, cocina y baño. Terraza con vistas a la plaza. Cerca de la panadería y del parque. 600 € al mes.»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¿En qué piso está?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Tercer piso (con ascensor)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¿Cuántas habitaciones?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en la terraza?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Vistas a la plaza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 al mes?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600 €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habitaciones, piso y precio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barrio de Valen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un lugar → dónde está.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La 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enfrente de la casa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con palmeras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La panadería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al lado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pan fresco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El parque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cerca del mar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para pasear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El supermercado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en la esquina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para la compra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«Enfrente de mi casa hay una plaza. La panadería está al lado y el parque está cerca del mar.»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beschrijft zelf zijn barrio.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+ gerundio — ¿qué pasa ahora?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vormen. Fórmula: estar (presente) + -ando/-iendo.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estar (estoy, estás, está…)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+ gerundio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Estoy cocinando en la cocina.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estoy …ndo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estás …ndo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 …ndo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estamos …ndo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estáis …ndo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están …ndo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-ar → -ando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(cocinar → cocinando) · -er/-ir → -iendo (comer → comiendo, vivir → viviendo). Onregelmatig: leer → leyendo, dormir → durmiendo.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¡Explica el camino!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¿Cómo se va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Sal de casa.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Seguir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Sigue todo recto.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Girar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Gira a la derecha.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Cruzar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Cruza el semáforo.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Llegar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 la izquierda.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ruta.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74573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explica el camino»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«Perdona, ¿cómo se va a la plaza? — Sigue todo recto, gira a la derecha y cruza el semáforo. Está al final.»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barrio (descripción)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je buurt.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sobre tu barrio: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¿qué hay? (hay una plaza…)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¿dónde está? (está al lado 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preposiciones de lugar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¿cómo se llega? (imperativo)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mueble / edificio típico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¿qué está pasando ahora?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«En mi barrio hay una plaza. La panadería está al lado y el parque está enfrente. Para llegar, sigue todo recto. Ahora la gente está paseando.»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BARRIO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Muebles y edificios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sofá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armario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kast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nevera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koelkast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farmacia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apotheek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banco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bank (geld)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parque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park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estación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station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autobús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metro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bicicleta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fiets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preposición: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 sofá está al lado de la ventana · la panadería está enfrente del banco.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Transporte: en autobús · en metro · en bici · a pie. Direcciones: a la derecha / izquierda · todo recto.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de lugar +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de ruta en spelling.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conectores de lugar: todo recto · a la derecha · al final de…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Sigue ___ (rechtdoor)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todo recto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Gira ___ (rechts)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 la derecha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plaza está ___ (aan het eind)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al final de la calle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museo está ___ (tegenover)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enfrente 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ortografía: ¿diptongo o hiato?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panaderia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panadería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puerta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puerta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diptongo (ue)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país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día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conectores de lugar structureren de rondleiding (todo recto → a la derecha → al final de).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hiato = tilde op í/ú breekt de tweeklank: panadería, día, país. Diptongo = twee klinkers samen: puerta, bueno.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plaza y el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plaza es el corazón del barrio.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🏛️ La 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centro del barrio: hay bancos, árboles y una iglesia. Por la tarde la gente está paseando y charlando. En Cartagena, la Plaza de los Coches es famosa.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plaza = de ontmoetingsplek.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🏘️ Casas de colores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Cartagena tiene un casco histórico con casas de colores y balcones con flores. Las murallas protegen la ciudad frente al mar Caribe. Barrio Getsemaní = arte y color.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Color, música y arte.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🌎 ¿Cómo se vive?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España: un piso. En América: un apartamento. Con jardín: chalet (ES) o casa (AM). En el adres: la planta baja, el primer piso…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piso 🇪🇸 ↔ apartamento 🌎.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een plein of buurt bij jou (¿qué hay? ¿dónde está? ¿qué haces ahí?).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camino: completa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todo recto. (seguir)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600200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Sigue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 la derecha. (girar)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478024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Gira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la calle. (cruzar)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55848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Cruza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Vivo en el ___ piso. (1º)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1600200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primer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baño está ___ pasillo (aan 't eind).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478024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 final 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farmacia está ___ (op de hoek).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3355848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 la esquina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Imperativo (tú):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-ar → -a (gira, cruza) · -er/-ir → -e (sube, sigue). ir → ve. Apócope: primer/tercer piso.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🏘️ Tarea final · Mi barrio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el plano de tu barrio y da una visita guiada — di qué hay, dónde está y cómo llegar.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Dibuja el plano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calles, plaza, tiendas, tu casa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5 frases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qué hay + dónde está (preposiciones)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camino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tu casa a la plaza (imperativo)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Da la visita guiada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pareja (of neem audio op)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Responde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«¿Dónde está la farmacia?»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5+ lugares con nombre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hay + está/están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preposiciones de lugar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el camino (imperativo)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gids) · ontvanger een bezoeker · doel je buurt voorstellen &amp; de weg uitleggen · situatie un paseo por el barrio · resultaat: plano + gespeelde rondleiding.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sofá ___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estar+ger, yo → cocinar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estoy cocinando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gira, ¿infinitivo?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girar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___ piso (1º)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primer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lámpara está ___ la mesa (boven).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encima 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baños ___ arriba.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están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sigue, ¿infinitivo?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seguir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hay/estar · preposiciones · estar + gerundio · imperativo · ordinales.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/ estar: hay + un/una/número (nieuw) · el/la … está/están + plaats (bekend). Nooit «hay el/la».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Preposiciones: encima/debajo/al lado/entre/delante/detrás/dentro/enfrente de (de + el = del).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Estar + gerundio: estoy/estás/está… + -ando (-ar) / -iendo (-er/-ir): «Estoy cocinando».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Imperativo (el camino): gira · sigue · cruza · toma · ve (ir). -ar→-a · -er/-ir→-e.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niet «hay el parque» · de+el=del · estoy comiendo · el primer piso · hiato panadería.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casa beschrijven (habitaciones/muebles)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hay/estar juist gebruiken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preposiciones de lugar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estar + gerundio (nu)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camino (imperativo)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U7 «Mi casa y mi barrio»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hay/estar 10' · preposiciones 10' · estar+gerundio 8' · imperativo/camino 8' · lectura/escucha 6' · cultura 3'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Niet «hay el parque» (hay ≠ estar) · de+el=del · estoy comi-E-ndo · el primer/tercer piso (apócope, m. sing.) · hiato panadería/día/país.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rondleiding + eigen plano + preguntas del visitante. Zwakker: hay/estar-kaart en preposición-ficha langer open, imperativo-frames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(Hablar) + Lectura (anuncio + barrio)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barrio» met rúbrica (4 criteria). LPD 3·4·7·8 + 5 (cultura) + 1·2 (receptief: lezen/luisteren).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