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12.xml"/><Relationship Id="rId10" Type="http://schemas.openxmlformats.org/officeDocument/2006/relationships/slide" Target="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4528"/>
            <a:ext cx="12191695" cy="73152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45720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64550"/>
                </a:solidFill>
                <a:latin typeface="Inter"/>
              </a:rPr>
              <a:t>C4 · LA RUTA · EL DESPEGUE · PARADA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24712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Bricolage Grotesque"/>
              </a:rPr>
              <a:t>Nacionalidades y países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1078992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Bricolage Grotesque"/>
              </a:rPr>
              <a:t>¿De dónde eres? </a:t>
            </a:r>
            <a:r>
              <a:rPr sz="1700" b="0" i="1">
                <a:solidFill>
                  <a:srgbClr val="FBEAEC"/>
                </a:solidFill>
                <a:latin typeface="Inter"/>
              </a:rPr>
              <a:t>— Waar kom je vandaan?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80"/>
            <a:ext cx="1051560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Inter"/>
              </a:rPr>
              <a:t>Zeggen waar je vandaan komt, je </a:t>
            </a:r>
            <a:r>
              <a:rPr sz="1600" b="1" i="0">
                <a:solidFill>
                  <a:srgbClr val="FFFFFF"/>
                </a:solidFill>
                <a:latin typeface="Inter"/>
              </a:rPr>
              <a:t>nationaliteit</a:t>
            </a:r>
            <a:r>
              <a:rPr sz="1600" b="0" i="0">
                <a:solidFill>
                  <a:srgbClr val="FFFFFF"/>
                </a:solidFill>
                <a:latin typeface="Inter"/>
              </a:rPr>
              <a:t> en welke </a:t>
            </a:r>
            <a:r>
              <a:rPr sz="1600" b="1" i="0">
                <a:solidFill>
                  <a:srgbClr val="FFFFFF"/>
                </a:solidFill>
                <a:latin typeface="Inter"/>
              </a:rPr>
              <a:t>talen</a:t>
            </a:r>
            <a:r>
              <a:rPr sz="1600" b="0" i="0">
                <a:solidFill>
                  <a:srgbClr val="FFFFFF"/>
                </a:solidFill>
                <a:latin typeface="Inter"/>
              </a:rPr>
              <a:t> je spreekt.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FBEAEC"/>
                </a:solidFill>
                <a:latin typeface="Inter"/>
              </a:rPr>
              <a:t>Survival in Spanish — la pregunta que abre todo viaje.</a:t>
            </a:r>
          </a:p>
        </p:txBody>
      </p:sp>
      <p:pic>
        <p:nvPicPr>
          <p:cNvPr id="9" name="Picture 8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4526280"/>
            <a:ext cx="1554480" cy="1554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800600"/>
            <a:ext cx="8229600" cy="1280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En esta unidad vas a…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Preguntar y decir el origen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¿de dónde eres? · soy de + país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Decir tu nacionalidad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mexicano/a · español/a · belga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Decir qué idiomas hablas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hablo español · neerlandés · francés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MENÚ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vamos a hacer?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gaan we doen? — klik op een tegel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502920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¡Escucha!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escena + chunks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3410712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Suena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ñ · c/z · acento agudo</a:t>
            </a:r>
          </a:p>
        </p:txBody>
      </p:sp>
      <p:sp>
        <p:nvSpPr>
          <p:cNvPr id="14" name="Rounded Rectangle 13">
            <a:hlinkClick action="ppaction://hlinksldjump" r:id="rId4"/>
          </p:cNvPr>
          <p:cNvSpPr/>
          <p:nvPr/>
        </p:nvSpPr>
        <p:spPr>
          <a:xfrm>
            <a:off x="6318504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1384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Kit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¿de dónde eres?</a:t>
            </a:r>
          </a:p>
        </p:txBody>
      </p:sp>
      <p:sp>
        <p:nvSpPr>
          <p:cNvPr id="17" name="Rounded Rectangle 16">
            <a:hlinkClick action="ppaction://hlinksldjump" r:id="rId5"/>
          </p:cNvPr>
          <p:cNvSpPr/>
          <p:nvPr/>
        </p:nvSpPr>
        <p:spPr>
          <a:xfrm>
            <a:off x="9226296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9176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9176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Gramática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soy de + país · gentilicio</a:t>
            </a:r>
          </a:p>
        </p:txBody>
      </p:sp>
      <p:sp>
        <p:nvSpPr>
          <p:cNvPr id="20" name="Rounded Rectangle 19">
            <a:hlinkClick action="ppaction://hlinksldjump" r:id="rId6"/>
          </p:cNvPr>
          <p:cNvSpPr/>
          <p:nvPr/>
        </p:nvSpPr>
        <p:spPr>
          <a:xfrm>
            <a:off x="502920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Práctica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oefenen samen</a:t>
            </a:r>
          </a:p>
        </p:txBody>
      </p:sp>
      <p:sp>
        <p:nvSpPr>
          <p:cNvPr id="23" name="Rounded Rectangle 22">
            <a:hlinkClick action="ppaction://hlinksldjump" r:id="rId7"/>
          </p:cNvPr>
          <p:cNvSpPr/>
          <p:nvPr/>
        </p:nvSpPr>
        <p:spPr>
          <a:xfrm>
            <a:off x="3410712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93592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93592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Hablar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¿de dónde eres?</a:t>
            </a:r>
          </a:p>
        </p:txBody>
      </p:sp>
      <p:sp>
        <p:nvSpPr>
          <p:cNvPr id="26" name="Rounded Rectangle 25">
            <a:hlinkClick action="ppaction://hlinksldjump" r:id="rId8"/>
          </p:cNvPr>
          <p:cNvSpPr/>
          <p:nvPr/>
        </p:nvSpPr>
        <p:spPr>
          <a:xfrm>
            <a:off x="6318504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384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4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Música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el mundo hispano</a:t>
            </a:r>
          </a:p>
        </p:txBody>
      </p:sp>
      <p:sp>
        <p:nvSpPr>
          <p:cNvPr id="29" name="Rounded Rectangle 28">
            <a:hlinkClick action="ppaction://hlinksldjump" r:id="rId9"/>
          </p:cNvPr>
          <p:cNvSpPr/>
          <p:nvPr/>
        </p:nvSpPr>
        <p:spPr>
          <a:xfrm>
            <a:off x="9226296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09176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Tarea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Mi mapa</a:t>
            </a:r>
          </a:p>
        </p:txBody>
      </p:sp>
      <p:sp>
        <p:nvSpPr>
          <p:cNvPr id="32" name="Rounded Rectangle 31">
            <a:hlinkClick action="ppaction://hlinksldjump" r:id="rId10"/>
          </p:cNvPr>
          <p:cNvSpPr/>
          <p:nvPr/>
        </p:nvSpPr>
        <p:spPr>
          <a:xfrm>
            <a:off x="502920" y="402336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13308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59028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Repaso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wat kun je nu?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44068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Consejo · Tip.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Luister eerst, spreek na, en durf zelf te praten. Fouten maken hoort erbij.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§1 · ¡ESCUCHA!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Bekijk la escena y escucha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Kijk &amp; luister — Fernando leert la extranjera «¿de dónde eres?»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676656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6459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62763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¿De dónde eres? ¿De qué país?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76272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Extranjera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15798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¡Ah! Yo soy Argelia.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706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268833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No: «soy DE Argelia». Eres argelina.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236976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218688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Chico → argelino · chica → argelina.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6732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3749040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Habla bastante bien español.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297680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Extranjera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27939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No hablo mucho, entiendo un poco.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828032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80974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¿Habla usted francés? ¡Tres idiomas!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358384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34009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Tengo uno de veinte y dos de diez.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79" y="1417320"/>
            <a:ext cx="4206240" cy="31089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79" y="1600200"/>
            <a:ext cx="3749039" cy="2834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Chunks para llevar 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¿De dónde eres? · ¿De qué país?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Soy de + país · Soy de Argelia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argelino ♂ · argelina ♀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Hablo español · un poco · bastante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árabe · francés · español · inglés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79" y="4663440"/>
            <a:ext cx="4206240" cy="1234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26679" y="4800600"/>
            <a:ext cx="3749039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🎬 Vídeo online · Episodio 3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A6E78"/>
                </a:solidFill>
                <a:latin typeface="Inter"/>
              </a:rPr>
              <a:t>Scan de QR op de cursus of open de digitale hub → tabblad Escucha. Fallback: youtu.be/62GTD0QXbiI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SUENA BIEN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ñ · la c/z · el acento agudo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ñ, de c/z &amp; de klemtoon — luister en spreek 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La eñe · ñ — de klank van España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España · español · mañana · niño · señor · año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Klinkt als de NL «nj» in «Spanje».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La c y la z · /θ/ ~ /s/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nacionalidad · Francia · Venezuela · gracias · cinco · zona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In Spanje = zachte «th»; in Latijns-Amerika = «s». Allebei goed!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566160"/>
            <a:ext cx="11201400" cy="77724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03320"/>
            <a:ext cx="106984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Bricolage Grotesque"/>
              </a:rPr>
              <a:t>¡Ojo!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c + a/o/u = /k/ (casa, colombiano)  ·  maar c + e/i = /θ~s/ (cinco, Francia) — net als de z.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El acento agudo · -dad / -és — klemtoon op de laatste lettergreep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074920"/>
            <a:ext cx="111556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>
                <a:solidFill>
                  <a:srgbClr val="20242E"/>
                </a:solidFill>
                <a:latin typeface="Bricolage Grotesque"/>
              </a:rPr>
              <a:t>na·cio·na·li·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DAD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      por·tu·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GUÉS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      fran·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CÉS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      in·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GLÉS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0644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🔊 Oefen de klanken online op de hub (tabblad Kit · Suena bien).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Preguntar y decir el origen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Vragen en zeggen waar je vandaan komt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Preguntar el origen · vragen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¿De dónde eres?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waar kom je vandaan?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¿De dónde es usted?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… komt u vandaan?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¿De qué país?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uit welk land?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¿Y tú? / ¿Y usted?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en jij? / en u?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Decir de dónde soy · ser 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Soy de Bélgica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kom uit België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Soy de España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uit Spanje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Soy de México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uit Mexico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Soy de Flandes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uit Vlaanderen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Soy de aquí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van hier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8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La nacionalidad · gentilicio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belga · belga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Belgisch (♂=♀)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español · española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Spaans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mexicano · mexicana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Mexicaans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colombiano · colombiana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Colombiaans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marroquí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Marokkaans (♂=♀)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Idiomas y países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Talen &amp; landen van het mundo hispano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Los idiomas · hablar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Hablo español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spreek Spaans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Hablo neerlandés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Nederlands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Hablo francés e inglés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Frans en Engels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¿Qué idiomas hablas?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welke talen spreek je?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un poco · bastante bien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een beetje · best goed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Países del mundo hispano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España · México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Spanje · Mexico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Argentina · Colombia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Argentinië · Colombia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Perú · Chile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Peru · Chili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Venezuela · Cuba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Venezuela · Cuba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Bélgica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België (jouw land)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5212080"/>
            <a:ext cx="50292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Hablo español (kleine letter). Nationaliteit: ♂ -o · ♀ -a.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soy de + país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Zeggen uit welk land je komt — functioneel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07361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1953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3549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8141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6352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0944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254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713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soy de + país — waar je vandaan komt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yo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soy de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kom uit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770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tú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eres de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jij komt uit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209544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él/ella/usted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es de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hij/zij komt · u komt uit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ejemplos · voorbeelden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Soy de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Bélgica.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2715768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¿Eres de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España?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099816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María es de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Sevilla.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3246120"/>
            <a:ext cx="51206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150" b="0" i="1">
                <a:solidFill>
                  <a:srgbClr val="20242E"/>
                </a:solidFill>
                <a:latin typeface="Inter"/>
              </a:rPr>
              <a:t>«soy DE Argelia», niet «soy Argelia».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3977639"/>
            <a:ext cx="11201400" cy="15544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Completa · vul aan (klik voor de oplossing):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Yo ___ Bélgica.  ¿___ (tú) de España?  Diego ___ México. 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4709160"/>
            <a:ext cx="10698480" cy="64008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A8323B"/>
                </a:solidFill>
                <a:latin typeface="Inter"/>
              </a:rPr>
              <a:t>soy de · eres de · es 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gentilicio ♂/♀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nationaliteit: man/vrouw &amp; de kleine letter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E8F0FE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40AF"/>
                </a:solidFill>
                <a:latin typeface="Bricolage Grotesque"/>
              </a:rPr>
              <a:t>♂ Un chico dice…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E40AF"/>
                </a:solidFill>
                <a:latin typeface="Inter"/>
              </a:rPr>
              <a:t>mexicano · colombiano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40AF"/>
                </a:solidFill>
                <a:latin typeface="Inter"/>
              </a:rPr>
              <a:t>portugués · francés · inglés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FCE7F0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D174D"/>
                </a:solidFill>
                <a:latin typeface="Bricolage Grotesque"/>
              </a:rPr>
              <a:t>♀ Una chica dice…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9D174D"/>
                </a:solidFill>
                <a:latin typeface="Inter"/>
              </a:rPr>
              <a:t>mexicana · colombiana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D174D"/>
                </a:solidFill>
                <a:latin typeface="Inter"/>
              </a:rPr>
              <a:t>portuguesa · francesa · inglesa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840480"/>
            <a:ext cx="11201400" cy="1645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1069848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Sin cambio ♂ = ♀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Sommige blijven gelijk: </a:t>
            </a:r>
            <a:r>
              <a:rPr sz="1300" b="1" i="0">
                <a:solidFill>
                  <a:srgbClr val="2563EB"/>
                </a:solidFill>
                <a:latin typeface="Inter"/>
              </a:rPr>
              <a:t>belga · marroquí · estadounidense · canadiense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In het Spaans schrijf je de nationaliteit én de taal met een </a:t>
            </a:r>
            <a:r>
              <a:rPr sz="1300" b="1" i="0">
                <a:solidFill>
                  <a:srgbClr val="DC2626"/>
                </a:solidFill>
                <a:latin typeface="Inter"/>
              </a:rPr>
              <a:t>kleine letter</a:t>
            </a:r>
            <a:r>
              <a:rPr sz="1300" b="0" i="0">
                <a:solidFill>
                  <a:srgbClr val="20242E"/>
                </a:solidFill>
                <a:latin typeface="Inter"/>
              </a:rPr>
              <a:t>: soy español, hablo neerlandés (in NL/Engels net met hoofdletter!).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PRÁCTICA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diálogo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Vul samen aan — klik voor de oplossing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Hola, ¿de dónde ___?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5176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___ de México. Soy mexican__.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¿Qué idiomas ___?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___ español e inglés.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737360"/>
            <a:ext cx="4023360" cy="3657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1. eres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2. Soy · mexicano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3. hablas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4. Hablo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1609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18" name="Rounded Rectangle 1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HABLAR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¿De dónde eres?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Vraag en antwoord over het origen — sin leer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31089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83080"/>
            <a:ext cx="649224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Modelo · zeg dit hardop: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«— ¿De dónde eres?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— Soy de Bélgica. Soy belga.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— ¿Qué idiomas hablas?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Hablo neerlandés y un poco de español.»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554480"/>
            <a:ext cx="402336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56616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¿Cómo? · Werkvorm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Kies een land (of het jouwe).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Vraag ¿de dónde eres? + soy de…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Zeg je nationaliteit (♂/♀) + talen.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Wissel van rol (3×).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Interactie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= beurt nemen, luisteren en reageren. Begrijp je iets niet? Zeg: «¿Cómo? / Otra vez, por favor.»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CULTURA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mundo hispano &amp; su música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21 landen, één taal + muziek die jullie kennen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Shakira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Hips Don't Lie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 Colombia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Bad Bunny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Baile inolvidable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🇵🇷 Puerto Rico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7304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75904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Rosalía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 Perla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Karol 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TQG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 Colombia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5112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3712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Quevedo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Bzrp #52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7304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Rauw Alejandro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Todo de ti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🇵🇷 P. Rico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29200"/>
            <a:ext cx="11201400" cy="96012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66360"/>
            <a:ext cx="1069848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🌍 El español conecta 21 países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(+490 miljoen sprekers, zelfs in Afrika: Guinea Ecuatorial). La playlist + de wereldkaart op de digitale hub → tabblad Música.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§5 · TAREA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mapa · ¿De dónde eres?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Plaats 3 personen op de wereldkaart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5486400" cy="50292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27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MI MAPA · noteer je 3 fichas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4937760" cy="22860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🧍 Yo 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soy de ______  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🧑 ___ 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es de ______  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👤 ___ 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es de ______  ______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737360"/>
            <a:ext cx="5029200" cy="2834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Los pasos · stappen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Elige a 3 personas (jij + 2 anderen).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Pregunta: «¿de dónde eres? / ¿de qué país?»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Escribe: «X es de ___. Es ___ y habla ___.»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Preséntalo: wijs het land aan op de kaart.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🏁 Klaar als…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je voor 3 personen «es de + land» zegt, de juiste gentilicio (♂/♀, kleine letter) en talen geeft, en het land op de kaart aanwijst — zónder af te lezen.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6236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REPASO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je nu kunt — semáforo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6949440" cy="4023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6492240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vraag &amp; zeg je het origen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¿De dónde eres? → Soy de + país (Soy de Bélgica)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Land = met de · nationaliteit = zónder de (soy belga)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Nationaliteit &amp; talen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mexicano ♂ / mexicana ♀ · met kleine letter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Hablo español, neerlandés, francés…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belga · marroquí blijven gelijk (♂ = ♀)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554480"/>
            <a:ext cx="4023360" cy="40233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173736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Puedo… · Ik kan…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233172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het origen vragen &amp; zeggen (soy de + país)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990088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de nationaliteit geven (♂/♀, kleine letter)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3648456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zeggen welke talen ik spreek (hablo…)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06824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landen van het mundo hispano situeren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502920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🎮 Repasa jugando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online op de hub · wereldkaart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