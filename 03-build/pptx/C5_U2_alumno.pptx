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8.xml"/><Relationship Id="rId5" Type="http://schemas.openxmlformats.org/officeDocument/2006/relationships/slide" Target="slide11.xml"/><Relationship Id="rId6" Type="http://schemas.openxmlformats.org/officeDocument/2006/relationships/slide" Target="slide14.xml"/><Relationship Id="rId7" Type="http://schemas.openxmlformats.org/officeDocument/2006/relationships/slide" Target="slide16.xml"/><Relationship Id="rId8" Type="http://schemas.openxmlformats.org/officeDocument/2006/relationships/slide" Target="slide21.xml"/><Relationship Id="rId9" Type="http://schemas.openxmlformats.org/officeDocument/2006/relationships/slide" Target="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7267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2 · SEVILLA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Mi 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7744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familia · describir a las personas · ser y estar — en Sevilla,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97180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es tu gente… y cómo 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Wie zijn jouw mensen… en hoe zijn ze?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Tu anfitriona en Sevilla — Lucía te presenta a su familia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46320"/>
            <a:ext cx="1234440" cy="1234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6126480"/>
            <a:ext cx="1554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Lucía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 · anfitriona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402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59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147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78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893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997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638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16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383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«Álbum de familia»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familia + tener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padre/madre/hermano · tengo/tienes/tiene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Los posesivos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mi/tu/su/nuestro · getal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Los adjetivos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física + carácter · congruencia o/a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8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Ser / estar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beide = «zijn» — de valstrik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Demostrativos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este/ese — señala en el álbum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14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«La familia de Lucía» · ¿quién 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Álbum de familia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árbol + fotos + «¿Quién es?»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+ Repaso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mezcla · lo esencial · semáforo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— el árbol genealógico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Mannelijk el / vrouwelijk la; -o/-a-paren.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padre / la madre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554480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vader / de moeder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40864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los padres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340864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ouders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27248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hermano / la hermana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127248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broer / de zus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13632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abuelo / la abuela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3913632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opa / de oma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54480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tío / la tía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1554480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oom / de tante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340864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primo / la prima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2340864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neef / de nicht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3127248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hijo / la hija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127248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zoon / de dochter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913632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nieto / la nieta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3913632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kleinzoon / kleindochter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La familia hispana: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mannelijk meervoud omvat beide: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padres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vader én moeder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abuelos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opa én oma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hermanos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broer(s) én zus(sen).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mayor (ouder/oudste) · menor (jonger/jongste) · casado/a (getrouwd) · soltero/a (vrijgezel) · la mascota (huisdier).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tener (hebben)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kaart. Onregelmatig: tengo, tienes, tiene…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tenéis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🟡 tener = onregelmatig: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teng-o · tien-es · tien-e · ten-emos · ten-éis · tien-en.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Gebruik: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«Tengo dos hermanos» · «¿Cuántos primos tienes?» · leeftijd: «Tengo catorce años».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9011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¿Cuántos… tienes? — cuenta tu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Vraag &amp; antwoord met tener. Klik een kaart → een modelantwoord.</a:t>
            </a:r>
          </a:p>
        </p:txBody>
      </p:sp>
      <p:pic>
        <p:nvPicPr>
          <p:cNvPr id="9" name="Picture 8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46304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00200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¿Cuántos hermanos tienes?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84248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Tengo dos hermanos. / No tengo hermanos.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87168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¿Tienes primos?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25496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Sí, tengo tres primos. / No, no tengo primos.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82696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28416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¿Cuántos años tiene tu hermano?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666744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Tiene diecinueve años.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23944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¿Tienes mascota?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07992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Sí, tengo un perro. / No tengo mascota.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65192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010912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¿Cuántas personas sois en tu familia?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349240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Somos cinco: mis padres, mis hermanos y yo.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7" name="Rounded Rectangle 2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806440"/>
            <a:ext cx="1124712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vraag 3 klasgenoten en presenteer daarna één familie in de 3ª persona (tiene / son).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6784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posesivos — mi / tu / su / nuestro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bezit past in GETAL bij het zelfstandig naamwoord.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0876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0876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2563EB"/>
                </a:solidFill>
                <a:latin typeface="Bricolage Grotesque"/>
              </a:rPr>
              <a:t>Mi </a:t>
            </a:r>
            <a:r>
              <a:rPr sz="2300" b="1" i="0">
                <a:solidFill>
                  <a:srgbClr val="1E9E74"/>
                </a:solidFill>
                <a:latin typeface="Bricolage Grotesque"/>
              </a:rPr>
              <a:t>hermana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es alta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300" b="1" i="0">
                <a:solidFill>
                  <a:srgbClr val="2563EB"/>
                </a:solidFill>
                <a:latin typeface="Bricolage Grotesque"/>
              </a:rPr>
              <a:t>mis </a:t>
            </a:r>
            <a:r>
              <a:rPr sz="2300" b="1" i="0">
                <a:solidFill>
                  <a:srgbClr val="1E9E74"/>
                </a:solidFill>
                <a:latin typeface="Bricolage Grotesque"/>
              </a:rPr>
              <a:t>hermanos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son morenos.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mecanismo — klik een cel → de vorm: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004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mi / mis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00400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mijn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2004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200400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tu / 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3200400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jouw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059936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059936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su / sus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059936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zijn/haar/hun/uw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059936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059936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nuestro/-a/-os/-as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4059936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onze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120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Overeenkomst in GETAL (niet in geslacht, behalve nuestro):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mi hermana → mis hermanas · tu primo → tus primos.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su = zijn/haar/hun/uw (context beslist) · nuestro/nuestra/nuestros/nuestras past óók in geslacht.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Singular o plural — mi o mis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vorm. Tel het zelfstandig naamwoord.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hermano 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hermanas 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13432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primos (varios)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26664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abuela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739896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se llama ___ padre?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1600200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tu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¿Dónde viven ___ abuelos?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13432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familia es grande. (onze)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3026664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nuestra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tíos son majos. (haar)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739896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sus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Enkelvoud zn. → mi/tu/su · meervoud zn. → mis/tus/sus.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nuestro/-a/-os/-as past in geslacht én getal.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es? — descripción física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Descripción met ser + tener/llevar.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54480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alto/a ↔ bajo/a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554480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lang/groot ↔ klein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5144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295144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delgado/a ↔ gordito/a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295144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slank ↔ mollig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35808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035808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guapo/a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35808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knap / mooi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764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776472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moreno/a ↔ rubio/a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76472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donker ↔ blond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1713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517136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pelirrojo/a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4517136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roodharig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1554480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el pelo largo/corto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554480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lang/kort haar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2295144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2295144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liso ↔ rizado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295144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steil ↔ krullend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035808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3035808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los ojos + color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035808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de ogen + kleur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7764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3776472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la barba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3776472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de baard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51713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4517136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llevar gafas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517136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een bril dragen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1" name="Rounded Rectangle 4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377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Constructies: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 alto (ser + eigenschap) · tiene el pelo largo / los ojos verdes (tener + kenmerk) · lleva gafas (llevar).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colores: marrón · negro · castaño · azul · verde · gris. «Tiene los ojos marrones» (congruentie in getal).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48097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adjetivo concuerda — género y número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Röntgen: het bijv. nw. past bij het zn. in geslacht én getal, en staat ERNA.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64208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el chico alt-o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m. enkelvoud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la chica alt-a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57400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v. enkelvoud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587752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los chicos alt-os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0672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m. meervoud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587752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las chicas alt-as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90672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v. meervoud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Klik → de speciale gevallen: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148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11480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inteligente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114800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blijft gelijk (m/v): chico/chica inteligente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1148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11480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joven → jóvenes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114800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enkel meervoud verandert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0974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09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hablador → habladora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809744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-or krijgt wél -a in het vrouwelijk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480974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809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los ojos verdes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809744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kleur past in getal (verde → verdes)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5321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Het adjetivo staat NÁ het zn. en past mee: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una chica alta, unos ojos verdes. -e/-ista/-consonant zijn vaak onveranderlijk in geslacht.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4041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es su carácter?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ser + carácter (es simpático).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simpático/a ↔ antipático/a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aardig ↔ onaardig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majo/a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leuk/vriendelijk (Sp.)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tímido/a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verlegen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2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6552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gracioso/a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grappig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trabajador/a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hardwerkend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inteligente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slim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4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hablador/a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1864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praatgraag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4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8744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tranquilo/a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41864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rustig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1584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8744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alegre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41864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vrolijk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8" name="Rounded Rectangle 3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 (docent):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«Mi hermana es simpática, un poco tímida pero muy graciosa. Mi padre es tranquilo y trabajador.»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«muy» (heel) + «un poco» (een beetje) + «pero» (maar) nuanceren de beschrijving.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y estar — 🔴 la trampa (beide = «zijn»)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Twee-kolom-spiegel: SER = wie/hoe iemand is · ESTAR = toestand/plaats.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3291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2563E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Bricolage Grotesque"/>
              </a:rPr>
              <a:t>SER — identidad / descripción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945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Soy Lucía. (identiteit)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517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Es de Sevilla. (herkomst)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089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padre es alto y moreno. (uiterlijk)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tía es muy simpática. (karakter)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23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Somos cinco. (aantal)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08760"/>
            <a:ext cx="5486400" cy="329184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20320">
            <a:solidFill>
              <a:srgbClr val="14B8A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B8A6"/>
                </a:solidFill>
                <a:latin typeface="Bricolage Grotesque"/>
              </a:rPr>
              <a:t>ESTAR — estado /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945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Estoy bien / cansada. (toestand)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6517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abuela está en casa. (plaats)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1089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¿Dónde estás? (plaats)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Mis tíos están casados. (burg. staat)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023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Hoy estamos contentos. (stemming nu)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834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Nederlands heeft één «zijn», Spaans twee: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= wie/hoe iemand IS (blijvend: naam, herkomst, uiterlijk, karakter) ·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ESTAR = toestand nú of PLAATS (cansada, en casa). «Es simpática» (altijd) ↔ «Está cansada» (nu).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855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formas — ser ·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Beide onregelmatig; let op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00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2563EB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600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ser (identidad)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00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14B8A6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00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estar (estado/lugar)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94560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19456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219456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19456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19456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761488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2761488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2761488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2761488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761488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328416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3328416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3328416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328416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328416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895344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3895344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3895344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895344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895344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estamos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4462272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1840" y="4462272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0" y="4462272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462272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4462272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5029200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1840" y="5029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1840" y="5029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5029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0" y="5029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21208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ser: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soy·eres·es·somos·sois·son · </a:t>
            </a:r>
            <a:r>
              <a:rPr sz="1200" b="1" i="0">
                <a:solidFill>
                  <a:srgbClr val="14B8A6"/>
                </a:solidFill>
                <a:latin typeface="Inter"/>
              </a:rPr>
              <a:t>estar: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estoy·estás·está·estamos·estáis·están (klemtoon estás/está!).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CONJUGA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Cloze — tener · ser ·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vorm(en). Kies tussen ser/estar en vervoeg tener.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91056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 abuela ___ (ser) simpática y hoy ___ (estar) en Sevilla.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38528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· está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Yo ___ (tener) dos primos.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24912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Mis padres ___ (ser) de Andalucía.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11296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0208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Nosotros ___ (estar) en casa.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97680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591056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¿Cuántos hermanos ___ (tener) tú?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938528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tienes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77440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Lucía ___ (tener) el pelo largo y ___ (ser) morena.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724912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tiene · 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63824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 hermano ___ (estar) cansado.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511296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0208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Vosotros ___ (ser) muy majos.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297680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Sleutel: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1 es·está · 2 tengo · 3 son · 4 estamos · 5 tienes · 6 tiene·es · 7 está · 8 sois.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SER = eigenschap/herkomst (simpática, de Andalucía, morena, majos) · ESTAR = toestand/plaats (en Sevilla, en casa, cansado).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Demostrativos — este / ese (señala en el álbum)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Zoom: dit (dichtbij) = este · dat (verder) = ese. Klik → de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este (m. sg.)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Este es mi hermano.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esta (v. sg.)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Esta es mi abuela.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estos (m. pl.)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Estos son mis primos.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estas (v. pl.)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Estas son mis tías.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ese/esa (sg.)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 — verder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Ese es mi tío.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4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esos/esas (pl.)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 — verder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Esas son mis hermanas.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07492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Ze passen in geslacht én getal bij het zn.: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este/esta/estos/estas (dichtbij) · ese/esa/esos/esas (verder). Bij foto's: «Este es… / Esta es…».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9469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het album en beantwoord. Klik een vraag → het antwoord + bewijs.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83080" y="1783080"/>
            <a:ext cx="3977639" cy="374903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«¡Hola! Soy Lucía y esta es mi familia de Sevilla. Somos cinco: mis padres, mi hermano mayor Marco, mi hermana menor Ana y yo. Mi padre se llama Antonio; es alto, moreno y muy tranquilo. Mi madre, Rosa, es baja, rubia y muy habladora. Marco tiene diecinueve años; es delgado y lleva gafas. Ana solo tiene ocho años: es pequeña, graciosa y un poco tímida. También tengo dos abuelos, Pepe y Carmen, y una prima, Julia, que es pelirroja y muy simpática. Hoy todos estamos en casa de los abuelos. ¡Es una familia grande y muy alegre!»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55448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60020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¿Cuántos son en la familia?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3852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Somos cinco (bewijs: «Somos cinco»)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37744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42316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¿Cómo es el padre, Antonio?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76148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Alto, moreno y tranquilo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20040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24612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¿Cuántos años tiene Marco?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8444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Diecinueve (y lleva gafas)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402336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06908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¿Quién es pelirroja?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40740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 prima Julia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484632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489204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¿Dónde están hoy todos?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23036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En casa de los abuelos (estar = plaats)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80760" y="5715000"/>
            <a:ext cx="562356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Betekenis uit context: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majo ≈ simpático · mayor/menor = ouder/jonger. Daarna: beschrijf je EIGEN familie.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5586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ESCUCHAR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adivina — ¿quién 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beschrijvingen. Klik een kaart → wie het is.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373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alta, rubia y muy habladora.»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786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la madre, Rosa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7373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7373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402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alto, moreno y tranquilo.»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5786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el padre, Antonio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89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1089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1089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118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«Tiene 19 años, es delgado y lleva gafas.»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502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el hermano, Marco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089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1089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1089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6118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pequeña, graciosa y un poco tímida.»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9502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la hermana, 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Docent leest de descripciones (of TTS); klas raadt.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Let op: ser (uiterlijk/karakter) + tener/llevar (haar/gafas). Daarna zelf een familielid beschrijven → de klas raadt.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Juego «¿Quién es?» — describe y adivina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Beschrijf een familielid → de klas raadt. Steun bouwt af: marco → sleutelwoorden → vrij.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0876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916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Relación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208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mi ___ (hermano/tía…)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060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517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Física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352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alto/a, delgado/a…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04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661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Pelo / ojos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8496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Tiene el pelo ___ y los ojos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916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7373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Carácter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0208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simpático/a, gracioso/a…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6060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6517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Estado/lugar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9352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Está en ___ / está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5204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5661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Adivina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8496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¿Quién es? → adivinan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63440"/>
            <a:ext cx="9601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het marco.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sleutelwoorden.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vrij → grábate online.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9768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«describe-familiar» / «quien-es»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«Es mi hermana. Es baja y delgada, tiene el pelo largo y los ojos verdes. Es muy graciosa. Está en casa. ¿Quién es?»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Escribe tu álbum de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6 bijschriften (este es… + descripción). Klik → een modeltekst.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(pie de foto):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demostrativo (este/esta es…)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relación (mi hermano, mi tía…)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descripción física (es alto, tiene…)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el carácter (es simpático/a)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posesivo (mi/mis/nuestro)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(y, pero, también, 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114800"/>
            <a:ext cx="5486400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160520"/>
            <a:ext cx="5212080" cy="9601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«Esta es mi familia. Este es mi padre; es alto, moreno y tranquilo. Esta es mi hermana Ana: es pequeña y muy graciosa, pero un poco tímida. También tengo dos abuelos muy majos.»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y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gereedschappen om je familie te beschrijven.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conectores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alto ___ delgado.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bajo ___ muy fuerte.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44144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maar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___ es morena.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09981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simpática ___ es alegre.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75818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mayúsculas y tildes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antonio y rosa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Antonio y Rosa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sevilla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Sevilla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mi tia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 tía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¿como 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¿cómo es?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(en) · pero (maar) · también (ook) · 🔴 porque = want ÉN omdat (één woord!).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nombres/apellidos/steden met hoofdletter (Antonio, Sevilla); vraagwoorden met tilde (¿cómo? ¿cuántos?); tía/años dragen tilde.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hispana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weetje. Grote, hechte families in de Spaanstalige wereld.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👪 La familia unida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Grote, hechte families: abuelos, tíos en primos wonen vaak dichtbij en komen vaak samen. «Apodos» (bijnamen): Pepe=José, Paco=Francisco, Lola=Dolores.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Vergelijk met je eigen familie in België.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🎉 La quinceañera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15e-verjaardagsfeest van een meisje (vooral Latijns-Amerika): een groot familiefeest met jurk, dans en misa. Overgang naar de volwassenheid.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Bestaat er zoiets bij jou? Een lentefeest?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🎨 Frida Kahlo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Mexicaanse schilderes maakte «Mi familia / árbol genealógico»: familie als thema in de kunst. Een geschilderde stamboom.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Maak je eigen árbol genealógico als kunstwerk.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8348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¿cómo es tu familia? ¿grande o pequeña? ¿tenéis apodos? Beschrijf je familie en vergelijk met «la familia hispana».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855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✈ Tarea final · Álbum de familia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familiealbum met árbol genealógico + het raadspel «¿Quién es?».</a:t>
            </a:r>
          </a:p>
        </p:txBody>
      </p:sp>
      <p:pic>
        <p:nvPicPr>
          <p:cNvPr id="5" name="Picture 4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64592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Haz tu árbol genealógico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554480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teken je stamboom met de namen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los pies de foto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121408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«Este es mi… / Esta es mi…» + descripción física + carácter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Usa ser y estar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688336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simpático (ser) · está en casa (estar)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55264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la clase of vlog/audio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Juega «¿Quién es?»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22192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beschrijf één familielid → de klas raadt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familia + tener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adjetivos (congruentie)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/ estar correct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posesivos + demostrativos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Afzender jij · ontvanger de klas/Lucía · doel je familie voorstellen · situatie Lucía deelt haar album, jij het jouwe · resultaat: álbum + árbol + «¿Quién es?».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· tener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→ mis ___ 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hermanas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 simpática»: ser o estar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ser (karakter)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«está en casa»: ser o 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estar (plaats)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padres = 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vader + moeder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chica alt__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«want/omdat» = 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 es mi… / Esta es mi… → wijzen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demostrativos (dichtbij)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familia + tener · congruentie adjetivos · ser/estar · posesivos · demostrativos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Familia + tener: tengo·tienes·tiene·tenemos·tenéis·tienen. «Tengo dos hermanos» · leeftijd: «Tengo 14 años».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7568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Posesivos: mi/tu/su + mis/tus/sus (getal) · nuestro/-a/-os/-as. «mi hermana → mis hermanas».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0545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Adjetivos: NÁ het zn. + congruentie o/a/os/as. «una chica alta», «los ojos verdes».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🔴 SER (identiteit/beschrijving: es alta, es de Sevilla) ↔ ESTAR (toestand/plaats: está cansada, está en casa).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649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Demostrativos: este/esta/estos/estas (dichtbij) · ese/esa/esos/esas (verder). Conectores: y·pero·también·porque.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77639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familieleden + tener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7316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posesivos (mi/mis…)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5721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adjetivos met congruentie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54126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vs. estar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92531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demostrativos (este/ese)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