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6.xml"/><Relationship Id="rId4" Type="http://schemas.openxmlformats.org/officeDocument/2006/relationships/slide" Target="slide8.xml"/><Relationship Id="rId5" Type="http://schemas.openxmlformats.org/officeDocument/2006/relationships/slide" Target="slide11.xml"/><Relationship Id="rId6" Type="http://schemas.openxmlformats.org/officeDocument/2006/relationships/slide" Target="slide14.xml"/><Relationship Id="rId7" Type="http://schemas.openxmlformats.org/officeDocument/2006/relationships/slide" Target="slide16.xml"/><Relationship Id="rId8" Type="http://schemas.openxmlformats.org/officeDocument/2006/relationships/slide" Target="slide21.xml"/><Relationship Id="rId9" Type="http://schemas.openxmlformats.org/officeDocument/2006/relationships/slide" Target="slide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272674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2 · SEVILLA 🇪🇸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0" b="1" i="0">
                <a:solidFill>
                  <a:srgbClr val="FFFFFF"/>
                </a:solidFill>
                <a:latin typeface="Bricolage Grotesque"/>
              </a:rPr>
              <a:t>Mi gente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37744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4F4EE"/>
                </a:solidFill>
                <a:latin typeface="Inter"/>
              </a:rPr>
              <a:t>La familia · describir a las personas · ser y estar — en Sevilla, con Lucía.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297180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¿Quién es tu gente… y cómo es?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Wie zijn jouw mensen… en hoe zijn ze?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7315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Tu anfitriona en Sevilla — Lucía te presenta a su familia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846320"/>
            <a:ext cx="1234440" cy="12344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6126480"/>
            <a:ext cx="15544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Lucía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 · anfitriona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0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402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59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147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78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9893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0997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8638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16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383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tegel. Alles oefent naar de Tarea «Álbum de familia» toe.</a:t>
            </a:r>
          </a:p>
        </p:txBody>
      </p:sp>
      <p:sp>
        <p:nvSpPr>
          <p:cNvPr id="9" name="Rounded Rectangle 8">
            <a:hlinkClick action="ppaction://hlinksldjump" r:id="rId2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2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La familia + tener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padre/madre/hermano · tengo/tienes/tiene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3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Los posesivos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mi/tu/su/nuestro · getal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6</a:t>
            </a:r>
          </a:p>
        </p:txBody>
      </p:sp>
      <p:sp>
        <p:nvSpPr>
          <p:cNvPr id="21" name="Rounded Rectangle 20">
            <a:hlinkClick action="ppaction://hlinksldjump" r:id="rId4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4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Los adjetivos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física + carácter · congruencia o/a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8</a:t>
            </a:r>
          </a:p>
        </p:txBody>
      </p:sp>
      <p:sp>
        <p:nvSpPr>
          <p:cNvPr id="27" name="Rounded Rectangle 26">
            <a:hlinkClick action="ppaction://hlinksldjump" r:id="rId5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5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Ser / estar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🔴 beide = «zijn» — de valstrik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11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6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Demostrativos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este/ese — señala en el álbum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14</a:t>
            </a:r>
          </a:p>
        </p:txBody>
      </p:sp>
      <p:sp>
        <p:nvSpPr>
          <p:cNvPr id="39" name="Rounded Rectangle 38">
            <a:hlinkClick action="ppaction://hlinksldjump" r:id="rId7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7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«La familia de Lucía» · ¿quién es?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45" name="Rounded Rectangle 44">
            <a:hlinkClick action="ppaction://hlinksldjump" r:id="rId8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8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Álbum de familia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árbol + fotos + «¿Quién es?»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21</a:t>
            </a:r>
          </a:p>
        </p:txBody>
      </p:sp>
      <p:sp>
        <p:nvSpPr>
          <p:cNvPr id="51" name="Rounded Rectangle 50">
            <a:hlinkClick action="ppaction://hlinksldjump" r:id="rId9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B7860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9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B7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B7860B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Quiz + Repaso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la mezcla · lo esencial · semáforo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familia — el árbol genealógico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betekenis. Mannelijk el / vrouwelijk la; -o/-a-paren.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31089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el padre / la madre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1554480"/>
            <a:ext cx="20574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de vader / de moeder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4086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340864"/>
            <a:ext cx="31089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los padres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2340864"/>
            <a:ext cx="20574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de ouders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2724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127248"/>
            <a:ext cx="31089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el hermano / la hermana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3127248"/>
            <a:ext cx="20574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de broer / de zus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1363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913632"/>
            <a:ext cx="31089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el abuelo / la abuela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3913632"/>
            <a:ext cx="20574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de opa / de oma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1554480"/>
            <a:ext cx="31089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el tío / la tía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1554480"/>
            <a:ext cx="20574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de oom / de tante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4086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2340864"/>
            <a:ext cx="31089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el primo / la prima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9760" y="2340864"/>
            <a:ext cx="20574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de neef / de nicht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12724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3127248"/>
            <a:ext cx="31089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el hijo / la hija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0" y="3127248"/>
            <a:ext cx="20574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de zoon / de dochter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1363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80" y="3913632"/>
            <a:ext cx="31089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el nieto / la nieta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09760" y="3913632"/>
            <a:ext cx="20574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de kleinzoon / kleindochter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48056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La familia hispana: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mannelijk meervoud omvat beide: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los padres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= vader én moeder ·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los abuelos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= opa én oma ·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los hermanos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= broer(s) én zus(sen).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mayor (ouder/oudste) · menor (jonger/jongste) · casado/a (getrouwd) · soltero/a (vrijgezel) · la mascota (huisdier).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verbo tener (hebben)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Denk de vorm, klik de kaart. Onregelmatig: tengo, tienes, tiene…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tengo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tienes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él/ella/usted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tiene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nosotros/-as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tenemos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196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vosotros/-as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tenéis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ellos/-as/ustedes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tienen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0292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🟡 tener = onregelmatig: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teng-o · tien-es · tien-e · ten-emos · ten-éis · tien-en.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Gebruik: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«Tengo dos hermanos» · «¿Cuántos primos tienes?» · leeftijd: «Tengo catorce años».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9011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¿Cuántos… tienes? — cuenta tu familia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Vraag &amp; antwoord met tener. Klik een kaart → een modelantwoord.</a:t>
            </a:r>
          </a:p>
        </p:txBody>
      </p:sp>
      <p:pic>
        <p:nvPicPr>
          <p:cNvPr id="9" name="Picture 8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46304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00200"/>
            <a:ext cx="95097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45920"/>
            <a:ext cx="91440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❓ ¿Cuántos hermanos tienes?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84248"/>
            <a:ext cx="914400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→ Tengo dos hermanos. / No tengo hermanos.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95097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487168"/>
            <a:ext cx="91440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❓ ¿Tienes primos?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25496"/>
            <a:ext cx="914400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→ Sí, tengo tres primos. / No, no tengo primos.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282696"/>
            <a:ext cx="95097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328416"/>
            <a:ext cx="91440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❓ ¿Cuántos años tiene tu hermano?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666744"/>
            <a:ext cx="914400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→ Tiene diecinueve años.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123944"/>
            <a:ext cx="95097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169664"/>
            <a:ext cx="91440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❓ ¿Tienes mascota?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507992"/>
            <a:ext cx="914400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→ Sí, tengo un perro. / No tengo mascota.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65192"/>
            <a:ext cx="95097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010912"/>
            <a:ext cx="91440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❓ ¿Cuántas personas sois en tu familia?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349240"/>
            <a:ext cx="914400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→ Somos cinco: mis padres, mis hermanos y yo.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7" name="Rounded Rectangle 2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806440"/>
            <a:ext cx="11247120" cy="45720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vraag 3 klasgenoten en presenteer daarna één familie in de 3ª persona (tiene / son).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56784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posesivos — mi / tu / su / nuestro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Kleur = taalfunctie. Het bezit past in GETAL bij het zelfstandig naamwoord.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08760"/>
            <a:ext cx="11247120" cy="100584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08760"/>
            <a:ext cx="1069848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 i="0">
                <a:solidFill>
                  <a:srgbClr val="2563EB"/>
                </a:solidFill>
                <a:latin typeface="Bricolage Grotesque"/>
              </a:rPr>
              <a:t>Mi </a:t>
            </a:r>
            <a:r>
              <a:rPr sz="2300" b="1" i="0">
                <a:solidFill>
                  <a:srgbClr val="1E9E74"/>
                </a:solidFill>
                <a:latin typeface="Bricolage Grotesque"/>
              </a:rPr>
              <a:t>hermana </a:t>
            </a:r>
            <a:r>
              <a:rPr sz="2300" b="1" i="0">
                <a:solidFill>
                  <a:srgbClr val="20242E"/>
                </a:solidFill>
                <a:latin typeface="Bricolage Grotesque"/>
              </a:rPr>
              <a:t>es alta </a:t>
            </a:r>
            <a:r>
              <a:rPr sz="2300" b="1" i="0">
                <a:solidFill>
                  <a:srgbClr val="20242E"/>
                </a:solidFill>
                <a:latin typeface="Bricolage Grotesque"/>
              </a:rPr>
              <a:t>y </a:t>
            </a:r>
            <a:r>
              <a:rPr sz="2300" b="1" i="0">
                <a:solidFill>
                  <a:srgbClr val="2563EB"/>
                </a:solidFill>
                <a:latin typeface="Bricolage Grotesque"/>
              </a:rPr>
              <a:t>mis </a:t>
            </a:r>
            <a:r>
              <a:rPr sz="2300" b="1" i="0">
                <a:solidFill>
                  <a:srgbClr val="1E9E74"/>
                </a:solidFill>
                <a:latin typeface="Bricolage Grotesque"/>
              </a:rPr>
              <a:t>hermanos </a:t>
            </a:r>
            <a:r>
              <a:rPr sz="2300" b="1" i="0">
                <a:solidFill>
                  <a:srgbClr val="20242E"/>
                </a:solidFill>
                <a:latin typeface="Bricolage Grotesque"/>
              </a:rPr>
              <a:t>son morenos.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74320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El mecanismo — klik een cel → de vorm: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004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200400"/>
            <a:ext cx="29260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563EB"/>
                </a:solidFill>
                <a:latin typeface="Bricolage Grotesque"/>
              </a:rPr>
              <a:t>mi / mis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00400"/>
            <a:ext cx="22860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mijn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2004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3200400"/>
            <a:ext cx="29260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563EB"/>
                </a:solidFill>
                <a:latin typeface="Bricolage Grotesque"/>
              </a:rPr>
              <a:t>tu / tus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81160" y="3200400"/>
            <a:ext cx="22860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jouw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059936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059936"/>
            <a:ext cx="29260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563EB"/>
                </a:solidFill>
                <a:latin typeface="Bricolage Grotesque"/>
              </a:rPr>
              <a:t>su / sus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0" y="4059936"/>
            <a:ext cx="22860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zijn/haar/hun/uw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2200" y="4059936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4059936"/>
            <a:ext cx="29260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563EB"/>
                </a:solidFill>
                <a:latin typeface="Bricolage Grotesque"/>
              </a:rPr>
              <a:t>nuestro/-a/-os/-as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81160" y="4059936"/>
            <a:ext cx="22860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onze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21208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Overeenkomst in GETAL (niet in geslacht, behalve nuestro):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mi hermana → mis hermanas · tu primo → tus primos.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su = zijn/haar/hun/uw (context beslist) · nuestro/nuestra/nuestros/nuestras past óók in geslacht.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50840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Singular o plural — mi o mis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zin → de juiste vorm. Tel het zelfstandig naamwoord.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hermano (1)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1554481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mi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hermanas (2)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313432"/>
            <a:ext cx="1554481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mis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primos (varios)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026664"/>
            <a:ext cx="1554481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mis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abuela (1)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3739896"/>
            <a:ext cx="1554481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mi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¿Cómo se llama ___ padre?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1600200"/>
            <a:ext cx="1554481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tu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¿Dónde viven ___ abuelos?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2313432"/>
            <a:ext cx="1554481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tus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familia es grande. (onze)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12680" y="3026664"/>
            <a:ext cx="1554481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nuestra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tíos son majos. (haar)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12680" y="3739896"/>
            <a:ext cx="1554481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sus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Enkelvoud zn. → mi/tu/su · meervoud zn. → mis/tus/sus.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nuestro/-a/-os/-as past in geslacht én getal.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¿Cómo es? — descripción física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betekenis. Descripción met ser + tener/llevar.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554480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alto/a ↔ bajo/a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1554480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lang/groot ↔ klein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295144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295144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delgado/a ↔ gordito/a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295144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slank ↔ mollig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35808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035808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guapo/a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3035808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knap / mooi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76472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3776472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moreno/a ↔ rubio/a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3776472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donker ↔ blond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517136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4517136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pelirrojo/a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4517136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roodharig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1554480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36792" y="1554480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el pelo largo/corto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1554480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lang/kort haar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2295144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36792" y="2295144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liso ↔ rizado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2295144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steil ↔ krullend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035808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36792" y="3035808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los ojos + color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3035808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de ogen + kleur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2200" y="3776472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36792" y="3776472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la barba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3776472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de baard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4517136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36792" y="4517136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llevar gafas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4517136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een bril dragen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1" name="Rounded Rectangle 40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493776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Constructies: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es alto (ser + eigenschap) · tiene el pelo largo / los ojos verdes (tener + kenmerk) · lleva gafas (llevar).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colores: marrón · negro · castaño · azul · verde · gris. «Tiene los ojos marrones» (congruentie in getal).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4360" y="48097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adjetivo concuerda — género y número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Röntgen: het bijv. nw. past bij het zn. in geslacht én getal, en staat ERNA.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8686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64208"/>
            <a:ext cx="5074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57355"/>
                </a:solidFill>
                <a:latin typeface="Bricolage Grotesque"/>
              </a:rPr>
              <a:t>el chico alt-o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57400"/>
            <a:ext cx="507492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m. enkelvoud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532120" cy="8686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64208"/>
            <a:ext cx="5074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57355"/>
                </a:solidFill>
                <a:latin typeface="Bricolage Grotesque"/>
              </a:rPr>
              <a:t>la chica alt-a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057400"/>
            <a:ext cx="507492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v. enkelvoud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587752"/>
            <a:ext cx="5532120" cy="8686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697480"/>
            <a:ext cx="5074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57355"/>
                </a:solidFill>
                <a:latin typeface="Bricolage Grotesque"/>
              </a:rPr>
              <a:t>los chicos alt-os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0672"/>
            <a:ext cx="507492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m. meervoud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587752"/>
            <a:ext cx="5532120" cy="8686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697480"/>
            <a:ext cx="5074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57355"/>
                </a:solidFill>
                <a:latin typeface="Bricolage Grotesque"/>
              </a:rPr>
              <a:t>las chicas alt-as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090672"/>
            <a:ext cx="507492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v. meervoud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7033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Klik → de speciale gevallen: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148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114800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inteligente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4114800"/>
            <a:ext cx="2971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→ blijft gelijk (m/v): chico/chica inteligente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41148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4114800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joven → jóvenes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4114800"/>
            <a:ext cx="2971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→ enkel meervoud verandert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0974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09744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hablador → habladora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80360" y="4809744"/>
            <a:ext cx="2971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→ -or krijgt wél -a in het vrouwelijk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480974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4809744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los ojos verdes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4809744"/>
            <a:ext cx="2971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→ kleur past in getal (verde → verdes)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6" name="Rounded Rectangle 3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55321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Het adjetivo staat NÁ het zn. en past mee: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una chica alta, unos ojos verdes. -e/-ista/-consonant zijn vaak onveranderlijk in geslacht.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4360" y="54041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¿Cómo es su carácter?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betekenis. ser + carácter (es simpático).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simpático/a ↔ antipático/a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554480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aardig ↔ onaardig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majo/a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2359152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leuk/vriendelijk (Sp.)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tímido/a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3163824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verlegen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79392" y="1554480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16552" y="1554480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gracioso/a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554480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grappig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79392" y="2359152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6552" y="2359152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trabajador/a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2359152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hardwerkend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79392" y="3163824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16552" y="3163824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inteligente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9672" y="3163824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slim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01584" y="1554480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38744" y="1554480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hablador/a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41864" y="1554480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praatgraag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01584" y="2359152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38744" y="2359152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tranquilo/a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41864" y="2359152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rustig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01584" y="3163824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38744" y="3163824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alegre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41864" y="3163824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vrolijk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8" name="Rounded Rectangle 3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 (docent):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«Mi hermana es simpática, un poco tímida pero muy graciosa. Mi padre es tranquilo y trabajador.»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«muy» (heel) + «un poco» (een beetje) + «pero» (maar) nuanceren de beschrijving.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Ser y estar — 🔴 la trampa (beide = «zijn»)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Twee-kolom-spiegel: SER = wie/hoe iemand is · ESTAR = toestand/plaats.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486400" cy="329184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20320">
            <a:solidFill>
              <a:srgbClr val="2563EB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45920"/>
            <a:ext cx="51206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563EB"/>
                </a:solidFill>
                <a:latin typeface="Bricolage Grotesque"/>
              </a:rPr>
              <a:t>SER — identidad / descripción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1945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Soy Lucía. (identiteit)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6517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Es de Sevilla. (herkomst)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1089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Mi padre es alto y moreno. (uiterlijk)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5661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Mi tía es muy simpática. (karakter)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0233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Somos cinco. (aantal)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508760"/>
            <a:ext cx="5486400" cy="329184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20320">
            <a:solidFill>
              <a:srgbClr val="14B8A6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645920"/>
            <a:ext cx="51206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4B8A6"/>
                </a:solidFill>
                <a:latin typeface="Bricolage Grotesque"/>
              </a:rPr>
              <a:t>ESTAR — estado / lugar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1945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4B8A6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Estoy bien / cansada. (toestand)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6517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4B8A6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Mi abuela está en casa. (plaats)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1089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4B8A6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¿Dónde estás? (plaats)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5661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4B8A6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Mis tíos están casados. (burg. staat)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0233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4B8A6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Hoy estamos contentos. (stemming nu)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5" name="Rounded Rectangle 2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98348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Nederlands heeft één «zijn», Spaans twee: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SER = wie/hoe iemand IS (blijvend: naam, herkomst, uiterlijk, karakter) ·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ESTAR = toestand nú of PLAATS (cansada, en casa). «Es simpática» (altijd) ↔ «Está cansada» (nu).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48554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Las formas — ser · estar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cel → de vorm. Beide onregelmatig; let op de yo-vorm.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600200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2563EB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1600200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ser (identidad)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600200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14B8A6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600200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estar (estado/lugar)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94560"/>
            <a:ext cx="1371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2194560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1840" y="2194560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563EB"/>
                </a:solidFill>
                <a:latin typeface="Inter"/>
              </a:rPr>
              <a:t>soy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194560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2194560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4B8A6"/>
                </a:solidFill>
                <a:latin typeface="Inter"/>
              </a:rPr>
              <a:t>estoy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2761488"/>
            <a:ext cx="1371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91840" y="2761488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1840" y="2761488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563EB"/>
                </a:solidFill>
                <a:latin typeface="Inter"/>
              </a:rPr>
              <a:t>eres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60" y="2761488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2761488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4B8A6"/>
                </a:solidFill>
                <a:latin typeface="Inter"/>
              </a:rPr>
              <a:t>estás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3328416"/>
            <a:ext cx="1371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3328416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1840" y="3328416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563EB"/>
                </a:solidFill>
                <a:latin typeface="Inter"/>
              </a:rPr>
              <a:t>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328416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0" y="3328416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4B8A6"/>
                </a:solidFill>
                <a:latin typeface="Inter"/>
              </a:rPr>
              <a:t>está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3895344"/>
            <a:ext cx="1371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91840" y="3895344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91840" y="3895344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563EB"/>
                </a:solidFill>
                <a:latin typeface="Inter"/>
              </a:rPr>
              <a:t>somos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3895344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895344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4B8A6"/>
                </a:solidFill>
                <a:latin typeface="Inter"/>
              </a:rPr>
              <a:t>estamos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4462272"/>
            <a:ext cx="1371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1840" y="4462272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91840" y="4462272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563EB"/>
                </a:solidFill>
                <a:latin typeface="Inter"/>
              </a:rPr>
              <a:t>sois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38160" y="4462272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38160" y="4462272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4B8A6"/>
                </a:solidFill>
                <a:latin typeface="Inter"/>
              </a:rPr>
              <a:t>estáis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5029200"/>
            <a:ext cx="1371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91840" y="5029200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91840" y="5029200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563EB"/>
                </a:solidFill>
                <a:latin typeface="Inter"/>
              </a:rPr>
              <a:t>son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38160" y="5029200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38160" y="5029200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4B8A6"/>
                </a:solidFill>
                <a:latin typeface="Inter"/>
              </a:rPr>
              <a:t>están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5" name="Rounded Rectangle 4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7200" y="521208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563EB"/>
                </a:solidFill>
                <a:latin typeface="Inter"/>
              </a:rPr>
              <a:t>ser: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soy·eres·es·somos·sois·son · </a:t>
            </a:r>
            <a:r>
              <a:rPr sz="1200" b="1" i="0">
                <a:solidFill>
                  <a:srgbClr val="14B8A6"/>
                </a:solidFill>
                <a:latin typeface="Inter"/>
              </a:rPr>
              <a:t>estar: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estoy·estás·está·estamos·estáis·están (klemtoon estás/está!).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94360" y="50840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71724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QUIZ · CONJUGA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Cloze — tener · ser · estar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zin → de juiste vorm(en). Kies tussen ser/estar en vervoeg tener.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91056"/>
            <a:ext cx="5257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Mi abuela ___ (ser) simpática y hoy ___ (estar) en Sevilla.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938528"/>
            <a:ext cx="5257800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 · está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4086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77440"/>
            <a:ext cx="5257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Yo ___ (tener) dos primos.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724912"/>
            <a:ext cx="5257800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tengo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2724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5257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Mis padres ___ (ser) de Andalucía.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511296"/>
            <a:ext cx="5257800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son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1363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950208"/>
            <a:ext cx="5257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Nosotros ___ (estar) en casa.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297680"/>
            <a:ext cx="5257800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estamos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591056"/>
            <a:ext cx="5257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¿Cuántos hermanos ___ (tener) tú?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1938528"/>
            <a:ext cx="5257800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tienes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4086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77440"/>
            <a:ext cx="5257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Lucía ___ (tener) el pelo largo y ___ (ser) morena.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2724912"/>
            <a:ext cx="5257800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tiene · 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12724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163824"/>
            <a:ext cx="5257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Mi hermano ___ (estar) cansado.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3511296"/>
            <a:ext cx="5257800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está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1363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950208"/>
            <a:ext cx="5257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Vosotros ___ (ser) muy majos.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297680"/>
            <a:ext cx="5257800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sois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Sleutel: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1 es·está · 2 tengo · 3 son · 4 estamos · 5 tienes · 6 tiene·es · 7 está · 8 sois.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SER = eigenschap/herkomst (simpática, de Andalucía, morena, majos) · ESTAR = toestand/plaats (en Sevilla, en casa, cansado).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§5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Demostrativos — este / ese (señala en el álbum)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Zoom: dit (dichtbij) = este · dat (verder) = ese. Klik → de vorm.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45920"/>
            <a:ext cx="34290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este (m. sg.)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057400"/>
            <a:ext cx="34290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deze — dichtbij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423160"/>
            <a:ext cx="3429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Este es mi hermano.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9392" y="1554480"/>
            <a:ext cx="370332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6552" y="1645920"/>
            <a:ext cx="34290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esta (v. sg.)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6552" y="2057400"/>
            <a:ext cx="34290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deze — dichtbij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6552" y="2423160"/>
            <a:ext cx="3429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Esta es mi abuela.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1584" y="1554480"/>
            <a:ext cx="370332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8744" y="1645920"/>
            <a:ext cx="34290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estos (m. pl.)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2057400"/>
            <a:ext cx="34290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deze — dichtbij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8744" y="2423160"/>
            <a:ext cx="3429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Estos son mis primos.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182112"/>
            <a:ext cx="370332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273552"/>
            <a:ext cx="34290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estas (v. pl.)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685032"/>
            <a:ext cx="34290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deze — dichtbij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050792"/>
            <a:ext cx="3429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Estas son mis tías.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79392" y="3182112"/>
            <a:ext cx="370332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16552" y="3273552"/>
            <a:ext cx="34290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ese/esa (sg.)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16552" y="3685032"/>
            <a:ext cx="34290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die — verder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6552" y="4050792"/>
            <a:ext cx="3429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Ese es mi tío.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01584" y="3182112"/>
            <a:ext cx="370332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38744" y="3273552"/>
            <a:ext cx="34290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esos/esas (pl.)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38744" y="3685032"/>
            <a:ext cx="34290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die — verder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38744" y="4050792"/>
            <a:ext cx="3429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Esas son mis hermanas.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507492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Ze passen in geslacht én getal bij het zn.: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este/esta/estos/estas (dichtbij) · ese/esa/esos/esas (verder). Bij foto's: «Este es… / Esta es…».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9469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§6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familia de Lucía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Lees het album en beantwoord. Klik een vraag → het antwoord + bewijs.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486400" cy="41148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3736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783080" y="1783080"/>
            <a:ext cx="3977639" cy="374903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«¡Hola! Soy Lucía y esta es mi familia de Sevilla. Somos cinco: mis padres, mi hermano mayor Marco, mi hermana menor Ana y yo. Mi padre se llama Antonio; es alto, moreno y muy tranquilo. Mi madre, Rosa, es baja, rubia y muy habladora. Marco tiene diecinueve años; es delgado y lleva gafas. Ana solo tiene ocho años: es pequeña, graciosa y un poco tímida. También tengo dos abuelos, Pepe y Carmen, y una prima, Julia, que es pelirroja y muy simpática. Hoy todos estamos en casa de los abuelos. ¡Es una familia grande y muy alegre!»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60" y="1554480"/>
            <a:ext cx="56235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600200"/>
            <a:ext cx="534924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¿Cuántos son en la familia?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938528"/>
            <a:ext cx="534924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Somos cinco (bewijs: «Somos cinco»)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80760" y="2377440"/>
            <a:ext cx="56235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2423160"/>
            <a:ext cx="534924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¿Cómo es el padre, Antonio?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761488"/>
            <a:ext cx="534924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Alto, moreno y tranquilo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3200400"/>
            <a:ext cx="56235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3246120"/>
            <a:ext cx="534924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¿Cuántos años tiene Marco?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3584448"/>
            <a:ext cx="534924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Diecinueve (y lleva gafas)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60" y="4023360"/>
            <a:ext cx="56235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4069080"/>
            <a:ext cx="534924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¿Quién es pelirroja?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4407408"/>
            <a:ext cx="534924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La prima Julia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80760" y="4846320"/>
            <a:ext cx="56235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4892040"/>
            <a:ext cx="534924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¿Dónde están hoy todos?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5230368"/>
            <a:ext cx="534924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En casa de los abuelos (estar = plaats)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080760" y="5715000"/>
            <a:ext cx="5623560" cy="45720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Betekenis uit context: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majo ≈ simpático · mayor/menor = ouder/jonger. Daarna: beschrijf je EIGEN familie.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5586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96961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ESCUCHAR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Escucha y adivina — ¿quién 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beschrijvingen. Klik een kaart → wie het is.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737360"/>
            <a:ext cx="5532120" cy="11887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5532120" cy="41148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737360"/>
            <a:ext cx="5257800" cy="4114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🔊  Descripción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40280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«Es alta, rubia y muy habladora.»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78608"/>
            <a:ext cx="5166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→ la madre, Rosa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737360"/>
            <a:ext cx="5532120" cy="11887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737360"/>
            <a:ext cx="5532120" cy="41148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737360"/>
            <a:ext cx="5257800" cy="4114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🔊  Descripción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240280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«Es alto, moreno y tranquilo.»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578608"/>
            <a:ext cx="5166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→ el padre, Antonio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108960"/>
            <a:ext cx="5532120" cy="11887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108960"/>
            <a:ext cx="5532120" cy="41148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108960"/>
            <a:ext cx="5257800" cy="4114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🔊  Descripción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611880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«Tiene 19 años, es delgado y lleva gafas.»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950208"/>
            <a:ext cx="5166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→ el hermano, Marco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08960"/>
            <a:ext cx="5532120" cy="11887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108960"/>
            <a:ext cx="5532120" cy="41148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108960"/>
            <a:ext cx="5257800" cy="4114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🔊  Descripción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3611880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«Es pequeña, graciosa y un poco tímida.»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950208"/>
            <a:ext cx="5166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→ la hermana, Ana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1" name="Rounded Rectangle 30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70916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Docent leest de descripciones (of TTS); klas raadt.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Let op: ser (uiterlijk/karakter) + tener/llevar (haar/gafas). Daarna zelf een familielid beschrijven → de klas raadt.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96961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Juego «¿Quién es?» — describe y adivina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Beschrijf een familielid → de klas raadt. Steun bouwt af: marco → sleutelwoorden → vrij.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0876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91640"/>
            <a:ext cx="31089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73736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Relación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02082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Es mi ___ (hermano/tía…)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06040"/>
            <a:ext cx="31089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65176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Física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93522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Es alto/a, delgado/a…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520440"/>
            <a:ext cx="31089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56616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Pelo / ojos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84962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Tiene el pelo ___ y los ojos ___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91640"/>
            <a:ext cx="31089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73736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Carácter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202082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Es simpático/a, gracioso/a…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606040"/>
            <a:ext cx="31089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65176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Estado/lugar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93522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Está en ___ / está ___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520440"/>
            <a:ext cx="31089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56616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Adivina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84962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¿Quién es? → adivinan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663440"/>
            <a:ext cx="9601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het marco.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sleutelwoorden.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vrij → grábate online.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97680"/>
            <a:ext cx="4493361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🎙️ Grábate online · «describe-familiar» / «quien-es»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«Es mi hermana. Es baja y delgada, tiene el pelo largo y los ojos verdes. Es muy graciosa. Está en casa. ¿Quién es?»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Escribe tu álbum de familia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Schrijf 6 bijschriften (este es… + descripción). Klik → een modeltekst.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✍️ Escribe aquí (pie de foto):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demostrativo (este/esta es…)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la relación (mi hermano, mi tía…)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descripción física (es alto, tiene…)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el carácter (es simpático/a)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posesivo (mi/mis/nuestro)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conector (y, pero, también, porque)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4114800"/>
            <a:ext cx="5486400" cy="10515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160520"/>
            <a:ext cx="5212080" cy="9601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100" b="0" i="1">
                <a:solidFill>
                  <a:srgbClr val="20242E"/>
                </a:solidFill>
                <a:latin typeface="Inter"/>
              </a:rPr>
              <a:t>«Esta es mi familia. Este es mi padre; es alto, moreno y tranquilo. Esta es mi hermana Ana: es pequeña y muy graciosa, pero un poco tímida. También tengo dos abuelos muy majos.»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Conectores y ortografía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item → correcte vorm. Twee gereedschappen om je familie te beschrijven.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A · conectores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 alto ___ delgado.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78308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y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 bajo ___ muy fuerte.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244144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pero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maar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Mi hermana ___ es morena.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309981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también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ook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 simpática ___ es alegre.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375818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porque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want/omdat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B · mayúsculas y tildes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antonio y rosa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Antonio y Rosa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es de sevilla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 de Sevilla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mi tia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mi tía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¿como es?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¿cómo es?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y (en) · pero (maar) · también (ook) · 🔴 porque = want ÉN omdat (één woord!).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B: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nombres/apellidos/steden met hoofdletter (Antonio, Sevilla); vraagwoorden met tilde (¿cómo? ¿cuántos?); tía/años dragen tilde.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PARADA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familia hispana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het weetje. Grote, hechte families in de Spaanstalige wereld.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👪 La familia unida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Grote, hechte families: abuelos, tíos en primos wonen vaak dichtbij en komen vaak samen. «Apodos» (bijnamen): Pepe=José, Paco=Francisco, Lola=Dolores.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11480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Vergelijk met je eigen familie in België.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🎉 La quinceañera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Het 15e-verjaardagsfeest van een meisje (vooral Latijns-Amerika): een groot familiefeest met jurk, dans en misa. Overgang naar de volwassenheid.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11480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Bestaat er zoiets bij jou? Een lentefeest?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🎨 Frida Kahlo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De Mexicaanse schilderes maakte «Mi familia / árbol genealógico»: familie als thema in de kunst. Een geschilderde stamboom.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11480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Maak je eigen árbol genealógico als kunstwerk.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98348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¿cómo es tu familia? ¿grande o pequeña? ¿tenéis apodos? Beschrijf je familie en vergelijk met «la familia hispana».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85546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6868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Bricolage Grotesque"/>
              </a:rPr>
              <a:t>✈ Tarea final · Álbum de familia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Maak je familiealbum met árbol genealógico + het raadspel «¿Quién es?».</a:t>
            </a:r>
          </a:p>
        </p:txBody>
      </p:sp>
      <p:pic>
        <p:nvPicPr>
          <p:cNvPr id="5" name="Picture 4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64592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931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Haz tu árbol genealógico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1554480"/>
            <a:ext cx="6492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teken je stamboom met de namen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931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los pies de foto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2121408"/>
            <a:ext cx="6492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«Este es mi… / Esta es mi…» + descripción física + carácter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931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Usa ser y estar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2688336"/>
            <a:ext cx="6492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 simpático (ser) · está en casa (estar)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931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Preséntalo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3255264"/>
            <a:ext cx="6492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 la clase of vlog/audio (digitale pagina)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931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Juega «¿Quién es?»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3822192"/>
            <a:ext cx="6492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beschrijf één familielid → de klas raadt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familia + tener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adjetivos (congruentie)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ser / estar correct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posesivos + demostrativos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Afzender jij · ontvanger de klas/Lucía · doel je familie voorstellen · situatie Lucía deelt haar album, jij het jouwe · resultaat: álbum + árbol + «¿Quién es?».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yo · tener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1600200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tengo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mi hermana → mis ___ (2)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313432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hermanas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«es simpática»: ser o estar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3026664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ser (karakter)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«está en casa»: ser o estar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3739896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estar (plaats)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los padres = 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1600200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vader + moeder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una chica alt__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2313432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alta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«want/omdat» = 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3026664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porque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Este es mi… / Esta es mi… → wijzen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3739896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demostrativos (dichtbij)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familia + tener · congruentie adjetivos · ser/estar · posesivos · demostrativos · conectores.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volledige herhaling (spellen,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33172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Familia + tener: tengo·tienes·tiene·tenemos·tenéis·tienen. «Tengo dos hermanos» · leeftijd: «Tengo 14 años».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7568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Posesivos: mi/tu/su + mis/tus/sus (getal) · nuestro/-a/-os/-as. «mi hermana → mis hermanas».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50545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Adjetivos: NÁ het zn. + congruentie o/a/os/as. «una chica alta», «los ojos verdes».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3522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🔴 SER (identiteit/beschrijving: es alta, es de Sevilla) ↔ ESTAR (toestand/plaats: está cansada, está en casa).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649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Demostrativos: este/esta/estos/estas (dichtbij) · ese/esa/esos/esas (verder). Conectores: y·pero·también·porque.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77639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8912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familieleden + tener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41655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41655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41655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7316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posesivos (mi/mis…)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80060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80060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80060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5721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adjetivos met congruentie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8464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8464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8464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54126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ser vs. estar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6869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6869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6869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92531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demostrativos (este/ese)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5274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5274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5274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