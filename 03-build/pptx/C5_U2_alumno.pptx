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9" r:id="rId30"/>
    <p:sldId id="280" r:id="rId31"/>
    <p:sldId id="281" r:id="rId32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La familia de la telenovela — 🎭 simulatie met beperking</a:t>
            </a:r>
          </a:p>
          <a:p>
            <a:r>
              <a:t>OPDRACHT: Samen verzinnen jullie de familie. Elk personage wordt met een bezittelijk voornaamwoord aan een ander gekoppeld.</a:t>
            </a:r>
          </a:p>
          <a:p>
            <a:r>
              <a:t>DE REGEL: Elk nieuw personage moet met minstens twee bezittelijke voornaamwoorden aan de bestaande familie hangen. Een personage dat aan niemand hangt, komt er niet in.</a:t>
            </a:r>
          </a:p>
          <a:p>
            <a:r>
              <a:t>VERLOOP: Empezamos con Rosalía, la abuela. Todo cuelga de ella. | Cada alumno/a añade un personaje y lo conecta. | El/la profe dibuja el árbol en la pizarra mientras tanto. | Al final: una frase de escándalo con «su» o «sus».</a:t>
            </a:r>
          </a:p>
          <a:p>
            <a:r>
              <a:t>SLEUTEL: De regel te bewaken: «su» hoort bij het bezeten ding, niet bij de bezitter — «sus hijos» is meervoud omdat er meer kinderen zijn, niet omdat er meer ouders zijn.  ||  «Nuestro/-a» beweegt wél mee in geslacht: nuestra abuela, nuestro abuelo.  ||  Laat de stamboom op het bord staan: bij de eindtaak «Álbum de familia» is hij het model.</a:t>
            </a:r>
          </a:p>
          <a:p>
            <a:r>
              <a:t>NOTA: Werkt het best als de leerkracht meetekent. Zonder zichtbare stamboom verliest de klas na zes personages het overzicht.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Herencia con condiciones — ⚖️ onderhandeling &amp; dilemma</a:t>
            </a:r>
          </a:p>
          <a:p>
            <a:r>
              <a:t>OPDRACHT: Beslis wie wat krijgt. Elke beslissing verdedig je alleen met een familierelatie.</a:t>
            </a:r>
          </a:p>
          <a:p>
            <a:r>
              <a:t>DE REGEL: Alleen familieargumenten tellen. «Ik wil het» of «het past bij mij» is geen argument; «es de su hermana, no de la mía» wel.</a:t>
            </a:r>
          </a:p>
          <a:p>
            <a:r>
              <a:t>VERLOOP: Leed la nota de la tía. No decide nada. | Cada uno elige un objeto y prepara su argumento. | Negociad. Solo argumentos de parentesco. | ¿No hay acuerdo? El objeto va al museo del pueblo.</a:t>
            </a:r>
          </a:p>
          <a:p>
            <a:r>
              <a:t>SLEUTEL: Er is geen juiste verdeling. Beoordeel of élke toewijzing met een familierelatie verdedigd is en of de bezittelijke voornaamwoorden kloppen.  ||  De ring is de scherpste casus: «de madre a hija» sluit de zonen uit — laat de klas dat zelf ontdekken en betwisten.  ||  De kat is bewust de minst begeerde: daar hoor je «no lo quiero» en dus de ontkenning met pronomen.</a:t>
            </a:r>
          </a:p>
          <a:p>
            <a:r>
              <a:t>NOTA: Zet een klok van acht minuten. Zonder tijdsdruk blijft de klas bij het eerste voorwerp hangen.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La foto sin pie — 🕵️ forensisch</a:t>
            </a:r>
          </a:p>
          <a:p>
            <a:r>
              <a:t>OPDRACHT: Kies het juiste onderschrift en zeg welk woord het verraadt. Bijna altijd is dat «ser» of «estar».</a:t>
            </a:r>
          </a:p>
          <a:p>
            <a:r>
              <a:t>DE REGEL: Je moet het verraderlijke wóórd aanwijzen, niet het onderschrift. Wie het juiste kiest maar het woord niet vindt, heeft geraden.</a:t>
            </a:r>
          </a:p>
          <a:p>
            <a:r>
              <a:t>VERLOOP: Mira la escena. ¿Qué ves exactamente? | Lee los tres pies. Dos chocan con la foto. | Señala la palabra que decide.</a:t>
            </a:r>
          </a:p>
          <a:p>
            <a:r>
              <a:t>SLEUTEL: Casus 1: het eerste. Beslissend woord: «está» (gevoel van dit moment).  ||  Casus 2: het eerste. Beslissend woord: «es cocinero» (beroep gaat met ser).  ||  Casus 3: het tweede. Beslissend woord: «lleva» — een bril draag je, die ben of sta je niet.  ||  Casus 3 is de moeilijkste omdat geen van de drie fout is op ser/estar alleen: je moet zien dat het werkwoord zelf verkeerd gekozen is.</a:t>
            </a:r>
          </a:p>
          <a:p>
            <a:r>
              <a:t>NOTA: De scènes worden op de dia beschreven, niet getoond: de leerling moet ze zich voorstellen en dan pas de zinnen toetsen. Dat maakt het een taaloefening en geen zoekplaatje.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21.xml"/><Relationship Id="rId9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familia de la telenovela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clase escribe una telenovela. Pero primero hay que saber quién es de quién.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klas schrijft een telenovela. Maar eerst moet je weten wie van wie is.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Elk nieuw personage moet met minstens twee bezittelijke voornaamwoorden aan de bestaande familie hangen. Een personage dat aan niemand hangt, komt er niet in.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Rosalía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abuela · 78 años · vive en Triana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Curro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marido · toca la guitarra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es mi/tu/su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Sus hijos se llaman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Nuestra abuela vive en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perro se llama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¡Su marido no es su marido!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¡Sus hijos no saben que …!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¡Escándalo!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¡Nuestra abuela tiene un secreto!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Herencia con condiciones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La tía Amparo deja cinco cosas. Y una nota que no aclara nada.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Tante Amparo laat vijf dingen na. En een briefje dat niets verduidelijkt.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Alleen familieargumenten tellen. «Ik wil het» of «het past bij mij» is geen argument; «es de su hermana, no de la mía» wel.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guitarra de Curro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marido la tocaba cada domingo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anillo de la bisabuela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pasa de madre a hija desde 1890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las fotos del pueblo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las hizo su hermano Paco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casa de Triana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vale mucho dinero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gato Manolo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tiene catorce años y muerde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de mi …, no de la tuya.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Su … la tocaba, entonces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Nuestros … la usaban.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estoy de acuerdo: sus …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FORENSISCH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foto sin pie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foto, tres pies de foto. Solo uno dice la verdad.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Eén foto, drie onderschriften. Maar één ervan klopt.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moet het verraderlijke wóórd aanwijzen, niet het onderschrift. Wie het juiste kiest maar het woord niet vindt, heeft geraden.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1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chica sonríe en una fiesta, rodeada de gente.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contenta porque es su cumpleaños.</a:t>
            </a:r>
          </a:p>
        </p:txBody>
      </p:sp>
      <p:sp>
        <p:nvSpPr>
          <p:cNvPr id="15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está = hoe ze zich nu voelt</a:t>
            </a:r>
          </a:p>
        </p:txBody>
      </p:sp>
      <p:sp>
        <p:nvSpPr>
          <p:cNvPr id="17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contenta porque está su cumpleaños.</a:t>
            </a:r>
          </a:p>
        </p:txBody>
      </p:sp>
      <p:sp>
        <p:nvSpPr>
          <p:cNvPr id="19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ser/estar omgewisseld</a:t>
            </a:r>
          </a:p>
        </p:txBody>
      </p:sp>
      <p:sp>
        <p:nvSpPr>
          <p:cNvPr id="21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simpática y es cansada.</a:t>
            </a:r>
          </a:p>
        </p:txBody>
      </p:sp>
      <p:sp>
        <p:nvSpPr>
          <p:cNvPr id="23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eigenschap met estar, toestand…</a:t>
            </a:r>
          </a:p>
        </p:txBody>
      </p:sp>
      <p:sp>
        <p:nvSpPr>
          <p:cNvPr id="25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2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abuelo con delantal, en la cocina, cortando cebolla.</a:t>
            </a:r>
          </a:p>
        </p:txBody>
      </p:sp>
      <p:sp>
        <p:nvSpPr>
          <p:cNvPr id="27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cocinero y está en la cocina.</a:t>
            </a:r>
          </a:p>
        </p:txBody>
      </p:sp>
      <p:sp>
        <p:nvSpPr>
          <p:cNvPr id="29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beroep = ser, plaats = estar</a:t>
            </a:r>
          </a:p>
        </p:txBody>
      </p:sp>
      <p:sp>
        <p:nvSpPr>
          <p:cNvPr id="31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 cocinero y es en la cocina.</a:t>
            </a:r>
          </a:p>
        </p:txBody>
      </p:sp>
      <p:sp>
        <p:nvSpPr>
          <p:cNvPr id="33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allebei omgewisseld</a:t>
            </a:r>
          </a:p>
        </p:txBody>
      </p:sp>
      <p:sp>
        <p:nvSpPr>
          <p:cNvPr id="3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en la cocina y está cocinero.</a:t>
            </a:r>
          </a:p>
        </p:txBody>
      </p:sp>
      <p:sp>
        <p:nvSpPr>
          <p:cNvPr id="37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idem, andere volgorde</a:t>
            </a:r>
          </a:p>
        </p:txBody>
      </p:sp>
      <p:sp>
        <p:nvSpPr>
          <p:cNvPr id="39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Foto 3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Dos hermanos idénticos, uno con gafas.</a:t>
            </a:r>
          </a:p>
        </p:txBody>
      </p:sp>
      <p:sp>
        <p:nvSpPr>
          <p:cNvPr id="41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9"/>
          <p:cNvSpPr txBox="1"/>
          <p:nvPr/>
        </p:nvSpPr>
        <p:spPr>
          <a:xfrm>
            <a:off x="3403854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Son gemelos, pero uno está con gafas.</a:t>
            </a:r>
          </a:p>
        </p:txBody>
      </p:sp>
      <p:sp>
        <p:nvSpPr>
          <p:cNvPr id="43" name="Onthul 9"/>
          <p:cNvSpPr/>
          <p:nvPr/>
        </p:nvSpPr>
        <p:spPr>
          <a:xfrm>
            <a:off x="3403854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nthulTxt 9"/>
          <p:cNvSpPr txBox="1"/>
          <p:nvPr/>
        </p:nvSpPr>
        <p:spPr>
          <a:xfrm>
            <a:off x="3422142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bril dragen = llevar, niet estar</a:t>
            </a:r>
          </a:p>
        </p:txBody>
      </p:sp>
      <p:sp>
        <p:nvSpPr>
          <p:cNvPr id="45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10"/>
          <p:cNvSpPr txBox="1"/>
          <p:nvPr/>
        </p:nvSpPr>
        <p:spPr>
          <a:xfrm>
            <a:off x="6259068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Son gemelos y uno lleva gafas.</a:t>
            </a:r>
          </a:p>
        </p:txBody>
      </p:sp>
      <p:sp>
        <p:nvSpPr>
          <p:cNvPr id="47" name="Onthul 10"/>
          <p:cNvSpPr/>
          <p:nvPr/>
        </p:nvSpPr>
        <p:spPr>
          <a:xfrm>
            <a:off x="6259068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nthulTxt 10"/>
          <p:cNvSpPr txBox="1"/>
          <p:nvPr/>
        </p:nvSpPr>
        <p:spPr>
          <a:xfrm>
            <a:off x="6277356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✓ llevar voor kleding en bril</a:t>
            </a:r>
          </a:p>
        </p:txBody>
      </p:sp>
      <p:sp>
        <p:nvSpPr>
          <p:cNvPr id="49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arjetaTxt 11"/>
          <p:cNvSpPr txBox="1"/>
          <p:nvPr/>
        </p:nvSpPr>
        <p:spPr>
          <a:xfrm>
            <a:off x="9114282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/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Están gemelos y uno es gafas.</a:t>
            </a:r>
          </a:p>
        </p:txBody>
      </p:sp>
      <p:sp>
        <p:nvSpPr>
          <p:cNvPr id="51" name="Onthul 11"/>
          <p:cNvSpPr/>
          <p:nvPr/>
        </p:nvSpPr>
        <p:spPr>
          <a:xfrm>
            <a:off x="9114282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nthulTxt 11"/>
          <p:cNvSpPr txBox="1"/>
          <p:nvPr/>
        </p:nvSpPr>
        <p:spPr>
          <a:xfrm>
            <a:off x="9132570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✗ familieband is ser, en «es gafa…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