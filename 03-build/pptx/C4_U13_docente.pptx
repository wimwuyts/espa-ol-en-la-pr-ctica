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Openingsdia. Lees het citaat voor en vraag wat ze al herkennen.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Julio en María komen elkaar tegen op de markt. Zij zet zijn mandje recht — een ui, een blikje tonijn en zes repen chocolade — en stelt intussen de hele boodschappenlijst samen. Hij hoort er ongeveer niets van, want hij is met iets heel anders bezig. Alles wat zij zegt, heb jij nodig zodra je zelf op een Spaanse markt staat.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Speel het fragment af (digitale pagina, tabblad Escucha). Eerst zonder tekst, daarna meelezen.
Vertaling:
María: Julio! Hoe gaat het?
Julio: Heel goed, heel goed, heel goed.
María: Je ziet er niet zo goed uit.
Julio: Ik ben ziek. Ik ben ziek, daarom ga ik niet naar de academie.
María: Juist. Je moet voor jezelf zorgen.
Julio: Dat probeer ik. Vitamine C, dat is heel goed, ontzettend goed.
María: Een ui.
Julio: Het is… Ik probeer een mediterraan dieet te volgen, een gezond dieet.
María: Juist.
María: En een blikje tonijn.
Julio: Het is belangrijk om vis te eten. Ik ben geen vegetariër, ik eet niet veel vlees. Ik zorg graag voor mezelf.
María: En zes repen chocolade.
Julio: Dat is een aanbieding, ze zijn goedkoop. Je moet weten waar je moet kopen.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Speel het fragment af (digitale pagina, tabblad Escucha). Eerst zonder tekst, daarna meelezen.
Vertaling:
María: Ik raad je de appels aan. Ze zijn goedkoop en heel lekker. Hoeveel wil je, een kilo?
Julio: Een kilo is goed. Zijn ze duur?
María: Ze zijn niet duur, ze zijn goedkoop. Sinaasappels, bananen, wat groenten. Je moet wat groenten eten. Hoeveel kosten de tomaten?
Julio: Twee twintig de kilo.
María: Je neemt een kilo tomaten en een krop sla mee.
Julio: Ik hou van je.
María: We moeten nog langs de slagerij: kip, kalfsvlees, gehakt…
Julio: Ik hou van je.
María: Waar verkopen ze verse vis?
Julio: Ik wil mijn leven met jou doorbrengen. Het is kitsch, maar het is waar. Waarom? Ik weet het niet. Om kinderen te krijgen, om ruzie te maken in de IKEA. Hoe lang? Tja, dat weet ik niet. Misschien tien minuten, maar het worden de tien beste minuten van mijn leven. Ik wil de grootvader van jouw kleinkinderen zijn.
María: En eieren en melk. En brood. Volkorenbrood is het lekkerst.
Julio: Ik hou van je.
María: Waar verkopen ze verse vis?
Julio: Daar is een viswinkel.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klas elk woord hardop nazeggen. Dek daarna de rechterkolom 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klappen op de klemtoon. Iedereen zegt elk woord drie keer hardop.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Vraag de klas eerst wat de rechterkolom zou zijn.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Docentenversie: de betekenis staat er al bij.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eerst luisteren, dan pas kiezen. Klik door naar de volgende dia voor de oplossing.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juiste antwoorden staan groen.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Elke zin is een taalhandeling: wat dóé je ermee? Laat ze er zelf een bedenken.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Noodroute: lukt de opname niet, laat de scène dan gewoon live spelen.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Sluit af met een ronde: iedereen zegt één chunk hardop.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A8323B"/>
        </a:solidFill>
      </p:bgPr>
    </p:bg>
    <p:spTree>
      <p:nvGrpSpPr>
        <p:cNvPr id="1" name=""/>
        <p:cNvGrpSpPr/>
        <p:nvPr/>
      </p:nvGrpSpPr>
      <p:grpSpPr>
        <a:xfrm>
          <a:off x="0" y="0"/>
          <a:ext cx="0" cy="0"/>
          <a:chOff x="0" y="0"/>
          <a:chExt cx="0" cy="0"/>
        </a:xfrm>
      </p:grpSpPr>
      <p:sp>
        <p:nvSpPr>
          <p:cNvPr id="2" name="Text 0"/>
          <p:cNvSpPr/>
          <p:nvPr/>
        </p:nvSpPr>
        <p:spPr>
          <a:xfrm>
            <a:off x="731520" y="1371600"/>
            <a:ext cx="10725912" cy="365760"/>
          </a:xfrm>
          <a:prstGeom prst="rect">
            <a:avLst/>
          </a:prstGeom>
          <a:noFill/>
          <a:ln/>
        </p:spPr>
        <p:txBody>
          <a:bodyPr wrap="square" lIns="0" tIns="0" rIns="0" bIns="0" rtlCol="0" anchor="ctr"/>
          <a:lstStyle/>
          <a:p>
            <a:pPr indent="0" marL="0">
              <a:buNone/>
            </a:pPr>
            <a:r>
              <a:rPr lang="en-US" sz="1300" spc="200" kern="0" dirty="0">
                <a:solidFill>
                  <a:srgbClr val="FFFFFF"/>
                </a:solidFill>
                <a:latin typeface="Inter" pitchFamily="34" charset="0"/>
                <a:ea typeface="Inter" pitchFamily="34" charset="-122"/>
                <a:cs typeface="Inter" pitchFamily="34" charset="-120"/>
              </a:rPr>
              <a:t>C4 · LA RUTA · EL DESPEGUE · PARADA 13</a:t>
            </a:r>
            <a:endParaRPr lang="en-US" sz="1300" dirty="0"/>
          </a:p>
        </p:txBody>
      </p:sp>
      <p:sp>
        <p:nvSpPr>
          <p:cNvPr id="3" name="Text 1"/>
          <p:cNvSpPr/>
          <p:nvPr/>
        </p:nvSpPr>
        <p:spPr>
          <a:xfrm>
            <a:off x="731520" y="1783080"/>
            <a:ext cx="10725912" cy="1097280"/>
          </a:xfrm>
          <a:prstGeom prst="rect">
            <a:avLst/>
          </a:prstGeom>
          <a:noFill/>
          <a:ln/>
        </p:spPr>
        <p:txBody>
          <a:bodyPr wrap="square" lIns="0" tIns="0" rIns="0" bIns="0" rtlCol="0" anchor="ctr"/>
          <a:lstStyle/>
          <a:p>
            <a:pPr indent="0" marL="0">
              <a:buNone/>
            </a:pPr>
            <a:r>
              <a:rPr lang="en-US" sz="5400" b="1" dirty="0">
                <a:solidFill>
                  <a:srgbClr val="FFFFFF"/>
                </a:solidFill>
                <a:latin typeface="Bricolage Grotesque" pitchFamily="34" charset="0"/>
                <a:ea typeface="Bricolage Grotesque" pitchFamily="34" charset="-122"/>
                <a:cs typeface="Bricolage Grotesque" pitchFamily="34" charset="-120"/>
              </a:rPr>
              <a:t>En el mercado</a:t>
            </a:r>
            <a:endParaRPr lang="en-US" sz="5400" dirty="0"/>
          </a:p>
        </p:txBody>
      </p:sp>
      <p:sp>
        <p:nvSpPr>
          <p:cNvPr id="4" name="Text 2"/>
          <p:cNvSpPr/>
          <p:nvPr/>
        </p:nvSpPr>
        <p:spPr>
          <a:xfrm>
            <a:off x="731520" y="2880360"/>
            <a:ext cx="10725912" cy="640080"/>
          </a:xfrm>
          <a:prstGeom prst="rect">
            <a:avLst/>
          </a:prstGeom>
          <a:noFill/>
          <a:ln/>
        </p:spPr>
        <p:txBody>
          <a:bodyPr wrap="square" lIns="0" tIns="0" rIns="0" bIns="0" rtlCol="0" anchor="ctr"/>
          <a:lstStyle/>
          <a:p>
            <a:pPr indent="0" marL="0">
              <a:buNone/>
            </a:pPr>
            <a:r>
              <a:rPr lang="en-US" sz="1700" dirty="0">
                <a:solidFill>
                  <a:srgbClr val="F6DDE0"/>
                </a:solidFill>
                <a:latin typeface="Inter" pitchFamily="34" charset="0"/>
                <a:ea typeface="Inter" pitchFamily="34" charset="-122"/>
                <a:cs typeface="Inter" pitchFamily="34" charset="-120"/>
              </a:rPr>
              <a:t>Boodschappen doen: producten, winkels, prijzen — en waarom.</a:t>
            </a:r>
            <a:endParaRPr lang="en-US" sz="1700" dirty="0"/>
          </a:p>
        </p:txBody>
      </p:sp>
      <p:sp>
        <p:nvSpPr>
          <p:cNvPr id="5" name="Shape 3"/>
          <p:cNvSpPr/>
          <p:nvPr/>
        </p:nvSpPr>
        <p:spPr>
          <a:xfrm>
            <a:off x="731520" y="3749040"/>
            <a:ext cx="10725912" cy="914400"/>
          </a:xfrm>
          <a:prstGeom prst="roundRect">
            <a:avLst>
              <a:gd name="adj" fmla="val 12000"/>
            </a:avLst>
          </a:prstGeom>
          <a:solidFill>
            <a:srgbClr val="FFFFFF">
              <a:alpha val="14000"/>
            </a:srgbClr>
          </a:solidFill>
          <a:ln/>
        </p:spPr>
      </p:sp>
      <p:sp>
        <p:nvSpPr>
          <p:cNvPr id="6" name="Text 4"/>
          <p:cNvSpPr/>
          <p:nvPr/>
        </p:nvSpPr>
        <p:spPr>
          <a:xfrm>
            <a:off x="1005840" y="3749040"/>
            <a:ext cx="10177272" cy="914400"/>
          </a:xfrm>
          <a:prstGeom prst="rect">
            <a:avLst/>
          </a:prstGeom>
          <a:noFill/>
          <a:ln/>
        </p:spPr>
        <p:txBody>
          <a:bodyPr wrap="square" lIns="0" tIns="0" rIns="0" bIns="0" rtlCol="0" anchor="ctr"/>
          <a:lstStyle/>
          <a:p>
            <a:pPr indent="0" marL="0">
              <a:buNone/>
            </a:pPr>
            <a:r>
              <a:rPr lang="en-US" sz="1900" dirty="0">
                <a:solidFill>
                  <a:srgbClr val="FFFFFF"/>
                </a:solidFill>
                <a:latin typeface="Bricolage Grotesque" pitchFamily="34" charset="0"/>
                <a:ea typeface="Bricolage Grotesque" pitchFamily="34" charset="-122"/>
                <a:cs typeface="Bricolage Grotesque" pitchFamily="34" charset="-120"/>
              </a:rPr>
              <a:t>« ¿Cuánto cuestan los tomates? — Dos con veinte el kilo. »</a:t>
            </a:r>
            <a:endParaRPr lang="en-US" sz="1900" dirty="0"/>
          </a:p>
        </p:txBody>
      </p:sp>
      <p:sp>
        <p:nvSpPr>
          <p:cNvPr id="7" name="Text 5"/>
          <p:cNvSpPr/>
          <p:nvPr/>
        </p:nvSpPr>
        <p:spPr>
          <a:xfrm>
            <a:off x="731520" y="5029200"/>
            <a:ext cx="10725912" cy="365760"/>
          </a:xfrm>
          <a:prstGeom prst="rect">
            <a:avLst/>
          </a:prstGeom>
          <a:noFill/>
          <a:ln/>
        </p:spPr>
        <p:txBody>
          <a:bodyPr wrap="square" lIns="0" tIns="0" rIns="0" bIns="0" rtlCol="0" anchor="ctr"/>
          <a:lstStyle/>
          <a:p>
            <a:pPr indent="0" marL="0">
              <a:buNone/>
            </a:pPr>
            <a:r>
              <a:rPr lang="en-US" sz="1400" dirty="0">
                <a:solidFill>
                  <a:srgbClr val="F6DDE0"/>
                </a:solidFill>
                <a:latin typeface="Inter" pitchFamily="34" charset="0"/>
                <a:ea typeface="Inter" pitchFamily="34" charset="-122"/>
                <a:cs typeface="Inter" pitchFamily="34" charset="-120"/>
              </a:rPr>
              <a:t>La comida · las tiendas · los precios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En esta unidad vas a…</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Unidad 13</a:t>
            </a:r>
            <a:endParaRPr lang="en-US" sz="1200" dirty="0"/>
          </a:p>
        </p:txBody>
      </p:sp>
      <p:sp>
        <p:nvSpPr>
          <p:cNvPr id="5" name="Shape 3"/>
          <p:cNvSpPr/>
          <p:nvPr/>
        </p:nvSpPr>
        <p:spPr>
          <a:xfrm>
            <a:off x="640080" y="1234440"/>
            <a:ext cx="10908792" cy="960120"/>
          </a:xfrm>
          <a:prstGeom prst="roundRect">
            <a:avLst>
              <a:gd name="adj" fmla="val 8571"/>
            </a:avLst>
          </a:prstGeom>
          <a:solidFill>
            <a:srgbClr val="FFFFFF"/>
          </a:solidFill>
          <a:ln w="12700">
            <a:solidFill>
              <a:srgbClr val="E7E1DF"/>
            </a:solidFill>
            <a:prstDash val="solid"/>
          </a:ln>
        </p:spPr>
      </p:sp>
      <p:sp>
        <p:nvSpPr>
          <p:cNvPr id="6" name="Shape 4"/>
          <p:cNvSpPr/>
          <p:nvPr/>
        </p:nvSpPr>
        <p:spPr>
          <a:xfrm>
            <a:off x="868680" y="1490472"/>
            <a:ext cx="457200" cy="457200"/>
          </a:xfrm>
          <a:prstGeom prst="ellipse">
            <a:avLst/>
          </a:prstGeom>
          <a:solidFill>
            <a:srgbClr val="FBEAEC"/>
          </a:solidFill>
          <a:ln/>
        </p:spPr>
      </p:sp>
      <p:sp>
        <p:nvSpPr>
          <p:cNvPr id="7" name="Text 5"/>
          <p:cNvSpPr/>
          <p:nvPr/>
        </p:nvSpPr>
        <p:spPr>
          <a:xfrm>
            <a:off x="868680" y="1490472"/>
            <a:ext cx="457200" cy="457200"/>
          </a:xfrm>
          <a:prstGeom prst="rect">
            <a:avLst/>
          </a:prstGeom>
          <a:noFill/>
          <a:ln/>
        </p:spPr>
        <p:txBody>
          <a:bodyPr wrap="square" lIns="0" tIns="0" rIns="0" bIns="0" rtlCol="0" anchor="ctr"/>
          <a:lstStyle/>
          <a:p>
            <a:pPr algn="ctr" indent="0" marL="0">
              <a:buNone/>
            </a:pPr>
            <a:r>
              <a:rPr lang="en-US" sz="1600" b="1" dirty="0">
                <a:solidFill>
                  <a:srgbClr val="A8323B"/>
                </a:solidFill>
                <a:latin typeface="Bricolage Grotesque" pitchFamily="34" charset="0"/>
                <a:ea typeface="Bricolage Grotesque" pitchFamily="34" charset="-122"/>
                <a:cs typeface="Bricolage Grotesque" pitchFamily="34" charset="-120"/>
              </a:rPr>
              <a:t>1</a:t>
            </a:r>
            <a:endParaRPr lang="en-US" sz="1600" dirty="0"/>
          </a:p>
        </p:txBody>
      </p:sp>
      <p:sp>
        <p:nvSpPr>
          <p:cNvPr id="8" name="Text 6"/>
          <p:cNvSpPr/>
          <p:nvPr/>
        </p:nvSpPr>
        <p:spPr>
          <a:xfrm>
            <a:off x="1508760" y="1362456"/>
            <a:ext cx="990295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Nombrar la comida</a:t>
            </a:r>
            <a:endParaRPr lang="en-US" sz="1700" dirty="0"/>
          </a:p>
        </p:txBody>
      </p:sp>
      <p:sp>
        <p:nvSpPr>
          <p:cNvPr id="9" name="Text 7"/>
          <p:cNvSpPr/>
          <p:nvPr/>
        </p:nvSpPr>
        <p:spPr>
          <a:xfrm>
            <a:off x="1508760" y="1746504"/>
            <a:ext cx="9902952" cy="347472"/>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manzanas · tomates · pollo · atún · pan</a:t>
            </a:r>
            <a:endParaRPr lang="en-US" sz="1350" dirty="0"/>
          </a:p>
        </p:txBody>
      </p:sp>
      <p:sp>
        <p:nvSpPr>
          <p:cNvPr id="10" name="Shape 8"/>
          <p:cNvSpPr/>
          <p:nvPr/>
        </p:nvSpPr>
        <p:spPr>
          <a:xfrm>
            <a:off x="640080" y="2377440"/>
            <a:ext cx="10908792" cy="960120"/>
          </a:xfrm>
          <a:prstGeom prst="roundRect">
            <a:avLst>
              <a:gd name="adj" fmla="val 8571"/>
            </a:avLst>
          </a:prstGeom>
          <a:solidFill>
            <a:srgbClr val="FFFFFF"/>
          </a:solidFill>
          <a:ln w="12700">
            <a:solidFill>
              <a:srgbClr val="E7E1DF"/>
            </a:solidFill>
            <a:prstDash val="solid"/>
          </a:ln>
        </p:spPr>
      </p:sp>
      <p:sp>
        <p:nvSpPr>
          <p:cNvPr id="11" name="Shape 9"/>
          <p:cNvSpPr/>
          <p:nvPr/>
        </p:nvSpPr>
        <p:spPr>
          <a:xfrm>
            <a:off x="868680" y="2633472"/>
            <a:ext cx="457200" cy="457200"/>
          </a:xfrm>
          <a:prstGeom prst="ellipse">
            <a:avLst/>
          </a:prstGeom>
          <a:solidFill>
            <a:srgbClr val="FBEAEC"/>
          </a:solidFill>
          <a:ln/>
        </p:spPr>
      </p:sp>
      <p:sp>
        <p:nvSpPr>
          <p:cNvPr id="12" name="Text 10"/>
          <p:cNvSpPr/>
          <p:nvPr/>
        </p:nvSpPr>
        <p:spPr>
          <a:xfrm>
            <a:off x="868680" y="2633472"/>
            <a:ext cx="457200" cy="457200"/>
          </a:xfrm>
          <a:prstGeom prst="rect">
            <a:avLst/>
          </a:prstGeom>
          <a:noFill/>
          <a:ln/>
        </p:spPr>
        <p:txBody>
          <a:bodyPr wrap="square" lIns="0" tIns="0" rIns="0" bIns="0" rtlCol="0" anchor="ctr"/>
          <a:lstStyle/>
          <a:p>
            <a:pPr algn="ctr" indent="0" marL="0">
              <a:buNone/>
            </a:pPr>
            <a:r>
              <a:rPr lang="en-US" sz="1600" b="1" dirty="0">
                <a:solidFill>
                  <a:srgbClr val="A8323B"/>
                </a:solidFill>
                <a:latin typeface="Bricolage Grotesque" pitchFamily="34" charset="0"/>
                <a:ea typeface="Bricolage Grotesque" pitchFamily="34" charset="-122"/>
                <a:cs typeface="Bricolage Grotesque" pitchFamily="34" charset="-120"/>
              </a:rPr>
              <a:t>2</a:t>
            </a:r>
            <a:endParaRPr lang="en-US" sz="1600" dirty="0"/>
          </a:p>
        </p:txBody>
      </p:sp>
      <p:sp>
        <p:nvSpPr>
          <p:cNvPr id="13" name="Text 11"/>
          <p:cNvSpPr/>
          <p:nvPr/>
        </p:nvSpPr>
        <p:spPr>
          <a:xfrm>
            <a:off x="1508760" y="2505456"/>
            <a:ext cx="990295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Decir en qué tienda se compra</a:t>
            </a:r>
            <a:endParaRPr lang="en-US" sz="1700" dirty="0"/>
          </a:p>
        </p:txBody>
      </p:sp>
      <p:sp>
        <p:nvSpPr>
          <p:cNvPr id="14" name="Text 12"/>
          <p:cNvSpPr/>
          <p:nvPr/>
        </p:nvSpPr>
        <p:spPr>
          <a:xfrm>
            <a:off x="1508760" y="2889504"/>
            <a:ext cx="9902952" cy="347472"/>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la pescadería · la carnicería · la frutería</a:t>
            </a:r>
            <a:endParaRPr lang="en-US" sz="1350" dirty="0"/>
          </a:p>
        </p:txBody>
      </p:sp>
      <p:sp>
        <p:nvSpPr>
          <p:cNvPr id="15" name="Shape 13"/>
          <p:cNvSpPr/>
          <p:nvPr/>
        </p:nvSpPr>
        <p:spPr>
          <a:xfrm>
            <a:off x="640080" y="3520440"/>
            <a:ext cx="10908792" cy="960120"/>
          </a:xfrm>
          <a:prstGeom prst="roundRect">
            <a:avLst>
              <a:gd name="adj" fmla="val 8571"/>
            </a:avLst>
          </a:prstGeom>
          <a:solidFill>
            <a:srgbClr val="FFFFFF"/>
          </a:solidFill>
          <a:ln w="12700">
            <a:solidFill>
              <a:srgbClr val="E7E1DF"/>
            </a:solidFill>
            <a:prstDash val="solid"/>
          </a:ln>
        </p:spPr>
      </p:sp>
      <p:sp>
        <p:nvSpPr>
          <p:cNvPr id="16" name="Shape 14"/>
          <p:cNvSpPr/>
          <p:nvPr/>
        </p:nvSpPr>
        <p:spPr>
          <a:xfrm>
            <a:off x="868680" y="3776472"/>
            <a:ext cx="457200" cy="457200"/>
          </a:xfrm>
          <a:prstGeom prst="ellipse">
            <a:avLst/>
          </a:prstGeom>
          <a:solidFill>
            <a:srgbClr val="FBEAEC"/>
          </a:solidFill>
          <a:ln/>
        </p:spPr>
      </p:sp>
      <p:sp>
        <p:nvSpPr>
          <p:cNvPr id="17" name="Text 15"/>
          <p:cNvSpPr/>
          <p:nvPr/>
        </p:nvSpPr>
        <p:spPr>
          <a:xfrm>
            <a:off x="868680" y="3776472"/>
            <a:ext cx="457200" cy="457200"/>
          </a:xfrm>
          <a:prstGeom prst="rect">
            <a:avLst/>
          </a:prstGeom>
          <a:noFill/>
          <a:ln/>
        </p:spPr>
        <p:txBody>
          <a:bodyPr wrap="square" lIns="0" tIns="0" rIns="0" bIns="0" rtlCol="0" anchor="ctr"/>
          <a:lstStyle/>
          <a:p>
            <a:pPr algn="ctr" indent="0" marL="0">
              <a:buNone/>
            </a:pPr>
            <a:r>
              <a:rPr lang="en-US" sz="1600" b="1" dirty="0">
                <a:solidFill>
                  <a:srgbClr val="A8323B"/>
                </a:solidFill>
                <a:latin typeface="Bricolage Grotesque" pitchFamily="34" charset="0"/>
                <a:ea typeface="Bricolage Grotesque" pitchFamily="34" charset="-122"/>
                <a:cs typeface="Bricolage Grotesque" pitchFamily="34" charset="-120"/>
              </a:rPr>
              <a:t>3</a:t>
            </a:r>
            <a:endParaRPr lang="en-US" sz="1600" dirty="0"/>
          </a:p>
        </p:txBody>
      </p:sp>
      <p:sp>
        <p:nvSpPr>
          <p:cNvPr id="18" name="Text 16"/>
          <p:cNvSpPr/>
          <p:nvPr/>
        </p:nvSpPr>
        <p:spPr>
          <a:xfrm>
            <a:off x="1508760" y="3648456"/>
            <a:ext cx="990295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Preguntar el precio y decir si es caro</a:t>
            </a:r>
            <a:endParaRPr lang="en-US" sz="1700" dirty="0"/>
          </a:p>
        </p:txBody>
      </p:sp>
      <p:sp>
        <p:nvSpPr>
          <p:cNvPr id="19" name="Text 17"/>
          <p:cNvSpPr/>
          <p:nvPr/>
        </p:nvSpPr>
        <p:spPr>
          <a:xfrm>
            <a:off x="1508760" y="4032504"/>
            <a:ext cx="9902952" cy="347472"/>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¿cuánto cuesta? · es una oferta</a:t>
            </a:r>
            <a:endParaRPr lang="en-US" sz="1350" dirty="0"/>
          </a:p>
        </p:txBody>
      </p:sp>
      <p:sp>
        <p:nvSpPr>
          <p:cNvPr id="20" name="Shape 18"/>
          <p:cNvSpPr/>
          <p:nvPr/>
        </p:nvSpPr>
        <p:spPr>
          <a:xfrm>
            <a:off x="640080" y="4663440"/>
            <a:ext cx="10908792" cy="960120"/>
          </a:xfrm>
          <a:prstGeom prst="roundRect">
            <a:avLst>
              <a:gd name="adj" fmla="val 8571"/>
            </a:avLst>
          </a:prstGeom>
          <a:solidFill>
            <a:srgbClr val="FFFFFF"/>
          </a:solidFill>
          <a:ln w="12700">
            <a:solidFill>
              <a:srgbClr val="E7E1DF"/>
            </a:solidFill>
            <a:prstDash val="solid"/>
          </a:ln>
        </p:spPr>
      </p:sp>
      <p:sp>
        <p:nvSpPr>
          <p:cNvPr id="21" name="Shape 19"/>
          <p:cNvSpPr/>
          <p:nvPr/>
        </p:nvSpPr>
        <p:spPr>
          <a:xfrm>
            <a:off x="868680" y="4919472"/>
            <a:ext cx="457200" cy="457200"/>
          </a:xfrm>
          <a:prstGeom prst="ellipse">
            <a:avLst/>
          </a:prstGeom>
          <a:solidFill>
            <a:srgbClr val="FBEAEC"/>
          </a:solidFill>
          <a:ln/>
        </p:spPr>
      </p:sp>
      <p:sp>
        <p:nvSpPr>
          <p:cNvPr id="22" name="Text 20"/>
          <p:cNvSpPr/>
          <p:nvPr/>
        </p:nvSpPr>
        <p:spPr>
          <a:xfrm>
            <a:off x="868680" y="4919472"/>
            <a:ext cx="457200" cy="457200"/>
          </a:xfrm>
          <a:prstGeom prst="rect">
            <a:avLst/>
          </a:prstGeom>
          <a:noFill/>
          <a:ln/>
        </p:spPr>
        <p:txBody>
          <a:bodyPr wrap="square" lIns="0" tIns="0" rIns="0" bIns="0" rtlCol="0" anchor="ctr"/>
          <a:lstStyle/>
          <a:p>
            <a:pPr algn="ctr" indent="0" marL="0">
              <a:buNone/>
            </a:pPr>
            <a:r>
              <a:rPr lang="en-US" sz="1600" b="1" dirty="0">
                <a:solidFill>
                  <a:srgbClr val="A8323B"/>
                </a:solidFill>
                <a:latin typeface="Bricolage Grotesque" pitchFamily="34" charset="0"/>
                <a:ea typeface="Bricolage Grotesque" pitchFamily="34" charset="-122"/>
                <a:cs typeface="Bricolage Grotesque" pitchFamily="34" charset="-120"/>
              </a:rPr>
              <a:t>4</a:t>
            </a:r>
            <a:endParaRPr lang="en-US" sz="1600" dirty="0"/>
          </a:p>
        </p:txBody>
      </p:sp>
      <p:sp>
        <p:nvSpPr>
          <p:cNvPr id="23" name="Text 21"/>
          <p:cNvSpPr/>
          <p:nvPr/>
        </p:nvSpPr>
        <p:spPr>
          <a:xfrm>
            <a:off x="1508760" y="4791456"/>
            <a:ext cx="990295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Preguntar y dar una razón</a:t>
            </a:r>
            <a:endParaRPr lang="en-US" sz="1700" dirty="0"/>
          </a:p>
        </p:txBody>
      </p:sp>
      <p:sp>
        <p:nvSpPr>
          <p:cNvPr id="24" name="Text 22"/>
          <p:cNvSpPr/>
          <p:nvPr/>
        </p:nvSpPr>
        <p:spPr>
          <a:xfrm>
            <a:off x="1508760" y="5175504"/>
            <a:ext cx="9902952" cy="347472"/>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¿por qué? · porque… · por eso…</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Escena 1 · Julio y María se encuentran en el mercado</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En el mercado</a:t>
            </a:r>
            <a:endParaRPr lang="en-US" sz="1200" dirty="0"/>
          </a:p>
        </p:txBody>
      </p:sp>
      <p:sp>
        <p:nvSpPr>
          <p:cNvPr id="5" name="Text 3"/>
          <p:cNvSpPr/>
          <p:nvPr/>
        </p:nvSpPr>
        <p:spPr>
          <a:xfrm>
            <a:off x="640080" y="960120"/>
            <a:ext cx="10908792" cy="36576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María inspecteert wat er in Julio's mandje ligt. Hij probeert het uit te leggen — en denkt intussen aan iets heel anders.</a:t>
            </a:r>
            <a:endParaRPr lang="en-US" sz="1350" dirty="0"/>
          </a:p>
        </p:txBody>
      </p:sp>
      <p:sp>
        <p:nvSpPr>
          <p:cNvPr id="6" name="Text 4"/>
          <p:cNvSpPr/>
          <p:nvPr/>
        </p:nvSpPr>
        <p:spPr>
          <a:xfrm>
            <a:off x="685800" y="1417320"/>
            <a:ext cx="1645920" cy="3341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7" name="Text 5"/>
          <p:cNvSpPr/>
          <p:nvPr/>
        </p:nvSpPr>
        <p:spPr>
          <a:xfrm>
            <a:off x="2377440" y="1417320"/>
            <a:ext cx="9079992" cy="3341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¡Julio! ¿Cómo estás?</a:t>
            </a:r>
            <a:endParaRPr lang="en-US" sz="1500" dirty="0"/>
          </a:p>
        </p:txBody>
      </p:sp>
      <p:sp>
        <p:nvSpPr>
          <p:cNvPr id="8" name="Text 6"/>
          <p:cNvSpPr/>
          <p:nvPr/>
        </p:nvSpPr>
        <p:spPr>
          <a:xfrm>
            <a:off x="685800" y="1797148"/>
            <a:ext cx="1645920" cy="3341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9" name="Text 7"/>
          <p:cNvSpPr/>
          <p:nvPr/>
        </p:nvSpPr>
        <p:spPr>
          <a:xfrm>
            <a:off x="2377440" y="1797148"/>
            <a:ext cx="9079992" cy="3341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Muy bien, muy bien, muy bien.</a:t>
            </a:r>
            <a:endParaRPr lang="en-US" sz="1500" dirty="0"/>
          </a:p>
        </p:txBody>
      </p:sp>
      <p:sp>
        <p:nvSpPr>
          <p:cNvPr id="10" name="Text 8"/>
          <p:cNvSpPr/>
          <p:nvPr/>
        </p:nvSpPr>
        <p:spPr>
          <a:xfrm>
            <a:off x="685800" y="2176975"/>
            <a:ext cx="1645920" cy="3341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11" name="Text 9"/>
          <p:cNvSpPr/>
          <p:nvPr/>
        </p:nvSpPr>
        <p:spPr>
          <a:xfrm>
            <a:off x="2377440" y="2176975"/>
            <a:ext cx="9079992" cy="3341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No tienes muy buen aspecto.</a:t>
            </a:r>
            <a:endParaRPr lang="en-US" sz="1500" dirty="0"/>
          </a:p>
        </p:txBody>
      </p:sp>
      <p:sp>
        <p:nvSpPr>
          <p:cNvPr id="12" name="Text 10"/>
          <p:cNvSpPr/>
          <p:nvPr/>
        </p:nvSpPr>
        <p:spPr>
          <a:xfrm>
            <a:off x="685800" y="2556803"/>
            <a:ext cx="1645920" cy="3341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13" name="Text 11"/>
          <p:cNvSpPr/>
          <p:nvPr/>
        </p:nvSpPr>
        <p:spPr>
          <a:xfrm>
            <a:off x="2377440" y="2556803"/>
            <a:ext cx="9079992" cy="3341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Estoy enfermo. Estoy enfermo, por eso no voy a la academia.</a:t>
            </a:r>
            <a:endParaRPr lang="en-US" sz="1500" dirty="0"/>
          </a:p>
        </p:txBody>
      </p:sp>
      <p:sp>
        <p:nvSpPr>
          <p:cNvPr id="14" name="Text 12"/>
          <p:cNvSpPr/>
          <p:nvPr/>
        </p:nvSpPr>
        <p:spPr>
          <a:xfrm>
            <a:off x="685800" y="2936631"/>
            <a:ext cx="1645920" cy="3341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15" name="Text 13"/>
          <p:cNvSpPr/>
          <p:nvPr/>
        </p:nvSpPr>
        <p:spPr>
          <a:xfrm>
            <a:off x="2377440" y="2936631"/>
            <a:ext cx="9079992" cy="3341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Ya. Tienes que cuidarte.</a:t>
            </a:r>
            <a:endParaRPr lang="en-US" sz="1500" dirty="0"/>
          </a:p>
        </p:txBody>
      </p:sp>
      <p:sp>
        <p:nvSpPr>
          <p:cNvPr id="16" name="Text 14"/>
          <p:cNvSpPr/>
          <p:nvPr/>
        </p:nvSpPr>
        <p:spPr>
          <a:xfrm>
            <a:off x="685800" y="3316458"/>
            <a:ext cx="1645920" cy="3341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17" name="Text 15"/>
          <p:cNvSpPr/>
          <p:nvPr/>
        </p:nvSpPr>
        <p:spPr>
          <a:xfrm>
            <a:off x="2377440" y="3316458"/>
            <a:ext cx="9079992" cy="3341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Eso intento. Vitamina C, es muy buena, buenísima.</a:t>
            </a:r>
            <a:endParaRPr lang="en-US" sz="1500" dirty="0"/>
          </a:p>
        </p:txBody>
      </p:sp>
      <p:sp>
        <p:nvSpPr>
          <p:cNvPr id="18" name="Text 16"/>
          <p:cNvSpPr/>
          <p:nvPr/>
        </p:nvSpPr>
        <p:spPr>
          <a:xfrm>
            <a:off x="685800" y="3696286"/>
            <a:ext cx="1645920" cy="3341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19" name="Text 17"/>
          <p:cNvSpPr/>
          <p:nvPr/>
        </p:nvSpPr>
        <p:spPr>
          <a:xfrm>
            <a:off x="2377440" y="3696286"/>
            <a:ext cx="9079992" cy="3341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Una cebolla.</a:t>
            </a:r>
            <a:endParaRPr lang="en-US" sz="1500" dirty="0"/>
          </a:p>
        </p:txBody>
      </p:sp>
      <p:sp>
        <p:nvSpPr>
          <p:cNvPr id="20" name="Text 18"/>
          <p:cNvSpPr/>
          <p:nvPr/>
        </p:nvSpPr>
        <p:spPr>
          <a:xfrm>
            <a:off x="685800" y="4076114"/>
            <a:ext cx="1645920" cy="3341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21" name="Text 19"/>
          <p:cNvSpPr/>
          <p:nvPr/>
        </p:nvSpPr>
        <p:spPr>
          <a:xfrm>
            <a:off x="2377440" y="4076114"/>
            <a:ext cx="9079992" cy="3341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Es… Intento seguir una dieta mediterránea, una dieta sana.</a:t>
            </a:r>
            <a:endParaRPr lang="en-US" sz="1500" dirty="0"/>
          </a:p>
        </p:txBody>
      </p:sp>
      <p:sp>
        <p:nvSpPr>
          <p:cNvPr id="22" name="Text 20"/>
          <p:cNvSpPr/>
          <p:nvPr/>
        </p:nvSpPr>
        <p:spPr>
          <a:xfrm>
            <a:off x="685800" y="4455942"/>
            <a:ext cx="1645920" cy="3341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23" name="Text 21"/>
          <p:cNvSpPr/>
          <p:nvPr/>
        </p:nvSpPr>
        <p:spPr>
          <a:xfrm>
            <a:off x="2377440" y="4455942"/>
            <a:ext cx="9079992" cy="3341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Ya.</a:t>
            </a:r>
            <a:endParaRPr lang="en-US" sz="1500" dirty="0"/>
          </a:p>
        </p:txBody>
      </p:sp>
      <p:sp>
        <p:nvSpPr>
          <p:cNvPr id="24" name="Text 22"/>
          <p:cNvSpPr/>
          <p:nvPr/>
        </p:nvSpPr>
        <p:spPr>
          <a:xfrm>
            <a:off x="685800" y="4835769"/>
            <a:ext cx="1645920" cy="3341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25" name="Text 23"/>
          <p:cNvSpPr/>
          <p:nvPr/>
        </p:nvSpPr>
        <p:spPr>
          <a:xfrm>
            <a:off x="2377440" y="4835769"/>
            <a:ext cx="9079992" cy="3341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Y una lata de atún.</a:t>
            </a:r>
            <a:endParaRPr lang="en-US" sz="1500" dirty="0"/>
          </a:p>
        </p:txBody>
      </p:sp>
      <p:sp>
        <p:nvSpPr>
          <p:cNvPr id="26" name="Text 24"/>
          <p:cNvSpPr/>
          <p:nvPr/>
        </p:nvSpPr>
        <p:spPr>
          <a:xfrm>
            <a:off x="685800" y="5215597"/>
            <a:ext cx="1645920" cy="3341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27" name="Text 25"/>
          <p:cNvSpPr/>
          <p:nvPr/>
        </p:nvSpPr>
        <p:spPr>
          <a:xfrm>
            <a:off x="2377440" y="5215597"/>
            <a:ext cx="9079992" cy="3341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Es importante comer pescado. No soy vegetariano, no como mucha carne. Me gusta cuidarme.</a:t>
            </a:r>
            <a:endParaRPr lang="en-US" sz="1500" dirty="0"/>
          </a:p>
        </p:txBody>
      </p:sp>
      <p:sp>
        <p:nvSpPr>
          <p:cNvPr id="28" name="Text 26"/>
          <p:cNvSpPr/>
          <p:nvPr/>
        </p:nvSpPr>
        <p:spPr>
          <a:xfrm>
            <a:off x="685800" y="5595425"/>
            <a:ext cx="1645920" cy="3341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29" name="Text 27"/>
          <p:cNvSpPr/>
          <p:nvPr/>
        </p:nvSpPr>
        <p:spPr>
          <a:xfrm>
            <a:off x="2377440" y="5595425"/>
            <a:ext cx="9079992" cy="3341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Y seis tabletas de chocolate.</a:t>
            </a:r>
            <a:endParaRPr lang="en-US" sz="1500" dirty="0"/>
          </a:p>
        </p:txBody>
      </p:sp>
      <p:sp>
        <p:nvSpPr>
          <p:cNvPr id="30" name="Text 28"/>
          <p:cNvSpPr/>
          <p:nvPr/>
        </p:nvSpPr>
        <p:spPr>
          <a:xfrm>
            <a:off x="685800" y="5975252"/>
            <a:ext cx="1645920" cy="334108"/>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31" name="Text 29"/>
          <p:cNvSpPr/>
          <p:nvPr/>
        </p:nvSpPr>
        <p:spPr>
          <a:xfrm>
            <a:off x="2377440" y="5975252"/>
            <a:ext cx="9079992" cy="334108"/>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Es una oferta, son baratas. Hay que saber dónde comprar.</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Escena 2 · La compra</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En el mercado</a:t>
            </a:r>
            <a:endParaRPr lang="en-US" sz="1200" dirty="0"/>
          </a:p>
        </p:txBody>
      </p:sp>
      <p:sp>
        <p:nvSpPr>
          <p:cNvPr id="5" name="Text 3"/>
          <p:cNvSpPr/>
          <p:nvPr/>
        </p:nvSpPr>
        <p:spPr>
          <a:xfrm>
            <a:off x="640080" y="960120"/>
            <a:ext cx="10908792" cy="36576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María stelt de boodschappenlijst samen. Julio hoort de helft niet.</a:t>
            </a:r>
            <a:endParaRPr lang="en-US" sz="1350" dirty="0"/>
          </a:p>
        </p:txBody>
      </p:sp>
      <p:sp>
        <p:nvSpPr>
          <p:cNvPr id="6" name="Text 4"/>
          <p:cNvSpPr/>
          <p:nvPr/>
        </p:nvSpPr>
        <p:spPr>
          <a:xfrm>
            <a:off x="685800" y="1417320"/>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7" name="Text 5"/>
          <p:cNvSpPr/>
          <p:nvPr/>
        </p:nvSpPr>
        <p:spPr>
          <a:xfrm>
            <a:off x="2377440" y="1417320"/>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Te recomiendo las manzanas. Son baratas y son muy buenas. ¿Cuántas quieres, un kilo?</a:t>
            </a:r>
            <a:endParaRPr lang="en-US" sz="1500" dirty="0"/>
          </a:p>
        </p:txBody>
      </p:sp>
      <p:sp>
        <p:nvSpPr>
          <p:cNvPr id="8" name="Text 6"/>
          <p:cNvSpPr/>
          <p:nvPr/>
        </p:nvSpPr>
        <p:spPr>
          <a:xfrm>
            <a:off x="685800" y="1770017"/>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9" name="Text 7"/>
          <p:cNvSpPr/>
          <p:nvPr/>
        </p:nvSpPr>
        <p:spPr>
          <a:xfrm>
            <a:off x="2377440" y="1770017"/>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Un kilo está bien. ¿Son caras?</a:t>
            </a:r>
            <a:endParaRPr lang="en-US" sz="1500" dirty="0"/>
          </a:p>
        </p:txBody>
      </p:sp>
      <p:sp>
        <p:nvSpPr>
          <p:cNvPr id="10" name="Text 8"/>
          <p:cNvSpPr/>
          <p:nvPr/>
        </p:nvSpPr>
        <p:spPr>
          <a:xfrm>
            <a:off x="685800" y="2122714"/>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11" name="Text 9"/>
          <p:cNvSpPr/>
          <p:nvPr/>
        </p:nvSpPr>
        <p:spPr>
          <a:xfrm>
            <a:off x="2377440" y="2122714"/>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No son caras, son baratas. Naranjas, plátanos, algo de verdura. Tienes que comer algo de verdura. ¿Cuánto cuestan los tomates?</a:t>
            </a:r>
            <a:endParaRPr lang="en-US" sz="1500" dirty="0"/>
          </a:p>
        </p:txBody>
      </p:sp>
      <p:sp>
        <p:nvSpPr>
          <p:cNvPr id="12" name="Text 10"/>
          <p:cNvSpPr/>
          <p:nvPr/>
        </p:nvSpPr>
        <p:spPr>
          <a:xfrm>
            <a:off x="685800" y="2475411"/>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13" name="Text 11"/>
          <p:cNvSpPr/>
          <p:nvPr/>
        </p:nvSpPr>
        <p:spPr>
          <a:xfrm>
            <a:off x="2377440" y="2475411"/>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Dos con veinte el kilo.</a:t>
            </a:r>
            <a:endParaRPr lang="en-US" sz="1500" dirty="0"/>
          </a:p>
        </p:txBody>
      </p:sp>
      <p:sp>
        <p:nvSpPr>
          <p:cNvPr id="14" name="Text 12"/>
          <p:cNvSpPr/>
          <p:nvPr/>
        </p:nvSpPr>
        <p:spPr>
          <a:xfrm>
            <a:off x="685800" y="2828109"/>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15" name="Text 13"/>
          <p:cNvSpPr/>
          <p:nvPr/>
        </p:nvSpPr>
        <p:spPr>
          <a:xfrm>
            <a:off x="2377440" y="2828109"/>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Te vas a llevar un kilo de tomates y una lechuga.</a:t>
            </a:r>
            <a:endParaRPr lang="en-US" sz="1500" dirty="0"/>
          </a:p>
        </p:txBody>
      </p:sp>
      <p:sp>
        <p:nvSpPr>
          <p:cNvPr id="16" name="Text 14"/>
          <p:cNvSpPr/>
          <p:nvPr/>
        </p:nvSpPr>
        <p:spPr>
          <a:xfrm>
            <a:off x="685800" y="3180806"/>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17" name="Text 15"/>
          <p:cNvSpPr/>
          <p:nvPr/>
        </p:nvSpPr>
        <p:spPr>
          <a:xfrm>
            <a:off x="2377440" y="3180806"/>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Te quiero.</a:t>
            </a:r>
            <a:endParaRPr lang="en-US" sz="1500" dirty="0"/>
          </a:p>
        </p:txBody>
      </p:sp>
      <p:sp>
        <p:nvSpPr>
          <p:cNvPr id="18" name="Text 16"/>
          <p:cNvSpPr/>
          <p:nvPr/>
        </p:nvSpPr>
        <p:spPr>
          <a:xfrm>
            <a:off x="685800" y="3533503"/>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19" name="Text 17"/>
          <p:cNvSpPr/>
          <p:nvPr/>
        </p:nvSpPr>
        <p:spPr>
          <a:xfrm>
            <a:off x="2377440" y="3533503"/>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Nos falta pasar por la carnicería: pollo, ternera, carne picada…</a:t>
            </a:r>
            <a:endParaRPr lang="en-US" sz="1500" dirty="0"/>
          </a:p>
        </p:txBody>
      </p:sp>
      <p:sp>
        <p:nvSpPr>
          <p:cNvPr id="20" name="Text 18"/>
          <p:cNvSpPr/>
          <p:nvPr/>
        </p:nvSpPr>
        <p:spPr>
          <a:xfrm>
            <a:off x="685800" y="3886200"/>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21" name="Text 19"/>
          <p:cNvSpPr/>
          <p:nvPr/>
        </p:nvSpPr>
        <p:spPr>
          <a:xfrm>
            <a:off x="2377440" y="3886200"/>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Te quiero.</a:t>
            </a:r>
            <a:endParaRPr lang="en-US" sz="1500" dirty="0"/>
          </a:p>
        </p:txBody>
      </p:sp>
      <p:sp>
        <p:nvSpPr>
          <p:cNvPr id="22" name="Text 20"/>
          <p:cNvSpPr/>
          <p:nvPr/>
        </p:nvSpPr>
        <p:spPr>
          <a:xfrm>
            <a:off x="685800" y="4238897"/>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23" name="Text 21"/>
          <p:cNvSpPr/>
          <p:nvPr/>
        </p:nvSpPr>
        <p:spPr>
          <a:xfrm>
            <a:off x="2377440" y="4238897"/>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¿Dónde venden pescado fresco?</a:t>
            </a:r>
            <a:endParaRPr lang="en-US" sz="1500" dirty="0"/>
          </a:p>
        </p:txBody>
      </p:sp>
      <p:sp>
        <p:nvSpPr>
          <p:cNvPr id="24" name="Text 22"/>
          <p:cNvSpPr/>
          <p:nvPr/>
        </p:nvSpPr>
        <p:spPr>
          <a:xfrm>
            <a:off x="685800" y="4591594"/>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25" name="Text 23"/>
          <p:cNvSpPr/>
          <p:nvPr/>
        </p:nvSpPr>
        <p:spPr>
          <a:xfrm>
            <a:off x="2377440" y="4591594"/>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Quiero pasar mi vida contigo. Es cursi, pero es la verdad. ¿Por qué? No lo sé. Para tener hijos, para discutir en IKEA. ¿Cuánto tiempo? Pues no lo sé. A lo mejor son diez minutos, pero van a ser los diez mejores minutos de mi vida. Quiero ser el abuelo de tus nietos.</a:t>
            </a:r>
            <a:endParaRPr lang="en-US" sz="1500" dirty="0"/>
          </a:p>
        </p:txBody>
      </p:sp>
      <p:sp>
        <p:nvSpPr>
          <p:cNvPr id="26" name="Text 24"/>
          <p:cNvSpPr/>
          <p:nvPr/>
        </p:nvSpPr>
        <p:spPr>
          <a:xfrm>
            <a:off x="685800" y="4944291"/>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27" name="Text 25"/>
          <p:cNvSpPr/>
          <p:nvPr/>
        </p:nvSpPr>
        <p:spPr>
          <a:xfrm>
            <a:off x="2377440" y="4944291"/>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Y huevos y leche. Y pan. El pan integral es el mejor.</a:t>
            </a:r>
            <a:endParaRPr lang="en-US" sz="1500" dirty="0"/>
          </a:p>
        </p:txBody>
      </p:sp>
      <p:sp>
        <p:nvSpPr>
          <p:cNvPr id="28" name="Text 26"/>
          <p:cNvSpPr/>
          <p:nvPr/>
        </p:nvSpPr>
        <p:spPr>
          <a:xfrm>
            <a:off x="685800" y="5296989"/>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29" name="Text 27"/>
          <p:cNvSpPr/>
          <p:nvPr/>
        </p:nvSpPr>
        <p:spPr>
          <a:xfrm>
            <a:off x="2377440" y="5296989"/>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Te quiero.</a:t>
            </a:r>
            <a:endParaRPr lang="en-US" sz="1500" dirty="0"/>
          </a:p>
        </p:txBody>
      </p:sp>
      <p:sp>
        <p:nvSpPr>
          <p:cNvPr id="30" name="Text 28"/>
          <p:cNvSpPr/>
          <p:nvPr/>
        </p:nvSpPr>
        <p:spPr>
          <a:xfrm>
            <a:off x="685800" y="5649686"/>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María</a:t>
            </a:r>
            <a:endParaRPr lang="en-US" sz="1250" dirty="0"/>
          </a:p>
        </p:txBody>
      </p:sp>
      <p:sp>
        <p:nvSpPr>
          <p:cNvPr id="31" name="Text 29"/>
          <p:cNvSpPr/>
          <p:nvPr/>
        </p:nvSpPr>
        <p:spPr>
          <a:xfrm>
            <a:off x="2377440" y="5649686"/>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¿Dónde venden pescado fresco?</a:t>
            </a:r>
            <a:endParaRPr lang="en-US" sz="1500" dirty="0"/>
          </a:p>
        </p:txBody>
      </p:sp>
      <p:sp>
        <p:nvSpPr>
          <p:cNvPr id="32" name="Text 30"/>
          <p:cNvSpPr/>
          <p:nvPr/>
        </p:nvSpPr>
        <p:spPr>
          <a:xfrm>
            <a:off x="685800" y="6002383"/>
            <a:ext cx="1645920" cy="306977"/>
          </a:xfrm>
          <a:prstGeom prst="rect">
            <a:avLst/>
          </a:prstGeom>
          <a:noFill/>
          <a:ln/>
        </p:spPr>
        <p:txBody>
          <a:bodyPr wrap="square" lIns="0" tIns="0" rIns="0" bIns="0" rtlCol="0" anchor="ctr"/>
          <a:lstStyle/>
          <a:p>
            <a:pPr indent="0" marL="0">
              <a:buNone/>
            </a:pPr>
            <a:r>
              <a:rPr lang="en-US" sz="1250" b="1" dirty="0">
                <a:solidFill>
                  <a:srgbClr val="A8323B"/>
                </a:solidFill>
                <a:latin typeface="Bricolage Grotesque" pitchFamily="34" charset="0"/>
                <a:ea typeface="Bricolage Grotesque" pitchFamily="34" charset="-122"/>
                <a:cs typeface="Bricolage Grotesque" pitchFamily="34" charset="-120"/>
              </a:rPr>
              <a:t>Julio</a:t>
            </a:r>
            <a:endParaRPr lang="en-US" sz="1250" dirty="0"/>
          </a:p>
        </p:txBody>
      </p:sp>
      <p:sp>
        <p:nvSpPr>
          <p:cNvPr id="33" name="Text 31"/>
          <p:cNvSpPr/>
          <p:nvPr/>
        </p:nvSpPr>
        <p:spPr>
          <a:xfrm>
            <a:off x="2377440" y="6002383"/>
            <a:ext cx="9079992" cy="306977"/>
          </a:xfrm>
          <a:prstGeom prst="rect">
            <a:avLst/>
          </a:prstGeom>
          <a:noFill/>
          <a:ln/>
        </p:spPr>
        <p:txBody>
          <a:bodyPr wrap="square" lIns="0" tIns="0" rIns="0" bIns="0" rtlCol="0" anchor="ctr"/>
          <a:lstStyle/>
          <a:p>
            <a:pPr indent="0" marL="0">
              <a:buNone/>
            </a:pPr>
            <a:r>
              <a:rPr lang="en-US" sz="1500" dirty="0">
                <a:solidFill>
                  <a:srgbClr val="20242E"/>
                </a:solidFill>
                <a:latin typeface="Inter" pitchFamily="34" charset="0"/>
                <a:ea typeface="Inter" pitchFamily="34" charset="-122"/>
                <a:cs typeface="Inter" pitchFamily="34" charset="-120"/>
              </a:rPr>
              <a:t>Ahí hay una pescadería.</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La fruta y la verdura</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fruit en groenten</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manzana</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appel</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naranja</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sinaasappel</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plátano</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banaan</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tomate</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tomaat</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lechuga</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sla</a:t>
            </a:r>
            <a:endParaRPr lang="en-US" sz="1250" dirty="0"/>
          </a:p>
        </p:txBody>
      </p:sp>
      <p:sp>
        <p:nvSpPr>
          <p:cNvPr id="20" name="Shape 18"/>
          <p:cNvSpPr/>
          <p:nvPr/>
        </p:nvSpPr>
        <p:spPr>
          <a:xfrm>
            <a:off x="6185916" y="2926080"/>
            <a:ext cx="5362956" cy="731520"/>
          </a:xfrm>
          <a:prstGeom prst="roundRect">
            <a:avLst>
              <a:gd name="adj" fmla="val 11250"/>
            </a:avLst>
          </a:prstGeom>
          <a:solidFill>
            <a:srgbClr val="F3EEE4"/>
          </a:solidFill>
          <a:ln w="12700">
            <a:solidFill>
              <a:srgbClr val="F3EEE4"/>
            </a:solidFill>
            <a:prstDash val="solid"/>
          </a:ln>
        </p:spPr>
      </p:sp>
      <p:sp>
        <p:nvSpPr>
          <p:cNvPr id="21" name="Text 19"/>
          <p:cNvSpPr/>
          <p:nvPr/>
        </p:nvSpPr>
        <p:spPr>
          <a:xfrm>
            <a:off x="6414516"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cebolla</a:t>
            </a:r>
            <a:endParaRPr lang="en-US" sz="1550" dirty="0"/>
          </a:p>
        </p:txBody>
      </p:sp>
      <p:sp>
        <p:nvSpPr>
          <p:cNvPr id="22" name="Text 20"/>
          <p:cNvSpPr/>
          <p:nvPr/>
        </p:nvSpPr>
        <p:spPr>
          <a:xfrm>
            <a:off x="6414516"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ui</a:t>
            </a:r>
            <a:endParaRPr lang="en-US" sz="1250" dirty="0"/>
          </a:p>
        </p:txBody>
      </p:sp>
      <p:sp>
        <p:nvSpPr>
          <p:cNvPr id="23" name="Shape 21"/>
          <p:cNvSpPr/>
          <p:nvPr/>
        </p:nvSpPr>
        <p:spPr>
          <a:xfrm>
            <a:off x="640080" y="3794760"/>
            <a:ext cx="5362956" cy="731520"/>
          </a:xfrm>
          <a:prstGeom prst="roundRect">
            <a:avLst>
              <a:gd name="adj" fmla="val 11250"/>
            </a:avLst>
          </a:prstGeom>
          <a:solidFill>
            <a:srgbClr val="F3EEE4"/>
          </a:solidFill>
          <a:ln w="12700">
            <a:solidFill>
              <a:srgbClr val="F3EEE4"/>
            </a:solidFill>
            <a:prstDash val="solid"/>
          </a:ln>
        </p:spPr>
      </p:sp>
      <p:sp>
        <p:nvSpPr>
          <p:cNvPr id="24" name="Text 22"/>
          <p:cNvSpPr/>
          <p:nvPr/>
        </p:nvSpPr>
        <p:spPr>
          <a:xfrm>
            <a:off x="868680" y="386791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verdura</a:t>
            </a:r>
            <a:endParaRPr lang="en-US" sz="1550" dirty="0"/>
          </a:p>
        </p:txBody>
      </p:sp>
      <p:sp>
        <p:nvSpPr>
          <p:cNvPr id="25" name="Text 23"/>
          <p:cNvSpPr/>
          <p:nvPr/>
        </p:nvSpPr>
        <p:spPr>
          <a:xfrm>
            <a:off x="868680" y="419709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groenten</a:t>
            </a:r>
            <a:endParaRPr lang="en-US" sz="1250" dirty="0"/>
          </a:p>
        </p:txBody>
      </p:sp>
      <p:sp>
        <p:nvSpPr>
          <p:cNvPr id="26" name="Shape 24"/>
          <p:cNvSpPr/>
          <p:nvPr/>
        </p:nvSpPr>
        <p:spPr>
          <a:xfrm>
            <a:off x="6185916" y="3794760"/>
            <a:ext cx="5362956" cy="731520"/>
          </a:xfrm>
          <a:prstGeom prst="roundRect">
            <a:avLst>
              <a:gd name="adj" fmla="val 11250"/>
            </a:avLst>
          </a:prstGeom>
          <a:solidFill>
            <a:srgbClr val="F3EEE4"/>
          </a:solidFill>
          <a:ln w="12700">
            <a:solidFill>
              <a:srgbClr val="F3EEE4"/>
            </a:solidFill>
            <a:prstDash val="solid"/>
          </a:ln>
        </p:spPr>
      </p:sp>
      <p:sp>
        <p:nvSpPr>
          <p:cNvPr id="27" name="Text 25"/>
          <p:cNvSpPr/>
          <p:nvPr/>
        </p:nvSpPr>
        <p:spPr>
          <a:xfrm>
            <a:off x="6414516" y="386791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fruta</a:t>
            </a:r>
            <a:endParaRPr lang="en-US" sz="1550" dirty="0"/>
          </a:p>
        </p:txBody>
      </p:sp>
      <p:sp>
        <p:nvSpPr>
          <p:cNvPr id="28" name="Text 26"/>
          <p:cNvSpPr/>
          <p:nvPr/>
        </p:nvSpPr>
        <p:spPr>
          <a:xfrm>
            <a:off x="6414516" y="419709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fruit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Carne y pescado</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vlees en vis</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pollo</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kip</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ternera</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kalfsvlees</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carne picada</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gehakt</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pescado</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vis</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atún</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tonijn</a:t>
            </a:r>
            <a:endParaRPr lang="en-US" sz="1250" dirty="0"/>
          </a:p>
        </p:txBody>
      </p:sp>
      <p:sp>
        <p:nvSpPr>
          <p:cNvPr id="20" name="Shape 18"/>
          <p:cNvSpPr/>
          <p:nvPr/>
        </p:nvSpPr>
        <p:spPr>
          <a:xfrm>
            <a:off x="6185916" y="2926080"/>
            <a:ext cx="5362956" cy="731520"/>
          </a:xfrm>
          <a:prstGeom prst="roundRect">
            <a:avLst>
              <a:gd name="adj" fmla="val 11250"/>
            </a:avLst>
          </a:prstGeom>
          <a:solidFill>
            <a:srgbClr val="F3EEE4"/>
          </a:solidFill>
          <a:ln w="12700">
            <a:solidFill>
              <a:srgbClr val="F3EEE4"/>
            </a:solidFill>
            <a:prstDash val="solid"/>
          </a:ln>
        </p:spPr>
      </p:sp>
      <p:sp>
        <p:nvSpPr>
          <p:cNvPr id="21" name="Text 19"/>
          <p:cNvSpPr/>
          <p:nvPr/>
        </p:nvSpPr>
        <p:spPr>
          <a:xfrm>
            <a:off x="6414516"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pescado fresco</a:t>
            </a:r>
            <a:endParaRPr lang="en-US" sz="1550" dirty="0"/>
          </a:p>
        </p:txBody>
      </p:sp>
      <p:sp>
        <p:nvSpPr>
          <p:cNvPr id="22" name="Text 20"/>
          <p:cNvSpPr/>
          <p:nvPr/>
        </p:nvSpPr>
        <p:spPr>
          <a:xfrm>
            <a:off x="6414516"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verse vis</a:t>
            </a:r>
            <a:endParaRPr lang="en-US" sz="1250" dirty="0"/>
          </a:p>
        </p:txBody>
      </p:sp>
      <p:sp>
        <p:nvSpPr>
          <p:cNvPr id="23" name="Shape 21"/>
          <p:cNvSpPr/>
          <p:nvPr/>
        </p:nvSpPr>
        <p:spPr>
          <a:xfrm>
            <a:off x="640080" y="3794760"/>
            <a:ext cx="5362956" cy="731520"/>
          </a:xfrm>
          <a:prstGeom prst="roundRect">
            <a:avLst>
              <a:gd name="adj" fmla="val 11250"/>
            </a:avLst>
          </a:prstGeom>
          <a:solidFill>
            <a:srgbClr val="F3EEE4"/>
          </a:solidFill>
          <a:ln w="12700">
            <a:solidFill>
              <a:srgbClr val="F3EEE4"/>
            </a:solidFill>
            <a:prstDash val="solid"/>
          </a:ln>
        </p:spPr>
      </p:sp>
      <p:sp>
        <p:nvSpPr>
          <p:cNvPr id="24" name="Text 22"/>
          <p:cNvSpPr/>
          <p:nvPr/>
        </p:nvSpPr>
        <p:spPr>
          <a:xfrm>
            <a:off x="868680" y="386791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una lata de atún</a:t>
            </a:r>
            <a:endParaRPr lang="en-US" sz="1550" dirty="0"/>
          </a:p>
        </p:txBody>
      </p:sp>
      <p:sp>
        <p:nvSpPr>
          <p:cNvPr id="25" name="Text 23"/>
          <p:cNvSpPr/>
          <p:nvPr/>
        </p:nvSpPr>
        <p:spPr>
          <a:xfrm>
            <a:off x="868680" y="419709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een blikje tonijn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Y además</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de rest van het mandje</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pan</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brood</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pan integral</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volkorenbrood</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los huevos</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eieren</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leche</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melk</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chocolate</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chocolade</a:t>
            </a:r>
            <a:endParaRPr lang="en-US" sz="1250" dirty="0"/>
          </a:p>
        </p:txBody>
      </p:sp>
      <p:sp>
        <p:nvSpPr>
          <p:cNvPr id="20" name="Shape 18"/>
          <p:cNvSpPr/>
          <p:nvPr/>
        </p:nvSpPr>
        <p:spPr>
          <a:xfrm>
            <a:off x="6185916" y="2926080"/>
            <a:ext cx="5362956" cy="731520"/>
          </a:xfrm>
          <a:prstGeom prst="roundRect">
            <a:avLst>
              <a:gd name="adj" fmla="val 11250"/>
            </a:avLst>
          </a:prstGeom>
          <a:solidFill>
            <a:srgbClr val="F3EEE4"/>
          </a:solidFill>
          <a:ln w="12700">
            <a:solidFill>
              <a:srgbClr val="F3EEE4"/>
            </a:solidFill>
            <a:prstDash val="solid"/>
          </a:ln>
        </p:spPr>
      </p:sp>
      <p:sp>
        <p:nvSpPr>
          <p:cNvPr id="21" name="Text 19"/>
          <p:cNvSpPr/>
          <p:nvPr/>
        </p:nvSpPr>
        <p:spPr>
          <a:xfrm>
            <a:off x="6414516"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una tableta de chocolate</a:t>
            </a:r>
            <a:endParaRPr lang="en-US" sz="1550" dirty="0"/>
          </a:p>
        </p:txBody>
      </p:sp>
      <p:sp>
        <p:nvSpPr>
          <p:cNvPr id="22" name="Text 20"/>
          <p:cNvSpPr/>
          <p:nvPr/>
        </p:nvSpPr>
        <p:spPr>
          <a:xfrm>
            <a:off x="6414516"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een reep chocolade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Las tiendas</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waar je wat koopt</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mercado</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markt</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pescadería</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viswinkel</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carnicería</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slagerij</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panadería</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bakkerij</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la frutería</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fruitwinkel</a:t>
            </a:r>
            <a:endParaRPr lang="en-US" sz="1250" dirty="0"/>
          </a:p>
        </p:txBody>
      </p:sp>
      <p:sp>
        <p:nvSpPr>
          <p:cNvPr id="20" name="Shape 18"/>
          <p:cNvSpPr/>
          <p:nvPr/>
        </p:nvSpPr>
        <p:spPr>
          <a:xfrm>
            <a:off x="6185916" y="2926080"/>
            <a:ext cx="5362956" cy="731520"/>
          </a:xfrm>
          <a:prstGeom prst="roundRect">
            <a:avLst>
              <a:gd name="adj" fmla="val 11250"/>
            </a:avLst>
          </a:prstGeom>
          <a:solidFill>
            <a:srgbClr val="F3EEE4"/>
          </a:solidFill>
          <a:ln w="12700">
            <a:solidFill>
              <a:srgbClr val="F3EEE4"/>
            </a:solidFill>
            <a:prstDash val="solid"/>
          </a:ln>
        </p:spPr>
      </p:sp>
      <p:sp>
        <p:nvSpPr>
          <p:cNvPr id="21" name="Text 19"/>
          <p:cNvSpPr/>
          <p:nvPr/>
        </p:nvSpPr>
        <p:spPr>
          <a:xfrm>
            <a:off x="6414516"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el supermercado</a:t>
            </a:r>
            <a:endParaRPr lang="en-US" sz="1550" dirty="0"/>
          </a:p>
        </p:txBody>
      </p:sp>
      <p:sp>
        <p:nvSpPr>
          <p:cNvPr id="22" name="Text 20"/>
          <p:cNvSpPr/>
          <p:nvPr/>
        </p:nvSpPr>
        <p:spPr>
          <a:xfrm>
            <a:off x="6414516"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de supermarkt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¿Cuánto cuesta?</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de prijs</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¿Cuánto cuesta?</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Hoeveel kost het?</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¿Cuánto cuestan?</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Hoeveel kosten ze?</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dos con veinte el kilo</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twee twintig de kilo</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caro/a · barato/a</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duur · goedkoop</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es una oferta</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het is een aanbieding</a:t>
            </a:r>
            <a:endParaRPr lang="en-US" sz="1250" dirty="0"/>
          </a:p>
        </p:txBody>
      </p:sp>
      <p:sp>
        <p:nvSpPr>
          <p:cNvPr id="20" name="Shape 18"/>
          <p:cNvSpPr/>
          <p:nvPr/>
        </p:nvSpPr>
        <p:spPr>
          <a:xfrm>
            <a:off x="6185916" y="2926080"/>
            <a:ext cx="5362956" cy="731520"/>
          </a:xfrm>
          <a:prstGeom prst="roundRect">
            <a:avLst>
              <a:gd name="adj" fmla="val 11250"/>
            </a:avLst>
          </a:prstGeom>
          <a:solidFill>
            <a:srgbClr val="F3EEE4"/>
          </a:solidFill>
          <a:ln w="12700">
            <a:solidFill>
              <a:srgbClr val="F3EEE4"/>
            </a:solidFill>
            <a:prstDash val="solid"/>
          </a:ln>
        </p:spPr>
      </p:sp>
      <p:sp>
        <p:nvSpPr>
          <p:cNvPr id="21" name="Text 19"/>
          <p:cNvSpPr/>
          <p:nvPr/>
        </p:nvSpPr>
        <p:spPr>
          <a:xfrm>
            <a:off x="6414516"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un kilo · medio kilo</a:t>
            </a:r>
            <a:endParaRPr lang="en-US" sz="1550" dirty="0"/>
          </a:p>
        </p:txBody>
      </p:sp>
      <p:sp>
        <p:nvSpPr>
          <p:cNvPr id="22" name="Text 20"/>
          <p:cNvSpPr/>
          <p:nvPr/>
        </p:nvSpPr>
        <p:spPr>
          <a:xfrm>
            <a:off x="6414516"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een kilo · een halve kilo</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¿Por qué?</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naar de reden vragen</a:t>
            </a:r>
            <a:endParaRPr lang="en-US" sz="1200" dirty="0"/>
          </a:p>
        </p:txBody>
      </p:sp>
      <p:sp>
        <p:nvSpPr>
          <p:cNvPr id="5" name="Shape 3"/>
          <p:cNvSpPr/>
          <p:nvPr/>
        </p:nvSpPr>
        <p:spPr>
          <a:xfrm>
            <a:off x="640080" y="1188720"/>
            <a:ext cx="5362956" cy="731520"/>
          </a:xfrm>
          <a:prstGeom prst="roundRect">
            <a:avLst>
              <a:gd name="adj" fmla="val 11250"/>
            </a:avLst>
          </a:prstGeom>
          <a:solidFill>
            <a:srgbClr val="F3EEE4"/>
          </a:solidFill>
          <a:ln w="12700">
            <a:solidFill>
              <a:srgbClr val="F3EEE4"/>
            </a:solidFill>
            <a:prstDash val="solid"/>
          </a:ln>
        </p:spPr>
      </p:sp>
      <p:sp>
        <p:nvSpPr>
          <p:cNvPr id="6" name="Text 4"/>
          <p:cNvSpPr/>
          <p:nvPr/>
        </p:nvSpPr>
        <p:spPr>
          <a:xfrm>
            <a:off x="868680"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¿Por qué?</a:t>
            </a:r>
            <a:endParaRPr lang="en-US" sz="1550" dirty="0"/>
          </a:p>
        </p:txBody>
      </p:sp>
      <p:sp>
        <p:nvSpPr>
          <p:cNvPr id="7" name="Text 5"/>
          <p:cNvSpPr/>
          <p:nvPr/>
        </p:nvSpPr>
        <p:spPr>
          <a:xfrm>
            <a:off x="868680"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Waarom?</a:t>
            </a:r>
            <a:endParaRPr lang="en-US" sz="1250" dirty="0"/>
          </a:p>
        </p:txBody>
      </p:sp>
      <p:sp>
        <p:nvSpPr>
          <p:cNvPr id="8" name="Shape 6"/>
          <p:cNvSpPr/>
          <p:nvPr/>
        </p:nvSpPr>
        <p:spPr>
          <a:xfrm>
            <a:off x="6185916" y="1188720"/>
            <a:ext cx="5362956" cy="731520"/>
          </a:xfrm>
          <a:prstGeom prst="roundRect">
            <a:avLst>
              <a:gd name="adj" fmla="val 11250"/>
            </a:avLst>
          </a:prstGeom>
          <a:solidFill>
            <a:srgbClr val="F3EEE4"/>
          </a:solidFill>
          <a:ln w="12700">
            <a:solidFill>
              <a:srgbClr val="F3EEE4"/>
            </a:solidFill>
            <a:prstDash val="solid"/>
          </a:ln>
        </p:spPr>
      </p:sp>
      <p:sp>
        <p:nvSpPr>
          <p:cNvPr id="9" name="Text 7"/>
          <p:cNvSpPr/>
          <p:nvPr/>
        </p:nvSpPr>
        <p:spPr>
          <a:xfrm>
            <a:off x="6414516" y="126187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porque…</a:t>
            </a:r>
            <a:endParaRPr lang="en-US" sz="1550" dirty="0"/>
          </a:p>
        </p:txBody>
      </p:sp>
      <p:sp>
        <p:nvSpPr>
          <p:cNvPr id="10" name="Text 8"/>
          <p:cNvSpPr/>
          <p:nvPr/>
        </p:nvSpPr>
        <p:spPr>
          <a:xfrm>
            <a:off x="6414516" y="159105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omdat · want</a:t>
            </a:r>
            <a:endParaRPr lang="en-US" sz="1250" dirty="0"/>
          </a:p>
        </p:txBody>
      </p:sp>
      <p:sp>
        <p:nvSpPr>
          <p:cNvPr id="11" name="Shape 9"/>
          <p:cNvSpPr/>
          <p:nvPr/>
        </p:nvSpPr>
        <p:spPr>
          <a:xfrm>
            <a:off x="640080" y="2057400"/>
            <a:ext cx="5362956" cy="731520"/>
          </a:xfrm>
          <a:prstGeom prst="roundRect">
            <a:avLst>
              <a:gd name="adj" fmla="val 11250"/>
            </a:avLst>
          </a:prstGeom>
          <a:solidFill>
            <a:srgbClr val="F3EEE4"/>
          </a:solidFill>
          <a:ln w="12700">
            <a:solidFill>
              <a:srgbClr val="F3EEE4"/>
            </a:solidFill>
            <a:prstDash val="solid"/>
          </a:ln>
        </p:spPr>
      </p:sp>
      <p:sp>
        <p:nvSpPr>
          <p:cNvPr id="12" name="Text 10"/>
          <p:cNvSpPr/>
          <p:nvPr/>
        </p:nvSpPr>
        <p:spPr>
          <a:xfrm>
            <a:off x="868680"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por eso</a:t>
            </a:r>
            <a:endParaRPr lang="en-US" sz="1550" dirty="0"/>
          </a:p>
        </p:txBody>
      </p:sp>
      <p:sp>
        <p:nvSpPr>
          <p:cNvPr id="13" name="Text 11"/>
          <p:cNvSpPr/>
          <p:nvPr/>
        </p:nvSpPr>
        <p:spPr>
          <a:xfrm>
            <a:off x="868680"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daarom · dus</a:t>
            </a:r>
            <a:endParaRPr lang="en-US" sz="1250" dirty="0"/>
          </a:p>
        </p:txBody>
      </p:sp>
      <p:sp>
        <p:nvSpPr>
          <p:cNvPr id="14" name="Shape 12"/>
          <p:cNvSpPr/>
          <p:nvPr/>
        </p:nvSpPr>
        <p:spPr>
          <a:xfrm>
            <a:off x="6185916" y="2057400"/>
            <a:ext cx="5362956" cy="731520"/>
          </a:xfrm>
          <a:prstGeom prst="roundRect">
            <a:avLst>
              <a:gd name="adj" fmla="val 11250"/>
            </a:avLst>
          </a:prstGeom>
          <a:solidFill>
            <a:srgbClr val="F3EEE4"/>
          </a:solidFill>
          <a:ln w="12700">
            <a:solidFill>
              <a:srgbClr val="F3EEE4"/>
            </a:solidFill>
            <a:prstDash val="solid"/>
          </a:ln>
        </p:spPr>
      </p:sp>
      <p:sp>
        <p:nvSpPr>
          <p:cNvPr id="15" name="Text 13"/>
          <p:cNvSpPr/>
          <p:nvPr/>
        </p:nvSpPr>
        <p:spPr>
          <a:xfrm>
            <a:off x="6414516" y="213055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No lo sé</a:t>
            </a:r>
            <a:endParaRPr lang="en-US" sz="1550" dirty="0"/>
          </a:p>
        </p:txBody>
      </p:sp>
      <p:sp>
        <p:nvSpPr>
          <p:cNvPr id="16" name="Text 14"/>
          <p:cNvSpPr/>
          <p:nvPr/>
        </p:nvSpPr>
        <p:spPr>
          <a:xfrm>
            <a:off x="6414516" y="245973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Ik weet het niet</a:t>
            </a:r>
            <a:endParaRPr lang="en-US" sz="1250" dirty="0"/>
          </a:p>
        </p:txBody>
      </p:sp>
      <p:sp>
        <p:nvSpPr>
          <p:cNvPr id="17" name="Shape 15"/>
          <p:cNvSpPr/>
          <p:nvPr/>
        </p:nvSpPr>
        <p:spPr>
          <a:xfrm>
            <a:off x="640080" y="2926080"/>
            <a:ext cx="5362956" cy="731520"/>
          </a:xfrm>
          <a:prstGeom prst="roundRect">
            <a:avLst>
              <a:gd name="adj" fmla="val 11250"/>
            </a:avLst>
          </a:prstGeom>
          <a:solidFill>
            <a:srgbClr val="F3EEE4"/>
          </a:solidFill>
          <a:ln w="12700">
            <a:solidFill>
              <a:srgbClr val="F3EEE4"/>
            </a:solidFill>
            <a:prstDash val="solid"/>
          </a:ln>
        </p:spPr>
      </p:sp>
      <p:sp>
        <p:nvSpPr>
          <p:cNvPr id="18" name="Text 16"/>
          <p:cNvSpPr/>
          <p:nvPr/>
        </p:nvSpPr>
        <p:spPr>
          <a:xfrm>
            <a:off x="868680"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¿Cuántos? · ¿Cuántas?</a:t>
            </a:r>
            <a:endParaRPr lang="en-US" sz="1550" dirty="0"/>
          </a:p>
        </p:txBody>
      </p:sp>
      <p:sp>
        <p:nvSpPr>
          <p:cNvPr id="19" name="Text 17"/>
          <p:cNvSpPr/>
          <p:nvPr/>
        </p:nvSpPr>
        <p:spPr>
          <a:xfrm>
            <a:off x="868680"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Hoeveel?</a:t>
            </a:r>
            <a:endParaRPr lang="en-US" sz="1250" dirty="0"/>
          </a:p>
        </p:txBody>
      </p:sp>
      <p:sp>
        <p:nvSpPr>
          <p:cNvPr id="20" name="Shape 18"/>
          <p:cNvSpPr/>
          <p:nvPr/>
        </p:nvSpPr>
        <p:spPr>
          <a:xfrm>
            <a:off x="6185916" y="2926080"/>
            <a:ext cx="5362956" cy="731520"/>
          </a:xfrm>
          <a:prstGeom prst="roundRect">
            <a:avLst>
              <a:gd name="adj" fmla="val 11250"/>
            </a:avLst>
          </a:prstGeom>
          <a:solidFill>
            <a:srgbClr val="F3EEE4"/>
          </a:solidFill>
          <a:ln w="12700">
            <a:solidFill>
              <a:srgbClr val="F3EEE4"/>
            </a:solidFill>
            <a:prstDash val="solid"/>
          </a:ln>
        </p:spPr>
      </p:sp>
      <p:sp>
        <p:nvSpPr>
          <p:cNvPr id="21" name="Text 19"/>
          <p:cNvSpPr/>
          <p:nvPr/>
        </p:nvSpPr>
        <p:spPr>
          <a:xfrm>
            <a:off x="6414516" y="2999232"/>
            <a:ext cx="4905756" cy="329184"/>
          </a:xfrm>
          <a:prstGeom prst="rect">
            <a:avLst/>
          </a:prstGeom>
          <a:noFill/>
          <a:ln/>
        </p:spPr>
        <p:txBody>
          <a:bodyPr wrap="square" lIns="0" tIns="0" rIns="0" bIns="0" rtlCol="0" anchor="ctr"/>
          <a:lstStyle/>
          <a:p>
            <a:pPr indent="0" marL="0">
              <a:buNone/>
            </a:pPr>
            <a:r>
              <a:rPr lang="en-US" sz="1550" b="1" dirty="0">
                <a:solidFill>
                  <a:srgbClr val="20242E"/>
                </a:solidFill>
                <a:latin typeface="Bricolage Grotesque" pitchFamily="34" charset="0"/>
                <a:ea typeface="Bricolage Grotesque" pitchFamily="34" charset="-122"/>
                <a:cs typeface="Bricolage Grotesque" pitchFamily="34" charset="-120"/>
              </a:rPr>
              <a:t>¿Dónde venden…?</a:t>
            </a:r>
            <a:endParaRPr lang="en-US" sz="1550" dirty="0"/>
          </a:p>
        </p:txBody>
      </p:sp>
      <p:sp>
        <p:nvSpPr>
          <p:cNvPr id="22" name="Text 20"/>
          <p:cNvSpPr/>
          <p:nvPr/>
        </p:nvSpPr>
        <p:spPr>
          <a:xfrm>
            <a:off x="6414516" y="3328416"/>
            <a:ext cx="4905756" cy="292608"/>
          </a:xfrm>
          <a:prstGeom prst="rect">
            <a:avLst/>
          </a:prstGeom>
          <a:noFill/>
          <a:ln/>
        </p:spPr>
        <p:txBody>
          <a:bodyPr wrap="square" lIns="0" tIns="0" rIns="0" bIns="0" rtlCol="0" anchor="ctr"/>
          <a:lstStyle/>
          <a:p>
            <a:pPr indent="0" marL="0">
              <a:buNone/>
            </a:pPr>
            <a:r>
              <a:rPr lang="en-US" sz="1250" dirty="0">
                <a:solidFill>
                  <a:srgbClr val="6A6E78"/>
                </a:solidFill>
                <a:latin typeface="Inter" pitchFamily="34" charset="0"/>
                <a:ea typeface="Inter" pitchFamily="34" charset="-122"/>
                <a:cs typeface="Inter" pitchFamily="34" charset="-120"/>
              </a:rPr>
              <a:t>Waar verkopen ze…?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Suena bien</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El enlace — las palabras se dan la mano</a:t>
            </a:r>
            <a:endParaRPr lang="en-US" sz="1200" dirty="0"/>
          </a:p>
        </p:txBody>
      </p:sp>
      <p:sp>
        <p:nvSpPr>
          <p:cNvPr id="5" name="Shape 3"/>
          <p:cNvSpPr/>
          <p:nvPr/>
        </p:nvSpPr>
        <p:spPr>
          <a:xfrm>
            <a:off x="640080" y="1005840"/>
            <a:ext cx="10908792" cy="1051560"/>
          </a:xfrm>
          <a:prstGeom prst="roundRect">
            <a:avLst>
              <a:gd name="adj" fmla="val 8696"/>
            </a:avLst>
          </a:prstGeom>
          <a:solidFill>
            <a:srgbClr val="FEF3C7"/>
          </a:solidFill>
          <a:ln w="12700">
            <a:solidFill>
              <a:srgbClr val="B45309"/>
            </a:solidFill>
            <a:prstDash val="solid"/>
          </a:ln>
        </p:spPr>
      </p:sp>
      <p:sp>
        <p:nvSpPr>
          <p:cNvPr id="6" name="Text 4"/>
          <p:cNvSpPr/>
          <p:nvPr/>
        </p:nvSpPr>
        <p:spPr>
          <a:xfrm>
            <a:off x="914400" y="1005840"/>
            <a:ext cx="10360152" cy="1051560"/>
          </a:xfrm>
          <a:prstGeom prst="rect">
            <a:avLst/>
          </a:prstGeom>
          <a:noFill/>
          <a:ln/>
        </p:spPr>
        <p:txBody>
          <a:bodyPr wrap="square" lIns="0" tIns="0" rIns="0" bIns="0" rtlCol="0" anchor="ctr"/>
          <a:lstStyle/>
          <a:p>
            <a:pPr indent="0" marL="0">
              <a:buNone/>
            </a:pPr>
            <a:r>
              <a:rPr lang="en-US" sz="1400" dirty="0">
                <a:solidFill>
                  <a:srgbClr val="20242E"/>
                </a:solidFill>
                <a:latin typeface="Inter" pitchFamily="34" charset="0"/>
                <a:ea typeface="Inter" pitchFamily="34" charset="-122"/>
                <a:cs typeface="Inter" pitchFamily="34" charset="-120"/>
              </a:rPr>
              <a:t>Spanjaarden plakken woorden aaneen: het einde van het ene woord en het begin van het volgende worden één klank. Daarom klinkt een marktgesprek zo snel.</a:t>
            </a:r>
            <a:endParaRPr lang="en-US" sz="1400" dirty="0"/>
          </a:p>
        </p:txBody>
      </p:sp>
      <p:sp>
        <p:nvSpPr>
          <p:cNvPr id="7" name="Shape 5"/>
          <p:cNvSpPr/>
          <p:nvPr/>
        </p:nvSpPr>
        <p:spPr>
          <a:xfrm>
            <a:off x="640080" y="2286000"/>
            <a:ext cx="3499104" cy="548640"/>
          </a:xfrm>
          <a:prstGeom prst="roundRect">
            <a:avLst>
              <a:gd name="adj" fmla="val 15000"/>
            </a:avLst>
          </a:prstGeom>
          <a:solidFill>
            <a:srgbClr val="FFFFFF"/>
          </a:solidFill>
          <a:ln w="12700">
            <a:solidFill>
              <a:srgbClr val="E7E1DF"/>
            </a:solidFill>
            <a:prstDash val="solid"/>
          </a:ln>
        </p:spPr>
      </p:sp>
      <p:sp>
        <p:nvSpPr>
          <p:cNvPr id="8" name="Text 6"/>
          <p:cNvSpPr/>
          <p:nvPr/>
        </p:nvSpPr>
        <p:spPr>
          <a:xfrm>
            <a:off x="822960" y="2286000"/>
            <a:ext cx="3133344" cy="548640"/>
          </a:xfrm>
          <a:prstGeom prst="rect">
            <a:avLst/>
          </a:prstGeom>
          <a:noFill/>
          <a:ln/>
        </p:spPr>
        <p:txBody>
          <a:bodyPr wrap="square" lIns="0" tIns="0" rIns="0" bIns="0" rtlCol="0" anchor="ctr"/>
          <a:lstStyle/>
          <a:p>
            <a:pPr indent="0" marL="0">
              <a:buNone/>
            </a:pPr>
            <a:r>
              <a:rPr lang="en-US" sz="1600" dirty="0">
                <a:solidFill>
                  <a:srgbClr val="A8323B"/>
                </a:solidFill>
                <a:latin typeface="Bricolage Grotesque" pitchFamily="34" charset="0"/>
                <a:ea typeface="Bricolage Grotesque" pitchFamily="34" charset="-122"/>
                <a:cs typeface="Bricolage Grotesque" pitchFamily="34" charset="-120"/>
              </a:rPr>
              <a:t>en el mercado</a:t>
            </a:r>
            <a:endParaRPr lang="en-US" sz="1600" dirty="0"/>
          </a:p>
        </p:txBody>
      </p:sp>
      <p:sp>
        <p:nvSpPr>
          <p:cNvPr id="9" name="Shape 7"/>
          <p:cNvSpPr/>
          <p:nvPr/>
        </p:nvSpPr>
        <p:spPr>
          <a:xfrm>
            <a:off x="4276344" y="2286000"/>
            <a:ext cx="3499104" cy="548640"/>
          </a:xfrm>
          <a:prstGeom prst="roundRect">
            <a:avLst>
              <a:gd name="adj" fmla="val 15000"/>
            </a:avLst>
          </a:prstGeom>
          <a:solidFill>
            <a:srgbClr val="FFFFFF"/>
          </a:solidFill>
          <a:ln w="12700">
            <a:solidFill>
              <a:srgbClr val="E7E1DF"/>
            </a:solidFill>
            <a:prstDash val="solid"/>
          </a:ln>
        </p:spPr>
      </p:sp>
      <p:sp>
        <p:nvSpPr>
          <p:cNvPr id="10" name="Text 8"/>
          <p:cNvSpPr/>
          <p:nvPr/>
        </p:nvSpPr>
        <p:spPr>
          <a:xfrm>
            <a:off x="4459224" y="2286000"/>
            <a:ext cx="3133344" cy="548640"/>
          </a:xfrm>
          <a:prstGeom prst="rect">
            <a:avLst/>
          </a:prstGeom>
          <a:noFill/>
          <a:ln/>
        </p:spPr>
        <p:txBody>
          <a:bodyPr wrap="square" lIns="0" tIns="0" rIns="0" bIns="0" rtlCol="0" anchor="ctr"/>
          <a:lstStyle/>
          <a:p>
            <a:pPr indent="0" marL="0">
              <a:buNone/>
            </a:pPr>
            <a:r>
              <a:rPr lang="en-US" sz="1600" dirty="0">
                <a:solidFill>
                  <a:srgbClr val="A8323B"/>
                </a:solidFill>
                <a:latin typeface="Bricolage Grotesque" pitchFamily="34" charset="0"/>
                <a:ea typeface="Bricolage Grotesque" pitchFamily="34" charset="-122"/>
                <a:cs typeface="Bricolage Grotesque" pitchFamily="34" charset="-120"/>
              </a:rPr>
              <a:t>una lata de atún</a:t>
            </a:r>
            <a:endParaRPr lang="en-US" sz="1600" dirty="0"/>
          </a:p>
        </p:txBody>
      </p:sp>
      <p:sp>
        <p:nvSpPr>
          <p:cNvPr id="11" name="Shape 9"/>
          <p:cNvSpPr/>
          <p:nvPr/>
        </p:nvSpPr>
        <p:spPr>
          <a:xfrm>
            <a:off x="7912608" y="2286000"/>
            <a:ext cx="3499104" cy="548640"/>
          </a:xfrm>
          <a:prstGeom prst="roundRect">
            <a:avLst>
              <a:gd name="adj" fmla="val 15000"/>
            </a:avLst>
          </a:prstGeom>
          <a:solidFill>
            <a:srgbClr val="FFFFFF"/>
          </a:solidFill>
          <a:ln w="12700">
            <a:solidFill>
              <a:srgbClr val="E7E1DF"/>
            </a:solidFill>
            <a:prstDash val="solid"/>
          </a:ln>
        </p:spPr>
      </p:sp>
      <p:sp>
        <p:nvSpPr>
          <p:cNvPr id="12" name="Text 10"/>
          <p:cNvSpPr/>
          <p:nvPr/>
        </p:nvSpPr>
        <p:spPr>
          <a:xfrm>
            <a:off x="8095488" y="2286000"/>
            <a:ext cx="3133344" cy="548640"/>
          </a:xfrm>
          <a:prstGeom prst="rect">
            <a:avLst/>
          </a:prstGeom>
          <a:noFill/>
          <a:ln/>
        </p:spPr>
        <p:txBody>
          <a:bodyPr wrap="square" lIns="0" tIns="0" rIns="0" bIns="0" rtlCol="0" anchor="ctr"/>
          <a:lstStyle/>
          <a:p>
            <a:pPr indent="0" marL="0">
              <a:buNone/>
            </a:pPr>
            <a:r>
              <a:rPr lang="en-US" sz="1600" dirty="0">
                <a:solidFill>
                  <a:srgbClr val="A8323B"/>
                </a:solidFill>
                <a:latin typeface="Bricolage Grotesque" pitchFamily="34" charset="0"/>
                <a:ea typeface="Bricolage Grotesque" pitchFamily="34" charset="-122"/>
                <a:cs typeface="Bricolage Grotesque" pitchFamily="34" charset="-120"/>
              </a:rPr>
              <a:t>los huevos</a:t>
            </a:r>
            <a:endParaRPr lang="en-US" sz="1600" dirty="0"/>
          </a:p>
        </p:txBody>
      </p:sp>
      <p:sp>
        <p:nvSpPr>
          <p:cNvPr id="13" name="Shape 11"/>
          <p:cNvSpPr/>
          <p:nvPr/>
        </p:nvSpPr>
        <p:spPr>
          <a:xfrm>
            <a:off x="640080" y="2971800"/>
            <a:ext cx="3499104" cy="548640"/>
          </a:xfrm>
          <a:prstGeom prst="roundRect">
            <a:avLst>
              <a:gd name="adj" fmla="val 15000"/>
            </a:avLst>
          </a:prstGeom>
          <a:solidFill>
            <a:srgbClr val="FFFFFF"/>
          </a:solidFill>
          <a:ln w="12700">
            <a:solidFill>
              <a:srgbClr val="E7E1DF"/>
            </a:solidFill>
            <a:prstDash val="solid"/>
          </a:ln>
        </p:spPr>
      </p:sp>
      <p:sp>
        <p:nvSpPr>
          <p:cNvPr id="14" name="Text 12"/>
          <p:cNvSpPr/>
          <p:nvPr/>
        </p:nvSpPr>
        <p:spPr>
          <a:xfrm>
            <a:off x="822960" y="2971800"/>
            <a:ext cx="3133344" cy="548640"/>
          </a:xfrm>
          <a:prstGeom prst="rect">
            <a:avLst/>
          </a:prstGeom>
          <a:noFill/>
          <a:ln/>
        </p:spPr>
        <p:txBody>
          <a:bodyPr wrap="square" lIns="0" tIns="0" rIns="0" bIns="0" rtlCol="0" anchor="ctr"/>
          <a:lstStyle/>
          <a:p>
            <a:pPr indent="0" marL="0">
              <a:buNone/>
            </a:pPr>
            <a:r>
              <a:rPr lang="en-US" sz="1600" dirty="0">
                <a:solidFill>
                  <a:srgbClr val="A8323B"/>
                </a:solidFill>
                <a:latin typeface="Bricolage Grotesque" pitchFamily="34" charset="0"/>
                <a:ea typeface="Bricolage Grotesque" pitchFamily="34" charset="-122"/>
                <a:cs typeface="Bricolage Grotesque" pitchFamily="34" charset="-120"/>
              </a:rPr>
              <a:t>el atún</a:t>
            </a:r>
            <a:endParaRPr lang="en-US" sz="1600" dirty="0"/>
          </a:p>
        </p:txBody>
      </p:sp>
      <p:sp>
        <p:nvSpPr>
          <p:cNvPr id="15" name="Shape 13"/>
          <p:cNvSpPr/>
          <p:nvPr/>
        </p:nvSpPr>
        <p:spPr>
          <a:xfrm>
            <a:off x="4276344" y="2971800"/>
            <a:ext cx="3499104" cy="548640"/>
          </a:xfrm>
          <a:prstGeom prst="roundRect">
            <a:avLst>
              <a:gd name="adj" fmla="val 15000"/>
            </a:avLst>
          </a:prstGeom>
          <a:solidFill>
            <a:srgbClr val="FFFFFF"/>
          </a:solidFill>
          <a:ln w="12700">
            <a:solidFill>
              <a:srgbClr val="E7E1DF"/>
            </a:solidFill>
            <a:prstDash val="solid"/>
          </a:ln>
        </p:spPr>
      </p:sp>
      <p:sp>
        <p:nvSpPr>
          <p:cNvPr id="16" name="Text 14"/>
          <p:cNvSpPr/>
          <p:nvPr/>
        </p:nvSpPr>
        <p:spPr>
          <a:xfrm>
            <a:off x="4459224" y="2971800"/>
            <a:ext cx="3133344" cy="548640"/>
          </a:xfrm>
          <a:prstGeom prst="rect">
            <a:avLst/>
          </a:prstGeom>
          <a:noFill/>
          <a:ln/>
        </p:spPr>
        <p:txBody>
          <a:bodyPr wrap="square" lIns="0" tIns="0" rIns="0" bIns="0" rtlCol="0" anchor="ctr"/>
          <a:lstStyle/>
          <a:p>
            <a:pPr indent="0" marL="0">
              <a:buNone/>
            </a:pPr>
            <a:r>
              <a:rPr lang="en-US" sz="1600" dirty="0">
                <a:solidFill>
                  <a:srgbClr val="A8323B"/>
                </a:solidFill>
                <a:latin typeface="Bricolage Grotesque" pitchFamily="34" charset="0"/>
                <a:ea typeface="Bricolage Grotesque" pitchFamily="34" charset="-122"/>
                <a:cs typeface="Bricolage Grotesque" pitchFamily="34" charset="-120"/>
              </a:rPr>
              <a:t>dos con veinte</a:t>
            </a:r>
            <a:endParaRPr lang="en-US" sz="1600" dirty="0"/>
          </a:p>
        </p:txBody>
      </p:sp>
      <p:sp>
        <p:nvSpPr>
          <p:cNvPr id="17" name="Text 15"/>
          <p:cNvSpPr/>
          <p:nvPr/>
        </p:nvSpPr>
        <p:spPr>
          <a:xfrm>
            <a:off x="640080" y="3886200"/>
            <a:ext cx="10908792" cy="365760"/>
          </a:xfrm>
          <a:prstGeom prst="rect">
            <a:avLst/>
          </a:prstGeom>
          <a:noFill/>
          <a:ln/>
        </p:spPr>
        <p:txBody>
          <a:bodyPr wrap="square" lIns="0" tIns="0" rIns="0" bIns="0" rtlCol="0" anchor="ctr"/>
          <a:lstStyle/>
          <a:p>
            <a:pPr indent="0" marL="0">
              <a:buNone/>
            </a:pPr>
            <a:r>
              <a:rPr lang="en-US" sz="1700" b="1" dirty="0">
                <a:solidFill>
                  <a:srgbClr val="A8323B"/>
                </a:solidFill>
                <a:latin typeface="Bricolage Grotesque" pitchFamily="34" charset="0"/>
                <a:ea typeface="Bricolage Grotesque" pitchFamily="34" charset="-122"/>
                <a:cs typeface="Bricolage Grotesque" pitchFamily="34" charset="-120"/>
              </a:rPr>
              <a:t>La pregunta sube</a:t>
            </a:r>
            <a:endParaRPr lang="en-US" sz="1700" dirty="0"/>
          </a:p>
        </p:txBody>
      </p:sp>
      <p:sp>
        <p:nvSpPr>
          <p:cNvPr id="18" name="Text 16"/>
          <p:cNvSpPr/>
          <p:nvPr/>
        </p:nvSpPr>
        <p:spPr>
          <a:xfrm>
            <a:off x="640080" y="4251960"/>
            <a:ext cx="10908792" cy="457200"/>
          </a:xfrm>
          <a:prstGeom prst="rect">
            <a:avLst/>
          </a:prstGeom>
          <a:noFill/>
          <a:ln/>
        </p:spPr>
        <p:txBody>
          <a:bodyPr wrap="square" lIns="0" tIns="0" rIns="0" bIns="0" rtlCol="0" anchor="ctr"/>
          <a:lstStyle/>
          <a:p>
            <a:pPr indent="0" marL="0">
              <a:buNone/>
            </a:pPr>
            <a:r>
              <a:rPr lang="en-US" sz="1300" dirty="0">
                <a:solidFill>
                  <a:srgbClr val="6A6E78"/>
                </a:solidFill>
                <a:latin typeface="Inter" pitchFamily="34" charset="0"/>
                <a:ea typeface="Inter" pitchFamily="34" charset="-122"/>
                <a:cs typeface="Inter" pitchFamily="34" charset="-120"/>
              </a:rPr>
              <a:t>Een ja-neevraag gaat aan het eind omhoog; een vraag met een vraagwoord (¿dónde? ¿cuánto? ¿por qué?) gaat juist omlaag.</a:t>
            </a:r>
            <a:endParaRPr lang="en-US" sz="1300" dirty="0"/>
          </a:p>
        </p:txBody>
      </p:sp>
      <p:sp>
        <p:nvSpPr>
          <p:cNvPr id="19" name="Text 17"/>
          <p:cNvSpPr/>
          <p:nvPr/>
        </p:nvSpPr>
        <p:spPr>
          <a:xfrm>
            <a:off x="822960" y="4754880"/>
            <a:ext cx="10543032" cy="29260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¿Son caras?  ·  omhoog ↗</a:t>
            </a:r>
            <a:endParaRPr lang="en-US" sz="1350" dirty="0"/>
          </a:p>
        </p:txBody>
      </p:sp>
      <p:sp>
        <p:nvSpPr>
          <p:cNvPr id="20" name="Text 18"/>
          <p:cNvSpPr/>
          <p:nvPr/>
        </p:nvSpPr>
        <p:spPr>
          <a:xfrm>
            <a:off x="822960" y="5065776"/>
            <a:ext cx="10543032" cy="29260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¿Es una oferta?  ·  omhoog ↗</a:t>
            </a:r>
            <a:endParaRPr lang="en-US" sz="1350" dirty="0"/>
          </a:p>
        </p:txBody>
      </p:sp>
      <p:sp>
        <p:nvSpPr>
          <p:cNvPr id="21" name="Text 19"/>
          <p:cNvSpPr/>
          <p:nvPr/>
        </p:nvSpPr>
        <p:spPr>
          <a:xfrm>
            <a:off x="822960" y="5376672"/>
            <a:ext cx="10543032" cy="29260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¿Cuánto cuestan los tomates?  ·  omlaag ↘</a:t>
            </a:r>
            <a:endParaRPr lang="en-US" sz="1350" dirty="0"/>
          </a:p>
        </p:txBody>
      </p:sp>
      <p:sp>
        <p:nvSpPr>
          <p:cNvPr id="22" name="Text 20"/>
          <p:cNvSpPr/>
          <p:nvPr/>
        </p:nvSpPr>
        <p:spPr>
          <a:xfrm>
            <a:off x="822960" y="5687568"/>
            <a:ext cx="10543032" cy="29260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¿Dónde venden pescado fresco?  ·  omlaag ↘</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¿Cuánto cuesta? · o → ue</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vragen naar prijs en reden — en de klinker die springt</a:t>
            </a:r>
            <a:endParaRPr lang="en-US" sz="1200" dirty="0"/>
          </a:p>
        </p:txBody>
      </p:sp>
      <p:sp>
        <p:nvSpPr>
          <p:cNvPr id="5" name="Shape 3"/>
          <p:cNvSpPr/>
          <p:nvPr/>
        </p:nvSpPr>
        <p:spPr>
          <a:xfrm>
            <a:off x="640080" y="1188720"/>
            <a:ext cx="10908792" cy="777240"/>
          </a:xfrm>
          <a:prstGeom prst="roundRect">
            <a:avLst>
              <a:gd name="adj" fmla="val 10588"/>
            </a:avLst>
          </a:prstGeom>
          <a:solidFill>
            <a:srgbClr val="FFFFFF"/>
          </a:solidFill>
          <a:ln w="12700">
            <a:solidFill>
              <a:srgbClr val="E7E1DF"/>
            </a:solidFill>
            <a:prstDash val="solid"/>
          </a:ln>
        </p:spPr>
      </p:sp>
      <p:sp>
        <p:nvSpPr>
          <p:cNvPr id="6" name="Text 4"/>
          <p:cNvSpPr/>
          <p:nvPr/>
        </p:nvSpPr>
        <p:spPr>
          <a:xfrm>
            <a:off x="914400" y="12435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costar → ¿Cuánto cuesta?</a:t>
            </a:r>
            <a:endParaRPr lang="en-US" sz="1700" dirty="0"/>
          </a:p>
        </p:txBody>
      </p:sp>
      <p:sp>
        <p:nvSpPr>
          <p:cNvPr id="7" name="Text 5"/>
          <p:cNvSpPr/>
          <p:nvPr/>
        </p:nvSpPr>
        <p:spPr>
          <a:xfrm>
            <a:off x="914400" y="16093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o → ue</a:t>
            </a:r>
            <a:endParaRPr lang="en-US" sz="1250" dirty="0"/>
          </a:p>
        </p:txBody>
      </p:sp>
      <p:sp>
        <p:nvSpPr>
          <p:cNvPr id="8" name="Shape 6"/>
          <p:cNvSpPr/>
          <p:nvPr/>
        </p:nvSpPr>
        <p:spPr>
          <a:xfrm>
            <a:off x="640080" y="2103120"/>
            <a:ext cx="10908792" cy="777240"/>
          </a:xfrm>
          <a:prstGeom prst="roundRect">
            <a:avLst>
              <a:gd name="adj" fmla="val 10588"/>
            </a:avLst>
          </a:prstGeom>
          <a:solidFill>
            <a:srgbClr val="FFFFFF"/>
          </a:solidFill>
          <a:ln w="12700">
            <a:solidFill>
              <a:srgbClr val="E7E1DF"/>
            </a:solidFill>
            <a:prstDash val="solid"/>
          </a:ln>
        </p:spPr>
      </p:sp>
      <p:sp>
        <p:nvSpPr>
          <p:cNvPr id="9" name="Text 7"/>
          <p:cNvSpPr/>
          <p:nvPr/>
        </p:nvSpPr>
        <p:spPr>
          <a:xfrm>
            <a:off x="914400" y="21579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costar → ¿Cuánto cuestan?</a:t>
            </a:r>
            <a:endParaRPr lang="en-US" sz="1700" dirty="0"/>
          </a:p>
        </p:txBody>
      </p:sp>
      <p:sp>
        <p:nvSpPr>
          <p:cNvPr id="10" name="Text 8"/>
          <p:cNvSpPr/>
          <p:nvPr/>
        </p:nvSpPr>
        <p:spPr>
          <a:xfrm>
            <a:off x="914400" y="25237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plural</a:t>
            </a:r>
            <a:endParaRPr lang="en-US" sz="1250" dirty="0"/>
          </a:p>
        </p:txBody>
      </p:sp>
      <p:sp>
        <p:nvSpPr>
          <p:cNvPr id="11" name="Shape 9"/>
          <p:cNvSpPr/>
          <p:nvPr/>
        </p:nvSpPr>
        <p:spPr>
          <a:xfrm>
            <a:off x="640080" y="3017520"/>
            <a:ext cx="10908792" cy="777240"/>
          </a:xfrm>
          <a:prstGeom prst="roundRect">
            <a:avLst>
              <a:gd name="adj" fmla="val 10588"/>
            </a:avLst>
          </a:prstGeom>
          <a:solidFill>
            <a:srgbClr val="FFFFFF"/>
          </a:solidFill>
          <a:ln w="12700">
            <a:solidFill>
              <a:srgbClr val="E7E1DF"/>
            </a:solidFill>
            <a:prstDash val="solid"/>
          </a:ln>
        </p:spPr>
      </p:sp>
      <p:sp>
        <p:nvSpPr>
          <p:cNvPr id="12" name="Text 10"/>
          <p:cNvSpPr/>
          <p:nvPr/>
        </p:nvSpPr>
        <p:spPr>
          <a:xfrm>
            <a:off x="914400" y="30723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poder → ¿Puedo…?</a:t>
            </a:r>
            <a:endParaRPr lang="en-US" sz="1700" dirty="0"/>
          </a:p>
        </p:txBody>
      </p:sp>
      <p:sp>
        <p:nvSpPr>
          <p:cNvPr id="13" name="Text 11"/>
          <p:cNvSpPr/>
          <p:nvPr/>
        </p:nvSpPr>
        <p:spPr>
          <a:xfrm>
            <a:off x="914400" y="34381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o → ue</a:t>
            </a:r>
            <a:endParaRPr lang="en-US" sz="1250" dirty="0"/>
          </a:p>
        </p:txBody>
      </p:sp>
      <p:sp>
        <p:nvSpPr>
          <p:cNvPr id="14" name="Shape 12"/>
          <p:cNvSpPr/>
          <p:nvPr/>
        </p:nvSpPr>
        <p:spPr>
          <a:xfrm>
            <a:off x="640080" y="3931920"/>
            <a:ext cx="10908792" cy="777240"/>
          </a:xfrm>
          <a:prstGeom prst="roundRect">
            <a:avLst>
              <a:gd name="adj" fmla="val 10588"/>
            </a:avLst>
          </a:prstGeom>
          <a:solidFill>
            <a:srgbClr val="FFFFFF"/>
          </a:solidFill>
          <a:ln w="12700">
            <a:solidFill>
              <a:srgbClr val="E7E1DF"/>
            </a:solidFill>
            <a:prstDash val="solid"/>
          </a:ln>
        </p:spPr>
      </p:sp>
      <p:sp>
        <p:nvSpPr>
          <p:cNvPr id="15" name="Text 13"/>
          <p:cNvSpPr/>
          <p:nvPr/>
        </p:nvSpPr>
        <p:spPr>
          <a:xfrm>
            <a:off x="914400" y="39867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volver → vuelvo mañana</a:t>
            </a:r>
            <a:endParaRPr lang="en-US" sz="1700" dirty="0"/>
          </a:p>
        </p:txBody>
      </p:sp>
      <p:sp>
        <p:nvSpPr>
          <p:cNvPr id="16" name="Text 14"/>
          <p:cNvSpPr/>
          <p:nvPr/>
        </p:nvSpPr>
        <p:spPr>
          <a:xfrm>
            <a:off x="914400" y="43525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o → ue</a:t>
            </a:r>
            <a:endParaRPr lang="en-US" sz="1250" dirty="0"/>
          </a:p>
        </p:txBody>
      </p:sp>
      <p:sp>
        <p:nvSpPr>
          <p:cNvPr id="17" name="Shape 15"/>
          <p:cNvSpPr/>
          <p:nvPr/>
        </p:nvSpPr>
        <p:spPr>
          <a:xfrm>
            <a:off x="640080" y="4846320"/>
            <a:ext cx="10908792" cy="777240"/>
          </a:xfrm>
          <a:prstGeom prst="roundRect">
            <a:avLst>
              <a:gd name="adj" fmla="val 10588"/>
            </a:avLst>
          </a:prstGeom>
          <a:solidFill>
            <a:srgbClr val="FFFFFF"/>
          </a:solidFill>
          <a:ln w="12700">
            <a:solidFill>
              <a:srgbClr val="E7E1DF"/>
            </a:solidFill>
            <a:prstDash val="solid"/>
          </a:ln>
        </p:spPr>
      </p:sp>
      <p:sp>
        <p:nvSpPr>
          <p:cNvPr id="18" name="Text 16"/>
          <p:cNvSpPr/>
          <p:nvPr/>
        </p:nvSpPr>
        <p:spPr>
          <a:xfrm>
            <a:off x="914400" y="49011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¿Por qué no vas?</a:t>
            </a:r>
            <a:endParaRPr lang="en-US" sz="1700" dirty="0"/>
          </a:p>
        </p:txBody>
      </p:sp>
      <p:sp>
        <p:nvSpPr>
          <p:cNvPr id="19" name="Text 17"/>
          <p:cNvSpPr/>
          <p:nvPr/>
        </p:nvSpPr>
        <p:spPr>
          <a:xfrm>
            <a:off x="914400" y="52669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la pregunta</a:t>
            </a:r>
            <a:endParaRPr lang="en-US" sz="1250" dirty="0"/>
          </a:p>
        </p:txBody>
      </p:sp>
      <p:sp>
        <p:nvSpPr>
          <p:cNvPr id="20" name="Shape 18"/>
          <p:cNvSpPr/>
          <p:nvPr/>
        </p:nvSpPr>
        <p:spPr>
          <a:xfrm>
            <a:off x="640080" y="5760720"/>
            <a:ext cx="10908792" cy="777240"/>
          </a:xfrm>
          <a:prstGeom prst="roundRect">
            <a:avLst>
              <a:gd name="adj" fmla="val 10588"/>
            </a:avLst>
          </a:prstGeom>
          <a:solidFill>
            <a:srgbClr val="FFFFFF"/>
          </a:solidFill>
          <a:ln w="12700">
            <a:solidFill>
              <a:srgbClr val="E7E1DF"/>
            </a:solidFill>
            <a:prstDash val="solid"/>
          </a:ln>
        </p:spPr>
      </p:sp>
      <p:sp>
        <p:nvSpPr>
          <p:cNvPr id="21" name="Text 19"/>
          <p:cNvSpPr/>
          <p:nvPr/>
        </p:nvSpPr>
        <p:spPr>
          <a:xfrm>
            <a:off x="914400" y="58155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Porque estoy enfermo</a:t>
            </a:r>
            <a:endParaRPr lang="en-US" sz="1700" dirty="0"/>
          </a:p>
        </p:txBody>
      </p:sp>
      <p:sp>
        <p:nvSpPr>
          <p:cNvPr id="22" name="Text 20"/>
          <p:cNvSpPr/>
          <p:nvPr/>
        </p:nvSpPr>
        <p:spPr>
          <a:xfrm>
            <a:off x="914400" y="61813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la respuesta</a:t>
            </a:r>
            <a:endParaRPr lang="en-US" sz="1250" dirty="0"/>
          </a:p>
        </p:txBody>
      </p:sp>
      <p:sp>
        <p:nvSpPr>
          <p:cNvPr id="23" name="Shape 21"/>
          <p:cNvSpPr/>
          <p:nvPr/>
        </p:nvSpPr>
        <p:spPr>
          <a:xfrm>
            <a:off x="640080" y="6675120"/>
            <a:ext cx="10908792" cy="777240"/>
          </a:xfrm>
          <a:prstGeom prst="roundRect">
            <a:avLst>
              <a:gd name="adj" fmla="val 10588"/>
            </a:avLst>
          </a:prstGeom>
          <a:solidFill>
            <a:srgbClr val="FFFFFF"/>
          </a:solidFill>
          <a:ln w="12700">
            <a:solidFill>
              <a:srgbClr val="E7E1DF"/>
            </a:solidFill>
            <a:prstDash val="solid"/>
          </a:ln>
        </p:spPr>
      </p:sp>
      <p:sp>
        <p:nvSpPr>
          <p:cNvPr id="24" name="Text 22"/>
          <p:cNvSpPr/>
          <p:nvPr/>
        </p:nvSpPr>
        <p:spPr>
          <a:xfrm>
            <a:off x="914400" y="67299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Estoy enfermo, por eso no voy</a:t>
            </a:r>
            <a:endParaRPr lang="en-US" sz="1700" dirty="0"/>
          </a:p>
        </p:txBody>
      </p:sp>
      <p:sp>
        <p:nvSpPr>
          <p:cNvPr id="25" name="Text 23"/>
          <p:cNvSpPr/>
          <p:nvPr/>
        </p:nvSpPr>
        <p:spPr>
          <a:xfrm>
            <a:off x="914400" y="70957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la consecuencia</a:t>
            </a:r>
            <a:endParaRPr lang="en-US" sz="1250" dirty="0"/>
          </a:p>
        </p:txBody>
      </p:sp>
      <p:sp>
        <p:nvSpPr>
          <p:cNvPr id="26" name="Shape 24"/>
          <p:cNvSpPr/>
          <p:nvPr/>
        </p:nvSpPr>
        <p:spPr>
          <a:xfrm>
            <a:off x="640080" y="7772400"/>
            <a:ext cx="10908792" cy="914400"/>
          </a:xfrm>
          <a:prstGeom prst="roundRect">
            <a:avLst>
              <a:gd name="adj" fmla="val 10000"/>
            </a:avLst>
          </a:prstGeom>
          <a:solidFill>
            <a:srgbClr val="FBEAEC"/>
          </a:solidFill>
          <a:ln w="12700">
            <a:solidFill>
              <a:srgbClr val="FBEAEC"/>
            </a:solidFill>
            <a:prstDash val="solid"/>
          </a:ln>
        </p:spPr>
      </p:sp>
      <p:sp>
        <p:nvSpPr>
          <p:cNvPr id="27" name="Text 25"/>
          <p:cNvSpPr/>
          <p:nvPr/>
        </p:nvSpPr>
        <p:spPr>
          <a:xfrm>
            <a:off x="914400" y="7772400"/>
            <a:ext cx="10360152" cy="914400"/>
          </a:xfrm>
          <a:prstGeom prst="rect">
            <a:avLst/>
          </a:prstGeom>
          <a:noFill/>
          <a:ln/>
        </p:spPr>
        <p:txBody>
          <a:bodyPr wrap="square" lIns="0" tIns="0" rIns="0" bIns="0" rtlCol="0" anchor="ctr"/>
          <a:lstStyle/>
          <a:p>
            <a:pPr indent="0" marL="0">
              <a:buNone/>
            </a:pPr>
            <a:r>
              <a:rPr lang="en-US" sz="1350" b="1" dirty="0">
                <a:solidFill>
                  <a:srgbClr val="A8323B"/>
                </a:solidFill>
                <a:latin typeface="Inter" pitchFamily="34" charset="0"/>
                <a:ea typeface="Inter" pitchFamily="34" charset="-122"/>
                <a:cs typeface="Inter" pitchFamily="34" charset="-120"/>
              </a:rPr>
              <a:t>¡Ojo!  </a:t>
            </a:r>
            <a:pPr indent="0" marL="0">
              <a:buNone/>
            </a:pPr>
            <a:r>
              <a:rPr lang="en-US" sz="1350" dirty="0">
                <a:solidFill>
                  <a:srgbClr val="20242E"/>
                </a:solidFill>
                <a:latin typeface="Inter" pitchFamily="34" charset="0"/>
                <a:ea typeface="Inter" pitchFamily="34" charset="-122"/>
                <a:cs typeface="Inter" pitchFamily="34" charset="-120"/>
              </a:rPr>
              <a:t>Por qué (twee woorden, met accent) is de vraag; porque (één woord, zonder accent) is het antwoord. En let op: «want» én «omdat» zijn in het Spaans allebei porque. «Dus» is por eso of así que — nooit «luego».</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¿Cuánto cuesta? · o → ue</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vragen naar prijs en reden — en de klinker die springt</a:t>
            </a:r>
            <a:endParaRPr lang="en-US" sz="1200" dirty="0"/>
          </a:p>
        </p:txBody>
      </p:sp>
      <p:sp>
        <p:nvSpPr>
          <p:cNvPr id="5" name="Shape 3"/>
          <p:cNvSpPr/>
          <p:nvPr/>
        </p:nvSpPr>
        <p:spPr>
          <a:xfrm>
            <a:off x="640080" y="1188720"/>
            <a:ext cx="10908792" cy="777240"/>
          </a:xfrm>
          <a:prstGeom prst="roundRect">
            <a:avLst>
              <a:gd name="adj" fmla="val 10588"/>
            </a:avLst>
          </a:prstGeom>
          <a:solidFill>
            <a:srgbClr val="FFFFFF"/>
          </a:solidFill>
          <a:ln w="12700">
            <a:solidFill>
              <a:srgbClr val="E7E1DF"/>
            </a:solidFill>
            <a:prstDash val="solid"/>
          </a:ln>
        </p:spPr>
      </p:sp>
      <p:sp>
        <p:nvSpPr>
          <p:cNvPr id="6" name="Text 4"/>
          <p:cNvSpPr/>
          <p:nvPr/>
        </p:nvSpPr>
        <p:spPr>
          <a:xfrm>
            <a:off x="914400" y="12435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costar → ¿Cuánto cuesta?</a:t>
            </a:r>
            <a:endParaRPr lang="en-US" sz="1700" dirty="0"/>
          </a:p>
        </p:txBody>
      </p:sp>
      <p:sp>
        <p:nvSpPr>
          <p:cNvPr id="7" name="Text 5"/>
          <p:cNvSpPr/>
          <p:nvPr/>
        </p:nvSpPr>
        <p:spPr>
          <a:xfrm>
            <a:off x="914400" y="16093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o → ue</a:t>
            </a:r>
            <a:endParaRPr lang="en-US" sz="1250" dirty="0"/>
          </a:p>
        </p:txBody>
      </p:sp>
      <p:sp>
        <p:nvSpPr>
          <p:cNvPr id="8" name="Text 6"/>
          <p:cNvSpPr/>
          <p:nvPr/>
        </p:nvSpPr>
        <p:spPr>
          <a:xfrm>
            <a:off x="6035040" y="1188720"/>
            <a:ext cx="5422392" cy="77724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kosten → hoeveel kost het?</a:t>
            </a:r>
            <a:endParaRPr lang="en-US" sz="1350" dirty="0"/>
          </a:p>
        </p:txBody>
      </p:sp>
      <p:sp>
        <p:nvSpPr>
          <p:cNvPr id="9" name="Shape 7"/>
          <p:cNvSpPr/>
          <p:nvPr/>
        </p:nvSpPr>
        <p:spPr>
          <a:xfrm>
            <a:off x="640080" y="2103120"/>
            <a:ext cx="10908792" cy="777240"/>
          </a:xfrm>
          <a:prstGeom prst="roundRect">
            <a:avLst>
              <a:gd name="adj" fmla="val 10588"/>
            </a:avLst>
          </a:prstGeom>
          <a:solidFill>
            <a:srgbClr val="FFFFFF"/>
          </a:solidFill>
          <a:ln w="12700">
            <a:solidFill>
              <a:srgbClr val="E7E1DF"/>
            </a:solidFill>
            <a:prstDash val="solid"/>
          </a:ln>
        </p:spPr>
      </p:sp>
      <p:sp>
        <p:nvSpPr>
          <p:cNvPr id="10" name="Text 8"/>
          <p:cNvSpPr/>
          <p:nvPr/>
        </p:nvSpPr>
        <p:spPr>
          <a:xfrm>
            <a:off x="914400" y="21579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costar → ¿Cuánto cuestan?</a:t>
            </a:r>
            <a:endParaRPr lang="en-US" sz="1700" dirty="0"/>
          </a:p>
        </p:txBody>
      </p:sp>
      <p:sp>
        <p:nvSpPr>
          <p:cNvPr id="11" name="Text 9"/>
          <p:cNvSpPr/>
          <p:nvPr/>
        </p:nvSpPr>
        <p:spPr>
          <a:xfrm>
            <a:off x="914400" y="25237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plural</a:t>
            </a:r>
            <a:endParaRPr lang="en-US" sz="1250" dirty="0"/>
          </a:p>
        </p:txBody>
      </p:sp>
      <p:sp>
        <p:nvSpPr>
          <p:cNvPr id="12" name="Text 10"/>
          <p:cNvSpPr/>
          <p:nvPr/>
        </p:nvSpPr>
        <p:spPr>
          <a:xfrm>
            <a:off x="6035040" y="2103120"/>
            <a:ext cx="5422392" cy="77724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hoeveel kosten ze?</a:t>
            </a:r>
            <a:endParaRPr lang="en-US" sz="1350" dirty="0"/>
          </a:p>
        </p:txBody>
      </p:sp>
      <p:sp>
        <p:nvSpPr>
          <p:cNvPr id="13" name="Shape 11"/>
          <p:cNvSpPr/>
          <p:nvPr/>
        </p:nvSpPr>
        <p:spPr>
          <a:xfrm>
            <a:off x="640080" y="3017520"/>
            <a:ext cx="10908792" cy="777240"/>
          </a:xfrm>
          <a:prstGeom prst="roundRect">
            <a:avLst>
              <a:gd name="adj" fmla="val 10588"/>
            </a:avLst>
          </a:prstGeom>
          <a:solidFill>
            <a:srgbClr val="FFFFFF"/>
          </a:solidFill>
          <a:ln w="12700">
            <a:solidFill>
              <a:srgbClr val="E7E1DF"/>
            </a:solidFill>
            <a:prstDash val="solid"/>
          </a:ln>
        </p:spPr>
      </p:sp>
      <p:sp>
        <p:nvSpPr>
          <p:cNvPr id="14" name="Text 12"/>
          <p:cNvSpPr/>
          <p:nvPr/>
        </p:nvSpPr>
        <p:spPr>
          <a:xfrm>
            <a:off x="914400" y="30723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poder → ¿Puedo…?</a:t>
            </a:r>
            <a:endParaRPr lang="en-US" sz="1700" dirty="0"/>
          </a:p>
        </p:txBody>
      </p:sp>
      <p:sp>
        <p:nvSpPr>
          <p:cNvPr id="15" name="Text 13"/>
          <p:cNvSpPr/>
          <p:nvPr/>
        </p:nvSpPr>
        <p:spPr>
          <a:xfrm>
            <a:off x="914400" y="34381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o → ue</a:t>
            </a:r>
            <a:endParaRPr lang="en-US" sz="1250" dirty="0"/>
          </a:p>
        </p:txBody>
      </p:sp>
      <p:sp>
        <p:nvSpPr>
          <p:cNvPr id="16" name="Text 14"/>
          <p:cNvSpPr/>
          <p:nvPr/>
        </p:nvSpPr>
        <p:spPr>
          <a:xfrm>
            <a:off x="6035040" y="3017520"/>
            <a:ext cx="5422392" cy="77724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kunnen → mag ik…?</a:t>
            </a:r>
            <a:endParaRPr lang="en-US" sz="1350" dirty="0"/>
          </a:p>
        </p:txBody>
      </p:sp>
      <p:sp>
        <p:nvSpPr>
          <p:cNvPr id="17" name="Shape 15"/>
          <p:cNvSpPr/>
          <p:nvPr/>
        </p:nvSpPr>
        <p:spPr>
          <a:xfrm>
            <a:off x="640080" y="3931920"/>
            <a:ext cx="10908792" cy="777240"/>
          </a:xfrm>
          <a:prstGeom prst="roundRect">
            <a:avLst>
              <a:gd name="adj" fmla="val 10588"/>
            </a:avLst>
          </a:prstGeom>
          <a:solidFill>
            <a:srgbClr val="FFFFFF"/>
          </a:solidFill>
          <a:ln w="12700">
            <a:solidFill>
              <a:srgbClr val="E7E1DF"/>
            </a:solidFill>
            <a:prstDash val="solid"/>
          </a:ln>
        </p:spPr>
      </p:sp>
      <p:sp>
        <p:nvSpPr>
          <p:cNvPr id="18" name="Text 16"/>
          <p:cNvSpPr/>
          <p:nvPr/>
        </p:nvSpPr>
        <p:spPr>
          <a:xfrm>
            <a:off x="914400" y="39867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volver → vuelvo mañana</a:t>
            </a:r>
            <a:endParaRPr lang="en-US" sz="1700" dirty="0"/>
          </a:p>
        </p:txBody>
      </p:sp>
      <p:sp>
        <p:nvSpPr>
          <p:cNvPr id="19" name="Text 17"/>
          <p:cNvSpPr/>
          <p:nvPr/>
        </p:nvSpPr>
        <p:spPr>
          <a:xfrm>
            <a:off x="914400" y="43525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o → ue</a:t>
            </a:r>
            <a:endParaRPr lang="en-US" sz="1250" dirty="0"/>
          </a:p>
        </p:txBody>
      </p:sp>
      <p:sp>
        <p:nvSpPr>
          <p:cNvPr id="20" name="Text 18"/>
          <p:cNvSpPr/>
          <p:nvPr/>
        </p:nvSpPr>
        <p:spPr>
          <a:xfrm>
            <a:off x="6035040" y="3931920"/>
            <a:ext cx="5422392" cy="77724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terugkomen → ik kom morgen terug</a:t>
            </a:r>
            <a:endParaRPr lang="en-US" sz="1350" dirty="0"/>
          </a:p>
        </p:txBody>
      </p:sp>
      <p:sp>
        <p:nvSpPr>
          <p:cNvPr id="21" name="Shape 19"/>
          <p:cNvSpPr/>
          <p:nvPr/>
        </p:nvSpPr>
        <p:spPr>
          <a:xfrm>
            <a:off x="640080" y="4846320"/>
            <a:ext cx="10908792" cy="777240"/>
          </a:xfrm>
          <a:prstGeom prst="roundRect">
            <a:avLst>
              <a:gd name="adj" fmla="val 10588"/>
            </a:avLst>
          </a:prstGeom>
          <a:solidFill>
            <a:srgbClr val="FFFFFF"/>
          </a:solidFill>
          <a:ln w="12700">
            <a:solidFill>
              <a:srgbClr val="E7E1DF"/>
            </a:solidFill>
            <a:prstDash val="solid"/>
          </a:ln>
        </p:spPr>
      </p:sp>
      <p:sp>
        <p:nvSpPr>
          <p:cNvPr id="22" name="Text 20"/>
          <p:cNvSpPr/>
          <p:nvPr/>
        </p:nvSpPr>
        <p:spPr>
          <a:xfrm>
            <a:off x="914400" y="49011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¿Por qué no vas?</a:t>
            </a:r>
            <a:endParaRPr lang="en-US" sz="1700" dirty="0"/>
          </a:p>
        </p:txBody>
      </p:sp>
      <p:sp>
        <p:nvSpPr>
          <p:cNvPr id="23" name="Text 21"/>
          <p:cNvSpPr/>
          <p:nvPr/>
        </p:nvSpPr>
        <p:spPr>
          <a:xfrm>
            <a:off x="914400" y="52669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la pregunta</a:t>
            </a:r>
            <a:endParaRPr lang="en-US" sz="1250" dirty="0"/>
          </a:p>
        </p:txBody>
      </p:sp>
      <p:sp>
        <p:nvSpPr>
          <p:cNvPr id="24" name="Text 22"/>
          <p:cNvSpPr/>
          <p:nvPr/>
        </p:nvSpPr>
        <p:spPr>
          <a:xfrm>
            <a:off x="6035040" y="4846320"/>
            <a:ext cx="5422392" cy="77724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waarom ga je niet? (twee woorden)</a:t>
            </a:r>
            <a:endParaRPr lang="en-US" sz="1350" dirty="0"/>
          </a:p>
        </p:txBody>
      </p:sp>
      <p:sp>
        <p:nvSpPr>
          <p:cNvPr id="25" name="Shape 23"/>
          <p:cNvSpPr/>
          <p:nvPr/>
        </p:nvSpPr>
        <p:spPr>
          <a:xfrm>
            <a:off x="640080" y="5760720"/>
            <a:ext cx="10908792" cy="777240"/>
          </a:xfrm>
          <a:prstGeom prst="roundRect">
            <a:avLst>
              <a:gd name="adj" fmla="val 10588"/>
            </a:avLst>
          </a:prstGeom>
          <a:solidFill>
            <a:srgbClr val="FFFFFF"/>
          </a:solidFill>
          <a:ln w="12700">
            <a:solidFill>
              <a:srgbClr val="E7E1DF"/>
            </a:solidFill>
            <a:prstDash val="solid"/>
          </a:ln>
        </p:spPr>
      </p:sp>
      <p:sp>
        <p:nvSpPr>
          <p:cNvPr id="26" name="Text 24"/>
          <p:cNvSpPr/>
          <p:nvPr/>
        </p:nvSpPr>
        <p:spPr>
          <a:xfrm>
            <a:off x="914400" y="58155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Porque estoy enfermo</a:t>
            </a:r>
            <a:endParaRPr lang="en-US" sz="1700" dirty="0"/>
          </a:p>
        </p:txBody>
      </p:sp>
      <p:sp>
        <p:nvSpPr>
          <p:cNvPr id="27" name="Text 25"/>
          <p:cNvSpPr/>
          <p:nvPr/>
        </p:nvSpPr>
        <p:spPr>
          <a:xfrm>
            <a:off x="914400" y="61813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la respuesta</a:t>
            </a:r>
            <a:endParaRPr lang="en-US" sz="1250" dirty="0"/>
          </a:p>
        </p:txBody>
      </p:sp>
      <p:sp>
        <p:nvSpPr>
          <p:cNvPr id="28" name="Text 26"/>
          <p:cNvSpPr/>
          <p:nvPr/>
        </p:nvSpPr>
        <p:spPr>
          <a:xfrm>
            <a:off x="6035040" y="5760720"/>
            <a:ext cx="5422392" cy="77724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omdat ik ziek ben (één woord)</a:t>
            </a:r>
            <a:endParaRPr lang="en-US" sz="1350" dirty="0"/>
          </a:p>
        </p:txBody>
      </p:sp>
      <p:sp>
        <p:nvSpPr>
          <p:cNvPr id="29" name="Shape 27"/>
          <p:cNvSpPr/>
          <p:nvPr/>
        </p:nvSpPr>
        <p:spPr>
          <a:xfrm>
            <a:off x="640080" y="6675120"/>
            <a:ext cx="10908792" cy="777240"/>
          </a:xfrm>
          <a:prstGeom prst="roundRect">
            <a:avLst>
              <a:gd name="adj" fmla="val 10588"/>
            </a:avLst>
          </a:prstGeom>
          <a:solidFill>
            <a:srgbClr val="FFFFFF"/>
          </a:solidFill>
          <a:ln w="12700">
            <a:solidFill>
              <a:srgbClr val="E7E1DF"/>
            </a:solidFill>
            <a:prstDash val="solid"/>
          </a:ln>
        </p:spPr>
      </p:sp>
      <p:sp>
        <p:nvSpPr>
          <p:cNvPr id="30" name="Text 28"/>
          <p:cNvSpPr/>
          <p:nvPr/>
        </p:nvSpPr>
        <p:spPr>
          <a:xfrm>
            <a:off x="914400" y="6729984"/>
            <a:ext cx="4937760" cy="365760"/>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Estoy enfermo, por eso no voy</a:t>
            </a:r>
            <a:endParaRPr lang="en-US" sz="1700" dirty="0"/>
          </a:p>
        </p:txBody>
      </p:sp>
      <p:sp>
        <p:nvSpPr>
          <p:cNvPr id="31" name="Text 29"/>
          <p:cNvSpPr/>
          <p:nvPr/>
        </p:nvSpPr>
        <p:spPr>
          <a:xfrm>
            <a:off x="914400" y="7095744"/>
            <a:ext cx="4937760" cy="292608"/>
          </a:xfrm>
          <a:prstGeom prst="rect">
            <a:avLst/>
          </a:prstGeom>
          <a:noFill/>
          <a:ln/>
        </p:spPr>
        <p:txBody>
          <a:bodyPr wrap="square" lIns="0" tIns="0" rIns="0" bIns="0" rtlCol="0" anchor="ctr"/>
          <a:lstStyle/>
          <a:p>
            <a:pPr indent="0" marL="0">
              <a:buNone/>
            </a:pPr>
            <a:r>
              <a:rPr lang="en-US" sz="1250" dirty="0">
                <a:solidFill>
                  <a:srgbClr val="A8323B"/>
                </a:solidFill>
                <a:latin typeface="Inter" pitchFamily="34" charset="0"/>
                <a:ea typeface="Inter" pitchFamily="34" charset="-122"/>
                <a:cs typeface="Inter" pitchFamily="34" charset="-120"/>
              </a:rPr>
              <a:t>la consecuencia</a:t>
            </a:r>
            <a:endParaRPr lang="en-US" sz="1250" dirty="0"/>
          </a:p>
        </p:txBody>
      </p:sp>
      <p:sp>
        <p:nvSpPr>
          <p:cNvPr id="32" name="Text 30"/>
          <p:cNvSpPr/>
          <p:nvPr/>
        </p:nvSpPr>
        <p:spPr>
          <a:xfrm>
            <a:off x="6035040" y="6675120"/>
            <a:ext cx="5422392" cy="77724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daarom ga ik niet</a:t>
            </a:r>
            <a:endParaRPr lang="en-US" sz="1350" dirty="0"/>
          </a:p>
        </p:txBody>
      </p:sp>
      <p:sp>
        <p:nvSpPr>
          <p:cNvPr id="33" name="Shape 31"/>
          <p:cNvSpPr/>
          <p:nvPr/>
        </p:nvSpPr>
        <p:spPr>
          <a:xfrm>
            <a:off x="640080" y="7772400"/>
            <a:ext cx="10908792" cy="914400"/>
          </a:xfrm>
          <a:prstGeom prst="roundRect">
            <a:avLst>
              <a:gd name="adj" fmla="val 10000"/>
            </a:avLst>
          </a:prstGeom>
          <a:solidFill>
            <a:srgbClr val="FBEAEC"/>
          </a:solidFill>
          <a:ln w="12700">
            <a:solidFill>
              <a:srgbClr val="FBEAEC"/>
            </a:solidFill>
            <a:prstDash val="solid"/>
          </a:ln>
        </p:spPr>
      </p:sp>
      <p:sp>
        <p:nvSpPr>
          <p:cNvPr id="34" name="Text 32"/>
          <p:cNvSpPr/>
          <p:nvPr/>
        </p:nvSpPr>
        <p:spPr>
          <a:xfrm>
            <a:off x="914400" y="7772400"/>
            <a:ext cx="10360152" cy="914400"/>
          </a:xfrm>
          <a:prstGeom prst="rect">
            <a:avLst/>
          </a:prstGeom>
          <a:noFill/>
          <a:ln/>
        </p:spPr>
        <p:txBody>
          <a:bodyPr wrap="square" lIns="0" tIns="0" rIns="0" bIns="0" rtlCol="0" anchor="ctr"/>
          <a:lstStyle/>
          <a:p>
            <a:pPr indent="0" marL="0">
              <a:buNone/>
            </a:pPr>
            <a:r>
              <a:rPr lang="en-US" sz="1350" b="1" dirty="0">
                <a:solidFill>
                  <a:srgbClr val="A8323B"/>
                </a:solidFill>
                <a:latin typeface="Inter" pitchFamily="34" charset="0"/>
                <a:ea typeface="Inter" pitchFamily="34" charset="-122"/>
                <a:cs typeface="Inter" pitchFamily="34" charset="-120"/>
              </a:rPr>
              <a:t>¡Ojo!  </a:t>
            </a:r>
            <a:pPr indent="0" marL="0">
              <a:buNone/>
            </a:pPr>
            <a:r>
              <a:rPr lang="en-US" sz="1350" dirty="0">
                <a:solidFill>
                  <a:srgbClr val="20242E"/>
                </a:solidFill>
                <a:latin typeface="Inter" pitchFamily="34" charset="0"/>
                <a:ea typeface="Inter" pitchFamily="34" charset="-122"/>
                <a:cs typeface="Inter" pitchFamily="34" charset="-120"/>
              </a:rPr>
              <a:t>Por qué (twee woorden, met accent) is de vraag; porque (één woord, zonder accent) is het antwoord. En let op: «want» én «omdat» zijn in het Spaans allebei porque. «Dus» is por eso of así que — nooit «luego».</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¿Qué has entendido?</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Escucha · en el puesto de fruta del mercado</a:t>
            </a:r>
            <a:endParaRPr lang="en-US" sz="1200" dirty="0"/>
          </a:p>
        </p:txBody>
      </p:sp>
      <p:sp>
        <p:nvSpPr>
          <p:cNvPr id="5" name="Text 3"/>
          <p:cNvSpPr/>
          <p:nvPr/>
        </p:nvSpPr>
        <p:spPr>
          <a:xfrm>
            <a:off x="640080" y="1143000"/>
            <a:ext cx="1090879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1. ¿Cuánto cuesta un kilo de manzanas?</a:t>
            </a:r>
            <a:endParaRPr lang="en-US" sz="1700" dirty="0"/>
          </a:p>
        </p:txBody>
      </p:sp>
      <p:sp>
        <p:nvSpPr>
          <p:cNvPr id="6" name="Shape 4"/>
          <p:cNvSpPr/>
          <p:nvPr/>
        </p:nvSpPr>
        <p:spPr>
          <a:xfrm>
            <a:off x="822960" y="1600200"/>
            <a:ext cx="3270504" cy="566928"/>
          </a:xfrm>
          <a:prstGeom prst="roundRect">
            <a:avLst>
              <a:gd name="adj" fmla="val 14516"/>
            </a:avLst>
          </a:prstGeom>
          <a:solidFill>
            <a:srgbClr val="FFFFFF"/>
          </a:solidFill>
          <a:ln w="12700">
            <a:solidFill>
              <a:srgbClr val="E7E1DF"/>
            </a:solidFill>
            <a:prstDash val="solid"/>
          </a:ln>
        </p:spPr>
      </p:sp>
      <p:sp>
        <p:nvSpPr>
          <p:cNvPr id="7" name="Text 5"/>
          <p:cNvSpPr/>
          <p:nvPr/>
        </p:nvSpPr>
        <p:spPr>
          <a:xfrm>
            <a:off x="987552" y="16002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1,20 €</a:t>
            </a:r>
            <a:endParaRPr lang="en-US" sz="1350" dirty="0"/>
          </a:p>
        </p:txBody>
      </p:sp>
      <p:sp>
        <p:nvSpPr>
          <p:cNvPr id="8" name="Shape 6"/>
          <p:cNvSpPr/>
          <p:nvPr/>
        </p:nvSpPr>
        <p:spPr>
          <a:xfrm>
            <a:off x="4276344" y="1600200"/>
            <a:ext cx="3270504" cy="566928"/>
          </a:xfrm>
          <a:prstGeom prst="roundRect">
            <a:avLst>
              <a:gd name="adj" fmla="val 14516"/>
            </a:avLst>
          </a:prstGeom>
          <a:solidFill>
            <a:srgbClr val="FFFFFF"/>
          </a:solidFill>
          <a:ln w="12700">
            <a:solidFill>
              <a:srgbClr val="E7E1DF"/>
            </a:solidFill>
            <a:prstDash val="solid"/>
          </a:ln>
        </p:spPr>
      </p:sp>
      <p:sp>
        <p:nvSpPr>
          <p:cNvPr id="9" name="Text 7"/>
          <p:cNvSpPr/>
          <p:nvPr/>
        </p:nvSpPr>
        <p:spPr>
          <a:xfrm>
            <a:off x="4440936" y="16002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1,80 €</a:t>
            </a:r>
            <a:endParaRPr lang="en-US" sz="1350" dirty="0"/>
          </a:p>
        </p:txBody>
      </p:sp>
      <p:sp>
        <p:nvSpPr>
          <p:cNvPr id="10" name="Shape 8"/>
          <p:cNvSpPr/>
          <p:nvPr/>
        </p:nvSpPr>
        <p:spPr>
          <a:xfrm>
            <a:off x="7729728" y="1600200"/>
            <a:ext cx="3270504" cy="566928"/>
          </a:xfrm>
          <a:prstGeom prst="roundRect">
            <a:avLst>
              <a:gd name="adj" fmla="val 14516"/>
            </a:avLst>
          </a:prstGeom>
          <a:solidFill>
            <a:srgbClr val="FFFFFF"/>
          </a:solidFill>
          <a:ln w="12700">
            <a:solidFill>
              <a:srgbClr val="E7E1DF"/>
            </a:solidFill>
            <a:prstDash val="solid"/>
          </a:ln>
        </p:spPr>
      </p:sp>
      <p:sp>
        <p:nvSpPr>
          <p:cNvPr id="11" name="Text 9"/>
          <p:cNvSpPr/>
          <p:nvPr/>
        </p:nvSpPr>
        <p:spPr>
          <a:xfrm>
            <a:off x="7894320" y="16002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2,20 €</a:t>
            </a:r>
            <a:endParaRPr lang="en-US" sz="1350" dirty="0"/>
          </a:p>
        </p:txBody>
      </p:sp>
      <p:sp>
        <p:nvSpPr>
          <p:cNvPr id="12" name="Text 10"/>
          <p:cNvSpPr/>
          <p:nvPr/>
        </p:nvSpPr>
        <p:spPr>
          <a:xfrm>
            <a:off x="640080" y="2743200"/>
            <a:ext cx="1090879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2. ¿Qué no compra Tomás?</a:t>
            </a:r>
            <a:endParaRPr lang="en-US" sz="1700" dirty="0"/>
          </a:p>
        </p:txBody>
      </p:sp>
      <p:sp>
        <p:nvSpPr>
          <p:cNvPr id="13" name="Shape 11"/>
          <p:cNvSpPr/>
          <p:nvPr/>
        </p:nvSpPr>
        <p:spPr>
          <a:xfrm>
            <a:off x="822960" y="3200400"/>
            <a:ext cx="3270504" cy="566928"/>
          </a:xfrm>
          <a:prstGeom prst="roundRect">
            <a:avLst>
              <a:gd name="adj" fmla="val 14516"/>
            </a:avLst>
          </a:prstGeom>
          <a:solidFill>
            <a:srgbClr val="FFFFFF"/>
          </a:solidFill>
          <a:ln w="12700">
            <a:solidFill>
              <a:srgbClr val="E7E1DF"/>
            </a:solidFill>
            <a:prstDash val="solid"/>
          </a:ln>
        </p:spPr>
      </p:sp>
      <p:sp>
        <p:nvSpPr>
          <p:cNvPr id="14" name="Text 12"/>
          <p:cNvSpPr/>
          <p:nvPr/>
        </p:nvSpPr>
        <p:spPr>
          <a:xfrm>
            <a:off x="987552" y="32004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Tomates</a:t>
            </a:r>
            <a:endParaRPr lang="en-US" sz="1350" dirty="0"/>
          </a:p>
        </p:txBody>
      </p:sp>
      <p:sp>
        <p:nvSpPr>
          <p:cNvPr id="15" name="Shape 13"/>
          <p:cNvSpPr/>
          <p:nvPr/>
        </p:nvSpPr>
        <p:spPr>
          <a:xfrm>
            <a:off x="4276344" y="3200400"/>
            <a:ext cx="3270504" cy="566928"/>
          </a:xfrm>
          <a:prstGeom prst="roundRect">
            <a:avLst>
              <a:gd name="adj" fmla="val 14516"/>
            </a:avLst>
          </a:prstGeom>
          <a:solidFill>
            <a:srgbClr val="FFFFFF"/>
          </a:solidFill>
          <a:ln w="12700">
            <a:solidFill>
              <a:srgbClr val="E7E1DF"/>
            </a:solidFill>
            <a:prstDash val="solid"/>
          </a:ln>
        </p:spPr>
      </p:sp>
      <p:sp>
        <p:nvSpPr>
          <p:cNvPr id="16" name="Text 14"/>
          <p:cNvSpPr/>
          <p:nvPr/>
        </p:nvSpPr>
        <p:spPr>
          <a:xfrm>
            <a:off x="4440936" y="32004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Manzanas</a:t>
            </a:r>
            <a:endParaRPr lang="en-US" sz="1350" dirty="0"/>
          </a:p>
        </p:txBody>
      </p:sp>
      <p:sp>
        <p:nvSpPr>
          <p:cNvPr id="17" name="Shape 15"/>
          <p:cNvSpPr/>
          <p:nvPr/>
        </p:nvSpPr>
        <p:spPr>
          <a:xfrm>
            <a:off x="7729728" y="3200400"/>
            <a:ext cx="3270504" cy="566928"/>
          </a:xfrm>
          <a:prstGeom prst="roundRect">
            <a:avLst>
              <a:gd name="adj" fmla="val 14516"/>
            </a:avLst>
          </a:prstGeom>
          <a:solidFill>
            <a:srgbClr val="FFFFFF"/>
          </a:solidFill>
          <a:ln w="12700">
            <a:solidFill>
              <a:srgbClr val="E7E1DF"/>
            </a:solidFill>
            <a:prstDash val="solid"/>
          </a:ln>
        </p:spPr>
      </p:sp>
      <p:sp>
        <p:nvSpPr>
          <p:cNvPr id="18" name="Text 16"/>
          <p:cNvSpPr/>
          <p:nvPr/>
        </p:nvSpPr>
        <p:spPr>
          <a:xfrm>
            <a:off x="7894320" y="32004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Lechuga</a:t>
            </a:r>
            <a:endParaRPr lang="en-US" sz="1350" dirty="0"/>
          </a:p>
        </p:txBody>
      </p:sp>
      <p:sp>
        <p:nvSpPr>
          <p:cNvPr id="19" name="Text 17"/>
          <p:cNvSpPr/>
          <p:nvPr/>
        </p:nvSpPr>
        <p:spPr>
          <a:xfrm>
            <a:off x="640080" y="4343400"/>
            <a:ext cx="1090879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3. ¿Por qué no lo compra?</a:t>
            </a:r>
            <a:endParaRPr lang="en-US" sz="1700" dirty="0"/>
          </a:p>
        </p:txBody>
      </p:sp>
      <p:sp>
        <p:nvSpPr>
          <p:cNvPr id="20" name="Shape 18"/>
          <p:cNvSpPr/>
          <p:nvPr/>
        </p:nvSpPr>
        <p:spPr>
          <a:xfrm>
            <a:off x="822960" y="4800600"/>
            <a:ext cx="3270504" cy="566928"/>
          </a:xfrm>
          <a:prstGeom prst="roundRect">
            <a:avLst>
              <a:gd name="adj" fmla="val 14516"/>
            </a:avLst>
          </a:prstGeom>
          <a:solidFill>
            <a:srgbClr val="FFFFFF"/>
          </a:solidFill>
          <a:ln w="12700">
            <a:solidFill>
              <a:srgbClr val="E7E1DF"/>
            </a:solidFill>
            <a:prstDash val="solid"/>
          </a:ln>
        </p:spPr>
      </p:sp>
      <p:sp>
        <p:nvSpPr>
          <p:cNvPr id="21" name="Text 19"/>
          <p:cNvSpPr/>
          <p:nvPr/>
        </p:nvSpPr>
        <p:spPr>
          <a:xfrm>
            <a:off x="987552" y="48006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Porque es caro</a:t>
            </a:r>
            <a:endParaRPr lang="en-US" sz="1350" dirty="0"/>
          </a:p>
        </p:txBody>
      </p:sp>
      <p:sp>
        <p:nvSpPr>
          <p:cNvPr id="22" name="Shape 20"/>
          <p:cNvSpPr/>
          <p:nvPr/>
        </p:nvSpPr>
        <p:spPr>
          <a:xfrm>
            <a:off x="4276344" y="4800600"/>
            <a:ext cx="3270504" cy="566928"/>
          </a:xfrm>
          <a:prstGeom prst="roundRect">
            <a:avLst>
              <a:gd name="adj" fmla="val 14516"/>
            </a:avLst>
          </a:prstGeom>
          <a:solidFill>
            <a:srgbClr val="FFFFFF"/>
          </a:solidFill>
          <a:ln w="12700">
            <a:solidFill>
              <a:srgbClr val="E7E1DF"/>
            </a:solidFill>
            <a:prstDash val="solid"/>
          </a:ln>
        </p:spPr>
      </p:sp>
      <p:sp>
        <p:nvSpPr>
          <p:cNvPr id="23" name="Text 21"/>
          <p:cNvSpPr/>
          <p:nvPr/>
        </p:nvSpPr>
        <p:spPr>
          <a:xfrm>
            <a:off x="4440936" y="48006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Porque no le gusta</a:t>
            </a:r>
            <a:endParaRPr lang="en-US" sz="1350" dirty="0"/>
          </a:p>
        </p:txBody>
      </p:sp>
      <p:sp>
        <p:nvSpPr>
          <p:cNvPr id="24" name="Shape 22"/>
          <p:cNvSpPr/>
          <p:nvPr/>
        </p:nvSpPr>
        <p:spPr>
          <a:xfrm>
            <a:off x="7729728" y="4800600"/>
            <a:ext cx="3270504" cy="566928"/>
          </a:xfrm>
          <a:prstGeom prst="roundRect">
            <a:avLst>
              <a:gd name="adj" fmla="val 14516"/>
            </a:avLst>
          </a:prstGeom>
          <a:solidFill>
            <a:srgbClr val="FFFFFF"/>
          </a:solidFill>
          <a:ln w="12700">
            <a:solidFill>
              <a:srgbClr val="E7E1DF"/>
            </a:solidFill>
            <a:prstDash val="solid"/>
          </a:ln>
        </p:spPr>
      </p:sp>
      <p:sp>
        <p:nvSpPr>
          <p:cNvPr id="25" name="Text 23"/>
          <p:cNvSpPr/>
          <p:nvPr/>
        </p:nvSpPr>
        <p:spPr>
          <a:xfrm>
            <a:off x="7894320" y="48006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Porque no hay</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¿Qué has entendido?</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Escucha · en el puesto de fruta del mercado</a:t>
            </a:r>
            <a:endParaRPr lang="en-US" sz="1200" dirty="0"/>
          </a:p>
        </p:txBody>
      </p:sp>
      <p:sp>
        <p:nvSpPr>
          <p:cNvPr id="5" name="Text 3"/>
          <p:cNvSpPr/>
          <p:nvPr/>
        </p:nvSpPr>
        <p:spPr>
          <a:xfrm>
            <a:off x="640080" y="1143000"/>
            <a:ext cx="1090879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1. ¿Cuánto cuesta un kilo de manzanas?</a:t>
            </a:r>
            <a:endParaRPr lang="en-US" sz="1700" dirty="0"/>
          </a:p>
        </p:txBody>
      </p:sp>
      <p:sp>
        <p:nvSpPr>
          <p:cNvPr id="6" name="Shape 4"/>
          <p:cNvSpPr/>
          <p:nvPr/>
        </p:nvSpPr>
        <p:spPr>
          <a:xfrm>
            <a:off x="822960" y="1600200"/>
            <a:ext cx="3270504" cy="566928"/>
          </a:xfrm>
          <a:prstGeom prst="roundRect">
            <a:avLst>
              <a:gd name="adj" fmla="val 14516"/>
            </a:avLst>
          </a:prstGeom>
          <a:solidFill>
            <a:srgbClr val="FFFFFF"/>
          </a:solidFill>
          <a:ln w="12700">
            <a:solidFill>
              <a:srgbClr val="E7E1DF"/>
            </a:solidFill>
            <a:prstDash val="solid"/>
          </a:ln>
        </p:spPr>
      </p:sp>
      <p:sp>
        <p:nvSpPr>
          <p:cNvPr id="7" name="Text 5"/>
          <p:cNvSpPr/>
          <p:nvPr/>
        </p:nvSpPr>
        <p:spPr>
          <a:xfrm>
            <a:off x="987552" y="16002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1,20 €</a:t>
            </a:r>
            <a:endParaRPr lang="en-US" sz="1350" dirty="0"/>
          </a:p>
        </p:txBody>
      </p:sp>
      <p:sp>
        <p:nvSpPr>
          <p:cNvPr id="8" name="Shape 6"/>
          <p:cNvSpPr/>
          <p:nvPr/>
        </p:nvSpPr>
        <p:spPr>
          <a:xfrm>
            <a:off x="4276344" y="1600200"/>
            <a:ext cx="3270504" cy="566928"/>
          </a:xfrm>
          <a:prstGeom prst="roundRect">
            <a:avLst>
              <a:gd name="adj" fmla="val 14516"/>
            </a:avLst>
          </a:prstGeom>
          <a:solidFill>
            <a:srgbClr val="EAF7EE"/>
          </a:solidFill>
          <a:ln w="12700">
            <a:solidFill>
              <a:srgbClr val="2F9A4A"/>
            </a:solidFill>
            <a:prstDash val="solid"/>
          </a:ln>
        </p:spPr>
      </p:sp>
      <p:sp>
        <p:nvSpPr>
          <p:cNvPr id="9" name="Text 7"/>
          <p:cNvSpPr/>
          <p:nvPr/>
        </p:nvSpPr>
        <p:spPr>
          <a:xfrm>
            <a:off x="4440936" y="1600200"/>
            <a:ext cx="2950464" cy="566928"/>
          </a:xfrm>
          <a:prstGeom prst="rect">
            <a:avLst/>
          </a:prstGeom>
          <a:noFill/>
          <a:ln/>
        </p:spPr>
        <p:txBody>
          <a:bodyPr wrap="square" lIns="0" tIns="0" rIns="0" bIns="0" rtlCol="0" anchor="ctr"/>
          <a:lstStyle/>
          <a:p>
            <a:pPr indent="0" marL="0">
              <a:buNone/>
            </a:pPr>
            <a:r>
              <a:rPr lang="en-US" sz="1350" b="1" dirty="0">
                <a:solidFill>
                  <a:srgbClr val="166534"/>
                </a:solidFill>
                <a:latin typeface="Inter" pitchFamily="34" charset="0"/>
                <a:ea typeface="Inter" pitchFamily="34" charset="-122"/>
                <a:cs typeface="Inter" pitchFamily="34" charset="-120"/>
              </a:rPr>
              <a:t>1,80 €</a:t>
            </a:r>
            <a:endParaRPr lang="en-US" sz="1350" dirty="0"/>
          </a:p>
        </p:txBody>
      </p:sp>
      <p:sp>
        <p:nvSpPr>
          <p:cNvPr id="10" name="Shape 8"/>
          <p:cNvSpPr/>
          <p:nvPr/>
        </p:nvSpPr>
        <p:spPr>
          <a:xfrm>
            <a:off x="7729728" y="1600200"/>
            <a:ext cx="3270504" cy="566928"/>
          </a:xfrm>
          <a:prstGeom prst="roundRect">
            <a:avLst>
              <a:gd name="adj" fmla="val 14516"/>
            </a:avLst>
          </a:prstGeom>
          <a:solidFill>
            <a:srgbClr val="FFFFFF"/>
          </a:solidFill>
          <a:ln w="12700">
            <a:solidFill>
              <a:srgbClr val="E7E1DF"/>
            </a:solidFill>
            <a:prstDash val="solid"/>
          </a:ln>
        </p:spPr>
      </p:sp>
      <p:sp>
        <p:nvSpPr>
          <p:cNvPr id="11" name="Text 9"/>
          <p:cNvSpPr/>
          <p:nvPr/>
        </p:nvSpPr>
        <p:spPr>
          <a:xfrm>
            <a:off x="7894320" y="16002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2,20 €</a:t>
            </a:r>
            <a:endParaRPr lang="en-US" sz="1350" dirty="0"/>
          </a:p>
        </p:txBody>
      </p:sp>
      <p:sp>
        <p:nvSpPr>
          <p:cNvPr id="12" name="Text 10"/>
          <p:cNvSpPr/>
          <p:nvPr/>
        </p:nvSpPr>
        <p:spPr>
          <a:xfrm>
            <a:off x="640080" y="2743200"/>
            <a:ext cx="1090879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2. ¿Qué no compra Tomás?</a:t>
            </a:r>
            <a:endParaRPr lang="en-US" sz="1700" dirty="0"/>
          </a:p>
        </p:txBody>
      </p:sp>
      <p:sp>
        <p:nvSpPr>
          <p:cNvPr id="13" name="Shape 11"/>
          <p:cNvSpPr/>
          <p:nvPr/>
        </p:nvSpPr>
        <p:spPr>
          <a:xfrm>
            <a:off x="822960" y="3200400"/>
            <a:ext cx="3270504" cy="566928"/>
          </a:xfrm>
          <a:prstGeom prst="roundRect">
            <a:avLst>
              <a:gd name="adj" fmla="val 14516"/>
            </a:avLst>
          </a:prstGeom>
          <a:solidFill>
            <a:srgbClr val="FFFFFF"/>
          </a:solidFill>
          <a:ln w="12700">
            <a:solidFill>
              <a:srgbClr val="E7E1DF"/>
            </a:solidFill>
            <a:prstDash val="solid"/>
          </a:ln>
        </p:spPr>
      </p:sp>
      <p:sp>
        <p:nvSpPr>
          <p:cNvPr id="14" name="Text 12"/>
          <p:cNvSpPr/>
          <p:nvPr/>
        </p:nvSpPr>
        <p:spPr>
          <a:xfrm>
            <a:off x="987552" y="32004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Tomates</a:t>
            </a:r>
            <a:endParaRPr lang="en-US" sz="1350" dirty="0"/>
          </a:p>
        </p:txBody>
      </p:sp>
      <p:sp>
        <p:nvSpPr>
          <p:cNvPr id="15" name="Shape 13"/>
          <p:cNvSpPr/>
          <p:nvPr/>
        </p:nvSpPr>
        <p:spPr>
          <a:xfrm>
            <a:off x="4276344" y="3200400"/>
            <a:ext cx="3270504" cy="566928"/>
          </a:xfrm>
          <a:prstGeom prst="roundRect">
            <a:avLst>
              <a:gd name="adj" fmla="val 14516"/>
            </a:avLst>
          </a:prstGeom>
          <a:solidFill>
            <a:srgbClr val="FFFFFF"/>
          </a:solidFill>
          <a:ln w="12700">
            <a:solidFill>
              <a:srgbClr val="E7E1DF"/>
            </a:solidFill>
            <a:prstDash val="solid"/>
          </a:ln>
        </p:spPr>
      </p:sp>
      <p:sp>
        <p:nvSpPr>
          <p:cNvPr id="16" name="Text 14"/>
          <p:cNvSpPr/>
          <p:nvPr/>
        </p:nvSpPr>
        <p:spPr>
          <a:xfrm>
            <a:off x="4440936" y="32004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Manzanas</a:t>
            </a:r>
            <a:endParaRPr lang="en-US" sz="1350" dirty="0"/>
          </a:p>
        </p:txBody>
      </p:sp>
      <p:sp>
        <p:nvSpPr>
          <p:cNvPr id="17" name="Shape 15"/>
          <p:cNvSpPr/>
          <p:nvPr/>
        </p:nvSpPr>
        <p:spPr>
          <a:xfrm>
            <a:off x="7729728" y="3200400"/>
            <a:ext cx="3270504" cy="566928"/>
          </a:xfrm>
          <a:prstGeom prst="roundRect">
            <a:avLst>
              <a:gd name="adj" fmla="val 14516"/>
            </a:avLst>
          </a:prstGeom>
          <a:solidFill>
            <a:srgbClr val="EAF7EE"/>
          </a:solidFill>
          <a:ln w="12700">
            <a:solidFill>
              <a:srgbClr val="2F9A4A"/>
            </a:solidFill>
            <a:prstDash val="solid"/>
          </a:ln>
        </p:spPr>
      </p:sp>
      <p:sp>
        <p:nvSpPr>
          <p:cNvPr id="18" name="Text 16"/>
          <p:cNvSpPr/>
          <p:nvPr/>
        </p:nvSpPr>
        <p:spPr>
          <a:xfrm>
            <a:off x="7894320" y="3200400"/>
            <a:ext cx="2950464" cy="566928"/>
          </a:xfrm>
          <a:prstGeom prst="rect">
            <a:avLst/>
          </a:prstGeom>
          <a:noFill/>
          <a:ln/>
        </p:spPr>
        <p:txBody>
          <a:bodyPr wrap="square" lIns="0" tIns="0" rIns="0" bIns="0" rtlCol="0" anchor="ctr"/>
          <a:lstStyle/>
          <a:p>
            <a:pPr indent="0" marL="0">
              <a:buNone/>
            </a:pPr>
            <a:r>
              <a:rPr lang="en-US" sz="1350" b="1" dirty="0">
                <a:solidFill>
                  <a:srgbClr val="166534"/>
                </a:solidFill>
                <a:latin typeface="Inter" pitchFamily="34" charset="0"/>
                <a:ea typeface="Inter" pitchFamily="34" charset="-122"/>
                <a:cs typeface="Inter" pitchFamily="34" charset="-120"/>
              </a:rPr>
              <a:t>Lechuga</a:t>
            </a:r>
            <a:endParaRPr lang="en-US" sz="1350" dirty="0"/>
          </a:p>
        </p:txBody>
      </p:sp>
      <p:sp>
        <p:nvSpPr>
          <p:cNvPr id="19" name="Text 17"/>
          <p:cNvSpPr/>
          <p:nvPr/>
        </p:nvSpPr>
        <p:spPr>
          <a:xfrm>
            <a:off x="640080" y="4343400"/>
            <a:ext cx="10908792" cy="384048"/>
          </a:xfrm>
          <a:prstGeom prst="rect">
            <a:avLst/>
          </a:prstGeom>
          <a:noFill/>
          <a:ln/>
        </p:spPr>
        <p:txBody>
          <a:bodyPr wrap="square" lIns="0" tIns="0" rIns="0" bIns="0" rtlCol="0" anchor="ctr"/>
          <a:lstStyle/>
          <a:p>
            <a:pPr indent="0" marL="0">
              <a:buNone/>
            </a:pPr>
            <a:r>
              <a:rPr lang="en-US" sz="1700" b="1" dirty="0">
                <a:solidFill>
                  <a:srgbClr val="20242E"/>
                </a:solidFill>
                <a:latin typeface="Bricolage Grotesque" pitchFamily="34" charset="0"/>
                <a:ea typeface="Bricolage Grotesque" pitchFamily="34" charset="-122"/>
                <a:cs typeface="Bricolage Grotesque" pitchFamily="34" charset="-120"/>
              </a:rPr>
              <a:t>3. ¿Por qué no lo compra?</a:t>
            </a:r>
            <a:endParaRPr lang="en-US" sz="1700" dirty="0"/>
          </a:p>
        </p:txBody>
      </p:sp>
      <p:sp>
        <p:nvSpPr>
          <p:cNvPr id="20" name="Shape 18"/>
          <p:cNvSpPr/>
          <p:nvPr/>
        </p:nvSpPr>
        <p:spPr>
          <a:xfrm>
            <a:off x="822960" y="4800600"/>
            <a:ext cx="3270504" cy="566928"/>
          </a:xfrm>
          <a:prstGeom prst="roundRect">
            <a:avLst>
              <a:gd name="adj" fmla="val 14516"/>
            </a:avLst>
          </a:prstGeom>
          <a:solidFill>
            <a:srgbClr val="FFFFFF"/>
          </a:solidFill>
          <a:ln w="12700">
            <a:solidFill>
              <a:srgbClr val="E7E1DF"/>
            </a:solidFill>
            <a:prstDash val="solid"/>
          </a:ln>
        </p:spPr>
      </p:sp>
      <p:sp>
        <p:nvSpPr>
          <p:cNvPr id="21" name="Text 19"/>
          <p:cNvSpPr/>
          <p:nvPr/>
        </p:nvSpPr>
        <p:spPr>
          <a:xfrm>
            <a:off x="987552" y="48006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Porque es caro</a:t>
            </a:r>
            <a:endParaRPr lang="en-US" sz="1350" dirty="0"/>
          </a:p>
        </p:txBody>
      </p:sp>
      <p:sp>
        <p:nvSpPr>
          <p:cNvPr id="22" name="Shape 20"/>
          <p:cNvSpPr/>
          <p:nvPr/>
        </p:nvSpPr>
        <p:spPr>
          <a:xfrm>
            <a:off x="4276344" y="4800600"/>
            <a:ext cx="3270504" cy="566928"/>
          </a:xfrm>
          <a:prstGeom prst="roundRect">
            <a:avLst>
              <a:gd name="adj" fmla="val 14516"/>
            </a:avLst>
          </a:prstGeom>
          <a:solidFill>
            <a:srgbClr val="EAF7EE"/>
          </a:solidFill>
          <a:ln w="12700">
            <a:solidFill>
              <a:srgbClr val="2F9A4A"/>
            </a:solidFill>
            <a:prstDash val="solid"/>
          </a:ln>
        </p:spPr>
      </p:sp>
      <p:sp>
        <p:nvSpPr>
          <p:cNvPr id="23" name="Text 21"/>
          <p:cNvSpPr/>
          <p:nvPr/>
        </p:nvSpPr>
        <p:spPr>
          <a:xfrm>
            <a:off x="4440936" y="4800600"/>
            <a:ext cx="2950464" cy="566928"/>
          </a:xfrm>
          <a:prstGeom prst="rect">
            <a:avLst/>
          </a:prstGeom>
          <a:noFill/>
          <a:ln/>
        </p:spPr>
        <p:txBody>
          <a:bodyPr wrap="square" lIns="0" tIns="0" rIns="0" bIns="0" rtlCol="0" anchor="ctr"/>
          <a:lstStyle/>
          <a:p>
            <a:pPr indent="0" marL="0">
              <a:buNone/>
            </a:pPr>
            <a:r>
              <a:rPr lang="en-US" sz="1350" b="1" dirty="0">
                <a:solidFill>
                  <a:srgbClr val="166534"/>
                </a:solidFill>
                <a:latin typeface="Inter" pitchFamily="34" charset="0"/>
                <a:ea typeface="Inter" pitchFamily="34" charset="-122"/>
                <a:cs typeface="Inter" pitchFamily="34" charset="-120"/>
              </a:rPr>
              <a:t>Porque no le gusta</a:t>
            </a:r>
            <a:endParaRPr lang="en-US" sz="1350" dirty="0"/>
          </a:p>
        </p:txBody>
      </p:sp>
      <p:sp>
        <p:nvSpPr>
          <p:cNvPr id="24" name="Shape 22"/>
          <p:cNvSpPr/>
          <p:nvPr/>
        </p:nvSpPr>
        <p:spPr>
          <a:xfrm>
            <a:off x="7729728" y="4800600"/>
            <a:ext cx="3270504" cy="566928"/>
          </a:xfrm>
          <a:prstGeom prst="roundRect">
            <a:avLst>
              <a:gd name="adj" fmla="val 14516"/>
            </a:avLst>
          </a:prstGeom>
          <a:solidFill>
            <a:srgbClr val="FFFFFF"/>
          </a:solidFill>
          <a:ln w="12700">
            <a:solidFill>
              <a:srgbClr val="E7E1DF"/>
            </a:solidFill>
            <a:prstDash val="solid"/>
          </a:ln>
        </p:spPr>
      </p:sp>
      <p:sp>
        <p:nvSpPr>
          <p:cNvPr id="25" name="Text 23"/>
          <p:cNvSpPr/>
          <p:nvPr/>
        </p:nvSpPr>
        <p:spPr>
          <a:xfrm>
            <a:off x="7894320" y="4800600"/>
            <a:ext cx="2950464" cy="566928"/>
          </a:xfrm>
          <a:prstGeom prst="rect">
            <a:avLst/>
          </a:prstGeom>
          <a:noFill/>
          <a:ln/>
        </p:spPr>
        <p:txBody>
          <a:bodyPr wrap="square" lIns="0" tIns="0" rIns="0" bIns="0" rtlCol="0" anchor="ctr"/>
          <a:lstStyle/>
          <a:p>
            <a:pPr indent="0" marL="0">
              <a:buNone/>
            </a:pPr>
            <a:r>
              <a:rPr lang="en-US" sz="1350" dirty="0">
                <a:solidFill>
                  <a:srgbClr val="20242E"/>
                </a:solidFill>
                <a:latin typeface="Inter" pitchFamily="34" charset="0"/>
                <a:ea typeface="Inter" pitchFamily="34" charset="-122"/>
                <a:cs typeface="Inter" pitchFamily="34" charset="-120"/>
              </a:rPr>
              <a:t>Porque no hay</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Lo que ya sé decir</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Funciones comunicativas</a:t>
            </a:r>
            <a:endParaRPr lang="en-US" sz="1200" dirty="0"/>
          </a:p>
        </p:txBody>
      </p:sp>
      <p:sp>
        <p:nvSpPr>
          <p:cNvPr id="5" name="Shape 3"/>
          <p:cNvSpPr/>
          <p:nvPr/>
        </p:nvSpPr>
        <p:spPr>
          <a:xfrm>
            <a:off x="640080" y="1188720"/>
            <a:ext cx="10908792" cy="640080"/>
          </a:xfrm>
          <a:prstGeom prst="roundRect">
            <a:avLst>
              <a:gd name="adj" fmla="val 12857"/>
            </a:avLst>
          </a:prstGeom>
          <a:solidFill>
            <a:srgbClr val="FFFFFF"/>
          </a:solidFill>
          <a:ln w="12700">
            <a:solidFill>
              <a:srgbClr val="E7E1DF"/>
            </a:solidFill>
            <a:prstDash val="solid"/>
          </a:ln>
        </p:spPr>
      </p:sp>
      <p:sp>
        <p:nvSpPr>
          <p:cNvPr id="6" name="Text 4"/>
          <p:cNvSpPr/>
          <p:nvPr/>
        </p:nvSpPr>
        <p:spPr>
          <a:xfrm>
            <a:off x="914400" y="118872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«¿Cuánto cuestan los tomates?»</a:t>
            </a:r>
            <a:endParaRPr lang="en-US" sz="1600" dirty="0"/>
          </a:p>
        </p:txBody>
      </p:sp>
      <p:sp>
        <p:nvSpPr>
          <p:cNvPr id="7" name="Text 5"/>
          <p:cNvSpPr/>
          <p:nvPr/>
        </p:nvSpPr>
        <p:spPr>
          <a:xfrm>
            <a:off x="7680960" y="118872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Comprar: preguntar precio, talla y cantidad</a:t>
            </a:r>
            <a:endParaRPr lang="en-US" sz="1250" dirty="0"/>
          </a:p>
        </p:txBody>
      </p:sp>
      <p:sp>
        <p:nvSpPr>
          <p:cNvPr id="8" name="Shape 6"/>
          <p:cNvSpPr/>
          <p:nvPr/>
        </p:nvSpPr>
        <p:spPr>
          <a:xfrm>
            <a:off x="640080" y="1965960"/>
            <a:ext cx="10908792" cy="640080"/>
          </a:xfrm>
          <a:prstGeom prst="roundRect">
            <a:avLst>
              <a:gd name="adj" fmla="val 12857"/>
            </a:avLst>
          </a:prstGeom>
          <a:solidFill>
            <a:srgbClr val="FFFFFF"/>
          </a:solidFill>
          <a:ln w="12700">
            <a:solidFill>
              <a:srgbClr val="E7E1DF"/>
            </a:solidFill>
            <a:prstDash val="solid"/>
          </a:ln>
        </p:spPr>
      </p:sp>
      <p:sp>
        <p:nvSpPr>
          <p:cNvPr id="9" name="Text 7"/>
          <p:cNvSpPr/>
          <p:nvPr/>
        </p:nvSpPr>
        <p:spPr>
          <a:xfrm>
            <a:off x="914400" y="196596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«Dos con veinte el kilo.»</a:t>
            </a:r>
            <a:endParaRPr lang="en-US" sz="1600" dirty="0"/>
          </a:p>
        </p:txBody>
      </p:sp>
      <p:sp>
        <p:nvSpPr>
          <p:cNvPr id="10" name="Text 8"/>
          <p:cNvSpPr/>
          <p:nvPr/>
        </p:nvSpPr>
        <p:spPr>
          <a:xfrm>
            <a:off x="7680960" y="196596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Contar (números 0–20)</a:t>
            </a:r>
            <a:endParaRPr lang="en-US" sz="1250" dirty="0"/>
          </a:p>
        </p:txBody>
      </p:sp>
      <p:sp>
        <p:nvSpPr>
          <p:cNvPr id="11" name="Shape 9"/>
          <p:cNvSpPr/>
          <p:nvPr/>
        </p:nvSpPr>
        <p:spPr>
          <a:xfrm>
            <a:off x="640080" y="2743200"/>
            <a:ext cx="10908792" cy="640080"/>
          </a:xfrm>
          <a:prstGeom prst="roundRect">
            <a:avLst>
              <a:gd name="adj" fmla="val 12857"/>
            </a:avLst>
          </a:prstGeom>
          <a:solidFill>
            <a:srgbClr val="FFFFFF"/>
          </a:solidFill>
          <a:ln w="12700">
            <a:solidFill>
              <a:srgbClr val="E7E1DF"/>
            </a:solidFill>
            <a:prstDash val="solid"/>
          </a:ln>
        </p:spPr>
      </p:sp>
      <p:sp>
        <p:nvSpPr>
          <p:cNvPr id="12" name="Text 10"/>
          <p:cNvSpPr/>
          <p:nvPr/>
        </p:nvSpPr>
        <p:spPr>
          <a:xfrm>
            <a:off x="914400" y="274320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«Es una oferta, son baratas.»</a:t>
            </a:r>
            <a:endParaRPr lang="en-US" sz="1600" dirty="0"/>
          </a:p>
        </p:txBody>
      </p:sp>
      <p:sp>
        <p:nvSpPr>
          <p:cNvPr id="13" name="Text 11"/>
          <p:cNvSpPr/>
          <p:nvPr/>
        </p:nvSpPr>
        <p:spPr>
          <a:xfrm>
            <a:off x="7680960" y="274320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Comprar: preguntar precio, talla y cantidad</a:t>
            </a:r>
            <a:endParaRPr lang="en-US" sz="1250" dirty="0"/>
          </a:p>
        </p:txBody>
      </p:sp>
      <p:sp>
        <p:nvSpPr>
          <p:cNvPr id="14" name="Shape 12"/>
          <p:cNvSpPr/>
          <p:nvPr/>
        </p:nvSpPr>
        <p:spPr>
          <a:xfrm>
            <a:off x="640080" y="3520440"/>
            <a:ext cx="10908792" cy="640080"/>
          </a:xfrm>
          <a:prstGeom prst="roundRect">
            <a:avLst>
              <a:gd name="adj" fmla="val 12857"/>
            </a:avLst>
          </a:prstGeom>
          <a:solidFill>
            <a:srgbClr val="FFFFFF"/>
          </a:solidFill>
          <a:ln w="12700">
            <a:solidFill>
              <a:srgbClr val="E7E1DF"/>
            </a:solidFill>
            <a:prstDash val="solid"/>
          </a:ln>
        </p:spPr>
      </p:sp>
      <p:sp>
        <p:nvSpPr>
          <p:cNvPr id="15" name="Text 13"/>
          <p:cNvSpPr/>
          <p:nvPr/>
        </p:nvSpPr>
        <p:spPr>
          <a:xfrm>
            <a:off x="914400" y="352044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«¿Dónde venden pescado fresco?»</a:t>
            </a:r>
            <a:endParaRPr lang="en-US" sz="1600" dirty="0"/>
          </a:p>
        </p:txBody>
      </p:sp>
      <p:sp>
        <p:nvSpPr>
          <p:cNvPr id="16" name="Text 14"/>
          <p:cNvSpPr/>
          <p:nvPr/>
        </p:nvSpPr>
        <p:spPr>
          <a:xfrm>
            <a:off x="7680960" y="352044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Comprar: preguntar precio, talla y cantidad</a:t>
            </a:r>
            <a:endParaRPr lang="en-US" sz="1250" dirty="0"/>
          </a:p>
        </p:txBody>
      </p:sp>
      <p:sp>
        <p:nvSpPr>
          <p:cNvPr id="17" name="Shape 15"/>
          <p:cNvSpPr/>
          <p:nvPr/>
        </p:nvSpPr>
        <p:spPr>
          <a:xfrm>
            <a:off x="640080" y="4297680"/>
            <a:ext cx="10908792" cy="640080"/>
          </a:xfrm>
          <a:prstGeom prst="roundRect">
            <a:avLst>
              <a:gd name="adj" fmla="val 12857"/>
            </a:avLst>
          </a:prstGeom>
          <a:solidFill>
            <a:srgbClr val="FFFFFF"/>
          </a:solidFill>
          <a:ln w="12700">
            <a:solidFill>
              <a:srgbClr val="E7E1DF"/>
            </a:solidFill>
            <a:prstDash val="solid"/>
          </a:ln>
        </p:spPr>
      </p:sp>
      <p:sp>
        <p:nvSpPr>
          <p:cNvPr id="18" name="Text 16"/>
          <p:cNvSpPr/>
          <p:nvPr/>
        </p:nvSpPr>
        <p:spPr>
          <a:xfrm>
            <a:off x="914400" y="429768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«Estoy enfermo, por eso no voy a la academia.»</a:t>
            </a:r>
            <a:endParaRPr lang="en-US" sz="1600" dirty="0"/>
          </a:p>
        </p:txBody>
      </p:sp>
      <p:sp>
        <p:nvSpPr>
          <p:cNvPr id="19" name="Text 17"/>
          <p:cNvSpPr/>
          <p:nvPr/>
        </p:nvSpPr>
        <p:spPr>
          <a:xfrm>
            <a:off x="7680960" y="429768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Preguntar y dar la razón</a:t>
            </a:r>
            <a:endParaRPr lang="en-US" sz="1250" dirty="0"/>
          </a:p>
        </p:txBody>
      </p:sp>
      <p:sp>
        <p:nvSpPr>
          <p:cNvPr id="20" name="Shape 18"/>
          <p:cNvSpPr/>
          <p:nvPr/>
        </p:nvSpPr>
        <p:spPr>
          <a:xfrm>
            <a:off x="640080" y="5074920"/>
            <a:ext cx="10908792" cy="640080"/>
          </a:xfrm>
          <a:prstGeom prst="roundRect">
            <a:avLst>
              <a:gd name="adj" fmla="val 12857"/>
            </a:avLst>
          </a:prstGeom>
          <a:solidFill>
            <a:srgbClr val="FFFFFF"/>
          </a:solidFill>
          <a:ln w="12700">
            <a:solidFill>
              <a:srgbClr val="E7E1DF"/>
            </a:solidFill>
            <a:prstDash val="solid"/>
          </a:ln>
        </p:spPr>
      </p:sp>
      <p:sp>
        <p:nvSpPr>
          <p:cNvPr id="21" name="Text 19"/>
          <p:cNvSpPr/>
          <p:nvPr/>
        </p:nvSpPr>
        <p:spPr>
          <a:xfrm>
            <a:off x="914400" y="507492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«¿Por qué? No lo sé.»</a:t>
            </a:r>
            <a:endParaRPr lang="en-US" sz="1600" dirty="0"/>
          </a:p>
        </p:txBody>
      </p:sp>
      <p:sp>
        <p:nvSpPr>
          <p:cNvPr id="22" name="Text 20"/>
          <p:cNvSpPr/>
          <p:nvPr/>
        </p:nvSpPr>
        <p:spPr>
          <a:xfrm>
            <a:off x="7680960" y="507492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Preguntar y dar la razón</a:t>
            </a:r>
            <a:endParaRPr lang="en-US" sz="1250" dirty="0"/>
          </a:p>
        </p:txBody>
      </p:sp>
      <p:sp>
        <p:nvSpPr>
          <p:cNvPr id="23" name="Shape 21"/>
          <p:cNvSpPr/>
          <p:nvPr/>
        </p:nvSpPr>
        <p:spPr>
          <a:xfrm>
            <a:off x="640080" y="5852160"/>
            <a:ext cx="10908792" cy="640080"/>
          </a:xfrm>
          <a:prstGeom prst="roundRect">
            <a:avLst>
              <a:gd name="adj" fmla="val 12857"/>
            </a:avLst>
          </a:prstGeom>
          <a:solidFill>
            <a:srgbClr val="FFFFFF"/>
          </a:solidFill>
          <a:ln w="12700">
            <a:solidFill>
              <a:srgbClr val="E7E1DF"/>
            </a:solidFill>
            <a:prstDash val="solid"/>
          </a:ln>
        </p:spPr>
      </p:sp>
      <p:sp>
        <p:nvSpPr>
          <p:cNvPr id="24" name="Text 22"/>
          <p:cNvSpPr/>
          <p:nvPr/>
        </p:nvSpPr>
        <p:spPr>
          <a:xfrm>
            <a:off x="914400" y="5852160"/>
            <a:ext cx="6583680" cy="640080"/>
          </a:xfrm>
          <a:prstGeom prst="rect">
            <a:avLst/>
          </a:prstGeom>
          <a:noFill/>
          <a:ln/>
        </p:spPr>
        <p:txBody>
          <a:bodyPr wrap="square" lIns="0" tIns="0" rIns="0" bIns="0" rtlCol="0" anchor="ctr"/>
          <a:lstStyle/>
          <a:p>
            <a:pPr indent="0" marL="0">
              <a:buNone/>
            </a:pPr>
            <a:r>
              <a:rPr lang="en-US" sz="1600" dirty="0">
                <a:solidFill>
                  <a:srgbClr val="20242E"/>
                </a:solidFill>
                <a:latin typeface="Bricolage Grotesque" pitchFamily="34" charset="0"/>
                <a:ea typeface="Bricolage Grotesque" pitchFamily="34" charset="-122"/>
                <a:cs typeface="Bricolage Grotesque" pitchFamily="34" charset="-120"/>
              </a:rPr>
              <a:t>«No tienes muy buen aspecto.»</a:t>
            </a:r>
            <a:endParaRPr lang="en-US" sz="1600" dirty="0"/>
          </a:p>
        </p:txBody>
      </p:sp>
      <p:sp>
        <p:nvSpPr>
          <p:cNvPr id="25" name="Text 23"/>
          <p:cNvSpPr/>
          <p:nvPr/>
        </p:nvSpPr>
        <p:spPr>
          <a:xfrm>
            <a:off x="7680960" y="5852160"/>
            <a:ext cx="3867912" cy="640080"/>
          </a:xfrm>
          <a:prstGeom prst="rect">
            <a:avLst/>
          </a:prstGeom>
          <a:noFill/>
          <a:ln/>
        </p:spPr>
        <p:txBody>
          <a:bodyPr wrap="square" lIns="0" tIns="0" rIns="0" bIns="0" rtlCol="0" anchor="ctr"/>
          <a:lstStyle/>
          <a:p>
            <a:pPr algn="r" indent="0" marL="0">
              <a:buNone/>
            </a:pPr>
            <a:r>
              <a:rPr lang="en-US" sz="1250" dirty="0">
                <a:solidFill>
                  <a:srgbClr val="A8323B"/>
                </a:solidFill>
                <a:latin typeface="Inter" pitchFamily="34" charset="0"/>
                <a:ea typeface="Inter" pitchFamily="34" charset="-122"/>
                <a:cs typeface="Inter" pitchFamily="34" charset="-120"/>
              </a:rPr>
              <a:t>Hablar de cómo te sientes</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BF8"/>
        </a:solidFill>
      </p:bgPr>
    </p:bg>
    <p:spTree>
      <p:nvGrpSpPr>
        <p:cNvPr id="1" name=""/>
        <p:cNvGrpSpPr/>
        <p:nvPr/>
      </p:nvGrpSpPr>
      <p:grpSpPr>
        <a:xfrm>
          <a:off x="0" y="0"/>
          <a:ext cx="0" cy="0"/>
          <a:chOff x="0" y="0"/>
          <a:chExt cx="0" cy="0"/>
        </a:xfrm>
      </p:grpSpPr>
      <p:sp>
        <p:nvSpPr>
          <p:cNvPr id="2" name="Shape 0"/>
          <p:cNvSpPr/>
          <p:nvPr/>
        </p:nvSpPr>
        <p:spPr>
          <a:xfrm>
            <a:off x="0" y="0"/>
            <a:ext cx="12188952" cy="822960"/>
          </a:xfrm>
          <a:prstGeom prst="rect">
            <a:avLst/>
          </a:prstGeom>
          <a:solidFill>
            <a:srgbClr val="D64550"/>
          </a:solidFill>
          <a:ln/>
        </p:spPr>
      </p:sp>
      <p:sp>
        <p:nvSpPr>
          <p:cNvPr id="3" name="Text 1"/>
          <p:cNvSpPr/>
          <p:nvPr/>
        </p:nvSpPr>
        <p:spPr>
          <a:xfrm>
            <a:off x="502920" y="109728"/>
            <a:ext cx="9262872" cy="603504"/>
          </a:xfrm>
          <a:prstGeom prst="rect">
            <a:avLst/>
          </a:prstGeom>
          <a:noFill/>
          <a:ln/>
        </p:spPr>
        <p:txBody>
          <a:bodyPr wrap="square" lIns="0" tIns="0" rIns="0" bIns="0" rtlCol="0" anchor="ctr"/>
          <a:lstStyle/>
          <a:p>
            <a:pPr indent="0" marL="0">
              <a:buNone/>
            </a:pPr>
            <a:r>
              <a:rPr lang="en-US" sz="2600" b="1" dirty="0">
                <a:solidFill>
                  <a:srgbClr val="FFFFFF"/>
                </a:solidFill>
                <a:latin typeface="Bricolage Grotesque" pitchFamily="34" charset="0"/>
                <a:ea typeface="Bricolage Grotesque" pitchFamily="34" charset="-122"/>
                <a:cs typeface="Bricolage Grotesque" pitchFamily="34" charset="-120"/>
              </a:rPr>
              <a:t>Tarea final · Mi lista de la compra</a:t>
            </a:r>
            <a:endParaRPr lang="en-US" sz="2600" dirty="0"/>
          </a:p>
        </p:txBody>
      </p:sp>
      <p:sp>
        <p:nvSpPr>
          <p:cNvPr id="4" name="Text 2"/>
          <p:cNvSpPr/>
          <p:nvPr/>
        </p:nvSpPr>
        <p:spPr>
          <a:xfrm>
            <a:off x="8622792" y="182880"/>
            <a:ext cx="3063240" cy="457200"/>
          </a:xfrm>
          <a:prstGeom prst="rect">
            <a:avLst/>
          </a:prstGeom>
          <a:noFill/>
          <a:ln/>
        </p:spPr>
        <p:txBody>
          <a:bodyPr wrap="square" lIns="0" tIns="0" rIns="0" bIns="0" rtlCol="0" anchor="ctr"/>
          <a:lstStyle/>
          <a:p>
            <a:pPr algn="r" indent="0" marL="0">
              <a:buNone/>
            </a:pPr>
            <a:r>
              <a:rPr lang="en-US" sz="1200" dirty="0">
                <a:solidFill>
                  <a:srgbClr val="FFFFFF"/>
                </a:solidFill>
                <a:latin typeface="Inter" pitchFamily="34" charset="0"/>
                <a:ea typeface="Inter" pitchFamily="34" charset="-122"/>
                <a:cs typeface="Inter" pitchFamily="34" charset="-120"/>
              </a:rPr>
              <a:t>Unidad 13</a:t>
            </a:r>
            <a:endParaRPr lang="en-US" sz="1200" dirty="0"/>
          </a:p>
        </p:txBody>
      </p:sp>
      <p:sp>
        <p:nvSpPr>
          <p:cNvPr id="5" name="Shape 3"/>
          <p:cNvSpPr/>
          <p:nvPr/>
        </p:nvSpPr>
        <p:spPr>
          <a:xfrm>
            <a:off x="640080" y="1005840"/>
            <a:ext cx="10908792" cy="914400"/>
          </a:xfrm>
          <a:prstGeom prst="roundRect">
            <a:avLst>
              <a:gd name="adj" fmla="val 10000"/>
            </a:avLst>
          </a:prstGeom>
          <a:solidFill>
            <a:srgbClr val="FBEAEC"/>
          </a:solidFill>
          <a:ln w="12700">
            <a:solidFill>
              <a:srgbClr val="FBEAEC"/>
            </a:solidFill>
            <a:prstDash val="solid"/>
          </a:ln>
        </p:spPr>
      </p:sp>
      <p:sp>
        <p:nvSpPr>
          <p:cNvPr id="6" name="Text 4"/>
          <p:cNvSpPr/>
          <p:nvPr/>
        </p:nvSpPr>
        <p:spPr>
          <a:xfrm>
            <a:off x="914400" y="1005840"/>
            <a:ext cx="10360152" cy="502920"/>
          </a:xfrm>
          <a:prstGeom prst="rect">
            <a:avLst/>
          </a:prstGeom>
          <a:noFill/>
          <a:ln/>
        </p:spPr>
        <p:txBody>
          <a:bodyPr wrap="square" lIns="0" tIns="0" rIns="0" bIns="0" rtlCol="0" anchor="ctr"/>
          <a:lstStyle/>
          <a:p>
            <a:pPr indent="0" marL="0">
              <a:buNone/>
            </a:pPr>
            <a:r>
              <a:rPr lang="en-US" sz="1800" b="1" dirty="0">
                <a:solidFill>
                  <a:srgbClr val="A8323B"/>
                </a:solidFill>
                <a:latin typeface="Bricolage Grotesque" pitchFamily="34" charset="0"/>
                <a:ea typeface="Bricolage Grotesque" pitchFamily="34" charset="-122"/>
                <a:cs typeface="Bricolage Grotesque" pitchFamily="34" charset="-120"/>
              </a:rPr>
              <a:t>Vas al mercado con veinte euros. Haz tu lista y regatea el precio.</a:t>
            </a:r>
            <a:endParaRPr lang="en-US" sz="1800" dirty="0"/>
          </a:p>
        </p:txBody>
      </p:sp>
      <p:sp>
        <p:nvSpPr>
          <p:cNvPr id="7" name="Text 5"/>
          <p:cNvSpPr/>
          <p:nvPr/>
        </p:nvSpPr>
        <p:spPr>
          <a:xfrm>
            <a:off x="914400" y="1463040"/>
            <a:ext cx="10360152" cy="411480"/>
          </a:xfrm>
          <a:prstGeom prst="rect">
            <a:avLst/>
          </a:prstGeom>
          <a:noFill/>
          <a:ln/>
        </p:spPr>
        <p:txBody>
          <a:bodyPr wrap="square" lIns="0" tIns="0" rIns="0" bIns="0" rtlCol="0" anchor="ctr"/>
          <a:lstStyle/>
          <a:p>
            <a:pPr indent="0" marL="0">
              <a:buNone/>
            </a:pPr>
            <a:r>
              <a:rPr lang="en-US" sz="1350" dirty="0">
                <a:solidFill>
                  <a:srgbClr val="6A6E78"/>
                </a:solidFill>
                <a:latin typeface="Inter" pitchFamily="34" charset="0"/>
                <a:ea typeface="Inter" pitchFamily="34" charset="-122"/>
                <a:cs typeface="Inter" pitchFamily="34" charset="-120"/>
              </a:rPr>
              <a:t>Je gaat met twintig euro naar de markt. Maak je lijst en vraag de prijs.</a:t>
            </a:r>
            <a:endParaRPr lang="en-US" sz="1350" dirty="0"/>
          </a:p>
        </p:txBody>
      </p:sp>
      <p:sp>
        <p:nvSpPr>
          <p:cNvPr id="8" name="Shape 6"/>
          <p:cNvSpPr/>
          <p:nvPr/>
        </p:nvSpPr>
        <p:spPr>
          <a:xfrm>
            <a:off x="685800" y="2240280"/>
            <a:ext cx="411480" cy="411480"/>
          </a:xfrm>
          <a:prstGeom prst="ellipse">
            <a:avLst/>
          </a:prstGeom>
          <a:solidFill>
            <a:srgbClr val="D64550"/>
          </a:solidFill>
          <a:ln/>
        </p:spPr>
      </p:sp>
      <p:sp>
        <p:nvSpPr>
          <p:cNvPr id="9" name="Text 7"/>
          <p:cNvSpPr/>
          <p:nvPr/>
        </p:nvSpPr>
        <p:spPr>
          <a:xfrm>
            <a:off x="685800" y="224028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ricolage Grotesque" pitchFamily="34" charset="0"/>
                <a:ea typeface="Bricolage Grotesque" pitchFamily="34" charset="-122"/>
                <a:cs typeface="Bricolage Grotesque" pitchFamily="34" charset="-120"/>
              </a:rPr>
              <a:t>1</a:t>
            </a:r>
            <a:endParaRPr lang="en-US" sz="1400" dirty="0"/>
          </a:p>
        </p:txBody>
      </p:sp>
      <p:sp>
        <p:nvSpPr>
          <p:cNvPr id="10" name="Text 8"/>
          <p:cNvSpPr/>
          <p:nvPr/>
        </p:nvSpPr>
        <p:spPr>
          <a:xfrm>
            <a:off x="1280160" y="2148840"/>
            <a:ext cx="10177272" cy="594360"/>
          </a:xfrm>
          <a:prstGeom prst="rect">
            <a:avLst/>
          </a:prstGeom>
          <a:noFill/>
          <a:ln/>
        </p:spPr>
        <p:txBody>
          <a:bodyPr wrap="square" lIns="0" tIns="0" rIns="0" bIns="0" rtlCol="0" anchor="ctr"/>
          <a:lstStyle/>
          <a:p>
            <a:pPr indent="0" marL="0">
              <a:buNone/>
            </a:pPr>
            <a:r>
              <a:rPr lang="en-US" sz="1450" dirty="0">
                <a:solidFill>
                  <a:srgbClr val="20242E"/>
                </a:solidFill>
                <a:latin typeface="Inter" pitchFamily="34" charset="0"/>
                <a:ea typeface="Inter" pitchFamily="34" charset="-122"/>
                <a:cs typeface="Inter" pitchFamily="34" charset="-120"/>
              </a:rPr>
              <a:t>Schrijf zes producten op, elk bij de juiste winkel (pescadería · carnicería · frutería · panadería).</a:t>
            </a:r>
            <a:endParaRPr lang="en-US" sz="1450" dirty="0"/>
          </a:p>
        </p:txBody>
      </p:sp>
      <p:sp>
        <p:nvSpPr>
          <p:cNvPr id="11" name="Shape 9"/>
          <p:cNvSpPr/>
          <p:nvPr/>
        </p:nvSpPr>
        <p:spPr>
          <a:xfrm>
            <a:off x="685800" y="3044952"/>
            <a:ext cx="411480" cy="411480"/>
          </a:xfrm>
          <a:prstGeom prst="ellipse">
            <a:avLst/>
          </a:prstGeom>
          <a:solidFill>
            <a:srgbClr val="D64550"/>
          </a:solidFill>
          <a:ln/>
        </p:spPr>
      </p:sp>
      <p:sp>
        <p:nvSpPr>
          <p:cNvPr id="12" name="Text 10"/>
          <p:cNvSpPr/>
          <p:nvPr/>
        </p:nvSpPr>
        <p:spPr>
          <a:xfrm>
            <a:off x="685800" y="3044952"/>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ricolage Grotesque" pitchFamily="34" charset="0"/>
                <a:ea typeface="Bricolage Grotesque" pitchFamily="34" charset="-122"/>
                <a:cs typeface="Bricolage Grotesque" pitchFamily="34" charset="-120"/>
              </a:rPr>
              <a:t>2</a:t>
            </a:r>
            <a:endParaRPr lang="en-US" sz="1400" dirty="0"/>
          </a:p>
        </p:txBody>
      </p:sp>
      <p:sp>
        <p:nvSpPr>
          <p:cNvPr id="13" name="Text 11"/>
          <p:cNvSpPr/>
          <p:nvPr/>
        </p:nvSpPr>
        <p:spPr>
          <a:xfrm>
            <a:off x="1280160" y="2953512"/>
            <a:ext cx="10177272" cy="594360"/>
          </a:xfrm>
          <a:prstGeom prst="rect">
            <a:avLst/>
          </a:prstGeom>
          <a:noFill/>
          <a:ln/>
        </p:spPr>
        <p:txBody>
          <a:bodyPr wrap="square" lIns="0" tIns="0" rIns="0" bIns="0" rtlCol="0" anchor="ctr"/>
          <a:lstStyle/>
          <a:p>
            <a:pPr indent="0" marL="0">
              <a:buNone/>
            </a:pPr>
            <a:r>
              <a:rPr lang="en-US" sz="1450" dirty="0">
                <a:solidFill>
                  <a:srgbClr val="20242E"/>
                </a:solidFill>
                <a:latin typeface="Inter" pitchFamily="34" charset="0"/>
                <a:ea typeface="Inter" pitchFamily="34" charset="-122"/>
                <a:cs typeface="Inter" pitchFamily="34" charset="-120"/>
              </a:rPr>
              <a:t>Zet er per product een hoeveelheid bij: un kilo, medio kilo, una lata…</a:t>
            </a:r>
            <a:endParaRPr lang="en-US" sz="1450" dirty="0"/>
          </a:p>
        </p:txBody>
      </p:sp>
      <p:sp>
        <p:nvSpPr>
          <p:cNvPr id="14" name="Shape 12"/>
          <p:cNvSpPr/>
          <p:nvPr/>
        </p:nvSpPr>
        <p:spPr>
          <a:xfrm>
            <a:off x="685800" y="3849624"/>
            <a:ext cx="411480" cy="411480"/>
          </a:xfrm>
          <a:prstGeom prst="ellipse">
            <a:avLst/>
          </a:prstGeom>
          <a:solidFill>
            <a:srgbClr val="D64550"/>
          </a:solidFill>
          <a:ln/>
        </p:spPr>
      </p:sp>
      <p:sp>
        <p:nvSpPr>
          <p:cNvPr id="15" name="Text 13"/>
          <p:cNvSpPr/>
          <p:nvPr/>
        </p:nvSpPr>
        <p:spPr>
          <a:xfrm>
            <a:off x="685800" y="384962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ricolage Grotesque" pitchFamily="34" charset="0"/>
                <a:ea typeface="Bricolage Grotesque" pitchFamily="34" charset="-122"/>
                <a:cs typeface="Bricolage Grotesque" pitchFamily="34" charset="-120"/>
              </a:rPr>
              <a:t>3</a:t>
            </a:r>
            <a:endParaRPr lang="en-US" sz="1400" dirty="0"/>
          </a:p>
        </p:txBody>
      </p:sp>
      <p:sp>
        <p:nvSpPr>
          <p:cNvPr id="16" name="Text 14"/>
          <p:cNvSpPr/>
          <p:nvPr/>
        </p:nvSpPr>
        <p:spPr>
          <a:xfrm>
            <a:off x="1280160" y="3758184"/>
            <a:ext cx="10177272" cy="594360"/>
          </a:xfrm>
          <a:prstGeom prst="rect">
            <a:avLst/>
          </a:prstGeom>
          <a:noFill/>
          <a:ln/>
        </p:spPr>
        <p:txBody>
          <a:bodyPr wrap="square" lIns="0" tIns="0" rIns="0" bIns="0" rtlCol="0" anchor="ctr"/>
          <a:lstStyle/>
          <a:p>
            <a:pPr indent="0" marL="0">
              <a:buNone/>
            </a:pPr>
            <a:r>
              <a:rPr lang="en-US" sz="1450" dirty="0">
                <a:solidFill>
                  <a:srgbClr val="20242E"/>
                </a:solidFill>
                <a:latin typeface="Inter" pitchFamily="34" charset="0"/>
                <a:ea typeface="Inter" pitchFamily="34" charset="-122"/>
                <a:cs typeface="Inter" pitchFamily="34" charset="-120"/>
              </a:rPr>
              <a:t>Bereid twee prijsvragen voor: ¿Cuánto cuesta…? en ¿Cuánto cuestan…?</a:t>
            </a:r>
            <a:endParaRPr lang="en-US" sz="1450" dirty="0"/>
          </a:p>
        </p:txBody>
      </p:sp>
      <p:sp>
        <p:nvSpPr>
          <p:cNvPr id="17" name="Shape 15"/>
          <p:cNvSpPr/>
          <p:nvPr/>
        </p:nvSpPr>
        <p:spPr>
          <a:xfrm>
            <a:off x="685800" y="4654296"/>
            <a:ext cx="411480" cy="411480"/>
          </a:xfrm>
          <a:prstGeom prst="ellipse">
            <a:avLst/>
          </a:prstGeom>
          <a:solidFill>
            <a:srgbClr val="D64550"/>
          </a:solidFill>
          <a:ln/>
        </p:spPr>
      </p:sp>
      <p:sp>
        <p:nvSpPr>
          <p:cNvPr id="18" name="Text 16"/>
          <p:cNvSpPr/>
          <p:nvPr/>
        </p:nvSpPr>
        <p:spPr>
          <a:xfrm>
            <a:off x="685800" y="465429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ricolage Grotesque" pitchFamily="34" charset="0"/>
                <a:ea typeface="Bricolage Grotesque" pitchFamily="34" charset="-122"/>
                <a:cs typeface="Bricolage Grotesque" pitchFamily="34" charset="-120"/>
              </a:rPr>
              <a:t>4</a:t>
            </a:r>
            <a:endParaRPr lang="en-US" sz="1400" dirty="0"/>
          </a:p>
        </p:txBody>
      </p:sp>
      <p:sp>
        <p:nvSpPr>
          <p:cNvPr id="19" name="Text 17"/>
          <p:cNvSpPr/>
          <p:nvPr/>
        </p:nvSpPr>
        <p:spPr>
          <a:xfrm>
            <a:off x="1280160" y="4562856"/>
            <a:ext cx="10177272" cy="594360"/>
          </a:xfrm>
          <a:prstGeom prst="rect">
            <a:avLst/>
          </a:prstGeom>
          <a:noFill/>
          <a:ln/>
        </p:spPr>
        <p:txBody>
          <a:bodyPr wrap="square" lIns="0" tIns="0" rIns="0" bIns="0" rtlCol="0" anchor="ctr"/>
          <a:lstStyle/>
          <a:p>
            <a:pPr indent="0" marL="0">
              <a:buNone/>
            </a:pPr>
            <a:r>
              <a:rPr lang="en-US" sz="1450" dirty="0">
                <a:solidFill>
                  <a:srgbClr val="20242E"/>
                </a:solidFill>
                <a:latin typeface="Inter" pitchFamily="34" charset="0"/>
                <a:ea typeface="Inter" pitchFamily="34" charset="-122"/>
                <a:cs typeface="Inter" pitchFamily="34" charset="-120"/>
              </a:rPr>
              <a:t>Speel de scène in tweetallen: één is de verkoper, één de klant.</a:t>
            </a:r>
            <a:endParaRPr lang="en-US" sz="1450" dirty="0"/>
          </a:p>
        </p:txBody>
      </p:sp>
      <p:sp>
        <p:nvSpPr>
          <p:cNvPr id="20" name="Shape 18"/>
          <p:cNvSpPr/>
          <p:nvPr/>
        </p:nvSpPr>
        <p:spPr>
          <a:xfrm>
            <a:off x="685800" y="5458968"/>
            <a:ext cx="411480" cy="411480"/>
          </a:xfrm>
          <a:prstGeom prst="ellipse">
            <a:avLst/>
          </a:prstGeom>
          <a:solidFill>
            <a:srgbClr val="D64550"/>
          </a:solidFill>
          <a:ln/>
        </p:spPr>
      </p:sp>
      <p:sp>
        <p:nvSpPr>
          <p:cNvPr id="21" name="Text 19"/>
          <p:cNvSpPr/>
          <p:nvPr/>
        </p:nvSpPr>
        <p:spPr>
          <a:xfrm>
            <a:off x="685800" y="545896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Bricolage Grotesque" pitchFamily="34" charset="0"/>
                <a:ea typeface="Bricolage Grotesque" pitchFamily="34" charset="-122"/>
                <a:cs typeface="Bricolage Grotesque" pitchFamily="34" charset="-120"/>
              </a:rPr>
              <a:t>5</a:t>
            </a:r>
            <a:endParaRPr lang="en-US" sz="1400" dirty="0"/>
          </a:p>
        </p:txBody>
      </p:sp>
      <p:sp>
        <p:nvSpPr>
          <p:cNvPr id="22" name="Text 20"/>
          <p:cNvSpPr/>
          <p:nvPr/>
        </p:nvSpPr>
        <p:spPr>
          <a:xfrm>
            <a:off x="1280160" y="5367528"/>
            <a:ext cx="10177272" cy="594360"/>
          </a:xfrm>
          <a:prstGeom prst="rect">
            <a:avLst/>
          </a:prstGeom>
          <a:noFill/>
          <a:ln/>
        </p:spPr>
        <p:txBody>
          <a:bodyPr wrap="square" lIns="0" tIns="0" rIns="0" bIns="0" rtlCol="0" anchor="ctr"/>
          <a:lstStyle/>
          <a:p>
            <a:pPr indent="0" marL="0">
              <a:buNone/>
            </a:pPr>
            <a:r>
              <a:rPr lang="en-US" sz="1450" dirty="0">
                <a:solidFill>
                  <a:srgbClr val="20242E"/>
                </a:solidFill>
                <a:latin typeface="Inter" pitchFamily="34" charset="0"/>
                <a:ea typeface="Inter" pitchFamily="34" charset="-122"/>
                <a:cs typeface="Inter" pitchFamily="34" charset="-120"/>
              </a:rPr>
              <a:t>Zeg tot slot waarom je iets níet koopt, met porque: «No compro el cordero porque es muy caro.»</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A8323B"/>
        </a:solidFill>
      </p:bgPr>
    </p:bg>
    <p:spTree>
      <p:nvGrpSpPr>
        <p:cNvPr id="1" name=""/>
        <p:cNvGrpSpPr/>
        <p:nvPr/>
      </p:nvGrpSpPr>
      <p:grpSpPr>
        <a:xfrm>
          <a:off x="0" y="0"/>
          <a:ext cx="0" cy="0"/>
          <a:chOff x="0" y="0"/>
          <a:chExt cx="0" cy="0"/>
        </a:xfrm>
      </p:grpSpPr>
      <p:sp>
        <p:nvSpPr>
          <p:cNvPr id="2" name="Text 0"/>
          <p:cNvSpPr/>
          <p:nvPr/>
        </p:nvSpPr>
        <p:spPr>
          <a:xfrm>
            <a:off x="731520" y="2194560"/>
            <a:ext cx="10725912" cy="914400"/>
          </a:xfrm>
          <a:prstGeom prst="rect">
            <a:avLst/>
          </a:prstGeom>
          <a:noFill/>
          <a:ln/>
        </p:spPr>
        <p:txBody>
          <a:bodyPr wrap="square" lIns="0" tIns="0" rIns="0" bIns="0" rtlCol="0" anchor="ctr"/>
          <a:lstStyle/>
          <a:p>
            <a:pPr indent="0" marL="0">
              <a:buNone/>
            </a:pPr>
            <a:r>
              <a:rPr lang="en-US" sz="4600" b="1" dirty="0">
                <a:solidFill>
                  <a:srgbClr val="FFFFFF"/>
                </a:solidFill>
                <a:latin typeface="Bricolage Grotesque" pitchFamily="34" charset="0"/>
                <a:ea typeface="Bricolage Grotesque" pitchFamily="34" charset="-122"/>
                <a:cs typeface="Bricolage Grotesque" pitchFamily="34" charset="-120"/>
              </a:rPr>
              <a:t>¿Y tú?</a:t>
            </a:r>
            <a:endParaRPr lang="en-US" sz="4600" dirty="0"/>
          </a:p>
        </p:txBody>
      </p:sp>
      <p:sp>
        <p:nvSpPr>
          <p:cNvPr id="3" name="Text 1"/>
          <p:cNvSpPr/>
          <p:nvPr/>
        </p:nvSpPr>
        <p:spPr>
          <a:xfrm>
            <a:off x="731520" y="3200400"/>
            <a:ext cx="10725912" cy="731520"/>
          </a:xfrm>
          <a:prstGeom prst="rect">
            <a:avLst/>
          </a:prstGeom>
          <a:noFill/>
          <a:ln/>
        </p:spPr>
        <p:txBody>
          <a:bodyPr wrap="square" lIns="0" tIns="0" rIns="0" bIns="0" rtlCol="0" anchor="ctr"/>
          <a:lstStyle/>
          <a:p>
            <a:pPr indent="0" marL="0">
              <a:buNone/>
            </a:pPr>
            <a:r>
              <a:rPr lang="en-US" sz="1700" dirty="0">
                <a:solidFill>
                  <a:srgbClr val="F6DDE0"/>
                </a:solidFill>
                <a:latin typeface="Inter" pitchFamily="34" charset="0"/>
                <a:ea typeface="Inter" pitchFamily="34" charset="-122"/>
                <a:cs typeface="Inter" pitchFamily="34" charset="-120"/>
              </a:rPr>
              <a:t>Wat neem je mee uit deze unidad? Noteer drie chunks die je zeker wil onthouden.</a:t>
            </a:r>
            <a:endParaRPr lang="en-US" sz="1700" dirty="0"/>
          </a:p>
        </p:txBody>
      </p:sp>
      <p:sp>
        <p:nvSpPr>
          <p:cNvPr id="4" name="Text 2"/>
          <p:cNvSpPr/>
          <p:nvPr/>
        </p:nvSpPr>
        <p:spPr>
          <a:xfrm>
            <a:off x="731520" y="4023360"/>
            <a:ext cx="10725912" cy="731520"/>
          </a:xfrm>
          <a:prstGeom prst="rect">
            <a:avLst/>
          </a:prstGeom>
          <a:noFill/>
          <a:ln/>
        </p:spPr>
        <p:txBody>
          <a:bodyPr wrap="square" lIns="0" tIns="0" rIns="0" bIns="0" rtlCol="0" anchor="ctr"/>
          <a:lstStyle/>
          <a:p>
            <a:pPr indent="0" marL="0">
              <a:buNone/>
            </a:pPr>
            <a:r>
              <a:rPr lang="en-US" sz="1600" dirty="0">
                <a:solidFill>
                  <a:srgbClr val="FFFFFF"/>
                </a:solidFill>
                <a:latin typeface="Bricolage Grotesque" pitchFamily="34" charset="0"/>
                <a:ea typeface="Bricolage Grotesque" pitchFamily="34" charset="-122"/>
                <a:cs typeface="Bricolage Grotesque" pitchFamily="34" charset="-120"/>
              </a:rPr>
              <a:t>· No tienes muy buen aspecto    · Estoy enfermo    · por eso    · Tienes que cuidarte    · buenísima    · una lata de atún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C4 · Unidad 13 · En el mercado</dc:title>
  <dc:subject>PptxGenJS Presentation</dc:subject>
  <dc:creator>Español en la práctica</dc:creator>
  <cp:lastModifiedBy>Español en la práctica</cp:lastModifiedBy>
  <cp:revision>1</cp:revision>
  <dcterms:created xsi:type="dcterms:W3CDTF">2026-08-09T20:12:49Z</dcterms:created>
  <dcterms:modified xsi:type="dcterms:W3CDTF">2026-08-09T20:12:49Z</dcterms:modified>
</cp:coreProperties>
</file>