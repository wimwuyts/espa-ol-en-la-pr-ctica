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video van aflevering 10 komt uit GOOGLE DRIVE (er is voor deze aflevering géén YouTube-link): file-id 1VbXY7Bjp2yEs0MTry3g-UmpBHKhtY5Qa, deelrechten reader/anyone → INTERNET VEREIST. Klik op de poster om in PowerPoint af te spelen; lukt dat niet, klik dan de knop «▶ Abrir en Drive» (of open de Drive-link zelf in een browser: https://drive.google.com/file/d/1VbXY7Bjp2yEs0MTry3g-UmpBHKhtY5Qa/view) — dan speelt de video in het browsertabblad. Aanpak: eerst één keer kijken zónder transcript (globaal begrijpen: de poetshulp is ziek, dus Julio, María en Paul poetsen zelf; Paul beweert dat hij weet hoe de stofzuiger werkt), daarna met het transcript. Laat de leerlingen drie kolommen maken: TAREAS (limpiar el polvo · pasar la aspiradora · ordenar los armarios) ↔ AYUDA (yo te ayudo · no es molestia · ¿qué tengo que hacer?) ↔ SABER/PODER (¿sabes…? · claro que sé · no puede venir). Let ook op het contrast «hay que limpiar» (algemeen) tegenover «tengo que hacer» (ík). Paul zegt «déjame» — imperativo, enkel herkennen. Doelcodes: C4-LU-1 · C4-STR-1 · C4-WS-1.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Werkvorm: bouw hardop in koor. Wijs blok 1 aan (hay que / tengo que / sé), dan blok 3 (het infinitivo) en de klas zegt de volledige zin; klik daarna de zin open ter controle. Daarna variëren: laat leerlingen zelf een tarea roepen. Kernidee van de máquina: blok 1 is een VASTE CHUNK (hay que · tengo que · tienes que · sé) en blok 2 dwingt het HELE werkwoord af — zo hoeven leerlingen niets te vervoegen (de paradigma's van «tener» en «saber» komen in C5). Verbind expliciet met U6 (puedo + infinitivo) en U9 (voy a + infinitivo): vijf formules, één patroon. Kleurcode: werkwoord = oranje (§13); de rode middenblok = de huisstijlkleur van C4. Oplossing: Hay que ordenar los armarios. · Tengo que fregar los platos. · Sé planchar. Doelcodes: C4-WS-1 · C4-TS-3 · C4-SP-2 · C4-MEC-2.</a:t>
            </a:r>
          </a:p>
          <a:p/>
          <a:p>
            <a:r>
              <a:t>— SOLUCIÓN (docent · presenter view) —</a:t>
            </a:r>
          </a:p>
          <a:p>
            <a:r>
              <a:t>Hay que ordenar los armarios. · Tengo que fregar los platos. · Sé planchar.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 contrast op één dia. «hay que + infinitivo» = onpersoonlijke verplichting: het moet gebeuren, maar je zegt niet wie het doet — de vorm verandert NOOIT (net als «hay»). «tengo que / tienes que + infinitivo» = wél een persoon. Presenteer alle drie als VASTE CHUNKS, niet als paradigma van «tener» (tengo/tienes/tiene/tenemos/tenéis/tienen) — dat systeem hoort in het 5de jaar (C5). Didactisch sterk: laat leerlingen eerst een lijstje «hay que…» maken voor het klaslokaal (neutraal, geen gezichtsverlies), en pas daarna verdelen met «tú tienes que… / yo tengo que…». De «que» blijft altijd staan vóór het werkwoord. Doelcodes: C4-WS-1 · C4-TS-3 · C4-SP-1 · C4-GE-3.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Twee contrasten op één dia. (1) «saber + infinitivo» = kunnen omdat je het geléérd hebt (sé cocinar · no sé planchar · ¿sabes pasar la aspiradora?); «poder + infinitivo» = kunnen omdat het lukt of mag (no puede venir, está enferma · puedes ordenar los armarios). DE KERNVALSTRIK voor Nederlandstaligen: ons ene woord «kunnen» dekt beide, dus «ik kan koken» wordt fout «puedo cocinar» — juist is «sé cocinar». Vuistregel voor de klas: heb je het geléérd? → saber. Lukt het (nu)? → poder. (2) «hay que» krijgt nooit een persoon (nooit «hay que yo limpiar») en de «que» blijft staan vóór het werkwoord (tengo QUE fregar, niet «tengo fregar»). C4-scope: «sé / sabes / sabemos» en «tengo que / tienes que» zijn VASTE CHUNKS — géén vervoegingsparadigma van «saber» of «tener»; dat systeem komt in het 5de jaar (C5). Paul gebruikt in de scène ook «déjame» (imperativo): enkel HERKENNEN, het systeem hoort in C6. Oplossing: hay · sé · puede.</a:t>
            </a:r>
          </a:p>
          <a:p/>
          <a:p>
            <a:r>
              <a:t>— SOLUCIÓN (docent · presenter view) —</a:t>
            </a:r>
          </a:p>
          <a:p>
            <a:r>
              <a:t>hay · sé · puede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duo, hardop). Klik daarna de oplossing open. Let op: «Hay que limpiar» — onpersoonlijk, geen persoon; «Yo te ayudo» — het aanbod; «¿Qué tengo que hacer?» — de «que» is verplicht vóór het werkwoord; «No es molestia» — de vaste formule om aan te dringen; «¿Sabes pasar la aspiradora?» / «Claro que sé» — saber, want het gaat om iets geleerd hebben. Oplossing: Hay · ayudo · tengo · molestia · Sabes · sé.</a:t>
            </a:r>
          </a:p>
          <a:p/>
          <a:p>
            <a:r>
              <a:t>— SOLUCIÓN (docent · presenter view) —</a:t>
            </a:r>
          </a:p>
          <a:p>
            <a:r>
              <a:t>1. Hay</a:t>
            </a:r>
          </a:p>
          <a:p>
            <a:r>
              <a:t>2. ayudo</a:t>
            </a:r>
          </a:p>
          <a:p>
            <a:r>
              <a:t>3. tengo</a:t>
            </a:r>
          </a:p>
          <a:p>
            <a:r>
              <a:t>4. molestia</a:t>
            </a:r>
          </a:p>
          <a:p>
            <a:r>
              <a:t>5. Sabes</a:t>
            </a:r>
          </a:p>
          <a:p>
            <a:r>
              <a:t>6. sé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file/d/1VbXY7Bjp2yEs0MTry3g-UmpBHKhtY5Qa/view" TargetMode="External"/><Relationship Id="rId3" Type="http://schemas.openxmlformats.org/officeDocument/2006/relationships/image" Target="../media/image2.png"/><Relationship Id="rId4" Type="http://schemas.openxmlformats.org/officeDocument/2006/relationships/video" Target="https://drive.google.com/file/d/1VbXY7Bjp2yEs0MTry3g-UmpBHKhtY5Qa/preview" TargetMode="External"/><Relationship Id="rId5" Type="http://schemas.microsoft.com/office/2007/relationships/media" Target="https://drive.google.com/file/d/1VbXY7Bjp2yEs0MTry3g-UmpBHKhtY5Qa/preview" TargetMode="External"/><Relationship Id="rId6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Las tareas de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Hay que limpiar esto.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Yo te ayudo. ¿Qué tengo que hacer?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wat er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moet gebeuren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, wat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kunt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— 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hulp aanbieden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(hay que · sé · yo te ayudo).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asistenta está enferma, dus Julio, María y Paul moeten de academie zélf schoonmaken.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Nombrar las tareas de casa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limpiar el polvo · pasar la aspiradora · fregar los platos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lo que hay que hacer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hay que limpiar (algemeen) ↔ tengo que limpiar (ík)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lo que sabes hacer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sé pasar la aspiradora · no sé cocinar · ¿sabes…?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Ofrecer y pedir ayuda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yo te ayudo · no es molestia · ¿qué tengo que hacer?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g fuerte · gue / gui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La máquina de frases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hay que / tengo que / sé + inf.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las tareas · ofrecer ayuda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hay que · saber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ofrece ayuda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Cultura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reparto de las tareas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¿Quién hace qué?</a:t>
            </a:r>
          </a:p>
        </p:txBody>
      </p:sp>
      <p:sp>
        <p:nvSpPr>
          <p:cNvPr id="35" name="Rounded Rectangle 34">
            <a:hlinkClick action="ppaction://hlinksldjump" r:id="rId11"/>
          </p:cNvPr>
          <p:cNvSpPr/>
          <p:nvPr/>
        </p:nvSpPr>
        <p:spPr>
          <a:xfrm>
            <a:off x="3410712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Ná «hay que», «tengo que» en «sé» komt áltijd het hele werkwoord: hay que limpiar · tengo que fregar · sé cocinar. En «kunnen» = saber (geleerd) óf poder (het lukt nu)!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asistenta is ziek, dus de academie moet zélf gepoetst worden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5544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Perdona, ¿qué haces?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7849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17666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Limpiar el polvo, la asistenta está enferma.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970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19787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Hay que limpiar esto.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091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1909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Yo te ayudo.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21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4030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 tienes que molestarte.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6334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26151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 es molestia, te ayudo.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8456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28273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¿Qué tengo que hacer?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0577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0394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Pues puedes ordenar los armarios, las estanterías.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2698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32516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También puedo pasar la aspiradora.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4820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34637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Yo no soy machista: los hombres también sabemos limpiar.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6941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1328" y="36758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Ahí está la aspiradora.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90630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81328" y="38880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¿Qué hacéis?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1184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41001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Limpiar un poco. Hoy no tenemos asistenta.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3305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81328" y="43123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 puede venir en toda la semana, está enferma.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54272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45244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Déjame, lo hago yo.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7548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1328" y="473658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Pero, ¿sabes pasar la aspiradora?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96700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1328" y="494872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¿Sabes cómo funciona?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17914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81328" y="516086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Claro que sé cómo funciona.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5391288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Paul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81328" y="537300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Lo que pasa es que esto no funciona. ¡Ahí está!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56034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81328" y="5585140"/>
            <a:ext cx="57150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Van a dejar la academia muy muy limpia.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que limpiar · tengo que fregar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te ayudo · ¿Te ayudo? · No es molestia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tengo que hacer? · ¿Y ahora?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¿Sabes…? · Claro que sé · No sé cocinar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está enferma · no funciona · ¡Ahí está!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3767328"/>
            <a:ext cx="26974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Episodio 10 — klik om af te spelen</a:t>
            </a:r>
          </a:p>
        </p:txBody>
      </p:sp>
      <p:sp>
        <p:nvSpPr>
          <p:cNvPr id="53" name="Rounded Rectangle 52">
            <a:hlinkClick r:id="rId2"/>
          </p:cNvPr>
          <p:cNvSpPr/>
          <p:nvPr/>
        </p:nvSpPr>
        <p:spPr>
          <a:xfrm>
            <a:off x="10241280" y="3739896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▶ Abrir en Drive</a:t>
            </a:r>
          </a:p>
        </p:txBody>
      </p:sp>
      <p:pic>
        <p:nvPicPr>
          <p:cNvPr id="54" name="Picture 53" descr="video_poster_U10.png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 fuerte · gue / gui · ¿/g/ o jota?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Vóór a/o/u klinkt g als «goal» — en vóór e/i is de u van gue/gui STIL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① La g fuerte · g + a / o / 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uapo · a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ua · lue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o · 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ato · al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o · ami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</a:t>
            </a:r>
            <a:r>
              <a:rPr sz="1450" b="0" i="0">
                <a:solidFill>
                  <a:srgbClr val="20242E"/>
                </a:solidFill>
                <a:latin typeface="Inter"/>
              </a:rPr>
              <a:t>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Zoals in het Nederlandse «goal» — een harde g, geen keelklank.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② gue / gui · la u muda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D64550"/>
                </a:solidFill>
                <a:latin typeface="Inter"/>
              </a:rPr>
              <a:t>gui</a:t>
            </a:r>
            <a:r>
              <a:rPr sz="1450" b="0" i="0">
                <a:solidFill>
                  <a:srgbClr val="20242E"/>
                </a:solidFill>
                <a:latin typeface="Inter"/>
              </a:rPr>
              <a:t>tarra · se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gui</a:t>
            </a:r>
            <a:r>
              <a:rPr sz="1450" b="0" i="0">
                <a:solidFill>
                  <a:srgbClr val="20242E"/>
                </a:solidFill>
                <a:latin typeface="Inter"/>
              </a:rPr>
              <a:t>r · ju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te · 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rra · Mi</a:t>
            </a:r>
            <a:r>
              <a:rPr sz="1450" b="1" i="0">
                <a:solidFill>
                  <a:srgbClr val="D64550"/>
                </a:solidFill>
                <a:latin typeface="Inter"/>
              </a:rPr>
              <a:t>gue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«guitarra» klinkt als «gi-tarra» — de u hóór je niet.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De u van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gue / gui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is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schrijftruc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— precies zoals bij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que / qui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(U7). Laat je die u weg, dan wordt het de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jota /x/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gente · gimnasio (U2).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③ ¿/g/ o jota? · hoor het verschil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15568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64550"/>
                </a:solidFill>
                <a:latin typeface="Bricolage Grotesque"/>
              </a:rPr>
              <a:t>g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ato   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g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uapo   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gui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tarra      ↔      </a:t>
            </a:r>
            <a:r>
              <a:rPr sz="1900" b="1" i="0">
                <a:solidFill>
                  <a:srgbClr val="DC2626"/>
                </a:solidFill>
                <a:latin typeface="Bricolage Grotesque"/>
              </a:rPr>
              <a:t>ge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nte   </a:t>
            </a:r>
            <a:r>
              <a:rPr sz="1900" b="1" i="0">
                <a:solidFill>
                  <a:srgbClr val="DC2626"/>
                </a:solidFill>
                <a:latin typeface="Bricolage Grotesque"/>
              </a:rPr>
              <a:t>gi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mnasio   </a:t>
            </a:r>
            <a:r>
              <a:rPr sz="1900" b="1" i="0">
                <a:solidFill>
                  <a:srgbClr val="DC2626"/>
                </a:solidFill>
                <a:latin typeface="Bricolage Grotesque"/>
              </a:rPr>
              <a:t>ge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neral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1556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④ Repaso · aguda o llana?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as·pi·ra·DO·ra (llana) · or·de·NAR (aguda) · ar·MA·rio (llana) · lim·PIAR (aguda)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LA MÁQUINA DE FRASES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que / Tengo que / Sé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Drie formules, altijd hetzelfde patroon — klik en de zin verschijnt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517904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664208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Hay que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moet gebeuren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1517904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1664208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517904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664208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limpiar · fregar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1773936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1517904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Hay que limpiar.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Er moet gepoetst worden.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414016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560320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Tengo que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ík moet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414016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2560320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414016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560320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planchar · fregar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2670048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414016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Tengo que planchar.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moet strijken.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310128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456432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Sé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ik kán het (geleerd)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3310128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20440" y="3456432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10128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3456432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cocinar · limpiar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3566160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60" y="3310128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Sé cocinar.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kan koken.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261104"/>
            <a:ext cx="11201400" cy="658368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34256"/>
            <a:ext cx="1069848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Cómo funciona ·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blok 1 (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 que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sé</a:t>
            </a:r>
            <a:r>
              <a:rPr sz="1250" b="0" i="0">
                <a:solidFill>
                  <a:srgbClr val="20242E"/>
                </a:solidFill>
                <a:latin typeface="Inter"/>
              </a:rPr>
              <a:t>) + blok 2 = altijd het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hele werkwoord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(el infinitivo: -ar · -er · -ir). Nooit een vervoegde vorm!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Ook zo: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voy a limpiar (U9) · puedo limpiar (U6) · tienes que limpiar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 —   en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mag nooit weg na hay / tengo / tienes.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04748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Construye · bouw zelf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algemeen + ordenar los armarios  ·  ík + fregar los platos  ·  geleerd + planchar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440680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Hay que ordenar los armarios. · Tengo que fregar los platos. · Sé planchar.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53126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51" name="Rounded Rectangle 5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tareas · ofrecer ayuda · saber hacerlo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huistaken benoemen, hulp aanbieden en zeggen wat je kunt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Las tareas de casa 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limpiar el polvo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afstoffen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pasar la aspiradora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stofzuigen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fregar los platos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vaat doen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ordenar los armarios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kasten opruimen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hacer la cama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bed opmaken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planchar · cocinar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strijken · koken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Ofrecer y pedir ayuda 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Yo te ayudo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help je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¿Te ayudo?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help ik je?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No es molestia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geen moeite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¿Qué tengo que hacer?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wat moet ik doen?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¿Me ayudas?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help je me?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Déjame, lo hago yo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laat mij maar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¿Sabes hacerlo? 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Sé pasar la aspiradora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kan stofzuigen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¿Sabes…?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kan jij…?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Claro que sé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natuurlijk kan ik dat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No sé cocinar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kan niet koken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Sabemos limpiar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wij kunnen poetsen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¿Sabes cómo funciona?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weet je hoe het werkt?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que… · problemitas en la academia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dat iets moet gebeuren — en de taal voor als iets misloopt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Hay que… · «het moet gebeuren»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que limpiar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moet gepoetst worden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que ordenar esto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moet opgeruimd worden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que fregar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ík moet de vaat doen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Tienes que planchar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jíj moet strijken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tienes que molestarte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je hoeft geen moeite te doen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En la academia · problemitas 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La asistenta está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poetshulp is ziek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puede venir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ze kan niet komen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 no funciona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werkt niet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¡Qué desorden!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een rommel!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¡Ahí está!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daar is het! / gelukt!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8813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«hay que» zegt níet wie · «no puede venir» = het lukt niet (poder), «no sabe cocinar» = ze heeft het nooit geleerd (saber).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que + infinitivo ↔ tener que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wat er moet gebeuren: mét of zónder een persoon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hay que  ·  tengo que  ·  tienes que  +  infinitivo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377440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395728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hay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2395728"/>
            <a:ext cx="14630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moet gebeuren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395728"/>
            <a:ext cx="338328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Hay que limpiar esto.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2852928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871216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tengo 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0592" y="2871216"/>
            <a:ext cx="14630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ík moet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2871216"/>
            <a:ext cx="338328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Tengo que fregar los platos.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28416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346704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tienes 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0592" y="3346704"/>
            <a:ext cx="14630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jíj moet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0208" y="3346704"/>
            <a:ext cx="338328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Tienes que ordenar los armarios.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931920"/>
            <a:ext cx="6492240" cy="566928"/>
          </a:xfrm>
          <a:prstGeom prst="roundRect">
            <a:avLst>
              <a:gd name="adj" fmla="val 10000"/>
            </a:avLst>
          </a:prstGeom>
          <a:solidFill>
            <a:srgbClr val="FBEAEC"/>
          </a:solidFill>
          <a:ln w="1778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005072"/>
            <a:ext cx="6217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Inter"/>
              </a:rPr>
              <a:t>«hay que» no cambia nunca: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 que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limpiar · fregar · planchar  —  </a:t>
            </a:r>
            <a:r>
              <a:rPr sz="1200" b="0" i="1">
                <a:solidFill>
                  <a:srgbClr val="6A6E78"/>
                </a:solidFill>
                <a:latin typeface="Inter"/>
              </a:rPr>
              <a:t>net als «hay» (er is/er zijn).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617720"/>
            <a:ext cx="649224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💡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Wil je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niet zeggen wie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het moet doen? Gebruik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hay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Wil je het wél duidelijk maken? </a:t>
            </a:r>
            <a:r>
              <a:rPr sz="1200" b="1" i="0">
                <a:solidFill>
                  <a:srgbClr val="2563EB"/>
                </a:solidFill>
                <a:latin typeface="Inter"/>
              </a:rPr>
              <a:t>tengo / tienes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 para preguntar: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¿Qué tengo que hacer? · ¿Qué hay que limpiar?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63840" y="1609344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🔎 FÍJATE · EN LA ESCENA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2103120"/>
            <a:ext cx="3566160" cy="2194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Je hoorde het al: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 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limpiar esto.»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«¿Qué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hacer?»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«No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tienes que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molestarte.»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Puedes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ordenar los armarios.»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343400"/>
            <a:ext cx="356616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¿Y tú? · En jij?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¿Qué hay que hacer en tu casa?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Antwoord met «Hay que…» + het hele werkwoord.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saber + infinitivo ↔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Twee soorten «kunnen»: het geléérd hebben ↔ de kans/mogelijkheid hebben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saber + infinitivo · iets kúnnen (geleerd)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55648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sé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ik kan / ik weet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Sé pasar la aspiradora.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84832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¿sabes…?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kan jij…?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¿Sabes cómo funciona?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14016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sabemos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wij kunnen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Los hombres también sabemos limpiar.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23744"/>
            <a:ext cx="5120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Letterlijk: «ik </a:t>
            </a:r>
            <a:r>
              <a:rPr sz="1100" b="1" i="0">
                <a:solidFill>
                  <a:srgbClr val="A8323B"/>
                </a:solidFill>
                <a:latin typeface="Inter"/>
              </a:rPr>
              <a:t>weet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stofzuigen» → ik heb het geleerd.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poder + infinitivo · het lukt / het mag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4530E"/>
                </a:solidFill>
                <a:latin typeface="Inter"/>
              </a:rPr>
              <a:t>💡 saber = geleerd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Sé cocinar.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sé planchar.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800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40AF"/>
                </a:solidFill>
                <a:latin typeface="Inter"/>
              </a:rPr>
              <a:t>🔓 poder = het lukt/mag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puede venir.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Puedes ordenar los armarios.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«ik kan koken» = </a:t>
            </a:r>
            <a:r>
              <a:rPr sz="1700" b="1" i="0">
                <a:solidFill>
                  <a:srgbClr val="EA7317"/>
                </a:solidFill>
                <a:latin typeface="Bricolage Grotesque"/>
              </a:rPr>
              <a:t>sé cocinar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niet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puedo cocinar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— dat betekent «het lukt me vandaag».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«hay que» heeft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geen persoon</a:t>
            </a:r>
            <a:r>
              <a:rPr sz="1200" b="0" i="0">
                <a:solidFill>
                  <a:srgbClr val="20242E"/>
                </a:solidFill>
                <a:latin typeface="Inter"/>
              </a:rPr>
              <a:t>: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hay que limpiar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(niet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hay que yo limpiar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de </a:t>
            </a:r>
            <a:r>
              <a:rPr sz="140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blijft: tengo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fregar  (niet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tengo fregar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169663"/>
            <a:ext cx="11201400" cy="71323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42816"/>
            <a:ext cx="1078992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Ofrecer ayuda ·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«— ¿Qué haces? —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Yo te ayudo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—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No tienes que molestarte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— </a:t>
            </a:r>
            <a:r>
              <a:rPr sz="1250" b="1" i="0">
                <a:solidFill>
                  <a:srgbClr val="A8323B"/>
                </a:solidFill>
                <a:latin typeface="Inter"/>
              </a:rPr>
              <a:t>No es molestia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¿Qué tengo que hacer?»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Tres pasos: </a:t>
            </a:r>
            <a:r>
              <a:rPr sz="1150" b="1" i="0">
                <a:solidFill>
                  <a:srgbClr val="EA7317"/>
                </a:solidFill>
                <a:latin typeface="Inter"/>
              </a:rPr>
              <a:t>ofrecer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→ </a:t>
            </a:r>
            <a:r>
              <a:rPr sz="1150" b="1" i="0">
                <a:solidFill>
                  <a:srgbClr val="A8323B"/>
                </a:solidFill>
                <a:latin typeface="Inter"/>
              </a:rPr>
              <a:t>insistir (no es molestia)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→ </a:t>
            </a:r>
            <a:r>
              <a:rPr sz="1150" b="1" i="0">
                <a:solidFill>
                  <a:srgbClr val="2563EB"/>
                </a:solidFill>
                <a:latin typeface="Inter"/>
              </a:rPr>
              <a:t>pedir instrucciones (¿qué tengo que hacer?)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834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¡Qué desorden! ___ que limpiar.   Yo ___ cocinar (geleerd).   Ella no ___ venir, está enferma.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76672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hay · sé · puede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5248656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¡Qué desorden! ___ que limpiar esto.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Yo te ___. ¿Qué ___ que hacer?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No tienes que molestarte.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No es ___.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¿___ pasar la aspiradora?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20242E"/>
                </a:solidFill>
                <a:latin typeface="Inter"/>
              </a:rPr>
              <a:t>— Claro que ___. ¡Ahí está!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Hay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ayudo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tengo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molestia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Sabes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6. sé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0" name="Rounded Rectangle 1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Ofrece ayuda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Bied hulp aan, dring vriendelijk aan en vraag wat je moet doen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«— ¡Qué desorden! Hay que limpiar esto.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te ayudo. ¿Qué tengo que hacer?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No tienes que molestarte. — No es molestia.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Pues, ¿sabes pasar la aspiradora? — Claro que sé.»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1. Constata: «¡Qué desorden! Hay que…».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2. Ofrece: «Yo te ayudo» · «¿Te ayudo?».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3. Insiste: «No es molestia».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4. Pide instrucciones: «¿Qué tengo que hacer?».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5. Di lo que sabes: «Sé…» / «No sé…».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hulp aanbieden, vriendelijk aandringen én afspreken wie wat doet. Bied 3× hulp aan; je buur weigert 1× («no tienes que molestarte»). Verstaan? Zeg: «¿Cómo? / ¿Puedes repetir?»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reparto de las tareas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doet wat in huis? — en muziek erbij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Malamente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Bebe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Ella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Ana Tijoux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1977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🇨🇱 Chile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🇪🇸/🇫🇷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Natalia Lafourcade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Hasta la Raíz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🇲🇽 México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🧹 El reparto de las tareas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Julio zegt het zelf: «yo no soy machista: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los hombres también sabemos pasar la aspiradora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». De eerlijke verdeling van huistaken is in Spanje en Latijns-Amerika een levend gespreksonderwerp.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asistenta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(poetshulp) is er gewoner dan bij ons, ook in gewone gezinnen. Vrouwen doen er nog altijd méér huishouden dan mannen, maar bij jonge koppels loopt dat verschil zichtbaar terug. Playlist + LyricsTraining op de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samen een cuadro de tareas: wat moet gebeuren, wie doet het, wie kán het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03504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6035040" cy="4572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9344"/>
            <a:ext cx="5669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CUADRO DE TAREAS · Academia «Welcome to Spanish»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121408"/>
            <a:ext cx="219456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139696"/>
            <a:ext cx="219456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A8323B"/>
                </a:solidFill>
                <a:latin typeface="Bricolage Grotesque"/>
              </a:rPr>
              <a:t>Hay que…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71216" y="2121408"/>
            <a:ext cx="192024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6" y="2139696"/>
            <a:ext cx="19202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A8323B"/>
                </a:solidFill>
                <a:latin typeface="Bricolage Grotesque"/>
              </a:rPr>
              <a:t>¿Quién? (tengo/tienes que)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121408"/>
            <a:ext cx="173736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2139696"/>
            <a:ext cx="173736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A8323B"/>
                </a:solidFill>
                <a:latin typeface="Bricolage Grotesque"/>
              </a:rPr>
              <a:t>¿Sabe? (sé/no sé)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2468880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496312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🧹  hay que ______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71216" y="2468880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46320" y="24688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2944368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2971800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🍽️  hay que 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71216" y="2944368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46320" y="2944368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3419856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447288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👕  hay que ______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71216" y="3419856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46320" y="3419856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1792" y="3895344"/>
            <a:ext cx="219456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3922776"/>
            <a:ext cx="201168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🚪  hay que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71216" y="3895344"/>
            <a:ext cx="192024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46320" y="3895344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434840"/>
            <a:ext cx="56692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🤝 Nuestro reparto: Tú tienes que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20242E"/>
                </a:solidFill>
                <a:latin typeface="Inter"/>
              </a:rPr>
              <a:t>y yo tengo que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A8323B"/>
                </a:solidFill>
                <a:latin typeface="Inter"/>
              </a:rPr>
              <a:t>. ¡Yo te ayudo!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6560" y="1554480"/>
            <a:ext cx="4937760" cy="32918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1719072"/>
            <a:ext cx="4480560" cy="3017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1. ¿Qué hay que hacer? Noteer met je groep 4 taken: «Hay que + infinitivo».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2. ¿Qué sabes hacer? Zeg wat jíj kunt en vraag het je groepsgenoten: «Yo sé…» · «¿Sabes…?» · «No sé…».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3. Repartid las tareas: «Tú tienes que… y yo tengo que…» · «Yo te ayudo».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4. Presentad el cuadro aan de klas — sin leer del papel.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je 4 taken noemt met «hay que + werkwoord», zegt wat je wél/niet kunt met «(no) sé + werkwoord», de taken verdeelt met «tengo/tienes que» en één keer hulp aanbiedt met «yo te ayudo» — zónder af te lezen.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4956048"/>
            <a:ext cx="40233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029200"/>
            <a:ext cx="36576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8323B"/>
                </a:solidFill>
                <a:latin typeface="Bricolage Grotesque"/>
              </a:rPr>
              <a:t>Evaluatie · 🟢🟡🔴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hay que + infinitivo correct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saber + infinitivo correct (sé / no sé)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hulp aanbieden &amp; taken verdelen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22 / 22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3408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9164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83408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094807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12223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26468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094807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12223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26468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525406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55283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69528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525406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55283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269528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9560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29834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1258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uno · dos · tres · cinco · diez · veinte · las horas: la una · las doce · y media · y cuarto · menos cuarto · en veinte 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9560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29834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1258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 · ¿Sí? · No te oigo (nada) · ¿Puedes hablar más despacio?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3866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4140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35564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386605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3414037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355648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817204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384463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398708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3817204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3844636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398708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247803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427523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4417681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4247803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4275235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4417681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6784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47058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48482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6784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47058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48482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51090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51364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Decir y preguntar la hora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" y="52788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¿Qué hora es? · Es la una · Son las ocho · y media · y cuarto · menos cuarto · en punto · ¿A qué hora? · a las doce · el lunes · los lunes · el fin de semana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3640" y="5109002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64808" y="5136434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Quedar con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64808" y="5278880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¿Quieres quedar (esta noche)? · Quedamos a las… · en mi casa · Más tarde · ahora mismo no puedo · Es un poco pronto · un poco tarde · Hasta ahora · te veo en veinte minutos 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" y="5539601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" y="556703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Hablar de planes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570947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Voy a + infinitivo (voy a preparar café) · Vamos a dormir un poquito más · El domingo voy a quedar con amigas · ¿Vamos a pasear?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63640" y="5539601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64808" y="5567033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Expresar obligación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8" y="5709479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Tengo que + infinitivo (tengo que trabajar) · Tengo cosas que hacer · ¿Tienes que hacer algo? · tengo hambre · tengo sueño (tener + naamwoord) 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5970200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" y="599763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Ofrecer y pedir ayuda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088" y="614007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Yo te ayudo · ¿Te ayudo? · ¿Qué tengo que hacer? · No es molestia · Déjame, lo hago yo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63640" y="5970200"/>
            <a:ext cx="5394960" cy="33915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64808" y="5997632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0242E"/>
                </a:solidFill>
                <a:latin typeface="Bricolage Grotesque"/>
              </a:rPr>
              <a:t>Decir lo que sé hacer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8" y="6140078"/>
            <a:ext cx="4992624" cy="16957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60" b="0" i="0">
                <a:solidFill>
                  <a:srgbClr val="6A6E78"/>
                </a:solidFill>
                <a:latin typeface="Inter"/>
              </a:rPr>
              <a:t>Sé + infinitivo (sé pasar la aspiradora) · ¿Sabes…? · ¿Sabes cómo funciona? · Sabemos… (nosotros) · Claro que sé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649224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er moet gebeuren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Hay que limpiar · Hay que fregar los platos (zónder persoon)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que planchar · Tienes que ordenar (mét persoon)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je kunt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Sé pasar la aspiradora · ¿Sabes cómo funciona? · No sé cocinar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Sabemos limpiar · Claro que sé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bied je hulp aan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te ayudo · ¿Te ayudo? · No es molestia · ¿Qué tengo que hacer?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6949440" cy="91440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82312"/>
            <a:ext cx="64922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¡Ojo! · las dos trampas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«ik kan koken» =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sé cocinar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(geleerd) ↔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no puede venir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(het lukt niet).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En: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hay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krijgt nooit een persoon ·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blijft staan: tengo que fregar.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554480"/>
            <a:ext cx="4023360" cy="40690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huistaken benoemen (limpiar el polvo…)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889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wat moet (hay que + inf.)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918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wie het moet (tengo/tienes que)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947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wat ik kan (sé / no sé + inf.)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29768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hulp aanbieden (yo te ayudo · no es molestia)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om instructies vragen (¿qué tengo que hacer?)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663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el reparto de tareas · ¿saber o poder?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10 «Las tareas de casa»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Les 1: Escucha (sitcom ep. 10 — de asistenta is ziek, dus María staat af te stoffen; Julio biedt hulp aan, Paul wil het overnemen en beweert dat hij weet hoe de stofzuiger werkt) + Suena bien (la g fuerte · gue/gui met stille u · ¿/g/ o jota? · repaso aguda/llana) + La máquina de frases (hay que / tengo que / sé + infinitivo) + Kit (las tareas · ofrecer y pedir ayuda · saber hacerlo · hay que · problemitas). Les 2: gramática functioneel (hay que ↔ tener que · saber ↔ poder · ofrecer ayuda), práctica, hablar «Ofrece ayuda», tarea «¿Quién hace qué?» + cultura (el reparto de las tareas).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VIDEO = GOOGLE DRIVE (geen YouTube voor deze aflevering).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File-id 1VbXY7Bjp2yEs0MTry3g-UmpBHKhtY5Qa (deelrechten reader/anyone). INTERNET VEREIST. In de escucha-dia klik je op de poster om in PowerPoint af te spelen; lukt dat niet, gebruik de knop «▶ Abrir en Drive» of open https://drive.google.com/file/d/1VbXY7Bjp2yEs0MTry3g-UmpBHKhtY5Qa/view zelf in een browser. Test de verbinding vóór de les.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Chunks komen auditief binnen (luisteren → naspreken). «hay que», «tengo que / tienes que» en «sé / sabes / sabemos» presenteren als VASTE CHUNKS uit de scène — géén vervoegingsparadigma van «tener» of «saber»; het volledige werkwoordsysteem komt in het 5de jaar (C5). De imperativo die Paul gebruikt («déjame, lo hago yo») is enkel HERKENNEN — het systeem hoort in het 6de (C6). Géén futuro simple, condicional of subjuntivo. TWEE KERNVALSTRIKKEN: (1) ons ene woord «kunnen» is in het Spaans saber (het geléérd hebben — sé cocinar) óf poder (het lukt/mag nu — no puede venir, está enferma); vuistregel voor de klas: «geleerd? → saber · lukt het? → poder»; (2) «hay que» krijgt nooit een persoon (nooit «hay que yo limpiar») en de «que» blijft staan vóór een werkwoord (tengo QUE fregar, niet «tengo fregar»). Didactische tip: laat leerlingen eerst neutraal opsommen met «hay que…» (niemand wordt aangewezen, dus geen gezichtsverlies) en pas dán verdelen met «tú tienes que… / yo tengo que…». Uitspraak: g + a/o/u = /g/ zoals in «goal» (guapo · agua · luego); vóór e/i schrijf je gue/gui voor dezelfde klank en is de u STIL (guitarra = «gi-tarra») — precies dezelfde schrijftruc als qu (recycling U7); zonder die u wordt het de jota /x/ (gente · gimnasio, recycling U2). Doelcodes: C4-WS-1 · C4-TS-3 · C4-SP-2 · C4-LU-1 · C4-GE-3 · C4-STR-1 · C4-MEC-1/2 · C4-CU-1.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ECEAE3"/>
                </a:solidFill>
                <a:latin typeface="Inter"/>
              </a:rPr>
              <a:t>Mondelinge mini-taak «¿Quién hace qué?»: in groep een cuadro de tareas maken en voorstellen — 4 taken met «hay que + infinitivo», zeggen wat elk wél/niet kan met «(no) sé + infinitivo», de taken verdelen met «tengo/tienes que» en één keer hulp aanbieden met «yo te ayudo». Geen leerplan → focus op «kunnen gebruiken in de praktijk». Rubric: hay que + infinitivo correct · saber + infinitivo correct · hulp aanbieden &amp; taken verdelen.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U10 · TAREAS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