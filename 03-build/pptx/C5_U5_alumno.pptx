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11.xml"/><Relationship Id="rId6" Type="http://schemas.openxmlformats.org/officeDocument/2006/relationships/slide" Target="slide9.xml"/><Relationship Id="rId7" Type="http://schemas.openxmlformats.org/officeDocument/2006/relationships/slide" Target="slide16.xml"/><Relationship Id="rId8" Type="http://schemas.openxmlformats.org/officeDocument/2006/relationships/slide" Target="slide18.xml"/><Relationship Id="rId9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5 · MÉXICO · CDMX 🇲🇽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0" b="1" i="0">
                <a:solidFill>
                  <a:srgbClr val="FFFFFF"/>
                </a:solidFill>
                <a:latin typeface="Bricolage Grotesque"/>
              </a:rPr>
              <a:t>¡Ñam!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4F4EE"/>
                </a:solidFill>
                <a:latin typeface="Inter"/>
              </a:rPr>
              <a:t>Comida y restaurante: cantidades, «voy a comer» y pedir con cortesía — en la CDMX, con Diego.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¿Qué vas a comer hoy?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Wat ga je vandaag eten?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anfitrión</a:t>
            </a:r>
          </a:p>
        </p:txBody>
      </p:sp>
      <p:pic>
        <p:nvPicPr>
          <p:cNvPr id="13" name="Picture 12" descr="lu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«La carta»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Cantidades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mucho/poco · un kilo 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Voy a comer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ir a + infinitivo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6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Pedir · cortesía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¿me pone…? · para mí…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7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La cuenta (lo/la)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lo/la/los/las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11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dos cartas (menús)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9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 · tacos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mercados y horarios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🍽️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La carta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je menu + restaurante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18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comida y la bebida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woorden van tafel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comida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eten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pan · la carne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bebida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drinken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agua · el zumo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fruta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fruit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manzana · el plátano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verdura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groente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tomate · la lechuga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pollo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pescado · el arroz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sopa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soep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ensalada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taco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taco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guacamole 🇲🇽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los cubiertos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bestek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tenedor · cuchillo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Cantidades: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mucho/poco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un poco 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· </a:t>
            </a:r>
            <a:r>
              <a:rPr sz="1300" b="1" i="0">
                <a:solidFill>
                  <a:srgbClr val="1E9E74"/>
                </a:solidFill>
                <a:latin typeface="Inter"/>
              </a:rPr>
              <a:t>un kilo de · una botella de · un paquete de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Cantidad concuerda: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muchO pan · muchA fruta · muchOS tomates · muchAS manzanas.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un poco de + niet-telbaar (queso, leche, agua) — verandert nooit.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Cantidades — mucho / poco / un poco 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het voorwerp. De cantidad past zich aan (m/v · ev/mv).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0242E"/>
                </a:solidFill>
                <a:latin typeface="Bricolage Grotesque"/>
              </a:rPr>
              <a:t>En el mercado hay </a:t>
            </a:r>
            <a:r>
              <a:rPr sz="2200" b="1" i="0">
                <a:solidFill>
                  <a:srgbClr val="1E9E74"/>
                </a:solidFill>
                <a:latin typeface="Bricolage Grotesque"/>
              </a:rPr>
              <a:t>mucha </a:t>
            </a:r>
            <a:r>
              <a:rPr sz="2200" b="1" i="0">
                <a:solidFill>
                  <a:srgbClr val="14B8A6"/>
                </a:solidFill>
                <a:latin typeface="Bricolage Grotesque"/>
              </a:rPr>
              <a:t>fruta 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y </a:t>
            </a:r>
            <a:r>
              <a:rPr sz="2200" b="1" i="0">
                <a:solidFill>
                  <a:srgbClr val="1E9E74"/>
                </a:solidFill>
                <a:latin typeface="Bricolage Grotesque"/>
              </a:rPr>
              <a:t>muchos </a:t>
            </a:r>
            <a:r>
              <a:rPr sz="2200" b="1" i="0">
                <a:solidFill>
                  <a:srgbClr val="14B8A6"/>
                </a:solidFill>
                <a:latin typeface="Bricolage Grotesque"/>
              </a:rPr>
              <a:t>tomates,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 pero solo </a:t>
            </a:r>
            <a:r>
              <a:rPr sz="2200" b="1" i="0">
                <a:solidFill>
                  <a:srgbClr val="1E9E74"/>
                </a:solidFill>
                <a:latin typeface="Bricolage Grotesque"/>
              </a:rPr>
              <a:t>un poco de </a:t>
            </a:r>
            <a:r>
              <a:rPr sz="2200" b="1" i="0">
                <a:solidFill>
                  <a:srgbClr val="14B8A6"/>
                </a:solidFill>
                <a:latin typeface="Bricolage Grotesque"/>
              </a:rPr>
              <a:t>queso.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concordancia — ¿qué forma?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mucho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m. ev. (pan, arroz)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mucha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v. ev. (fruta, leche)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muchos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m. mv. (tomates)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muchas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+ v. mv. (manzanas)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un poco 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niet-telbaar (queso)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9E74"/>
                </a:solidFill>
                <a:latin typeface="Inter"/>
              </a:rPr>
              <a:t>un kilo 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envase + producto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mucho/-a/-os/-as past aan bij het woord · un poco de blijft gelijk (niet-telbaar) · envases: un kilo/una botella/un paquete de.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0840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¿mucho, mucha, muchos o muchas?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de juiste vorm verschijnt. Kijk naar m/v en ev/mv.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mucho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m. ev.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fruta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mucha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v. ev.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tomates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muchos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m. mv.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manzanas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muchas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v. mv.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leche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mucha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v. ev.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huevos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muchos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m. mv.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mucho/-a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enkelvoud (m/v) · </a:t>
            </a:r>
            <a:r>
              <a:rPr sz="1200" b="1" i="0">
                <a:solidFill>
                  <a:srgbClr val="1E9E74"/>
                </a:solidFill>
                <a:latin typeface="Inter"/>
              </a:rPr>
              <a:t>muchos/-as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meervoud (m/v). Kijk naar het lidwoord: el/la · los/las.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Voy a comer — ir a + infinitivo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kolomkop → de vormen verschijnen. Fórmula: ir (presente) + a + infinitivo.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La fórmula: </a:t>
            </a:r>
            <a:r>
              <a:rPr sz="1400" b="1" i="0">
                <a:solidFill>
                  <a:srgbClr val="EA7317"/>
                </a:solidFill>
                <a:latin typeface="Inter"/>
              </a:rPr>
              <a:t>ir (voy, vas, va…) </a:t>
            </a:r>
            <a:r>
              <a:rPr sz="1400" b="1" i="0">
                <a:solidFill>
                  <a:srgbClr val="7C3AED"/>
                </a:solidFill>
                <a:latin typeface="Inter"/>
              </a:rPr>
              <a:t>+ a + </a:t>
            </a:r>
            <a:r>
              <a:rPr sz="1400" b="1" i="0">
                <a:solidFill>
                  <a:srgbClr val="1E9E74"/>
                </a:solidFill>
                <a:latin typeface="Inter"/>
              </a:rPr>
              <a:t>infinitivo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  →   Voy a comer un taco.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voy a…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vas a…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2140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5059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va a…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vamos a…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vais a…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46120"/>
            <a:ext cx="3108960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355848"/>
            <a:ext cx="310896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685032"/>
            <a:ext cx="310896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57355"/>
                </a:solidFill>
                <a:latin typeface="Bricolage Grotesque"/>
              </a:rPr>
              <a:t>van a…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Vergeet de «a» niet: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voy A comer (niet «voy comer»). 🔴 Het tweede werkwoord blijft infinitief: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voy a COMER</a:t>
            </a:r>
            <a:r>
              <a:rPr sz="1200" b="0" i="0">
                <a:solidFill>
                  <a:srgbClr val="157355"/>
                </a:solidFill>
                <a:latin typeface="Inter"/>
              </a:rPr>
              <a:t>. Gebruik: plannen dichtbij.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 · 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Pedir con cortesía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Twee rollen. Klik een kaart → wie zegt het. Camarero pregunta, cliente pide.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55648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🧑‍🍳 Camarero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¿Qué va a tomar?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55648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🙋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Para mí, una sopa.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83464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🧑‍🍳 Camarero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¿Y para beber?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24912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4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🙋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82112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¿Me pone agua?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3913632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🧑‍🍳 Camarero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¡Que aproveche!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03904"/>
            <a:ext cx="553212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3913632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🙋 Cliente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261104"/>
            <a:ext cx="516636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La cuenta, por favor.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Pide con cortesía: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Para mí… / ¿Me pone…? / ¿Me trae…? + por favor. Niet enkel «quiero».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7784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Structuur: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de primero (voor) · de segundo (hoofd) · de postre (na) · para beber (drank).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4498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¿Camarero o cliente?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wie het zegt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¿Qué va a tomar?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00200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el camarero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Para mí, una sopa.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78024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el cliente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¿Y para beber?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55848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el camarero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¿Me pone un refresco?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600200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el cliente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¡Que aproveche!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478024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el camarero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cuenta, por favor.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355848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el cliente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Camarero = vraagt (¿qué va a tomar? / ¿y para beber?).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Cliente = bestelt (para mí… / ¿me pone…? / la cuenta).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carta de Diego (menú)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en beantwoord.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1828800"/>
            <a:ext cx="347472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«Para empezar: guacamole con nachos (5 €) y elote (4 €). Platos fuertes: tacos de pollo (8 €), ceviche (10 €). Para terminar: flan (3 €), piña con lima (3 €).»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hay para empezar?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Guacamole con nachos / elote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¿Cuánto cuestan los tacos?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8 €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¿El ceviche es un plato fuerte?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Sí, cuesta 10 €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hay de postre?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Flan / piña con lima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scannen naar platos y precios — niet élk woord begrijpen. Vergelijk met de carta van Lucía.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5038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Escucha el pedido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clientes piden. Klik un nombre → wat ze bestellen.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Leo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sopa + pollo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Bebe: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agua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Frida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tacos de pollo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Bebe: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refresco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Mateo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ensalada + pescado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Bebe: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zumo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Sara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Come: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guacamole + ceviche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Bebe: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9E74"/>
                </a:solidFill>
                <a:latin typeface="Inter"/>
              </a:rPr>
              <a:t>agua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«Para mí, de primero una sopa y de segundo pollo. Para beber, agua.»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Daarna spreken: leerling speelt de cliente en bestelt zelf.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cuenta → la traigo (lo/la/los/las)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het pronomen verschijnt. Vervang het voorwerp, niet herhalen.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el 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→ 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la cuenta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→ 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los tacos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→ los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las gambas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→ las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el postre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→ 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la carta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→ 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🟡 Vóór het werkwoord: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¿La cuenta? → La traigo.   ¿Los tacos? → Los quiero.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5780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lo (m.ev.) · la (v.ev.) · los (m.mv.) · las (v.mv.).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Het pronomen staat vóór het vervoegde werkwoord — zo herhaal je het voorwerp niet.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1297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¡Pide en el restaurante!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Speel de scène met de zinnen.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Saludar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Buenas tardes.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Pedir 1º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De primero,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Pedir 2º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De segundo, 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Pedir bebida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¿Me pone…?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Pedir la cuenta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cuenta, por favor.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Cerrar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Gracias.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beginwoorden.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hoofd, ander pedido.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 en de digitale pagina.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4240987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«Mensaje de voz: pide comida»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«Buenas. Para mí, de primero una sopa y de segundo pollo. ¿Me pone agua? … La cuenta, por favor.»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carta (menú)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Ontwerp je menu.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 tu carta: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de primero … (precio)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de segundo … (precio)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de postre … (precio)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para beber … (precio)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cortesía: para mí / ¿me pone?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plato de tu país/estilo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«El Sabor de Diego. De primero: guacamole (5 €). De segundo: tacos de pollo (8 €). De postre: flan (3 €). Para beber: refresco (2 €).»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061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 ·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Fruta, verdura y la mesa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de vertaling verschijnt.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manzana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appel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plátano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banaan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las uvas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druiven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piña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ananas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tomate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tomaat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lechuga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sla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cebolla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maíz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maïs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plato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bord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vaso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glas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tenedor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vork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cuchara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lepel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Combineer met cantidad: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un kilo de manzanas · muchas uvas · un poco de maíz. Como con tenedor y cuchara.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Los cubiertos: el tenedor, el cuchillo, la cuchara. La mesa: el plato, el vaso, la servilleta.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Conectores de secuencia + ortografía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Gereedschap voor recepten en spelling.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A · conectores: primero · luego · después · por último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, corta el tomate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783080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Primero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, añade la 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41448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Luego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, espera 15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099816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Después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, ¡a comer!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758184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Por último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B · ortografía: ¿n o ñ?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pi__a (ananas)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78308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ñ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piña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ni__o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44144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ñ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niño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ca__a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09981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ñ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caña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a__o (jaar)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75818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ñ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año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primero → luego/después → por último (voor recepten en stappen).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la ñ klinkt «nj»: piña, niño, caña, año. Verwar niet met n (pena ≠ peña).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Tacos, mercados y horarios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 verschijnt. La comida une al mundo hispano.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🌮 El taco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maíz, con carne, verdura y salsa. En la CDMX hay taquerías por todas partes: al pastor, de pollo, de pescado.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taco = het hart van de Mexicaanse keuken.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🏪 Los mercados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Compras fruta, verdura y comida fresca. Regatear el precio es normal. Colores, olores y mucha vida.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 plek om cantidades te oefenen.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🕐 Horarios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España cena muy tarde (21:30). México y Bélgica un poco antes. Contraste: paella 🇪🇸 · tacos 🇲🇽 · arepa 🇨🇴 · ceviche 🇵🇪.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No comas a las 18:00 en Madrid.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schrijf 3 zinnen over een typisch gerecht bij jou thuis (¿qué es? ¿qué lleva? ¿cuándo lo comes?).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QUIZ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pedido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Wat past? Klik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¿Qué va a ___? (nemen)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00200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tomar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mí, una sopa.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78024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Para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¿Me ___ agua? (serveren)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55848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___, por favor.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600200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cuenta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Voy ___ comer un taco.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478024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___, un flan. (na)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355848"/>
            <a:ext cx="19202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postre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De bestelzinnen: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¿Qué va a tomar? · Para mí… · ¿Me pone…? · La cuenta, por favor · Voy a comer…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🍽️ Tarea final · La carta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Maak de carta van je eigen restaurante y representa la escena camarero ↔ cliente.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Elige un nombre y estilo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mexicano, español…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Rellena la carta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21408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primeros · segundos · postres · bebidas + precios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el diálogo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88336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saludar → pedir → ¡que aproveche! → la cuenta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Representa la escena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55264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pareja (of neem audio op)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Recomienda un plato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822192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«Le recomiendo…» según los gustos del cliente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4 secties + precios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cortesía (para mí/¿me pone?)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voy a pedir + la cuenta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representar la escena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(het restaurant) · ontvanger de cliente · doel een menu aanbieden &amp; een pedido opnemen · situatie un restaurante en CDMX · resultaat: carta + gespeelde dialoog.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fruta (veel)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600200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mucha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tomates (veel)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13432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muchos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ir, yo → futuro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26664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voy 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ir, nosotros → futuro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739896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vamos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bestellen: «para ___»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1600200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mí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¿Me ___ agua? (serveren)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313432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¿La cuenta? → ___ traigo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026664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la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Voy ___ comer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739896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cantidades (concord) · ir a + infinitivo · pedir/cortesía · lo/la/los/las.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(17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Cantidades: mucho/-a/-os/-as (past aan) · un poco de (blijft gelijk) · un kilo/una botella/un paquete 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Futuro próximo: ir (voy, vas, va, vamos, vais, van) + a + infinitivo: «Voy a comer».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Pedir con cortesía: ¿Qué va a tomar? · Para mí… · ¿Me pone…? · La cuenta, por favor. De primero/segundo/postre.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lo/la/los/las: ¿La cuenta? → La traigo. ¿Los tacos? → Los quiero (vóór het werkwoord).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muchA fruta ≠ mucho · voy A comer · pide con cortesía (niet enkel «quiero») · la ñ (piña).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comida/bebida benoemen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cantidades (mucho/un kilo de)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voy a comer (ir a + inf.)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pedir + la cuenta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lo/la/los/las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U5 · ¡ÑAM!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