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77" r:id="rId29"/>
    <p:sldId id="278" r:id="rId30"/>
    <p:sldId id="279" r:id="rId31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U7 = de laatste unit (capstone). Kerngrammatica: imperativo afirmativo (tú) + pronombres · opinar y argumentar (creo que + indicativo · conectores). Parada 7 = Costa Rica («pura vida»). Kernvalstrikken: imperativo tú -a/-e + 8 irr (ten/ven/pon/haz/di/sal/sé/ve) · cuídate (accent) · creo que + INDICATIVO (géén subjuntivo) · want/omdat = porque, dus = por eso. Docentdeck = oplossing; leerlingdeck (.pptx, F5) = klik onthult. ¡Fin de la ruta!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Kern = §2 imperativo + §3 opinar. Kruisverwijzing: «oefen online — 12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woorden raden. Online: memoria de la salud + el planeta.</a:t>
            </a:r>
          </a:p>
          <a:p/>
          <a:p>
            <a:r>
              <a:t>— SOLUCIÓN (docent · presenter view) —</a:t>
            </a:r>
          </a:p>
          <a:p>
            <a:r>
              <a:t>Salud: el cuerpo, sano, el deporte, la dieta, dormir, cuidarse, el estrés.</a:t>
            </a:r>
          </a:p>
          <a:p>
            <a:r>
              <a:t>Medio ambiente: el planeta, reciclar, la basura, ahorrar, la energía, proteger, el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imperativo. Toon raíz + uitgang. Online: completa el imperativo (cloze) + imperativo Tetris.</a:t>
            </a:r>
          </a:p>
          <a:p/>
          <a:p>
            <a:r>
              <a:t>— SOLUCIÓN (docent · presenter view) —</a:t>
            </a:r>
          </a:p>
          <a:p>
            <a:r>
              <a:t>Regla: -ar → -a · -er/-ir → -e. 8 irregulares: ten·ven·pon·haz·di·sal·sé·ve. Advies/instructie.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imperativo (retrieval). Klas roept vóór de klik. Online: cloze el imperativo.</a:t>
            </a:r>
          </a:p>
          <a:p/>
          <a:p>
            <a:r>
              <a:t>— SOLUCIÓN (docent · presenter view) —</a:t>
            </a:r>
          </a:p>
          <a:p>
            <a:r>
              <a:t>Truc: -ar → -a · -er/-ir → -e · 8 irregulares (haz, ve, sé, di, ten…).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opinar (P3-kern). 🔴 Géén subjuntivo: creo que ES. Coro vóór de klik. Online: opinar (cloze).</a:t>
            </a:r>
          </a:p>
          <a:p/>
          <a:p>
            <a:r>
              <a:t>— SOLUCIÓN (docent · presenter view) —</a:t>
            </a:r>
          </a:p>
          <a:p>
            <a:r>
              <a:t>Regla: Creo que / Pienso que / En mi opinión + INDICATIVO (es, debemos). Reageren: (no) estoy de acuerdo · tienes razón.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conectores. Toon reden/toevoeging/gevolg. Online: ¿porque, además o por eso? (cloze).</a:t>
            </a:r>
          </a:p>
          <a:p/>
          <a:p>
            <a:r>
              <a:t>— SOLUCIÓN (docent · presenter view) —</a:t>
            </a:r>
          </a:p>
          <a:p>
            <a:r>
              <a:t>Regla: porque = reden · además = toevoeging · por eso = gevolg. 🔴 want/omdat = porque · dus = por eso (niet «luego»). Komma na además/por eso/sin embargo.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a favor/en contra (retrieval). Online: ¿a favor o en contra? (classify).</a:t>
            </a:r>
          </a:p>
          <a:p/>
          <a:p>
            <a:r>
              <a:t>— SOLUCIÓN (docent · presenter view) —</a:t>
            </a:r>
          </a:p>
          <a:p>
            <a:r>
              <a:t>Debate: un argumento a favor + uno en contra + tu opinión (creo que… porque…).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(lezen→schrijven). Eerst globaal, dan scannen. Daarna: eigen cartel de consejos.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de imperativos (recicla, usa…) + una opinión.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voor (of TTS); klas noteert. Online: ¿qué opinas del medio ambiente? (audio).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«Creo que debemos reciclar más. Usa la bici porque el coche contamina. Estoy de acuerdo.» </a:t>
            </a:r>
          </a:p>
          <a:p>
            <a:r>
              <a:t>Daarna: A geeft zijn mening, B reageert (de acuerdo / 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pronombres enclíticos. Accent bij langere vormen. Online: añade el pronombre (drill).</a:t>
            </a:r>
          </a:p>
          <a:p/>
          <a:p>
            <a:r>
              <a:t>— SOLUCIÓN (docent · presenter view) —</a:t>
            </a:r>
          </a:p>
          <a:p>
            <a:r>
              <a:t>Enclíticos: het pronomen plakt achteraan. Langer woord → accent: cuídate, recíclalo, dímelo.</a:t>
            </a:r>
          </a:p>
          <a:p>
            <a:r>
              <a:t>Korte vormen géén accent: hazlo, dime, ponlo, dilo.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(retrieval). Door elkaar. Online: cloze + imperativo Tetris.</a:t>
            </a:r>
          </a:p>
          <a:p/>
          <a:p>
            <a:r>
              <a:t>— SOLUCIÓN (docent · presenter view) —</a:t>
            </a:r>
          </a:p>
          <a:p>
            <a:r>
              <a:t>Alles komt terug: imperativo (+ pronombre) · opinar (creo que + indicativo) · conectores.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(tus consejos · tu opinión).</a:t>
            </a:r>
          </a:p>
          <a:p/>
          <a:p>
            <a:r>
              <a:t>— SOLUCIÓN (docent · presenter view) —</a:t>
            </a:r>
          </a:p>
          <a:p>
            <a:r>
              <a:t>Modelo: «Come sano y haz deporte. Recicla el papel. Creo que debemos cuidar el planeta porque es de todos. Además, es fácil. Por eso, ¡empieza hoy!»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schrijven. Nakijkfocus: imperativo, pronombre, opinión (indicativo), conectores. Voedt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salud/planeta. Klik onthult. Online: memoria de la salud + el planeta + señala.</a:t>
            </a:r>
          </a:p>
          <a:p/>
          <a:p>
            <a:r>
              <a:t>— SOLUCIÓN (docent · presenter view) —</a:t>
            </a:r>
          </a:p>
          <a:p>
            <a:r>
              <a:t>Contrarios: sano ↔ enfermo · limpio ↔ sucio · ahorrar ↔ gastar · proteger ↔ contaminar.</a:t>
            </a:r>
          </a:p>
          <a:p>
            <a:r>
              <a:t>Colocaciones: comer sano · hacer deporte · beber agua · ahorrar energía.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Accent enclíticos + argumentatie-connectoren.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langere vormen krijgen accent: cuídate, cómelo, protégelo, dímelo. Korte: hazlo, dime.</a:t>
            </a:r>
          </a:p>
          <a:p>
            <a:r>
              <a:t>B: porque (reden) · además (toevoeging) · por eso (gevolg) · sin embargo (tegenstelling).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(LPD 5). Onthul per kaart. Bruggetje: La Ruta parada 7 = Costa Rica (★, fin de la ruta). Online: klik op Costa Rica op de kaart.</a:t>
            </a:r>
          </a:p>
          <a:p/>
          <a:p>
            <a:r>
              <a:t>— SOLUCIÓN (docent · presenter view) —</a:t>
            </a:r>
          </a:p>
          <a:p>
            <a:r>
              <a:t>Actividad: ¿te parece bien un país sin ejército? Geef je mening (creo que… porque…).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 · P3-capstone).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imperativo (+ pronombre) · opinar (creo que + indicativo) · conectores.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online. 🏁 ¡Fin de la ruta! España → México → Colombia → Argentina → Perú → Costa Rica. Presente, pasado (perfecto/indefinido/imperfecto), consejos y opinión.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 Laatste unit → versie 1 klaar.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La huella de la clase — 🔬 onderzoek &amp; data</a:t>
            </a:r>
          </a:p>
          <a:p>
            <a:r>
              <a:t>OPDRACHT: Bereken de voetafdruk van de klas en stel drie maatregelen voor in de imperatief.</a:t>
            </a:r>
          </a:p>
          <a:p>
            <a:r>
              <a:t>DE REGEL: Elke maatregel is berekend: je zegt hoeveel ze scheelt, met een getal uit jullie eigen telling. Een maatregel zonder cijfer is een goed voornemen.</a:t>
            </a:r>
          </a:p>
          <a:p>
            <a:r>
              <a:t>VERLOOP: Contad: cómo venís al instituto, cuántas botellas al día, cuánta comida se tira. | Calculad con las cifras de referencia. | Elegid las tres medidas con más efecto. | Escribidlas en imperativo, con su cifra. | Volved a contar dentro de un mes.</a:t>
            </a:r>
          </a:p>
          <a:p>
            <a:r>
              <a:t>SLEUTEL: De rekenstap is de reto: leerlingen ontdekken bijna altijd dat de auto alle andere posten samen overtreft, en dat het opladen van de gsm — waar ze het meest over horen — verwaarloosbaar is.  ||  Die ontdekking is didactisch waardevoller dan het eindcijfer: intuïtie over grootteorde is precies wat een cijfer je leert.  ||  De imperatief komt vanzelf in de maatregelen («cambia», «trae», «apaga»), en de verplichte cijfers voorkomen loze beloftes.  ||  Cijfers zijn afgeronde ordes van grootte. Zeg dat erbij en laat de klas het ook zeggen — dat hoort bij eerlijk met data omgaan.</a:t>
            </a:r>
          </a:p>
          <a:p>
            <a:r>
              <a:t>NOTA: De hertelling over een maand is geen extraatje maar de helft van de opdracht. Zet hem meteen in de agenda.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3 · Debate con roles cruzados — ⚖️ onderhandeling &amp; dilemma</a:t>
            </a:r>
          </a:p>
          <a:p>
            <a:r>
              <a:t>OPDRACHT: Debatteer met de rol die je krijgt en zeg op het eind welk argument van de andere kant je het meest overtuigde.</a:t>
            </a:r>
          </a:p>
          <a:p>
            <a:r>
              <a:t>DE REGEL: Je krijgt je standpunt toegewezen, niet gekozen — en het is bewust het tegenovergestelde van wat je zelf vindt. Elk argument begint met «creo que» plus indicativo, en op het eind noemt iedereen het sterkste argument van de tegenpartij.</a:t>
            </a:r>
          </a:p>
          <a:p>
            <a:r>
              <a:t>VERLOOP: Cada uno dice en secreto qué piensa de verdad. | Se reparten los papeles: al revés. | Preparad cuatro argumentos con creo que. | Debate por turnos, sin interrumpir. | Cada uno nombra el mejor argumento del otro lado.</a:t>
            </a:r>
          </a:p>
          <a:p>
            <a:r>
              <a:t>SLEUTEL: «Creo que» plus indicativo is de vorm die het leerplan toelaat voor meningen. De rollenwisseling zorgt dat leerlingen die vorm gebruiken zonder zich bloot te geven — dat maakt het debat veiliger én talig rijker.  ||  De slotstap («het beste argument van de tegenpartij») is het punt van de hele reto. Wie het niet kan benoemen, heeft alleen zijn eigen kant gehoord.  ||  «Me ha hecho dudar que…» is de mooiste zin die dit kan opleveren. Beloon hem expliciet.  ||  Alle vijf de stellingen staan met «hay que» of «tener que» in plaats van met een condicional: de discussie wordt er niet minder scherp van en ze blijft binnen het leerplan.</a:t>
            </a:r>
          </a:p>
          <a:p>
            <a:r>
              <a:t>NOTA: Vertel niet wie wat echt vindt. De anonimiteit van de beginstap is wat de rollenwisseling laat werken.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6 · La consulta imposible — 🎭 simulatie met beperking</a:t>
            </a:r>
          </a:p>
          <a:p>
            <a:r>
              <a:t>OPDRACHT: Speel het consult. De dokter stelt gerust en adviseert met vastgehechte voornaamwoorden.</a:t>
            </a:r>
          </a:p>
          <a:p>
            <a:r>
              <a:t>DE REGEL: De dokter moet minstens vijf adviezen geven met een enclitisch voornaamwoord («tómatelo», «descánsala», «cuídate») — en de patiënt mag geen enkel symptoom herhalen dat al genoemd is.</a:t>
            </a:r>
          </a:p>
          <a:p>
            <a:r>
              <a:t>VERLOOP: Repartid: paciente y médico/-a. | El paciente elige tres síntomas y los exagera. | El médico pregunta, tranquiliza y aconseja. | Cinco consejos con pronombre pegado. Contadlos. | Cambiad de papel.</a:t>
            </a:r>
          </a:p>
          <a:p>
            <a:r>
              <a:t>SLEUTEL: De enclitische voornaamwoorden zijn de grammaticale kern: bij de bevestigende imperatief plakken ze vast en verschuift de klemtoon, dus komt er een accent («tómatelo»). Die spelling is de meest voorkomende fout en meteen het beste bespreekpunt.  ||  «Me late el corazón cuando corro» is expres geen aandoening: het is wat een hart hoort te doen. Of de dokter dat merkt, is het leukste moment van de reto.  ||  «No te preocupes, pero avísame si…» is didactisch het belangrijkste advies: geruststellen mét een alarmvoorwaarde. Dat is hoe echte artsen praten.  ||  Toets de vijf enclitische vormen en het verbod op herhaalde symptomen. Overdrijven is toegestaan; herhalen niet.</a:t>
            </a:r>
          </a:p>
          <a:p>
            <a:r>
              <a:t>NOTA: Houd het bij onschuldige klachten. Wie een echte medische situatie inbrengt, krijgt een andere rol — dit is een taaloefening, geen consult.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11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3997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COSTA RICA 🇨🇷 · ¡PURA VIDA! 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¡Opina y cuídate!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Consejos: el imperativo (cuida, come, haz) · opinar y argumentar.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¿Qué haces para cuidarte y cuidar el planeta?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Wat doe jij om voor jezelf én de planeet te zorgen?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7: Costa Rica (¡la última!)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cartel de opinión»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Salud y planeta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cuerpo · reciclar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El imperativo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· come · haz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+ pronombre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cuídate · hazlo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Opinar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+ indicativo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Conectores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porque · además · por eso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diez consejos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Costa Rica · pura vida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Cartel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consejos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salud y el medio ambiente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gezondheid en milieu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salud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gezondheid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sano ↔ enfermo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ejercicio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beweging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hacer deporte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dieta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voeding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comer sano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descansar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rusten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dormir · el estrés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medio ambiente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milieu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planeta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reciclar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recyclen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basura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ahorrar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besparen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energía · el agua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proteger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beschermen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árbol · el bosque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Contrarios: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sano ↔ enfermo · limpio ↔ sucio · ahorrar ↔ gastar · proteger ↔ contaminar.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Salud: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 cuerpo, sano, el deporte, la dieta, dormir, cuidarse, el estrés.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Medio ambiente: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 planeta, reciclar, la basura, ahorrar, la energía, proteger, el árbol.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imperativo (tú) — dar consejos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-a · -er/-ir → -e. Voor advies en instructies.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A7317"/>
                </a:solidFill>
                <a:latin typeface="Bricolage Grotesque"/>
              </a:rPr>
              <a:t>Recicla </a:t>
            </a:r>
            <a:r>
              <a:rPr sz="2100" b="1" i="0">
                <a:solidFill>
                  <a:srgbClr val="B4309A"/>
                </a:solidFill>
                <a:latin typeface="Bricolage Grotesque"/>
              </a:rPr>
              <a:t>el papel </a:t>
            </a:r>
            <a:r>
              <a:rPr sz="2100" b="1" i="0">
                <a:solidFill>
                  <a:srgbClr val="7C3AED"/>
                </a:solidFill>
                <a:latin typeface="Bricolage Grotesque"/>
              </a:rPr>
              <a:t>porque </a:t>
            </a:r>
            <a:r>
              <a:rPr sz="2100" b="1" i="0">
                <a:solidFill>
                  <a:srgbClr val="2563EB"/>
                </a:solidFill>
                <a:latin typeface="Bricolage Grotesque"/>
              </a:rPr>
              <a:t>es importante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formas (+ 8 irregulares)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-ar → -a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cuida / recicla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-er/-ir → -e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come / vive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o→ue / e→ie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duerme / cierra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hacer → haz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haz deporte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ir → ve · ser → sé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ve / sé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ten·ven·pon·di·sal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irregulares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-a · -er/-ir → -e. 8 irregulares: ten·ven·pon·haz·di·sal·sé·ve. Advies/instructie.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imperativo?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(comer) más verdura.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(beber) agua.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Bebe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(hacer) deporte.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Haz 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(reciclar) el papel.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Recicla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(ir) al médico.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Ve 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(ser) responsable.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Sé 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-a · -er/-ir → -e · 8 irregulares (haz, ve, sé, di, ten…).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Opinar y argumentar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wat volgt. creo que + indicativo (géén subjuntivo).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 (indicativo)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… reciclar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debemos (indicativo)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mi …, hay basura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opinión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(No) estoy de … contigo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acuerdo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… que tienes razón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parece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Tienes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razón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Creo que / Pienso que / En mi opinión + INDICATIVO (es, debemos). Reageren: (no) estoy de acuerdo · tienes razón.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— argumentar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porque (reden) · además (toevoeging) · por eso (gevolg) · sin embargo (tegenstelling).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Reciclo </a:t>
            </a:r>
            <a:r>
              <a:rPr sz="1800" b="1" i="0">
                <a:solidFill>
                  <a:srgbClr val="7C3AED"/>
                </a:solidFill>
                <a:latin typeface="Inter"/>
              </a:rPr>
              <a:t>porque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es sano.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Además,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ahorra dinero.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want/omdat (reden)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además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bovendien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eso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daarom (gevolg)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sin embargo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echter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un lado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enerzijds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otro lado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anderzijds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2" name="Rounded Rectangle 4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porque = reden · además = toevoeging · por eso = gevolg. 🔴 want/omdat = porque · dus = por eso (niet «luego»). Komma na además/por eso/sin embargo.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¿A favor o en contra? (del coche)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argument → a favor / en contra.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rápido.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Contamina el aire.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cómodo cuando llueve.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 mucho ruido.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Da libertad para viajar.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 favor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Gasta gasolina.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en contra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Debate: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un argumento a favor + uno en contra + tu opinión (creo que… porque…).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«Diez consejos para el planeta»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«Creo que todos podemos ayudar. Recicla el papel. Ahorra agua: cierra el grifo. Usa la bici, porque el coche contamina. Come más verdura. No tires basura al suelo. ¡Por eso, cuida el planeta hoy!»</a:t>
            </a:r>
          </a:p>
        </p:txBody>
      </p:sp>
      <p:pic>
        <p:nvPicPr>
          <p:cNvPr id="12" name="Picture 11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«Estoy de acuerdo. Yo voy en bici porque es sano y no contamina. Además, ahorro dinero. Sin embargo, en mi pueblo no hay carril bici. ¡Pura vida!»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transporte recomienda?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bici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¿Por qué usar la bici?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coche contamina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¿Está de acuerdo el lector?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falta en su pueblo?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 carril bici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de imperativos (recicla, usa…) + una opinión.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opinas del medio ambiente?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gesprek.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¿De qué hablan?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del medio ambiente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opina Valen?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hay que reciclar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consejo dan?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usa la bici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¿Están de acuerdo?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Sí, los 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«Creo que debemos reciclar más. Usa la bici porque el coche contamina. Estoy de acuerdo.»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geeft zijn mening, B reageert (de acuerdo / no).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imperativo + pronombre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Het pronomen plakt vast (let op het accent).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cuida + 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haz + 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hazlo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recicla + 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recíclalo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 + 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bébela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 +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protege + 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protégelo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 + me + 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dímelo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pon + 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ponlo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Enclíticos: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pronomen plakt achteraan. Langer woord → accent: cuídate, recíclalo, dímelo.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Korte vormen géén accent: hazlo, dime, ponlo, dilo.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Imperativo + opinar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antwoord.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imperativo (tú)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+ 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 (indicativo)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ben het eens»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 de acuerdo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 / omdat»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«daarom»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 eso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imperativo (+ pronombre) · opinar (creo que + indicativo) · conectores.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Da consejos y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consejo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Come sano…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Otro consejo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Recicla…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Creo que…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argumento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Reacciona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Estoy de acuerdo…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Concluye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Por eso…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418734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tus consejos / tu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«Come sano y haz deporte. Recicla el papel. Creo que debemos cuidar el planeta porque es de todos. Además, es fácil. Por eso, ¡empieza hoy!»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cartel de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opinie-affiche.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cartel: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tema (salud o medio ambiente)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consejos (imperativo)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pronombre (cuídate, hazlo)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+ indicativo)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dos conectores (porque, además)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objeción (sin embargo…)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«¡Cuida el planeta! Recicla el papel. Ahorra agua. Usa la bici. Creo que es urgente porque contaminamos mucho. Además, es fácil. Por eso, ¡empieza hoy!»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 y planeta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sano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gezond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enfermo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ziek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consejo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tip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estrés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stress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reciclar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recyclen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basura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afval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ahorrar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besparen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proteger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beschermen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contaminar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vervuilen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planeta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planeet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árbol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boom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energía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energie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Contrarios: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sano ↔ enfermo · limpio ↔ sucio · ahorrar ↔ gastar · proteger ↔ contaminar.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Colocaciones: comer sano · hacer deporte · beber agua · ahorrar energía.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enclítico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argumentatie.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el acento en los enclíticos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cuidate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comelo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cómelo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protegelo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protégelo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dimelo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dímelo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 argumentación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porque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want/omdat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además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bovendien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por eso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daarom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sin embargo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echter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langere vormen krijgen accent: cuídate, cómelo, protégelo, dímelo. Korte: hazlo, dime.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porque (reden) · además (toevoeging) · por eso (gevolg) · sin embargo (tegenstelling).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7: COSTA 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Costa Rica y la «pura vida»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Sin ejército, ecoturismo y biodiversidad.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🕊️ Sin ejército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1948 schafte Costa Rica zijn leger af. Het geld gaat naar onderwijs en gezondheidszorg. Een uniek voorbeeld van vrede.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ejemplo de paz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🌿 Ecoturismo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Meer dan 25 % van het land is beschermde natuur: regenwoud, vulkanen, stranden. Costa Rica huisvest ~5 % van alle soorten op aarde.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biodiversidad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🐒 ¡Pura vida!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«Pura vida» hoor je overal: als groet, bedankje of «alles oké». Het vat de optimistische levensstijl van de «ticos» samen.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una filosofía de vida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¿te parece bien un país sin ejército? Geef je mening (creo que… porque…).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📢 Tarea final · Mi cartel de opinión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Crea un cartel con consejos (imperativo) y tu opinión argumentada.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Elige un 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salud o medio ambiente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Da 4 consejos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«Recicla el papel», «Cuídate» (imperativo)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tu opinión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que… porque… Además… Por eso…»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Reacciona a una objeción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«Sin embargo, algunos dicen que… pero…»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imperativo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 pronombre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dos conectores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overtuigen &amp; adviseren · situatie de expositie «Pura Vida» · resultaat: cartel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comer → imperativo (tú)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imperativo (tú)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cuida + 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cuídate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… importante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 / omdat»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«bovendien»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además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ben het eens»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 de acuerdo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«daarom»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 eso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imperativo (+ pronombre) · opinar (creo que + indicativo)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6517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Imperativo (tú): -ar → -a (cuida) · -er/-ir → -e (come, vive).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8 irregulares: ten · ven · pon · haz · di · sal · sé · 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pronombre: cuídate · hazlo · dímelo (let op het accent).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Opinar (indicativo): creo que / pienso que / en mi opinión + es/debemos… (géén subjuntivo).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3697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Conectores: porque (reden) · además (toevoeging) · por eso (gevolg) · sin embargo (tegenstelling).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haz (niet «hace») · accent cuídate · want/omdat = porque · dus = por eso.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advies geven (come, haz, cuídate)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4645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4690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pronomen aanplakken (cuídate, hazlo)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9743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7608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mening geven (creo que + indicativo)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527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argumenteren (porque/además/por eso)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563270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3445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praten over salud &amp; medio ambiente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9618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TEACHER_NOTES · U7 «¡Opina y cuídate!»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salud/planeta 6' · imperativo 12' · + pronombre 5' · opinar 8' · conectores 7' · Tarea-briefing 5' · cierre de la ruta 5'.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imperativo tú = -a/-e + 8 irr (haz, ve, sé, di, ten, ven, pon, sal) · enclítico + accent (cuídate, recíclalo) · creo que + INDICATIVO (géén subjuntivo: es, niet «sea») · want/omdat = porque · dus = por eso (niet «luego»).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Buiten scope (hard)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GÉÉN imperativo negativo/usted (= subjuntivo), géén futuro simple / condicional / subjuntivo. Enkel imperativo afirmativo (tú) + opinar met indicativo.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12 spellen + flip cards + gramática interactiva (imperativo · opinar · conectores) + recorder (tus consejos · tu opinión) + Lectura («Diez consejos») + klikbare kaart (Costa Rica ★)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«Mi cartel de opinión» met rúbrica (imperativo · pronombre · opinión · conectores). LPD (III-Spa-d): salud/medio ambiente 7 · imperativo/argumentatie 8 · advies 3 · interactie 4 · lezen 1·2·5 · cultuur 5. P3-capstone: mening → volwaardig opiniestuk. 🏁 Fin de la ruta.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U7 · ¡OPINA Y CUÍDATE!   ·   C6+ · ¡opina y cuídate!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2 · ONDERZOEK &amp; DATA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huella de la clase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🏫 Toda la clase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Vuestra clase, en kilos de CO₂. Calculadlo y decidid qué hacéis.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Jullie klas, in kilo's CO₂. Reken het uit en beslis wat jullie doen.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Elke maatregel is berekend: je zegt hoeveel ze scheelt, met een getal uit jullie eigen telling. Een maatregel zonder cijfer is een goed voornemen.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 coche, 5 km → unos 800 g de CO₂ · el autobús, 5 km → unos 250 g por persona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bici o andando → 0 g · una botella de plástico → unos 80 g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una botella reutilizable, un año → unos 200 g en total · un bocadillo que se tira → unos 300 g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Referencias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 móvil cargado cada noche → unos 3 g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1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Contad cuántos venís en coche, en bus, en bici.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2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Multiplicad por los gramos y por los días de clase.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3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Sumad las botellas y la comida.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4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Dividid por el número de alumnos: esa es la huella media.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Nuestra clase produce unos … kilos al mes.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… , bajamos … kilos.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Cambia … por … : son … gramos menos al día.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Empieza por lo más fácil: 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3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Debate con roles cruzados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Defiendes justo lo que no piensas. Y tienes que hacerlo bien.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Je verdedigt precies wat je niet vindt. En je moet het goed doen.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krijgt je standpunt toegewezen, niet gekozen — en het is bewust het tegenovergestelde van wat je zelf vindt. Elk argument begint met «creo que» plus indicativo, en op het eind noemt iedereen het sterkste argument van de tegenpartij.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¿Debe ser obligatorio el deporte en el instituto?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¿Hay que prohibir la comida de plástico en la cantina?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¿Tienen que empezar más tarde los institutos?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¿Es responsabilidad de cada uno o de las empresas?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tema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¿Se puede opinar de salud sin ser médico?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Creo que … porque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Aunque entiendo que … , creo 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Los datos dicen que … , así que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mejor argumento del otro lado es … , porque …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ha hecho dudar que …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Aviso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Nadie tiene que decir en el debate lo que piensa de verdad. Se dice al final, si se quiere.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6 · SIMULATIE MET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consulta imposible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El paciente exagera todo. El médico tiene siete minutos y no puede reírse.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De patiënt overdrijft alles. De dokter heeft zeven minuten en mag niet lachen.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De dokter moet minstens vijf adviezen geven met een enclitisch voornaamwoord («tómatelo», «descánsala», «cuídate») — en de patiënt mag geen enkel symptoom herhalen dat al genoemd is.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duele todo, pero sobre todo el codo izquierdo · no puedo dormir desde hace tres noches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canso al subir dos escalones · creo que soy alérgico a los lunes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Síntomas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me late el corazón cuando corro · tengo la garganta rara desde que hablo español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tómatelo con calma</a:t>
            </a:r>
          </a:p>
        </p:txBody>
      </p:sp>
      <p:sp>
        <p:nvSpPr>
          <p:cNvPr id="19" name="Onthul 3"/>
          <p:cNvSpPr/>
          <p:nvPr/>
        </p:nvSpPr>
        <p:spPr>
          <a:xfrm>
            <a:off x="9114282" y="3275838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nthulTxt 3"/>
          <p:cNvSpPr txBox="1"/>
          <p:nvPr/>
        </p:nvSpPr>
        <p:spPr>
          <a:xfrm>
            <a:off x="9132570" y="3275838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tranquilizar</a:t>
            </a:r>
          </a:p>
        </p:txBody>
      </p:sp>
      <p:sp>
        <p:nvSpPr>
          <p:cNvPr id="21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4"/>
          <p:cNvSpPr txBox="1"/>
          <p:nvPr/>
        </p:nvSpPr>
        <p:spPr>
          <a:xfrm>
            <a:off x="548640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descánsalo dos días</a:t>
            </a:r>
          </a:p>
        </p:txBody>
      </p:sp>
      <p:sp>
        <p:nvSpPr>
          <p:cNvPr id="23" name="Onthul 4"/>
          <p:cNvSpPr/>
          <p:nvPr/>
        </p:nvSpPr>
        <p:spPr>
          <a:xfrm>
            <a:off x="548640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nthulTxt 4"/>
          <p:cNvSpPr txBox="1"/>
          <p:nvPr/>
        </p:nvSpPr>
        <p:spPr>
          <a:xfrm>
            <a:off x="566928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un consejo concreto</a:t>
            </a:r>
          </a:p>
        </p:txBody>
      </p:sp>
      <p:sp>
        <p:nvSpPr>
          <p:cNvPr id="25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5"/>
          <p:cNvSpPr txBox="1"/>
          <p:nvPr/>
        </p:nvSpPr>
        <p:spPr>
          <a:xfrm>
            <a:off x="3403854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bébetelo despacio</a:t>
            </a:r>
          </a:p>
        </p:txBody>
      </p:sp>
      <p:sp>
        <p:nvSpPr>
          <p:cNvPr id="27" name="Onthul 5"/>
          <p:cNvSpPr/>
          <p:nvPr/>
        </p:nvSpPr>
        <p:spPr>
          <a:xfrm>
            <a:off x="3403854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nthulTxt 5"/>
          <p:cNvSpPr txBox="1"/>
          <p:nvPr/>
        </p:nvSpPr>
        <p:spPr>
          <a:xfrm>
            <a:off x="3422142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cómo, no solo qué</a:t>
            </a:r>
          </a:p>
        </p:txBody>
      </p:sp>
      <p:sp>
        <p:nvSpPr>
          <p:cNvPr id="29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6"/>
          <p:cNvSpPr txBox="1"/>
          <p:nvPr/>
        </p:nvSpPr>
        <p:spPr>
          <a:xfrm>
            <a:off x="6259068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cuídate esta semana</a:t>
            </a:r>
          </a:p>
        </p:txBody>
      </p:sp>
      <p:sp>
        <p:nvSpPr>
          <p:cNvPr id="31" name="Onthul 6"/>
          <p:cNvSpPr/>
          <p:nvPr/>
        </p:nvSpPr>
        <p:spPr>
          <a:xfrm>
            <a:off x="6259068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nthulTxt 6"/>
          <p:cNvSpPr txBox="1"/>
          <p:nvPr/>
        </p:nvSpPr>
        <p:spPr>
          <a:xfrm>
            <a:off x="6277356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cierre</a:t>
            </a:r>
          </a:p>
        </p:txBody>
      </p:sp>
      <p:sp>
        <p:nvSpPr>
          <p:cNvPr id="33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7"/>
          <p:cNvSpPr txBox="1"/>
          <p:nvPr/>
        </p:nvSpPr>
        <p:spPr>
          <a:xfrm>
            <a:off x="9114282" y="3751326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míralo mañana otra vez</a:t>
            </a:r>
          </a:p>
        </p:txBody>
      </p:sp>
      <p:sp>
        <p:nvSpPr>
          <p:cNvPr id="35" name="Onthul 7"/>
          <p:cNvSpPr/>
          <p:nvPr/>
        </p:nvSpPr>
        <p:spPr>
          <a:xfrm>
            <a:off x="9114282" y="4302252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nthulTxt 7"/>
          <p:cNvSpPr txBox="1"/>
          <p:nvPr/>
        </p:nvSpPr>
        <p:spPr>
          <a:xfrm>
            <a:off x="9132570" y="4302252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seguimiento</a:t>
            </a:r>
          </a:p>
        </p:txBody>
      </p:sp>
      <p:sp>
        <p:nvSpPr>
          <p:cNvPr id="3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8"/>
          <p:cNvSpPr txBox="1"/>
          <p:nvPr/>
        </p:nvSpPr>
        <p:spPr>
          <a:xfrm>
            <a:off x="548640" y="4777740"/>
            <a:ext cx="2526030" cy="58750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consejo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te preocupes, pero avísame si …</a:t>
            </a:r>
          </a:p>
        </p:txBody>
      </p:sp>
      <p:sp>
        <p:nvSpPr>
          <p:cNvPr id="39" name="Onthul 8"/>
          <p:cNvSpPr/>
          <p:nvPr/>
        </p:nvSpPr>
        <p:spPr>
          <a:xfrm>
            <a:off x="548640" y="5328666"/>
            <a:ext cx="2526030" cy="237744"/>
          </a:xfrm>
          <a:prstGeom prst="roundRect">
            <a:avLst>
              <a:gd name="adj" fmla="val 2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nthulTxt 8"/>
          <p:cNvSpPr txBox="1"/>
          <p:nvPr/>
        </p:nvSpPr>
        <p:spPr>
          <a:xfrm>
            <a:off x="566928" y="5328666"/>
            <a:ext cx="248945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5B3E83"/>
                </a:solidFill>
                <a:latin typeface="Inter"/>
              </a:rPr>
              <a:t>condición de alarma</a:t>
            </a:r>
          </a:p>
        </p:txBody>
      </p:sp>
      <p:sp>
        <p:nvSpPr>
          <p:cNvPr id="41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 ver, cuénteme…</a:t>
            </a:r>
          </a:p>
        </p:txBody>
      </p:sp>
      <p:sp>
        <p:nvSpPr>
          <p:cNvPr id="43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¿Desde cuándo le pasa?</a:t>
            </a:r>
          </a:p>
        </p:txBody>
      </p:sp>
      <p:sp>
        <p:nvSpPr>
          <p:cNvPr id="45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es grave, pero …</a:t>
            </a:r>
          </a:p>
        </p:txBody>
      </p:sp>
      <p:sp>
        <p:nvSpPr>
          <p:cNvPr id="47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voy a decir tres cosas: … , … y … .</a:t>
            </a:r>
          </a:p>
        </p:txBody>
      </p:sp>
      <p:sp>
        <p:nvSpPr>
          <p:cNvPr id="49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médico/-a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 sobre todo,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