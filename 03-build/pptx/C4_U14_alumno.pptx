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Openingsdia. Lees het citaat voor en vraag wat ze al herkennen.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laatste parada. María gaat voor het eerst uit eten met de ouders van Julio, en het loopt zoals zulke avonden lopen: de moeder kiest de tafel, praat over de vórige vriendin, en niemand durft wijn te bestellen. Jij leert intussen een volledig menu bestellen — en dat is precies wat je in Spanje het eerst nodig hebt.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Speel het fragment af (digitale pagina, tabblad Escucha). Eerst zonder tekst, daarna meelezen.
Vertaling:
María: Ik ben zenuwachtig. Gaan we niet te snel? Ik bedoel… we zijn drie maanden samen, dat is niet zo lang…
Julio: Je moet rustig blijven. Mijn ouders zijn heel aardig, ontzettend aardig.
Madre: Meisje… Schat… Een tafel voor vier. Die daar, als het kan.
María: Wat?
Madre: Dát is de tafel die we graag hebben. We komen met vier personen eten. We zijn met vier personen die gaan eten.
Julio: Mama. María, dit zijn mijn ouders. Mama, papa…, dit is María.
María: Aangenaam.
Padre: Aangenaam kennis te maken.
Julio: Mama?
Madre: Ja, natuurlijk… Ik ben ook verheugd.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Speel het fragment af (digitale pagina, tabblad Escucha). Eerst zonder tekst, daarna meelezen.
Vertaling:
Camarero: Wilt u iets drinken terwijl u de kaart bekijkt?
María: Willen jullie wijn? Ze hebben hier een prima Rioja en die is niet duur.
Madre: Ik wil water.
Padre: Ik wil ook geen wijn, mijn maag… Ook water.
Madre: Maar jij mag wijn bestellen, als je wil.
María: Nee, misschien niet… Doe maar een fles water.
Camarero: Water voor vier?
Julio: Nee, ik wil een biertje.
María: Twee biertjes.
Madre: Wat weet je van Sandra?
Julio: Niets.
Madre: Zijn eerste vriendin. Een heel slim en heel knap meisje. Beeldschoon. Jij bent ook beeldschoon.
Camarero: Van het vlees raad ik u het lam aan. Van de vis de heek. Naast wat op de kaart staat hebben we ook soep, ontzettend lekker. Paella, uitstekend, en inktvisringen, heel lekker.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Speel het fragment af (digitale pagina, tabblad Escucha). Eerst zonder tekst, daarna meelezen.
Vertaling:
Camarero: Neemt u nog een nagerecht?
Madre: Oef… Ik niet, dank u.
María: Wil je iets om te delen? Een stuk fruit?
Julio: Ik heb liever iets zoets.
Camarero: We hebben flan en zelfgemaakte chocoladetaart.
María: Chocoladetaart, wat lekker!
Julio: Heel goed, één chocoladetaart.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Speel het fragment af (digitale pagina, tabblad Escucha). Eerst zonder tekst, daarna meelezen.
Vertaling:
Camarero: Koffie met een wolkje melk?
Padre: Ja, hier.
Camarero: Zwarte koffie?
Julio: Voor mij, hier. Dank u.
Camarero: Koffie met melk?
Madre: Sandra is heel grappig. Sandra is het meisje dat elk samenzijn opvrolijkt.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Speel het fragment af (digitale pagina, tabblad Escucha). Eerst zonder tekst, daarna meelezen.
Vertaling:
Julio: Wat een spanning, wat onaangenaam!
María: Ja.
Julio: Je kan mijn moeder zo niet behandelen, ze is een heel gevoelige vrouw. Kost het je zoveel moeite om vriendelijk te zijn?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de klas elk woord hardop nazeggen. Dek daarna de rechterkolom af.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de klas elk woord hardop nazeggen. Dek daarna de rechterkolom af.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de klas elk woord hardop nazeggen. Dek daarna de rechterkolom af.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de klas elk woord hardop nazeggen. Dek daarna de rechterkolom af.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de klas elk woord hardop nazeggen. Dek daarna de rechterkolom af.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de klas elk woord hardop nazeggen. Dek daarna de rechterkolom af.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klappen op de klemtoon. Iedereen zegt elk woord drie keer hardop.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Vraag de klas eerst wat de rechterkolom zou zijn.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eerst luisteren, dan pas kiezen. Klik door naar de volgende dia voor de oplossing.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Elke zin is een taalhandeling: wat dóé je ermee? Laat ze er zelf een bedenken.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Noodroute: lukt de opname niet, laat de scène dan gewoon live spelen.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Sluit af met een ronde: iedereen zegt één chunk hardop.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8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C4 · LA RUTA · EL DESPEGUE · PARADA 14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783080"/>
            <a:ext cx="10725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En el restaurante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6D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Een heel menu bestellen — van het drankje tot de koffie.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3749040"/>
            <a:ext cx="10725912" cy="914400"/>
          </a:xfrm>
          <a:prstGeom prst="roundRect">
            <a:avLst>
              <a:gd name="adj" fmla="val 12000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3749040"/>
            <a:ext cx="10177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« De carne les recomiendo el cordero. Paella, excelente, y calamares buenísimos. »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502920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D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restaurante · pedir · los gustos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9262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En esta unidad vas a…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22792" y="182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Unidad 14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1090879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490472"/>
            <a:ext cx="457200" cy="457200"/>
          </a:xfrm>
          <a:prstGeom prst="ellipse">
            <a:avLst/>
          </a:prstGeom>
          <a:solidFill>
            <a:srgbClr val="FBEAE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1362456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Pedir en un restaurante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08760" y="1746504"/>
            <a:ext cx="9902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mesa para cuatro · yo quiero… · la cuenta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377440"/>
            <a:ext cx="1090879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633472"/>
            <a:ext cx="457200" cy="457200"/>
          </a:xfrm>
          <a:prstGeom prst="ellipse">
            <a:avLst/>
          </a:prstGeom>
          <a:solidFill>
            <a:srgbClr val="FBEAEC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2505456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Nombrar los platos y las bebidas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08760" y="2889504"/>
            <a:ext cx="9902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sopa · paella · flan · café solo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520440"/>
            <a:ext cx="1090879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776472"/>
            <a:ext cx="457200" cy="457200"/>
          </a:xfrm>
          <a:prstGeom prst="ellipse">
            <a:avLst/>
          </a:prstGeom>
          <a:solidFill>
            <a:srgbClr val="FBEAEC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776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3648456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Mostrar acuerdo o desacuerdo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032504"/>
            <a:ext cx="9902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 también · yo tampoco · yo sí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4663440"/>
            <a:ext cx="1090879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4919472"/>
            <a:ext cx="457200" cy="457200"/>
          </a:xfrm>
          <a:prstGeom prst="ellipse">
            <a:avLst/>
          </a:prstGeom>
          <a:solidFill>
            <a:srgbClr val="FBEAEC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08760" y="4791456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Valorar con -ísimo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508760" y="5175504"/>
            <a:ext cx="9902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buenísimo · guapísima · ¡qué rico!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9262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Escena 1 · Llegar al restaurante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22792" y="182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el restaurante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María ontmoet de ouders van Julio. De moeder neemt meteen de leiding.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María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377440" y="1417320"/>
            <a:ext cx="90799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Estoy nerviosa, ¿no vamos muy rápido? Quiero decir… llevamos juntos tres meses, no es tanto tiempo…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911096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Julio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377440" y="1911096"/>
            <a:ext cx="90799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Tienes que estar tranquila. Mis padres son muy simpáticos, simpatiquísimos.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2404872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Madre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377440" y="2404872"/>
            <a:ext cx="90799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Chica… Bonita… Mesa para cuatro. Esa, si puede ser.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2898648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María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377440" y="2898648"/>
            <a:ext cx="90799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3392424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Madre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377440" y="3392424"/>
            <a:ext cx="90799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Ésa es la mesa que nos gusta. Vamos a cenar cuatro personas. Somos cuatro personas que van a cenar.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3886200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Julio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377440" y="3886200"/>
            <a:ext cx="90799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Mamá. María, estos son mis padres. Mamá, papá…, ella es María.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" y="4379976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María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377440" y="4379976"/>
            <a:ext cx="90799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Encantada.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" y="4873752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Padre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377440" y="4873752"/>
            <a:ext cx="90799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Encantado de conocerte.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5800" y="5367528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Julio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377440" y="5367528"/>
            <a:ext cx="90799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¿Mamá?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5800" y="5861304"/>
            <a:ext cx="1645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Madre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377440" y="5861304"/>
            <a:ext cx="90799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Sí, claro… Yo también estoy encantada.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9262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Escena 2 · La comida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22792" y="182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el restaurante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Bestellen: eerst iets te drinken, dan het eten.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1645920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Camarero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377440" y="1417320"/>
            <a:ext cx="9079992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¿Quieren algo de beber mientras miran el menú?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797148"/>
            <a:ext cx="1645920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María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377440" y="1797148"/>
            <a:ext cx="9079992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¿Queréis vino? Aquí hay un Rioja estupendo y no es muy caro.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2176975"/>
            <a:ext cx="1645920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Madre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377440" y="2176975"/>
            <a:ext cx="9079992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 quiero agua.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2556803"/>
            <a:ext cx="1645920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Padre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377440" y="2556803"/>
            <a:ext cx="9079992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 tampoco quiero vino, tengo el estómago… Agua también.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2936631"/>
            <a:ext cx="1645920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Madre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377440" y="2936631"/>
            <a:ext cx="9079992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Pero tú puedes pedir vino, si quieres.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3316458"/>
            <a:ext cx="1645920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María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377440" y="3316458"/>
            <a:ext cx="9079992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quizás… Mejor, una botella de agua.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" y="3696286"/>
            <a:ext cx="1645920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Camarero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377440" y="3696286"/>
            <a:ext cx="9079992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¿Agua para cuatro?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" y="4076114"/>
            <a:ext cx="1645920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Julio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377440" y="4076114"/>
            <a:ext cx="9079992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No, yo quiero una cerveza.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5800" y="4455942"/>
            <a:ext cx="1645920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María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377440" y="4455942"/>
            <a:ext cx="9079992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Dos cervezas.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5800" y="4835769"/>
            <a:ext cx="1645920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Madre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377440" y="4835769"/>
            <a:ext cx="9079992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 sabes de Sandra?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5800" y="5215597"/>
            <a:ext cx="1645920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Julio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377440" y="5215597"/>
            <a:ext cx="9079992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Nada.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5800" y="5595425"/>
            <a:ext cx="1645920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Madre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2377440" y="5595425"/>
            <a:ext cx="9079992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 primera novia. Una chica muy lista y muy guapa. Guapísima. Tú también eres guapísima.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85800" y="5975252"/>
            <a:ext cx="1645920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Camarero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2377440" y="5975252"/>
            <a:ext cx="9079992" cy="33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carne les recomiendo el cordero. De pescado, la merluza. Además de lo que hay en el menú, tenemos también sopa, buenísima. Paella, excelente, y calamares buenísimos.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9262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Escena 3 · El postre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22792" y="182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el restaurante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Het nagerecht — en wie wat kiest.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Camarero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377440" y="1417320"/>
            <a:ext cx="90799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¿Van a tomar algo de postre?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984248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Madre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377440" y="1984248"/>
            <a:ext cx="90799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Uff… Yo no, gracias.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2551176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María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377440" y="2551176"/>
            <a:ext cx="90799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¿Quieres algo para compartir? ¿Una fruta?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3118104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Julio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377440" y="3118104"/>
            <a:ext cx="90799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 prefiero algo dulce.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3685032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Camarero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377440" y="3685032"/>
            <a:ext cx="90799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Tenemos flan y tarta de chocolate casera.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4251960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María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377440" y="4251960"/>
            <a:ext cx="90799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Tarta de chocolate, ¡qué rica!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" y="4818888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Julio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377440" y="4818888"/>
            <a:ext cx="90799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Muy bien, una tarta de chocolate.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9262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Escena 4 · El café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22792" y="182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el restaurante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Drie soorten koffie — en de moeder begint opnieuw over Sandra.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Camarero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377440" y="1417320"/>
            <a:ext cx="90799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¿Café cortado?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984248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Padre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377440" y="1984248"/>
            <a:ext cx="90799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Sí, aquí.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2551176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Camarero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377440" y="2551176"/>
            <a:ext cx="90799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¿Café solo?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3118104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Julio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377440" y="3118104"/>
            <a:ext cx="90799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Yo, aquí. Gracias.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3685032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Camarero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377440" y="3685032"/>
            <a:ext cx="90799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¿Café con leche?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4251960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Madre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377440" y="4251960"/>
            <a:ext cx="90799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Sandra es muy divertida. Sandra es la chica que siempre anima una reunión.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9262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Escena 5 · En la calle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22792" y="182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el restaurante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Buiten. Julio kijkt terug op de avond — en trekt een verrassende conclusie.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Julio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377440" y="1417320"/>
            <a:ext cx="90799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¡Qué tensión, qué desagradable!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984248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María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377440" y="1984248"/>
            <a:ext cx="90799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2551176"/>
            <a:ext cx="1645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Julio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377440" y="2551176"/>
            <a:ext cx="90799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puedes tratar así a mi madre, es una señora muy sensible. ¿Te cuesta mucho ser amable?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9262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En el restaurante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22792" y="182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het restaurant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6187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el camarero · la camarera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159105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ober · de serveerster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85916" y="118872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4516" y="126187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la mesa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414516" y="159105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tafel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05740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13055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el menú · la carta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68680" y="245973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het menu · de kaart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85916" y="205740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4516" y="213055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la cuenta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14516" y="245973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rekening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292608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99923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la reserva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68680" y="332841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reservering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85916" y="292608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4516" y="299923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mesa para cuatro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414516" y="332841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een tafel voor vier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9262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Los platos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22792" y="182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gerechten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6187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el primer plato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159105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het voorgerecht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85916" y="118872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4516" y="126187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el segundo plato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414516" y="159105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het hoofdgerecht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05740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13055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el postre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68680" y="245973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het nagerecht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85916" y="205740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4516" y="213055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la sopa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14516" y="245973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soep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292608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99923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la paella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68680" y="332841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paella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85916" y="292608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4516" y="299923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la tortilla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414516" y="332841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tortilla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379476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86791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los calamares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868680" y="419709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inktvisringen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85916" y="379476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14516" y="386791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el cordero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6414516" y="419709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het lam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0080" y="466344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473659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la merluza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868680" y="506577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heek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185916" y="466344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14516" y="473659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la tarta de chocolate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6414516" y="506577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chocoladetaart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0080" y="553212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560527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el flan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868680" y="593445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flan (pudding)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9262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Para beber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22792" y="182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om te drinken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6187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el agua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159105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het water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85916" y="118872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4516" y="126187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una botella de agua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414516" y="159105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een fles water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05740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13055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el vino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68680" y="245973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wijn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85916" y="205740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4516" y="213055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la cerveza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14516" y="245973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het bier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292608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99923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el café solo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68680" y="332841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zwarte koffie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85916" y="292608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4516" y="299923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el café con leche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414516" y="332841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koffie met melk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379476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86791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el café cortado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868680" y="419709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koffie met een wolkje melk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9262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Pedir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22792" y="182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bestellen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6187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¿Quiere(n) algo de beber?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159105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Wilt u iets drinken?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85916" y="118872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4516" y="126187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Yo quiero…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414516" y="159105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Ik wil…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05740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13055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Yo prefiero…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68680" y="245973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Ik heb liever…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85916" y="205740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4516" y="213055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¿Van a tomar postre?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14516" y="245973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Neemt u een nagerecht?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292608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99923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Les recomiendo…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68680" y="332841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Ik raad u … aan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85916" y="292608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4516" y="299923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La cuenta, por favor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414516" y="332841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rekening, alstublieft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9262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Yo también · yo tampoco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22792" y="182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het eens of oneens zijn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6187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Yo también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159105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Ik ook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85916" y="118872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4516" y="126187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Yo tampoco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414516" y="159105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Ik ook niet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05740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13055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Yo sí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68680" y="245973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Ik wel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85916" y="205740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4516" y="213055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Yo no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14516" y="245973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Ik niet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292608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99923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Encantado/a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68680" y="332841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Aangenaam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85916" y="292608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4516" y="299923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Encantado de conocerte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414516" y="332841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Aangenaam kennis te maken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9262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¡Qué rico!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22792" y="182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smaak en superlatief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6187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¡Qué rico!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159105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 lekker!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85916" y="118872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4516" y="126187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buenísimo/a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414516" y="159105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ontzettend lekker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05740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13055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guapísimo/a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68680" y="245973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beeldschoon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85916" y="205740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4516" y="213055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simpatiquísimo/a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14516" y="245973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ontzettend aardig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292608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99923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está muy bueno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68680" y="332841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het is heel lekker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85916" y="2926080"/>
            <a:ext cx="5362956" cy="731520"/>
          </a:xfrm>
          <a:prstGeom prst="roundRect">
            <a:avLst>
              <a:gd name="adj" fmla="val 11250"/>
            </a:avLst>
          </a:prstGeom>
          <a:solidFill>
            <a:srgbClr val="F3EEE4"/>
          </a:solidFill>
          <a:ln w="12700">
            <a:solidFill>
              <a:srgbClr val="F3EE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4516" y="2999232"/>
            <a:ext cx="4905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algo dulce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414516" y="3328416"/>
            <a:ext cx="49057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iets zoets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9262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Suena bien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22792" y="182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Todos los sonidos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10908792" cy="1051560"/>
          </a:xfrm>
          <a:prstGeom prst="roundRect">
            <a:avLst>
              <a:gd name="adj" fmla="val 8696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005840"/>
            <a:ext cx="10360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Alle klanken van dit jaar door elkaar, en allemaal op één menukaart: ñ · c/z · g/gu · j · ll/y · r/rr · 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3499104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España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76344" y="2286000"/>
            <a:ext cx="3499104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59224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cerveza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912608" y="2286000"/>
            <a:ext cx="3499104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95488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merluza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2971800"/>
            <a:ext cx="3499104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9718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jamón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76344" y="2971800"/>
            <a:ext cx="3499104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59224" y="29718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paella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912608" y="2971800"/>
            <a:ext cx="3499104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95488" y="29718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cordero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3657600"/>
            <a:ext cx="3499104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6576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postre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45720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Aguda · llana · esdrújula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0080" y="49377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Drie soorten woorden, en de tilde volgt daaruit. Klap de klemtoon, dan zie je het.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5440680"/>
            <a:ext cx="1054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café  ·  a·GU·da (laatste) — mét tilde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2960" y="5751576"/>
            <a:ext cx="1054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menú  ·  a·GU·da — mét tilde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22960" y="6062472"/>
            <a:ext cx="1054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postre  ·  POS·tre · LLA·na (voorlaatste)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22960" y="6373368"/>
            <a:ext cx="1054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camarero  ·  ca·ma·RE·ro · LLA·na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22960" y="6684264"/>
            <a:ext cx="1054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buenísimo  ·  bue·NÍ·si·mo · es·DRÚ·ju·la (altijd tilde)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9262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…que… · o · -ísimo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22792" y="182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twee zinnen aaneen, kiezen, en overdrijven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10908792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2435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Ésa es la mesa que nos gusta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16093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3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relativo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10908792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579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Somos cuatro personas que van a cenar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25237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3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relativo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017520"/>
            <a:ext cx="10908792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0723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¿Vino o agua?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14400" y="34381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3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elegir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10908792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9867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¿Café solo o con leche?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14400" y="43525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3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elegir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846320"/>
            <a:ext cx="10908792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9011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guapa → guapísima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4400" y="52669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3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-ísimo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760720"/>
            <a:ext cx="10908792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8155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bueno → buenísimo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14400" y="61813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3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-ísimo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6675120"/>
            <a:ext cx="10908792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67299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simpáticos → simpatiquísimos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14400" y="70957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3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 → qu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777240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FBEAEC"/>
          </a:solidFill>
          <a:ln w="12700">
            <a:solidFill>
              <a:srgbClr val="FBEA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777240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3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¡Ojo!  </a:t>
            </a:r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Twee dingen. Eén: que is hier «die» of «dat», niet «wat» — en het valt in het Spaans nóóit weg, ook al doen wij dat wel («de tafel die we graag hebben»). Twee: bij -ísimo valt de laatste klinker weg (bueno → buenísimo) en verandert de c in qu (simpático → simpatiquísimo), anders klinkt het niet meer.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9262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¿Qué has entendido?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22792" y="182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Escucha · pedir en un restaurante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1. ¿Qué beben los dos?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3270504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600200"/>
            <a:ext cx="295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Vino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76344" y="1600200"/>
            <a:ext cx="3270504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0936" y="1600200"/>
            <a:ext cx="295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Agua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29728" y="1600200"/>
            <a:ext cx="3270504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94320" y="1600200"/>
            <a:ext cx="295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Cerveza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2. ¿Quién pide sopa?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22960" y="3200400"/>
            <a:ext cx="3270504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3200400"/>
            <a:ext cx="295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276344" y="3200400"/>
            <a:ext cx="3270504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40936" y="3200400"/>
            <a:ext cx="295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Lucas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729728" y="3200400"/>
            <a:ext cx="3270504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94320" y="3200400"/>
            <a:ext cx="295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dos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4343400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3. ¿Qué recomienda el camarero?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22960" y="4800600"/>
            <a:ext cx="3270504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4800600"/>
            <a:ext cx="295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cordero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276344" y="4800600"/>
            <a:ext cx="3270504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40936" y="4800600"/>
            <a:ext cx="295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merluza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729728" y="4800600"/>
            <a:ext cx="3270504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94320" y="4800600"/>
            <a:ext cx="295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paella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9262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Lo que ya sé decir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22792" y="182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Funciones comunicativas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10908792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18872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«Mesa para cuatro. Esa, si puede ser.»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80960" y="1188720"/>
            <a:ext cx="3867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A83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Desenvolverse en un restaurante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10908792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6596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«¿Quieren algo de beber mientras miran el menú?»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80960" y="1965960"/>
            <a:ext cx="3867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A83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Desenvolverse en un restaurante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743200"/>
            <a:ext cx="10908792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74320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«De carne les recomiendo el cordero.»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80960" y="2743200"/>
            <a:ext cx="3867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A83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Desenvolverse en un restaurante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10908792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5204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«Yo también estoy encantada.»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80960" y="3520440"/>
            <a:ext cx="3867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A83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Mostrar acuerdo y desacuerdo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297680"/>
            <a:ext cx="10908792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2976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«Yo tampoco quiero vino.»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80960" y="4297680"/>
            <a:ext cx="3867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A83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Mostrar acuerdo y desacuerdo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074920"/>
            <a:ext cx="10908792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07492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«Yo prefiero algo dulce.»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80960" y="5074920"/>
            <a:ext cx="3867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A83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Pedir algo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852160"/>
            <a:ext cx="10908792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585216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«Paella, excelente, y calamares buenísimos.»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80960" y="5852160"/>
            <a:ext cx="3867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A83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Valorar la comida y las personas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6629400"/>
            <a:ext cx="10908792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E7E1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662940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42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«Tarta de chocolate, ¡qué rica!»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80960" y="6629400"/>
            <a:ext cx="3867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A832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Reaccionar con una exclamación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9728"/>
            <a:ext cx="9262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Tarea final · La cena del año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22792" y="182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Unidad 14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FBEAEC"/>
          </a:solidFill>
          <a:ln w="12700">
            <a:solidFill>
              <a:srgbClr val="FBEA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00584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323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Cuatro personas, un restaurante, un menú entero: de la bebida al café.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463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Vier personen, één restaurant, een volledig menu: van het drankje tot de koffie.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2240280"/>
            <a:ext cx="411480" cy="41148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148840"/>
            <a:ext cx="10177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Verdeel de rollen: twee klanten, één ober, één die de rekening vraagt.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85800" y="3044952"/>
            <a:ext cx="411480" cy="41148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044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953512"/>
            <a:ext cx="10177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Bestel iets te drinken; minstens één iemand antwoordt met yo también of yo tampoco.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85800" y="3849624"/>
            <a:ext cx="411480" cy="41148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8496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3758184"/>
            <a:ext cx="10177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Bestel een voorgerecht, een hoofdgerecht en een nagerecht van de kaart.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85800" y="4654296"/>
            <a:ext cx="411480" cy="41148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6542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4562856"/>
            <a:ext cx="10177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ober beveelt iets aan met les recomiendo… en één -ísimo.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85800" y="5458968"/>
            <a:ext cx="411480" cy="41148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458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5367528"/>
            <a:ext cx="10177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024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Reageer op het eten met ¡Qué rico! en vraag daarna de rekening.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A8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¿Y tú?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6DD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 neem je mee uit deze unidad? Noteer drie chunks die je zeker wil onthouden.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31520" y="402336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· Estoy nerviosa    · Tienes que estar tranquila    · simpatiquísimos    · Mesa para cuatro    · la mesa que nos gusta    · Encantada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C4 · Unidad 14 · En el restaurante</dc:title>
  <dc:subject>PptxGenJS Presentation</dc:subject>
  <dc:creator>Español en la práctica</dc:creator>
  <cp:lastModifiedBy>Español en la práctica</cp:lastModifiedBy>
  <cp:revision>1</cp:revision>
  <dcterms:created xsi:type="dcterms:W3CDTF">2026-08-09T20:12:49Z</dcterms:created>
  <dcterms:modified xsi:type="dcterms:W3CDTF">2026-08-09T20:12:49Z</dcterms:modified>
</cp:coreProperties>
</file>