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8.xml"/><Relationship Id="rId5" Type="http://schemas.openxmlformats.org/officeDocument/2006/relationships/slide" Target="slide15.xml"/><Relationship Id="rId6" Type="http://schemas.openxmlformats.org/officeDocument/2006/relationships/slide" Target="slide11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2EB085"/>
                </a:solidFill>
                <a:latin typeface="Bricolage Grotesque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289499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57355"/>
                </a:solidFill>
                <a:latin typeface="Inter"/>
              </a:rPr>
              <a:t>LA RUTA · PARADA 3 · BARCELONA 🇪🇸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0" b="1" i="0">
                <a:solidFill>
                  <a:srgbClr val="FFFFFF"/>
                </a:solidFill>
                <a:latin typeface="Bricolage Grotesque"/>
              </a:rPr>
              <a:t>El tiempo vuela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37744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E4F4EE"/>
                </a:solidFill>
                <a:latin typeface="Inter"/>
              </a:rPr>
              <a:t>La hora · la rutina · el presente irregular — en Barcelona, con Lucía y Pau.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297180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Bricolage Grotesque"/>
              </a:rPr>
              <a:t>¿Qué hora es… y qué haces cada día?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Hoe laat is het… en wat doe je elke dag?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La gente de la ruta — je reisgezellen</a:t>
            </a:r>
          </a:p>
        </p:txBody>
      </p:sp>
      <p:pic>
        <p:nvPicPr>
          <p:cNvPr id="11" name="Picture 10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Lucia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</a:t>
            </a:r>
          </a:p>
        </p:txBody>
      </p:sp>
      <p:pic>
        <p:nvPicPr>
          <p:cNvPr id="13" name="Picture 12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5" name="Picture 14" descr="va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EL TIEMPO VUELA   ·   C5 · A1 · La Ruta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Kies je route — klik een tegel. Alles oefent naar de Tarea «Un día en mi vida» toe.</a:t>
            </a:r>
          </a:p>
        </p:txBody>
      </p:sp>
      <p:sp>
        <p:nvSpPr>
          <p:cNvPr id="9" name="Rounded Rectangle 8">
            <a:hlinkClick action="ppaction://hlinksldjump" r:id="rId2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2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La hora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¿Qué hora es? · y media · ¿a qué hora?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3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3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Mi rutina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verbos reflexivos · me/te/se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5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4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Presente irregular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o→ue · e→ie · e→i · hacer/ir/salir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8</a:t>
            </a:r>
          </a:p>
        </p:txBody>
      </p:sp>
      <p:sp>
        <p:nvSpPr>
          <p:cNvPr id="27" name="Rounded Rectangle 26">
            <a:hlinkClick action="ppaction://hlinksldjump" r:id="rId5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5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Frecuencia + tiempo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siempre/nunca · días · meses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15</a:t>
            </a:r>
          </a:p>
        </p:txBody>
      </p:sp>
      <p:sp>
        <p:nvSpPr>
          <p:cNvPr id="33" name="Rounded Rectangle 32">
            <a:hlinkClick action="ppaction://hlinksldjump" r:id="rId6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6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Lectura + escuchar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día de Pau · la hora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11</a:t>
            </a:r>
          </a:p>
        </p:txBody>
      </p:sp>
      <p:sp>
        <p:nvSpPr>
          <p:cNvPr id="39" name="Rounded Rectangle 38">
            <a:hlinkClick action="ppaction://hlinksldjump" r:id="rId7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7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Tarea · Un día en mi vida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vlog/tekst + presentarlo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19</a:t>
            </a:r>
          </a:p>
        </p:txBody>
      </p:sp>
      <p:sp>
        <p:nvSpPr>
          <p:cNvPr id="45" name="Rounded Rectangle 44">
            <a:hlinkClick action="ppaction://hlinksldjump" r:id="rId8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B7860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8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B7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7860B"/>
                </a:solidFill>
                <a:latin typeface="Bricolage Grotesque"/>
              </a:rPr>
              <a:t>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Quiz «La mezcla»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gemengde ophaal — mét oplossing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20</a:t>
            </a:r>
          </a:p>
        </p:txBody>
      </p:sp>
      <p:sp>
        <p:nvSpPr>
          <p:cNvPr id="51" name="Rounded Rectangle 50">
            <a:hlinkClick action="ppaction://hlinksldjump" r:id="rId9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9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Repaso + semáforo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 esencial · zelfevaluatie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21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EL TIEMPO VUELA   ·   C5 · A1 · La Ruta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hora 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klok → de tijd verschijnt. Es la UNA (1u) · Son LAS dos… (≥2u).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14630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🕐 1:00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554480"/>
            <a:ext cx="370332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 la una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91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59152"/>
            <a:ext cx="14630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🕐 2:30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359152"/>
            <a:ext cx="370332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Son las dos y media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382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63824"/>
            <a:ext cx="14630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🕐 3:15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163824"/>
            <a:ext cx="370332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Son las tres y cuarto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554480"/>
            <a:ext cx="14630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🕐 4:45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1554480"/>
            <a:ext cx="370332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Son las cinco menos cuarto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3591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359152"/>
            <a:ext cx="14630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🕐 6:00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2359152"/>
            <a:ext cx="370332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Son las seis en punto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6382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163824"/>
            <a:ext cx="14630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🕐 9:20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3163824"/>
            <a:ext cx="370332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Son las nueve y veinte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8056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Es la una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(enkelvoud, alléén 1 uur) · </a:t>
            </a:r>
            <a:r>
              <a:rPr sz="1200" b="1" i="0">
                <a:solidFill>
                  <a:srgbClr val="DC2626"/>
                </a:solidFill>
                <a:latin typeface="Inter"/>
              </a:rPr>
              <a:t>Son las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dos, tres… (meervoud, vanaf 2 uur).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y media / y cuarto (tot half) · menos cuarto (na half) · en punto (precies) · a las … de la mañana/tarde/noche.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EL TIEMPO VUELA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rutina — la frase con color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Kleur = taalfunctie. Reflexief pronomen (paars/oranje) vóór het werkwoord.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563EB"/>
                </a:solidFill>
                <a:latin typeface="Bricolage Grotesque"/>
              </a:rPr>
              <a:t>Yo </a:t>
            </a:r>
            <a:r>
              <a:rPr sz="2400" b="1" i="0">
                <a:solidFill>
                  <a:srgbClr val="EA7317"/>
                </a:solidFill>
                <a:latin typeface="Bricolage Grotesque"/>
              </a:rPr>
              <a:t>me levanto </a:t>
            </a:r>
            <a:r>
              <a:rPr sz="2400" b="1" i="0">
                <a:solidFill>
                  <a:srgbClr val="7C3AED"/>
                </a:solidFill>
                <a:latin typeface="Bricolage Grotesque"/>
              </a:rPr>
              <a:t>a las siete, </a:t>
            </a:r>
            <a:r>
              <a:rPr sz="2400" b="1" i="0">
                <a:solidFill>
                  <a:srgbClr val="EA7317"/>
                </a:solidFill>
                <a:latin typeface="Bricolage Grotesque"/>
              </a:rPr>
              <a:t>me ducho </a:t>
            </a:r>
            <a:r>
              <a:rPr sz="2400" b="1" i="0">
                <a:solidFill>
                  <a:srgbClr val="20242E"/>
                </a:solidFill>
                <a:latin typeface="Bricolage Grotesque"/>
              </a:rPr>
              <a:t>y </a:t>
            </a:r>
            <a:r>
              <a:rPr sz="2400" b="1" i="0">
                <a:solidFill>
                  <a:srgbClr val="EA7317"/>
                </a:solidFill>
                <a:latin typeface="Bricolage Grotesque"/>
              </a:rPr>
              <a:t>empiezo </a:t>
            </a:r>
            <a:r>
              <a:rPr sz="2400" b="1" i="0">
                <a:solidFill>
                  <a:srgbClr val="14B8A6"/>
                </a:solidFill>
                <a:latin typeface="Bricolage Grotesque"/>
              </a:rPr>
              <a:t>en el instituto </a:t>
            </a:r>
            <a:r>
              <a:rPr sz="2400" b="1" i="0">
                <a:solidFill>
                  <a:srgbClr val="7C3AED"/>
                </a:solidFill>
                <a:latin typeface="Bricolage Grotesque"/>
              </a:rPr>
              <a:t>a las nueve.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El marco — cuenta tu día: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Me despierto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3291840"/>
            <a:ext cx="10972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+ a las 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Me levanto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3968496"/>
            <a:ext cx="10972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+ a las 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Me ducho / me visto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4645152"/>
            <a:ext cx="10972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+ acción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Desayuno / almuerzo / ceno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3291840"/>
            <a:ext cx="10972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+ hora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Voy / salgo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3968496"/>
            <a:ext cx="10972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+ lugar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22860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Me acuesto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4645152"/>
            <a:ext cx="10972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+ a las 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1208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«Me despierto a las siete, me ducho, desayuno y salgo de casa a las ocho. Por la tarde hago los deberes.»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08406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EL TIEMPO VUELA   ·   C5 · A1 · La Ruta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Verbos reflexivos (me/te/se)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Denk het pronombre + de vorm, klik de kaart. Pronomen vóór het werkwoord.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57355"/>
                </a:solidFill>
                <a:latin typeface="Bricolage Grotesque"/>
              </a:rPr>
              <a:t>me levanto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tú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57355"/>
                </a:solidFill>
                <a:latin typeface="Bricolage Grotesque"/>
              </a:rPr>
              <a:t>te levantas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él/ella/usted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57355"/>
                </a:solidFill>
                <a:latin typeface="Bricolage Grotesque"/>
              </a:rPr>
              <a:t>se levanta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nosotros/-as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57355"/>
                </a:solidFill>
                <a:latin typeface="Bricolage Grotesque"/>
              </a:rPr>
              <a:t>nos levantamos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vosotros/-as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57355"/>
                </a:solidFill>
                <a:latin typeface="Bricolage Grotesque"/>
              </a:rPr>
              <a:t>os levantáis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ellos/-as/ustedes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57355"/>
                </a:solidFill>
                <a:latin typeface="Bricolage Grotesque"/>
              </a:rPr>
              <a:t>se levantan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0292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Het pronombre staat VÓÓR het werkwoord: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me levanto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(niet «levanto me»). Het werkwoord vervoeg je gewoon.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me/te/se/nos/os/se — past bij de persoon. Zo ook: me ducho, se acuesta (o→ue), me visto (e→i).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9011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EL TIEMPO VUELA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¿Reflexivo o no?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werkwoord → reflexief of niet? Let op het pronombre.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levantarse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554480"/>
            <a:ext cx="28346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C3AED"/>
                </a:solidFill>
                <a:latin typeface="Inter"/>
              </a:rPr>
              <a:t>reflexivo · me levanto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91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desayunar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59152"/>
            <a:ext cx="28346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no · desayuno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382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ducharse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163824"/>
            <a:ext cx="28346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C3AED"/>
                </a:solidFill>
                <a:latin typeface="Inter"/>
              </a:rPr>
              <a:t>reflexivo · me ducho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cenar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1554480"/>
            <a:ext cx="28346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no · ceno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3591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59152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acostarse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359152"/>
            <a:ext cx="28346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C3AED"/>
                </a:solidFill>
                <a:latin typeface="Inter"/>
              </a:rPr>
              <a:t>reflexivo · me acuesto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6382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163824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hacer los deberes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3163824"/>
            <a:ext cx="28346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no · hago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8056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Reflexivo = una acción sobre ti mismo (me/te/se):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levantarse, ducharse, vestirse, acostarse, despertarse, peinarse, lavarse.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EL TIEMPO VUELA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Presente irregular · o → 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cel → de vorm. De vocal wordt UE… behalve nosotros/vosotros («la bota»).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1554480"/>
            <a:ext cx="3383280" cy="457200"/>
          </a:xfrm>
          <a:prstGeom prst="roundRect">
            <a:avLst>
              <a:gd name="adj" fmla="val 5500"/>
            </a:avLst>
          </a:prstGeom>
          <a:solidFill>
            <a:srgbClr val="1E9E7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554480"/>
            <a:ext cx="33832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poder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554480"/>
            <a:ext cx="3383280" cy="457200"/>
          </a:xfrm>
          <a:prstGeom prst="roundRect">
            <a:avLst>
              <a:gd name="adj" fmla="val 5500"/>
            </a:avLst>
          </a:prstGeom>
          <a:solidFill>
            <a:srgbClr val="1E9E7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554480"/>
            <a:ext cx="33832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dormir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554480"/>
            <a:ext cx="3383280" cy="457200"/>
          </a:xfrm>
          <a:prstGeom prst="roundRect">
            <a:avLst>
              <a:gd name="adj" fmla="val 5500"/>
            </a:avLst>
          </a:prstGeom>
          <a:solidFill>
            <a:srgbClr val="1E9E7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554480"/>
            <a:ext cx="33832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volver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0312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yo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21031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21031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puedo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21031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21031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duermo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21031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1031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vuelvo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65176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tú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265176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65176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puedes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265176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265176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duermes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265176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265176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vuelves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20040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él/ella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94560" y="320040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320040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puede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0" y="320040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320040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duerme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0" y="320040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320040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vuelve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74904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nosotros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94560" y="374904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94560" y="374904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podemos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720" y="374904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0" y="374904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dormimos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26880" y="374904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374904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volvemos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29768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vosotros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194560" y="429768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94560" y="429768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podéis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60720" y="429768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0" y="429768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dormís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429768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0" y="429768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volvéis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84632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ellos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94560" y="48463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94560" y="48463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pueden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60720" y="48463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0" y="48463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duermen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326880" y="48463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26880" y="48463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vuelven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59" name="Rounded Rectangle 5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548640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De vocal o→ue in álle vormen BEHALVE nosotros/vosotros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(podemos, dormimos). Zo ook: acostarse→me acuesto, almorzar→almuerzo, jugar→juego (u→ue).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4360" y="53583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EL TIEMPO VUELA   ·   C5 · A1 · La Ruta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Presente irregular · e→ie y e→i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Zelfde «bota». Klik een cel → de vorm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1554480"/>
            <a:ext cx="3383280" cy="457200"/>
          </a:xfrm>
          <a:prstGeom prst="roundRect">
            <a:avLst>
              <a:gd name="adj" fmla="val 5500"/>
            </a:avLst>
          </a:prstGeom>
          <a:solidFill>
            <a:srgbClr val="1E9E7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554480"/>
            <a:ext cx="33832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Bricolage Grotesque"/>
              </a:rPr>
              <a:t>empezar (e→ie)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554480"/>
            <a:ext cx="3383280" cy="457200"/>
          </a:xfrm>
          <a:prstGeom prst="roundRect">
            <a:avLst>
              <a:gd name="adj" fmla="val 5500"/>
            </a:avLst>
          </a:prstGeom>
          <a:solidFill>
            <a:srgbClr val="1E9E7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554480"/>
            <a:ext cx="33832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Bricolage Grotesque"/>
              </a:rPr>
              <a:t>querer (e→ie)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554480"/>
            <a:ext cx="3383280" cy="457200"/>
          </a:xfrm>
          <a:prstGeom prst="roundRect">
            <a:avLst>
              <a:gd name="adj" fmla="val 5500"/>
            </a:avLst>
          </a:prstGeom>
          <a:solidFill>
            <a:srgbClr val="1E9E7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554480"/>
            <a:ext cx="33832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Bricolage Grotesque"/>
              </a:rPr>
              <a:t>pedir (e→i)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0312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yo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21031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21031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empiezo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21031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21031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quiero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21031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1031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pido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65176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tú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265176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65176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empiezas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265176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265176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quieres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265176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265176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pides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20040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él/ella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94560" y="320040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320040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empieza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0" y="320040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320040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quiere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0" y="320040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320040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pide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74904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nosotros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94560" y="374904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94560" y="374904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empezamos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720" y="374904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0" y="374904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queremos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26880" y="374904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374904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pedimos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29768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vosotros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194560" y="429768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94560" y="429768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empezáis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60720" y="429768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0" y="429768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queréis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429768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0" y="429768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pedís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84632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ellos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94560" y="48463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94560" y="48463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empiezan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60720" y="48463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0" y="48463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quieren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326880" y="48463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26880" y="48463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piden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59" name="Rounded Rectangle 5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548640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e→ie (empiezo, quiero, prefiero, me despierto) · e→i (pido, me visto, sirvo).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Nosotros/vosotros: geen wissel (empezamos, pedimos).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4360" y="53583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EL TIEMPO VUELA   ·   C5 · A1 · La Ruta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hacer · ir · salir — el «yo» especial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cel → de vorm. De verrassing zit in de yo-vorm.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1554480"/>
            <a:ext cx="3383280" cy="457200"/>
          </a:xfrm>
          <a:prstGeom prst="roundRect">
            <a:avLst>
              <a:gd name="adj" fmla="val 5500"/>
            </a:avLst>
          </a:prstGeom>
          <a:solidFill>
            <a:srgbClr val="1E9E7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554480"/>
            <a:ext cx="33832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hacer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554480"/>
            <a:ext cx="3383280" cy="457200"/>
          </a:xfrm>
          <a:prstGeom prst="roundRect">
            <a:avLst>
              <a:gd name="adj" fmla="val 5500"/>
            </a:avLst>
          </a:prstGeom>
          <a:solidFill>
            <a:srgbClr val="1E9E7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554480"/>
            <a:ext cx="33832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554480"/>
            <a:ext cx="3383280" cy="457200"/>
          </a:xfrm>
          <a:prstGeom prst="roundRect">
            <a:avLst>
              <a:gd name="adj" fmla="val 5500"/>
            </a:avLst>
          </a:prstGeom>
          <a:solidFill>
            <a:srgbClr val="1E9E7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554480"/>
            <a:ext cx="33832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salir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0312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yo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21031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21031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hago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21031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21031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voy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21031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1031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salgo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65176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tú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265176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65176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265176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265176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vas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265176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265176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20040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él/ella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94560" y="320040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320040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0" y="320040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320040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va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0" y="320040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320040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74904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nosotros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94560" y="374904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94560" y="374904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hacemos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720" y="374904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0" y="374904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vamos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26880" y="374904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374904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salimos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29768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vosotros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194560" y="429768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94560" y="429768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hacéis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60720" y="429768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0" y="429768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vais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429768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0" y="429768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salís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846320"/>
            <a:ext cx="14630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ellos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94560" y="48463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94560" y="48463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hacen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60720" y="48463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0" y="48463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van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326880" y="4846320"/>
            <a:ext cx="3383280" cy="502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26880" y="4846320"/>
            <a:ext cx="33832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salen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59" name="Rounded Rectangle 5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548640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🟡 hago · salgo krijgen -g- in de yo-vorm; ir is helemaal apart (voy, vas, va…).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De rest is regelmatig.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4360" y="53583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EL TIEMPO VUELA   ·   C5 · A1 · La Ruta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SPEAKING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Cuenta tu día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Bouw je dag met de substitutietabel. Steun bouwt af: tabel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Empiezo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Me levanto a las 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Mañana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Me ducho / me visto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Mediodía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Almuerzo a las 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Tarde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Hago los deberes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Noche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Ceno / me acuesto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Frecuencia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Siempre / a veces / nunca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tabel.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alleen beginwoorden.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hoofd, tegen 3 klasgenoten.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 → terugluisteren.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251960"/>
            <a:ext cx="3315614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🎙️ Grábate online · «Carrusel: mi día»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«Me levanto a las siete, me ducho y desayuno. Empiezo el insti a las nueve. Por la tarde juego al fútbol. A veces ceno tarde.»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EL TIEMPO VUELA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§5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día de Pau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Lees en beantwoord.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303520" cy="402336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e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1783080"/>
            <a:ext cx="3749039" cy="3657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20242E"/>
                </a:solidFill>
                <a:latin typeface="Inter"/>
              </a:rPr>
              <a:t>«Me despierto a las siete y me levanto enseguida. Me ducho, me visto y desayuno. Salgo de casa a las ocho y voy al instituto en metro. Las clases empiezan a las nueve. Al mediodía almuerzo con mis amigos. Por la tarde hago los deberes y juego al fútbol. Ceno a las nueve y me acuesto a las once.»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554480"/>
            <a:ext cx="57607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600200"/>
            <a:ext cx="548640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¿A qué hora se despierta Pau?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920240"/>
            <a:ext cx="548640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A las siete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359152"/>
            <a:ext cx="57607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2404872"/>
            <a:ext cx="548640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¿Cómo va al instituto?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724912"/>
            <a:ext cx="548640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En metro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163824"/>
            <a:ext cx="57607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3209544"/>
            <a:ext cx="548640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¿A qué hora empiezan las clases?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3529584"/>
            <a:ext cx="548640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A las nueve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968496"/>
            <a:ext cx="57607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4014216"/>
            <a:ext cx="548640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¿Qué hace por la tarde?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334256"/>
            <a:ext cx="548640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Los deberes y juega al fútbol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4773168"/>
            <a:ext cx="57607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4818888"/>
            <a:ext cx="5486400" cy="32918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¿A qué hora se acuesta?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5138928"/>
            <a:ext cx="548640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A las once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5623560"/>
            <a:ext cx="5760720" cy="45720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Daarna: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leerlingen maken hun EIGEN horario (transfer → Tarea).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0760" y="5495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EL TIEMPO VUELA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ESCUCHAR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Escucha y anota la hora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Vier momenten van de dag. Klik een kaart → hora + acción. (audio op de digitale pagina)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🔊  Por la mañana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Hora: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0242E"/>
                </a:solidFill>
                <a:latin typeface="Bricolage Grotesque"/>
              </a:rPr>
              <a:t>7:00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Acción: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290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9E74"/>
                </a:solidFill>
                <a:latin typeface="Inter"/>
              </a:rPr>
              <a:t>me levanto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🔊  Al mediodía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Hora: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65176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0242E"/>
                </a:solidFill>
                <a:latin typeface="Bricolage Grotesque"/>
              </a:rPr>
              <a:t>14:30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10896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Acción: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4290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9E74"/>
                </a:solidFill>
                <a:latin typeface="Inter"/>
              </a:rPr>
              <a:t>almuerzo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🔊  Por la tarde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Hora: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65176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0242E"/>
                </a:solidFill>
                <a:latin typeface="Bricolage Grotesque"/>
              </a:rPr>
              <a:t>17:00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10896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Acción: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4290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9E74"/>
                </a:solidFill>
                <a:latin typeface="Inter"/>
              </a:rPr>
              <a:t>hago los deberes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🔊  Por la noche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Hora: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65176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0242E"/>
                </a:solidFill>
                <a:latin typeface="Bricolage Grotesque"/>
              </a:rPr>
              <a:t>23:00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10896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Acción: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4290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9E74"/>
                </a:solidFill>
                <a:latin typeface="Inter"/>
              </a:rPr>
              <a:t>me acuesto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9" name="Rounded Rectangle 3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Modelo-audio (docent leest of TTS):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«Por la mañana, a las siete, me levanto.» …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de la mañana/tarde/noche = concreet uur · por la mañana/tarde/noche = dagdeel (geen uur).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EL TIEMPO VUELA   ·   C5 · A1 · La Ruta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Un día en mi vida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Schrijf 6 zinnen over jouw dag.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✍️ Escribe aquí: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una hora (es la / son las…)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verbo reflexivo (me levanto…)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verbo irregular (empiezo…)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conector (primero, después…)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una frecuencia (siempre, a veces)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mañana + tarde + noche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11480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524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160520"/>
            <a:ext cx="521208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«Normalmente me levanto a las siete, me ducho y desayuno. Empiezo el insti a las nueve. Por la tarde hago los deberes y a veces juego al fútbol. Me acuesto a las once.»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EL TIEMPO VUELA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Conectores temporales y tildes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item → correcte vorm. Twee gereedschappen om je dag te vertellen.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A · conectores temporales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me levanto.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783080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Primero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eerst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desayuno.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441448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Después / Luego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daarna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hago los deberes.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099816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Más tarde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later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me acuesto.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758184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Por fin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ten slotte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B · pon la tilde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miercoles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783080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miércoles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sabado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441448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sábado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despues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099816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después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¿que hora es?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758184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¿qué hora es?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primero → después/luego → más tarde → por fin. 🔴 «dan» = después/luego, niet «entonces».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B: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veel tijdwoorden dragen een tilde: miércoles, sábado, después, mediodía; vraagwoorden altijd (¿qué?).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EL TIEMPO VUELA   ·   C5 · A1 · La Ruta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Frecuencia + días, meses y estaciones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woord → betekenis/plaats. Días y meses met kleine letter!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Escala de frecuencia (100% → 0%):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57355"/>
                </a:solidFill>
                <a:latin typeface="Inter"/>
              </a:rPr>
              <a:t>siempre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40864" y="17830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57355"/>
                </a:solidFill>
                <a:latin typeface="Inter"/>
              </a:rPr>
              <a:t>normalmente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17830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57355"/>
                </a:solidFill>
                <a:latin typeface="Inter"/>
              </a:rPr>
              <a:t>a menudo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17830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57355"/>
                </a:solidFill>
                <a:latin typeface="Inter"/>
              </a:rPr>
              <a:t>a veces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7830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57355"/>
                </a:solidFill>
                <a:latin typeface="Inter"/>
              </a:rPr>
              <a:t>casi nunca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17830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57355"/>
                </a:solidFill>
                <a:latin typeface="Inter"/>
              </a:rPr>
              <a:t>nunca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468880"/>
            <a:ext cx="553212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468880"/>
            <a:ext cx="2468880" cy="7315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lunes … domingo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468880"/>
            <a:ext cx="2743200" cy="7315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los 7 días (klein!)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468880"/>
            <a:ext cx="553212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468880"/>
            <a:ext cx="2468880" cy="7315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enero … diciembre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468880"/>
            <a:ext cx="2743200" cy="7315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los 12 meses (klein!)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364992"/>
            <a:ext cx="553212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364992"/>
            <a:ext cx="2468880" cy="7315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primavera · verano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364992"/>
            <a:ext cx="2743200" cy="7315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otoño · invierno = las estaciones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364992"/>
            <a:ext cx="553212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364992"/>
            <a:ext cx="2468880" cy="7315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fin de semana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3364992"/>
            <a:ext cx="2743200" cy="7315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→ todos los días · una vez por semana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52628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días/meses = kleine letter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(lunes, enero) — anders dan landen/steden (Barcelona).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«op maandag» = el lunes · «elke maandag» = los lunes. Frecuentie meestal vóór het werkwoord.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39826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EL TIEMPO VUELA   ·   C5 · A1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QUIZ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Di la hora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Bij dit uur — welke zin? Klik → de zin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14630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🕐 1:00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600200"/>
            <a:ext cx="37033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 la una.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78024"/>
            <a:ext cx="14630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🕐 2:30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478024"/>
            <a:ext cx="37033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Son las dos y media.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55848"/>
            <a:ext cx="14630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🕐 7:45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355848"/>
            <a:ext cx="37033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Son las ocho menos cuarto.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600200"/>
            <a:ext cx="14630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🕐 6:15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1600200"/>
            <a:ext cx="37033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Son las seis y cuarto.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478024"/>
            <a:ext cx="14630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🕐 12:00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2478024"/>
            <a:ext cx="37033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Son las doce (mediodía).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355848"/>
            <a:ext cx="14630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🕐 9:00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3355848"/>
            <a:ext cx="37033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Son las nueve en punto.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y (tot half) · menos (na half) · en punto (precies).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Es la una (1u) / Son las… (≥2u).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EL TIEMPO VUELA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CULTURA · PARADA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horario español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het weetje. In España eet en cena men later dan in België.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🍽️ Las comidas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645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desayuno (~8h) · comida/almuerzo (~14–15h, ¡la principal!) · merienda (~18h) · cena (~21–22h).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In België: eten rond 12h en 18h — een paar uur vroeger.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🏫 El instituto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645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Van ~8:30 tot ~14:30, soms met pauze. Namiddag: deberes, deporte, amigos.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2336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Ander ritme dan een lange schooldag.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😴 La siesta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645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Meer mito dan realidad: weinigen doen echt siesta, vooral mayores. De cultuur eet gewoon later.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2336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Vergelijk met je eigen dagritme in Bélgica.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vergelijk: ¿a qué hora comes y cenas TÚ en Bélgica? Schrijf jouw «horario español».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EL TIEMPO VUELA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71724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QUIZ · CONJUGA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Conjuga el presente irregular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cel → de juiste vorm. Let op de «bota» en de yo-vorm.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yo · empezar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00200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empiezo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nosotros · empezar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13432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empezamos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Pau · dormir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026664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duerme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yo · hacer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739896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hago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tú · querer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600200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quieres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yo · 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313432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voy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ellos · pedir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026664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piden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yo · salir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739896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salgo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Nosotros = geen wissel (empezamos). Yo speciaal bij hacer/salir/ir (hago/salgo/voy).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Alle vormen nagerekend via de motor-generator.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EL TIEMPO VUELA   ·   C5 · A1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Bricolage Grotesque"/>
              </a:rPr>
              <a:t>✈ Tarea final · Un día en mi vida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Maak je vlog of tekst met horario over een dag uit je leven.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3657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Haz tu horario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67665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uren van jouw dag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3657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Escribe tu día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121408"/>
            <a:ext cx="67665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6–8 frases: hora + reflexivos + presente irregular + conectores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3657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Di la frecuencia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688336"/>
            <a:ext cx="67665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siempre · a veces · nunca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3657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Preséntalo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255264"/>
            <a:ext cx="67665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la clase of vlog/audio (digitale pagina)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3657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Pregunta a un compañero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822192"/>
            <a:ext cx="67665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en presenta su día (3ª persona)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la hora correct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reflexivos (me/te/se)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presente irregular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conectores + frecuencia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· ontvanger de klas/Lucía · doel je dag vertellen · situatie een dag in Barcelona · resultaat: horario + vlog/tekst.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EL TIEMPO VUELA   ·   C5 · A1 · La Ruta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Gemengde ophaal van de hele unit. Klik een vraag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1:00 (frase)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00200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Es la una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yo · levantarse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13432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me levanto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yo · poder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026664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puedo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nosotros · empezar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739896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empezamos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yo · hacer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600200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hago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0% frecuencia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313432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nunca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«dan/daarna»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026664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después / luego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día con tilde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739896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miércoles / sábado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la hora · reflexivos · presente irregular · frecuencia · conectores · tildes.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EL TIEMPO VUELA   ·   C5 · A1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volledige herhaling (24 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La hora: Es la una · Son las dos… · y media/cuarto · menos cuarto · en punto · ¿a qué hora? a las…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Reflexivos: me/te/se/nos/os/se + verbo (me levanto). Pronombre vóór het werkwoord.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Presente irregular: o→ue (puedo), e→ie (empiezo), e→i (pido) · hago · voy · salgo. NIET bij nosotros/vosotros.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Frecuencia: siempre · normalmente · a menudo · a veces · casi nunca · nunca.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2841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🔴 Trampas: Es la una / Son las… · me levanto (niet levanto me) · podemos (geen ue) · días/meses klein.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hora zeggen en vragen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mijn rutina met reflexivos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presente irregular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frecuencia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días/meses/estaciones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EL TIEMPO VUELA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