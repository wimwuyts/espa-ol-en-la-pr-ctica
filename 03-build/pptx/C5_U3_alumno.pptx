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Slides/notesSlide1.xml" ContentType="application/vnd.openxmlformats-officedocument.presentationml.notesSlide+xml"/>
  <Override PartName="/ppt/slides/slide22.xml" ContentType="application/vnd.openxmlformats-officedocument.presentationml.slide+xml"/>
  <Override PartName="/ppt/notesSlides/notesSlide2.xml" ContentType="application/vnd.openxmlformats-officedocument.presentationml.notesSlide+xml"/>
  <Override PartName="/ppt/slides/slide23.xml" ContentType="application/vnd.openxmlformats-officedocument.presentationml.slide+xml"/>
  <Override PartName="/ppt/notesSlides/notesSlide3.xml" ContentType="application/vnd.openxmlformats-officedocument.presentationml.notesSlide+xml"/>
  <Override PartName="/ppt/slides/slide2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77" r:id="rId28"/>
    <p:sldId id="278" r:id="rId29"/>
    <p:sldId id="279" r:id="rId30"/>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2 · Zona horaria — 🔬 onderzoek &amp; data</a:t>
            </a:r>
          </a:p>
          <a:p>
            <a:r>
              <a:t>OPDRACHT: Zoek het enige uur waarop jullie alle vier wakker zijn.</a:t>
            </a:r>
          </a:p>
          <a:p>
            <a:r>
              <a:t>DE REGEL: Iedereen moet tussen 8:00 en 22:00 lokale tijd zitten. Eén persoon buiten dat venster en het voorstel valt af.</a:t>
            </a:r>
          </a:p>
          <a:p>
            <a:r>
              <a:t>VERLOOP: Mirad las cuatro zonas horarias. | Probad una hora. ¿Quién duerme? | Buscad la ventana común. | Escribid la invitación con la hora de cada uno.</a:t>
            </a:r>
          </a:p>
          <a:p>
            <a:r>
              <a:t>SLEUTEL: Venster: 15:00–22:00 Belgische tijd. Dan is het 8:00–15:00 in Mexico en 9:00–16:00 in Cusco.  ||  16:00 Belgisch is een veilige keuze: 9:00 in CDMX, 10:00 in Cusco, 16:00 in Sevilla.  ||  Sevilla en Gante delen de tijdzone — dat is de gratis vereenvoudiging die de klas meestal over het hoofd ziet.  ||  Verschillen zijn winterwaarden; met zomertijd schuift het één uur. Vermeld dat als een leerling ernaar vraagt.</a:t>
            </a:r>
          </a:p>
          <a:p>
            <a:r>
              <a:t>NOTA: Reken met hele uren. Zodra de klas over zomertijd begint, wordt het een rekenles in plaats van een taalles.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8 · Negocia el despertador — ⚖️ onderhandeling &amp; dilemma</a:t>
            </a:r>
          </a:p>
          <a:p>
            <a:r>
              <a:t>OPDRACHT: Onderhandel één gezamenlijk schema. Jullie moeten allebei iets opgeven.</a:t>
            </a:r>
          </a:p>
          <a:p>
            <a:r>
              <a:t>DE REGEL: Elk voorstel bevat een uur én een reden met «porque». Een voorstel zonder reden mag de ander zonder meer weigeren.</a:t>
            </a:r>
          </a:p>
          <a:p>
            <a:r>
              <a:t>VERLOOP: Coge tu rol. No lo enseñes. | Propón tu hora con una razón. | Ceded hasta llegar a un acuerdo. | Escribid la hora final en la pizarra.</a:t>
            </a:r>
          </a:p>
          <a:p>
            <a:r>
              <a:t>SLEUTEL: Er is geen juiste uitkomst, wel een toetsbare: bevat elk voorstel een uur én «porque», en heeft élk van de twee iets opgegeven?  ||  De meest gevonden oplossing: wekker om 6:45 met de douche 's avonds voor Álex, en een slaapmasker voor Noa.  ||  Let op «poder»: «no puedo levantarme» — de o→ue-verandering zit precies in het werkwoord dat de hele onderhandeling draagt.</a:t>
            </a:r>
          </a:p>
          <a:p>
            <a:r>
              <a:t>NOTA: Geef de rollen echt gescheiden. Zien de leerlingen elkaars kaart, dan verdwijnt de onderhandeling en blijft er een invuloefening over.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10 · La coartada — 🕵️ forensisch</a:t>
            </a:r>
          </a:p>
          <a:p>
            <a:r>
              <a:t>OPDRACHT: Per twee verzinnen jullie een alibi met vijf uren. De klas verhoort jullie.</a:t>
            </a:r>
          </a:p>
          <a:p>
            <a:r>
              <a:t>DE REGEL: Jullie twee verhalen moeten op de vijf uren identiek zijn — maar jullie worden apart ondervraagd. Eén verschil en het alibi valt.</a:t>
            </a:r>
          </a:p>
          <a:p>
            <a:r>
              <a:t>VERLOOP: En parejas: inventad vuestra tarde, hora por hora. | Memorizad. No podéis mirar notas en el interrogatorio. | Uno sale del aula. La clase interroga al otro. | Entra el segundo. ¿Coinciden?</a:t>
            </a:r>
          </a:p>
          <a:p>
            <a:r>
              <a:t>SLEUTEL: Het alibi valt bijna altijd op vraag 3 of 5: de bezigheid en de getuige worden zelden even gedetailleerd afgesproken als de uren.  ||  Alles blijft in het presente: de vragen staan hier in de verleden tijd omdat de leerkracht ze stelt, maar de antwoorden mogen in het presente («a las cinco estamos en el parque»). Geen verleden tijd vragen van de leerlingen.  ||  Wie een detail vergeet, mag het niet verzinnen: dan valt het alibi. Dat is de motor.</a:t>
            </a:r>
          </a:p>
          <a:p>
            <a:r>
              <a:t>NOTA: Werkt met maximaal zes duo's; daarna zakt de spanning. Laat de rest van de klas de tegenstrijdigheden noteren, dan luistert iedereen mee.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slide" Target="slide5.xml"/><Relationship Id="rId4" Type="http://schemas.openxmlformats.org/officeDocument/2006/relationships/slide" Target="slide8.xml"/><Relationship Id="rId5" Type="http://schemas.openxmlformats.org/officeDocument/2006/relationships/slide" Target="slide15.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20.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29768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297680"/>
            <a:ext cx="12191695" cy="82296"/>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3108960" cy="32918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6000" b="1" i="0">
                <a:solidFill>
                  <a:srgbClr val="2EB085"/>
                </a:solidFill>
                <a:latin typeface="Bricolage Grotesque"/>
              </a:rPr>
              <a:t>3</a:t>
            </a:r>
          </a:p>
        </p:txBody>
      </p:sp>
      <p:sp>
        <p:nvSpPr>
          <p:cNvPr id="6" name="Rounded Rectangle 5"/>
          <p:cNvSpPr/>
          <p:nvPr/>
        </p:nvSpPr>
        <p:spPr>
          <a:xfrm>
            <a:off x="3977639" y="777240"/>
            <a:ext cx="289499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57355"/>
                </a:solidFill>
                <a:latin typeface="Inter"/>
              </a:rPr>
              <a:t>LA RUTA · PARADA 3 · BARCELONA 🇪🇸</a:t>
            </a:r>
          </a:p>
        </p:txBody>
      </p:sp>
      <p:sp>
        <p:nvSpPr>
          <p:cNvPr id="7" name="TextBox 6"/>
          <p:cNvSpPr txBox="1"/>
          <p:nvPr/>
        </p:nvSpPr>
        <p:spPr>
          <a:xfrm>
            <a:off x="3931920" y="1234440"/>
            <a:ext cx="7863840" cy="13716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6000" b="1" i="0">
                <a:solidFill>
                  <a:srgbClr val="FFFFFF"/>
                </a:solidFill>
                <a:latin typeface="Bricolage Grotesque"/>
              </a:rPr>
              <a:t>El tiempo vuela</a:t>
            </a:r>
          </a:p>
        </p:txBody>
      </p:sp>
      <p:sp>
        <p:nvSpPr>
          <p:cNvPr id="8" name="TextBox 7"/>
          <p:cNvSpPr txBox="1"/>
          <p:nvPr/>
        </p:nvSpPr>
        <p:spPr>
          <a:xfrm>
            <a:off x="3977639" y="2377440"/>
            <a:ext cx="7680960" cy="5486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500" b="0" i="1">
                <a:solidFill>
                  <a:srgbClr val="E4F4EE"/>
                </a:solidFill>
                <a:latin typeface="Inter"/>
              </a:rPr>
              <a:t>La hora · la rutina · el presente irregular — en Barcelona, con Lucía y Pau.</a:t>
            </a:r>
          </a:p>
        </p:txBody>
      </p:sp>
      <p:sp>
        <p:nvSpPr>
          <p:cNvPr id="9" name="TextBox 8"/>
          <p:cNvSpPr txBox="1"/>
          <p:nvPr/>
        </p:nvSpPr>
        <p:spPr>
          <a:xfrm>
            <a:off x="3977639" y="2971800"/>
            <a:ext cx="7680960" cy="8229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2400" b="1" i="0">
                <a:solidFill>
                  <a:srgbClr val="FFFFFF"/>
                </a:solidFill>
                <a:latin typeface="Bricolage Grotesque"/>
              </a:rPr>
              <a:t>¿Qué hora es… y qué haces cada día?</a:t>
            </a:r>
          </a:p>
          <a:p>
            <a:pPr algn="l">
              <a:lnSpc>
                <a:spcPct val="106000"/>
              </a:lnSpc>
              <a:spcBef>
                <a:spcPts val="0"/>
              </a:spcBef>
              <a:spcAft>
                <a:spcPts val="200"/>
              </a:spcAft>
            </a:pPr>
            <a:r>
              <a:rPr sz="1300" b="0" i="1">
                <a:solidFill>
                  <a:srgbClr val="E4F4EE"/>
                </a:solidFill>
                <a:latin typeface="Inter"/>
              </a:rPr>
              <a:t>Hoe laat is het… en wat doe je elke dag?</a:t>
            </a:r>
          </a:p>
        </p:txBody>
      </p:sp>
      <p:sp>
        <p:nvSpPr>
          <p:cNvPr id="10" name="TextBox 9"/>
          <p:cNvSpPr txBox="1"/>
          <p:nvPr/>
        </p:nvSpPr>
        <p:spPr>
          <a:xfrm>
            <a:off x="548640" y="452628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La gente de la ruta — je reisgezellen</a:t>
            </a:r>
          </a:p>
        </p:txBody>
      </p:sp>
      <p:pic>
        <p:nvPicPr>
          <p:cNvPr id="11" name="Picture 10" descr="lucia.png"/>
          <p:cNvPicPr>
            <a:picLocks noChangeAspect="1"/>
          </p:cNvPicPr>
          <p:nvPr/>
        </p:nvPicPr>
        <p:blipFill>
          <a:blip r:embed="rId2"/>
          <a:stretch>
            <a:fillRect/>
          </a:stretch>
        </p:blipFill>
        <p:spPr>
          <a:xfrm>
            <a:off x="548640" y="4937760"/>
            <a:ext cx="914400" cy="914400"/>
          </a:xfrm>
          <a:prstGeom prst="rect">
            <a:avLst/>
          </a:prstGeom>
        </p:spPr>
      </p:pic>
      <p:sp>
        <p:nvSpPr>
          <p:cNvPr id="12" name="TextBox 11"/>
          <p:cNvSpPr txBox="1"/>
          <p:nvPr/>
        </p:nvSpPr>
        <p:spPr>
          <a:xfrm>
            <a:off x="411480"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Lucia</a:t>
            </a:r>
          </a:p>
          <a:p>
            <a:pPr algn="ctr">
              <a:lnSpc>
                <a:spcPct val="106000"/>
              </a:lnSpc>
              <a:spcBef>
                <a:spcPts val="0"/>
              </a:spcBef>
              <a:spcAft>
                <a:spcPts val="200"/>
              </a:spcAft>
            </a:pPr>
            <a:r>
              <a:rPr sz="850" b="0" i="0">
                <a:solidFill>
                  <a:srgbClr val="6A6E78"/>
                </a:solidFill>
                <a:latin typeface="Inter"/>
              </a:rPr>
              <a:t>Sevilla 🇪🇸</a:t>
            </a:r>
          </a:p>
        </p:txBody>
      </p:sp>
      <p:pic>
        <p:nvPicPr>
          <p:cNvPr id="13" name="Picture 12" descr="diego.png"/>
          <p:cNvPicPr>
            <a:picLocks noChangeAspect="1"/>
          </p:cNvPicPr>
          <p:nvPr/>
        </p:nvPicPr>
        <p:blipFill>
          <a:blip r:embed="rId3"/>
          <a:stretch>
            <a:fillRect/>
          </a:stretch>
        </p:blipFill>
        <p:spPr>
          <a:xfrm>
            <a:off x="2423159" y="4937760"/>
            <a:ext cx="914400" cy="914400"/>
          </a:xfrm>
          <a:prstGeom prst="rect">
            <a:avLst/>
          </a:prstGeom>
        </p:spPr>
      </p:pic>
      <p:sp>
        <p:nvSpPr>
          <p:cNvPr id="14" name="TextBox 13"/>
          <p:cNvSpPr txBox="1"/>
          <p:nvPr/>
        </p:nvSpPr>
        <p:spPr>
          <a:xfrm>
            <a:off x="2285999"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Diego</a:t>
            </a:r>
          </a:p>
          <a:p>
            <a:pPr algn="ctr">
              <a:lnSpc>
                <a:spcPct val="106000"/>
              </a:lnSpc>
              <a:spcBef>
                <a:spcPts val="0"/>
              </a:spcBef>
              <a:spcAft>
                <a:spcPts val="200"/>
              </a:spcAft>
            </a:pPr>
            <a:r>
              <a:rPr sz="850" b="0" i="0">
                <a:solidFill>
                  <a:srgbClr val="6A6E78"/>
                </a:solidFill>
                <a:latin typeface="Inter"/>
              </a:rPr>
              <a:t>CDMX 🇲🇽</a:t>
            </a:r>
          </a:p>
        </p:txBody>
      </p:sp>
      <p:pic>
        <p:nvPicPr>
          <p:cNvPr id="15" name="Picture 14" descr="valen.png"/>
          <p:cNvPicPr>
            <a:picLocks noChangeAspect="1"/>
          </p:cNvPicPr>
          <p:nvPr/>
        </p:nvPicPr>
        <p:blipFill>
          <a:blip r:embed="rId4"/>
          <a:stretch>
            <a:fillRect/>
          </a:stretch>
        </p:blipFill>
        <p:spPr>
          <a:xfrm>
            <a:off x="4297678" y="4937760"/>
            <a:ext cx="914400" cy="914400"/>
          </a:xfrm>
          <a:prstGeom prst="rect">
            <a:avLst/>
          </a:prstGeom>
        </p:spPr>
      </p:pic>
      <p:sp>
        <p:nvSpPr>
          <p:cNvPr id="16" name="TextBox 15"/>
          <p:cNvSpPr txBox="1"/>
          <p:nvPr/>
        </p:nvSpPr>
        <p:spPr>
          <a:xfrm>
            <a:off x="4160518"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Valen</a:t>
            </a:r>
          </a:p>
          <a:p>
            <a:pPr algn="ctr">
              <a:lnSpc>
                <a:spcPct val="106000"/>
              </a:lnSpc>
              <a:spcBef>
                <a:spcPts val="0"/>
              </a:spcBef>
              <a:spcAft>
                <a:spcPts val="200"/>
              </a:spcAft>
            </a:pPr>
            <a:r>
              <a:rPr sz="850" b="0" i="0">
                <a:solidFill>
                  <a:srgbClr val="6A6E78"/>
                </a:solidFill>
                <a:latin typeface="Inter"/>
              </a:rPr>
              <a:t>Cartagena 🇨🇴</a:t>
            </a:r>
          </a:p>
        </p:txBody>
      </p:sp>
      <p:pic>
        <p:nvPicPr>
          <p:cNvPr id="17" name="Picture 16" descr="nina.png"/>
          <p:cNvPicPr>
            <a:picLocks noChangeAspect="1"/>
          </p:cNvPicPr>
          <p:nvPr/>
        </p:nvPicPr>
        <p:blipFill>
          <a:blip r:embed="rId5"/>
          <a:stretch>
            <a:fillRect/>
          </a:stretch>
        </p:blipFill>
        <p:spPr>
          <a:xfrm>
            <a:off x="6172197" y="4937760"/>
            <a:ext cx="914400" cy="914400"/>
          </a:xfrm>
          <a:prstGeom prst="rect">
            <a:avLst/>
          </a:prstGeom>
        </p:spPr>
      </p:pic>
      <p:sp>
        <p:nvSpPr>
          <p:cNvPr id="18" name="TextBox 17"/>
          <p:cNvSpPr txBox="1"/>
          <p:nvPr/>
        </p:nvSpPr>
        <p:spPr>
          <a:xfrm>
            <a:off x="6035037"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Nina</a:t>
            </a:r>
          </a:p>
          <a:p>
            <a:pPr algn="ctr">
              <a:lnSpc>
                <a:spcPct val="106000"/>
              </a:lnSpc>
              <a:spcBef>
                <a:spcPts val="0"/>
              </a:spcBef>
              <a:spcAft>
                <a:spcPts val="200"/>
              </a:spcAft>
            </a:pPr>
            <a:r>
              <a:rPr sz="850" b="0" i="0">
                <a:solidFill>
                  <a:srgbClr val="6A6E78"/>
                </a:solidFill>
                <a:latin typeface="Inter"/>
              </a:rPr>
              <a:t>Cusco 🇵🇪</a:t>
            </a:r>
          </a:p>
        </p:txBody>
      </p:sp>
      <p:pic>
        <p:nvPicPr>
          <p:cNvPr id="19" name="Picture 18" descr="tu.png"/>
          <p:cNvPicPr>
            <a:picLocks noChangeAspect="1"/>
          </p:cNvPicPr>
          <p:nvPr/>
        </p:nvPicPr>
        <p:blipFill>
          <a:blip r:embed="rId6"/>
          <a:stretch>
            <a:fillRect/>
          </a:stretch>
        </p:blipFill>
        <p:spPr>
          <a:xfrm>
            <a:off x="8046716" y="4937760"/>
            <a:ext cx="914400" cy="914400"/>
          </a:xfrm>
          <a:prstGeom prst="rect">
            <a:avLst/>
          </a:prstGeom>
        </p:spPr>
      </p:pic>
      <p:sp>
        <p:nvSpPr>
          <p:cNvPr id="20" name="TextBox 19"/>
          <p:cNvSpPr txBox="1"/>
          <p:nvPr/>
        </p:nvSpPr>
        <p:spPr>
          <a:xfrm>
            <a:off x="7909556"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Tú</a:t>
            </a:r>
          </a:p>
          <a:p>
            <a:pPr algn="ctr">
              <a:lnSpc>
                <a:spcPct val="106000"/>
              </a:lnSpc>
              <a:spcBef>
                <a:spcPts val="0"/>
              </a:spcBef>
              <a:spcAft>
                <a:spcPts val="200"/>
              </a:spcAft>
            </a:pPr>
            <a:r>
              <a:rPr sz="850" b="0" i="0">
                <a:solidFill>
                  <a:srgbClr val="6A6E78"/>
                </a:solidFill>
                <a:latin typeface="Inter"/>
              </a:rPr>
              <a:t>de reiziger = jij</a:t>
            </a:r>
          </a:p>
        </p:txBody>
      </p:sp>
      <p:pic>
        <p:nvPicPr>
          <p:cNvPr id="21" name="Picture 20" descr="mochila.png"/>
          <p:cNvPicPr>
            <a:picLocks noChangeAspect="1"/>
          </p:cNvPicPr>
          <p:nvPr/>
        </p:nvPicPr>
        <p:blipFill>
          <a:blip r:embed="rId7"/>
          <a:stretch>
            <a:fillRect/>
          </a:stretch>
        </p:blipFill>
        <p:spPr>
          <a:xfrm>
            <a:off x="9921235" y="4937760"/>
            <a:ext cx="914400" cy="914400"/>
          </a:xfrm>
          <a:prstGeom prst="rect">
            <a:avLst/>
          </a:prstGeom>
        </p:spPr>
      </p:pic>
      <p:sp>
        <p:nvSpPr>
          <p:cNvPr id="22" name="TextBox 21"/>
          <p:cNvSpPr txBox="1"/>
          <p:nvPr/>
        </p:nvSpPr>
        <p:spPr>
          <a:xfrm>
            <a:off x="9784075"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Mochila</a:t>
            </a:r>
          </a:p>
          <a:p>
            <a:pPr algn="ctr">
              <a:lnSpc>
                <a:spcPct val="106000"/>
              </a:lnSpc>
              <a:spcBef>
                <a:spcPts val="0"/>
              </a:spcBef>
              <a:spcAft>
                <a:spcPts val="200"/>
              </a:spcAft>
            </a:pPr>
            <a:r>
              <a:rPr sz="850" b="0" i="0">
                <a:solidFill>
                  <a:srgbClr val="6A6E78"/>
                </a:solidFill>
                <a:latin typeface="Inter"/>
              </a:rPr>
              <a:t>La mochila</a:t>
            </a:r>
          </a:p>
        </p:txBody>
      </p:sp>
      <p:sp>
        <p:nvSpPr>
          <p:cNvPr id="23" name="Rectangle 2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25" name="TextBox 2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26" name="TextBox 2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63311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MENÚ DE LA LECCIÓN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3</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mapa de la Unidad 3</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Kies je route — klik een tegel. Alles oefent naar de Tarea «Un día en mi vida» toe.</a:t>
            </a:r>
          </a:p>
        </p:txBody>
      </p:sp>
      <p:sp>
        <p:nvSpPr>
          <p:cNvPr id="9" name="Rounded Rectangle 8">
            <a:hlinkClick action="ppaction://hlinksldjump" r:id="rId2"/>
          </p:cNvPr>
          <p:cNvSpPr/>
          <p:nvPr/>
        </p:nvSpPr>
        <p:spPr>
          <a:xfrm>
            <a:off x="457200"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hlinkClick action="ppaction://hlinksldjump" r:id="rId2"/>
          </p:cNvPr>
          <p:cNvSpPr/>
          <p:nvPr/>
        </p:nvSpPr>
        <p:spPr>
          <a:xfrm>
            <a:off x="457200"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§1</a:t>
            </a:r>
          </a:p>
        </p:txBody>
      </p:sp>
      <p:sp>
        <p:nvSpPr>
          <p:cNvPr id="12" name="TextBox 11"/>
          <p:cNvSpPr txBox="1"/>
          <p:nvPr/>
        </p:nvSpPr>
        <p:spPr>
          <a:xfrm>
            <a:off x="987552"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La hora</a:t>
            </a:r>
          </a:p>
        </p:txBody>
      </p:sp>
      <p:sp>
        <p:nvSpPr>
          <p:cNvPr id="13" name="TextBox 12"/>
          <p:cNvSpPr txBox="1"/>
          <p:nvPr/>
        </p:nvSpPr>
        <p:spPr>
          <a:xfrm>
            <a:off x="621792"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¿Qué hora es? · y media · ¿a qué hora?</a:t>
            </a:r>
          </a:p>
        </p:txBody>
      </p:sp>
      <p:sp>
        <p:nvSpPr>
          <p:cNvPr id="14" name="Rounded Rectangle 13"/>
          <p:cNvSpPr/>
          <p:nvPr/>
        </p:nvSpPr>
        <p:spPr>
          <a:xfrm>
            <a:off x="621792" y="3246120"/>
            <a:ext cx="707745"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3</a:t>
            </a:r>
          </a:p>
        </p:txBody>
      </p:sp>
      <p:sp>
        <p:nvSpPr>
          <p:cNvPr id="15" name="Rounded Rectangle 14">
            <a:hlinkClick action="ppaction://hlinksldjump" r:id="rId3"/>
          </p:cNvPr>
          <p:cNvSpPr/>
          <p:nvPr/>
        </p:nvSpPr>
        <p:spPr>
          <a:xfrm>
            <a:off x="3328416"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hlinkClick action="ppaction://hlinksldjump" r:id="rId3"/>
          </p:cNvPr>
          <p:cNvSpPr/>
          <p:nvPr/>
        </p:nvSpPr>
        <p:spPr>
          <a:xfrm>
            <a:off x="3328416"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438144"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§2</a:t>
            </a:r>
          </a:p>
        </p:txBody>
      </p:sp>
      <p:sp>
        <p:nvSpPr>
          <p:cNvPr id="18" name="TextBox 17"/>
          <p:cNvSpPr txBox="1"/>
          <p:nvPr/>
        </p:nvSpPr>
        <p:spPr>
          <a:xfrm>
            <a:off x="3858768"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Mi rutina</a:t>
            </a:r>
          </a:p>
        </p:txBody>
      </p:sp>
      <p:sp>
        <p:nvSpPr>
          <p:cNvPr id="19" name="TextBox 18"/>
          <p:cNvSpPr txBox="1"/>
          <p:nvPr/>
        </p:nvSpPr>
        <p:spPr>
          <a:xfrm>
            <a:off x="3493008"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verbos reflexivos · me/te/se</a:t>
            </a:r>
          </a:p>
        </p:txBody>
      </p:sp>
      <p:sp>
        <p:nvSpPr>
          <p:cNvPr id="20" name="Rounded Rectangle 19"/>
          <p:cNvSpPr/>
          <p:nvPr/>
        </p:nvSpPr>
        <p:spPr>
          <a:xfrm>
            <a:off x="3493008" y="3246120"/>
            <a:ext cx="707745"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5</a:t>
            </a:r>
          </a:p>
        </p:txBody>
      </p:sp>
      <p:sp>
        <p:nvSpPr>
          <p:cNvPr id="21" name="Rounded Rectangle 20">
            <a:hlinkClick action="ppaction://hlinksldjump" r:id="rId4"/>
          </p:cNvPr>
          <p:cNvSpPr/>
          <p:nvPr/>
        </p:nvSpPr>
        <p:spPr>
          <a:xfrm>
            <a:off x="6199632"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hlinkClick action="ppaction://hlinksldjump" r:id="rId4"/>
          </p:cNvPr>
          <p:cNvSpPr/>
          <p:nvPr/>
        </p:nvSpPr>
        <p:spPr>
          <a:xfrm>
            <a:off x="6199632"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09360"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§3</a:t>
            </a:r>
          </a:p>
        </p:txBody>
      </p:sp>
      <p:sp>
        <p:nvSpPr>
          <p:cNvPr id="24" name="TextBox 23"/>
          <p:cNvSpPr txBox="1"/>
          <p:nvPr/>
        </p:nvSpPr>
        <p:spPr>
          <a:xfrm>
            <a:off x="6729984"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Presente irregular</a:t>
            </a:r>
          </a:p>
        </p:txBody>
      </p:sp>
      <p:sp>
        <p:nvSpPr>
          <p:cNvPr id="25" name="TextBox 24"/>
          <p:cNvSpPr txBox="1"/>
          <p:nvPr/>
        </p:nvSpPr>
        <p:spPr>
          <a:xfrm>
            <a:off x="6364224"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o→ue · e→ie · e→i · hacer/ir/salir</a:t>
            </a:r>
          </a:p>
        </p:txBody>
      </p:sp>
      <p:sp>
        <p:nvSpPr>
          <p:cNvPr id="26" name="Rounded Rectangle 25"/>
          <p:cNvSpPr/>
          <p:nvPr/>
        </p:nvSpPr>
        <p:spPr>
          <a:xfrm>
            <a:off x="6364224" y="3246120"/>
            <a:ext cx="707745"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8</a:t>
            </a:r>
          </a:p>
        </p:txBody>
      </p:sp>
      <p:sp>
        <p:nvSpPr>
          <p:cNvPr id="27" name="Rounded Rectangle 26">
            <a:hlinkClick action="ppaction://hlinksldjump" r:id="rId5"/>
          </p:cNvPr>
          <p:cNvSpPr/>
          <p:nvPr/>
        </p:nvSpPr>
        <p:spPr>
          <a:xfrm>
            <a:off x="9070848"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5"/>
          </p:cNvPr>
          <p:cNvSpPr/>
          <p:nvPr/>
        </p:nvSpPr>
        <p:spPr>
          <a:xfrm>
            <a:off x="9070848"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180576"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§4</a:t>
            </a:r>
          </a:p>
        </p:txBody>
      </p:sp>
      <p:sp>
        <p:nvSpPr>
          <p:cNvPr id="30" name="TextBox 29"/>
          <p:cNvSpPr txBox="1"/>
          <p:nvPr/>
        </p:nvSpPr>
        <p:spPr>
          <a:xfrm>
            <a:off x="9601200"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Frecuencia + tiempo</a:t>
            </a:r>
          </a:p>
        </p:txBody>
      </p:sp>
      <p:sp>
        <p:nvSpPr>
          <p:cNvPr id="31" name="TextBox 30"/>
          <p:cNvSpPr txBox="1"/>
          <p:nvPr/>
        </p:nvSpPr>
        <p:spPr>
          <a:xfrm>
            <a:off x="9235440"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siempre/nunca · días · meses</a:t>
            </a:r>
          </a:p>
        </p:txBody>
      </p:sp>
      <p:sp>
        <p:nvSpPr>
          <p:cNvPr id="32" name="Rounded Rectangle 31"/>
          <p:cNvSpPr/>
          <p:nvPr/>
        </p:nvSpPr>
        <p:spPr>
          <a:xfrm>
            <a:off x="9235440" y="324612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15</a:t>
            </a:r>
          </a:p>
        </p:txBody>
      </p:sp>
      <p:sp>
        <p:nvSpPr>
          <p:cNvPr id="33" name="Rounded Rectangle 32">
            <a:hlinkClick action="ppaction://hlinksldjump" r:id="rId6"/>
          </p:cNvPr>
          <p:cNvSpPr/>
          <p:nvPr/>
        </p:nvSpPr>
        <p:spPr>
          <a:xfrm>
            <a:off x="457200" y="3840480"/>
            <a:ext cx="2743200" cy="2240280"/>
          </a:xfrm>
          <a:prstGeom prst="roundRect">
            <a:avLst>
              <a:gd name="adj" fmla="val 5500"/>
            </a:avLst>
          </a:prstGeom>
          <a:solidFill>
            <a:srgbClr val="FFFFFF"/>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a:hlinkClick action="ppaction://hlinksldjump" r:id="rId6"/>
          </p:cNvPr>
          <p:cNvSpPr/>
          <p:nvPr/>
        </p:nvSpPr>
        <p:spPr>
          <a:xfrm>
            <a:off x="457200" y="3840480"/>
            <a:ext cx="2743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66928"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57355"/>
                </a:solidFill>
                <a:latin typeface="Bricolage Grotesque"/>
              </a:rPr>
              <a:t>📖</a:t>
            </a:r>
          </a:p>
        </p:txBody>
      </p:sp>
      <p:sp>
        <p:nvSpPr>
          <p:cNvPr id="36" name="TextBox 35"/>
          <p:cNvSpPr txBox="1"/>
          <p:nvPr/>
        </p:nvSpPr>
        <p:spPr>
          <a:xfrm>
            <a:off x="987552"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Lectura + escuchar</a:t>
            </a:r>
          </a:p>
        </p:txBody>
      </p:sp>
      <p:sp>
        <p:nvSpPr>
          <p:cNvPr id="37" name="TextBox 36"/>
          <p:cNvSpPr txBox="1"/>
          <p:nvPr/>
        </p:nvSpPr>
        <p:spPr>
          <a:xfrm>
            <a:off x="621792"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el día de Pau · la hora</a:t>
            </a:r>
          </a:p>
        </p:txBody>
      </p:sp>
      <p:sp>
        <p:nvSpPr>
          <p:cNvPr id="38" name="Rounded Rectangle 37"/>
          <p:cNvSpPr/>
          <p:nvPr/>
        </p:nvSpPr>
        <p:spPr>
          <a:xfrm>
            <a:off x="621792"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11</a:t>
            </a:r>
          </a:p>
        </p:txBody>
      </p:sp>
      <p:sp>
        <p:nvSpPr>
          <p:cNvPr id="39" name="Rounded Rectangle 38">
            <a:hlinkClick action="ppaction://hlinksldjump" r:id="rId7"/>
          </p:cNvPr>
          <p:cNvSpPr/>
          <p:nvPr/>
        </p:nvSpPr>
        <p:spPr>
          <a:xfrm>
            <a:off x="3328416" y="3840480"/>
            <a:ext cx="2743200" cy="2240280"/>
          </a:xfrm>
          <a:prstGeom prst="roundRect">
            <a:avLst>
              <a:gd name="adj" fmla="val 5500"/>
            </a:avLst>
          </a:prstGeom>
          <a:solidFill>
            <a:srgbClr val="FFFFFF"/>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a:hlinkClick action="ppaction://hlinksldjump" r:id="rId7"/>
          </p:cNvPr>
          <p:cNvSpPr/>
          <p:nvPr/>
        </p:nvSpPr>
        <p:spPr>
          <a:xfrm>
            <a:off x="3328416" y="3840480"/>
            <a:ext cx="2743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438144"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57355"/>
                </a:solidFill>
                <a:latin typeface="Bricolage Grotesque"/>
              </a:rPr>
              <a:t>✈</a:t>
            </a:r>
          </a:p>
        </p:txBody>
      </p:sp>
      <p:sp>
        <p:nvSpPr>
          <p:cNvPr id="42" name="TextBox 41"/>
          <p:cNvSpPr txBox="1"/>
          <p:nvPr/>
        </p:nvSpPr>
        <p:spPr>
          <a:xfrm>
            <a:off x="3858768"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Tarea · Un día en mi vida</a:t>
            </a:r>
          </a:p>
        </p:txBody>
      </p:sp>
      <p:sp>
        <p:nvSpPr>
          <p:cNvPr id="43" name="TextBox 42"/>
          <p:cNvSpPr txBox="1"/>
          <p:nvPr/>
        </p:nvSpPr>
        <p:spPr>
          <a:xfrm>
            <a:off x="3493008"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vlog/tekst + presentarlo</a:t>
            </a:r>
          </a:p>
        </p:txBody>
      </p:sp>
      <p:sp>
        <p:nvSpPr>
          <p:cNvPr id="44" name="Rounded Rectangle 43"/>
          <p:cNvSpPr/>
          <p:nvPr/>
        </p:nvSpPr>
        <p:spPr>
          <a:xfrm>
            <a:off x="3493008"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19</a:t>
            </a:r>
          </a:p>
        </p:txBody>
      </p:sp>
      <p:sp>
        <p:nvSpPr>
          <p:cNvPr id="45" name="Rounded Rectangle 44">
            <a:hlinkClick action="ppaction://hlinksldjump" r:id="rId8"/>
          </p:cNvPr>
          <p:cNvSpPr/>
          <p:nvPr/>
        </p:nvSpPr>
        <p:spPr>
          <a:xfrm>
            <a:off x="6199632" y="3840480"/>
            <a:ext cx="2743200" cy="2240280"/>
          </a:xfrm>
          <a:prstGeom prst="roundRect">
            <a:avLst>
              <a:gd name="adj" fmla="val 5500"/>
            </a:avLst>
          </a:prstGeom>
          <a:solidFill>
            <a:srgbClr val="FFFFFF"/>
          </a:solidFill>
          <a:ln w="2032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a:hlinkClick action="ppaction://hlinksldjump" r:id="rId8"/>
          </p:cNvPr>
          <p:cNvSpPr/>
          <p:nvPr/>
        </p:nvSpPr>
        <p:spPr>
          <a:xfrm>
            <a:off x="6199632" y="3840480"/>
            <a:ext cx="2743200" cy="457200"/>
          </a:xfrm>
          <a:prstGeom prst="rect">
            <a:avLst/>
          </a:prstGeom>
          <a:solidFill>
            <a:srgbClr val="B7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309360"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B7860B"/>
                </a:solidFill>
                <a:latin typeface="Bricolage Grotesque"/>
              </a:rPr>
              <a:t>?</a:t>
            </a:r>
          </a:p>
        </p:txBody>
      </p:sp>
      <p:sp>
        <p:nvSpPr>
          <p:cNvPr id="48" name="TextBox 47"/>
          <p:cNvSpPr txBox="1"/>
          <p:nvPr/>
        </p:nvSpPr>
        <p:spPr>
          <a:xfrm>
            <a:off x="6729984"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Quiz «La mezcla»</a:t>
            </a:r>
          </a:p>
        </p:txBody>
      </p:sp>
      <p:sp>
        <p:nvSpPr>
          <p:cNvPr id="49" name="TextBox 48"/>
          <p:cNvSpPr txBox="1"/>
          <p:nvPr/>
        </p:nvSpPr>
        <p:spPr>
          <a:xfrm>
            <a:off x="6364224"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gemengde ophaal — mét oplossing</a:t>
            </a:r>
          </a:p>
        </p:txBody>
      </p:sp>
      <p:sp>
        <p:nvSpPr>
          <p:cNvPr id="50" name="Rounded Rectangle 49"/>
          <p:cNvSpPr/>
          <p:nvPr/>
        </p:nvSpPr>
        <p:spPr>
          <a:xfrm>
            <a:off x="6364224"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20</a:t>
            </a:r>
          </a:p>
        </p:txBody>
      </p:sp>
      <p:sp>
        <p:nvSpPr>
          <p:cNvPr id="51" name="Rounded Rectangle 50">
            <a:hlinkClick action="ppaction://hlinksldjump" r:id="rId9"/>
          </p:cNvPr>
          <p:cNvSpPr/>
          <p:nvPr/>
        </p:nvSpPr>
        <p:spPr>
          <a:xfrm>
            <a:off x="9070848" y="3840480"/>
            <a:ext cx="2743200" cy="2240280"/>
          </a:xfrm>
          <a:prstGeom prst="roundRect">
            <a:avLst>
              <a:gd name="adj" fmla="val 5500"/>
            </a:avLst>
          </a:prstGeom>
          <a:solidFill>
            <a:srgbClr val="FFFFFF"/>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a:hlinkClick action="ppaction://hlinksldjump" r:id="rId9"/>
          </p:cNvPr>
          <p:cNvSpPr/>
          <p:nvPr/>
        </p:nvSpPr>
        <p:spPr>
          <a:xfrm>
            <a:off x="9070848" y="3840480"/>
            <a:ext cx="2743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9180576"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57355"/>
                </a:solidFill>
                <a:latin typeface="Bricolage Grotesque"/>
              </a:rPr>
              <a:t>◎</a:t>
            </a:r>
          </a:p>
        </p:txBody>
      </p:sp>
      <p:sp>
        <p:nvSpPr>
          <p:cNvPr id="54" name="TextBox 53"/>
          <p:cNvSpPr txBox="1"/>
          <p:nvPr/>
        </p:nvSpPr>
        <p:spPr>
          <a:xfrm>
            <a:off x="9601200"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Repaso + semáforo</a:t>
            </a:r>
          </a:p>
        </p:txBody>
      </p:sp>
      <p:sp>
        <p:nvSpPr>
          <p:cNvPr id="55" name="TextBox 54"/>
          <p:cNvSpPr txBox="1"/>
          <p:nvPr/>
        </p:nvSpPr>
        <p:spPr>
          <a:xfrm>
            <a:off x="9235440"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lo esencial · zelfevaluatie</a:t>
            </a:r>
          </a:p>
        </p:txBody>
      </p:sp>
      <p:sp>
        <p:nvSpPr>
          <p:cNvPr id="56" name="Rounded Rectangle 55"/>
          <p:cNvSpPr/>
          <p:nvPr/>
        </p:nvSpPr>
        <p:spPr>
          <a:xfrm>
            <a:off x="9235440"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21</a:t>
            </a:r>
          </a:p>
        </p:txBody>
      </p:sp>
      <p:sp>
        <p:nvSpPr>
          <p:cNvPr id="57" name="Rectangle 56"/>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59" name="TextBox 58"/>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60" name="TextBox 59"/>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§1 · GRAMÁTICA VISUAL</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¿Qué hora es?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Klik een klok → de tijd verschijnt. Es la UNA (1u) · Son LAS dos… (≥2u).</a:t>
            </a:r>
          </a:p>
        </p:txBody>
      </p:sp>
      <p:sp>
        <p:nvSpPr>
          <p:cNvPr id="9" name="Rounded Rectangle 8"/>
          <p:cNvSpPr/>
          <p:nvPr/>
        </p:nvSpPr>
        <p:spPr>
          <a:xfrm>
            <a:off x="457200" y="1554480"/>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54480"/>
            <a:ext cx="14630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1:00</a:t>
            </a:r>
          </a:p>
        </p:txBody>
      </p:sp>
      <p:sp>
        <p:nvSpPr>
          <p:cNvPr id="11" name="TextBox 10"/>
          <p:cNvSpPr txBox="1"/>
          <p:nvPr/>
        </p:nvSpPr>
        <p:spPr>
          <a:xfrm>
            <a:off x="2194560" y="1554480"/>
            <a:ext cx="370332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Es la una</a:t>
            </a:r>
          </a:p>
        </p:txBody>
      </p:sp>
      <p:sp>
        <p:nvSpPr>
          <p:cNvPr id="12" name="Rounded Rectangle 11"/>
          <p:cNvSpPr/>
          <p:nvPr/>
        </p:nvSpPr>
        <p:spPr>
          <a:xfrm>
            <a:off x="457200" y="2359152"/>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59152"/>
            <a:ext cx="14630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2:30</a:t>
            </a:r>
          </a:p>
        </p:txBody>
      </p:sp>
      <p:sp>
        <p:nvSpPr>
          <p:cNvPr id="14" name="TextBox 13"/>
          <p:cNvSpPr txBox="1"/>
          <p:nvPr/>
        </p:nvSpPr>
        <p:spPr>
          <a:xfrm>
            <a:off x="2194560" y="2359152"/>
            <a:ext cx="370332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Son las dos y media</a:t>
            </a:r>
          </a:p>
        </p:txBody>
      </p:sp>
      <p:sp>
        <p:nvSpPr>
          <p:cNvPr id="15" name="Rounded Rectangle 14"/>
          <p:cNvSpPr/>
          <p:nvPr/>
        </p:nvSpPr>
        <p:spPr>
          <a:xfrm>
            <a:off x="457200" y="3163824"/>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63824"/>
            <a:ext cx="14630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3:15</a:t>
            </a:r>
          </a:p>
        </p:txBody>
      </p:sp>
      <p:sp>
        <p:nvSpPr>
          <p:cNvPr id="17" name="TextBox 16"/>
          <p:cNvSpPr txBox="1"/>
          <p:nvPr/>
        </p:nvSpPr>
        <p:spPr>
          <a:xfrm>
            <a:off x="2194560" y="3163824"/>
            <a:ext cx="370332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Son las tres y cuarto</a:t>
            </a:r>
          </a:p>
        </p:txBody>
      </p:sp>
      <p:sp>
        <p:nvSpPr>
          <p:cNvPr id="18" name="Rounded Rectangle 17"/>
          <p:cNvSpPr/>
          <p:nvPr/>
        </p:nvSpPr>
        <p:spPr>
          <a:xfrm>
            <a:off x="6172200" y="1554480"/>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554480"/>
            <a:ext cx="14630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4:45</a:t>
            </a:r>
          </a:p>
        </p:txBody>
      </p:sp>
      <p:sp>
        <p:nvSpPr>
          <p:cNvPr id="20" name="TextBox 19"/>
          <p:cNvSpPr txBox="1"/>
          <p:nvPr/>
        </p:nvSpPr>
        <p:spPr>
          <a:xfrm>
            <a:off x="7909560" y="1554480"/>
            <a:ext cx="370332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Son las cinco menos cuarto</a:t>
            </a:r>
          </a:p>
        </p:txBody>
      </p:sp>
      <p:sp>
        <p:nvSpPr>
          <p:cNvPr id="21" name="Rounded Rectangle 20"/>
          <p:cNvSpPr/>
          <p:nvPr/>
        </p:nvSpPr>
        <p:spPr>
          <a:xfrm>
            <a:off x="6172200" y="2359152"/>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2359152"/>
            <a:ext cx="14630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6:00</a:t>
            </a:r>
          </a:p>
        </p:txBody>
      </p:sp>
      <p:sp>
        <p:nvSpPr>
          <p:cNvPr id="23" name="TextBox 22"/>
          <p:cNvSpPr txBox="1"/>
          <p:nvPr/>
        </p:nvSpPr>
        <p:spPr>
          <a:xfrm>
            <a:off x="7909560" y="2359152"/>
            <a:ext cx="370332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Son las seis en punto</a:t>
            </a:r>
          </a:p>
        </p:txBody>
      </p:sp>
      <p:sp>
        <p:nvSpPr>
          <p:cNvPr id="24" name="Rounded Rectangle 23"/>
          <p:cNvSpPr/>
          <p:nvPr/>
        </p:nvSpPr>
        <p:spPr>
          <a:xfrm>
            <a:off x="6172200" y="3163824"/>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3163824"/>
            <a:ext cx="14630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9:20</a:t>
            </a:r>
          </a:p>
        </p:txBody>
      </p:sp>
      <p:sp>
        <p:nvSpPr>
          <p:cNvPr id="26" name="TextBox 25"/>
          <p:cNvSpPr txBox="1"/>
          <p:nvPr/>
        </p:nvSpPr>
        <p:spPr>
          <a:xfrm>
            <a:off x="7909560" y="3163824"/>
            <a:ext cx="370332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Son las nueve y veinte</a:t>
            </a:r>
          </a:p>
        </p:txBody>
      </p:sp>
      <p:sp>
        <p:nvSpPr>
          <p:cNvPr id="27" name="Rounded Rectangle 26"/>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8" name="Rounded Rectangle 2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29" name="Rounded Rectangle 28">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0" name="TextBox 2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1" name="Rounded Rectangle 30"/>
          <p:cNvSpPr/>
          <p:nvPr/>
        </p:nvSpPr>
        <p:spPr>
          <a:xfrm>
            <a:off x="457200" y="4480560"/>
            <a:ext cx="11247120" cy="86868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DC2626"/>
                </a:solidFill>
                <a:latin typeface="Inter"/>
              </a:rPr>
              <a:t>🔴 Es la una </a:t>
            </a:r>
            <a:r>
              <a:rPr sz="1200" b="0" i="0">
                <a:solidFill>
                  <a:srgbClr val="157355"/>
                </a:solidFill>
                <a:latin typeface="Inter"/>
              </a:rPr>
              <a:t>(enkelvoud, alléén 1 uur) · </a:t>
            </a:r>
            <a:r>
              <a:rPr sz="1200" b="1" i="0">
                <a:solidFill>
                  <a:srgbClr val="DC2626"/>
                </a:solidFill>
                <a:latin typeface="Inter"/>
              </a:rPr>
              <a:t>Son las </a:t>
            </a:r>
            <a:r>
              <a:rPr sz="1200" b="0" i="0">
                <a:solidFill>
                  <a:srgbClr val="157355"/>
                </a:solidFill>
                <a:latin typeface="Inter"/>
              </a:rPr>
              <a:t>dos, tres… (meervoud, vanaf 2 uur).</a:t>
            </a:r>
          </a:p>
          <a:p>
            <a:pPr>
              <a:lnSpc>
                <a:spcPct val="102000"/>
              </a:lnSpc>
              <a:spcBef>
                <a:spcPts val="0"/>
              </a:spcBef>
              <a:spcAft>
                <a:spcPts val="300"/>
              </a:spcAft>
            </a:pPr>
            <a:r>
              <a:rPr sz="1200" b="0" i="0">
                <a:solidFill>
                  <a:srgbClr val="157355"/>
                </a:solidFill>
                <a:latin typeface="Inter"/>
              </a:rPr>
              <a:t>y media / y cuarto (tot half) · menos cuarto (na half) · en punto (precies) · a las … de la mañana/tarde/noche.</a:t>
            </a:r>
          </a:p>
        </p:txBody>
      </p:sp>
      <p:sp>
        <p:nvSpPr>
          <p:cNvPr id="32" name="Rounded Rectangle 31"/>
          <p:cNvSpPr/>
          <p:nvPr/>
        </p:nvSpPr>
        <p:spPr>
          <a:xfrm>
            <a:off x="594360" y="435254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3" name="Rectangle 3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35" name="TextBox 3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6" name="TextBox 3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§2 · GRAMÁTICA VISUAL</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Mi rutina — la frase con color</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Kleur = taalfunctie. Reflexief pronomen (paars/oranje) vóór het werkwoord.</a:t>
            </a:r>
          </a:p>
        </p:txBody>
      </p:sp>
      <p:sp>
        <p:nvSpPr>
          <p:cNvPr id="9" name="TextBox 8"/>
          <p:cNvSpPr txBox="1"/>
          <p:nvPr/>
        </p:nvSpPr>
        <p:spPr>
          <a:xfrm>
            <a:off x="8869680" y="484632"/>
            <a:ext cx="118872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1" i="0">
                <a:solidFill>
                  <a:srgbClr val="6A6E78"/>
                </a:solidFill>
                <a:latin typeface="Inter"/>
              </a:rPr>
              <a:t>Kleurcode:</a:t>
            </a:r>
          </a:p>
        </p:txBody>
      </p:sp>
      <p:sp>
        <p:nvSpPr>
          <p:cNvPr id="10" name="Rounded Rectangle 9"/>
          <p:cNvSpPr/>
          <p:nvPr/>
        </p:nvSpPr>
        <p:spPr>
          <a:xfrm>
            <a:off x="9921240" y="521208"/>
            <a:ext cx="128016" cy="128016"/>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5832"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persoon</a:t>
            </a:r>
          </a:p>
        </p:txBody>
      </p:sp>
      <p:sp>
        <p:nvSpPr>
          <p:cNvPr id="12" name="Rounded Rectangle 11"/>
          <p:cNvSpPr/>
          <p:nvPr/>
        </p:nvSpPr>
        <p:spPr>
          <a:xfrm>
            <a:off x="10574121" y="521208"/>
            <a:ext cx="128016" cy="128016"/>
          </a:xfrm>
          <a:prstGeom prst="roundRect">
            <a:avLst>
              <a:gd name="adj" fmla="val 50000"/>
            </a:avLst>
          </a:prstGeom>
          <a:solidFill>
            <a:srgbClr val="EA7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38713"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werkw.</a:t>
            </a:r>
          </a:p>
        </p:txBody>
      </p:sp>
      <p:sp>
        <p:nvSpPr>
          <p:cNvPr id="14" name="Rounded Rectangle 13"/>
          <p:cNvSpPr/>
          <p:nvPr/>
        </p:nvSpPr>
        <p:spPr>
          <a:xfrm>
            <a:off x="11170309" y="521208"/>
            <a:ext cx="128016" cy="12801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334901"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tijd</a:t>
            </a:r>
          </a:p>
        </p:txBody>
      </p:sp>
      <p:sp>
        <p:nvSpPr>
          <p:cNvPr id="16" name="Rounded Rectangle 15"/>
          <p:cNvSpPr/>
          <p:nvPr/>
        </p:nvSpPr>
        <p:spPr>
          <a:xfrm>
            <a:off x="11653112" y="521208"/>
            <a:ext cx="128016" cy="128016"/>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17704"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plaats</a:t>
            </a:r>
          </a:p>
        </p:txBody>
      </p:sp>
      <p:sp>
        <p:nvSpPr>
          <p:cNvPr id="18" name="Rounded Rectangle 17"/>
          <p:cNvSpPr/>
          <p:nvPr/>
        </p:nvSpPr>
        <p:spPr>
          <a:xfrm>
            <a:off x="12249300" y="521208"/>
            <a:ext cx="128016" cy="128016"/>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413892"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valstrik</a:t>
            </a:r>
          </a:p>
        </p:txBody>
      </p:sp>
      <p:sp>
        <p:nvSpPr>
          <p:cNvPr id="20" name="Rounded Rectangle 19"/>
          <p:cNvSpPr/>
          <p:nvPr/>
        </p:nvSpPr>
        <p:spPr>
          <a:xfrm>
            <a:off x="457200" y="1554480"/>
            <a:ext cx="11247120" cy="1097280"/>
          </a:xfrm>
          <a:prstGeom prst="roundRect">
            <a:avLst>
              <a:gd name="adj" fmla="val 5500"/>
            </a:avLst>
          </a:prstGeom>
          <a:solidFill>
            <a:srgbClr val="E4F4EE"/>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1554480"/>
            <a:ext cx="10698480" cy="10972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400" b="1" i="0">
                <a:solidFill>
                  <a:srgbClr val="2563EB"/>
                </a:solidFill>
                <a:latin typeface="Bricolage Grotesque"/>
              </a:rPr>
              <a:t>Yo </a:t>
            </a:r>
            <a:r>
              <a:rPr sz="2400" b="1" i="0">
                <a:solidFill>
                  <a:srgbClr val="EA7317"/>
                </a:solidFill>
                <a:latin typeface="Bricolage Grotesque"/>
              </a:rPr>
              <a:t>me levanto </a:t>
            </a:r>
            <a:r>
              <a:rPr sz="2400" b="1" i="0">
                <a:solidFill>
                  <a:srgbClr val="7C3AED"/>
                </a:solidFill>
                <a:latin typeface="Bricolage Grotesque"/>
              </a:rPr>
              <a:t>a las siete, </a:t>
            </a:r>
            <a:r>
              <a:rPr sz="2400" b="1" i="0">
                <a:solidFill>
                  <a:srgbClr val="EA7317"/>
                </a:solidFill>
                <a:latin typeface="Bricolage Grotesque"/>
              </a:rPr>
              <a:t>me ducho </a:t>
            </a:r>
            <a:r>
              <a:rPr sz="2400" b="1" i="0">
                <a:solidFill>
                  <a:srgbClr val="20242E"/>
                </a:solidFill>
                <a:latin typeface="Bricolage Grotesque"/>
              </a:rPr>
              <a:t>y </a:t>
            </a:r>
            <a:r>
              <a:rPr sz="2400" b="1" i="0">
                <a:solidFill>
                  <a:srgbClr val="EA7317"/>
                </a:solidFill>
                <a:latin typeface="Bricolage Grotesque"/>
              </a:rPr>
              <a:t>empiezo </a:t>
            </a:r>
            <a:r>
              <a:rPr sz="2400" b="1" i="0">
                <a:solidFill>
                  <a:srgbClr val="14B8A6"/>
                </a:solidFill>
                <a:latin typeface="Bricolage Grotesque"/>
              </a:rPr>
              <a:t>en el instituto </a:t>
            </a:r>
            <a:r>
              <a:rPr sz="2400" b="1" i="0">
                <a:solidFill>
                  <a:srgbClr val="7C3AED"/>
                </a:solidFill>
                <a:latin typeface="Bricolage Grotesque"/>
              </a:rPr>
              <a:t>a las nueve.</a:t>
            </a:r>
          </a:p>
        </p:txBody>
      </p:sp>
      <p:sp>
        <p:nvSpPr>
          <p:cNvPr id="22" name="TextBox 21"/>
          <p:cNvSpPr txBox="1"/>
          <p:nvPr/>
        </p:nvSpPr>
        <p:spPr>
          <a:xfrm>
            <a:off x="457200" y="2880360"/>
            <a:ext cx="109728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El marco — cuenta tu día:</a:t>
            </a:r>
          </a:p>
        </p:txBody>
      </p:sp>
      <p:sp>
        <p:nvSpPr>
          <p:cNvPr id="23" name="Rounded Rectangle 22"/>
          <p:cNvSpPr/>
          <p:nvPr/>
        </p:nvSpPr>
        <p:spPr>
          <a:xfrm>
            <a:off x="457200" y="3291840"/>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3291840"/>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EA7317"/>
                </a:solidFill>
                <a:latin typeface="Inter"/>
              </a:rPr>
              <a:t>Me despierto</a:t>
            </a:r>
          </a:p>
        </p:txBody>
      </p:sp>
      <p:sp>
        <p:nvSpPr>
          <p:cNvPr id="25" name="TextBox 24"/>
          <p:cNvSpPr txBox="1"/>
          <p:nvPr/>
        </p:nvSpPr>
        <p:spPr>
          <a:xfrm>
            <a:off x="2880360" y="3291840"/>
            <a:ext cx="10972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 a las …</a:t>
            </a:r>
          </a:p>
        </p:txBody>
      </p:sp>
      <p:sp>
        <p:nvSpPr>
          <p:cNvPr id="26" name="Rounded Rectangle 25"/>
          <p:cNvSpPr/>
          <p:nvPr/>
        </p:nvSpPr>
        <p:spPr>
          <a:xfrm>
            <a:off x="457200" y="3968496"/>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3968496"/>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EA7317"/>
                </a:solidFill>
                <a:latin typeface="Inter"/>
              </a:rPr>
              <a:t>Me levanto</a:t>
            </a:r>
          </a:p>
        </p:txBody>
      </p:sp>
      <p:sp>
        <p:nvSpPr>
          <p:cNvPr id="28" name="TextBox 27"/>
          <p:cNvSpPr txBox="1"/>
          <p:nvPr/>
        </p:nvSpPr>
        <p:spPr>
          <a:xfrm>
            <a:off x="2880360" y="3968496"/>
            <a:ext cx="10972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 a las …</a:t>
            </a:r>
          </a:p>
        </p:txBody>
      </p:sp>
      <p:sp>
        <p:nvSpPr>
          <p:cNvPr id="29" name="Rounded Rectangle 28"/>
          <p:cNvSpPr/>
          <p:nvPr/>
        </p:nvSpPr>
        <p:spPr>
          <a:xfrm>
            <a:off x="457200" y="4645152"/>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4645152"/>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EA7317"/>
                </a:solidFill>
                <a:latin typeface="Inter"/>
              </a:rPr>
              <a:t>Me ducho / me visto</a:t>
            </a:r>
          </a:p>
        </p:txBody>
      </p:sp>
      <p:sp>
        <p:nvSpPr>
          <p:cNvPr id="31" name="TextBox 30"/>
          <p:cNvSpPr txBox="1"/>
          <p:nvPr/>
        </p:nvSpPr>
        <p:spPr>
          <a:xfrm>
            <a:off x="2880360" y="4645152"/>
            <a:ext cx="10972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 acción</a:t>
            </a:r>
          </a:p>
        </p:txBody>
      </p:sp>
      <p:sp>
        <p:nvSpPr>
          <p:cNvPr id="32" name="Rounded Rectangle 31"/>
          <p:cNvSpPr/>
          <p:nvPr/>
        </p:nvSpPr>
        <p:spPr>
          <a:xfrm>
            <a:off x="4297680" y="3291840"/>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34840" y="3291840"/>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EA7317"/>
                </a:solidFill>
                <a:latin typeface="Inter"/>
              </a:rPr>
              <a:t>Desayuno / almuerzo / ceno</a:t>
            </a:r>
          </a:p>
        </p:txBody>
      </p:sp>
      <p:sp>
        <p:nvSpPr>
          <p:cNvPr id="34" name="TextBox 33"/>
          <p:cNvSpPr txBox="1"/>
          <p:nvPr/>
        </p:nvSpPr>
        <p:spPr>
          <a:xfrm>
            <a:off x="6720840" y="3291840"/>
            <a:ext cx="10972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 hora</a:t>
            </a:r>
          </a:p>
        </p:txBody>
      </p:sp>
      <p:sp>
        <p:nvSpPr>
          <p:cNvPr id="35" name="Rounded Rectangle 34"/>
          <p:cNvSpPr/>
          <p:nvPr/>
        </p:nvSpPr>
        <p:spPr>
          <a:xfrm>
            <a:off x="4297680" y="3968496"/>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34840" y="3968496"/>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EA7317"/>
                </a:solidFill>
                <a:latin typeface="Inter"/>
              </a:rPr>
              <a:t>Voy / salgo</a:t>
            </a:r>
          </a:p>
        </p:txBody>
      </p:sp>
      <p:sp>
        <p:nvSpPr>
          <p:cNvPr id="37" name="TextBox 36"/>
          <p:cNvSpPr txBox="1"/>
          <p:nvPr/>
        </p:nvSpPr>
        <p:spPr>
          <a:xfrm>
            <a:off x="6720840" y="3968496"/>
            <a:ext cx="10972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 lugar</a:t>
            </a:r>
          </a:p>
        </p:txBody>
      </p:sp>
      <p:sp>
        <p:nvSpPr>
          <p:cNvPr id="38" name="Rounded Rectangle 37"/>
          <p:cNvSpPr/>
          <p:nvPr/>
        </p:nvSpPr>
        <p:spPr>
          <a:xfrm>
            <a:off x="4297680" y="4645152"/>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34840" y="4645152"/>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EA7317"/>
                </a:solidFill>
                <a:latin typeface="Inter"/>
              </a:rPr>
              <a:t>Me acuesto</a:t>
            </a:r>
          </a:p>
        </p:txBody>
      </p:sp>
      <p:sp>
        <p:nvSpPr>
          <p:cNvPr id="40" name="TextBox 39"/>
          <p:cNvSpPr txBox="1"/>
          <p:nvPr/>
        </p:nvSpPr>
        <p:spPr>
          <a:xfrm>
            <a:off x="6720840" y="4645152"/>
            <a:ext cx="10972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 a las …</a:t>
            </a:r>
          </a:p>
        </p:txBody>
      </p:sp>
      <p:sp>
        <p:nvSpPr>
          <p:cNvPr id="41" name="Rounded Rectangle 40"/>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42" name="Rounded Rectangle 41"/>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43" name="Rounded Rectangle 42">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44" name="TextBox 43"/>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45" name="Rounded Rectangle 44"/>
          <p:cNvSpPr/>
          <p:nvPr/>
        </p:nvSpPr>
        <p:spPr>
          <a:xfrm>
            <a:off x="457200" y="5212080"/>
            <a:ext cx="11247120" cy="64008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Modelo: </a:t>
            </a:r>
            <a:r>
              <a:rPr sz="1200" b="0" i="0">
                <a:solidFill>
                  <a:srgbClr val="157355"/>
                </a:solidFill>
                <a:latin typeface="Inter"/>
              </a:rPr>
              <a:t>«Me despierto a las siete, me ducho, desayuno y salgo de casa a las ocho. Por la tarde hago los deberes.»</a:t>
            </a:r>
          </a:p>
        </p:txBody>
      </p:sp>
      <p:sp>
        <p:nvSpPr>
          <p:cNvPr id="46" name="Rounded Rectangle 45"/>
          <p:cNvSpPr/>
          <p:nvPr/>
        </p:nvSpPr>
        <p:spPr>
          <a:xfrm>
            <a:off x="594360" y="508406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47" name="Rectangle 46"/>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49" name="TextBox 48"/>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50" name="TextBox 49"/>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fade">
                                      <p:cBhvr>
                                        <p:cTn id="7" dur="500"/>
                                        <p:tgtEl>
                                          <p:spTgt spid="4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6"/>
                                        </p:tgtEl>
                                        <p:attrNameLst>
                                          <p:attrName>style.visibility</p:attrName>
                                        </p:attrNameLst>
                                      </p:cBhvr>
                                      <p:to>
                                        <p:strVal val="visible"/>
                                      </p:to>
                                    </p:set>
                                    <p:animEffect transition="in" filter="fade">
                                      <p:cBhvr>
                                        <p:cTn id="12"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29661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§2 · GRAMÁTICA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Verbos reflexivos (me/te/se)</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Denk het pronombre + de vorm, klik de kaart. Pronomen vóór het werkwoord.</a:t>
            </a:r>
          </a:p>
        </p:txBody>
      </p:sp>
      <p:sp>
        <p:nvSpPr>
          <p:cNvPr id="9" name="Rounded Rectangle 8"/>
          <p:cNvSpPr/>
          <p:nvPr/>
        </p:nvSpPr>
        <p:spPr>
          <a:xfrm>
            <a:off x="457200" y="1600200"/>
            <a:ext cx="3611880" cy="11430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709928"/>
            <a:ext cx="3611880"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300" b="0" i="0">
                <a:solidFill>
                  <a:srgbClr val="6A6E78"/>
                </a:solidFill>
                <a:latin typeface="Inter"/>
              </a:rPr>
              <a:t>yo</a:t>
            </a:r>
          </a:p>
        </p:txBody>
      </p:sp>
      <p:sp>
        <p:nvSpPr>
          <p:cNvPr id="11" name="TextBox 10"/>
          <p:cNvSpPr txBox="1"/>
          <p:nvPr/>
        </p:nvSpPr>
        <p:spPr>
          <a:xfrm>
            <a:off x="457200" y="2057400"/>
            <a:ext cx="3611880" cy="5486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157355"/>
                </a:solidFill>
                <a:latin typeface="Bricolage Grotesque"/>
              </a:rPr>
              <a:t>me levanto</a:t>
            </a:r>
          </a:p>
        </p:txBody>
      </p:sp>
      <p:sp>
        <p:nvSpPr>
          <p:cNvPr id="12" name="Rounded Rectangle 11"/>
          <p:cNvSpPr/>
          <p:nvPr/>
        </p:nvSpPr>
        <p:spPr>
          <a:xfrm>
            <a:off x="4251960" y="1600200"/>
            <a:ext cx="3611880" cy="11430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60" y="1709928"/>
            <a:ext cx="3611880"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300" b="0" i="0">
                <a:solidFill>
                  <a:srgbClr val="6A6E78"/>
                </a:solidFill>
                <a:latin typeface="Inter"/>
              </a:rPr>
              <a:t>tú</a:t>
            </a:r>
          </a:p>
        </p:txBody>
      </p:sp>
      <p:sp>
        <p:nvSpPr>
          <p:cNvPr id="14" name="TextBox 13"/>
          <p:cNvSpPr txBox="1"/>
          <p:nvPr/>
        </p:nvSpPr>
        <p:spPr>
          <a:xfrm>
            <a:off x="4251960" y="2057400"/>
            <a:ext cx="3611880" cy="5486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157355"/>
                </a:solidFill>
                <a:latin typeface="Bricolage Grotesque"/>
              </a:rPr>
              <a:t>te levantas</a:t>
            </a:r>
          </a:p>
        </p:txBody>
      </p:sp>
      <p:sp>
        <p:nvSpPr>
          <p:cNvPr id="15" name="Rounded Rectangle 14"/>
          <p:cNvSpPr/>
          <p:nvPr/>
        </p:nvSpPr>
        <p:spPr>
          <a:xfrm>
            <a:off x="8046720" y="1600200"/>
            <a:ext cx="3611880" cy="11430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0" y="1709928"/>
            <a:ext cx="3611880"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300" b="0" i="0">
                <a:solidFill>
                  <a:srgbClr val="6A6E78"/>
                </a:solidFill>
                <a:latin typeface="Inter"/>
              </a:rPr>
              <a:t>él/ella/usted</a:t>
            </a:r>
          </a:p>
        </p:txBody>
      </p:sp>
      <p:sp>
        <p:nvSpPr>
          <p:cNvPr id="17" name="TextBox 16"/>
          <p:cNvSpPr txBox="1"/>
          <p:nvPr/>
        </p:nvSpPr>
        <p:spPr>
          <a:xfrm>
            <a:off x="8046720" y="2057400"/>
            <a:ext cx="3611880" cy="5486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157355"/>
                </a:solidFill>
                <a:latin typeface="Bricolage Grotesque"/>
              </a:rPr>
              <a:t>se levanta</a:t>
            </a:r>
          </a:p>
        </p:txBody>
      </p:sp>
      <p:sp>
        <p:nvSpPr>
          <p:cNvPr id="18" name="Rounded Rectangle 17"/>
          <p:cNvSpPr/>
          <p:nvPr/>
        </p:nvSpPr>
        <p:spPr>
          <a:xfrm>
            <a:off x="457200" y="2926080"/>
            <a:ext cx="3611880" cy="11430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035808"/>
            <a:ext cx="3611880"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300" b="0" i="0">
                <a:solidFill>
                  <a:srgbClr val="6A6E78"/>
                </a:solidFill>
                <a:latin typeface="Inter"/>
              </a:rPr>
              <a:t>nosotros/-as</a:t>
            </a:r>
          </a:p>
        </p:txBody>
      </p:sp>
      <p:sp>
        <p:nvSpPr>
          <p:cNvPr id="20" name="TextBox 19"/>
          <p:cNvSpPr txBox="1"/>
          <p:nvPr/>
        </p:nvSpPr>
        <p:spPr>
          <a:xfrm>
            <a:off x="457200" y="3383280"/>
            <a:ext cx="3611880" cy="5486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157355"/>
                </a:solidFill>
                <a:latin typeface="Bricolage Grotesque"/>
              </a:rPr>
              <a:t>nos levantamos</a:t>
            </a:r>
          </a:p>
        </p:txBody>
      </p:sp>
      <p:sp>
        <p:nvSpPr>
          <p:cNvPr id="21" name="Rounded Rectangle 20"/>
          <p:cNvSpPr/>
          <p:nvPr/>
        </p:nvSpPr>
        <p:spPr>
          <a:xfrm>
            <a:off x="4251960" y="2926080"/>
            <a:ext cx="3611880" cy="11430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60" y="3035808"/>
            <a:ext cx="3611880"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300" b="0" i="0">
                <a:solidFill>
                  <a:srgbClr val="6A6E78"/>
                </a:solidFill>
                <a:latin typeface="Inter"/>
              </a:rPr>
              <a:t>vosotros/-as</a:t>
            </a:r>
          </a:p>
        </p:txBody>
      </p:sp>
      <p:sp>
        <p:nvSpPr>
          <p:cNvPr id="23" name="TextBox 22"/>
          <p:cNvSpPr txBox="1"/>
          <p:nvPr/>
        </p:nvSpPr>
        <p:spPr>
          <a:xfrm>
            <a:off x="4251960" y="3383280"/>
            <a:ext cx="3611880" cy="5486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157355"/>
                </a:solidFill>
                <a:latin typeface="Bricolage Grotesque"/>
              </a:rPr>
              <a:t>os levantáis</a:t>
            </a:r>
          </a:p>
        </p:txBody>
      </p:sp>
      <p:sp>
        <p:nvSpPr>
          <p:cNvPr id="24" name="Rounded Rectangle 23"/>
          <p:cNvSpPr/>
          <p:nvPr/>
        </p:nvSpPr>
        <p:spPr>
          <a:xfrm>
            <a:off x="8046720" y="2926080"/>
            <a:ext cx="3611880" cy="11430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0" y="3035808"/>
            <a:ext cx="3611880"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300" b="0" i="0">
                <a:solidFill>
                  <a:srgbClr val="6A6E78"/>
                </a:solidFill>
                <a:latin typeface="Inter"/>
              </a:rPr>
              <a:t>ellos/-as/ustedes</a:t>
            </a:r>
          </a:p>
        </p:txBody>
      </p:sp>
      <p:sp>
        <p:nvSpPr>
          <p:cNvPr id="26" name="TextBox 25"/>
          <p:cNvSpPr txBox="1"/>
          <p:nvPr/>
        </p:nvSpPr>
        <p:spPr>
          <a:xfrm>
            <a:off x="8046720" y="3383280"/>
            <a:ext cx="3611880" cy="5486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157355"/>
                </a:solidFill>
                <a:latin typeface="Bricolage Grotesque"/>
              </a:rPr>
              <a:t>se levantan</a:t>
            </a:r>
          </a:p>
        </p:txBody>
      </p:sp>
      <p:sp>
        <p:nvSpPr>
          <p:cNvPr id="27" name="Rounded Rectangle 26"/>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8" name="Rounded Rectangle 2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29" name="Rounded Rectangle 28">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0" name="TextBox 2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1" name="Rounded Rectangle 30"/>
          <p:cNvSpPr/>
          <p:nvPr/>
        </p:nvSpPr>
        <p:spPr>
          <a:xfrm>
            <a:off x="457200" y="5029200"/>
            <a:ext cx="11247120" cy="82296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DC2626"/>
                </a:solidFill>
                <a:latin typeface="Inter"/>
              </a:rPr>
              <a:t>🔴 Het pronombre staat VÓÓR het werkwoord: </a:t>
            </a:r>
            <a:r>
              <a:rPr sz="1200" b="1" i="0">
                <a:solidFill>
                  <a:srgbClr val="157355"/>
                </a:solidFill>
                <a:latin typeface="Inter"/>
              </a:rPr>
              <a:t>me levanto</a:t>
            </a:r>
            <a:r>
              <a:rPr sz="1200" b="0" i="0">
                <a:solidFill>
                  <a:srgbClr val="157355"/>
                </a:solidFill>
                <a:latin typeface="Inter"/>
              </a:rPr>
              <a:t> (niet «levanto me»). Het werkwoord vervoeg je gewoon.</a:t>
            </a:r>
          </a:p>
          <a:p>
            <a:pPr>
              <a:lnSpc>
                <a:spcPct val="102000"/>
              </a:lnSpc>
              <a:spcBef>
                <a:spcPts val="0"/>
              </a:spcBef>
              <a:spcAft>
                <a:spcPts val="300"/>
              </a:spcAft>
            </a:pPr>
            <a:r>
              <a:rPr sz="1200" b="0" i="0">
                <a:solidFill>
                  <a:srgbClr val="157355"/>
                </a:solidFill>
                <a:latin typeface="Inter"/>
              </a:rPr>
              <a:t>me/te/se/nos/os/se — past bij de persoon. Zo ook: me ducho, se acuesta (o→ue), me visto (e→i).</a:t>
            </a:r>
          </a:p>
        </p:txBody>
      </p:sp>
      <p:sp>
        <p:nvSpPr>
          <p:cNvPr id="32" name="Rounded Rectangle 31"/>
          <p:cNvSpPr/>
          <p:nvPr/>
        </p:nvSpPr>
        <p:spPr>
          <a:xfrm>
            <a:off x="594360" y="490118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3" name="Rectangle 3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35" name="TextBox 3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6" name="TextBox 3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875995"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§2 · QUIZ</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¿Reflexivo o no?</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Klik een werkwoord → reflexief of niet? Let op het pronombre.</a:t>
            </a:r>
          </a:p>
        </p:txBody>
      </p:sp>
      <p:sp>
        <p:nvSpPr>
          <p:cNvPr id="9" name="Rounded Rectangle 8"/>
          <p:cNvSpPr/>
          <p:nvPr/>
        </p:nvSpPr>
        <p:spPr>
          <a:xfrm>
            <a:off x="457200" y="1554480"/>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54480"/>
            <a:ext cx="23774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levantarse</a:t>
            </a:r>
          </a:p>
        </p:txBody>
      </p:sp>
      <p:sp>
        <p:nvSpPr>
          <p:cNvPr id="11" name="TextBox 10"/>
          <p:cNvSpPr txBox="1"/>
          <p:nvPr/>
        </p:nvSpPr>
        <p:spPr>
          <a:xfrm>
            <a:off x="3017520" y="1554480"/>
            <a:ext cx="28346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7C3AED"/>
                </a:solidFill>
                <a:latin typeface="Inter"/>
              </a:rPr>
              <a:t>reflexivo · me levanto</a:t>
            </a:r>
          </a:p>
        </p:txBody>
      </p:sp>
      <p:sp>
        <p:nvSpPr>
          <p:cNvPr id="12" name="Rounded Rectangle 11"/>
          <p:cNvSpPr/>
          <p:nvPr/>
        </p:nvSpPr>
        <p:spPr>
          <a:xfrm>
            <a:off x="457200" y="2359152"/>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59152"/>
            <a:ext cx="23774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desayunar</a:t>
            </a:r>
          </a:p>
        </p:txBody>
      </p:sp>
      <p:sp>
        <p:nvSpPr>
          <p:cNvPr id="14" name="TextBox 13"/>
          <p:cNvSpPr txBox="1"/>
          <p:nvPr/>
        </p:nvSpPr>
        <p:spPr>
          <a:xfrm>
            <a:off x="3017520" y="2359152"/>
            <a:ext cx="28346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E9E74"/>
                </a:solidFill>
                <a:latin typeface="Inter"/>
              </a:rPr>
              <a:t>no · desayuno</a:t>
            </a:r>
          </a:p>
        </p:txBody>
      </p:sp>
      <p:sp>
        <p:nvSpPr>
          <p:cNvPr id="15" name="Rounded Rectangle 14"/>
          <p:cNvSpPr/>
          <p:nvPr/>
        </p:nvSpPr>
        <p:spPr>
          <a:xfrm>
            <a:off x="457200" y="3163824"/>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163824"/>
            <a:ext cx="23774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ducharse</a:t>
            </a:r>
          </a:p>
        </p:txBody>
      </p:sp>
      <p:sp>
        <p:nvSpPr>
          <p:cNvPr id="17" name="TextBox 16"/>
          <p:cNvSpPr txBox="1"/>
          <p:nvPr/>
        </p:nvSpPr>
        <p:spPr>
          <a:xfrm>
            <a:off x="3017520" y="3163824"/>
            <a:ext cx="28346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7C3AED"/>
                </a:solidFill>
                <a:latin typeface="Inter"/>
              </a:rPr>
              <a:t>reflexivo · me ducho</a:t>
            </a:r>
          </a:p>
        </p:txBody>
      </p:sp>
      <p:sp>
        <p:nvSpPr>
          <p:cNvPr id="18" name="Rounded Rectangle 17"/>
          <p:cNvSpPr/>
          <p:nvPr/>
        </p:nvSpPr>
        <p:spPr>
          <a:xfrm>
            <a:off x="6172200" y="1554480"/>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1554480"/>
            <a:ext cx="23774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cenar</a:t>
            </a:r>
          </a:p>
        </p:txBody>
      </p:sp>
      <p:sp>
        <p:nvSpPr>
          <p:cNvPr id="20" name="TextBox 19"/>
          <p:cNvSpPr txBox="1"/>
          <p:nvPr/>
        </p:nvSpPr>
        <p:spPr>
          <a:xfrm>
            <a:off x="8732520" y="1554480"/>
            <a:ext cx="28346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E9E74"/>
                </a:solidFill>
                <a:latin typeface="Inter"/>
              </a:rPr>
              <a:t>no · ceno</a:t>
            </a:r>
          </a:p>
        </p:txBody>
      </p:sp>
      <p:sp>
        <p:nvSpPr>
          <p:cNvPr id="21" name="Rounded Rectangle 20"/>
          <p:cNvSpPr/>
          <p:nvPr/>
        </p:nvSpPr>
        <p:spPr>
          <a:xfrm>
            <a:off x="6172200" y="2359152"/>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2359152"/>
            <a:ext cx="23774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acostarse</a:t>
            </a:r>
          </a:p>
        </p:txBody>
      </p:sp>
      <p:sp>
        <p:nvSpPr>
          <p:cNvPr id="23" name="TextBox 22"/>
          <p:cNvSpPr txBox="1"/>
          <p:nvPr/>
        </p:nvSpPr>
        <p:spPr>
          <a:xfrm>
            <a:off x="8732520" y="2359152"/>
            <a:ext cx="28346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7C3AED"/>
                </a:solidFill>
                <a:latin typeface="Inter"/>
              </a:rPr>
              <a:t>reflexivo · me acuesto</a:t>
            </a:r>
          </a:p>
        </p:txBody>
      </p:sp>
      <p:sp>
        <p:nvSpPr>
          <p:cNvPr id="24" name="Rounded Rectangle 23"/>
          <p:cNvSpPr/>
          <p:nvPr/>
        </p:nvSpPr>
        <p:spPr>
          <a:xfrm>
            <a:off x="6172200" y="3163824"/>
            <a:ext cx="5532120" cy="65836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3163824"/>
            <a:ext cx="23774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hacer los deberes</a:t>
            </a:r>
          </a:p>
        </p:txBody>
      </p:sp>
      <p:sp>
        <p:nvSpPr>
          <p:cNvPr id="26" name="TextBox 25"/>
          <p:cNvSpPr txBox="1"/>
          <p:nvPr/>
        </p:nvSpPr>
        <p:spPr>
          <a:xfrm>
            <a:off x="8732520" y="3163824"/>
            <a:ext cx="283464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E9E74"/>
                </a:solidFill>
                <a:latin typeface="Inter"/>
              </a:rPr>
              <a:t>no · hago</a:t>
            </a:r>
          </a:p>
        </p:txBody>
      </p:sp>
      <p:sp>
        <p:nvSpPr>
          <p:cNvPr id="27" name="Rounded Rectangle 26"/>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8" name="Rounded Rectangle 2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29" name="Rounded Rectangle 28">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0" name="TextBox 2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1" name="Rounded Rectangle 30"/>
          <p:cNvSpPr/>
          <p:nvPr/>
        </p:nvSpPr>
        <p:spPr>
          <a:xfrm>
            <a:off x="457200" y="4480560"/>
            <a:ext cx="11247120" cy="64008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Reflexivo = una acción sobre ti mismo (me/te/se): </a:t>
            </a:r>
            <a:r>
              <a:rPr sz="1200" b="0" i="0">
                <a:solidFill>
                  <a:srgbClr val="157355"/>
                </a:solidFill>
                <a:latin typeface="Inter"/>
              </a:rPr>
              <a:t>levantarse, ducharse, vestirse, acostarse, despertarse, peinarse, lavarse.</a:t>
            </a:r>
          </a:p>
        </p:txBody>
      </p:sp>
      <p:sp>
        <p:nvSpPr>
          <p:cNvPr id="32" name="Rounded Rectangle 31"/>
          <p:cNvSpPr/>
          <p:nvPr/>
        </p:nvSpPr>
        <p:spPr>
          <a:xfrm>
            <a:off x="594360" y="435254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3" name="Rectangle 3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35" name="TextBox 3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6" name="TextBox 3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29661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§3 · GRAMÁTICA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3</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Presente irregular · o → ue</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Klik een cel → de vorm. De vocal wordt UE… behalve nosotros/vosotros («la bota»).</a:t>
            </a:r>
          </a:p>
        </p:txBody>
      </p:sp>
      <p:sp>
        <p:nvSpPr>
          <p:cNvPr id="9" name="Rounded Rectangle 8"/>
          <p:cNvSpPr/>
          <p:nvPr/>
        </p:nvSpPr>
        <p:spPr>
          <a:xfrm>
            <a:off x="2194560" y="1554480"/>
            <a:ext cx="3383280" cy="457200"/>
          </a:xfrm>
          <a:prstGeom prst="roundRect">
            <a:avLst>
              <a:gd name="adj" fmla="val 5500"/>
            </a:avLst>
          </a:prstGeom>
          <a:solidFill>
            <a:srgbClr val="1E9E7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94560" y="1554480"/>
            <a:ext cx="33832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Bricolage Grotesque"/>
              </a:rPr>
              <a:t>poder</a:t>
            </a:r>
          </a:p>
        </p:txBody>
      </p:sp>
      <p:sp>
        <p:nvSpPr>
          <p:cNvPr id="11" name="Rounded Rectangle 10"/>
          <p:cNvSpPr/>
          <p:nvPr/>
        </p:nvSpPr>
        <p:spPr>
          <a:xfrm>
            <a:off x="5760720" y="1554480"/>
            <a:ext cx="3383280" cy="457200"/>
          </a:xfrm>
          <a:prstGeom prst="roundRect">
            <a:avLst>
              <a:gd name="adj" fmla="val 5500"/>
            </a:avLst>
          </a:prstGeom>
          <a:solidFill>
            <a:srgbClr val="1E9E7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0" y="1554480"/>
            <a:ext cx="33832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Bricolage Grotesque"/>
              </a:rPr>
              <a:t>dormir</a:t>
            </a:r>
          </a:p>
        </p:txBody>
      </p:sp>
      <p:sp>
        <p:nvSpPr>
          <p:cNvPr id="13" name="Rounded Rectangle 12"/>
          <p:cNvSpPr/>
          <p:nvPr/>
        </p:nvSpPr>
        <p:spPr>
          <a:xfrm>
            <a:off x="9326880" y="1554480"/>
            <a:ext cx="3383280" cy="457200"/>
          </a:xfrm>
          <a:prstGeom prst="roundRect">
            <a:avLst>
              <a:gd name="adj" fmla="val 5500"/>
            </a:avLst>
          </a:prstGeom>
          <a:solidFill>
            <a:srgbClr val="1E9E7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554480"/>
            <a:ext cx="33832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Bricolage Grotesque"/>
              </a:rPr>
              <a:t>volver</a:t>
            </a:r>
          </a:p>
        </p:txBody>
      </p:sp>
      <p:sp>
        <p:nvSpPr>
          <p:cNvPr id="15" name="TextBox 14"/>
          <p:cNvSpPr txBox="1"/>
          <p:nvPr/>
        </p:nvSpPr>
        <p:spPr>
          <a:xfrm>
            <a:off x="640080" y="210312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yo</a:t>
            </a:r>
          </a:p>
        </p:txBody>
      </p:sp>
      <p:sp>
        <p:nvSpPr>
          <p:cNvPr id="16" name="Rounded Rectangle 15"/>
          <p:cNvSpPr/>
          <p:nvPr/>
        </p:nvSpPr>
        <p:spPr>
          <a:xfrm>
            <a:off x="2194560" y="21031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0" y="21031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puedo</a:t>
            </a:r>
          </a:p>
        </p:txBody>
      </p:sp>
      <p:sp>
        <p:nvSpPr>
          <p:cNvPr id="18" name="Rounded Rectangle 17"/>
          <p:cNvSpPr/>
          <p:nvPr/>
        </p:nvSpPr>
        <p:spPr>
          <a:xfrm>
            <a:off x="5760720" y="21031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60720" y="21031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duermo</a:t>
            </a:r>
          </a:p>
        </p:txBody>
      </p:sp>
      <p:sp>
        <p:nvSpPr>
          <p:cNvPr id="20" name="Rounded Rectangle 19"/>
          <p:cNvSpPr/>
          <p:nvPr/>
        </p:nvSpPr>
        <p:spPr>
          <a:xfrm>
            <a:off x="9326880" y="21031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26880" y="21031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vuelvo</a:t>
            </a:r>
          </a:p>
        </p:txBody>
      </p:sp>
      <p:sp>
        <p:nvSpPr>
          <p:cNvPr id="22" name="TextBox 21"/>
          <p:cNvSpPr txBox="1"/>
          <p:nvPr/>
        </p:nvSpPr>
        <p:spPr>
          <a:xfrm>
            <a:off x="640080" y="265176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tú</a:t>
            </a:r>
          </a:p>
        </p:txBody>
      </p:sp>
      <p:sp>
        <p:nvSpPr>
          <p:cNvPr id="23" name="Rounded Rectangle 22"/>
          <p:cNvSpPr/>
          <p:nvPr/>
        </p:nvSpPr>
        <p:spPr>
          <a:xfrm>
            <a:off x="2194560" y="265176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94560" y="265176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puedes</a:t>
            </a:r>
          </a:p>
        </p:txBody>
      </p:sp>
      <p:sp>
        <p:nvSpPr>
          <p:cNvPr id="25" name="Rounded Rectangle 24"/>
          <p:cNvSpPr/>
          <p:nvPr/>
        </p:nvSpPr>
        <p:spPr>
          <a:xfrm>
            <a:off x="5760720" y="265176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60720" y="265176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duermes</a:t>
            </a:r>
          </a:p>
        </p:txBody>
      </p:sp>
      <p:sp>
        <p:nvSpPr>
          <p:cNvPr id="27" name="Rounded Rectangle 26"/>
          <p:cNvSpPr/>
          <p:nvPr/>
        </p:nvSpPr>
        <p:spPr>
          <a:xfrm>
            <a:off x="9326880" y="265176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5176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vuelves</a:t>
            </a:r>
          </a:p>
        </p:txBody>
      </p:sp>
      <p:sp>
        <p:nvSpPr>
          <p:cNvPr id="29" name="TextBox 28"/>
          <p:cNvSpPr txBox="1"/>
          <p:nvPr/>
        </p:nvSpPr>
        <p:spPr>
          <a:xfrm>
            <a:off x="640080" y="320040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él/ella</a:t>
            </a:r>
          </a:p>
        </p:txBody>
      </p:sp>
      <p:sp>
        <p:nvSpPr>
          <p:cNvPr id="30" name="Rounded Rectangle 29"/>
          <p:cNvSpPr/>
          <p:nvPr/>
        </p:nvSpPr>
        <p:spPr>
          <a:xfrm>
            <a:off x="2194560" y="320040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320040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puede</a:t>
            </a:r>
          </a:p>
        </p:txBody>
      </p:sp>
      <p:sp>
        <p:nvSpPr>
          <p:cNvPr id="32" name="Rounded Rectangle 31"/>
          <p:cNvSpPr/>
          <p:nvPr/>
        </p:nvSpPr>
        <p:spPr>
          <a:xfrm>
            <a:off x="5760720" y="320040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60720" y="320040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duerme</a:t>
            </a:r>
          </a:p>
        </p:txBody>
      </p:sp>
      <p:sp>
        <p:nvSpPr>
          <p:cNvPr id="34" name="Rounded Rectangle 33"/>
          <p:cNvSpPr/>
          <p:nvPr/>
        </p:nvSpPr>
        <p:spPr>
          <a:xfrm>
            <a:off x="9326880" y="320040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0" y="320040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vuelve</a:t>
            </a:r>
          </a:p>
        </p:txBody>
      </p:sp>
      <p:sp>
        <p:nvSpPr>
          <p:cNvPr id="36" name="TextBox 35"/>
          <p:cNvSpPr txBox="1"/>
          <p:nvPr/>
        </p:nvSpPr>
        <p:spPr>
          <a:xfrm>
            <a:off x="640080" y="374904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nosotros</a:t>
            </a:r>
          </a:p>
        </p:txBody>
      </p:sp>
      <p:sp>
        <p:nvSpPr>
          <p:cNvPr id="37" name="Rounded Rectangle 36"/>
          <p:cNvSpPr/>
          <p:nvPr/>
        </p:nvSpPr>
        <p:spPr>
          <a:xfrm>
            <a:off x="2194560" y="374904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94560" y="374904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podemos</a:t>
            </a:r>
          </a:p>
        </p:txBody>
      </p:sp>
      <p:sp>
        <p:nvSpPr>
          <p:cNvPr id="39" name="Rounded Rectangle 38"/>
          <p:cNvSpPr/>
          <p:nvPr/>
        </p:nvSpPr>
        <p:spPr>
          <a:xfrm>
            <a:off x="5760720" y="374904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60720" y="374904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dormimos</a:t>
            </a:r>
          </a:p>
        </p:txBody>
      </p:sp>
      <p:sp>
        <p:nvSpPr>
          <p:cNvPr id="41" name="Rounded Rectangle 40"/>
          <p:cNvSpPr/>
          <p:nvPr/>
        </p:nvSpPr>
        <p:spPr>
          <a:xfrm>
            <a:off x="9326880" y="374904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26880" y="374904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volvemos</a:t>
            </a:r>
          </a:p>
        </p:txBody>
      </p:sp>
      <p:sp>
        <p:nvSpPr>
          <p:cNvPr id="43" name="TextBox 42"/>
          <p:cNvSpPr txBox="1"/>
          <p:nvPr/>
        </p:nvSpPr>
        <p:spPr>
          <a:xfrm>
            <a:off x="640080" y="429768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vosotros</a:t>
            </a:r>
          </a:p>
        </p:txBody>
      </p:sp>
      <p:sp>
        <p:nvSpPr>
          <p:cNvPr id="44" name="Rounded Rectangle 43"/>
          <p:cNvSpPr/>
          <p:nvPr/>
        </p:nvSpPr>
        <p:spPr>
          <a:xfrm>
            <a:off x="2194560" y="429768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194560" y="429768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podéis</a:t>
            </a:r>
          </a:p>
        </p:txBody>
      </p:sp>
      <p:sp>
        <p:nvSpPr>
          <p:cNvPr id="46" name="Rounded Rectangle 45"/>
          <p:cNvSpPr/>
          <p:nvPr/>
        </p:nvSpPr>
        <p:spPr>
          <a:xfrm>
            <a:off x="5760720" y="429768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60720" y="429768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dormís</a:t>
            </a:r>
          </a:p>
        </p:txBody>
      </p:sp>
      <p:sp>
        <p:nvSpPr>
          <p:cNvPr id="48" name="Rounded Rectangle 47"/>
          <p:cNvSpPr/>
          <p:nvPr/>
        </p:nvSpPr>
        <p:spPr>
          <a:xfrm>
            <a:off x="9326880" y="429768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26880" y="429768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volvéis</a:t>
            </a:r>
          </a:p>
        </p:txBody>
      </p:sp>
      <p:sp>
        <p:nvSpPr>
          <p:cNvPr id="50" name="TextBox 49"/>
          <p:cNvSpPr txBox="1"/>
          <p:nvPr/>
        </p:nvSpPr>
        <p:spPr>
          <a:xfrm>
            <a:off x="640080" y="484632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ellos</a:t>
            </a:r>
          </a:p>
        </p:txBody>
      </p:sp>
      <p:sp>
        <p:nvSpPr>
          <p:cNvPr id="51" name="Rounded Rectangle 50"/>
          <p:cNvSpPr/>
          <p:nvPr/>
        </p:nvSpPr>
        <p:spPr>
          <a:xfrm>
            <a:off x="2194560" y="48463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94560" y="48463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pueden</a:t>
            </a:r>
          </a:p>
        </p:txBody>
      </p:sp>
      <p:sp>
        <p:nvSpPr>
          <p:cNvPr id="53" name="Rounded Rectangle 52"/>
          <p:cNvSpPr/>
          <p:nvPr/>
        </p:nvSpPr>
        <p:spPr>
          <a:xfrm>
            <a:off x="5760720" y="48463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760720" y="48463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duermen</a:t>
            </a:r>
          </a:p>
        </p:txBody>
      </p:sp>
      <p:sp>
        <p:nvSpPr>
          <p:cNvPr id="55" name="Rounded Rectangle 54"/>
          <p:cNvSpPr/>
          <p:nvPr/>
        </p:nvSpPr>
        <p:spPr>
          <a:xfrm>
            <a:off x="9326880" y="48463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326880" y="48463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vuelven</a:t>
            </a:r>
          </a:p>
        </p:txBody>
      </p:sp>
      <p:sp>
        <p:nvSpPr>
          <p:cNvPr id="57" name="Rounded Rectangle 56"/>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58" name="Rounded Rectangle 5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59" name="Rounded Rectangle 58">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60" name="TextBox 5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61" name="Rounded Rectangle 60"/>
          <p:cNvSpPr/>
          <p:nvPr/>
        </p:nvSpPr>
        <p:spPr>
          <a:xfrm>
            <a:off x="457200" y="5486400"/>
            <a:ext cx="11247120" cy="5029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De vocal o→ue in álle vormen BEHALVE nosotros/vosotros </a:t>
            </a:r>
            <a:r>
              <a:rPr sz="1200" b="0" i="0">
                <a:solidFill>
                  <a:srgbClr val="157355"/>
                </a:solidFill>
                <a:latin typeface="Inter"/>
              </a:rPr>
              <a:t>(podemos, dormimos). Zo ook: acostarse→me acuesto, almorzar→almuerzo, jugar→juego (u→ue).</a:t>
            </a:r>
          </a:p>
        </p:txBody>
      </p:sp>
      <p:sp>
        <p:nvSpPr>
          <p:cNvPr id="62" name="Rounded Rectangle 61"/>
          <p:cNvSpPr/>
          <p:nvPr/>
        </p:nvSpPr>
        <p:spPr>
          <a:xfrm>
            <a:off x="594360" y="535838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63" name="Rectangle 6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65" name="TextBox 6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66" name="TextBox 6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5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5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5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500"/>
                                        <p:tgtEl>
                                          <p:spTgt spid="4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fade">
                                      <p:cBhvr>
                                        <p:cTn id="62" dur="500"/>
                                        <p:tgtEl>
                                          <p:spTgt spid="42"/>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500"/>
                                        <p:tgtEl>
                                          <p:spTgt spid="4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500"/>
                                        <p:tgtEl>
                                          <p:spTgt spid="4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49"/>
                                        </p:tgtEl>
                                        <p:attrNameLst>
                                          <p:attrName>style.visibility</p:attrName>
                                        </p:attrNameLst>
                                      </p:cBhvr>
                                      <p:to>
                                        <p:strVal val="visible"/>
                                      </p:to>
                                    </p:set>
                                    <p:animEffect transition="in" filter="fade">
                                      <p:cBhvr>
                                        <p:cTn id="77" dur="500"/>
                                        <p:tgtEl>
                                          <p:spTgt spid="49"/>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52"/>
                                        </p:tgtEl>
                                        <p:attrNameLst>
                                          <p:attrName>style.visibility</p:attrName>
                                        </p:attrNameLst>
                                      </p:cBhvr>
                                      <p:to>
                                        <p:strVal val="visible"/>
                                      </p:to>
                                    </p:set>
                                    <p:animEffect transition="in" filter="fade">
                                      <p:cBhvr>
                                        <p:cTn id="82" dur="500"/>
                                        <p:tgtEl>
                                          <p:spTgt spid="52"/>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500"/>
                                        <p:tgtEl>
                                          <p:spTgt spid="5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6"/>
                                        </p:tgtEl>
                                        <p:attrNameLst>
                                          <p:attrName>style.visibility</p:attrName>
                                        </p:attrNameLst>
                                      </p:cBhvr>
                                      <p:to>
                                        <p:strVal val="visible"/>
                                      </p:to>
                                    </p:set>
                                    <p:animEffect transition="in" filter="fade">
                                      <p:cBhvr>
                                        <p:cTn id="92" dur="500"/>
                                        <p:tgtEl>
                                          <p:spTgt spid="56"/>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500"/>
                                        <p:tgtEl>
                                          <p:spTgt spid="61"/>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62"/>
                                        </p:tgtEl>
                                        <p:attrNameLst>
                                          <p:attrName>style.visibility</p:attrName>
                                        </p:attrNameLst>
                                      </p:cBhvr>
                                      <p:to>
                                        <p:strVal val="visible"/>
                                      </p:to>
                                    </p:set>
                                    <p:animEffect transition="in" filter="fade">
                                      <p:cBhvr>
                                        <p:cTn id="102"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29661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§3 · GRAMÁTICA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3</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Presente irregular · e→ie y e→i</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Zelfde «bota». Klik een cel → de vorm verschijnt.</a:t>
            </a:r>
          </a:p>
        </p:txBody>
      </p:sp>
      <p:sp>
        <p:nvSpPr>
          <p:cNvPr id="9" name="Rounded Rectangle 8"/>
          <p:cNvSpPr/>
          <p:nvPr/>
        </p:nvSpPr>
        <p:spPr>
          <a:xfrm>
            <a:off x="2194560" y="1554480"/>
            <a:ext cx="3383280" cy="457200"/>
          </a:xfrm>
          <a:prstGeom prst="roundRect">
            <a:avLst>
              <a:gd name="adj" fmla="val 5500"/>
            </a:avLst>
          </a:prstGeom>
          <a:solidFill>
            <a:srgbClr val="1E9E7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94560" y="1554480"/>
            <a:ext cx="33832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200" b="1" i="0">
                <a:solidFill>
                  <a:srgbClr val="FFFFFF"/>
                </a:solidFill>
                <a:latin typeface="Bricolage Grotesque"/>
              </a:rPr>
              <a:t>empezar (e→ie)</a:t>
            </a:r>
          </a:p>
        </p:txBody>
      </p:sp>
      <p:sp>
        <p:nvSpPr>
          <p:cNvPr id="11" name="Rounded Rectangle 10"/>
          <p:cNvSpPr/>
          <p:nvPr/>
        </p:nvSpPr>
        <p:spPr>
          <a:xfrm>
            <a:off x="5760720" y="1554480"/>
            <a:ext cx="3383280" cy="457200"/>
          </a:xfrm>
          <a:prstGeom prst="roundRect">
            <a:avLst>
              <a:gd name="adj" fmla="val 5500"/>
            </a:avLst>
          </a:prstGeom>
          <a:solidFill>
            <a:srgbClr val="1E9E7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0" y="1554480"/>
            <a:ext cx="33832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200" b="1" i="0">
                <a:solidFill>
                  <a:srgbClr val="FFFFFF"/>
                </a:solidFill>
                <a:latin typeface="Bricolage Grotesque"/>
              </a:rPr>
              <a:t>querer (e→ie)</a:t>
            </a:r>
          </a:p>
        </p:txBody>
      </p:sp>
      <p:sp>
        <p:nvSpPr>
          <p:cNvPr id="13" name="Rounded Rectangle 12"/>
          <p:cNvSpPr/>
          <p:nvPr/>
        </p:nvSpPr>
        <p:spPr>
          <a:xfrm>
            <a:off x="9326880" y="1554480"/>
            <a:ext cx="3383280" cy="457200"/>
          </a:xfrm>
          <a:prstGeom prst="roundRect">
            <a:avLst>
              <a:gd name="adj" fmla="val 5500"/>
            </a:avLst>
          </a:prstGeom>
          <a:solidFill>
            <a:srgbClr val="1E9E7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554480"/>
            <a:ext cx="33832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200" b="1" i="0">
                <a:solidFill>
                  <a:srgbClr val="FFFFFF"/>
                </a:solidFill>
                <a:latin typeface="Bricolage Grotesque"/>
              </a:rPr>
              <a:t>pedir (e→i)</a:t>
            </a:r>
          </a:p>
        </p:txBody>
      </p:sp>
      <p:sp>
        <p:nvSpPr>
          <p:cNvPr id="15" name="TextBox 14"/>
          <p:cNvSpPr txBox="1"/>
          <p:nvPr/>
        </p:nvSpPr>
        <p:spPr>
          <a:xfrm>
            <a:off x="640080" y="210312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yo</a:t>
            </a:r>
          </a:p>
        </p:txBody>
      </p:sp>
      <p:sp>
        <p:nvSpPr>
          <p:cNvPr id="16" name="Rounded Rectangle 15"/>
          <p:cNvSpPr/>
          <p:nvPr/>
        </p:nvSpPr>
        <p:spPr>
          <a:xfrm>
            <a:off x="2194560" y="21031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0" y="21031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empiezo</a:t>
            </a:r>
          </a:p>
        </p:txBody>
      </p:sp>
      <p:sp>
        <p:nvSpPr>
          <p:cNvPr id="18" name="Rounded Rectangle 17"/>
          <p:cNvSpPr/>
          <p:nvPr/>
        </p:nvSpPr>
        <p:spPr>
          <a:xfrm>
            <a:off x="5760720" y="21031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60720" y="21031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quiero</a:t>
            </a:r>
          </a:p>
        </p:txBody>
      </p:sp>
      <p:sp>
        <p:nvSpPr>
          <p:cNvPr id="20" name="Rounded Rectangle 19"/>
          <p:cNvSpPr/>
          <p:nvPr/>
        </p:nvSpPr>
        <p:spPr>
          <a:xfrm>
            <a:off x="9326880" y="21031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26880" y="21031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pido</a:t>
            </a:r>
          </a:p>
        </p:txBody>
      </p:sp>
      <p:sp>
        <p:nvSpPr>
          <p:cNvPr id="22" name="TextBox 21"/>
          <p:cNvSpPr txBox="1"/>
          <p:nvPr/>
        </p:nvSpPr>
        <p:spPr>
          <a:xfrm>
            <a:off x="640080" y="265176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tú</a:t>
            </a:r>
          </a:p>
        </p:txBody>
      </p:sp>
      <p:sp>
        <p:nvSpPr>
          <p:cNvPr id="23" name="Rounded Rectangle 22"/>
          <p:cNvSpPr/>
          <p:nvPr/>
        </p:nvSpPr>
        <p:spPr>
          <a:xfrm>
            <a:off x="2194560" y="265176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94560" y="265176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empiezas</a:t>
            </a:r>
          </a:p>
        </p:txBody>
      </p:sp>
      <p:sp>
        <p:nvSpPr>
          <p:cNvPr id="25" name="Rounded Rectangle 24"/>
          <p:cNvSpPr/>
          <p:nvPr/>
        </p:nvSpPr>
        <p:spPr>
          <a:xfrm>
            <a:off x="5760720" y="265176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60720" y="265176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quieres</a:t>
            </a:r>
          </a:p>
        </p:txBody>
      </p:sp>
      <p:sp>
        <p:nvSpPr>
          <p:cNvPr id="27" name="Rounded Rectangle 26"/>
          <p:cNvSpPr/>
          <p:nvPr/>
        </p:nvSpPr>
        <p:spPr>
          <a:xfrm>
            <a:off x="9326880" y="265176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5176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pides</a:t>
            </a:r>
          </a:p>
        </p:txBody>
      </p:sp>
      <p:sp>
        <p:nvSpPr>
          <p:cNvPr id="29" name="TextBox 28"/>
          <p:cNvSpPr txBox="1"/>
          <p:nvPr/>
        </p:nvSpPr>
        <p:spPr>
          <a:xfrm>
            <a:off x="640080" y="320040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él/ella</a:t>
            </a:r>
          </a:p>
        </p:txBody>
      </p:sp>
      <p:sp>
        <p:nvSpPr>
          <p:cNvPr id="30" name="Rounded Rectangle 29"/>
          <p:cNvSpPr/>
          <p:nvPr/>
        </p:nvSpPr>
        <p:spPr>
          <a:xfrm>
            <a:off x="2194560" y="320040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320040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empieza</a:t>
            </a:r>
          </a:p>
        </p:txBody>
      </p:sp>
      <p:sp>
        <p:nvSpPr>
          <p:cNvPr id="32" name="Rounded Rectangle 31"/>
          <p:cNvSpPr/>
          <p:nvPr/>
        </p:nvSpPr>
        <p:spPr>
          <a:xfrm>
            <a:off x="5760720" y="320040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60720" y="320040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quiere</a:t>
            </a:r>
          </a:p>
        </p:txBody>
      </p:sp>
      <p:sp>
        <p:nvSpPr>
          <p:cNvPr id="34" name="Rounded Rectangle 33"/>
          <p:cNvSpPr/>
          <p:nvPr/>
        </p:nvSpPr>
        <p:spPr>
          <a:xfrm>
            <a:off x="9326880" y="320040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0" y="320040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pide</a:t>
            </a:r>
          </a:p>
        </p:txBody>
      </p:sp>
      <p:sp>
        <p:nvSpPr>
          <p:cNvPr id="36" name="TextBox 35"/>
          <p:cNvSpPr txBox="1"/>
          <p:nvPr/>
        </p:nvSpPr>
        <p:spPr>
          <a:xfrm>
            <a:off x="640080" y="374904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nosotros</a:t>
            </a:r>
          </a:p>
        </p:txBody>
      </p:sp>
      <p:sp>
        <p:nvSpPr>
          <p:cNvPr id="37" name="Rounded Rectangle 36"/>
          <p:cNvSpPr/>
          <p:nvPr/>
        </p:nvSpPr>
        <p:spPr>
          <a:xfrm>
            <a:off x="2194560" y="374904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94560" y="374904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empezamos</a:t>
            </a:r>
          </a:p>
        </p:txBody>
      </p:sp>
      <p:sp>
        <p:nvSpPr>
          <p:cNvPr id="39" name="Rounded Rectangle 38"/>
          <p:cNvSpPr/>
          <p:nvPr/>
        </p:nvSpPr>
        <p:spPr>
          <a:xfrm>
            <a:off x="5760720" y="374904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60720" y="374904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queremos</a:t>
            </a:r>
          </a:p>
        </p:txBody>
      </p:sp>
      <p:sp>
        <p:nvSpPr>
          <p:cNvPr id="41" name="Rounded Rectangle 40"/>
          <p:cNvSpPr/>
          <p:nvPr/>
        </p:nvSpPr>
        <p:spPr>
          <a:xfrm>
            <a:off x="9326880" y="374904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26880" y="374904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pedimos</a:t>
            </a:r>
          </a:p>
        </p:txBody>
      </p:sp>
      <p:sp>
        <p:nvSpPr>
          <p:cNvPr id="43" name="TextBox 42"/>
          <p:cNvSpPr txBox="1"/>
          <p:nvPr/>
        </p:nvSpPr>
        <p:spPr>
          <a:xfrm>
            <a:off x="640080" y="429768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vosotros</a:t>
            </a:r>
          </a:p>
        </p:txBody>
      </p:sp>
      <p:sp>
        <p:nvSpPr>
          <p:cNvPr id="44" name="Rounded Rectangle 43"/>
          <p:cNvSpPr/>
          <p:nvPr/>
        </p:nvSpPr>
        <p:spPr>
          <a:xfrm>
            <a:off x="2194560" y="429768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194560" y="429768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empezáis</a:t>
            </a:r>
          </a:p>
        </p:txBody>
      </p:sp>
      <p:sp>
        <p:nvSpPr>
          <p:cNvPr id="46" name="Rounded Rectangle 45"/>
          <p:cNvSpPr/>
          <p:nvPr/>
        </p:nvSpPr>
        <p:spPr>
          <a:xfrm>
            <a:off x="5760720" y="429768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60720" y="429768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queréis</a:t>
            </a:r>
          </a:p>
        </p:txBody>
      </p:sp>
      <p:sp>
        <p:nvSpPr>
          <p:cNvPr id="48" name="Rounded Rectangle 47"/>
          <p:cNvSpPr/>
          <p:nvPr/>
        </p:nvSpPr>
        <p:spPr>
          <a:xfrm>
            <a:off x="9326880" y="429768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26880" y="429768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pedís</a:t>
            </a:r>
          </a:p>
        </p:txBody>
      </p:sp>
      <p:sp>
        <p:nvSpPr>
          <p:cNvPr id="50" name="TextBox 49"/>
          <p:cNvSpPr txBox="1"/>
          <p:nvPr/>
        </p:nvSpPr>
        <p:spPr>
          <a:xfrm>
            <a:off x="640080" y="484632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ellos</a:t>
            </a:r>
          </a:p>
        </p:txBody>
      </p:sp>
      <p:sp>
        <p:nvSpPr>
          <p:cNvPr id="51" name="Rounded Rectangle 50"/>
          <p:cNvSpPr/>
          <p:nvPr/>
        </p:nvSpPr>
        <p:spPr>
          <a:xfrm>
            <a:off x="2194560" y="48463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94560" y="48463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empiezan</a:t>
            </a:r>
          </a:p>
        </p:txBody>
      </p:sp>
      <p:sp>
        <p:nvSpPr>
          <p:cNvPr id="53" name="Rounded Rectangle 52"/>
          <p:cNvSpPr/>
          <p:nvPr/>
        </p:nvSpPr>
        <p:spPr>
          <a:xfrm>
            <a:off x="5760720" y="48463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760720" y="48463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quieren</a:t>
            </a:r>
          </a:p>
        </p:txBody>
      </p:sp>
      <p:sp>
        <p:nvSpPr>
          <p:cNvPr id="55" name="Rounded Rectangle 54"/>
          <p:cNvSpPr/>
          <p:nvPr/>
        </p:nvSpPr>
        <p:spPr>
          <a:xfrm>
            <a:off x="9326880" y="48463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326880" y="48463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piden</a:t>
            </a:r>
          </a:p>
        </p:txBody>
      </p:sp>
      <p:sp>
        <p:nvSpPr>
          <p:cNvPr id="57" name="Rounded Rectangle 56"/>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58" name="Rounded Rectangle 5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59" name="Rounded Rectangle 58">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60" name="TextBox 5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61" name="Rounded Rectangle 60"/>
          <p:cNvSpPr/>
          <p:nvPr/>
        </p:nvSpPr>
        <p:spPr>
          <a:xfrm>
            <a:off x="457200" y="5486400"/>
            <a:ext cx="11247120" cy="5029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e→ie (empiezo, quiero, prefiero, me despierto) · e→i (pido, me visto, sirvo). </a:t>
            </a:r>
            <a:r>
              <a:rPr sz="1200" b="0" i="0">
                <a:solidFill>
                  <a:srgbClr val="157355"/>
                </a:solidFill>
                <a:latin typeface="Inter"/>
              </a:rPr>
              <a:t>Nosotros/vosotros: geen wissel (empezamos, pedimos).</a:t>
            </a:r>
          </a:p>
        </p:txBody>
      </p:sp>
      <p:sp>
        <p:nvSpPr>
          <p:cNvPr id="62" name="Rounded Rectangle 61"/>
          <p:cNvSpPr/>
          <p:nvPr/>
        </p:nvSpPr>
        <p:spPr>
          <a:xfrm>
            <a:off x="594360" y="535838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63" name="Rectangle 6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65" name="TextBox 6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66" name="TextBox 6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5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5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5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500"/>
                                        <p:tgtEl>
                                          <p:spTgt spid="4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fade">
                                      <p:cBhvr>
                                        <p:cTn id="62" dur="500"/>
                                        <p:tgtEl>
                                          <p:spTgt spid="42"/>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500"/>
                                        <p:tgtEl>
                                          <p:spTgt spid="4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500"/>
                                        <p:tgtEl>
                                          <p:spTgt spid="4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49"/>
                                        </p:tgtEl>
                                        <p:attrNameLst>
                                          <p:attrName>style.visibility</p:attrName>
                                        </p:attrNameLst>
                                      </p:cBhvr>
                                      <p:to>
                                        <p:strVal val="visible"/>
                                      </p:to>
                                    </p:set>
                                    <p:animEffect transition="in" filter="fade">
                                      <p:cBhvr>
                                        <p:cTn id="77" dur="500"/>
                                        <p:tgtEl>
                                          <p:spTgt spid="49"/>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52"/>
                                        </p:tgtEl>
                                        <p:attrNameLst>
                                          <p:attrName>style.visibility</p:attrName>
                                        </p:attrNameLst>
                                      </p:cBhvr>
                                      <p:to>
                                        <p:strVal val="visible"/>
                                      </p:to>
                                    </p:set>
                                    <p:animEffect transition="in" filter="fade">
                                      <p:cBhvr>
                                        <p:cTn id="82" dur="500"/>
                                        <p:tgtEl>
                                          <p:spTgt spid="52"/>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500"/>
                                        <p:tgtEl>
                                          <p:spTgt spid="5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6"/>
                                        </p:tgtEl>
                                        <p:attrNameLst>
                                          <p:attrName>style.visibility</p:attrName>
                                        </p:attrNameLst>
                                      </p:cBhvr>
                                      <p:to>
                                        <p:strVal val="visible"/>
                                      </p:to>
                                    </p:set>
                                    <p:animEffect transition="in" filter="fade">
                                      <p:cBhvr>
                                        <p:cTn id="92" dur="500"/>
                                        <p:tgtEl>
                                          <p:spTgt spid="56"/>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500"/>
                                        <p:tgtEl>
                                          <p:spTgt spid="61"/>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62"/>
                                        </p:tgtEl>
                                        <p:attrNameLst>
                                          <p:attrName>style.visibility</p:attrName>
                                        </p:attrNameLst>
                                      </p:cBhvr>
                                      <p:to>
                                        <p:strVal val="visible"/>
                                      </p:to>
                                    </p:set>
                                    <p:animEffect transition="in" filter="fade">
                                      <p:cBhvr>
                                        <p:cTn id="102"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29661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§3 · GRAMÁTICA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3</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hacer · ir · salir — el «yo» especial</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Klik een cel → de vorm. De verrassing zit in de yo-vorm.</a:t>
            </a:r>
          </a:p>
        </p:txBody>
      </p:sp>
      <p:sp>
        <p:nvSpPr>
          <p:cNvPr id="9" name="Rounded Rectangle 8"/>
          <p:cNvSpPr/>
          <p:nvPr/>
        </p:nvSpPr>
        <p:spPr>
          <a:xfrm>
            <a:off x="2194560" y="1554480"/>
            <a:ext cx="3383280" cy="457200"/>
          </a:xfrm>
          <a:prstGeom prst="roundRect">
            <a:avLst>
              <a:gd name="adj" fmla="val 5500"/>
            </a:avLst>
          </a:prstGeom>
          <a:solidFill>
            <a:srgbClr val="1E9E7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94560" y="1554480"/>
            <a:ext cx="33832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Bricolage Grotesque"/>
              </a:rPr>
              <a:t>hacer</a:t>
            </a:r>
          </a:p>
        </p:txBody>
      </p:sp>
      <p:sp>
        <p:nvSpPr>
          <p:cNvPr id="11" name="Rounded Rectangle 10"/>
          <p:cNvSpPr/>
          <p:nvPr/>
        </p:nvSpPr>
        <p:spPr>
          <a:xfrm>
            <a:off x="5760720" y="1554480"/>
            <a:ext cx="3383280" cy="457200"/>
          </a:xfrm>
          <a:prstGeom prst="roundRect">
            <a:avLst>
              <a:gd name="adj" fmla="val 5500"/>
            </a:avLst>
          </a:prstGeom>
          <a:solidFill>
            <a:srgbClr val="1E9E7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0" y="1554480"/>
            <a:ext cx="33832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Bricolage Grotesque"/>
              </a:rPr>
              <a:t>ir</a:t>
            </a:r>
          </a:p>
        </p:txBody>
      </p:sp>
      <p:sp>
        <p:nvSpPr>
          <p:cNvPr id="13" name="Rounded Rectangle 12"/>
          <p:cNvSpPr/>
          <p:nvPr/>
        </p:nvSpPr>
        <p:spPr>
          <a:xfrm>
            <a:off x="9326880" y="1554480"/>
            <a:ext cx="3383280" cy="457200"/>
          </a:xfrm>
          <a:prstGeom prst="roundRect">
            <a:avLst>
              <a:gd name="adj" fmla="val 5500"/>
            </a:avLst>
          </a:prstGeom>
          <a:solidFill>
            <a:srgbClr val="1E9E7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554480"/>
            <a:ext cx="33832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Bricolage Grotesque"/>
              </a:rPr>
              <a:t>salir</a:t>
            </a:r>
          </a:p>
        </p:txBody>
      </p:sp>
      <p:sp>
        <p:nvSpPr>
          <p:cNvPr id="15" name="TextBox 14"/>
          <p:cNvSpPr txBox="1"/>
          <p:nvPr/>
        </p:nvSpPr>
        <p:spPr>
          <a:xfrm>
            <a:off x="640080" y="210312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yo</a:t>
            </a:r>
          </a:p>
        </p:txBody>
      </p:sp>
      <p:sp>
        <p:nvSpPr>
          <p:cNvPr id="16" name="Rounded Rectangle 15"/>
          <p:cNvSpPr/>
          <p:nvPr/>
        </p:nvSpPr>
        <p:spPr>
          <a:xfrm>
            <a:off x="2194560" y="21031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0" y="21031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hago</a:t>
            </a:r>
          </a:p>
        </p:txBody>
      </p:sp>
      <p:sp>
        <p:nvSpPr>
          <p:cNvPr id="18" name="Rounded Rectangle 17"/>
          <p:cNvSpPr/>
          <p:nvPr/>
        </p:nvSpPr>
        <p:spPr>
          <a:xfrm>
            <a:off x="5760720" y="21031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60720" y="21031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voy</a:t>
            </a:r>
          </a:p>
        </p:txBody>
      </p:sp>
      <p:sp>
        <p:nvSpPr>
          <p:cNvPr id="20" name="Rounded Rectangle 19"/>
          <p:cNvSpPr/>
          <p:nvPr/>
        </p:nvSpPr>
        <p:spPr>
          <a:xfrm>
            <a:off x="9326880" y="21031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26880" y="21031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EA7317"/>
                </a:solidFill>
                <a:latin typeface="Inter"/>
              </a:rPr>
              <a:t>salgo</a:t>
            </a:r>
          </a:p>
        </p:txBody>
      </p:sp>
      <p:sp>
        <p:nvSpPr>
          <p:cNvPr id="22" name="TextBox 21"/>
          <p:cNvSpPr txBox="1"/>
          <p:nvPr/>
        </p:nvSpPr>
        <p:spPr>
          <a:xfrm>
            <a:off x="640080" y="265176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tú</a:t>
            </a:r>
          </a:p>
        </p:txBody>
      </p:sp>
      <p:sp>
        <p:nvSpPr>
          <p:cNvPr id="23" name="Rounded Rectangle 22"/>
          <p:cNvSpPr/>
          <p:nvPr/>
        </p:nvSpPr>
        <p:spPr>
          <a:xfrm>
            <a:off x="2194560" y="265176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94560" y="265176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haces</a:t>
            </a:r>
          </a:p>
        </p:txBody>
      </p:sp>
      <p:sp>
        <p:nvSpPr>
          <p:cNvPr id="25" name="Rounded Rectangle 24"/>
          <p:cNvSpPr/>
          <p:nvPr/>
        </p:nvSpPr>
        <p:spPr>
          <a:xfrm>
            <a:off x="5760720" y="265176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60720" y="265176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vas</a:t>
            </a:r>
          </a:p>
        </p:txBody>
      </p:sp>
      <p:sp>
        <p:nvSpPr>
          <p:cNvPr id="27" name="Rounded Rectangle 26"/>
          <p:cNvSpPr/>
          <p:nvPr/>
        </p:nvSpPr>
        <p:spPr>
          <a:xfrm>
            <a:off x="9326880" y="265176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5176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sales</a:t>
            </a:r>
          </a:p>
        </p:txBody>
      </p:sp>
      <p:sp>
        <p:nvSpPr>
          <p:cNvPr id="29" name="TextBox 28"/>
          <p:cNvSpPr txBox="1"/>
          <p:nvPr/>
        </p:nvSpPr>
        <p:spPr>
          <a:xfrm>
            <a:off x="640080" y="320040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él/ella</a:t>
            </a:r>
          </a:p>
        </p:txBody>
      </p:sp>
      <p:sp>
        <p:nvSpPr>
          <p:cNvPr id="30" name="Rounded Rectangle 29"/>
          <p:cNvSpPr/>
          <p:nvPr/>
        </p:nvSpPr>
        <p:spPr>
          <a:xfrm>
            <a:off x="2194560" y="320040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320040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hace</a:t>
            </a:r>
          </a:p>
        </p:txBody>
      </p:sp>
      <p:sp>
        <p:nvSpPr>
          <p:cNvPr id="32" name="Rounded Rectangle 31"/>
          <p:cNvSpPr/>
          <p:nvPr/>
        </p:nvSpPr>
        <p:spPr>
          <a:xfrm>
            <a:off x="5760720" y="320040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60720" y="320040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va</a:t>
            </a:r>
          </a:p>
        </p:txBody>
      </p:sp>
      <p:sp>
        <p:nvSpPr>
          <p:cNvPr id="34" name="Rounded Rectangle 33"/>
          <p:cNvSpPr/>
          <p:nvPr/>
        </p:nvSpPr>
        <p:spPr>
          <a:xfrm>
            <a:off x="9326880" y="320040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0" y="320040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sale</a:t>
            </a:r>
          </a:p>
        </p:txBody>
      </p:sp>
      <p:sp>
        <p:nvSpPr>
          <p:cNvPr id="36" name="TextBox 35"/>
          <p:cNvSpPr txBox="1"/>
          <p:nvPr/>
        </p:nvSpPr>
        <p:spPr>
          <a:xfrm>
            <a:off x="640080" y="374904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nosotros</a:t>
            </a:r>
          </a:p>
        </p:txBody>
      </p:sp>
      <p:sp>
        <p:nvSpPr>
          <p:cNvPr id="37" name="Rounded Rectangle 36"/>
          <p:cNvSpPr/>
          <p:nvPr/>
        </p:nvSpPr>
        <p:spPr>
          <a:xfrm>
            <a:off x="2194560" y="374904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94560" y="374904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hacemos</a:t>
            </a:r>
          </a:p>
        </p:txBody>
      </p:sp>
      <p:sp>
        <p:nvSpPr>
          <p:cNvPr id="39" name="Rounded Rectangle 38"/>
          <p:cNvSpPr/>
          <p:nvPr/>
        </p:nvSpPr>
        <p:spPr>
          <a:xfrm>
            <a:off x="5760720" y="374904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60720" y="374904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vamos</a:t>
            </a:r>
          </a:p>
        </p:txBody>
      </p:sp>
      <p:sp>
        <p:nvSpPr>
          <p:cNvPr id="41" name="Rounded Rectangle 40"/>
          <p:cNvSpPr/>
          <p:nvPr/>
        </p:nvSpPr>
        <p:spPr>
          <a:xfrm>
            <a:off x="9326880" y="374904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26880" y="374904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salimos</a:t>
            </a:r>
          </a:p>
        </p:txBody>
      </p:sp>
      <p:sp>
        <p:nvSpPr>
          <p:cNvPr id="43" name="TextBox 42"/>
          <p:cNvSpPr txBox="1"/>
          <p:nvPr/>
        </p:nvSpPr>
        <p:spPr>
          <a:xfrm>
            <a:off x="640080" y="429768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vosotros</a:t>
            </a:r>
          </a:p>
        </p:txBody>
      </p:sp>
      <p:sp>
        <p:nvSpPr>
          <p:cNvPr id="44" name="Rounded Rectangle 43"/>
          <p:cNvSpPr/>
          <p:nvPr/>
        </p:nvSpPr>
        <p:spPr>
          <a:xfrm>
            <a:off x="2194560" y="429768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194560" y="429768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hacéis</a:t>
            </a:r>
          </a:p>
        </p:txBody>
      </p:sp>
      <p:sp>
        <p:nvSpPr>
          <p:cNvPr id="46" name="Rounded Rectangle 45"/>
          <p:cNvSpPr/>
          <p:nvPr/>
        </p:nvSpPr>
        <p:spPr>
          <a:xfrm>
            <a:off x="5760720" y="429768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60720" y="429768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vais</a:t>
            </a:r>
          </a:p>
        </p:txBody>
      </p:sp>
      <p:sp>
        <p:nvSpPr>
          <p:cNvPr id="48" name="Rounded Rectangle 47"/>
          <p:cNvSpPr/>
          <p:nvPr/>
        </p:nvSpPr>
        <p:spPr>
          <a:xfrm>
            <a:off x="9326880" y="429768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26880" y="429768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salís</a:t>
            </a:r>
          </a:p>
        </p:txBody>
      </p:sp>
      <p:sp>
        <p:nvSpPr>
          <p:cNvPr id="50" name="TextBox 49"/>
          <p:cNvSpPr txBox="1"/>
          <p:nvPr/>
        </p:nvSpPr>
        <p:spPr>
          <a:xfrm>
            <a:off x="640080" y="4846320"/>
            <a:ext cx="14630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6A6E78"/>
                </a:solidFill>
                <a:latin typeface="Inter"/>
              </a:rPr>
              <a:t>ellos</a:t>
            </a:r>
          </a:p>
        </p:txBody>
      </p:sp>
      <p:sp>
        <p:nvSpPr>
          <p:cNvPr id="51" name="Rounded Rectangle 50"/>
          <p:cNvSpPr/>
          <p:nvPr/>
        </p:nvSpPr>
        <p:spPr>
          <a:xfrm>
            <a:off x="2194560" y="48463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94560" y="48463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hacen</a:t>
            </a:r>
          </a:p>
        </p:txBody>
      </p:sp>
      <p:sp>
        <p:nvSpPr>
          <p:cNvPr id="53" name="Rounded Rectangle 52"/>
          <p:cNvSpPr/>
          <p:nvPr/>
        </p:nvSpPr>
        <p:spPr>
          <a:xfrm>
            <a:off x="5760720" y="48463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760720" y="48463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van</a:t>
            </a:r>
          </a:p>
        </p:txBody>
      </p:sp>
      <p:sp>
        <p:nvSpPr>
          <p:cNvPr id="55" name="Rounded Rectangle 54"/>
          <p:cNvSpPr/>
          <p:nvPr/>
        </p:nvSpPr>
        <p:spPr>
          <a:xfrm>
            <a:off x="9326880" y="4846320"/>
            <a:ext cx="3383280" cy="5029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326880" y="4846320"/>
            <a:ext cx="33832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0" i="0">
                <a:solidFill>
                  <a:srgbClr val="20242E"/>
                </a:solidFill>
                <a:latin typeface="Inter"/>
              </a:rPr>
              <a:t>salen</a:t>
            </a:r>
          </a:p>
        </p:txBody>
      </p:sp>
      <p:sp>
        <p:nvSpPr>
          <p:cNvPr id="57" name="Rounded Rectangle 56"/>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58" name="Rounded Rectangle 5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59" name="Rounded Rectangle 58">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60" name="TextBox 5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61" name="Rounded Rectangle 60"/>
          <p:cNvSpPr/>
          <p:nvPr/>
        </p:nvSpPr>
        <p:spPr>
          <a:xfrm>
            <a:off x="457200" y="5486400"/>
            <a:ext cx="11247120" cy="5029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 hago · salgo krijgen -g- in de yo-vorm; ir is helemaal apart (voy, vas, va…). </a:t>
            </a:r>
            <a:r>
              <a:rPr sz="1200" b="0" i="0">
                <a:solidFill>
                  <a:srgbClr val="157355"/>
                </a:solidFill>
                <a:latin typeface="Inter"/>
              </a:rPr>
              <a:t>De rest is regelmatig.</a:t>
            </a:r>
          </a:p>
        </p:txBody>
      </p:sp>
      <p:sp>
        <p:nvSpPr>
          <p:cNvPr id="62" name="Rounded Rectangle 61"/>
          <p:cNvSpPr/>
          <p:nvPr/>
        </p:nvSpPr>
        <p:spPr>
          <a:xfrm>
            <a:off x="594360" y="535838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63" name="Rectangle 6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65" name="TextBox 6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66" name="TextBox 6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5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5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5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500"/>
                                        <p:tgtEl>
                                          <p:spTgt spid="4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fade">
                                      <p:cBhvr>
                                        <p:cTn id="62" dur="500"/>
                                        <p:tgtEl>
                                          <p:spTgt spid="42"/>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500"/>
                                        <p:tgtEl>
                                          <p:spTgt spid="4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500"/>
                                        <p:tgtEl>
                                          <p:spTgt spid="4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49"/>
                                        </p:tgtEl>
                                        <p:attrNameLst>
                                          <p:attrName>style.visibility</p:attrName>
                                        </p:attrNameLst>
                                      </p:cBhvr>
                                      <p:to>
                                        <p:strVal val="visible"/>
                                      </p:to>
                                    </p:set>
                                    <p:animEffect transition="in" filter="fade">
                                      <p:cBhvr>
                                        <p:cTn id="77" dur="500"/>
                                        <p:tgtEl>
                                          <p:spTgt spid="49"/>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52"/>
                                        </p:tgtEl>
                                        <p:attrNameLst>
                                          <p:attrName>style.visibility</p:attrName>
                                        </p:attrNameLst>
                                      </p:cBhvr>
                                      <p:to>
                                        <p:strVal val="visible"/>
                                      </p:to>
                                    </p:set>
                                    <p:animEffect transition="in" filter="fade">
                                      <p:cBhvr>
                                        <p:cTn id="82" dur="500"/>
                                        <p:tgtEl>
                                          <p:spTgt spid="52"/>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500"/>
                                        <p:tgtEl>
                                          <p:spTgt spid="5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6"/>
                                        </p:tgtEl>
                                        <p:attrNameLst>
                                          <p:attrName>style.visibility</p:attrName>
                                        </p:attrNameLst>
                                      </p:cBhvr>
                                      <p:to>
                                        <p:strVal val="visible"/>
                                      </p:to>
                                    </p:set>
                                    <p:animEffect transition="in" filter="fade">
                                      <p:cBhvr>
                                        <p:cTn id="92" dur="500"/>
                                        <p:tgtEl>
                                          <p:spTgt spid="56"/>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500"/>
                                        <p:tgtEl>
                                          <p:spTgt spid="61"/>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62"/>
                                        </p:tgtEl>
                                        <p:attrNameLst>
                                          <p:attrName>style.visibility</p:attrName>
                                        </p:attrNameLst>
                                      </p:cBhvr>
                                      <p:to>
                                        <p:strVal val="visible"/>
                                      </p:to>
                                    </p:set>
                                    <p:animEffect transition="in" filter="fade">
                                      <p:cBhvr>
                                        <p:cTn id="102"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SPEAKING · PRODUCCIÓN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Cuenta tu día</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Bouw je dag met de substitutietabel. Steun bouwt af: tabel → beginwoorden → uit het hoofd.</a:t>
            </a:r>
          </a:p>
        </p:txBody>
      </p:sp>
      <p:pic>
        <p:nvPicPr>
          <p:cNvPr id="9" name="Picture 8" descr="tu.png"/>
          <p:cNvPicPr>
            <a:picLocks noChangeAspect="1"/>
          </p:cNvPicPr>
          <p:nvPr/>
        </p:nvPicPr>
        <p:blipFill>
          <a:blip r:embed="rId2"/>
          <a:stretch>
            <a:fillRect/>
          </a:stretch>
        </p:blipFill>
        <p:spPr>
          <a:xfrm>
            <a:off x="10424160" y="1554480"/>
            <a:ext cx="1188720" cy="1188720"/>
          </a:xfrm>
          <a:prstGeom prst="rect">
            <a:avLst/>
          </a:prstGeom>
        </p:spPr>
      </p:pic>
      <p:sp>
        <p:nvSpPr>
          <p:cNvPr id="10" name="Rounded Rectangle 9"/>
          <p:cNvSpPr/>
          <p:nvPr/>
        </p:nvSpPr>
        <p:spPr>
          <a:xfrm>
            <a:off x="457200" y="1645920"/>
            <a:ext cx="3108960" cy="731520"/>
          </a:xfrm>
          <a:prstGeom prst="roundRect">
            <a:avLst>
              <a:gd name="adj" fmla="val 5500"/>
            </a:avLst>
          </a:prstGeom>
          <a:solidFill>
            <a:srgbClr val="FFFFFF"/>
          </a:solidFill>
          <a:ln w="1524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691640"/>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Empiezo</a:t>
            </a:r>
          </a:p>
        </p:txBody>
      </p:sp>
      <p:sp>
        <p:nvSpPr>
          <p:cNvPr id="12" name="TextBox 11"/>
          <p:cNvSpPr txBox="1"/>
          <p:nvPr/>
        </p:nvSpPr>
        <p:spPr>
          <a:xfrm>
            <a:off x="594360" y="1975104"/>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Me levanto a las ___</a:t>
            </a:r>
          </a:p>
        </p:txBody>
      </p:sp>
      <p:sp>
        <p:nvSpPr>
          <p:cNvPr id="13" name="Rounded Rectangle 12"/>
          <p:cNvSpPr/>
          <p:nvPr/>
        </p:nvSpPr>
        <p:spPr>
          <a:xfrm>
            <a:off x="457200" y="2542032"/>
            <a:ext cx="3108960" cy="731520"/>
          </a:xfrm>
          <a:prstGeom prst="roundRect">
            <a:avLst>
              <a:gd name="adj" fmla="val 5500"/>
            </a:avLst>
          </a:prstGeom>
          <a:solidFill>
            <a:srgbClr val="FFFFFF"/>
          </a:solidFill>
          <a:ln w="1524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587752"/>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Mañana</a:t>
            </a:r>
          </a:p>
        </p:txBody>
      </p:sp>
      <p:sp>
        <p:nvSpPr>
          <p:cNvPr id="15" name="TextBox 14"/>
          <p:cNvSpPr txBox="1"/>
          <p:nvPr/>
        </p:nvSpPr>
        <p:spPr>
          <a:xfrm>
            <a:off x="594360" y="2871216"/>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Me ducho / me visto</a:t>
            </a:r>
          </a:p>
        </p:txBody>
      </p:sp>
      <p:sp>
        <p:nvSpPr>
          <p:cNvPr id="16" name="Rounded Rectangle 15"/>
          <p:cNvSpPr/>
          <p:nvPr/>
        </p:nvSpPr>
        <p:spPr>
          <a:xfrm>
            <a:off x="457200" y="3438144"/>
            <a:ext cx="3108960" cy="731520"/>
          </a:xfrm>
          <a:prstGeom prst="roundRect">
            <a:avLst>
              <a:gd name="adj" fmla="val 5500"/>
            </a:avLst>
          </a:prstGeom>
          <a:solidFill>
            <a:srgbClr val="FFFFFF"/>
          </a:solidFill>
          <a:ln w="1524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483864"/>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Mediodía</a:t>
            </a:r>
          </a:p>
        </p:txBody>
      </p:sp>
      <p:sp>
        <p:nvSpPr>
          <p:cNvPr id="18" name="TextBox 17"/>
          <p:cNvSpPr txBox="1"/>
          <p:nvPr/>
        </p:nvSpPr>
        <p:spPr>
          <a:xfrm>
            <a:off x="594360" y="3767328"/>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Almuerzo a las ___</a:t>
            </a:r>
          </a:p>
        </p:txBody>
      </p:sp>
      <p:sp>
        <p:nvSpPr>
          <p:cNvPr id="19" name="Rounded Rectangle 18"/>
          <p:cNvSpPr/>
          <p:nvPr/>
        </p:nvSpPr>
        <p:spPr>
          <a:xfrm>
            <a:off x="3749040" y="1645920"/>
            <a:ext cx="3108960" cy="731520"/>
          </a:xfrm>
          <a:prstGeom prst="roundRect">
            <a:avLst>
              <a:gd name="adj" fmla="val 5500"/>
            </a:avLst>
          </a:prstGeom>
          <a:solidFill>
            <a:srgbClr val="FFFFFF"/>
          </a:solidFill>
          <a:ln w="1524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86200" y="1691640"/>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Tarde</a:t>
            </a:r>
          </a:p>
        </p:txBody>
      </p:sp>
      <p:sp>
        <p:nvSpPr>
          <p:cNvPr id="21" name="TextBox 20"/>
          <p:cNvSpPr txBox="1"/>
          <p:nvPr/>
        </p:nvSpPr>
        <p:spPr>
          <a:xfrm>
            <a:off x="3886200" y="1975104"/>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Hago los deberes</a:t>
            </a:r>
          </a:p>
        </p:txBody>
      </p:sp>
      <p:sp>
        <p:nvSpPr>
          <p:cNvPr id="22" name="Rounded Rectangle 21"/>
          <p:cNvSpPr/>
          <p:nvPr/>
        </p:nvSpPr>
        <p:spPr>
          <a:xfrm>
            <a:off x="3749040" y="2542032"/>
            <a:ext cx="3108960" cy="731520"/>
          </a:xfrm>
          <a:prstGeom prst="roundRect">
            <a:avLst>
              <a:gd name="adj" fmla="val 5500"/>
            </a:avLst>
          </a:prstGeom>
          <a:solidFill>
            <a:srgbClr val="FFFFFF"/>
          </a:solidFill>
          <a:ln w="1524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86200" y="2587752"/>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Noche</a:t>
            </a:r>
          </a:p>
        </p:txBody>
      </p:sp>
      <p:sp>
        <p:nvSpPr>
          <p:cNvPr id="24" name="TextBox 23"/>
          <p:cNvSpPr txBox="1"/>
          <p:nvPr/>
        </p:nvSpPr>
        <p:spPr>
          <a:xfrm>
            <a:off x="3886200" y="2871216"/>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Ceno / me acuesto</a:t>
            </a:r>
          </a:p>
        </p:txBody>
      </p:sp>
      <p:sp>
        <p:nvSpPr>
          <p:cNvPr id="25" name="Rounded Rectangle 24"/>
          <p:cNvSpPr/>
          <p:nvPr/>
        </p:nvSpPr>
        <p:spPr>
          <a:xfrm>
            <a:off x="3749040" y="3438144"/>
            <a:ext cx="3108960" cy="731520"/>
          </a:xfrm>
          <a:prstGeom prst="roundRect">
            <a:avLst>
              <a:gd name="adj" fmla="val 5500"/>
            </a:avLst>
          </a:prstGeom>
          <a:solidFill>
            <a:srgbClr val="FFFFFF"/>
          </a:solidFill>
          <a:ln w="1524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86200" y="3483864"/>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Frecuencia</a:t>
            </a:r>
          </a:p>
        </p:txBody>
      </p:sp>
      <p:sp>
        <p:nvSpPr>
          <p:cNvPr id="27" name="TextBox 26"/>
          <p:cNvSpPr txBox="1"/>
          <p:nvPr/>
        </p:nvSpPr>
        <p:spPr>
          <a:xfrm>
            <a:off x="3886200" y="3767328"/>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Siempre / a veces / nunca</a:t>
            </a:r>
          </a:p>
        </p:txBody>
      </p:sp>
      <p:sp>
        <p:nvSpPr>
          <p:cNvPr id="28" name="TextBox 27"/>
          <p:cNvSpPr txBox="1"/>
          <p:nvPr/>
        </p:nvSpPr>
        <p:spPr>
          <a:xfrm>
            <a:off x="457200" y="4572000"/>
            <a:ext cx="9601200" cy="8229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Inter"/>
              </a:rPr>
              <a:t>Ronda 1: </a:t>
            </a:r>
            <a:r>
              <a:rPr sz="1200" b="0" i="0">
                <a:solidFill>
                  <a:srgbClr val="20242E"/>
                </a:solidFill>
                <a:latin typeface="Inter"/>
              </a:rPr>
              <a:t>met de tabel. </a:t>
            </a:r>
            <a:r>
              <a:rPr sz="1200" b="1" i="0">
                <a:solidFill>
                  <a:srgbClr val="157355"/>
                </a:solidFill>
                <a:latin typeface="Inter"/>
              </a:rPr>
              <a:t>Ronda 2: </a:t>
            </a:r>
            <a:r>
              <a:rPr sz="1200" b="0" i="0">
                <a:solidFill>
                  <a:srgbClr val="20242E"/>
                </a:solidFill>
                <a:latin typeface="Inter"/>
              </a:rPr>
              <a:t>alleen beginwoorden. </a:t>
            </a:r>
            <a:r>
              <a:rPr sz="1200" b="1" i="0">
                <a:solidFill>
                  <a:srgbClr val="157355"/>
                </a:solidFill>
                <a:latin typeface="Inter"/>
              </a:rPr>
              <a:t>Ronda 3: </a:t>
            </a:r>
            <a:r>
              <a:rPr sz="1200" b="0" i="0">
                <a:solidFill>
                  <a:srgbClr val="20242E"/>
                </a:solidFill>
                <a:latin typeface="Inter"/>
              </a:rPr>
              <a:t>uit het hoofd, tegen 3 klasgenoten. </a:t>
            </a:r>
            <a:r>
              <a:rPr sz="1200" b="1" i="0">
                <a:solidFill>
                  <a:srgbClr val="157355"/>
                </a:solidFill>
                <a:latin typeface="Inter"/>
              </a:rPr>
              <a:t>Ronda 4: </a:t>
            </a:r>
            <a:r>
              <a:rPr sz="1200" b="0" i="0">
                <a:solidFill>
                  <a:srgbClr val="20242E"/>
                </a:solidFill>
                <a:latin typeface="Inter"/>
              </a:rPr>
              <a:t>grábate → terugluisteren.</a:t>
            </a:r>
          </a:p>
        </p:txBody>
      </p:sp>
      <p:sp>
        <p:nvSpPr>
          <p:cNvPr id="29" name="Rounded Rectangle 28"/>
          <p:cNvSpPr/>
          <p:nvPr/>
        </p:nvSpPr>
        <p:spPr>
          <a:xfrm>
            <a:off x="457200" y="4251960"/>
            <a:ext cx="3315614"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 Grábate online · «Carrusel: mi día»</a:t>
            </a:r>
          </a:p>
        </p:txBody>
      </p:sp>
      <p:sp>
        <p:nvSpPr>
          <p:cNvPr id="30" name="Rounded Rectangle 29"/>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1" name="Rounded Rectangle 30"/>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32" name="Rounded Rectangle 31">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3" name="TextBox 32"/>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4" name="Rounded Rectangle 33"/>
          <p:cNvSpPr/>
          <p:nvPr/>
        </p:nvSpPr>
        <p:spPr>
          <a:xfrm>
            <a:off x="457200" y="5120640"/>
            <a:ext cx="11247120" cy="59436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Modelo: </a:t>
            </a:r>
            <a:r>
              <a:rPr sz="1200" b="0" i="0">
                <a:solidFill>
                  <a:srgbClr val="157355"/>
                </a:solidFill>
                <a:latin typeface="Inter"/>
              </a:rPr>
              <a:t>«Me levanto a las siete, me ducho y desayuno. Empiezo el insti a las nueve. Por la tarde juego al fútbol. A veces ceno tarde.»</a:t>
            </a:r>
          </a:p>
        </p:txBody>
      </p:sp>
      <p:sp>
        <p:nvSpPr>
          <p:cNvPr id="35" name="Rounded Rectangle 34"/>
          <p:cNvSpPr/>
          <p:nvPr/>
        </p:nvSpPr>
        <p:spPr>
          <a:xfrm>
            <a:off x="594360" y="499262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6" name="Rectangle 35"/>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38" name="TextBox 37"/>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9" name="TextBox 38"/>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05374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§5 · LEER · COMPRENSIÓN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5</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día de Pau</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Lees en beantwoord. Klik een vraag → het antwoord verschijnt.</a:t>
            </a:r>
          </a:p>
        </p:txBody>
      </p:sp>
      <p:sp>
        <p:nvSpPr>
          <p:cNvPr id="9" name="Rounded Rectangle 8"/>
          <p:cNvSpPr/>
          <p:nvPr/>
        </p:nvSpPr>
        <p:spPr>
          <a:xfrm>
            <a:off x="457200" y="1508760"/>
            <a:ext cx="5303520" cy="4023360"/>
          </a:xfrm>
          <a:prstGeom prst="roundRect">
            <a:avLst>
              <a:gd name="adj" fmla="val 5500"/>
            </a:avLst>
          </a:prstGeom>
          <a:solidFill>
            <a:srgbClr val="E4F4EE"/>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iego.png"/>
          <p:cNvPicPr>
            <a:picLocks noChangeAspect="1"/>
          </p:cNvPicPr>
          <p:nvPr/>
        </p:nvPicPr>
        <p:blipFill>
          <a:blip r:embed="rId2"/>
          <a:stretch>
            <a:fillRect/>
          </a:stretch>
        </p:blipFill>
        <p:spPr>
          <a:xfrm>
            <a:off x="731520" y="1737360"/>
            <a:ext cx="914400" cy="914400"/>
          </a:xfrm>
          <a:prstGeom prst="rect">
            <a:avLst/>
          </a:prstGeom>
        </p:spPr>
      </p:pic>
      <p:sp>
        <p:nvSpPr>
          <p:cNvPr id="11" name="TextBox 10"/>
          <p:cNvSpPr txBox="1"/>
          <p:nvPr/>
        </p:nvSpPr>
        <p:spPr>
          <a:xfrm>
            <a:off x="1828800" y="1783080"/>
            <a:ext cx="3749039" cy="3657600"/>
          </a:xfrm>
          <a:prstGeom prst="rect">
            <a:avLst/>
          </a:prstGeom>
          <a:noFill/>
        </p:spPr>
        <p:txBody>
          <a:bodyPr wrap="square" anchor="t" lIns="38100" rIns="38100" tIns="25400" bIns="25400">
            <a:spAutoFit/>
          </a:bodyPr>
          <a:lstStyle/>
          <a:p>
            <a:pPr algn="l">
              <a:lnSpc>
                <a:spcPct val="122000"/>
              </a:lnSpc>
              <a:spcBef>
                <a:spcPts val="0"/>
              </a:spcBef>
              <a:spcAft>
                <a:spcPts val="200"/>
              </a:spcAft>
            </a:pPr>
            <a:r>
              <a:rPr sz="1250" b="0" i="1">
                <a:solidFill>
                  <a:srgbClr val="20242E"/>
                </a:solidFill>
                <a:latin typeface="Inter"/>
              </a:rPr>
              <a:t>«Me despierto a las siete y me levanto enseguida. Me ducho, me visto y desayuno. Salgo de casa a las ocho y voy al instituto en metro. Las clases empiezan a las nueve. Al mediodía almuerzo con mis amigos. Por la tarde hago los deberes y juego al fútbol. Ceno a las nueve y me acuesto a las once.»</a:t>
            </a:r>
          </a:p>
        </p:txBody>
      </p:sp>
      <p:sp>
        <p:nvSpPr>
          <p:cNvPr id="12" name="Rounded Rectangle 11"/>
          <p:cNvSpPr/>
          <p:nvPr/>
        </p:nvSpPr>
        <p:spPr>
          <a:xfrm>
            <a:off x="5943600" y="1554480"/>
            <a:ext cx="57607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80760" y="1600200"/>
            <a:ext cx="5486400" cy="329184"/>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Inter"/>
              </a:rPr>
              <a:t>¿A qué hora se despierta Pau?</a:t>
            </a:r>
          </a:p>
        </p:txBody>
      </p:sp>
      <p:sp>
        <p:nvSpPr>
          <p:cNvPr id="14" name="TextBox 13"/>
          <p:cNvSpPr txBox="1"/>
          <p:nvPr/>
        </p:nvSpPr>
        <p:spPr>
          <a:xfrm>
            <a:off x="6080760" y="1920240"/>
            <a:ext cx="548640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A las siete</a:t>
            </a:r>
          </a:p>
        </p:txBody>
      </p:sp>
      <p:sp>
        <p:nvSpPr>
          <p:cNvPr id="15" name="Rounded Rectangle 14"/>
          <p:cNvSpPr/>
          <p:nvPr/>
        </p:nvSpPr>
        <p:spPr>
          <a:xfrm>
            <a:off x="5943600" y="2359152"/>
            <a:ext cx="57607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404872"/>
            <a:ext cx="5486400" cy="329184"/>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Inter"/>
              </a:rPr>
              <a:t>¿Cómo va al instituto?</a:t>
            </a:r>
          </a:p>
        </p:txBody>
      </p:sp>
      <p:sp>
        <p:nvSpPr>
          <p:cNvPr id="17" name="TextBox 16"/>
          <p:cNvSpPr txBox="1"/>
          <p:nvPr/>
        </p:nvSpPr>
        <p:spPr>
          <a:xfrm>
            <a:off x="6080760" y="2724912"/>
            <a:ext cx="548640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En metro</a:t>
            </a:r>
          </a:p>
        </p:txBody>
      </p:sp>
      <p:sp>
        <p:nvSpPr>
          <p:cNvPr id="18" name="Rounded Rectangle 17"/>
          <p:cNvSpPr/>
          <p:nvPr/>
        </p:nvSpPr>
        <p:spPr>
          <a:xfrm>
            <a:off x="5943600" y="3163824"/>
            <a:ext cx="57607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80760" y="3209544"/>
            <a:ext cx="5486400" cy="329184"/>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Inter"/>
              </a:rPr>
              <a:t>¿A qué hora empiezan las clases?</a:t>
            </a:r>
          </a:p>
        </p:txBody>
      </p:sp>
      <p:sp>
        <p:nvSpPr>
          <p:cNvPr id="20" name="TextBox 19"/>
          <p:cNvSpPr txBox="1"/>
          <p:nvPr/>
        </p:nvSpPr>
        <p:spPr>
          <a:xfrm>
            <a:off x="6080760" y="3529584"/>
            <a:ext cx="548640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A las nueve</a:t>
            </a:r>
          </a:p>
        </p:txBody>
      </p:sp>
      <p:sp>
        <p:nvSpPr>
          <p:cNvPr id="21" name="Rounded Rectangle 20"/>
          <p:cNvSpPr/>
          <p:nvPr/>
        </p:nvSpPr>
        <p:spPr>
          <a:xfrm>
            <a:off x="5943600" y="3968496"/>
            <a:ext cx="57607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80760" y="4014216"/>
            <a:ext cx="5486400" cy="329184"/>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Inter"/>
              </a:rPr>
              <a:t>¿Qué hace por la tarde?</a:t>
            </a:r>
          </a:p>
        </p:txBody>
      </p:sp>
      <p:sp>
        <p:nvSpPr>
          <p:cNvPr id="23" name="TextBox 22"/>
          <p:cNvSpPr txBox="1"/>
          <p:nvPr/>
        </p:nvSpPr>
        <p:spPr>
          <a:xfrm>
            <a:off x="6080760" y="4334256"/>
            <a:ext cx="548640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Los deberes y juega al fútbol</a:t>
            </a:r>
          </a:p>
        </p:txBody>
      </p:sp>
      <p:sp>
        <p:nvSpPr>
          <p:cNvPr id="24" name="Rounded Rectangle 23"/>
          <p:cNvSpPr/>
          <p:nvPr/>
        </p:nvSpPr>
        <p:spPr>
          <a:xfrm>
            <a:off x="5943600" y="4773168"/>
            <a:ext cx="57607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80760" y="4818888"/>
            <a:ext cx="5486400" cy="329184"/>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Inter"/>
              </a:rPr>
              <a:t>¿A qué hora se acuesta?</a:t>
            </a:r>
          </a:p>
        </p:txBody>
      </p:sp>
      <p:sp>
        <p:nvSpPr>
          <p:cNvPr id="26" name="TextBox 25"/>
          <p:cNvSpPr txBox="1"/>
          <p:nvPr/>
        </p:nvSpPr>
        <p:spPr>
          <a:xfrm>
            <a:off x="6080760" y="5138928"/>
            <a:ext cx="548640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A las once</a:t>
            </a:r>
          </a:p>
        </p:txBody>
      </p:sp>
      <p:sp>
        <p:nvSpPr>
          <p:cNvPr id="27" name="Rounded Rectangle 26"/>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8" name="Rounded Rectangle 2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29" name="Rounded Rectangle 28">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0" name="TextBox 2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1" name="Rounded Rectangle 30"/>
          <p:cNvSpPr/>
          <p:nvPr/>
        </p:nvSpPr>
        <p:spPr>
          <a:xfrm>
            <a:off x="5943600" y="5623560"/>
            <a:ext cx="5760720" cy="45720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Daarna: </a:t>
            </a:r>
            <a:r>
              <a:rPr sz="1200" b="0" i="0">
                <a:solidFill>
                  <a:srgbClr val="157355"/>
                </a:solidFill>
                <a:latin typeface="Inter"/>
              </a:rPr>
              <a:t>leerlingen maken hun EIGEN horario (transfer → Tarea).</a:t>
            </a:r>
          </a:p>
        </p:txBody>
      </p:sp>
      <p:sp>
        <p:nvSpPr>
          <p:cNvPr id="32" name="Rounded Rectangle 31"/>
          <p:cNvSpPr/>
          <p:nvPr/>
        </p:nvSpPr>
        <p:spPr>
          <a:xfrm>
            <a:off x="6080760" y="549554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3" name="Rectangle 3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35" name="TextBox 3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6" name="TextBox 3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212494"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§1 · ESCUCHAR</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Escucha y anota la hora</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Vier momenten van de dag. Klik een kaart → hora + acción. (audio op de digitale pagina)</a:t>
            </a:r>
          </a:p>
        </p:txBody>
      </p:sp>
      <p:sp>
        <p:nvSpPr>
          <p:cNvPr id="9" name="Rounded Rectangle 8"/>
          <p:cNvSpPr/>
          <p:nvPr/>
        </p:nvSpPr>
        <p:spPr>
          <a:xfrm>
            <a:off x="640080" y="1737360"/>
            <a:ext cx="2697480" cy="219456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1737360"/>
            <a:ext cx="2697480" cy="457200"/>
          </a:xfrm>
          <a:prstGeom prst="rect">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37360"/>
            <a:ext cx="26974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157355"/>
                </a:solidFill>
                <a:latin typeface="Bricolage Grotesque"/>
              </a:rPr>
              <a:t>🔊  Por la mañana</a:t>
            </a:r>
          </a:p>
        </p:txBody>
      </p:sp>
      <p:sp>
        <p:nvSpPr>
          <p:cNvPr id="12" name="TextBox 11"/>
          <p:cNvSpPr txBox="1"/>
          <p:nvPr/>
        </p:nvSpPr>
        <p:spPr>
          <a:xfrm>
            <a:off x="777240" y="233172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Hora:</a:t>
            </a:r>
          </a:p>
        </p:txBody>
      </p:sp>
      <p:sp>
        <p:nvSpPr>
          <p:cNvPr id="13" name="TextBox 12"/>
          <p:cNvSpPr txBox="1"/>
          <p:nvPr/>
        </p:nvSpPr>
        <p:spPr>
          <a:xfrm>
            <a:off x="777240" y="265176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20242E"/>
                </a:solidFill>
                <a:latin typeface="Bricolage Grotesque"/>
              </a:rPr>
              <a:t>7:00</a:t>
            </a:r>
          </a:p>
        </p:txBody>
      </p:sp>
      <p:sp>
        <p:nvSpPr>
          <p:cNvPr id="14" name="TextBox 13"/>
          <p:cNvSpPr txBox="1"/>
          <p:nvPr/>
        </p:nvSpPr>
        <p:spPr>
          <a:xfrm>
            <a:off x="777240" y="310896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Acción:</a:t>
            </a:r>
          </a:p>
        </p:txBody>
      </p:sp>
      <p:sp>
        <p:nvSpPr>
          <p:cNvPr id="15" name="TextBox 14"/>
          <p:cNvSpPr txBox="1"/>
          <p:nvPr/>
        </p:nvSpPr>
        <p:spPr>
          <a:xfrm>
            <a:off x="777240" y="342900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E9E74"/>
                </a:solidFill>
                <a:latin typeface="Inter"/>
              </a:rPr>
              <a:t>me levanto</a:t>
            </a:r>
          </a:p>
        </p:txBody>
      </p:sp>
      <p:sp>
        <p:nvSpPr>
          <p:cNvPr id="16" name="Rounded Rectangle 15"/>
          <p:cNvSpPr/>
          <p:nvPr/>
        </p:nvSpPr>
        <p:spPr>
          <a:xfrm>
            <a:off x="3429000" y="1737360"/>
            <a:ext cx="2697480" cy="219456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29000" y="1737360"/>
            <a:ext cx="2697480" cy="457200"/>
          </a:xfrm>
          <a:prstGeom prst="rect">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1737360"/>
            <a:ext cx="26974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157355"/>
                </a:solidFill>
                <a:latin typeface="Bricolage Grotesque"/>
              </a:rPr>
              <a:t>🔊  Al mediodía</a:t>
            </a:r>
          </a:p>
        </p:txBody>
      </p:sp>
      <p:sp>
        <p:nvSpPr>
          <p:cNvPr id="19" name="TextBox 18"/>
          <p:cNvSpPr txBox="1"/>
          <p:nvPr/>
        </p:nvSpPr>
        <p:spPr>
          <a:xfrm>
            <a:off x="3566160" y="233172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Hora:</a:t>
            </a:r>
          </a:p>
        </p:txBody>
      </p:sp>
      <p:sp>
        <p:nvSpPr>
          <p:cNvPr id="20" name="TextBox 19"/>
          <p:cNvSpPr txBox="1"/>
          <p:nvPr/>
        </p:nvSpPr>
        <p:spPr>
          <a:xfrm>
            <a:off x="3566160" y="265176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20242E"/>
                </a:solidFill>
                <a:latin typeface="Bricolage Grotesque"/>
              </a:rPr>
              <a:t>14:30</a:t>
            </a:r>
          </a:p>
        </p:txBody>
      </p:sp>
      <p:sp>
        <p:nvSpPr>
          <p:cNvPr id="21" name="TextBox 20"/>
          <p:cNvSpPr txBox="1"/>
          <p:nvPr/>
        </p:nvSpPr>
        <p:spPr>
          <a:xfrm>
            <a:off x="3566160" y="310896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Acción:</a:t>
            </a:r>
          </a:p>
        </p:txBody>
      </p:sp>
      <p:sp>
        <p:nvSpPr>
          <p:cNvPr id="22" name="TextBox 21"/>
          <p:cNvSpPr txBox="1"/>
          <p:nvPr/>
        </p:nvSpPr>
        <p:spPr>
          <a:xfrm>
            <a:off x="3566160" y="342900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E9E74"/>
                </a:solidFill>
                <a:latin typeface="Inter"/>
              </a:rPr>
              <a:t>almuerzo</a:t>
            </a:r>
          </a:p>
        </p:txBody>
      </p:sp>
      <p:sp>
        <p:nvSpPr>
          <p:cNvPr id="23" name="Rounded Rectangle 22"/>
          <p:cNvSpPr/>
          <p:nvPr/>
        </p:nvSpPr>
        <p:spPr>
          <a:xfrm>
            <a:off x="6217920" y="1737360"/>
            <a:ext cx="2697480" cy="219456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1737360"/>
            <a:ext cx="2697480" cy="457200"/>
          </a:xfrm>
          <a:prstGeom prst="rect">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1737360"/>
            <a:ext cx="26974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157355"/>
                </a:solidFill>
                <a:latin typeface="Bricolage Grotesque"/>
              </a:rPr>
              <a:t>🔊  Por la tarde</a:t>
            </a:r>
          </a:p>
        </p:txBody>
      </p:sp>
      <p:sp>
        <p:nvSpPr>
          <p:cNvPr id="26" name="TextBox 25"/>
          <p:cNvSpPr txBox="1"/>
          <p:nvPr/>
        </p:nvSpPr>
        <p:spPr>
          <a:xfrm>
            <a:off x="6355080" y="233172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Hora:</a:t>
            </a:r>
          </a:p>
        </p:txBody>
      </p:sp>
      <p:sp>
        <p:nvSpPr>
          <p:cNvPr id="27" name="TextBox 26"/>
          <p:cNvSpPr txBox="1"/>
          <p:nvPr/>
        </p:nvSpPr>
        <p:spPr>
          <a:xfrm>
            <a:off x="6355080" y="265176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20242E"/>
                </a:solidFill>
                <a:latin typeface="Bricolage Grotesque"/>
              </a:rPr>
              <a:t>17:00</a:t>
            </a:r>
          </a:p>
        </p:txBody>
      </p:sp>
      <p:sp>
        <p:nvSpPr>
          <p:cNvPr id="28" name="TextBox 27"/>
          <p:cNvSpPr txBox="1"/>
          <p:nvPr/>
        </p:nvSpPr>
        <p:spPr>
          <a:xfrm>
            <a:off x="6355080" y="310896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Acción:</a:t>
            </a:r>
          </a:p>
        </p:txBody>
      </p:sp>
      <p:sp>
        <p:nvSpPr>
          <p:cNvPr id="29" name="TextBox 28"/>
          <p:cNvSpPr txBox="1"/>
          <p:nvPr/>
        </p:nvSpPr>
        <p:spPr>
          <a:xfrm>
            <a:off x="6355080" y="342900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E9E74"/>
                </a:solidFill>
                <a:latin typeface="Inter"/>
              </a:rPr>
              <a:t>hago los deberes</a:t>
            </a:r>
          </a:p>
        </p:txBody>
      </p:sp>
      <p:sp>
        <p:nvSpPr>
          <p:cNvPr id="30" name="Rounded Rectangle 29"/>
          <p:cNvSpPr/>
          <p:nvPr/>
        </p:nvSpPr>
        <p:spPr>
          <a:xfrm>
            <a:off x="9006840" y="1737360"/>
            <a:ext cx="2697480" cy="219456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006840" y="1737360"/>
            <a:ext cx="2697480" cy="457200"/>
          </a:xfrm>
          <a:prstGeom prst="rect">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06840" y="1737360"/>
            <a:ext cx="26974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157355"/>
                </a:solidFill>
                <a:latin typeface="Bricolage Grotesque"/>
              </a:rPr>
              <a:t>🔊  Por la noche</a:t>
            </a:r>
          </a:p>
        </p:txBody>
      </p:sp>
      <p:sp>
        <p:nvSpPr>
          <p:cNvPr id="33" name="TextBox 32"/>
          <p:cNvSpPr txBox="1"/>
          <p:nvPr/>
        </p:nvSpPr>
        <p:spPr>
          <a:xfrm>
            <a:off x="9144000" y="233172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Hora:</a:t>
            </a:r>
          </a:p>
        </p:txBody>
      </p:sp>
      <p:sp>
        <p:nvSpPr>
          <p:cNvPr id="34" name="TextBox 33"/>
          <p:cNvSpPr txBox="1"/>
          <p:nvPr/>
        </p:nvSpPr>
        <p:spPr>
          <a:xfrm>
            <a:off x="9144000" y="265176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20242E"/>
                </a:solidFill>
                <a:latin typeface="Bricolage Grotesque"/>
              </a:rPr>
              <a:t>23:00</a:t>
            </a:r>
          </a:p>
        </p:txBody>
      </p:sp>
      <p:sp>
        <p:nvSpPr>
          <p:cNvPr id="35" name="TextBox 34"/>
          <p:cNvSpPr txBox="1"/>
          <p:nvPr/>
        </p:nvSpPr>
        <p:spPr>
          <a:xfrm>
            <a:off x="9144000" y="310896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Acción:</a:t>
            </a:r>
          </a:p>
        </p:txBody>
      </p:sp>
      <p:sp>
        <p:nvSpPr>
          <p:cNvPr id="36" name="TextBox 35"/>
          <p:cNvSpPr txBox="1"/>
          <p:nvPr/>
        </p:nvSpPr>
        <p:spPr>
          <a:xfrm>
            <a:off x="9144000" y="342900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E9E74"/>
                </a:solidFill>
                <a:latin typeface="Inter"/>
              </a:rPr>
              <a:t>me acuesto</a:t>
            </a:r>
          </a:p>
        </p:txBody>
      </p:sp>
      <p:sp>
        <p:nvSpPr>
          <p:cNvPr id="37" name="Rounded Rectangle 36"/>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8" name="Rounded Rectangle 3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39" name="Rounded Rectangle 38">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40" name="TextBox 3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41" name="Rounded Rectangle 40"/>
          <p:cNvSpPr/>
          <p:nvPr/>
        </p:nvSpPr>
        <p:spPr>
          <a:xfrm>
            <a:off x="457200" y="4480560"/>
            <a:ext cx="11247120" cy="7772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Modelo-audio (docent leest of TTS): </a:t>
            </a:r>
            <a:r>
              <a:rPr sz="1200" b="0" i="0">
                <a:solidFill>
                  <a:srgbClr val="157355"/>
                </a:solidFill>
                <a:latin typeface="Inter"/>
              </a:rPr>
              <a:t>«Por la mañana, a las siete, me levanto.» …</a:t>
            </a:r>
          </a:p>
          <a:p>
            <a:pPr>
              <a:lnSpc>
                <a:spcPct val="102000"/>
              </a:lnSpc>
              <a:spcBef>
                <a:spcPts val="0"/>
              </a:spcBef>
              <a:spcAft>
                <a:spcPts val="300"/>
              </a:spcAft>
            </a:pPr>
            <a:r>
              <a:rPr sz="1200" b="0" i="0">
                <a:solidFill>
                  <a:srgbClr val="157355"/>
                </a:solidFill>
                <a:latin typeface="Inter"/>
              </a:rPr>
              <a:t>de la mañana/tarde/noche = concreet uur · por la mañana/tarde/noche = dagdeel (geen uur).</a:t>
            </a:r>
          </a:p>
        </p:txBody>
      </p:sp>
      <p:sp>
        <p:nvSpPr>
          <p:cNvPr id="42" name="Rounded Rectangle 41"/>
          <p:cNvSpPr/>
          <p:nvPr/>
        </p:nvSpPr>
        <p:spPr>
          <a:xfrm>
            <a:off x="594360" y="435254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43" name="Rectangle 4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45" name="TextBox 4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6" name="TextBox 4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5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5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5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500"/>
                                        <p:tgtEl>
                                          <p:spTgt spid="4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42"/>
                                        </p:tgtEl>
                                        <p:attrNameLst>
                                          <p:attrName>style.visibility</p:attrName>
                                        </p:attrNameLst>
                                      </p:cBhvr>
                                      <p:to>
                                        <p:strVal val="visible"/>
                                      </p:to>
                                    </p:set>
                                    <p:animEffect transition="in" filter="fade">
                                      <p:cBhvr>
                                        <p:cTn id="52"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013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WRITING · PRODUCCIÓN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Un día en mi vida</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Schrijf 6 zinnen over jouw dag. Klik → een modeltekst verschijnt.</a:t>
            </a:r>
          </a:p>
        </p:txBody>
      </p:sp>
      <p:sp>
        <p:nvSpPr>
          <p:cNvPr id="9" name="Rounded Rectangle 8"/>
          <p:cNvSpPr/>
          <p:nvPr/>
        </p:nvSpPr>
        <p:spPr>
          <a:xfrm>
            <a:off x="457200" y="1554480"/>
            <a:ext cx="5486400" cy="356616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691640"/>
            <a:ext cx="5120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Inter"/>
              </a:rPr>
              <a:t>✍️ Escribe aquí:</a:t>
            </a:r>
          </a:p>
        </p:txBody>
      </p:sp>
      <p:sp>
        <p:nvSpPr>
          <p:cNvPr id="11" name="Rectangle 10"/>
          <p:cNvSpPr/>
          <p:nvPr/>
        </p:nvSpPr>
        <p:spPr>
          <a:xfrm>
            <a:off x="640080" y="21945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6517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1089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35661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40233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4805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55448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Checklist:</a:t>
            </a:r>
          </a:p>
        </p:txBody>
      </p:sp>
      <p:sp>
        <p:nvSpPr>
          <p:cNvPr id="18" name="TextBox 17"/>
          <p:cNvSpPr txBox="1"/>
          <p:nvPr/>
        </p:nvSpPr>
        <p:spPr>
          <a:xfrm>
            <a:off x="6309360" y="201168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una hora (es la / son las…)</a:t>
            </a:r>
          </a:p>
        </p:txBody>
      </p:sp>
      <p:sp>
        <p:nvSpPr>
          <p:cNvPr id="19" name="TextBox 18"/>
          <p:cNvSpPr txBox="1"/>
          <p:nvPr/>
        </p:nvSpPr>
        <p:spPr>
          <a:xfrm>
            <a:off x="6309360" y="242316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un verbo reflexivo (me levanto…)</a:t>
            </a:r>
          </a:p>
        </p:txBody>
      </p:sp>
      <p:sp>
        <p:nvSpPr>
          <p:cNvPr id="20" name="TextBox 19"/>
          <p:cNvSpPr txBox="1"/>
          <p:nvPr/>
        </p:nvSpPr>
        <p:spPr>
          <a:xfrm>
            <a:off x="6309360" y="283464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un verbo irregular (empiezo…)</a:t>
            </a:r>
          </a:p>
        </p:txBody>
      </p:sp>
      <p:sp>
        <p:nvSpPr>
          <p:cNvPr id="21" name="TextBox 20"/>
          <p:cNvSpPr txBox="1"/>
          <p:nvPr/>
        </p:nvSpPr>
        <p:spPr>
          <a:xfrm>
            <a:off x="6309360" y="324612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un conector (primero, después…)</a:t>
            </a:r>
          </a:p>
        </p:txBody>
      </p:sp>
      <p:sp>
        <p:nvSpPr>
          <p:cNvPr id="22" name="TextBox 21"/>
          <p:cNvSpPr txBox="1"/>
          <p:nvPr/>
        </p:nvSpPr>
        <p:spPr>
          <a:xfrm>
            <a:off x="6309360" y="365760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una frecuencia (siempre, a veces)</a:t>
            </a:r>
          </a:p>
        </p:txBody>
      </p:sp>
      <p:sp>
        <p:nvSpPr>
          <p:cNvPr id="23" name="TextBox 22"/>
          <p:cNvSpPr txBox="1"/>
          <p:nvPr/>
        </p:nvSpPr>
        <p:spPr>
          <a:xfrm>
            <a:off x="6309360" y="406908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mañana + tarde + noche</a:t>
            </a:r>
          </a:p>
        </p:txBody>
      </p:sp>
      <p:sp>
        <p:nvSpPr>
          <p:cNvPr id="24" name="Rounded Rectangle 23"/>
          <p:cNvSpPr/>
          <p:nvPr/>
        </p:nvSpPr>
        <p:spPr>
          <a:xfrm>
            <a:off x="6309360" y="4114800"/>
            <a:ext cx="5486400" cy="1005840"/>
          </a:xfrm>
          <a:prstGeom prst="roundRect">
            <a:avLst>
              <a:gd name="adj" fmla="val 5500"/>
            </a:avLst>
          </a:prstGeom>
          <a:solidFill>
            <a:srgbClr val="E4F4EE"/>
          </a:solidFill>
          <a:ln w="1524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4160520"/>
            <a:ext cx="5212080" cy="914400"/>
          </a:xfrm>
          <a:prstGeom prst="rect">
            <a:avLst/>
          </a:prstGeom>
          <a:noFill/>
        </p:spPr>
        <p:txBody>
          <a:bodyPr wrap="square" anchor="t" lIns="38100" rIns="38100" tIns="25400" bIns="25400">
            <a:spAutoFit/>
          </a:bodyPr>
          <a:lstStyle/>
          <a:p>
            <a:pPr algn="l">
              <a:lnSpc>
                <a:spcPct val="115000"/>
              </a:lnSpc>
              <a:spcBef>
                <a:spcPts val="0"/>
              </a:spcBef>
              <a:spcAft>
                <a:spcPts val="200"/>
              </a:spcAft>
            </a:pPr>
            <a:r>
              <a:rPr sz="1200" b="1" i="0">
                <a:solidFill>
                  <a:srgbClr val="157355"/>
                </a:solidFill>
                <a:latin typeface="Inter"/>
              </a:rPr>
              <a:t>Modelo: </a:t>
            </a:r>
            <a:r>
              <a:rPr sz="1200" b="0" i="1">
                <a:solidFill>
                  <a:srgbClr val="20242E"/>
                </a:solidFill>
                <a:latin typeface="Inter"/>
              </a:rPr>
              <a:t>«Normalmente me levanto a las siete, me ducho y desayuno. Empiezo el insti a las nueve. Por la tarde hago los deberes y a veces juego al fútbol. Me acuesto a las once.»</a:t>
            </a:r>
          </a:p>
        </p:txBody>
      </p:sp>
      <p:sp>
        <p:nvSpPr>
          <p:cNvPr id="26" name="Rounded Rectangle 25"/>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7" name="Rounded Rectangle 26"/>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28" name="Rounded Rectangle 27">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29" name="TextBox 28"/>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0" name="Rectangle 2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32" name="TextBox 3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3" name="TextBox 3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TALLER DE LENGUA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Conectores temporales y tildes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Klik een item → correcte vorm. Twee gereedschappen om je dag te vertellen.</a:t>
            </a:r>
          </a:p>
        </p:txBody>
      </p:sp>
      <p:sp>
        <p:nvSpPr>
          <p:cNvPr id="9" name="TextBox 8"/>
          <p:cNvSpPr txBox="1"/>
          <p:nvPr/>
        </p:nvSpPr>
        <p:spPr>
          <a:xfrm>
            <a:off x="457200" y="1371600"/>
            <a:ext cx="54864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A · conectores temporales</a:t>
            </a:r>
          </a:p>
        </p:txBody>
      </p:sp>
      <p:sp>
        <p:nvSpPr>
          <p:cNvPr id="10" name="Rounded Rectangle 9"/>
          <p:cNvSpPr/>
          <p:nvPr/>
        </p:nvSpPr>
        <p:spPr>
          <a:xfrm>
            <a:off x="457200" y="1783080"/>
            <a:ext cx="548640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783080"/>
            <a:ext cx="26517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___ me levanto.</a:t>
            </a:r>
          </a:p>
        </p:txBody>
      </p:sp>
      <p:sp>
        <p:nvSpPr>
          <p:cNvPr id="12" name="TextBox 11"/>
          <p:cNvSpPr txBox="1"/>
          <p:nvPr/>
        </p:nvSpPr>
        <p:spPr>
          <a:xfrm>
            <a:off x="3200400" y="1783080"/>
            <a:ext cx="26517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Primero </a:t>
            </a:r>
            <a:r>
              <a:rPr sz="900" b="0" i="1">
                <a:solidFill>
                  <a:srgbClr val="6A6E78"/>
                </a:solidFill>
                <a:latin typeface="Inter"/>
              </a:rPr>
              <a:t>· eerst</a:t>
            </a:r>
          </a:p>
        </p:txBody>
      </p:sp>
      <p:sp>
        <p:nvSpPr>
          <p:cNvPr id="13" name="Rounded Rectangle 12"/>
          <p:cNvSpPr/>
          <p:nvPr/>
        </p:nvSpPr>
        <p:spPr>
          <a:xfrm>
            <a:off x="457200" y="2441448"/>
            <a:ext cx="548640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441448"/>
            <a:ext cx="26517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___ desayuno.</a:t>
            </a:r>
          </a:p>
        </p:txBody>
      </p:sp>
      <p:sp>
        <p:nvSpPr>
          <p:cNvPr id="15" name="TextBox 14"/>
          <p:cNvSpPr txBox="1"/>
          <p:nvPr/>
        </p:nvSpPr>
        <p:spPr>
          <a:xfrm>
            <a:off x="3200400" y="2441448"/>
            <a:ext cx="26517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Después / Luego </a:t>
            </a:r>
            <a:r>
              <a:rPr sz="900" b="0" i="1">
                <a:solidFill>
                  <a:srgbClr val="6A6E78"/>
                </a:solidFill>
                <a:latin typeface="Inter"/>
              </a:rPr>
              <a:t>· daarna</a:t>
            </a:r>
          </a:p>
        </p:txBody>
      </p:sp>
      <p:sp>
        <p:nvSpPr>
          <p:cNvPr id="16" name="Rounded Rectangle 15"/>
          <p:cNvSpPr/>
          <p:nvPr/>
        </p:nvSpPr>
        <p:spPr>
          <a:xfrm>
            <a:off x="457200" y="3099816"/>
            <a:ext cx="548640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099816"/>
            <a:ext cx="26517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___ hago los deberes.</a:t>
            </a:r>
          </a:p>
        </p:txBody>
      </p:sp>
      <p:sp>
        <p:nvSpPr>
          <p:cNvPr id="18" name="TextBox 17"/>
          <p:cNvSpPr txBox="1"/>
          <p:nvPr/>
        </p:nvSpPr>
        <p:spPr>
          <a:xfrm>
            <a:off x="3200400" y="3099816"/>
            <a:ext cx="26517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Más tarde </a:t>
            </a:r>
            <a:r>
              <a:rPr sz="900" b="0" i="1">
                <a:solidFill>
                  <a:srgbClr val="6A6E78"/>
                </a:solidFill>
                <a:latin typeface="Inter"/>
              </a:rPr>
              <a:t>· later</a:t>
            </a:r>
          </a:p>
        </p:txBody>
      </p:sp>
      <p:sp>
        <p:nvSpPr>
          <p:cNvPr id="19" name="Rounded Rectangle 18"/>
          <p:cNvSpPr/>
          <p:nvPr/>
        </p:nvSpPr>
        <p:spPr>
          <a:xfrm>
            <a:off x="457200" y="3758184"/>
            <a:ext cx="548640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758184"/>
            <a:ext cx="26517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___ me acuesto.</a:t>
            </a:r>
          </a:p>
        </p:txBody>
      </p:sp>
      <p:sp>
        <p:nvSpPr>
          <p:cNvPr id="21" name="TextBox 20"/>
          <p:cNvSpPr txBox="1"/>
          <p:nvPr/>
        </p:nvSpPr>
        <p:spPr>
          <a:xfrm>
            <a:off x="3200400" y="3758184"/>
            <a:ext cx="26517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Por fin </a:t>
            </a:r>
            <a:r>
              <a:rPr sz="900" b="0" i="1">
                <a:solidFill>
                  <a:srgbClr val="6A6E78"/>
                </a:solidFill>
                <a:latin typeface="Inter"/>
              </a:rPr>
              <a:t>· ten slotte</a:t>
            </a:r>
          </a:p>
        </p:txBody>
      </p:sp>
      <p:sp>
        <p:nvSpPr>
          <p:cNvPr id="22" name="TextBox 21"/>
          <p:cNvSpPr txBox="1"/>
          <p:nvPr/>
        </p:nvSpPr>
        <p:spPr>
          <a:xfrm>
            <a:off x="6309360" y="1371600"/>
            <a:ext cx="54864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B · pon la tilde</a:t>
            </a:r>
          </a:p>
        </p:txBody>
      </p:sp>
      <p:sp>
        <p:nvSpPr>
          <p:cNvPr id="23" name="Rounded Rectangle 22"/>
          <p:cNvSpPr/>
          <p:nvPr/>
        </p:nvSpPr>
        <p:spPr>
          <a:xfrm>
            <a:off x="6309360" y="1783080"/>
            <a:ext cx="539496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1783080"/>
            <a:ext cx="27432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DC2626"/>
                </a:solidFill>
                <a:latin typeface="Inter"/>
              </a:rPr>
              <a:t>miercoles</a:t>
            </a:r>
          </a:p>
        </p:txBody>
      </p:sp>
      <p:sp>
        <p:nvSpPr>
          <p:cNvPr id="25" name="TextBox 24"/>
          <p:cNvSpPr txBox="1"/>
          <p:nvPr/>
        </p:nvSpPr>
        <p:spPr>
          <a:xfrm>
            <a:off x="9235440" y="1783080"/>
            <a:ext cx="23774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miércoles</a:t>
            </a:r>
          </a:p>
        </p:txBody>
      </p:sp>
      <p:sp>
        <p:nvSpPr>
          <p:cNvPr id="26" name="Rounded Rectangle 25"/>
          <p:cNvSpPr/>
          <p:nvPr/>
        </p:nvSpPr>
        <p:spPr>
          <a:xfrm>
            <a:off x="6309360" y="2441448"/>
            <a:ext cx="539496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19088" y="2441448"/>
            <a:ext cx="27432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DC2626"/>
                </a:solidFill>
                <a:latin typeface="Inter"/>
              </a:rPr>
              <a:t>sabado</a:t>
            </a:r>
          </a:p>
        </p:txBody>
      </p:sp>
      <p:sp>
        <p:nvSpPr>
          <p:cNvPr id="28" name="TextBox 27"/>
          <p:cNvSpPr txBox="1"/>
          <p:nvPr/>
        </p:nvSpPr>
        <p:spPr>
          <a:xfrm>
            <a:off x="9235440" y="2441448"/>
            <a:ext cx="23774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sábado</a:t>
            </a:r>
          </a:p>
        </p:txBody>
      </p:sp>
      <p:sp>
        <p:nvSpPr>
          <p:cNvPr id="29" name="Rounded Rectangle 28"/>
          <p:cNvSpPr/>
          <p:nvPr/>
        </p:nvSpPr>
        <p:spPr>
          <a:xfrm>
            <a:off x="6309360" y="3099816"/>
            <a:ext cx="539496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3099816"/>
            <a:ext cx="27432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DC2626"/>
                </a:solidFill>
                <a:latin typeface="Inter"/>
              </a:rPr>
              <a:t>despues</a:t>
            </a:r>
          </a:p>
        </p:txBody>
      </p:sp>
      <p:sp>
        <p:nvSpPr>
          <p:cNvPr id="31" name="TextBox 30"/>
          <p:cNvSpPr txBox="1"/>
          <p:nvPr/>
        </p:nvSpPr>
        <p:spPr>
          <a:xfrm>
            <a:off x="9235440" y="3099816"/>
            <a:ext cx="23774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después</a:t>
            </a:r>
          </a:p>
        </p:txBody>
      </p:sp>
      <p:sp>
        <p:nvSpPr>
          <p:cNvPr id="32" name="Rounded Rectangle 31"/>
          <p:cNvSpPr/>
          <p:nvPr/>
        </p:nvSpPr>
        <p:spPr>
          <a:xfrm>
            <a:off x="6309360" y="3758184"/>
            <a:ext cx="539496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3758184"/>
            <a:ext cx="27432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DC2626"/>
                </a:solidFill>
                <a:latin typeface="Inter"/>
              </a:rPr>
              <a:t>¿que hora es?</a:t>
            </a:r>
          </a:p>
        </p:txBody>
      </p:sp>
      <p:sp>
        <p:nvSpPr>
          <p:cNvPr id="34" name="TextBox 33"/>
          <p:cNvSpPr txBox="1"/>
          <p:nvPr/>
        </p:nvSpPr>
        <p:spPr>
          <a:xfrm>
            <a:off x="9235440" y="3758184"/>
            <a:ext cx="23774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¿qué hora es?</a:t>
            </a:r>
          </a:p>
        </p:txBody>
      </p:sp>
      <p:sp>
        <p:nvSpPr>
          <p:cNvPr id="35" name="Rounded Rectangle 34"/>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6" name="Rounded Rectangle 35"/>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37" name="Rounded Rectangle 36">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8" name="TextBox 37"/>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9" name="Rounded Rectangle 38"/>
          <p:cNvSpPr/>
          <p:nvPr/>
        </p:nvSpPr>
        <p:spPr>
          <a:xfrm>
            <a:off x="457200" y="4572000"/>
            <a:ext cx="11247120" cy="7772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A: </a:t>
            </a:r>
            <a:r>
              <a:rPr sz="1200" b="0" i="0">
                <a:solidFill>
                  <a:srgbClr val="157355"/>
                </a:solidFill>
                <a:latin typeface="Inter"/>
              </a:rPr>
              <a:t>primero → después/luego → más tarde → por fin. 🔴 «dan» = después/luego, niet «entonces».</a:t>
            </a:r>
          </a:p>
          <a:p>
            <a:pPr>
              <a:lnSpc>
                <a:spcPct val="102000"/>
              </a:lnSpc>
              <a:spcBef>
                <a:spcPts val="0"/>
              </a:spcBef>
              <a:spcAft>
                <a:spcPts val="300"/>
              </a:spcAft>
            </a:pPr>
            <a:r>
              <a:rPr sz="1200" b="1" i="0">
                <a:solidFill>
                  <a:srgbClr val="157355"/>
                </a:solidFill>
                <a:latin typeface="Inter"/>
              </a:rPr>
              <a:t>B: </a:t>
            </a:r>
            <a:r>
              <a:rPr sz="1200" b="0" i="0">
                <a:solidFill>
                  <a:srgbClr val="157355"/>
                </a:solidFill>
                <a:latin typeface="Inter"/>
              </a:rPr>
              <a:t>veel tijdwoorden dragen een tilde: miércoles, sábado, después, mediodía; vraagwoorden altijd (¿qué?).</a:t>
            </a:r>
          </a:p>
        </p:txBody>
      </p:sp>
      <p:sp>
        <p:nvSpPr>
          <p:cNvPr id="40" name="Rounded Rectangle 39"/>
          <p:cNvSpPr/>
          <p:nvPr/>
        </p:nvSpPr>
        <p:spPr>
          <a:xfrm>
            <a:off x="594360" y="444398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41" name="Rectangle 40"/>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43" name="TextBox 42"/>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4" name="TextBox 43"/>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5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500"/>
                                        <p:tgtEl>
                                          <p:spTgt spid="3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500"/>
                                        <p:tgtEl>
                                          <p:spTgt spid="3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§4 · VOCABULARIO</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4</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Frecuencia + días, meses y estaciones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Klik een woord → betekenis/plaats. Días y meses met kleine letter!</a:t>
            </a:r>
          </a:p>
        </p:txBody>
      </p:sp>
      <p:sp>
        <p:nvSpPr>
          <p:cNvPr id="9" name="TextBox 8"/>
          <p:cNvSpPr txBox="1"/>
          <p:nvPr/>
        </p:nvSpPr>
        <p:spPr>
          <a:xfrm>
            <a:off x="457200" y="1371600"/>
            <a:ext cx="109728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Escala de frecuencia (100% → 0%):</a:t>
            </a:r>
          </a:p>
        </p:txBody>
      </p:sp>
      <p:sp>
        <p:nvSpPr>
          <p:cNvPr id="10" name="Rounded Rectangle 9"/>
          <p:cNvSpPr/>
          <p:nvPr/>
        </p:nvSpPr>
        <p:spPr>
          <a:xfrm>
            <a:off x="457200" y="1783080"/>
            <a:ext cx="182880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57355"/>
                </a:solidFill>
                <a:latin typeface="Inter"/>
              </a:rPr>
              <a:t>siempre</a:t>
            </a:r>
          </a:p>
        </p:txBody>
      </p:sp>
      <p:sp>
        <p:nvSpPr>
          <p:cNvPr id="11" name="Rounded Rectangle 10"/>
          <p:cNvSpPr/>
          <p:nvPr/>
        </p:nvSpPr>
        <p:spPr>
          <a:xfrm>
            <a:off x="2340864" y="1783080"/>
            <a:ext cx="1828800" cy="292608"/>
          </a:xfrm>
          <a:prstGeom prst="roundRect">
            <a:avLst>
              <a:gd name="adj" fmla="val 50000"/>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57355"/>
                </a:solidFill>
                <a:latin typeface="Inter"/>
              </a:rPr>
              <a:t>normalmente</a:t>
            </a:r>
          </a:p>
        </p:txBody>
      </p:sp>
      <p:sp>
        <p:nvSpPr>
          <p:cNvPr id="12" name="Rounded Rectangle 11"/>
          <p:cNvSpPr/>
          <p:nvPr/>
        </p:nvSpPr>
        <p:spPr>
          <a:xfrm>
            <a:off x="4224528" y="1783080"/>
            <a:ext cx="182880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57355"/>
                </a:solidFill>
                <a:latin typeface="Inter"/>
              </a:rPr>
              <a:t>a menudo</a:t>
            </a:r>
          </a:p>
        </p:txBody>
      </p:sp>
      <p:sp>
        <p:nvSpPr>
          <p:cNvPr id="13" name="Rounded Rectangle 12"/>
          <p:cNvSpPr/>
          <p:nvPr/>
        </p:nvSpPr>
        <p:spPr>
          <a:xfrm>
            <a:off x="6108192" y="1783080"/>
            <a:ext cx="1828800" cy="292608"/>
          </a:xfrm>
          <a:prstGeom prst="roundRect">
            <a:avLst>
              <a:gd name="adj" fmla="val 50000"/>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57355"/>
                </a:solidFill>
                <a:latin typeface="Inter"/>
              </a:rPr>
              <a:t>a veces</a:t>
            </a:r>
          </a:p>
        </p:txBody>
      </p:sp>
      <p:sp>
        <p:nvSpPr>
          <p:cNvPr id="14" name="Rounded Rectangle 13"/>
          <p:cNvSpPr/>
          <p:nvPr/>
        </p:nvSpPr>
        <p:spPr>
          <a:xfrm>
            <a:off x="7991856" y="1783080"/>
            <a:ext cx="182880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57355"/>
                </a:solidFill>
                <a:latin typeface="Inter"/>
              </a:rPr>
              <a:t>casi nunca</a:t>
            </a:r>
          </a:p>
        </p:txBody>
      </p:sp>
      <p:sp>
        <p:nvSpPr>
          <p:cNvPr id="15" name="Rounded Rectangle 14"/>
          <p:cNvSpPr/>
          <p:nvPr/>
        </p:nvSpPr>
        <p:spPr>
          <a:xfrm>
            <a:off x="9875520" y="1783080"/>
            <a:ext cx="1828800" cy="292608"/>
          </a:xfrm>
          <a:prstGeom prst="roundRect">
            <a:avLst>
              <a:gd name="adj" fmla="val 50000"/>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57355"/>
                </a:solidFill>
                <a:latin typeface="Inter"/>
              </a:rPr>
              <a:t>nunca</a:t>
            </a:r>
          </a:p>
        </p:txBody>
      </p:sp>
      <p:sp>
        <p:nvSpPr>
          <p:cNvPr id="16" name="Rounded Rectangle 15"/>
          <p:cNvSpPr/>
          <p:nvPr/>
        </p:nvSpPr>
        <p:spPr>
          <a:xfrm>
            <a:off x="457200" y="2468880"/>
            <a:ext cx="5532120" cy="7315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68880"/>
            <a:ext cx="2468880" cy="7315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lunes … domingo</a:t>
            </a:r>
          </a:p>
        </p:txBody>
      </p:sp>
      <p:sp>
        <p:nvSpPr>
          <p:cNvPr id="18" name="TextBox 17"/>
          <p:cNvSpPr txBox="1"/>
          <p:nvPr/>
        </p:nvSpPr>
        <p:spPr>
          <a:xfrm>
            <a:off x="3108960" y="2468880"/>
            <a:ext cx="2743200" cy="7315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20242E"/>
                </a:solidFill>
                <a:latin typeface="Inter"/>
              </a:rPr>
              <a:t>→ los 7 días (klein!)</a:t>
            </a:r>
          </a:p>
        </p:txBody>
      </p:sp>
      <p:sp>
        <p:nvSpPr>
          <p:cNvPr id="19" name="Rounded Rectangle 18"/>
          <p:cNvSpPr/>
          <p:nvPr/>
        </p:nvSpPr>
        <p:spPr>
          <a:xfrm>
            <a:off x="6172200" y="2468880"/>
            <a:ext cx="5532120" cy="7315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468880"/>
            <a:ext cx="2468880" cy="7315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enero … diciembre</a:t>
            </a:r>
          </a:p>
        </p:txBody>
      </p:sp>
      <p:sp>
        <p:nvSpPr>
          <p:cNvPr id="21" name="TextBox 20"/>
          <p:cNvSpPr txBox="1"/>
          <p:nvPr/>
        </p:nvSpPr>
        <p:spPr>
          <a:xfrm>
            <a:off x="8823960" y="2468880"/>
            <a:ext cx="2743200" cy="7315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20242E"/>
                </a:solidFill>
                <a:latin typeface="Inter"/>
              </a:rPr>
              <a:t>→ los 12 meses (klein!)</a:t>
            </a:r>
          </a:p>
        </p:txBody>
      </p:sp>
      <p:sp>
        <p:nvSpPr>
          <p:cNvPr id="22" name="Rounded Rectangle 21"/>
          <p:cNvSpPr/>
          <p:nvPr/>
        </p:nvSpPr>
        <p:spPr>
          <a:xfrm>
            <a:off x="457200" y="3364992"/>
            <a:ext cx="5532120" cy="7315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3364992"/>
            <a:ext cx="2468880" cy="7315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primavera · verano</a:t>
            </a:r>
          </a:p>
        </p:txBody>
      </p:sp>
      <p:sp>
        <p:nvSpPr>
          <p:cNvPr id="24" name="TextBox 23"/>
          <p:cNvSpPr txBox="1"/>
          <p:nvPr/>
        </p:nvSpPr>
        <p:spPr>
          <a:xfrm>
            <a:off x="3108960" y="3364992"/>
            <a:ext cx="2743200" cy="7315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20242E"/>
                </a:solidFill>
                <a:latin typeface="Inter"/>
              </a:rPr>
              <a:t>→ otoño · invierno = las estaciones</a:t>
            </a:r>
          </a:p>
        </p:txBody>
      </p:sp>
      <p:sp>
        <p:nvSpPr>
          <p:cNvPr id="25" name="Rounded Rectangle 24"/>
          <p:cNvSpPr/>
          <p:nvPr/>
        </p:nvSpPr>
        <p:spPr>
          <a:xfrm>
            <a:off x="6172200" y="3364992"/>
            <a:ext cx="5532120" cy="73152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3364992"/>
            <a:ext cx="2468880" cy="7315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el fin de semana</a:t>
            </a:r>
          </a:p>
        </p:txBody>
      </p:sp>
      <p:sp>
        <p:nvSpPr>
          <p:cNvPr id="27" name="TextBox 26"/>
          <p:cNvSpPr txBox="1"/>
          <p:nvPr/>
        </p:nvSpPr>
        <p:spPr>
          <a:xfrm>
            <a:off x="8823960" y="3364992"/>
            <a:ext cx="2743200" cy="7315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20242E"/>
                </a:solidFill>
                <a:latin typeface="Inter"/>
              </a:rPr>
              <a:t>→ todos los días · una vez por semana</a:t>
            </a:r>
          </a:p>
        </p:txBody>
      </p:sp>
      <p:sp>
        <p:nvSpPr>
          <p:cNvPr id="28" name="Rounded Rectangle 27"/>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9" name="Rounded Rectangle 28"/>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30" name="Rounded Rectangle 29">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1" name="TextBox 30"/>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2" name="Rounded Rectangle 31"/>
          <p:cNvSpPr/>
          <p:nvPr/>
        </p:nvSpPr>
        <p:spPr>
          <a:xfrm>
            <a:off x="457200" y="4526280"/>
            <a:ext cx="11247120" cy="7772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DC2626"/>
                </a:solidFill>
                <a:latin typeface="Inter"/>
              </a:rPr>
              <a:t>🔴 días/meses = kleine letter </a:t>
            </a:r>
            <a:r>
              <a:rPr sz="1200" b="0" i="0">
                <a:solidFill>
                  <a:srgbClr val="157355"/>
                </a:solidFill>
                <a:latin typeface="Inter"/>
              </a:rPr>
              <a:t>(lunes, enero) — anders dan landen/steden (Barcelona). </a:t>
            </a:r>
          </a:p>
          <a:p>
            <a:pPr>
              <a:lnSpc>
                <a:spcPct val="102000"/>
              </a:lnSpc>
              <a:spcBef>
                <a:spcPts val="0"/>
              </a:spcBef>
              <a:spcAft>
                <a:spcPts val="300"/>
              </a:spcAft>
            </a:pPr>
            <a:r>
              <a:rPr sz="1200" b="0" i="0">
                <a:solidFill>
                  <a:srgbClr val="157355"/>
                </a:solidFill>
                <a:latin typeface="Inter"/>
              </a:rPr>
              <a:t>«op maandag» = el lunes · «elke maandag» = los lunes. Frecuentie meestal vóór het werkwoord.</a:t>
            </a:r>
          </a:p>
        </p:txBody>
      </p:sp>
      <p:sp>
        <p:nvSpPr>
          <p:cNvPr id="33" name="Rounded Rectangle 32"/>
          <p:cNvSpPr/>
          <p:nvPr/>
        </p:nvSpPr>
        <p:spPr>
          <a:xfrm>
            <a:off x="594360" y="439826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4" name="Rectangle 3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36" name="TextBox 3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7" name="TextBox 3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05374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§1 · QUIZ · INTERACCIÓN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Di la hora</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Bij dit uur — welke zin? Klik → de zin verschijnt.</a:t>
            </a:r>
          </a:p>
        </p:txBody>
      </p:sp>
      <p:sp>
        <p:nvSpPr>
          <p:cNvPr id="9" name="Rounded Rectangle 8"/>
          <p:cNvSpPr/>
          <p:nvPr/>
        </p:nvSpPr>
        <p:spPr>
          <a:xfrm>
            <a:off x="457200" y="1600200"/>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600200"/>
            <a:ext cx="14630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1:00</a:t>
            </a:r>
          </a:p>
        </p:txBody>
      </p:sp>
      <p:sp>
        <p:nvSpPr>
          <p:cNvPr id="11" name="TextBox 10"/>
          <p:cNvSpPr txBox="1"/>
          <p:nvPr/>
        </p:nvSpPr>
        <p:spPr>
          <a:xfrm>
            <a:off x="2194560" y="1600200"/>
            <a:ext cx="37033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Es la una.</a:t>
            </a:r>
          </a:p>
        </p:txBody>
      </p:sp>
      <p:sp>
        <p:nvSpPr>
          <p:cNvPr id="12" name="Rounded Rectangle 11"/>
          <p:cNvSpPr/>
          <p:nvPr/>
        </p:nvSpPr>
        <p:spPr>
          <a:xfrm>
            <a:off x="457200" y="2478024"/>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478024"/>
            <a:ext cx="14630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2:30</a:t>
            </a:r>
          </a:p>
        </p:txBody>
      </p:sp>
      <p:sp>
        <p:nvSpPr>
          <p:cNvPr id="14" name="TextBox 13"/>
          <p:cNvSpPr txBox="1"/>
          <p:nvPr/>
        </p:nvSpPr>
        <p:spPr>
          <a:xfrm>
            <a:off x="2194560" y="2478024"/>
            <a:ext cx="37033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Son las dos y media.</a:t>
            </a:r>
          </a:p>
        </p:txBody>
      </p:sp>
      <p:sp>
        <p:nvSpPr>
          <p:cNvPr id="15" name="Rounded Rectangle 14"/>
          <p:cNvSpPr/>
          <p:nvPr/>
        </p:nvSpPr>
        <p:spPr>
          <a:xfrm>
            <a:off x="457200" y="3355848"/>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355848"/>
            <a:ext cx="14630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7:45</a:t>
            </a:r>
          </a:p>
        </p:txBody>
      </p:sp>
      <p:sp>
        <p:nvSpPr>
          <p:cNvPr id="17" name="TextBox 16"/>
          <p:cNvSpPr txBox="1"/>
          <p:nvPr/>
        </p:nvSpPr>
        <p:spPr>
          <a:xfrm>
            <a:off x="2194560" y="3355848"/>
            <a:ext cx="37033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Son las ocho menos cuarto.</a:t>
            </a:r>
          </a:p>
        </p:txBody>
      </p:sp>
      <p:sp>
        <p:nvSpPr>
          <p:cNvPr id="18" name="Rounded Rectangle 17"/>
          <p:cNvSpPr/>
          <p:nvPr/>
        </p:nvSpPr>
        <p:spPr>
          <a:xfrm>
            <a:off x="6172200" y="1600200"/>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600200"/>
            <a:ext cx="14630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6:15</a:t>
            </a:r>
          </a:p>
        </p:txBody>
      </p:sp>
      <p:sp>
        <p:nvSpPr>
          <p:cNvPr id="20" name="TextBox 19"/>
          <p:cNvSpPr txBox="1"/>
          <p:nvPr/>
        </p:nvSpPr>
        <p:spPr>
          <a:xfrm>
            <a:off x="7909560" y="1600200"/>
            <a:ext cx="37033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Son las seis y cuarto.</a:t>
            </a:r>
          </a:p>
        </p:txBody>
      </p:sp>
      <p:sp>
        <p:nvSpPr>
          <p:cNvPr id="21" name="Rounded Rectangle 20"/>
          <p:cNvSpPr/>
          <p:nvPr/>
        </p:nvSpPr>
        <p:spPr>
          <a:xfrm>
            <a:off x="6172200" y="2478024"/>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2478024"/>
            <a:ext cx="14630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12:00</a:t>
            </a:r>
          </a:p>
        </p:txBody>
      </p:sp>
      <p:sp>
        <p:nvSpPr>
          <p:cNvPr id="23" name="TextBox 22"/>
          <p:cNvSpPr txBox="1"/>
          <p:nvPr/>
        </p:nvSpPr>
        <p:spPr>
          <a:xfrm>
            <a:off x="7909560" y="2478024"/>
            <a:ext cx="37033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Son las doce (mediodía).</a:t>
            </a:r>
          </a:p>
        </p:txBody>
      </p:sp>
      <p:sp>
        <p:nvSpPr>
          <p:cNvPr id="24" name="Rounded Rectangle 23"/>
          <p:cNvSpPr/>
          <p:nvPr/>
        </p:nvSpPr>
        <p:spPr>
          <a:xfrm>
            <a:off x="6172200" y="3355848"/>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3355848"/>
            <a:ext cx="14630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157355"/>
                </a:solidFill>
                <a:latin typeface="Bricolage Grotesque"/>
              </a:rPr>
              <a:t>🕐 9:00</a:t>
            </a:r>
          </a:p>
        </p:txBody>
      </p:sp>
      <p:sp>
        <p:nvSpPr>
          <p:cNvPr id="26" name="TextBox 25"/>
          <p:cNvSpPr txBox="1"/>
          <p:nvPr/>
        </p:nvSpPr>
        <p:spPr>
          <a:xfrm>
            <a:off x="7909560" y="3355848"/>
            <a:ext cx="37033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Son las nueve en punto.</a:t>
            </a:r>
          </a:p>
        </p:txBody>
      </p:sp>
      <p:sp>
        <p:nvSpPr>
          <p:cNvPr id="27" name="Rounded Rectangle 26"/>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8" name="Rounded Rectangle 2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29" name="Rounded Rectangle 28">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0" name="TextBox 2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1" name="Rounded Rectangle 30"/>
          <p:cNvSpPr/>
          <p:nvPr/>
        </p:nvSpPr>
        <p:spPr>
          <a:xfrm>
            <a:off x="457200" y="4709160"/>
            <a:ext cx="11247120" cy="5486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y (tot half) · menos (na half) · en punto (precies). </a:t>
            </a:r>
            <a:r>
              <a:rPr sz="1200" b="0" i="0">
                <a:solidFill>
                  <a:srgbClr val="157355"/>
                </a:solidFill>
                <a:latin typeface="Inter"/>
              </a:rPr>
              <a:t>Es la una (1u) / Son las… (≥2u).</a:t>
            </a:r>
          </a:p>
        </p:txBody>
      </p:sp>
      <p:sp>
        <p:nvSpPr>
          <p:cNvPr id="32" name="Rounded Rectangle 31"/>
          <p:cNvSpPr/>
          <p:nvPr/>
        </p:nvSpPr>
        <p:spPr>
          <a:xfrm>
            <a:off x="594360" y="458114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3" name="Rectangle 3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35" name="TextBox 3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6" name="TextBox 3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63311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CULTURA · PARADA 3</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5</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horario español</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Klik een kaart → het weetje. In España eet en cena men later dan in België.</a:t>
            </a:r>
          </a:p>
        </p:txBody>
      </p:sp>
      <p:sp>
        <p:nvSpPr>
          <p:cNvPr id="9" name="Rounded Rectangle 8"/>
          <p:cNvSpPr/>
          <p:nvPr/>
        </p:nvSpPr>
        <p:spPr>
          <a:xfrm>
            <a:off x="457200" y="1554480"/>
            <a:ext cx="3703320" cy="3108960"/>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554480"/>
            <a:ext cx="3703320" cy="548640"/>
          </a:xfrm>
          <a:prstGeom prst="rect">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554480"/>
            <a:ext cx="34290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Las comidas</a:t>
            </a:r>
          </a:p>
        </p:txBody>
      </p:sp>
      <p:sp>
        <p:nvSpPr>
          <p:cNvPr id="12" name="TextBox 11"/>
          <p:cNvSpPr txBox="1"/>
          <p:nvPr/>
        </p:nvSpPr>
        <p:spPr>
          <a:xfrm>
            <a:off x="640080" y="2286000"/>
            <a:ext cx="3337560" cy="164592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200" b="0" i="0">
                <a:solidFill>
                  <a:srgbClr val="20242E"/>
                </a:solidFill>
                <a:latin typeface="Inter"/>
              </a:rPr>
              <a:t>desayuno (~8h) · comida/almuerzo (~14–15h, ¡la principal!) · merienda (~18h) · cena (~21–22h).</a:t>
            </a:r>
          </a:p>
        </p:txBody>
      </p:sp>
      <p:sp>
        <p:nvSpPr>
          <p:cNvPr id="13" name="TextBox 12"/>
          <p:cNvSpPr txBox="1"/>
          <p:nvPr/>
        </p:nvSpPr>
        <p:spPr>
          <a:xfrm>
            <a:off x="640080" y="4023360"/>
            <a:ext cx="3337560" cy="548640"/>
          </a:xfrm>
          <a:prstGeom prst="rect">
            <a:avLst/>
          </a:prstGeom>
          <a:noFill/>
        </p:spPr>
        <p:txBody>
          <a:bodyPr wrap="square" anchor="t" lIns="38100" rIns="38100" tIns="25400" bIns="25400">
            <a:spAutoFit/>
          </a:bodyPr>
          <a:lstStyle/>
          <a:p>
            <a:pPr algn="l">
              <a:lnSpc>
                <a:spcPct val="110000"/>
              </a:lnSpc>
              <a:spcBef>
                <a:spcPts val="0"/>
              </a:spcBef>
              <a:spcAft>
                <a:spcPts val="200"/>
              </a:spcAft>
            </a:pPr>
            <a:r>
              <a:rPr sz="1050" b="0" i="1">
                <a:solidFill>
                  <a:srgbClr val="6A6E78"/>
                </a:solidFill>
                <a:latin typeface="Inter"/>
              </a:rPr>
              <a:t>In België: eten rond 12h en 18h — een paar uur vroeger.</a:t>
            </a:r>
          </a:p>
        </p:txBody>
      </p:sp>
      <p:sp>
        <p:nvSpPr>
          <p:cNvPr id="14" name="Rounded Rectangle 13"/>
          <p:cNvSpPr/>
          <p:nvPr/>
        </p:nvSpPr>
        <p:spPr>
          <a:xfrm>
            <a:off x="4279392" y="1554480"/>
            <a:ext cx="3703320" cy="3108960"/>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9392" y="1554480"/>
            <a:ext cx="3703320" cy="548640"/>
          </a:xfrm>
          <a:prstGeom prst="rect">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6552" y="1554480"/>
            <a:ext cx="34290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El instituto</a:t>
            </a:r>
          </a:p>
        </p:txBody>
      </p:sp>
      <p:sp>
        <p:nvSpPr>
          <p:cNvPr id="17" name="TextBox 16"/>
          <p:cNvSpPr txBox="1"/>
          <p:nvPr/>
        </p:nvSpPr>
        <p:spPr>
          <a:xfrm>
            <a:off x="4462272" y="2286000"/>
            <a:ext cx="3337560" cy="164592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200" b="0" i="0">
                <a:solidFill>
                  <a:srgbClr val="20242E"/>
                </a:solidFill>
                <a:latin typeface="Inter"/>
              </a:rPr>
              <a:t>Van ~8:30 tot ~14:30, soms met pauze. Namiddag: deberes, deporte, amigos.</a:t>
            </a:r>
          </a:p>
        </p:txBody>
      </p:sp>
      <p:sp>
        <p:nvSpPr>
          <p:cNvPr id="18" name="TextBox 17"/>
          <p:cNvSpPr txBox="1"/>
          <p:nvPr/>
        </p:nvSpPr>
        <p:spPr>
          <a:xfrm>
            <a:off x="4462272" y="4023360"/>
            <a:ext cx="3337560" cy="548640"/>
          </a:xfrm>
          <a:prstGeom prst="rect">
            <a:avLst/>
          </a:prstGeom>
          <a:noFill/>
        </p:spPr>
        <p:txBody>
          <a:bodyPr wrap="square" anchor="t" lIns="38100" rIns="38100" tIns="25400" bIns="25400">
            <a:spAutoFit/>
          </a:bodyPr>
          <a:lstStyle/>
          <a:p>
            <a:pPr algn="l">
              <a:lnSpc>
                <a:spcPct val="110000"/>
              </a:lnSpc>
              <a:spcBef>
                <a:spcPts val="0"/>
              </a:spcBef>
              <a:spcAft>
                <a:spcPts val="200"/>
              </a:spcAft>
            </a:pPr>
            <a:r>
              <a:rPr sz="1050" b="0" i="1">
                <a:solidFill>
                  <a:srgbClr val="6A6E78"/>
                </a:solidFill>
                <a:latin typeface="Inter"/>
              </a:rPr>
              <a:t>Ander ritme dan een lange schooldag.</a:t>
            </a:r>
          </a:p>
        </p:txBody>
      </p:sp>
      <p:sp>
        <p:nvSpPr>
          <p:cNvPr id="19" name="Rounded Rectangle 18"/>
          <p:cNvSpPr/>
          <p:nvPr/>
        </p:nvSpPr>
        <p:spPr>
          <a:xfrm>
            <a:off x="8101584" y="1554480"/>
            <a:ext cx="3703320" cy="3108960"/>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1584" y="1554480"/>
            <a:ext cx="3703320" cy="548640"/>
          </a:xfrm>
          <a:prstGeom prst="rect">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1554480"/>
            <a:ext cx="34290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La siesta</a:t>
            </a:r>
          </a:p>
        </p:txBody>
      </p:sp>
      <p:sp>
        <p:nvSpPr>
          <p:cNvPr id="22" name="TextBox 21"/>
          <p:cNvSpPr txBox="1"/>
          <p:nvPr/>
        </p:nvSpPr>
        <p:spPr>
          <a:xfrm>
            <a:off x="8284464" y="2286000"/>
            <a:ext cx="3337560" cy="164592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200" b="0" i="0">
                <a:solidFill>
                  <a:srgbClr val="20242E"/>
                </a:solidFill>
                <a:latin typeface="Inter"/>
              </a:rPr>
              <a:t>Meer mito dan realidad: weinigen doen echt siesta, vooral mayores. De cultuur eet gewoon later.</a:t>
            </a:r>
          </a:p>
        </p:txBody>
      </p:sp>
      <p:sp>
        <p:nvSpPr>
          <p:cNvPr id="23" name="TextBox 22"/>
          <p:cNvSpPr txBox="1"/>
          <p:nvPr/>
        </p:nvSpPr>
        <p:spPr>
          <a:xfrm>
            <a:off x="8284464" y="4023360"/>
            <a:ext cx="3337560" cy="548640"/>
          </a:xfrm>
          <a:prstGeom prst="rect">
            <a:avLst/>
          </a:prstGeom>
          <a:noFill/>
        </p:spPr>
        <p:txBody>
          <a:bodyPr wrap="square" anchor="t" lIns="38100" rIns="38100" tIns="25400" bIns="25400">
            <a:spAutoFit/>
          </a:bodyPr>
          <a:lstStyle/>
          <a:p>
            <a:pPr algn="l">
              <a:lnSpc>
                <a:spcPct val="110000"/>
              </a:lnSpc>
              <a:spcBef>
                <a:spcPts val="0"/>
              </a:spcBef>
              <a:spcAft>
                <a:spcPts val="200"/>
              </a:spcAft>
            </a:pPr>
            <a:r>
              <a:rPr sz="1050" b="0" i="1">
                <a:solidFill>
                  <a:srgbClr val="6A6E78"/>
                </a:solidFill>
                <a:latin typeface="Inter"/>
              </a:rPr>
              <a:t>Vergelijk met je eigen dagritme in Bélgica.</a:t>
            </a:r>
          </a:p>
        </p:txBody>
      </p:sp>
      <p:sp>
        <p:nvSpPr>
          <p:cNvPr id="24" name="Rounded Rectangle 23"/>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5" name="Rounded Rectangle 24"/>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26" name="Rounded Rectangle 25">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27" name="TextBox 26"/>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28" name="Rounded Rectangle 27"/>
          <p:cNvSpPr/>
          <p:nvPr/>
        </p:nvSpPr>
        <p:spPr>
          <a:xfrm>
            <a:off x="457200" y="4892040"/>
            <a:ext cx="11247120" cy="5486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Actividad: </a:t>
            </a:r>
            <a:r>
              <a:rPr sz="1200" b="0" i="0">
                <a:solidFill>
                  <a:srgbClr val="157355"/>
                </a:solidFill>
                <a:latin typeface="Inter"/>
              </a:rPr>
              <a:t>vergelijk: ¿a qué hora comes y cenas TÚ en Bélgica? Schrijf jouw «horario español».</a:t>
            </a:r>
          </a:p>
        </p:txBody>
      </p:sp>
      <p:sp>
        <p:nvSpPr>
          <p:cNvPr id="29" name="Rounded Rectangle 28"/>
          <p:cNvSpPr/>
          <p:nvPr/>
        </p:nvSpPr>
        <p:spPr>
          <a:xfrm>
            <a:off x="594360" y="476402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0" name="Rectangle 2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32" name="TextBox 3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3" name="TextBox 3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717243"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§3 · QUIZ · CONJUGA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3</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Conjuga el presente irregular</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Klik een cel → de juiste vorm. Let op de «bota» en de yo-vorm.</a:t>
            </a:r>
          </a:p>
        </p:txBody>
      </p:sp>
      <p:sp>
        <p:nvSpPr>
          <p:cNvPr id="9" name="Rounded Rectangle 8"/>
          <p:cNvSpPr/>
          <p:nvPr/>
        </p:nvSpPr>
        <p:spPr>
          <a:xfrm>
            <a:off x="457200" y="1600200"/>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600200"/>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yo · empezar</a:t>
            </a:r>
          </a:p>
        </p:txBody>
      </p:sp>
      <p:sp>
        <p:nvSpPr>
          <p:cNvPr id="11" name="TextBox 10"/>
          <p:cNvSpPr txBox="1"/>
          <p:nvPr/>
        </p:nvSpPr>
        <p:spPr>
          <a:xfrm>
            <a:off x="3520440" y="1600200"/>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 empiezo</a:t>
            </a:r>
          </a:p>
        </p:txBody>
      </p:sp>
      <p:sp>
        <p:nvSpPr>
          <p:cNvPr id="12" name="Rounded Rectangle 11"/>
          <p:cNvSpPr/>
          <p:nvPr/>
        </p:nvSpPr>
        <p:spPr>
          <a:xfrm>
            <a:off x="457200" y="2313432"/>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13432"/>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nosotros · empezar</a:t>
            </a:r>
          </a:p>
        </p:txBody>
      </p:sp>
      <p:sp>
        <p:nvSpPr>
          <p:cNvPr id="14" name="TextBox 13"/>
          <p:cNvSpPr txBox="1"/>
          <p:nvPr/>
        </p:nvSpPr>
        <p:spPr>
          <a:xfrm>
            <a:off x="3520440" y="2313432"/>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 empezamos</a:t>
            </a:r>
          </a:p>
        </p:txBody>
      </p:sp>
      <p:sp>
        <p:nvSpPr>
          <p:cNvPr id="15" name="Rounded Rectangle 14"/>
          <p:cNvSpPr/>
          <p:nvPr/>
        </p:nvSpPr>
        <p:spPr>
          <a:xfrm>
            <a:off x="457200" y="3026664"/>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26664"/>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Pau · dormir</a:t>
            </a:r>
          </a:p>
        </p:txBody>
      </p:sp>
      <p:sp>
        <p:nvSpPr>
          <p:cNvPr id="17" name="TextBox 16"/>
          <p:cNvSpPr txBox="1"/>
          <p:nvPr/>
        </p:nvSpPr>
        <p:spPr>
          <a:xfrm>
            <a:off x="3520440" y="3026664"/>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 duerme</a:t>
            </a:r>
          </a:p>
        </p:txBody>
      </p:sp>
      <p:sp>
        <p:nvSpPr>
          <p:cNvPr id="18" name="Rounded Rectangle 17"/>
          <p:cNvSpPr/>
          <p:nvPr/>
        </p:nvSpPr>
        <p:spPr>
          <a:xfrm>
            <a:off x="457200" y="3739896"/>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739896"/>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yo · hacer</a:t>
            </a:r>
          </a:p>
        </p:txBody>
      </p:sp>
      <p:sp>
        <p:nvSpPr>
          <p:cNvPr id="20" name="TextBox 19"/>
          <p:cNvSpPr txBox="1"/>
          <p:nvPr/>
        </p:nvSpPr>
        <p:spPr>
          <a:xfrm>
            <a:off x="3520440" y="3739896"/>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 hago</a:t>
            </a:r>
          </a:p>
        </p:txBody>
      </p:sp>
      <p:sp>
        <p:nvSpPr>
          <p:cNvPr id="21" name="Rounded Rectangle 20"/>
          <p:cNvSpPr/>
          <p:nvPr/>
        </p:nvSpPr>
        <p:spPr>
          <a:xfrm>
            <a:off x="6172200" y="1600200"/>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1600200"/>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tú · querer</a:t>
            </a:r>
          </a:p>
        </p:txBody>
      </p:sp>
      <p:sp>
        <p:nvSpPr>
          <p:cNvPr id="23" name="TextBox 22"/>
          <p:cNvSpPr txBox="1"/>
          <p:nvPr/>
        </p:nvSpPr>
        <p:spPr>
          <a:xfrm>
            <a:off x="9235440" y="1600200"/>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 quieres</a:t>
            </a:r>
          </a:p>
        </p:txBody>
      </p:sp>
      <p:sp>
        <p:nvSpPr>
          <p:cNvPr id="24" name="Rounded Rectangle 23"/>
          <p:cNvSpPr/>
          <p:nvPr/>
        </p:nvSpPr>
        <p:spPr>
          <a:xfrm>
            <a:off x="6172200" y="2313432"/>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313432"/>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yo · ir</a:t>
            </a:r>
          </a:p>
        </p:txBody>
      </p:sp>
      <p:sp>
        <p:nvSpPr>
          <p:cNvPr id="26" name="TextBox 25"/>
          <p:cNvSpPr txBox="1"/>
          <p:nvPr/>
        </p:nvSpPr>
        <p:spPr>
          <a:xfrm>
            <a:off x="9235440" y="2313432"/>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 voy</a:t>
            </a:r>
          </a:p>
        </p:txBody>
      </p:sp>
      <p:sp>
        <p:nvSpPr>
          <p:cNvPr id="27" name="Rounded Rectangle 26"/>
          <p:cNvSpPr/>
          <p:nvPr/>
        </p:nvSpPr>
        <p:spPr>
          <a:xfrm>
            <a:off x="6172200" y="3026664"/>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026664"/>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ellos · pedir</a:t>
            </a:r>
          </a:p>
        </p:txBody>
      </p:sp>
      <p:sp>
        <p:nvSpPr>
          <p:cNvPr id="29" name="TextBox 28"/>
          <p:cNvSpPr txBox="1"/>
          <p:nvPr/>
        </p:nvSpPr>
        <p:spPr>
          <a:xfrm>
            <a:off x="9235440" y="3026664"/>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 piden</a:t>
            </a:r>
          </a:p>
        </p:txBody>
      </p:sp>
      <p:sp>
        <p:nvSpPr>
          <p:cNvPr id="30" name="Rounded Rectangle 29"/>
          <p:cNvSpPr/>
          <p:nvPr/>
        </p:nvSpPr>
        <p:spPr>
          <a:xfrm>
            <a:off x="6172200" y="3739896"/>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3739896"/>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yo · salir</a:t>
            </a:r>
          </a:p>
        </p:txBody>
      </p:sp>
      <p:sp>
        <p:nvSpPr>
          <p:cNvPr id="32" name="TextBox 31"/>
          <p:cNvSpPr txBox="1"/>
          <p:nvPr/>
        </p:nvSpPr>
        <p:spPr>
          <a:xfrm>
            <a:off x="9235440" y="3739896"/>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57355"/>
                </a:solidFill>
                <a:latin typeface="Inter"/>
              </a:rPr>
              <a:t>→ salgo</a:t>
            </a:r>
          </a:p>
        </p:txBody>
      </p:sp>
      <p:sp>
        <p:nvSpPr>
          <p:cNvPr id="33" name="Rounded Rectangle 32"/>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4" name="Rounded Rectangle 33"/>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35" name="Rounded Rectangle 34">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6" name="TextBox 35"/>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7" name="Rounded Rectangle 36"/>
          <p:cNvSpPr/>
          <p:nvPr/>
        </p:nvSpPr>
        <p:spPr>
          <a:xfrm>
            <a:off x="457200" y="4617720"/>
            <a:ext cx="11247120" cy="5029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Nosotros = geen wissel (empezamos). Yo speciaal bij hacer/salir/ir (hago/salgo/voy). </a:t>
            </a:r>
            <a:r>
              <a:rPr sz="1200" b="0" i="0">
                <a:solidFill>
                  <a:srgbClr val="157355"/>
                </a:solidFill>
                <a:latin typeface="Inter"/>
              </a:rPr>
              <a:t>Alle vormen nagerekend via de motor-generator.</a:t>
            </a:r>
          </a:p>
        </p:txBody>
      </p:sp>
      <p:sp>
        <p:nvSpPr>
          <p:cNvPr id="38" name="Rounded Rectangle 37"/>
          <p:cNvSpPr/>
          <p:nvPr/>
        </p:nvSpPr>
        <p:spPr>
          <a:xfrm>
            <a:off x="594360" y="448970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9" name="Rectangle 38"/>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41" name="TextBox 40"/>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2" name="TextBox 41"/>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5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686800" cy="9144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2800" b="1" i="0">
                <a:solidFill>
                  <a:srgbClr val="FFFFFF"/>
                </a:solidFill>
                <a:latin typeface="Bricolage Grotesque"/>
              </a:rPr>
              <a:t>✈ Tarea final · Un día en mi vida</a:t>
            </a:r>
          </a:p>
          <a:p>
            <a:pPr algn="l">
              <a:lnSpc>
                <a:spcPct val="106000"/>
              </a:lnSpc>
              <a:spcBef>
                <a:spcPts val="0"/>
              </a:spcBef>
              <a:spcAft>
                <a:spcPts val="200"/>
              </a:spcAft>
            </a:pPr>
            <a:r>
              <a:rPr sz="1300" b="0" i="1">
                <a:solidFill>
                  <a:srgbClr val="E4F4EE"/>
                </a:solidFill>
                <a:latin typeface="Inter"/>
              </a:rPr>
              <a:t>Maak je vlog of tekst met horario over een dag uit je leven.</a:t>
            </a:r>
          </a:p>
        </p:txBody>
      </p:sp>
      <p:pic>
        <p:nvPicPr>
          <p:cNvPr id="5" name="Picture 4" descr="mochila.png"/>
          <p:cNvPicPr>
            <a:picLocks noChangeAspect="1"/>
          </p:cNvPicPr>
          <p:nvPr/>
        </p:nvPicPr>
        <p:blipFill>
          <a:blip r:embed="rId2"/>
          <a:stretch>
            <a:fillRect/>
          </a:stretch>
        </p:blipFill>
        <p:spPr>
          <a:xfrm>
            <a:off x="10607040" y="182880"/>
            <a:ext cx="914400" cy="914400"/>
          </a:xfrm>
          <a:prstGeom prst="rect">
            <a:avLst/>
          </a:prstGeom>
        </p:spPr>
      </p:pic>
      <p:sp>
        <p:nvSpPr>
          <p:cNvPr id="6" name="Rounded Rectangle 5"/>
          <p:cNvSpPr/>
          <p:nvPr/>
        </p:nvSpPr>
        <p:spPr>
          <a:xfrm>
            <a:off x="457200" y="1554480"/>
            <a:ext cx="457200" cy="457200"/>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Bricolage Grotesque"/>
              </a:rPr>
              <a:t>1</a:t>
            </a:r>
          </a:p>
        </p:txBody>
      </p:sp>
      <p:sp>
        <p:nvSpPr>
          <p:cNvPr id="7" name="TextBox 6"/>
          <p:cNvSpPr txBox="1"/>
          <p:nvPr/>
        </p:nvSpPr>
        <p:spPr>
          <a:xfrm>
            <a:off x="1097280" y="1554480"/>
            <a:ext cx="365760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Haz tu horario</a:t>
            </a:r>
          </a:p>
        </p:txBody>
      </p:sp>
      <p:sp>
        <p:nvSpPr>
          <p:cNvPr id="8" name="TextBox 7"/>
          <p:cNvSpPr txBox="1"/>
          <p:nvPr/>
        </p:nvSpPr>
        <p:spPr>
          <a:xfrm>
            <a:off x="4846320" y="1554480"/>
            <a:ext cx="676656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de uren van jouw dag</a:t>
            </a:r>
          </a:p>
        </p:txBody>
      </p:sp>
      <p:sp>
        <p:nvSpPr>
          <p:cNvPr id="9" name="Rounded Rectangle 8"/>
          <p:cNvSpPr/>
          <p:nvPr/>
        </p:nvSpPr>
        <p:spPr>
          <a:xfrm>
            <a:off x="457200" y="2121408"/>
            <a:ext cx="457200" cy="457200"/>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Bricolage Grotesque"/>
              </a:rPr>
              <a:t>2</a:t>
            </a:r>
          </a:p>
        </p:txBody>
      </p:sp>
      <p:sp>
        <p:nvSpPr>
          <p:cNvPr id="10" name="TextBox 9"/>
          <p:cNvSpPr txBox="1"/>
          <p:nvPr/>
        </p:nvSpPr>
        <p:spPr>
          <a:xfrm>
            <a:off x="1097280" y="2121408"/>
            <a:ext cx="365760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Escribe tu día</a:t>
            </a:r>
          </a:p>
        </p:txBody>
      </p:sp>
      <p:sp>
        <p:nvSpPr>
          <p:cNvPr id="11" name="TextBox 10"/>
          <p:cNvSpPr txBox="1"/>
          <p:nvPr/>
        </p:nvSpPr>
        <p:spPr>
          <a:xfrm>
            <a:off x="4846320" y="2121408"/>
            <a:ext cx="676656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6–8 frases: hora + reflexivos + presente irregular + conectores</a:t>
            </a:r>
          </a:p>
        </p:txBody>
      </p:sp>
      <p:sp>
        <p:nvSpPr>
          <p:cNvPr id="12" name="Rounded Rectangle 11"/>
          <p:cNvSpPr/>
          <p:nvPr/>
        </p:nvSpPr>
        <p:spPr>
          <a:xfrm>
            <a:off x="457200" y="2688336"/>
            <a:ext cx="457200" cy="457200"/>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Bricolage Grotesque"/>
              </a:rPr>
              <a:t>3</a:t>
            </a:r>
          </a:p>
        </p:txBody>
      </p:sp>
      <p:sp>
        <p:nvSpPr>
          <p:cNvPr id="13" name="TextBox 12"/>
          <p:cNvSpPr txBox="1"/>
          <p:nvPr/>
        </p:nvSpPr>
        <p:spPr>
          <a:xfrm>
            <a:off x="1097280" y="2688336"/>
            <a:ext cx="365760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Di la frecuencia</a:t>
            </a:r>
          </a:p>
        </p:txBody>
      </p:sp>
      <p:sp>
        <p:nvSpPr>
          <p:cNvPr id="14" name="TextBox 13"/>
          <p:cNvSpPr txBox="1"/>
          <p:nvPr/>
        </p:nvSpPr>
        <p:spPr>
          <a:xfrm>
            <a:off x="4846320" y="2688336"/>
            <a:ext cx="676656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siempre · a veces · nunca</a:t>
            </a:r>
          </a:p>
        </p:txBody>
      </p:sp>
      <p:sp>
        <p:nvSpPr>
          <p:cNvPr id="15" name="Rounded Rectangle 14"/>
          <p:cNvSpPr/>
          <p:nvPr/>
        </p:nvSpPr>
        <p:spPr>
          <a:xfrm>
            <a:off x="457200" y="3255264"/>
            <a:ext cx="457200" cy="457200"/>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Bricolage Grotesque"/>
              </a:rPr>
              <a:t>4</a:t>
            </a:r>
          </a:p>
        </p:txBody>
      </p:sp>
      <p:sp>
        <p:nvSpPr>
          <p:cNvPr id="16" name="TextBox 15"/>
          <p:cNvSpPr txBox="1"/>
          <p:nvPr/>
        </p:nvSpPr>
        <p:spPr>
          <a:xfrm>
            <a:off x="1097280" y="3255264"/>
            <a:ext cx="365760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Preséntalo</a:t>
            </a:r>
          </a:p>
        </p:txBody>
      </p:sp>
      <p:sp>
        <p:nvSpPr>
          <p:cNvPr id="17" name="TextBox 16"/>
          <p:cNvSpPr txBox="1"/>
          <p:nvPr/>
        </p:nvSpPr>
        <p:spPr>
          <a:xfrm>
            <a:off x="4846320" y="3255264"/>
            <a:ext cx="676656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a la clase of vlog/audio (digitale pagina)</a:t>
            </a:r>
          </a:p>
        </p:txBody>
      </p:sp>
      <p:sp>
        <p:nvSpPr>
          <p:cNvPr id="18" name="Rounded Rectangle 17"/>
          <p:cNvSpPr/>
          <p:nvPr/>
        </p:nvSpPr>
        <p:spPr>
          <a:xfrm>
            <a:off x="457200" y="3822192"/>
            <a:ext cx="457200" cy="457200"/>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Bricolage Grotesque"/>
              </a:rPr>
              <a:t>5</a:t>
            </a:r>
          </a:p>
        </p:txBody>
      </p:sp>
      <p:sp>
        <p:nvSpPr>
          <p:cNvPr id="19" name="TextBox 18"/>
          <p:cNvSpPr txBox="1"/>
          <p:nvPr/>
        </p:nvSpPr>
        <p:spPr>
          <a:xfrm>
            <a:off x="1097280" y="3822192"/>
            <a:ext cx="365760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Pregunta a un compañero</a:t>
            </a:r>
          </a:p>
        </p:txBody>
      </p:sp>
      <p:sp>
        <p:nvSpPr>
          <p:cNvPr id="20" name="TextBox 19"/>
          <p:cNvSpPr txBox="1"/>
          <p:nvPr/>
        </p:nvSpPr>
        <p:spPr>
          <a:xfrm>
            <a:off x="4846320" y="3822192"/>
            <a:ext cx="676656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en presenta su día (3ª persona)</a:t>
            </a:r>
          </a:p>
        </p:txBody>
      </p:sp>
      <p:sp>
        <p:nvSpPr>
          <p:cNvPr id="21" name="TextBox 20"/>
          <p:cNvSpPr txBox="1"/>
          <p:nvPr/>
        </p:nvSpPr>
        <p:spPr>
          <a:xfrm>
            <a:off x="457200" y="4572000"/>
            <a:ext cx="109728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Rúbrica · ¿lo logré?</a:t>
            </a:r>
          </a:p>
        </p:txBody>
      </p:sp>
      <p:sp>
        <p:nvSpPr>
          <p:cNvPr id="22" name="Rounded Rectangle 21"/>
          <p:cNvSpPr/>
          <p:nvPr/>
        </p:nvSpPr>
        <p:spPr>
          <a:xfrm>
            <a:off x="457200" y="4983480"/>
            <a:ext cx="274320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 la hora correct</a:t>
            </a:r>
          </a:p>
        </p:txBody>
      </p:sp>
      <p:sp>
        <p:nvSpPr>
          <p:cNvPr id="23" name="Rounded Rectangle 22"/>
          <p:cNvSpPr/>
          <p:nvPr/>
        </p:nvSpPr>
        <p:spPr>
          <a:xfrm>
            <a:off x="3291840" y="4983480"/>
            <a:ext cx="274320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 reflexivos (me/te/se)</a:t>
            </a:r>
          </a:p>
        </p:txBody>
      </p:sp>
      <p:sp>
        <p:nvSpPr>
          <p:cNvPr id="24" name="Rounded Rectangle 23"/>
          <p:cNvSpPr/>
          <p:nvPr/>
        </p:nvSpPr>
        <p:spPr>
          <a:xfrm>
            <a:off x="6126480" y="4983480"/>
            <a:ext cx="274320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 presente irregular</a:t>
            </a:r>
          </a:p>
        </p:txBody>
      </p:sp>
      <p:sp>
        <p:nvSpPr>
          <p:cNvPr id="25" name="Rounded Rectangle 24"/>
          <p:cNvSpPr/>
          <p:nvPr/>
        </p:nvSpPr>
        <p:spPr>
          <a:xfrm>
            <a:off x="8961120" y="4983480"/>
            <a:ext cx="274320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 conectores + frecuencia</a:t>
            </a:r>
          </a:p>
        </p:txBody>
      </p:sp>
      <p:sp>
        <p:nvSpPr>
          <p:cNvPr id="26" name="TextBox 25"/>
          <p:cNvSpPr txBox="1"/>
          <p:nvPr/>
        </p:nvSpPr>
        <p:spPr>
          <a:xfrm>
            <a:off x="457200" y="5532120"/>
            <a:ext cx="109728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a:t>
            </a:r>
            <a:r>
              <a:rPr sz="1150" b="0" i="1">
                <a:solidFill>
                  <a:srgbClr val="6A6E78"/>
                </a:solidFill>
                <a:latin typeface="Inter"/>
              </a:rPr>
              <a:t>Afzender jij · ontvanger de klas/Lucía · doel je dag vertellen · situatie een dag in Barcelona · resultaat: horario + vlog/tekst.</a:t>
            </a:r>
          </a:p>
        </p:txBody>
      </p:sp>
      <p:sp>
        <p:nvSpPr>
          <p:cNvPr id="27" name="Rectangle 26"/>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29" name="TextBox 28"/>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0" name="TextBox 29"/>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QUIZ · LA MEZCLA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Ophaal door elkaar</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Gemengde ophaal van de hele unit. Klik een vraag → het antwoord. (retrieval)</a:t>
            </a:r>
          </a:p>
        </p:txBody>
      </p:sp>
      <p:sp>
        <p:nvSpPr>
          <p:cNvPr id="9" name="Rounded Rectangle 8"/>
          <p:cNvSpPr/>
          <p:nvPr/>
        </p:nvSpPr>
        <p:spPr>
          <a:xfrm>
            <a:off x="457200" y="1600200"/>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600200"/>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1:00 (frase)</a:t>
            </a:r>
          </a:p>
        </p:txBody>
      </p:sp>
      <p:sp>
        <p:nvSpPr>
          <p:cNvPr id="11" name="TextBox 10"/>
          <p:cNvSpPr txBox="1"/>
          <p:nvPr/>
        </p:nvSpPr>
        <p:spPr>
          <a:xfrm>
            <a:off x="3520440" y="1600200"/>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Es la una</a:t>
            </a:r>
          </a:p>
        </p:txBody>
      </p:sp>
      <p:sp>
        <p:nvSpPr>
          <p:cNvPr id="12" name="Rounded Rectangle 11"/>
          <p:cNvSpPr/>
          <p:nvPr/>
        </p:nvSpPr>
        <p:spPr>
          <a:xfrm>
            <a:off x="457200" y="2313432"/>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13432"/>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yo · levantarse</a:t>
            </a:r>
          </a:p>
        </p:txBody>
      </p:sp>
      <p:sp>
        <p:nvSpPr>
          <p:cNvPr id="14" name="TextBox 13"/>
          <p:cNvSpPr txBox="1"/>
          <p:nvPr/>
        </p:nvSpPr>
        <p:spPr>
          <a:xfrm>
            <a:off x="3520440" y="2313432"/>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me levanto</a:t>
            </a:r>
          </a:p>
        </p:txBody>
      </p:sp>
      <p:sp>
        <p:nvSpPr>
          <p:cNvPr id="15" name="Rounded Rectangle 14"/>
          <p:cNvSpPr/>
          <p:nvPr/>
        </p:nvSpPr>
        <p:spPr>
          <a:xfrm>
            <a:off x="457200" y="3026664"/>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26664"/>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yo · poder</a:t>
            </a:r>
          </a:p>
        </p:txBody>
      </p:sp>
      <p:sp>
        <p:nvSpPr>
          <p:cNvPr id="17" name="TextBox 16"/>
          <p:cNvSpPr txBox="1"/>
          <p:nvPr/>
        </p:nvSpPr>
        <p:spPr>
          <a:xfrm>
            <a:off x="3520440" y="3026664"/>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puedo</a:t>
            </a:r>
          </a:p>
        </p:txBody>
      </p:sp>
      <p:sp>
        <p:nvSpPr>
          <p:cNvPr id="18" name="Rounded Rectangle 17"/>
          <p:cNvSpPr/>
          <p:nvPr/>
        </p:nvSpPr>
        <p:spPr>
          <a:xfrm>
            <a:off x="457200" y="3739896"/>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739896"/>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nosotros · empezar</a:t>
            </a:r>
          </a:p>
        </p:txBody>
      </p:sp>
      <p:sp>
        <p:nvSpPr>
          <p:cNvPr id="20" name="TextBox 19"/>
          <p:cNvSpPr txBox="1"/>
          <p:nvPr/>
        </p:nvSpPr>
        <p:spPr>
          <a:xfrm>
            <a:off x="3520440" y="3739896"/>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empezamos</a:t>
            </a:r>
          </a:p>
        </p:txBody>
      </p:sp>
      <p:sp>
        <p:nvSpPr>
          <p:cNvPr id="21" name="Rounded Rectangle 20"/>
          <p:cNvSpPr/>
          <p:nvPr/>
        </p:nvSpPr>
        <p:spPr>
          <a:xfrm>
            <a:off x="6172200" y="1600200"/>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1600200"/>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yo · hacer</a:t>
            </a:r>
          </a:p>
        </p:txBody>
      </p:sp>
      <p:sp>
        <p:nvSpPr>
          <p:cNvPr id="23" name="TextBox 22"/>
          <p:cNvSpPr txBox="1"/>
          <p:nvPr/>
        </p:nvSpPr>
        <p:spPr>
          <a:xfrm>
            <a:off x="9235440" y="1600200"/>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hago</a:t>
            </a:r>
          </a:p>
        </p:txBody>
      </p:sp>
      <p:sp>
        <p:nvSpPr>
          <p:cNvPr id="24" name="Rounded Rectangle 23"/>
          <p:cNvSpPr/>
          <p:nvPr/>
        </p:nvSpPr>
        <p:spPr>
          <a:xfrm>
            <a:off x="6172200" y="2313432"/>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313432"/>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0% frecuencia</a:t>
            </a:r>
          </a:p>
        </p:txBody>
      </p:sp>
      <p:sp>
        <p:nvSpPr>
          <p:cNvPr id="26" name="TextBox 25"/>
          <p:cNvSpPr txBox="1"/>
          <p:nvPr/>
        </p:nvSpPr>
        <p:spPr>
          <a:xfrm>
            <a:off x="9235440" y="2313432"/>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nunca</a:t>
            </a:r>
          </a:p>
        </p:txBody>
      </p:sp>
      <p:sp>
        <p:nvSpPr>
          <p:cNvPr id="27" name="Rounded Rectangle 26"/>
          <p:cNvSpPr/>
          <p:nvPr/>
        </p:nvSpPr>
        <p:spPr>
          <a:xfrm>
            <a:off x="6172200" y="3026664"/>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026664"/>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«dan/daarna»</a:t>
            </a:r>
          </a:p>
        </p:txBody>
      </p:sp>
      <p:sp>
        <p:nvSpPr>
          <p:cNvPr id="29" name="TextBox 28"/>
          <p:cNvSpPr txBox="1"/>
          <p:nvPr/>
        </p:nvSpPr>
        <p:spPr>
          <a:xfrm>
            <a:off x="9235440" y="3026664"/>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después / luego</a:t>
            </a:r>
          </a:p>
        </p:txBody>
      </p:sp>
      <p:sp>
        <p:nvSpPr>
          <p:cNvPr id="30" name="Rounded Rectangle 29"/>
          <p:cNvSpPr/>
          <p:nvPr/>
        </p:nvSpPr>
        <p:spPr>
          <a:xfrm>
            <a:off x="6172200" y="3739896"/>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3739896"/>
            <a:ext cx="29260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día con tilde</a:t>
            </a:r>
          </a:p>
        </p:txBody>
      </p:sp>
      <p:sp>
        <p:nvSpPr>
          <p:cNvPr id="32" name="TextBox 31"/>
          <p:cNvSpPr txBox="1"/>
          <p:nvPr/>
        </p:nvSpPr>
        <p:spPr>
          <a:xfrm>
            <a:off x="9235440" y="3739896"/>
            <a:ext cx="23317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157355"/>
                </a:solidFill>
                <a:latin typeface="Inter"/>
              </a:rPr>
              <a:t>→ miércoles / sábado</a:t>
            </a:r>
          </a:p>
        </p:txBody>
      </p:sp>
      <p:sp>
        <p:nvSpPr>
          <p:cNvPr id="33" name="Rounded Rectangle 32"/>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4" name="Rounded Rectangle 33"/>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35" name="Rounded Rectangle 34">
            <a:hlinkClick action="ppaction://hlinksldjump" r:id="rId2"/>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6" name="TextBox 35"/>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Klik ▶ om de solución te tonen · ⌂ terug naar het menu</a:t>
            </a:r>
          </a:p>
        </p:txBody>
      </p:sp>
      <p:sp>
        <p:nvSpPr>
          <p:cNvPr id="37" name="Rounded Rectangle 36"/>
          <p:cNvSpPr/>
          <p:nvPr/>
        </p:nvSpPr>
        <p:spPr>
          <a:xfrm>
            <a:off x="457200" y="4617720"/>
            <a:ext cx="11247120" cy="5029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Alles komt terug: </a:t>
            </a:r>
            <a:r>
              <a:rPr sz="1200" b="0" i="0">
                <a:solidFill>
                  <a:srgbClr val="157355"/>
                </a:solidFill>
                <a:latin typeface="Inter"/>
              </a:rPr>
              <a:t>la hora · reflexivos · presente irregular · frecuencia · conectores · tildes.</a:t>
            </a:r>
          </a:p>
        </p:txBody>
      </p:sp>
      <p:sp>
        <p:nvSpPr>
          <p:cNvPr id="38" name="Rounded Rectangle 37"/>
          <p:cNvSpPr/>
          <p:nvPr/>
        </p:nvSpPr>
        <p:spPr>
          <a:xfrm>
            <a:off x="594360" y="4489704"/>
            <a:ext cx="791870"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a:t>
            </a:r>
          </a:p>
        </p:txBody>
      </p:sp>
      <p:sp>
        <p:nvSpPr>
          <p:cNvPr id="39" name="Rectangle 38"/>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41" name="TextBox 40"/>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42" name="TextBox 41"/>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5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013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REPASO · LO ESENCIAL</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5</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Lo esencial de un vistazo</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De volledige herhaling (20 spellen, drills) staat online. Hier: de kern + semáforo.</a:t>
            </a:r>
          </a:p>
        </p:txBody>
      </p:sp>
      <p:sp>
        <p:nvSpPr>
          <p:cNvPr id="9" name="Rounded Rectangle 8"/>
          <p:cNvSpPr/>
          <p:nvPr/>
        </p:nvSpPr>
        <p:spPr>
          <a:xfrm>
            <a:off x="457200" y="1463040"/>
            <a:ext cx="11247120" cy="2286000"/>
          </a:xfrm>
          <a:prstGeom prst="roundRect">
            <a:avLst>
              <a:gd name="adj" fmla="val 5500"/>
            </a:avLst>
          </a:prstGeom>
          <a:solidFill>
            <a:srgbClr val="F3EEE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645920"/>
            <a:ext cx="10789920" cy="4114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Inter"/>
              </a:rPr>
              <a:t>• </a:t>
            </a:r>
            <a:r>
              <a:rPr sz="1200" b="0" i="0">
                <a:solidFill>
                  <a:srgbClr val="20242E"/>
                </a:solidFill>
                <a:latin typeface="Inter"/>
              </a:rPr>
              <a:t>La hora: Es la una · Son las dos… · y media/cuarto · menos cuarto · en punto · ¿a qué hora? a las…</a:t>
            </a:r>
          </a:p>
        </p:txBody>
      </p:sp>
      <p:sp>
        <p:nvSpPr>
          <p:cNvPr id="11" name="TextBox 10"/>
          <p:cNvSpPr txBox="1"/>
          <p:nvPr/>
        </p:nvSpPr>
        <p:spPr>
          <a:xfrm>
            <a:off x="731520" y="2066544"/>
            <a:ext cx="10789920" cy="4114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Inter"/>
              </a:rPr>
              <a:t>• </a:t>
            </a:r>
            <a:r>
              <a:rPr sz="1200" b="0" i="0">
                <a:solidFill>
                  <a:srgbClr val="20242E"/>
                </a:solidFill>
                <a:latin typeface="Inter"/>
              </a:rPr>
              <a:t>Reflexivos: me/te/se/nos/os/se + verbo (me levanto). Pronombre vóór het werkwoord.</a:t>
            </a:r>
          </a:p>
        </p:txBody>
      </p:sp>
      <p:sp>
        <p:nvSpPr>
          <p:cNvPr id="12" name="TextBox 11"/>
          <p:cNvSpPr txBox="1"/>
          <p:nvPr/>
        </p:nvSpPr>
        <p:spPr>
          <a:xfrm>
            <a:off x="731520" y="2487168"/>
            <a:ext cx="10789920" cy="4114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Inter"/>
              </a:rPr>
              <a:t>• </a:t>
            </a:r>
            <a:r>
              <a:rPr sz="1200" b="0" i="0">
                <a:solidFill>
                  <a:srgbClr val="20242E"/>
                </a:solidFill>
                <a:latin typeface="Inter"/>
              </a:rPr>
              <a:t>Presente irregular: o→ue (puedo), e→ie (empiezo), e→i (pido) · hago · voy · salgo. NIET bij nosotros/vosotros.</a:t>
            </a:r>
          </a:p>
        </p:txBody>
      </p:sp>
      <p:sp>
        <p:nvSpPr>
          <p:cNvPr id="13" name="TextBox 12"/>
          <p:cNvSpPr txBox="1"/>
          <p:nvPr/>
        </p:nvSpPr>
        <p:spPr>
          <a:xfrm>
            <a:off x="731520" y="2907792"/>
            <a:ext cx="10789920" cy="4114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Inter"/>
              </a:rPr>
              <a:t>• </a:t>
            </a:r>
            <a:r>
              <a:rPr sz="1200" b="0" i="0">
                <a:solidFill>
                  <a:srgbClr val="20242E"/>
                </a:solidFill>
                <a:latin typeface="Inter"/>
              </a:rPr>
              <a:t>Frecuencia: siempre · normalmente · a menudo · a veces · casi nunca · nunca.</a:t>
            </a:r>
          </a:p>
        </p:txBody>
      </p:sp>
      <p:sp>
        <p:nvSpPr>
          <p:cNvPr id="14" name="TextBox 13"/>
          <p:cNvSpPr txBox="1"/>
          <p:nvPr/>
        </p:nvSpPr>
        <p:spPr>
          <a:xfrm>
            <a:off x="731520" y="3328416"/>
            <a:ext cx="10789920" cy="4114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Inter"/>
              </a:rPr>
              <a:t>• </a:t>
            </a:r>
            <a:r>
              <a:rPr sz="1200" b="0" i="0">
                <a:solidFill>
                  <a:srgbClr val="20242E"/>
                </a:solidFill>
                <a:latin typeface="Inter"/>
              </a:rPr>
              <a:t>🔴 Trampas: Es la una / Son las… · me levanto (niet levanto me) · podemos (geen ue) · días/meses klein.</a:t>
            </a:r>
          </a:p>
        </p:txBody>
      </p:sp>
      <p:sp>
        <p:nvSpPr>
          <p:cNvPr id="15" name="TextBox 14"/>
          <p:cNvSpPr txBox="1"/>
          <p:nvPr/>
        </p:nvSpPr>
        <p:spPr>
          <a:xfrm>
            <a:off x="457200" y="3931920"/>
            <a:ext cx="109728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Semáforo — ¿cómo lo llevas?</a:t>
            </a:r>
          </a:p>
        </p:txBody>
      </p:sp>
      <p:sp>
        <p:nvSpPr>
          <p:cNvPr id="16" name="TextBox 15"/>
          <p:cNvSpPr txBox="1"/>
          <p:nvPr/>
        </p:nvSpPr>
        <p:spPr>
          <a:xfrm>
            <a:off x="731520" y="4343400"/>
            <a:ext cx="64008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de hora zeggen en vragen</a:t>
            </a:r>
          </a:p>
        </p:txBody>
      </p:sp>
      <p:sp>
        <p:nvSpPr>
          <p:cNvPr id="17" name="Rounded Rectangle 16"/>
          <p:cNvSpPr/>
          <p:nvPr/>
        </p:nvSpPr>
        <p:spPr>
          <a:xfrm>
            <a:off x="7315200" y="4370832"/>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DC2626"/>
                </a:solidFill>
                <a:latin typeface="Inter"/>
              </a:rPr>
              <a:t>🔴 </a:t>
            </a:r>
          </a:p>
        </p:txBody>
      </p:sp>
      <p:sp>
        <p:nvSpPr>
          <p:cNvPr id="18" name="Rounded Rectangle 17"/>
          <p:cNvSpPr/>
          <p:nvPr/>
        </p:nvSpPr>
        <p:spPr>
          <a:xfrm>
            <a:off x="8686800" y="4370832"/>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B7860B"/>
                </a:solidFill>
                <a:latin typeface="Inter"/>
              </a:rPr>
              <a:t>🟠 </a:t>
            </a:r>
          </a:p>
        </p:txBody>
      </p:sp>
      <p:sp>
        <p:nvSpPr>
          <p:cNvPr id="19" name="Rounded Rectangle 18"/>
          <p:cNvSpPr/>
          <p:nvPr/>
        </p:nvSpPr>
        <p:spPr>
          <a:xfrm>
            <a:off x="10058400" y="4370832"/>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E9E74"/>
                </a:solidFill>
                <a:latin typeface="Inter"/>
              </a:rPr>
              <a:t>🟢 </a:t>
            </a:r>
          </a:p>
        </p:txBody>
      </p:sp>
      <p:sp>
        <p:nvSpPr>
          <p:cNvPr id="20" name="TextBox 19"/>
          <p:cNvSpPr txBox="1"/>
          <p:nvPr/>
        </p:nvSpPr>
        <p:spPr>
          <a:xfrm>
            <a:off x="731520" y="4727448"/>
            <a:ext cx="64008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mijn rutina met reflexivos</a:t>
            </a:r>
          </a:p>
        </p:txBody>
      </p:sp>
      <p:sp>
        <p:nvSpPr>
          <p:cNvPr id="21" name="Rounded Rectangle 20"/>
          <p:cNvSpPr/>
          <p:nvPr/>
        </p:nvSpPr>
        <p:spPr>
          <a:xfrm>
            <a:off x="7315200" y="4754880"/>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DC2626"/>
                </a:solidFill>
                <a:latin typeface="Inter"/>
              </a:rPr>
              <a:t>🔴 </a:t>
            </a:r>
          </a:p>
        </p:txBody>
      </p:sp>
      <p:sp>
        <p:nvSpPr>
          <p:cNvPr id="22" name="Rounded Rectangle 21"/>
          <p:cNvSpPr/>
          <p:nvPr/>
        </p:nvSpPr>
        <p:spPr>
          <a:xfrm>
            <a:off x="8686800" y="4754880"/>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B7860B"/>
                </a:solidFill>
                <a:latin typeface="Inter"/>
              </a:rPr>
              <a:t>🟠 </a:t>
            </a:r>
          </a:p>
        </p:txBody>
      </p:sp>
      <p:sp>
        <p:nvSpPr>
          <p:cNvPr id="23" name="Rounded Rectangle 22"/>
          <p:cNvSpPr/>
          <p:nvPr/>
        </p:nvSpPr>
        <p:spPr>
          <a:xfrm>
            <a:off x="10058400" y="4754880"/>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E9E74"/>
                </a:solidFill>
                <a:latin typeface="Inter"/>
              </a:rPr>
              <a:t>🟢 </a:t>
            </a:r>
          </a:p>
        </p:txBody>
      </p:sp>
      <p:sp>
        <p:nvSpPr>
          <p:cNvPr id="24" name="TextBox 23"/>
          <p:cNvSpPr txBox="1"/>
          <p:nvPr/>
        </p:nvSpPr>
        <p:spPr>
          <a:xfrm>
            <a:off x="731520" y="5111496"/>
            <a:ext cx="64008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presente irregular</a:t>
            </a:r>
          </a:p>
        </p:txBody>
      </p:sp>
      <p:sp>
        <p:nvSpPr>
          <p:cNvPr id="25" name="Rounded Rectangle 24"/>
          <p:cNvSpPr/>
          <p:nvPr/>
        </p:nvSpPr>
        <p:spPr>
          <a:xfrm>
            <a:off x="7315200" y="5138928"/>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DC2626"/>
                </a:solidFill>
                <a:latin typeface="Inter"/>
              </a:rPr>
              <a:t>🔴 </a:t>
            </a:r>
          </a:p>
        </p:txBody>
      </p:sp>
      <p:sp>
        <p:nvSpPr>
          <p:cNvPr id="26" name="Rounded Rectangle 25"/>
          <p:cNvSpPr/>
          <p:nvPr/>
        </p:nvSpPr>
        <p:spPr>
          <a:xfrm>
            <a:off x="8686800" y="5138928"/>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B7860B"/>
                </a:solidFill>
                <a:latin typeface="Inter"/>
              </a:rPr>
              <a:t>🟠 </a:t>
            </a:r>
          </a:p>
        </p:txBody>
      </p:sp>
      <p:sp>
        <p:nvSpPr>
          <p:cNvPr id="27" name="Rounded Rectangle 26"/>
          <p:cNvSpPr/>
          <p:nvPr/>
        </p:nvSpPr>
        <p:spPr>
          <a:xfrm>
            <a:off x="10058400" y="5138928"/>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E9E74"/>
                </a:solidFill>
                <a:latin typeface="Inter"/>
              </a:rPr>
              <a:t>🟢 </a:t>
            </a:r>
          </a:p>
        </p:txBody>
      </p:sp>
      <p:sp>
        <p:nvSpPr>
          <p:cNvPr id="28" name="TextBox 27"/>
          <p:cNvSpPr txBox="1"/>
          <p:nvPr/>
        </p:nvSpPr>
        <p:spPr>
          <a:xfrm>
            <a:off x="731520" y="5495544"/>
            <a:ext cx="64008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frecuencia</a:t>
            </a:r>
          </a:p>
        </p:txBody>
      </p:sp>
      <p:sp>
        <p:nvSpPr>
          <p:cNvPr id="29" name="Rounded Rectangle 28"/>
          <p:cNvSpPr/>
          <p:nvPr/>
        </p:nvSpPr>
        <p:spPr>
          <a:xfrm>
            <a:off x="7315200" y="5522976"/>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DC2626"/>
                </a:solidFill>
                <a:latin typeface="Inter"/>
              </a:rPr>
              <a:t>🔴 </a:t>
            </a:r>
          </a:p>
        </p:txBody>
      </p:sp>
      <p:sp>
        <p:nvSpPr>
          <p:cNvPr id="30" name="Rounded Rectangle 29"/>
          <p:cNvSpPr/>
          <p:nvPr/>
        </p:nvSpPr>
        <p:spPr>
          <a:xfrm>
            <a:off x="8686800" y="5522976"/>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B7860B"/>
                </a:solidFill>
                <a:latin typeface="Inter"/>
              </a:rPr>
              <a:t>🟠 </a:t>
            </a:r>
          </a:p>
        </p:txBody>
      </p:sp>
      <p:sp>
        <p:nvSpPr>
          <p:cNvPr id="31" name="Rounded Rectangle 30"/>
          <p:cNvSpPr/>
          <p:nvPr/>
        </p:nvSpPr>
        <p:spPr>
          <a:xfrm>
            <a:off x="10058400" y="5522976"/>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E9E74"/>
                </a:solidFill>
                <a:latin typeface="Inter"/>
              </a:rPr>
              <a:t>🟢 </a:t>
            </a:r>
          </a:p>
        </p:txBody>
      </p:sp>
      <p:sp>
        <p:nvSpPr>
          <p:cNvPr id="32" name="TextBox 31"/>
          <p:cNvSpPr txBox="1"/>
          <p:nvPr/>
        </p:nvSpPr>
        <p:spPr>
          <a:xfrm>
            <a:off x="731520" y="5879592"/>
            <a:ext cx="64008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días/meses/estaciones</a:t>
            </a:r>
          </a:p>
        </p:txBody>
      </p:sp>
      <p:sp>
        <p:nvSpPr>
          <p:cNvPr id="33" name="Rounded Rectangle 32"/>
          <p:cNvSpPr/>
          <p:nvPr/>
        </p:nvSpPr>
        <p:spPr>
          <a:xfrm>
            <a:off x="7315200" y="5907024"/>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DC2626"/>
                </a:solidFill>
                <a:latin typeface="Inter"/>
              </a:rPr>
              <a:t>🔴 </a:t>
            </a:r>
          </a:p>
        </p:txBody>
      </p:sp>
      <p:sp>
        <p:nvSpPr>
          <p:cNvPr id="34" name="Rounded Rectangle 33"/>
          <p:cNvSpPr/>
          <p:nvPr/>
        </p:nvSpPr>
        <p:spPr>
          <a:xfrm>
            <a:off x="8686800" y="5907024"/>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B7860B"/>
                </a:solidFill>
                <a:latin typeface="Inter"/>
              </a:rPr>
              <a:t>🟠 </a:t>
            </a:r>
          </a:p>
        </p:txBody>
      </p:sp>
      <p:sp>
        <p:nvSpPr>
          <p:cNvPr id="35" name="Rounded Rectangle 34"/>
          <p:cNvSpPr/>
          <p:nvPr/>
        </p:nvSpPr>
        <p:spPr>
          <a:xfrm>
            <a:off x="10058400" y="5907024"/>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E9E74"/>
                </a:solidFill>
                <a:latin typeface="Inter"/>
              </a:rPr>
              <a:t>🟢 </a:t>
            </a:r>
          </a:p>
        </p:txBody>
      </p:sp>
      <p:sp>
        <p:nvSpPr>
          <p:cNvPr id="36" name="Rectangle 35"/>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U3 · EL TIEMPO VUELA   ·   C5 · A1 · La Ruta</a:t>
            </a:r>
          </a:p>
        </p:txBody>
      </p:sp>
      <p:sp>
        <p:nvSpPr>
          <p:cNvPr id="38" name="TextBox 37"/>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Leerlingenversie — klik onthult</a:t>
            </a:r>
          </a:p>
        </p:txBody>
      </p:sp>
      <p:sp>
        <p:nvSpPr>
          <p:cNvPr id="39" name="TextBox 38"/>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157355"/>
                </a:solidFill>
                <a:latin typeface="Inter"/>
              </a:rPr>
              <a:t>RETO 2 · ONDERZOEK &amp; DATA</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Zona horaria</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4F4EE"/>
                </a:solidFill>
                <a:latin typeface="Inter"/>
              </a:rPr>
              <a:t>👨‍👩‍👧 En grupos</a:t>
            </a:r>
          </a:p>
          <a:p>
            <a:pPr algn="r"/>
            <a:r>
              <a:rPr sz="1000">
                <a:solidFill>
                  <a:srgbClr val="E4F4EE"/>
                </a:solidFill>
                <a:latin typeface="Inter"/>
              </a:rPr>
              <a:t>± 15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157355"/>
                </a:solidFill>
                <a:latin typeface="Bricolage Grotesque"/>
              </a:rPr>
              <a:t>Una videollamada con Cusco, CDMX y Sevilla. Alguien siempre está durmiendo.</a:t>
            </a:r>
          </a:p>
          <a:p>
            <a:pPr algn="l"/>
            <a:r>
              <a:rPr sz="1100" i="1">
                <a:solidFill>
                  <a:srgbClr val="6A6E78"/>
                </a:solidFill>
                <a:latin typeface="Inter"/>
              </a:rPr>
              <a:t>Een videogesprek met Cusco, CDMX en Sevilla. Er slaapt altijd iemand.</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Iedereen moet tussen 8:00 en 22:00 lokale tijd zitten. Eén persoon buiten dat venster en het voorstel valt af.</a:t>
            </a:r>
          </a:p>
        </p:txBody>
      </p:sp>
      <p:sp>
        <p:nvSpPr>
          <p:cNvPr id="11" name="Tarjeta 0"/>
          <p:cNvSpPr/>
          <p:nvPr/>
        </p:nvSpPr>
        <p:spPr>
          <a:xfrm>
            <a:off x="457200"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Gante (Bélgica)</a:t>
            </a:r>
          </a:p>
          <a:p>
            <a:pPr algn="l"/>
            <a:r>
              <a:rPr sz="1000">
                <a:solidFill>
                  <a:srgbClr val="20242E"/>
                </a:solidFill>
                <a:latin typeface="Inter"/>
              </a:rPr>
              <a:t>misma hora que Gante</a:t>
            </a:r>
          </a:p>
        </p:txBody>
      </p:sp>
      <p:sp>
        <p:nvSpPr>
          <p:cNvPr id="13" name="Tarjeta 1"/>
          <p:cNvSpPr/>
          <p:nvPr/>
        </p:nvSpPr>
        <p:spPr>
          <a:xfrm>
            <a:off x="4264152"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rjetaTxt 1"/>
          <p:cNvSpPr txBox="1"/>
          <p:nvPr/>
        </p:nvSpPr>
        <p:spPr>
          <a:xfrm>
            <a:off x="4355592" y="2724912"/>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Sevilla (España)</a:t>
            </a:r>
          </a:p>
          <a:p>
            <a:pPr algn="l"/>
            <a:r>
              <a:rPr sz="1000">
                <a:solidFill>
                  <a:srgbClr val="20242E"/>
                </a:solidFill>
                <a:latin typeface="Inter"/>
              </a:rPr>
              <a:t>misma hora que Gante</a:t>
            </a:r>
          </a:p>
        </p:txBody>
      </p:sp>
      <p:sp>
        <p:nvSpPr>
          <p:cNvPr id="15" name="Tarjeta 2"/>
          <p:cNvSpPr/>
          <p:nvPr/>
        </p:nvSpPr>
        <p:spPr>
          <a:xfrm>
            <a:off x="8071104"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2"/>
          <p:cNvSpPr txBox="1"/>
          <p:nvPr/>
        </p:nvSpPr>
        <p:spPr>
          <a:xfrm>
            <a:off x="8162544" y="2724912"/>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Ciudad de México</a:t>
            </a:r>
          </a:p>
          <a:p>
            <a:pPr algn="l"/>
            <a:r>
              <a:rPr sz="1000">
                <a:solidFill>
                  <a:srgbClr val="20242E"/>
                </a:solidFill>
                <a:latin typeface="Inter"/>
              </a:rPr>
              <a:t>7 horas menos</a:t>
            </a:r>
          </a:p>
        </p:txBody>
      </p:sp>
      <p:sp>
        <p:nvSpPr>
          <p:cNvPr id="17" name="Tarjeta 3"/>
          <p:cNvSpPr/>
          <p:nvPr/>
        </p:nvSpPr>
        <p:spPr>
          <a:xfrm>
            <a:off x="457200"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arjetaTxt 3"/>
          <p:cNvSpPr txBox="1"/>
          <p:nvPr/>
        </p:nvSpPr>
        <p:spPr>
          <a:xfrm>
            <a:off x="548640" y="4023360"/>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Cusco (Perú)</a:t>
            </a:r>
          </a:p>
          <a:p>
            <a:pPr algn="l"/>
            <a:r>
              <a:rPr sz="1000">
                <a:solidFill>
                  <a:srgbClr val="20242E"/>
                </a:solidFill>
                <a:latin typeface="Inter"/>
              </a:rPr>
              <a:t>6 horas menos</a:t>
            </a:r>
          </a:p>
        </p:txBody>
      </p:sp>
      <p:sp>
        <p:nvSpPr>
          <p:cNvPr id="19" name="Tarjeta 4"/>
          <p:cNvSpPr/>
          <p:nvPr/>
        </p:nvSpPr>
        <p:spPr>
          <a:xfrm>
            <a:off x="4264152"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4"/>
          <p:cNvSpPr txBox="1"/>
          <p:nvPr/>
        </p:nvSpPr>
        <p:spPr>
          <a:xfrm>
            <a:off x="4355592" y="4023360"/>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marco</a:t>
            </a:r>
          </a:p>
          <a:p>
            <a:pPr algn="l"/>
            <a:r>
              <a:rPr sz="1000">
                <a:solidFill>
                  <a:srgbClr val="20242E"/>
                </a:solidFill>
                <a:latin typeface="Inter"/>
              </a:rPr>
              <a:t>En Gante son las …, en México son las … y en Cusco son las …</a:t>
            </a:r>
          </a:p>
        </p:txBody>
      </p:sp>
      <p:sp>
        <p:nvSpPr>
          <p:cNvPr id="21" name="Tarjeta 5"/>
          <p:cNvSpPr/>
          <p:nvPr/>
        </p:nvSpPr>
        <p:spPr>
          <a:xfrm>
            <a:off x="8071104"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arjetaTxt 5"/>
          <p:cNvSpPr txBox="1"/>
          <p:nvPr/>
        </p:nvSpPr>
        <p:spPr>
          <a:xfrm>
            <a:off x="8162544" y="4023360"/>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marco</a:t>
            </a:r>
          </a:p>
          <a:p>
            <a:pPr algn="l"/>
            <a:r>
              <a:rPr sz="1000">
                <a:solidFill>
                  <a:srgbClr val="20242E"/>
                </a:solidFill>
                <a:latin typeface="Inter"/>
              </a:rPr>
              <a:t>A las … de Bélgica, en México es demasiado temprano.</a:t>
            </a:r>
          </a:p>
        </p:txBody>
      </p:sp>
      <p:sp>
        <p:nvSpPr>
          <p:cNvPr id="23" name="Tarjeta 6"/>
          <p:cNvSpPr/>
          <p:nvPr/>
        </p:nvSpPr>
        <p:spPr>
          <a:xfrm>
            <a:off x="457200" y="5266944"/>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6"/>
          <p:cNvSpPr txBox="1"/>
          <p:nvPr/>
        </p:nvSpPr>
        <p:spPr>
          <a:xfrm>
            <a:off x="548640" y="5321808"/>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marco</a:t>
            </a:r>
          </a:p>
          <a:p>
            <a:pPr algn="l"/>
            <a:r>
              <a:rPr sz="1000">
                <a:solidFill>
                  <a:srgbClr val="20242E"/>
                </a:solidFill>
                <a:latin typeface="Inter"/>
              </a:rPr>
              <a:t>Quedamos a las … hora belga.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157355"/>
                </a:solidFill>
                <a:latin typeface="Inter"/>
              </a:rPr>
              <a:t>RETO 8 · ONDERHANDELING &amp; DILEMMA</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Negocia el despertador</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4F4EE"/>
                </a:solidFill>
                <a:latin typeface="Inter"/>
              </a:rPr>
              <a:t>👥 En parejas</a:t>
            </a:r>
          </a:p>
          <a:p>
            <a:pPr algn="r"/>
            <a:r>
              <a:rPr sz="1000">
                <a:solidFill>
                  <a:srgbClr val="E4F4EE"/>
                </a:solidFill>
                <a:latin typeface="Inter"/>
              </a:rPr>
              <a:t>± 12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157355"/>
                </a:solidFill>
                <a:latin typeface="Bricolage Grotesque"/>
              </a:rPr>
              <a:t>Dos compañeros de habitación, dos mañanas incompatibles. Una sola alarma.</a:t>
            </a:r>
          </a:p>
          <a:p>
            <a:pPr algn="l"/>
            <a:r>
              <a:rPr sz="1100" i="1">
                <a:solidFill>
                  <a:srgbClr val="6A6E78"/>
                </a:solidFill>
                <a:latin typeface="Inter"/>
              </a:rPr>
              <a:t>Twee kamergenoten, twee onverenigbare ochtenden. Eén wekker.</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Elk voorstel bevat een uur én een reden met «porque». Een voorstel zonder reden mag de ander zonder meer weigeren.</a:t>
            </a:r>
          </a:p>
        </p:txBody>
      </p:sp>
      <p:sp>
        <p:nvSpPr>
          <p:cNvPr id="11" name="Tarjeta 0"/>
          <p:cNvSpPr/>
          <p:nvPr/>
        </p:nvSpPr>
        <p:spPr>
          <a:xfrm>
            <a:off x="457200"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Álex</a:t>
            </a:r>
          </a:p>
          <a:p>
            <a:pPr algn="l"/>
            <a:r>
              <a:rPr sz="1000">
                <a:solidFill>
                  <a:srgbClr val="20242E"/>
                </a:solidFill>
                <a:latin typeface="Inter"/>
              </a:rPr>
              <a:t>Entrenas a las siete de la mañana. Necesitas la ducha primero. Te acuestas a las diez.</a:t>
            </a:r>
          </a:p>
        </p:txBody>
      </p:sp>
      <p:sp>
        <p:nvSpPr>
          <p:cNvPr id="13" name="Tarjeta 1"/>
          <p:cNvSpPr/>
          <p:nvPr/>
        </p:nvSpPr>
        <p:spPr>
          <a:xfrm>
            <a:off x="4264152"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rjetaTxt 1"/>
          <p:cNvSpPr txBox="1"/>
          <p:nvPr/>
        </p:nvSpPr>
        <p:spPr>
          <a:xfrm>
            <a:off x="4355592" y="2724912"/>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Noa</a:t>
            </a:r>
          </a:p>
          <a:p>
            <a:pPr algn="l"/>
            <a:r>
              <a:rPr sz="1000">
                <a:solidFill>
                  <a:srgbClr val="20242E"/>
                </a:solidFill>
                <a:latin typeface="Inter"/>
              </a:rPr>
              <a:t>Estudias hasta la una de la madrugada. No puedes levantarte antes de las nueve. La luz te despierta.</a:t>
            </a:r>
          </a:p>
        </p:txBody>
      </p:sp>
      <p:sp>
        <p:nvSpPr>
          <p:cNvPr id="15" name="Tarjeta 2"/>
          <p:cNvSpPr/>
          <p:nvPr/>
        </p:nvSpPr>
        <p:spPr>
          <a:xfrm>
            <a:off x="8071104"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2"/>
          <p:cNvSpPr txBox="1"/>
          <p:nvPr/>
        </p:nvSpPr>
        <p:spPr>
          <a:xfrm>
            <a:off x="8162544" y="2724912"/>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marco</a:t>
            </a:r>
          </a:p>
          <a:p>
            <a:pPr algn="l"/>
            <a:r>
              <a:rPr sz="1000">
                <a:solidFill>
                  <a:srgbClr val="20242E"/>
                </a:solidFill>
                <a:latin typeface="Inter"/>
              </a:rPr>
              <a:t>Quiero levantarme a las … porque …</a:t>
            </a:r>
          </a:p>
        </p:txBody>
      </p:sp>
      <p:sp>
        <p:nvSpPr>
          <p:cNvPr id="17" name="Tarjeta 3"/>
          <p:cNvSpPr/>
          <p:nvPr/>
        </p:nvSpPr>
        <p:spPr>
          <a:xfrm>
            <a:off x="457200"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arjetaTxt 3"/>
          <p:cNvSpPr txBox="1"/>
          <p:nvPr/>
        </p:nvSpPr>
        <p:spPr>
          <a:xfrm>
            <a:off x="548640" y="4023360"/>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marco</a:t>
            </a:r>
          </a:p>
          <a:p>
            <a:pPr algn="l"/>
            <a:r>
              <a:rPr sz="1000">
                <a:solidFill>
                  <a:srgbClr val="20242E"/>
                </a:solidFill>
                <a:latin typeface="Inter"/>
              </a:rPr>
              <a:t>No puedo … porque …</a:t>
            </a:r>
          </a:p>
        </p:txBody>
      </p:sp>
      <p:sp>
        <p:nvSpPr>
          <p:cNvPr id="19" name="Tarjeta 4"/>
          <p:cNvSpPr/>
          <p:nvPr/>
        </p:nvSpPr>
        <p:spPr>
          <a:xfrm>
            <a:off x="4264152"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4"/>
          <p:cNvSpPr txBox="1"/>
          <p:nvPr/>
        </p:nvSpPr>
        <p:spPr>
          <a:xfrm>
            <a:off x="4355592" y="4023360"/>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marco</a:t>
            </a:r>
          </a:p>
          <a:p>
            <a:pPr algn="l"/>
            <a:r>
              <a:rPr sz="1000">
                <a:solidFill>
                  <a:srgbClr val="20242E"/>
                </a:solidFill>
                <a:latin typeface="Inter"/>
              </a:rPr>
              <a:t>¿Y si … a las …?</a:t>
            </a:r>
          </a:p>
        </p:txBody>
      </p:sp>
      <p:sp>
        <p:nvSpPr>
          <p:cNvPr id="21" name="Tarjeta 5"/>
          <p:cNvSpPr/>
          <p:nvPr/>
        </p:nvSpPr>
        <p:spPr>
          <a:xfrm>
            <a:off x="8071104"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arjetaTxt 5"/>
          <p:cNvSpPr txBox="1"/>
          <p:nvPr/>
        </p:nvSpPr>
        <p:spPr>
          <a:xfrm>
            <a:off x="8162544" y="4023360"/>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marco</a:t>
            </a:r>
          </a:p>
          <a:p>
            <a:pPr algn="l"/>
            <a:r>
              <a:rPr sz="1000">
                <a:solidFill>
                  <a:srgbClr val="20242E"/>
                </a:solidFill>
                <a:latin typeface="Inter"/>
              </a:rPr>
              <a:t>Vale, pero entonces tú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157355"/>
                </a:solidFill>
                <a:latin typeface="Inter"/>
              </a:rPr>
              <a:t>RETO 10 · FORENSISCH</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La coartada</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4F4EE"/>
                </a:solidFill>
                <a:latin typeface="Inter"/>
              </a:rPr>
              <a:t>🏫 Toda la clase</a:t>
            </a:r>
          </a:p>
          <a:p>
            <a:pPr algn="r"/>
            <a:r>
              <a:rPr sz="1000">
                <a:solidFill>
                  <a:srgbClr val="E4F4EE"/>
                </a:solidFill>
                <a:latin typeface="Inter"/>
              </a:rPr>
              <a:t>± 20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157355"/>
                </a:solidFill>
                <a:latin typeface="Bricolage Grotesque"/>
              </a:rPr>
              <a:t>Ha desaparecido la mascota de la clase. Todos tenéis que dar cuentas.</a:t>
            </a:r>
          </a:p>
          <a:p>
            <a:pPr algn="l"/>
            <a:r>
              <a:rPr sz="1100" i="1">
                <a:solidFill>
                  <a:srgbClr val="6A6E78"/>
                </a:solidFill>
                <a:latin typeface="Inter"/>
              </a:rPr>
              <a:t>De klasmascotte is verdwenen. Iedereen moet rekenschap geven.</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Jullie twee verhalen moeten op de vijf uren identiek zijn — maar jullie worden apart ondervraagd. Eén verschil en het alibi valt.</a:t>
            </a:r>
          </a:p>
        </p:txBody>
      </p:sp>
      <p:sp>
        <p:nvSpPr>
          <p:cNvPr id="11" name="Tarjeta 0"/>
          <p:cNvSpPr/>
          <p:nvPr/>
        </p:nvSpPr>
        <p:spPr>
          <a:xfrm>
            <a:off x="457200"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Pregunta 1</a:t>
            </a:r>
          </a:p>
          <a:p>
            <a:pPr algn="l"/>
            <a:r>
              <a:rPr sz="1000">
                <a:solidFill>
                  <a:srgbClr val="20242E"/>
                </a:solidFill>
                <a:latin typeface="Inter"/>
              </a:rPr>
              <a:t>¿A qué hora salisteis del instituto?</a:t>
            </a:r>
          </a:p>
        </p:txBody>
      </p:sp>
      <p:sp>
        <p:nvSpPr>
          <p:cNvPr id="13" name="Onthul 0"/>
          <p:cNvSpPr/>
          <p:nvPr/>
        </p:nvSpPr>
        <p:spPr>
          <a:xfrm>
            <a:off x="548640" y="3547872"/>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nthulTxt 0"/>
          <p:cNvSpPr txBox="1"/>
          <p:nvPr/>
        </p:nvSpPr>
        <p:spPr>
          <a:xfrm>
            <a:off x="566928" y="3547872"/>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vertrek</a:t>
            </a:r>
          </a:p>
        </p:txBody>
      </p:sp>
      <p:sp>
        <p:nvSpPr>
          <p:cNvPr id="15" name="Tarjeta 1"/>
          <p:cNvSpPr/>
          <p:nvPr/>
        </p:nvSpPr>
        <p:spPr>
          <a:xfrm>
            <a:off x="4264152"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1"/>
          <p:cNvSpPr txBox="1"/>
          <p:nvPr/>
        </p:nvSpPr>
        <p:spPr>
          <a:xfrm>
            <a:off x="4355592" y="2724912"/>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Pregunta 2</a:t>
            </a:r>
          </a:p>
          <a:p>
            <a:pPr algn="l"/>
            <a:r>
              <a:rPr sz="1000">
                <a:solidFill>
                  <a:srgbClr val="20242E"/>
                </a:solidFill>
                <a:latin typeface="Inter"/>
              </a:rPr>
              <a:t>¿Dónde estabais a las cinco?</a:t>
            </a:r>
          </a:p>
        </p:txBody>
      </p:sp>
      <p:sp>
        <p:nvSpPr>
          <p:cNvPr id="17" name="Onthul 1"/>
          <p:cNvSpPr/>
          <p:nvPr/>
        </p:nvSpPr>
        <p:spPr>
          <a:xfrm>
            <a:off x="4355592" y="3547872"/>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nthulTxt 1"/>
          <p:cNvSpPr txBox="1"/>
          <p:nvPr/>
        </p:nvSpPr>
        <p:spPr>
          <a:xfrm>
            <a:off x="4373880" y="3547872"/>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plaats</a:t>
            </a:r>
          </a:p>
        </p:txBody>
      </p:sp>
      <p:sp>
        <p:nvSpPr>
          <p:cNvPr id="19" name="Tarjeta 2"/>
          <p:cNvSpPr/>
          <p:nvPr/>
        </p:nvSpPr>
        <p:spPr>
          <a:xfrm>
            <a:off x="8071104"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2"/>
          <p:cNvSpPr txBox="1"/>
          <p:nvPr/>
        </p:nvSpPr>
        <p:spPr>
          <a:xfrm>
            <a:off x="8162544" y="2724912"/>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Pregunta 3</a:t>
            </a:r>
          </a:p>
          <a:p>
            <a:pPr algn="l"/>
            <a:r>
              <a:rPr sz="1000">
                <a:solidFill>
                  <a:srgbClr val="20242E"/>
                </a:solidFill>
                <a:latin typeface="Inter"/>
              </a:rPr>
              <a:t>¿Qué hacíais a las seis?</a:t>
            </a:r>
          </a:p>
        </p:txBody>
      </p:sp>
      <p:sp>
        <p:nvSpPr>
          <p:cNvPr id="21" name="Onthul 2"/>
          <p:cNvSpPr/>
          <p:nvPr/>
        </p:nvSpPr>
        <p:spPr>
          <a:xfrm>
            <a:off x="8162544" y="3547872"/>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nthulTxt 2"/>
          <p:cNvSpPr txBox="1"/>
          <p:nvPr/>
        </p:nvSpPr>
        <p:spPr>
          <a:xfrm>
            <a:off x="8180832" y="3547872"/>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bezigheid</a:t>
            </a:r>
          </a:p>
        </p:txBody>
      </p:sp>
      <p:sp>
        <p:nvSpPr>
          <p:cNvPr id="23" name="Tarjeta 3"/>
          <p:cNvSpPr/>
          <p:nvPr/>
        </p:nvSpPr>
        <p:spPr>
          <a:xfrm>
            <a:off x="457200"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3"/>
          <p:cNvSpPr txBox="1"/>
          <p:nvPr/>
        </p:nvSpPr>
        <p:spPr>
          <a:xfrm>
            <a:off x="548640" y="4023360"/>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Pregunta 4</a:t>
            </a:r>
          </a:p>
          <a:p>
            <a:pPr algn="l"/>
            <a:r>
              <a:rPr sz="1000">
                <a:solidFill>
                  <a:srgbClr val="20242E"/>
                </a:solidFill>
                <a:latin typeface="Inter"/>
              </a:rPr>
              <a:t>¿A qué hora volvisteis a casa?</a:t>
            </a:r>
          </a:p>
        </p:txBody>
      </p:sp>
      <p:sp>
        <p:nvSpPr>
          <p:cNvPr id="25" name="Onthul 3"/>
          <p:cNvSpPr/>
          <p:nvPr/>
        </p:nvSpPr>
        <p:spPr>
          <a:xfrm>
            <a:off x="548640" y="4846320"/>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nthulTxt 3"/>
          <p:cNvSpPr txBox="1"/>
          <p:nvPr/>
        </p:nvSpPr>
        <p:spPr>
          <a:xfrm>
            <a:off x="566928" y="4846320"/>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terugkeer</a:t>
            </a:r>
          </a:p>
        </p:txBody>
      </p:sp>
      <p:sp>
        <p:nvSpPr>
          <p:cNvPr id="27" name="Tarjeta 4"/>
          <p:cNvSpPr/>
          <p:nvPr/>
        </p:nvSpPr>
        <p:spPr>
          <a:xfrm>
            <a:off x="4264152"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rjetaTxt 4"/>
          <p:cNvSpPr txBox="1"/>
          <p:nvPr/>
        </p:nvSpPr>
        <p:spPr>
          <a:xfrm>
            <a:off x="4355592" y="4023360"/>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Pregunta 5</a:t>
            </a:r>
          </a:p>
          <a:p>
            <a:pPr algn="l"/>
            <a:r>
              <a:rPr sz="1000">
                <a:solidFill>
                  <a:srgbClr val="20242E"/>
                </a:solidFill>
                <a:latin typeface="Inter"/>
              </a:rPr>
              <a:t>¿Con quién estabais?</a:t>
            </a:r>
          </a:p>
        </p:txBody>
      </p:sp>
      <p:sp>
        <p:nvSpPr>
          <p:cNvPr id="29" name="Onthul 4"/>
          <p:cNvSpPr/>
          <p:nvPr/>
        </p:nvSpPr>
        <p:spPr>
          <a:xfrm>
            <a:off x="4355592" y="4846320"/>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nthulTxt 4"/>
          <p:cNvSpPr txBox="1"/>
          <p:nvPr/>
        </p:nvSpPr>
        <p:spPr>
          <a:xfrm>
            <a:off x="4373880" y="4846320"/>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getuige</a:t>
            </a:r>
          </a:p>
        </p:txBody>
      </p:sp>
      <p:sp>
        <p:nvSpPr>
          <p:cNvPr id="31" name="Tarjeta 5"/>
          <p:cNvSpPr/>
          <p:nvPr/>
        </p:nvSpPr>
        <p:spPr>
          <a:xfrm>
            <a:off x="8071104"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arjetaTxt 5"/>
          <p:cNvSpPr txBox="1"/>
          <p:nvPr/>
        </p:nvSpPr>
        <p:spPr>
          <a:xfrm>
            <a:off x="8162544" y="4023360"/>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marco</a:t>
            </a:r>
          </a:p>
          <a:p>
            <a:pPr algn="l"/>
            <a:r>
              <a:rPr sz="1000">
                <a:solidFill>
                  <a:srgbClr val="20242E"/>
                </a:solidFill>
                <a:latin typeface="Inter"/>
              </a:rPr>
              <a:t>A las … salimos del instituto.</a:t>
            </a:r>
          </a:p>
        </p:txBody>
      </p:sp>
      <p:sp>
        <p:nvSpPr>
          <p:cNvPr id="33" name="Tarjeta 6"/>
          <p:cNvSpPr/>
          <p:nvPr/>
        </p:nvSpPr>
        <p:spPr>
          <a:xfrm>
            <a:off x="457200" y="5266944"/>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arjetaTxt 6"/>
          <p:cNvSpPr txBox="1"/>
          <p:nvPr/>
        </p:nvSpPr>
        <p:spPr>
          <a:xfrm>
            <a:off x="548640" y="5321808"/>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marco</a:t>
            </a:r>
          </a:p>
          <a:p>
            <a:pPr algn="l"/>
            <a:r>
              <a:rPr sz="1000">
                <a:solidFill>
                  <a:srgbClr val="20242E"/>
                </a:solidFill>
                <a:latin typeface="Inter"/>
              </a:rPr>
              <a:t>A las … estamos en …</a:t>
            </a:r>
          </a:p>
        </p:txBody>
      </p:sp>
      <p:sp>
        <p:nvSpPr>
          <p:cNvPr id="35" name="Tarjeta 7"/>
          <p:cNvSpPr/>
          <p:nvPr/>
        </p:nvSpPr>
        <p:spPr>
          <a:xfrm>
            <a:off x="4264152" y="5266944"/>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arjetaTxt 7"/>
          <p:cNvSpPr txBox="1"/>
          <p:nvPr/>
        </p:nvSpPr>
        <p:spPr>
          <a:xfrm>
            <a:off x="4355592" y="5321808"/>
            <a:ext cx="3477768"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marco</a:t>
            </a:r>
          </a:p>
          <a:p>
            <a:pPr algn="l"/>
            <a:r>
              <a:rPr sz="1000">
                <a:solidFill>
                  <a:srgbClr val="20242E"/>
                </a:solidFill>
                <a:latin typeface="Inter"/>
              </a:rPr>
              <a:t>Después vamos a … y volvemos a las …</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7" presetID="10" presetClass="entr" presetSubtype="0"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500"/>
                                        <p:tgtEl>
                                          <p:spTgt spid="2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500"/>
                                        <p:tgtEl>
                                          <p:spTgt spid="2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500"/>
                                        <p:tgtEl>
                                          <p:spTgt spid="2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0"/>
                                        </p:tgtEl>
                                        <p:attrNameLst>
                                          <p:attrName>style.visibility</p:attrName>
                                        </p:attrNameLst>
                                      </p:cBhvr>
                                      <p:to>
                                        <p:strVal val="visible"/>
                                      </p:to>
                                    </p:set>
                                    <p:animEffect transition="in" filter="fade">
                                      <p:cBhvr>
                                        <p:cTn id="5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