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8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12.xml"/><Relationship Id="rId10" Type="http://schemas.openxmlformats.org/officeDocument/2006/relationships/slide" Target="slide13.xml"/><Relationship Id="rId11" Type="http://schemas.openxmlformats.org/officeDocument/2006/relationships/slide" Target="slide1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rive.google.com/file/d/1saLd6_-eTVUTVbv1v8KbKwfYp3Ale6-D/view" TargetMode="External"/><Relationship Id="rId3" Type="http://schemas.openxmlformats.org/officeDocument/2006/relationships/image" Target="../media/image2.png"/><Relationship Id="rId4" Type="http://schemas.openxmlformats.org/officeDocument/2006/relationships/video" Target="https://drive.google.com/file/d/1saLd6_-eTVUTVbv1v8KbKwfYp3Ale6-D/preview" TargetMode="External"/><Relationship Id="rId5" Type="http://schemas.microsoft.com/office/2007/relationships/media" Target="https://drive.google.com/file/d/1saLd6_-eTVUTVbv1v8KbKwfYp3Ale6-D/preview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73152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57200"/>
            <a:ext cx="331561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64550"/>
                </a:solidFill>
                <a:latin typeface="Inter"/>
              </a:rPr>
              <a:t>C4 · LA RUTA · EL DESPEGUE · PARADA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24712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1" i="0">
                <a:solidFill>
                  <a:srgbClr val="FFFFFF"/>
                </a:solidFill>
                <a:latin typeface="Bricolage Grotesque"/>
              </a:rPr>
              <a:t>El tiempo y los gustos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107899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¡Uh, hace mucho viento! </a:t>
            </a:r>
            <a:r>
              <a:rPr sz="1700" b="0" i="1">
                <a:solidFill>
                  <a:srgbClr val="FBEAEC"/>
                </a:solidFill>
                <a:latin typeface="Inter"/>
              </a:rPr>
              <a:t>— A mí me gusta más el frío.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1051560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Inter"/>
              </a:rPr>
              <a:t>Praten over het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weer</a:t>
            </a:r>
            <a:r>
              <a:rPr sz="1600" b="0" i="0">
                <a:solidFill>
                  <a:srgbClr val="FFFFFF"/>
                </a:solidFill>
                <a:latin typeface="Inter"/>
              </a:rPr>
              <a:t>, over wat je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graag doet</a:t>
            </a:r>
            <a:r>
              <a:rPr sz="1600" b="0" i="0">
                <a:solidFill>
                  <a:srgbClr val="FFFFFF"/>
                </a:solidFill>
                <a:latin typeface="Inter"/>
              </a:rPr>
              <a:t> en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hoe vaak</a:t>
            </a:r>
            <a:r>
              <a:rPr sz="1600" b="0" i="0">
                <a:solidFill>
                  <a:srgbClr val="FFFFFF"/>
                </a:solidFill>
                <a:latin typeface="Inter"/>
              </a:rPr>
              <a:t> (hace frío · me gusta · casi nunca).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FBEAEC"/>
                </a:solidFill>
                <a:latin typeface="Inter"/>
              </a:rPr>
              <a:t>Survival in Spanish — in een bar praten Julio en de camarero over hun vakantie… en een clienta mengt zich in het gesprek.</a:t>
            </a:r>
          </a:p>
        </p:txBody>
      </p:sp>
      <p:pic>
        <p:nvPicPr>
          <p:cNvPr id="9" name="Picture 8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4526280"/>
            <a:ext cx="1554480" cy="1554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800600"/>
            <a:ext cx="822960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En esta unidad vas 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Hablar del tiempo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hace frío · hace calor · hace viento · ¿qué tiempo hace?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Nombrar las estaciones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la primavera · el verano · el otoño · el invierno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Expresar gustos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me gusta el cine ↔ me gustan los deportes · a mí también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Decir con qué frecuencia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siempre · a veces · casi nunca · tres veces por semana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U11 · TIEMPO   ·   C4 · La Ruta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MENÚ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vamos a hacer?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gaan we doen? — klik op een tegel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502920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¡Escucha!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escena + chunks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3410712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Suena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s siempre sorda</a:t>
            </a:r>
          </a:p>
        </p:txBody>
      </p:sp>
      <p:sp>
        <p:nvSpPr>
          <p:cNvPr id="14" name="Rounded Rectangle 13">
            <a:hlinkClick action="ppaction://hlinksldjump" r:id="rId4"/>
          </p:cNvPr>
          <p:cNvSpPr/>
          <p:nvPr/>
        </p:nvSpPr>
        <p:spPr>
          <a:xfrm>
            <a:off x="6318504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La máquina de frases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hace / me gusta / me gustan</a:t>
            </a:r>
          </a:p>
        </p:txBody>
      </p:sp>
      <p:sp>
        <p:nvSpPr>
          <p:cNvPr id="17" name="Rounded Rectangle 16">
            <a:hlinkClick action="ppaction://hlinksldjump" r:id="rId5"/>
          </p:cNvPr>
          <p:cNvSpPr/>
          <p:nvPr/>
        </p:nvSpPr>
        <p:spPr>
          <a:xfrm>
            <a:off x="9226296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9176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Kit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el tiempo · los gustos</a:t>
            </a:r>
          </a:p>
        </p:txBody>
      </p:sp>
      <p:sp>
        <p:nvSpPr>
          <p:cNvPr id="20" name="Rounded Rectangle 19">
            <a:hlinkClick action="ppaction://hlinksldjump" r:id="rId6"/>
          </p:cNvPr>
          <p:cNvSpPr/>
          <p:nvPr/>
        </p:nvSpPr>
        <p:spPr>
          <a:xfrm>
            <a:off x="502920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Gramática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hace + sustantivo · gustar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3410712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3592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3592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Práctica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oefenen samen</a:t>
            </a:r>
          </a:p>
        </p:txBody>
      </p:sp>
      <p:sp>
        <p:nvSpPr>
          <p:cNvPr id="26" name="Rounded Rectangle 25">
            <a:hlinkClick action="ppaction://hlinksldjump" r:id="rId8"/>
          </p:cNvPr>
          <p:cNvSpPr/>
          <p:nvPr/>
        </p:nvSpPr>
        <p:spPr>
          <a:xfrm>
            <a:off x="6318504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384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4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Hablar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encuesta de gustos</a:t>
            </a:r>
          </a:p>
        </p:txBody>
      </p:sp>
      <p:sp>
        <p:nvSpPr>
          <p:cNvPr id="29" name="Rounded Rectangle 28">
            <a:hlinkClick action="ppaction://hlinksldjump" r:id="rId9"/>
          </p:cNvPr>
          <p:cNvSpPr/>
          <p:nvPr/>
        </p:nvSpPr>
        <p:spPr>
          <a:xfrm>
            <a:off x="9226296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9176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Cultura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idioma, 21 climas</a:t>
            </a:r>
          </a:p>
        </p:txBody>
      </p:sp>
      <p:sp>
        <p:nvSpPr>
          <p:cNvPr id="32" name="Rounded Rectangle 31">
            <a:hlinkClick action="ppaction://hlinksldjump" r:id="rId10"/>
          </p:cNvPr>
          <p:cNvSpPr/>
          <p:nvPr/>
        </p:nvSpPr>
        <p:spPr>
          <a:xfrm>
            <a:off x="502920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Tarea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Mi estación favorita</a:t>
            </a:r>
          </a:p>
        </p:txBody>
      </p:sp>
      <p:sp>
        <p:nvSpPr>
          <p:cNvPr id="35" name="Rounded Rectangle 34">
            <a:hlinkClick action="ppaction://hlinksldjump" r:id="rId11"/>
          </p:cNvPr>
          <p:cNvSpPr/>
          <p:nvPr/>
        </p:nvSpPr>
        <p:spPr>
          <a:xfrm>
            <a:off x="3410712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93592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93592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Repaso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wat kun je nu?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44068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Consejo · Tip.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Het weer «doet» iets: hace frío · hace calor (nooit «es frío»). En bij gustar kiest HET DING de vorm: me gusta el cine ↔ me gustan los deportes.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U11 · TIEMPO   ·   C4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§1 · ¡ESCUCHA!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Bekijk la escena y escucha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Kijk &amp; luister — in de bar gaat het over vakantie, het weer en wat ze graag doen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676656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58368" y="1572768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0E9E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Camarero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7632" y="1554480"/>
            <a:ext cx="55778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Ella se va de vacaciones a la playa, a Canarias.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1784908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Camarero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27632" y="1766620"/>
            <a:ext cx="55778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Siempre hace buen tiempo en Canarias.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1997048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Camarero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7632" y="1978760"/>
            <a:ext cx="55778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Son cuatro cincuenta.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220918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0E9E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7632" y="2190900"/>
            <a:ext cx="55778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Yo no, yo voy al pueblo de mis padres, en Ávila.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242132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2403040"/>
            <a:ext cx="55778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Pero hace un frío… Nunca hace ese frío en Madrid.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2633468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Camarero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27632" y="2615180"/>
            <a:ext cx="55778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Lo bueno es que puedes estar con tu familia.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2845608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Camarero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27632" y="2827320"/>
            <a:ext cx="55778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Pasas las fiestas de Navidad con los tuyos: tus tíos, tus cuñados.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305774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27632" y="3039460"/>
            <a:ext cx="55778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A veces te cansas de restaurantes y playas. La familia es para siempre.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326988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27632" y="3251600"/>
            <a:ext cx="55778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¿Y tú te quedas en Madrid?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" y="3482028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Camarero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27632" y="3463740"/>
            <a:ext cx="55778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Yo voy todos los años al Caribe.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3694168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Camarero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27632" y="3675880"/>
            <a:ext cx="55778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Es que me gusta hacer submarinismo.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8368" y="3906308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Camarero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27632" y="3888020"/>
            <a:ext cx="55778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A ella también le gusta hacer submarinismo.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" y="411844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27632" y="4100160"/>
            <a:ext cx="55778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En Ávila es difícil, ¿sabes? Yo voy mucho al cine.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58368" y="4330588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Clienta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27632" y="4312300"/>
            <a:ext cx="55778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Me gusta el cine y me gusta la ópera.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" y="454272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27632" y="4524440"/>
            <a:ext cx="55778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Casi nunca voy a la ópera.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8368" y="4754868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Clienta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27632" y="4736580"/>
            <a:ext cx="55778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Y los deportes: voy al gimnasio tres veces por semana.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" y="4967008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Clienta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27632" y="4948720"/>
            <a:ext cx="55778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¡Uh, hace mucho viento! En invierno hace frío.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8368" y="5179148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Clienta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27632" y="5160860"/>
            <a:ext cx="55778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En verano, en cambio, hace calor.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58368" y="539128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27632" y="5373000"/>
            <a:ext cx="55778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A mí me gusta más el frío.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58368" y="5603428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Clienta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627632" y="5585140"/>
            <a:ext cx="55778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0" i="0">
                <a:solidFill>
                  <a:srgbClr val="20242E"/>
                </a:solidFill>
                <a:latin typeface="Inter"/>
              </a:rPr>
              <a:t>En mi casa hace calor.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498079" y="1417320"/>
            <a:ext cx="4206240" cy="22402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26679" y="1572768"/>
            <a:ext cx="3749039" cy="2011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Chunks para llevar 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Hace frío · hace calor · hace viento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Siempre hace buen tiempo · en cambio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Me gusta el cine · me gustan los deportes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 ella también le gusta · me gusta más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siempre · a veces · casi nunca · tres veces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98079" y="3767328"/>
            <a:ext cx="269748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8323B"/>
                </a:solidFill>
                <a:latin typeface="Bricolage Grotesque"/>
              </a:rPr>
              <a:t>🎬 Episodio 11 — klik om af te spelen</a:t>
            </a:r>
          </a:p>
        </p:txBody>
      </p:sp>
      <p:sp>
        <p:nvSpPr>
          <p:cNvPr id="53" name="Rounded Rectangle 52">
            <a:hlinkClick r:id="rId2"/>
          </p:cNvPr>
          <p:cNvSpPr/>
          <p:nvPr/>
        </p:nvSpPr>
        <p:spPr>
          <a:xfrm>
            <a:off x="10241280" y="3739896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▶ Abrir en Drive</a:t>
            </a:r>
          </a:p>
        </p:txBody>
      </p:sp>
      <p:pic>
        <p:nvPicPr>
          <p:cNvPr id="54" name="Picture 53" descr="video_poster_U11.png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7498079" y="4069080"/>
            <a:ext cx="4206240" cy="2331720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U11 · TIEMPO   ·   C4 · La Ruta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SUENA BIEN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s siempre es sorda · el acento en los precios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Spaanse s is altijd scherp — nooit onze z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① La s sorda · siempre /s/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D64550"/>
                </a:solidFill>
                <a:latin typeface="Inter"/>
              </a:rPr>
              <a:t>s</a:t>
            </a:r>
            <a:r>
              <a:rPr sz="1450" b="0" i="0">
                <a:solidFill>
                  <a:srgbClr val="20242E"/>
                </a:solidFill>
                <a:latin typeface="Inter"/>
              </a:rPr>
              <a:t>iempre · ca</a:t>
            </a:r>
            <a:r>
              <a:rPr sz="1450" b="1" i="0">
                <a:solidFill>
                  <a:srgbClr val="D64550"/>
                </a:solidFill>
                <a:latin typeface="Inter"/>
              </a:rPr>
              <a:t>s</a:t>
            </a:r>
            <a:r>
              <a:rPr sz="1450" b="0" i="0">
                <a:solidFill>
                  <a:srgbClr val="20242E"/>
                </a:solidFill>
                <a:latin typeface="Inter"/>
              </a:rPr>
              <a:t>i · gu</a:t>
            </a:r>
            <a:r>
              <a:rPr sz="1450" b="1" i="0">
                <a:solidFill>
                  <a:srgbClr val="D64550"/>
                </a:solidFill>
                <a:latin typeface="Inter"/>
              </a:rPr>
              <a:t>s</a:t>
            </a:r>
            <a:r>
              <a:rPr sz="1450" b="0" i="0">
                <a:solidFill>
                  <a:srgbClr val="20242E"/>
                </a:solidFill>
                <a:latin typeface="Inter"/>
              </a:rPr>
              <a:t>ta · e</a:t>
            </a:r>
            <a:r>
              <a:rPr sz="1450" b="1" i="0">
                <a:solidFill>
                  <a:srgbClr val="D64550"/>
                </a:solidFill>
                <a:latin typeface="Inter"/>
              </a:rPr>
              <a:t>s</a:t>
            </a:r>
            <a:r>
              <a:rPr sz="1450" b="0" i="0">
                <a:solidFill>
                  <a:srgbClr val="20242E"/>
                </a:solidFill>
                <a:latin typeface="Inter"/>
              </a:rPr>
              <a:t>tacione</a:t>
            </a:r>
            <a:r>
              <a:rPr sz="1450" b="1" i="0">
                <a:solidFill>
                  <a:srgbClr val="D64550"/>
                </a:solidFill>
                <a:latin typeface="Inter"/>
              </a:rPr>
              <a:t>s</a:t>
            </a:r>
            <a:r>
              <a:rPr sz="1450" b="0" i="0">
                <a:solidFill>
                  <a:srgbClr val="20242E"/>
                </a:solidFill>
                <a:latin typeface="Inter"/>
              </a:rPr>
              <a:t> · vacacione</a:t>
            </a:r>
            <a:r>
              <a:rPr sz="1450" b="1" i="0">
                <a:solidFill>
                  <a:srgbClr val="D64550"/>
                </a:solidFill>
                <a:latin typeface="Inter"/>
              </a:rPr>
              <a:t>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Zoals in «sok» — nooit zoals onze z in «zomer».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② También la -s del plural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0" i="0">
                <a:solidFill>
                  <a:srgbClr val="20242E"/>
                </a:solidFill>
                <a:latin typeface="Inter"/>
              </a:rPr>
              <a:t>lo</a:t>
            </a:r>
            <a:r>
              <a:rPr sz="1450" b="1" i="0">
                <a:solidFill>
                  <a:srgbClr val="D64550"/>
                </a:solidFill>
                <a:latin typeface="Inter"/>
              </a:rPr>
              <a:t>s</a:t>
            </a:r>
            <a:r>
              <a:rPr sz="1450" b="0" i="0">
                <a:solidFill>
                  <a:srgbClr val="20242E"/>
                </a:solidFill>
                <a:latin typeface="Inter"/>
              </a:rPr>
              <a:t> año</a:t>
            </a:r>
            <a:r>
              <a:rPr sz="1450" b="1" i="0">
                <a:solidFill>
                  <a:srgbClr val="D64550"/>
                </a:solidFill>
                <a:latin typeface="Inter"/>
              </a:rPr>
              <a:t>s</a:t>
            </a:r>
            <a:r>
              <a:rPr sz="1450" b="0" i="0">
                <a:solidFill>
                  <a:srgbClr val="20242E"/>
                </a:solidFill>
                <a:latin typeface="Inter"/>
              </a:rPr>
              <a:t> · tre</a:t>
            </a:r>
            <a:r>
              <a:rPr sz="1450" b="1" i="0">
                <a:solidFill>
                  <a:srgbClr val="D64550"/>
                </a:solidFill>
                <a:latin typeface="Inter"/>
              </a:rPr>
              <a:t>s</a:t>
            </a:r>
            <a:r>
              <a:rPr sz="1450" b="0" i="0">
                <a:solidFill>
                  <a:srgbClr val="20242E"/>
                </a:solidFill>
                <a:latin typeface="Inter"/>
              </a:rPr>
              <a:t> vece</a:t>
            </a:r>
            <a:r>
              <a:rPr sz="1450" b="1" i="0">
                <a:solidFill>
                  <a:srgbClr val="D64550"/>
                </a:solidFill>
                <a:latin typeface="Inter"/>
              </a:rPr>
              <a:t>s</a:t>
            </a:r>
            <a:r>
              <a:rPr sz="1450" b="0" i="0">
                <a:solidFill>
                  <a:srgbClr val="20242E"/>
                </a:solidFill>
                <a:latin typeface="Inter"/>
              </a:rPr>
              <a:t> · mi</a:t>
            </a:r>
            <a:r>
              <a:rPr sz="1450" b="1" i="0">
                <a:solidFill>
                  <a:srgbClr val="D64550"/>
                </a:solidFill>
                <a:latin typeface="Inter"/>
              </a:rPr>
              <a:t>s</a:t>
            </a:r>
            <a:r>
              <a:rPr sz="1450" b="0" i="0">
                <a:solidFill>
                  <a:srgbClr val="20242E"/>
                </a:solidFill>
                <a:latin typeface="Inter"/>
              </a:rPr>
              <a:t> primo</a:t>
            </a:r>
            <a:r>
              <a:rPr sz="1450" b="1" i="0">
                <a:solidFill>
                  <a:srgbClr val="D64550"/>
                </a:solidFill>
                <a:latin typeface="Inter"/>
              </a:rPr>
              <a:t>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Ook tussen twee klinkers blijft ze scherp: «los años», niet «loz añoz».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66160"/>
            <a:ext cx="11201400" cy="7772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03320"/>
            <a:ext cx="106984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Bricolage Grotesque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Nederlandstaligen maken van «lo</a:t>
            </a:r>
            <a:r>
              <a:rPr sz="1300" b="1" i="0">
                <a:solidFill>
                  <a:srgbClr val="A8323B"/>
                </a:solidFill>
                <a:latin typeface="Inter"/>
              </a:rPr>
              <a:t>s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año</a:t>
            </a:r>
            <a:r>
              <a:rPr sz="1300" b="1" i="0">
                <a:solidFill>
                  <a:srgbClr val="A8323B"/>
                </a:solidFill>
                <a:latin typeface="Inter"/>
              </a:rPr>
              <a:t>s</a:t>
            </a:r>
            <a:r>
              <a:rPr sz="1300" b="0" i="0">
                <a:solidFill>
                  <a:srgbClr val="20242E"/>
                </a:solidFill>
                <a:latin typeface="Inter"/>
              </a:rPr>
              <a:t>» vaak «lo</a:t>
            </a:r>
            <a:r>
              <a:rPr sz="1300" b="1" i="0">
                <a:solidFill>
                  <a:srgbClr val="DC2626"/>
                </a:solidFill>
                <a:latin typeface="Inter"/>
              </a:rPr>
              <a:t>z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año</a:t>
            </a:r>
            <a:r>
              <a:rPr sz="1300" b="1" i="0">
                <a:solidFill>
                  <a:srgbClr val="DC2626"/>
                </a:solidFill>
                <a:latin typeface="Inter"/>
              </a:rPr>
              <a:t>z</a:t>
            </a:r>
            <a:r>
              <a:rPr sz="1300" b="0" i="0">
                <a:solidFill>
                  <a:srgbClr val="20242E"/>
                </a:solidFill>
                <a:latin typeface="Inter"/>
              </a:rPr>
              <a:t>». Herhaling U3: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c+e/i en z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klinken in Spanje als </a:t>
            </a:r>
            <a:r>
              <a:rPr sz="1300" b="1" i="0">
                <a:solidFill>
                  <a:srgbClr val="DC2626"/>
                </a:solidFill>
                <a:latin typeface="Inter"/>
              </a:rPr>
              <a:t>/θ/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(cielo · cinco · doce · zona).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③ El acento en los precios · uit de scène: «Son cuatro cincuenta»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74920"/>
            <a:ext cx="111556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20242E"/>
                </a:solidFill>
                <a:latin typeface="Bricolage Grotesque"/>
              </a:rPr>
              <a:t>cua·</a:t>
            </a:r>
            <a:r>
              <a:rPr sz="1900" b="1" i="0">
                <a:solidFill>
                  <a:srgbClr val="D64550"/>
                </a:solidFill>
                <a:latin typeface="Bricolage Grotesque"/>
              </a:rPr>
              <a:t>TRO</a:t>
            </a:r>
            <a:r>
              <a:rPr sz="1900" b="0" i="0">
                <a:solidFill>
                  <a:srgbClr val="20242E"/>
                </a:solidFill>
                <a:latin typeface="Bricolage Grotesque"/>
              </a:rPr>
              <a:t> cin·</a:t>
            </a:r>
            <a:r>
              <a:rPr sz="1900" b="1" i="0">
                <a:solidFill>
                  <a:srgbClr val="D64550"/>
                </a:solidFill>
                <a:latin typeface="Bricolage Grotesque"/>
              </a:rPr>
              <a:t>CUEN</a:t>
            </a:r>
            <a:r>
              <a:rPr sz="1900" b="0" i="0">
                <a:solidFill>
                  <a:srgbClr val="20242E"/>
                </a:solidFill>
                <a:latin typeface="Bricolage Grotesque"/>
              </a:rPr>
              <a:t>·ta      vein·ti·</a:t>
            </a:r>
            <a:r>
              <a:rPr sz="1900" b="1" i="0">
                <a:solidFill>
                  <a:srgbClr val="D64550"/>
                </a:solidFill>
                <a:latin typeface="Bricolage Grotesque"/>
              </a:rPr>
              <a:t>CIN</a:t>
            </a:r>
            <a:r>
              <a:rPr sz="1900" b="0" i="0">
                <a:solidFill>
                  <a:srgbClr val="20242E"/>
                </a:solidFill>
                <a:latin typeface="Bricolage Grotesque"/>
              </a:rPr>
              <a:t>·co      </a:t>
            </a:r>
            <a:r>
              <a:rPr sz="1900" b="1" i="0">
                <a:solidFill>
                  <a:srgbClr val="D64550"/>
                </a:solidFill>
                <a:latin typeface="Bricolage Grotesque"/>
              </a:rPr>
              <a:t>TREIN</a:t>
            </a:r>
            <a:r>
              <a:rPr sz="1900" b="0" i="0">
                <a:solidFill>
                  <a:srgbClr val="20242E"/>
                </a:solidFill>
                <a:latin typeface="Bricolage Grotesque"/>
              </a:rPr>
              <a:t>·ta y </a:t>
            </a:r>
            <a:r>
              <a:rPr sz="1900" b="1" i="0">
                <a:solidFill>
                  <a:srgbClr val="D64550"/>
                </a:solidFill>
                <a:latin typeface="Bricolage Grotesque"/>
              </a:rPr>
              <a:t>DOS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742432"/>
            <a:ext cx="111556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Getallen op -enta hebben de klemtoon op die lettergreep: cin·CUEN·ta · se·SEN·ta · o·CHEN·ta.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🔊 Oefen de klanken online op de hub (tabblad Kit · Suena bien) — daar staat ook het dictado de precios.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U11 · TIEMPO   ·   C4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22199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LA MÁQUINA DE FRASES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Hace / Me gusta / Me gustan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Drie formules — klik en de zin verschijnt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0E9E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1517904"/>
            <a:ext cx="2834640" cy="841248"/>
          </a:xfrm>
          <a:prstGeom prst="roundRect">
            <a:avLst>
              <a:gd name="adj" fmla="val 9000"/>
            </a:avLst>
          </a:prstGeom>
          <a:solidFill>
            <a:srgbClr val="FEF1E7"/>
          </a:solidFill>
          <a:ln w="1905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1664208"/>
            <a:ext cx="25603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B4530E"/>
                </a:solidFill>
                <a:latin typeface="Bricolage Grotesque"/>
              </a:rPr>
              <a:t>Hace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het weer «doet»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383280" y="1517904"/>
            <a:ext cx="2834640" cy="841248"/>
          </a:xfrm>
          <a:prstGeom prst="rect">
            <a:avLst/>
          </a:prstGeom>
          <a:solidFill>
            <a:srgbClr val="FBEAEC"/>
          </a:solidFill>
          <a:ln w="1905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20440" y="1664208"/>
            <a:ext cx="25603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A8323B"/>
                </a:solidFill>
                <a:latin typeface="Bricolage Grotesque"/>
              </a:rPr>
              <a:t>+ infinitivo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het hele werkwoord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517904"/>
            <a:ext cx="2834640" cy="8412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1664208"/>
            <a:ext cx="26517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frío · calor · viento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kies een werkwoord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1773936"/>
            <a:ext cx="41148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D64550"/>
                </a:solidFill>
                <a:latin typeface="Bricolage Grotesque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509760" y="1517904"/>
            <a:ext cx="2194560" cy="841248"/>
          </a:xfrm>
          <a:prstGeom prst="roundRect">
            <a:avLst>
              <a:gd name="adj" fmla="val 9000"/>
            </a:avLst>
          </a:prstGeom>
          <a:solidFill>
            <a:srgbClr val="D64550"/>
          </a:solidFill>
          <a:ln w="17780">
            <a:solidFill>
              <a:srgbClr val="A8323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76200" bIns="508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Bricolage Grotesque"/>
              </a:rPr>
              <a:t>Hace frío.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i="1">
                <a:solidFill>
                  <a:srgbClr val="FBEAEC"/>
                </a:solidFill>
                <a:latin typeface="Inter"/>
              </a:rPr>
              <a:t>Het is koud.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2414016"/>
            <a:ext cx="2834640" cy="841248"/>
          </a:xfrm>
          <a:prstGeom prst="roundRect">
            <a:avLst>
              <a:gd name="adj" fmla="val 9000"/>
            </a:avLst>
          </a:prstGeom>
          <a:solidFill>
            <a:srgbClr val="FEF1E7"/>
          </a:solidFill>
          <a:ln w="1905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2560320"/>
            <a:ext cx="25603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B4530E"/>
                </a:solidFill>
                <a:latin typeface="Bricolage Grotesque"/>
              </a:rPr>
              <a:t>Me gusta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1 ding / werkwoord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83280" y="2414016"/>
            <a:ext cx="2834640" cy="841248"/>
          </a:xfrm>
          <a:prstGeom prst="rect">
            <a:avLst/>
          </a:prstGeom>
          <a:solidFill>
            <a:srgbClr val="FBEAEC"/>
          </a:solidFill>
          <a:ln w="1905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20440" y="2560320"/>
            <a:ext cx="25603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A8323B"/>
                </a:solidFill>
                <a:latin typeface="Bricolage Grotesque"/>
              </a:rPr>
              <a:t>+ infinitivo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het hele werkwoord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2414016"/>
            <a:ext cx="2834640" cy="8412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2560320"/>
            <a:ext cx="26517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el cine · hacer yoga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kies een werkwoord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2670048"/>
            <a:ext cx="41148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D64550"/>
                </a:solidFill>
                <a:latin typeface="Bricolage Grotesque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09760" y="2414016"/>
            <a:ext cx="2194560" cy="841248"/>
          </a:xfrm>
          <a:prstGeom prst="roundRect">
            <a:avLst>
              <a:gd name="adj" fmla="val 9000"/>
            </a:avLst>
          </a:prstGeom>
          <a:solidFill>
            <a:srgbClr val="D64550"/>
          </a:solidFill>
          <a:ln w="17780">
            <a:solidFill>
              <a:srgbClr val="A8323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76200" bIns="508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Bricolage Grotesque"/>
              </a:rPr>
              <a:t>Me gusta el cine.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i="1">
                <a:solidFill>
                  <a:srgbClr val="FBEAEC"/>
                </a:solidFill>
                <a:latin typeface="Inter"/>
              </a:rPr>
              <a:t>Ik hou van film.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3310128"/>
            <a:ext cx="2834640" cy="841248"/>
          </a:xfrm>
          <a:prstGeom prst="roundRect">
            <a:avLst>
              <a:gd name="adj" fmla="val 9000"/>
            </a:avLst>
          </a:prstGeom>
          <a:solidFill>
            <a:srgbClr val="FEF1E7"/>
          </a:solidFill>
          <a:ln w="1905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" y="3456432"/>
            <a:ext cx="25603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B4530E"/>
                </a:solidFill>
                <a:latin typeface="Bricolage Grotesque"/>
              </a:rPr>
              <a:t>Me gustan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meervoud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83280" y="3310128"/>
            <a:ext cx="2834640" cy="841248"/>
          </a:xfrm>
          <a:prstGeom prst="rect">
            <a:avLst/>
          </a:prstGeom>
          <a:solidFill>
            <a:srgbClr val="FBEAEC"/>
          </a:solidFill>
          <a:ln w="1905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20440" y="3456432"/>
            <a:ext cx="25603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A8323B"/>
                </a:solidFill>
                <a:latin typeface="Bricolage Grotesque"/>
              </a:rPr>
              <a:t>+ infinitivo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het hele werkwoord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17920" y="3310128"/>
            <a:ext cx="2834640" cy="84124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905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3456432"/>
            <a:ext cx="26517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los deportes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kies een werkwoord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098280" y="3566160"/>
            <a:ext cx="41148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D64550"/>
                </a:solidFill>
                <a:latin typeface="Bricolage Grotesque"/>
              </a:rPr>
              <a:t>→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509760" y="3310128"/>
            <a:ext cx="2194560" cy="841248"/>
          </a:xfrm>
          <a:prstGeom prst="roundRect">
            <a:avLst>
              <a:gd name="adj" fmla="val 9000"/>
            </a:avLst>
          </a:prstGeom>
          <a:solidFill>
            <a:srgbClr val="D64550"/>
          </a:solidFill>
          <a:ln w="17780">
            <a:solidFill>
              <a:srgbClr val="A8323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8900" rIns="88900" tIns="76200" bIns="508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Bricolage Grotesque"/>
              </a:rPr>
              <a:t>Me gustan los deportes.</a:t>
            </a:r>
          </a:p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0"/>
              </a:spcAft>
            </a:pPr>
            <a:r>
              <a:rPr sz="1000" i="1">
                <a:solidFill>
                  <a:srgbClr val="FBEAEC"/>
                </a:solidFill>
                <a:latin typeface="Inter"/>
              </a:rPr>
              <a:t>Ik hou van sport.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4261104"/>
            <a:ext cx="11201400" cy="658368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4334256"/>
            <a:ext cx="10698480" cy="5669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A8323B"/>
                </a:solidFill>
                <a:latin typeface="Bricolage Grotesque"/>
              </a:rPr>
              <a:t>Cómo funciona ·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bij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hace</a:t>
            </a:r>
            <a:r>
              <a:rPr sz="1250" b="0" i="0">
                <a:solidFill>
                  <a:srgbClr val="20242E"/>
                </a:solidFill>
                <a:latin typeface="Inter"/>
              </a:rPr>
              <a:t> komt een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naamwoord</a:t>
            </a:r>
            <a:r>
              <a:rPr sz="1250" b="0" i="0">
                <a:solidFill>
                  <a:srgbClr val="20242E"/>
                </a:solidFill>
                <a:latin typeface="Inter"/>
              </a:rPr>
              <a:t> (frío · calor · viento) — de vorm verandert nooit. Bij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gustar</a:t>
            </a:r>
            <a:r>
              <a:rPr sz="1250" b="0" i="0">
                <a:solidFill>
                  <a:srgbClr val="20242E"/>
                </a:solidFill>
                <a:latin typeface="Inter"/>
              </a:rPr>
              <a:t> kiest </a:t>
            </a:r>
            <a:r>
              <a:rPr sz="1300" b="1" i="0">
                <a:solidFill>
                  <a:srgbClr val="A8323B"/>
                </a:solidFill>
                <a:latin typeface="Inter"/>
              </a:rPr>
              <a:t>het ding</a:t>
            </a:r>
            <a:r>
              <a:rPr sz="1250" b="0" i="0">
                <a:solidFill>
                  <a:srgbClr val="20242E"/>
                </a:solidFill>
                <a:latin typeface="Inter"/>
              </a:rPr>
              <a:t> de vorm: 1 → gusta · meervoud → gustan.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Ook zo: </a:t>
            </a:r>
            <a:r>
              <a:rPr sz="1200" b="1" i="0">
                <a:solidFill>
                  <a:srgbClr val="EA7317"/>
                </a:solidFill>
                <a:latin typeface="Inter"/>
              </a:rPr>
              <a:t>te gusta · le gusta · no me gustan · me gusta más el frío</a:t>
            </a:r>
            <a:r>
              <a:rPr sz="1150" b="0" i="0">
                <a:solidFill>
                  <a:srgbClr val="20242E"/>
                </a:solidFill>
                <a:latin typeface="Inter"/>
              </a:rPr>
              <a:t>   —   en vergeet </a:t>
            </a:r>
            <a:r>
              <a:rPr sz="1250" b="1" i="0">
                <a:solidFill>
                  <a:srgbClr val="DC2626"/>
                </a:solidFill>
                <a:latin typeface="Inter"/>
              </a:rPr>
              <a:t>el / la / los / las</a:t>
            </a:r>
            <a:r>
              <a:rPr sz="1150" b="0" i="0">
                <a:solidFill>
                  <a:srgbClr val="20242E"/>
                </a:solidFill>
                <a:latin typeface="Inter"/>
              </a:rPr>
              <a:t> niet: me gusta EL cine.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" y="5047488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Construye · bouw zelf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weer + viento  ·  gusta + hacer submarinismo  ·  meervoud + las vacaciones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5440680"/>
            <a:ext cx="10698480" cy="4572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Hace viento. · Me gusta hacer submarinismo. · Me gustan las vacaciones.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68680" y="53126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51" name="Rounded Rectangle 50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53" name="Rectangle 5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U11 · TIEMPO   ·   C4 · La Ruta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tiempo · las estaciones · el ocio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Het weer beschrijven, de seizoenen benoemen en zeggen wat je graag doet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¿Qué tiempo hace? 🌤️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Hace frío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het is koud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Hace calor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het is warm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42900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Hace sol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het is zonnig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Hace viento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het waait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1772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Hace buen / mal tiempo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het is mooi / slecht weer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2120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¿Qué tiempo hace?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wat voor weer is het?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Las estaciones 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la primavera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de lente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83464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el verano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de zomer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42900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el otoño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de herfst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02336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el invierno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de winter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61772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en verano · en invierno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in de zomer · in de winter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52120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demasiado calor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te warm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8388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Me gusta… · el ocio ❤️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Me gusta el cine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ik hou van film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283464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Me gustan los deportes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ik hou van sport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342900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Me gusta hacer yoga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ik doe graag yoga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402336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el gimnasio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de sportzaal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461772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hacer submarinismo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duiken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52120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20242E"/>
                </a:solidFill>
                <a:latin typeface="Inter"/>
              </a:rPr>
              <a:t>¿Te gusta…?</a:t>
            </a:r>
            <a:r>
              <a:rPr sz="1000" b="0" i="1">
                <a:solidFill>
                  <a:srgbClr val="6A6E78"/>
                </a:solidFill>
                <a:latin typeface="Inter"/>
              </a:rPr>
              <a:t>   hou jij van…?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U11 · TIEMPO   ·   C4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frecuencia · reaccionar a los gustos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Zeggen hoe vaak je iets doet — en reageren op wat iemand graag heeft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¿Con qué frecuencia? 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siempre · casi siempre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altijd · bijna altijd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a veces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soms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casi nunca · nunca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bijna nooit · nooit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tres veces por semana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drie keer per week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todos los años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elk jaar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Reaccionar 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A mí también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ook (bij een + zin)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A mí tampoco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ook niet (bij een − zin)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A mí no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niet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A mí sí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ik wel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¡Qué bien! · en cambio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wat goed! · daarentegen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212080"/>
            <a:ext cx="108813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«siempre · nunca · a veces» staan vóór het werkwoord (nunca voy a la ópera) · «tres veces por semana» komt achteraan.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U11 · TIEMPO   ·   C4 · La Ruta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hace + sustantivo — hablar del tiempo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Het weer «doet» iets: één vaste vorm die nooit verandert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0E9E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1737360"/>
            <a:ext cx="6949440" cy="374903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874519"/>
            <a:ext cx="64922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hace  +  frío · calor · viento · sol · buen tiempo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2377440"/>
            <a:ext cx="1965960" cy="384048"/>
          </a:xfrm>
          <a:prstGeom prst="roundRect">
            <a:avLst>
              <a:gd name="adj" fmla="val 20000"/>
            </a:avLst>
          </a:prstGeom>
          <a:solidFill>
            <a:srgbClr val="FE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2395728"/>
            <a:ext cx="196596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A7317"/>
                </a:solidFill>
                <a:latin typeface="Bricolage Grotesque"/>
              </a:rPr>
              <a:t>hace frío / calor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16352" y="2395728"/>
            <a:ext cx="160020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het is koud / warm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2395728"/>
            <a:ext cx="283464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En invierno hace frío.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2852928"/>
            <a:ext cx="1965960" cy="384048"/>
          </a:xfrm>
          <a:prstGeom prst="roundRect">
            <a:avLst>
              <a:gd name="adj" fmla="val 20000"/>
            </a:avLst>
          </a:prstGeom>
          <a:solidFill>
            <a:srgbClr val="FE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2871216"/>
            <a:ext cx="196596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A7317"/>
                </a:solidFill>
                <a:latin typeface="Bricolage Grotesque"/>
              </a:rPr>
              <a:t>hace viento / sol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16352" y="2871216"/>
            <a:ext cx="160020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het waait / het is zonnig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2871216"/>
            <a:ext cx="283464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¡Hace mucho viento!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3328416"/>
            <a:ext cx="1965960" cy="384048"/>
          </a:xfrm>
          <a:prstGeom prst="roundRect">
            <a:avLst>
              <a:gd name="adj" fmla="val 20000"/>
            </a:avLst>
          </a:prstGeom>
          <a:solidFill>
            <a:srgbClr val="FE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3346704"/>
            <a:ext cx="196596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A7317"/>
                </a:solidFill>
                <a:latin typeface="Bricolage Grotesque"/>
              </a:rPr>
              <a:t>hace buen/mal tiempo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16352" y="3346704"/>
            <a:ext cx="160020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het is mooi/slecht weer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3346704"/>
            <a:ext cx="2834640" cy="34747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Siempre hace buen tiempo en Canarias.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31520" y="3886200"/>
            <a:ext cx="6492240" cy="621792"/>
          </a:xfrm>
          <a:prstGeom prst="roundRect">
            <a:avLst>
              <a:gd name="adj" fmla="val 10000"/>
            </a:avLst>
          </a:prstGeom>
          <a:solidFill>
            <a:srgbClr val="FBEAEC"/>
          </a:solidFill>
          <a:ln w="1778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3950208"/>
            <a:ext cx="6217920" cy="53035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A8323B"/>
                </a:solidFill>
                <a:latin typeface="Inter"/>
              </a:rPr>
              <a:t>«hace» no cambia nunca: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hace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frío · calor · viento  —  </a:t>
            </a:r>
            <a:r>
              <a:rPr sz="1200" b="0" i="1">
                <a:solidFill>
                  <a:srgbClr val="6A6E78"/>
                </a:solidFill>
                <a:latin typeface="Inter"/>
              </a:rPr>
              <a:t>net als «hay» en «hay que» (U10).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4617720"/>
            <a:ext cx="649224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⚠️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Nooit </a:t>
            </a:r>
            <a:r>
              <a:rPr sz="1250" b="1" i="0">
                <a:solidFill>
                  <a:srgbClr val="DC2626"/>
                </a:solidFill>
                <a:latin typeface="Inter"/>
              </a:rPr>
              <a:t>es frío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of </a:t>
            </a:r>
            <a:r>
              <a:rPr sz="1250" b="1" i="0">
                <a:solidFill>
                  <a:srgbClr val="DC2626"/>
                </a:solidFill>
                <a:latin typeface="Inter"/>
              </a:rPr>
              <a:t>está frío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voor het weer.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Y para preguntar: </a:t>
            </a:r>
            <a:r>
              <a:rPr sz="1200" b="1" i="0">
                <a:solidFill>
                  <a:srgbClr val="EA7317"/>
                </a:solidFill>
                <a:latin typeface="Inter"/>
              </a:rPr>
              <a:t>¿Qué tiempo hace hoy? · ¿Hace frío en Bélgica?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680960" y="1737360"/>
            <a:ext cx="4023360" cy="3749039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863840" y="1609344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🔎 FÍJATE · EN LA ESCENA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09560" y="2103120"/>
            <a:ext cx="3566160" cy="21945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Je hoorde het al: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«Siempre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hace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buen tiempo.»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«Pero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hace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un frío…»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«¡</a:t>
            </a:r>
            <a:r>
              <a:rPr sz="1300" b="1" i="0">
                <a:solidFill>
                  <a:srgbClr val="EA7317"/>
                </a:solidFill>
                <a:latin typeface="Inter"/>
              </a:rPr>
              <a:t>Hace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mucho viento!»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«En verano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hace calor</a:t>
            </a:r>
            <a:r>
              <a:rPr sz="1300" b="0" i="0">
                <a:solidFill>
                  <a:srgbClr val="20242E"/>
                </a:solidFill>
                <a:latin typeface="Inter"/>
              </a:rPr>
              <a:t>.»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909560" y="4224528"/>
            <a:ext cx="3566160" cy="1188720"/>
          </a:xfrm>
          <a:prstGeom prst="roundRect">
            <a:avLst>
              <a:gd name="adj" fmla="val 8000"/>
            </a:avLst>
          </a:prstGeom>
          <a:solidFill>
            <a:srgbClr val="FDE8E8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46720" y="4315968"/>
            <a:ext cx="3337560" cy="10515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C2626"/>
                </a:solidFill>
                <a:latin typeface="Bricolage Grotesque"/>
              </a:rPr>
              <a:t>¡OJO! el tiempo ↔ la persona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hace frío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= het ís koud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tengo frío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= ík heb het koud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(tener + naamwoord, U9)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U11 · TIEMPO   ·   C4 · La Ruta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me gusta ↔ me gustan — expresar gustos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«Het bevalt mij»: het ding kiest de vorm, niet jij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298448"/>
            <a:ext cx="55321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408176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me gusta · me gustan · te / le gusta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755648"/>
            <a:ext cx="512064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EA7317"/>
                </a:solidFill>
                <a:latin typeface="Bricolage Grotesque"/>
              </a:rPr>
              <a:t>me gusta  </a:t>
            </a:r>
            <a:r>
              <a:rPr sz="1050" b="0" i="0">
                <a:solidFill>
                  <a:srgbClr val="20242E"/>
                </a:solidFill>
                <a:latin typeface="Inter"/>
              </a:rPr>
              <a:t>ik hou van (1 ding / werkwoord)   </a:t>
            </a:r>
            <a:r>
              <a:rPr sz="1050" b="0" i="1">
                <a:solidFill>
                  <a:srgbClr val="6A6E78"/>
                </a:solidFill>
                <a:latin typeface="Inter"/>
              </a:rPr>
              <a:t>Me gusta el cine.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084832"/>
            <a:ext cx="512064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EA7317"/>
                </a:solidFill>
                <a:latin typeface="Bricolage Grotesque"/>
              </a:rPr>
              <a:t>me gustan  </a:t>
            </a:r>
            <a:r>
              <a:rPr sz="1050" b="0" i="0">
                <a:solidFill>
                  <a:srgbClr val="20242E"/>
                </a:solidFill>
                <a:latin typeface="Inter"/>
              </a:rPr>
              <a:t>ik hou van (meervoud)   </a:t>
            </a:r>
            <a:r>
              <a:rPr sz="1050" b="0" i="1">
                <a:solidFill>
                  <a:srgbClr val="6A6E78"/>
                </a:solidFill>
                <a:latin typeface="Inter"/>
              </a:rPr>
              <a:t>Me gustan los deportes.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414016"/>
            <a:ext cx="512064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EA7317"/>
                </a:solidFill>
                <a:latin typeface="Bricolage Grotesque"/>
              </a:rPr>
              <a:t>te / le gusta  </a:t>
            </a:r>
            <a:r>
              <a:rPr sz="1050" b="0" i="0">
                <a:solidFill>
                  <a:srgbClr val="20242E"/>
                </a:solidFill>
                <a:latin typeface="Inter"/>
              </a:rPr>
              <a:t>jij / hij-zij houdt van   </a:t>
            </a:r>
            <a:r>
              <a:rPr sz="1050" b="0" i="1">
                <a:solidFill>
                  <a:srgbClr val="6A6E78"/>
                </a:solidFill>
                <a:latin typeface="Inter"/>
              </a:rPr>
              <a:t>A ella también le gusta.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523744"/>
            <a:ext cx="5120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Letterlijk: «het </a:t>
            </a:r>
            <a:r>
              <a:rPr sz="1100" b="1" i="0">
                <a:solidFill>
                  <a:srgbClr val="A8323B"/>
                </a:solidFill>
                <a:latin typeface="Inter"/>
              </a:rPr>
              <a:t>bevalt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mij» → daarom kiest het ding de vorm.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298448"/>
            <a:ext cx="5532120" cy="1481328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408176"/>
            <a:ext cx="51206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¿Uno o varios? · el truco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1792224"/>
            <a:ext cx="2606040" cy="841248"/>
          </a:xfrm>
          <a:prstGeom prst="roundRect">
            <a:avLst>
              <a:gd name="adj" fmla="val 10000"/>
            </a:avLst>
          </a:prstGeom>
          <a:solidFill>
            <a:srgbClr val="FEF1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1847088"/>
            <a:ext cx="2423160" cy="7772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B4530E"/>
                </a:solidFill>
                <a:latin typeface="Inter"/>
              </a:rPr>
              <a:t>☝️ 1 ding / werkwoord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Me gusta el cine.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Me gusta hacer yoga.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98280" y="1792224"/>
            <a:ext cx="2606040" cy="841248"/>
          </a:xfrm>
          <a:prstGeom prst="roundRect">
            <a:avLst>
              <a:gd name="adj" fmla="val 1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08008" y="1847088"/>
            <a:ext cx="2423160" cy="7772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E40AF"/>
                </a:solidFill>
                <a:latin typeface="Inter"/>
              </a:rPr>
              <a:t>✌️ meervoud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 gustan los deportes.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 me gustan los hoteles.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2889504"/>
            <a:ext cx="5532120" cy="1170432"/>
          </a:xfrm>
          <a:prstGeom prst="roundRect">
            <a:avLst>
              <a:gd name="adj" fmla="val 5500"/>
            </a:avLst>
          </a:prstGeom>
          <a:solidFill>
            <a:srgbClr val="FDE8E8"/>
          </a:solidFill>
          <a:ln w="30480">
            <a:solidFill>
              <a:srgbClr val="DC2626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85800" y="2761488"/>
            <a:ext cx="1717243" cy="29260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¡OJO! · LA TRAMPA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127248"/>
            <a:ext cx="512064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«ik hou van film» = </a:t>
            </a:r>
            <a:r>
              <a:rPr sz="1600" b="1" i="0">
                <a:solidFill>
                  <a:srgbClr val="EA7317"/>
                </a:solidFill>
                <a:latin typeface="Bricolage Grotesque"/>
              </a:rPr>
              <a:t>me gusta el cine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nooit </a:t>
            </a:r>
            <a:r>
              <a:rPr sz="1250" b="1" i="0">
                <a:solidFill>
                  <a:srgbClr val="DC2626"/>
                </a:solidFill>
                <a:latin typeface="Inter"/>
              </a:rPr>
              <a:t>yo gusto el cine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— dat betekent «ik val in de smaak».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889504"/>
            <a:ext cx="5532120" cy="1170432"/>
          </a:xfrm>
          <a:prstGeom prst="roundRect">
            <a:avLst>
              <a:gd name="adj" fmla="val 5500"/>
            </a:avLst>
          </a:prstGeom>
          <a:solidFill>
            <a:srgbClr val="FDE8E8"/>
          </a:solidFill>
          <a:ln w="30480">
            <a:solidFill>
              <a:srgbClr val="DC2626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55080" y="2761488"/>
            <a:ext cx="1717243" cy="292608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¡OJO! · LA TRAMPA 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3127248"/>
            <a:ext cx="512064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</a:t>
            </a:r>
            <a:r>
              <a:rPr sz="1250" b="1" i="0">
                <a:solidFill>
                  <a:srgbClr val="DC2626"/>
                </a:solidFill>
                <a:latin typeface="Inter"/>
              </a:rPr>
              <a:t>ding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kiest de vorm: me gusta </a:t>
            </a:r>
            <a:r>
              <a:rPr sz="1250" b="1" i="0">
                <a:solidFill>
                  <a:srgbClr val="20242E"/>
                </a:solidFill>
                <a:latin typeface="Inter"/>
              </a:rPr>
              <a:t>el frío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↔ me gustan </a:t>
            </a:r>
            <a:r>
              <a:rPr sz="1250" b="1" i="0">
                <a:solidFill>
                  <a:srgbClr val="20242E"/>
                </a:solidFill>
                <a:latin typeface="Inter"/>
              </a:rPr>
              <a:t>los deportes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dus niet </a:t>
            </a:r>
            <a:r>
              <a:rPr sz="1150" b="1" i="0">
                <a:solidFill>
                  <a:srgbClr val="DC2626"/>
                </a:solidFill>
                <a:latin typeface="Inter"/>
              </a:rPr>
              <a:t>me gusta los deportes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· niet </a:t>
            </a:r>
            <a:r>
              <a:rPr sz="1150" b="1" i="0">
                <a:solidFill>
                  <a:srgbClr val="DC2626"/>
                </a:solidFill>
                <a:latin typeface="Inter"/>
              </a:rPr>
              <a:t>me gustan el cine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169663"/>
            <a:ext cx="11201400" cy="713232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242816"/>
            <a:ext cx="10789920" cy="594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A8323B"/>
                </a:solidFill>
                <a:latin typeface="Bricolage Grotesque"/>
              </a:rPr>
              <a:t>Reaccionar ·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«— Me gusta el cine. — </a:t>
            </a:r>
            <a:r>
              <a:rPr sz="1250" b="1" i="0">
                <a:solidFill>
                  <a:srgbClr val="EA7317"/>
                </a:solidFill>
                <a:latin typeface="Inter"/>
              </a:rPr>
              <a:t>A mí también</a:t>
            </a:r>
            <a:r>
              <a:rPr sz="1200" b="0" i="0">
                <a:solidFill>
                  <a:srgbClr val="20242E"/>
                </a:solidFill>
                <a:latin typeface="Inter"/>
              </a:rPr>
              <a:t>.»   ·   «— No me gusta la ópera. — </a:t>
            </a:r>
            <a:r>
              <a:rPr sz="1250" b="1" i="0">
                <a:solidFill>
                  <a:srgbClr val="EA7317"/>
                </a:solidFill>
                <a:latin typeface="Inter"/>
              </a:rPr>
              <a:t>A mí tampoco</a:t>
            </a:r>
            <a:r>
              <a:rPr sz="1200" b="0" i="0">
                <a:solidFill>
                  <a:srgbClr val="20242E"/>
                </a:solidFill>
                <a:latin typeface="Inter"/>
              </a:rPr>
              <a:t>.»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Bij een </a:t>
            </a:r>
            <a:r>
              <a:rPr sz="1150" b="1" i="0">
                <a:solidFill>
                  <a:srgbClr val="A8323B"/>
                </a:solidFill>
                <a:latin typeface="Inter"/>
              </a:rPr>
              <a:t>+ zin</a:t>
            </a:r>
            <a:r>
              <a:rPr sz="1150" b="0" i="0">
                <a:solidFill>
                  <a:srgbClr val="20242E"/>
                </a:solidFill>
                <a:latin typeface="Inter"/>
              </a:rPr>
              <a:t>: a mí también / a mí no   ·   bij een </a:t>
            </a:r>
            <a:r>
              <a:rPr sz="1150" b="1" i="0">
                <a:solidFill>
                  <a:srgbClr val="A8323B"/>
                </a:solidFill>
                <a:latin typeface="Inter"/>
              </a:rPr>
              <a:t>− zin</a:t>
            </a:r>
            <a:r>
              <a:rPr sz="1150" b="0" i="0">
                <a:solidFill>
                  <a:srgbClr val="20242E"/>
                </a:solidFill>
                <a:latin typeface="Inter"/>
              </a:rPr>
              <a:t>: a mí tampoco / a mí sí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4983480"/>
            <a:ext cx="111556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Completa · vul aan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Me gust___ los deportes.   Me gust___ hacer yoga.   — No me gusta el calor. — ¡A mí ___! (jij wel)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376672"/>
            <a:ext cx="10698480" cy="4572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gustan · gusta · sí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680" y="5248656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34" name="Rounded Rectangle 33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U11 · TIEMPO   ·   C4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diálogo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Vul samen aan — klik voor de oplossing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830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¡Uf! Aquí ___ demasiado calor.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42316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A mí me ___ más el frío.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06324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¿Y los deportes?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70332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Sí, me ___ mucho.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34340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Voy al gimnasio tres ___ por semana.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834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¡A mí ___!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0" y="1737360"/>
            <a:ext cx="4023360" cy="3657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1. hace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2. gusta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3. gustan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4. veces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5. también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18120" y="1609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20" name="Rounded Rectangle 19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U11 · TIEMPO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HABLAR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encuesta de gustos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Vraag rond, reageer en zoek iemand met dezelfde smaak — sin leer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83080"/>
            <a:ext cx="649224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Modelo · zeg dit hardop: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«— ¿Te gusta el cine?  — Sí, me gusta mucho.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¡A mí también! ¿Y te gustan los deportes?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No, no me gustan.  — A mí sí. Voy al gimnasio.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¿Y cuándo hace frío?  — Casi nunca salgo.»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54480"/>
            <a:ext cx="402336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56616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¿Cómo? · Werkvorm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1. Pregunta: «¿Te gusta…?» · «¿Te gustan…?».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2. Responde: «Sí, me gusta» / «No, no me gustan».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3. Reacciona: «a mí también / tampoco / no / sí».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4. Añade frecuencia: «voy… tres veces por semana».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20242E"/>
                </a:solidFill>
                <a:latin typeface="Inter"/>
              </a:rPr>
              <a:t>5. Busca a alguien con los mismos gustos.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Interactie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= vragen, reageren én doorvragen. Elke leerling bevraagt 3 klasgenoten. Wie vindt een «gemelo de gustos»? Verstaan? Zeg: «¿Cómo? / ¿Puedes repetir?»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U11 · TIEMPO   ·   C4 · La Ruta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CULTURA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Un idioma, 21 climas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Van eeuwige lente tot omgekeerde seizoenen — en muziek erbij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Manu Chao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Me Gustas Tú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🇪🇸/🇫🇷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Álvaro Soler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El Mismo Sol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75904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Juan Luis Guerra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Ojalá Que Llueva Café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🇩🇴 R. Dominicana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Carlos Vives &amp; Shakira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Bicicleta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Colombia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Jarabe de Palo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Bonito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7304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Gente de Zona &amp; Marc Anthony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Gozadera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🇨🇺 Cuba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9200"/>
            <a:ext cx="11201400" cy="96012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38928"/>
            <a:ext cx="1069848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🌞 Un idioma, 21 climas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Julio heeft gelijk: op de </a:t>
            </a:r>
            <a:r>
              <a:rPr sz="1200" b="1" i="0">
                <a:solidFill>
                  <a:srgbClr val="0E9E97"/>
                </a:solidFill>
                <a:latin typeface="Inter"/>
              </a:rPr>
              <a:t>Canarias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is het het hele jaar 20–24 °C, en </a:t>
            </a:r>
            <a:r>
              <a:rPr sz="1200" b="1" i="0">
                <a:solidFill>
                  <a:srgbClr val="0E9E97"/>
                </a:solidFill>
                <a:latin typeface="Inter"/>
              </a:rPr>
              <a:t>Guatemala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heet «el país de la eterna primavera». Maar </a:t>
            </a:r>
            <a:r>
              <a:rPr sz="1200" b="1" i="0">
                <a:solidFill>
                  <a:srgbClr val="0E9E97"/>
                </a:solidFill>
                <a:latin typeface="Inter"/>
              </a:rPr>
              <a:t>Ávila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is de koudste provincie van Spanje (1.130 m).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</a:t>
            </a:r>
            <a:r>
              <a:rPr sz="1200" b="1" i="0">
                <a:solidFill>
                  <a:srgbClr val="0E9E97"/>
                </a:solidFill>
                <a:latin typeface="Inter"/>
              </a:rPr>
              <a:t>Argentina, Chile y Uruguay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staan de estaciones </a:t>
            </a:r>
            <a:r>
              <a:rPr sz="1200" b="1" i="0">
                <a:solidFill>
                  <a:srgbClr val="A8323B"/>
                </a:solidFill>
                <a:latin typeface="Inter"/>
              </a:rPr>
              <a:t>al revés</a:t>
            </a:r>
            <a:r>
              <a:rPr sz="1200" b="0" i="0">
                <a:solidFill>
                  <a:srgbClr val="20242E"/>
                </a:solidFill>
                <a:latin typeface="Inter"/>
              </a:rPr>
              <a:t>: in diciembre is het verano en viert men Navidad in de hitte. In Costa Rica betekent «invierno» het regenseizoen, niet kou. «Me gustas tú» = één lange me-gusta-oefening (LyricsTraining op de hub).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U11 · TIEMPO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§5 · TAREA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 estación favorita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Jouw ficha: het weer, twee smaken en hoe vaak — daarna de enquête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035040" cy="32918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6035040" cy="45720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09344"/>
            <a:ext cx="56692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MI FICHA · El tiempo y yo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" y="2212848"/>
            <a:ext cx="2468880" cy="438912"/>
          </a:xfrm>
          <a:prstGeom prst="roundRect">
            <a:avLst>
              <a:gd name="adj" fmla="val 8000"/>
            </a:avLst>
          </a:prstGeom>
          <a:solidFill>
            <a:srgbClr val="F3EEE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240280"/>
            <a:ext cx="22860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A8323B"/>
                </a:solidFill>
                <a:latin typeface="Inter"/>
              </a:rPr>
              <a:t>🌤️  Mi estación favorita es…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45536" y="2212848"/>
            <a:ext cx="3438144" cy="438912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" y="2688336"/>
            <a:ext cx="2468880" cy="438912"/>
          </a:xfrm>
          <a:prstGeom prst="roundRect">
            <a:avLst>
              <a:gd name="adj" fmla="val 8000"/>
            </a:avLst>
          </a:prstGeom>
          <a:solidFill>
            <a:srgbClr val="F3EEE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715768"/>
            <a:ext cx="22860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A8323B"/>
                </a:solidFill>
                <a:latin typeface="Inter"/>
              </a:rPr>
              <a:t>🌡️  En … hace…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45536" y="2688336"/>
            <a:ext cx="3438144" cy="438912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2" y="3163824"/>
            <a:ext cx="2468880" cy="438912"/>
          </a:xfrm>
          <a:prstGeom prst="roundRect">
            <a:avLst>
              <a:gd name="adj" fmla="val 8000"/>
            </a:avLst>
          </a:prstGeom>
          <a:solidFill>
            <a:srgbClr val="F3EEE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191256"/>
            <a:ext cx="22860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A8323B"/>
                </a:solidFill>
                <a:latin typeface="Inter"/>
              </a:rPr>
              <a:t>❤️  Me gusta… (1 ding)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45536" y="3163824"/>
            <a:ext cx="3438144" cy="438912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3639312"/>
            <a:ext cx="2468880" cy="438912"/>
          </a:xfrm>
          <a:prstGeom prst="roundRect">
            <a:avLst>
              <a:gd name="adj" fmla="val 8000"/>
            </a:avLst>
          </a:prstGeom>
          <a:solidFill>
            <a:srgbClr val="F3EEE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3666744"/>
            <a:ext cx="22860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A8323B"/>
                </a:solidFill>
                <a:latin typeface="Inter"/>
              </a:rPr>
              <a:t>❤️  Me gustan… (meervoud)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145536" y="3639312"/>
            <a:ext cx="3438144" cy="438912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21792" y="4114800"/>
            <a:ext cx="2468880" cy="438912"/>
          </a:xfrm>
          <a:prstGeom prst="roundRect">
            <a:avLst>
              <a:gd name="adj" fmla="val 8000"/>
            </a:avLst>
          </a:prstGeom>
          <a:solidFill>
            <a:srgbClr val="F3EEE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4142232"/>
            <a:ext cx="2286000" cy="38404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A8323B"/>
                </a:solidFill>
                <a:latin typeface="Inter"/>
              </a:rPr>
              <a:t>🔁  …, X veces por semana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145536" y="4114800"/>
            <a:ext cx="3438144" cy="438912"/>
          </a:xfrm>
          <a:prstGeom prst="roundRect">
            <a:avLst>
              <a:gd name="adj" fmla="val 8000"/>
            </a:avLst>
          </a:prstGeom>
          <a:solidFill>
            <a:srgbClr val="FCFBF8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590288"/>
            <a:ext cx="566928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20242E"/>
                </a:solidFill>
                <a:latin typeface="Inter"/>
              </a:rPr>
              <a:t>🤝 Mi gemelo de gustos: </a:t>
            </a:r>
            <a:r>
              <a:rPr sz="1150" b="0" i="0">
                <a:solidFill>
                  <a:srgbClr val="E4E3DE"/>
                </a:solidFill>
                <a:latin typeface="Inter"/>
              </a:rPr>
              <a:t>____________ </a:t>
            </a:r>
            <a:r>
              <a:rPr sz="1150" b="1" i="0">
                <a:solidFill>
                  <a:srgbClr val="20242E"/>
                </a:solidFill>
                <a:latin typeface="Inter"/>
              </a:rPr>
              <a:t>(a los dos nos gusta </a:t>
            </a:r>
            <a:r>
              <a:rPr sz="1150" b="0" i="0">
                <a:solidFill>
                  <a:srgbClr val="E4E3DE"/>
                </a:solidFill>
                <a:latin typeface="Inter"/>
              </a:rPr>
              <a:t>__________ 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766560" y="1554480"/>
            <a:ext cx="4937760" cy="32918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5160" y="1719072"/>
            <a:ext cx="4480560" cy="3017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Los pasos · stappen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1. Elige tu estación y di el tiempo: «En verano hace calor».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2. Dos gustos: één met «me gusta», één met «me gustan».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3. Añade la frecuencia: «siempre / a veces / casi nunca» + «X veces por semana».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4. La encuesta: pregunta a tres compañeros «¿Te gusta…?» y reacciona («a mí también / tampoco»).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5. Presenta: «A Sara y a mí nos gusta el cine» — sin leer.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983480"/>
            <a:ext cx="694944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🏁 Klaar als…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je het weer van je seizoen zegt met «hace + naamwoord», twee smaken geeft (één keer gusta, één keer gustan), één frecuencia-woord gebruikt en in de enquête minstens één keer «a mí también / a mí tampoco» zegt — zónder af te lezen.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680960" y="4956048"/>
            <a:ext cx="4023360" cy="9601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863840" y="5029200"/>
            <a:ext cx="36576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A8323B"/>
                </a:solidFill>
                <a:latin typeface="Bricolage Grotesque"/>
              </a:rPr>
              <a:t>Evaluatie · 🟢🟡🔴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· hace + naamwoord correct (het weer)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· me gusta ↔ me gustan correct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· frecuencia + reageren in de enquête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U11 · TIEMPO   ·   C4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FUNCIONES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Mis funciones comunicativas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Lo que ya sé hacer — crece cada unidad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98448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Mi repertorio: 25 / 25 funciones — </a:t>
            </a:r>
            <a:r>
              <a:rPr sz="1200" b="0" i="0">
                <a:solidFill>
                  <a:srgbClr val="6A6E78"/>
                </a:solidFill>
                <a:latin typeface="Inter"/>
              </a:rPr>
              <a:t>no solo palabras: lo que puedo HACER con el español.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64208"/>
            <a:ext cx="35661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1691640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Saludar y despedirse</a:t>
            </a:r>
            <a:r>
              <a:rPr sz="85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882973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" b="0" i="0">
                <a:solidFill>
                  <a:srgbClr val="6A6E78"/>
                </a:solidFill>
                <a:latin typeface="Inter"/>
              </a:rPr>
              <a:t>Hola · Adiós · Hasta luego · Buenos días / tardes / noches · ¡Buenas! · Hasta mañana · ¡Nos vemos!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16552" y="1664208"/>
            <a:ext cx="35661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81144" y="1691640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Presentarse y presentar a alguien</a:t>
            </a:r>
            <a:r>
              <a:rPr sz="85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1144" y="1882973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" b="0" i="0">
                <a:solidFill>
                  <a:srgbClr val="6A6E78"/>
                </a:solidFill>
                <a:latin typeface="Inter"/>
              </a:rPr>
              <a:t>Me llamo… · (Yo) soy… · Encantado/a · Soy de… (país) · Soy español/a · mexicano/a · belga · Esta es mi madre · Este es mi padre · Es mi hermano/a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30183" y="1664208"/>
            <a:ext cx="35661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94775" y="1691640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Pedir y dar información personal</a:t>
            </a:r>
            <a:r>
              <a:rPr sz="85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94775" y="1882973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" b="0" i="0">
                <a:solidFill>
                  <a:srgbClr val="6A6E78"/>
                </a:solidFill>
                <a:latin typeface="Inter"/>
              </a:rPr>
              <a:t>¿Cómo te llamas? · ¿Y tú? · ¿De dónde eres? · ¿De qué país? · ¿Qué idiomas hablas?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2190496"/>
            <a:ext cx="35661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2217928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Reaccionar con cortesía</a:t>
            </a:r>
            <a:r>
              <a:rPr sz="85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" y="2409261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" b="0" i="0">
                <a:solidFill>
                  <a:srgbClr val="6A6E78"/>
                </a:solidFill>
                <a:latin typeface="Inter"/>
              </a:rPr>
              <a:t>Por favor · Gracias · Muchas gracias · De nada · Perdona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16552" y="2190496"/>
            <a:ext cx="35661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81144" y="2217928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Preguntar y decir cómo estoy</a:t>
            </a:r>
            <a:r>
              <a:rPr sz="85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1144" y="2409261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" b="0" i="0">
                <a:solidFill>
                  <a:srgbClr val="6A6E78"/>
                </a:solidFill>
                <a:latin typeface="Inter"/>
              </a:rPr>
              <a:t>¿Qué tal? · ¿Cómo estás? · Estoy bien / cansado-a / ocupado-a · Regular · Estamos todos bien / tranquilos · ¿Estáis bien? · estar = toestand …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330183" y="2190496"/>
            <a:ext cx="35661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94775" y="2217928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Pedir algo</a:t>
            </a:r>
            <a:r>
              <a:rPr sz="85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94775" y="2409261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" b="0" i="0">
                <a:solidFill>
                  <a:srgbClr val="6A6E78"/>
                </a:solidFill>
                <a:latin typeface="Inter"/>
              </a:rPr>
              <a:t>…, por favor · ¿Me da…?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2716784"/>
            <a:ext cx="35661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" y="2744216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Contar (números 0–20)</a:t>
            </a:r>
            <a:r>
              <a:rPr sz="85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" y="2935549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" b="0" i="0">
                <a:solidFill>
                  <a:srgbClr val="6A6E78"/>
                </a:solidFill>
                <a:latin typeface="Inter"/>
              </a:rPr>
              <a:t>uno · dos · tres · cinco · diez · veinte · las horas: la una · las doce · y media · y cuarto · menos cuarto · en veinte minutos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16552" y="2716784"/>
            <a:ext cx="35661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81144" y="2744216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Gestionar la comprensión</a:t>
            </a:r>
            <a:r>
              <a:rPr sz="85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81144" y="2935549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" b="0" i="0">
                <a:solidFill>
                  <a:srgbClr val="6A6E78"/>
                </a:solidFill>
                <a:latin typeface="Inter"/>
              </a:rPr>
              <a:t>¿Cómo? · Otra vez, por favor · ¿Puedes repetir? · Más despacio, por favor · No entiendo · ¿Sí? · No te oigo (nada) · ¿Puedes hablar más despacio?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30183" y="2716784"/>
            <a:ext cx="3566160" cy="434847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94775" y="2744216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Hablar de la familia</a:t>
            </a:r>
            <a:r>
              <a:rPr sz="850" b="1" i="0">
                <a:solidFill>
                  <a:srgbClr val="A8323B"/>
                </a:solidFill>
                <a:latin typeface="Inter"/>
              </a:rPr>
              <a:t>  ▲ nivel+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94775" y="2935549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" b="0" i="0">
                <a:solidFill>
                  <a:srgbClr val="6A6E78"/>
                </a:solidFill>
                <a:latin typeface="Inter"/>
              </a:rPr>
              <a:t>mi madre · mi padre · mi hermano/a · mi abuelo/a · el tío / la tía · la hermana de María (de + nombre) · con los tuyos (bij de jouwen) · mis tíos …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3243072"/>
            <a:ext cx="35661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" y="3270504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Describir a alguien</a:t>
            </a:r>
            <a:r>
              <a:rPr sz="85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7512" y="3461837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" b="0" i="0">
                <a:solidFill>
                  <a:srgbClr val="6A6E78"/>
                </a:solidFill>
                <a:latin typeface="Inter"/>
              </a:rPr>
              <a:t>es alto/a · bajo/a · guapo/a · es simpático/a · divertido/a · inteligente · es muy… · un poco…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416552" y="3243072"/>
            <a:ext cx="35661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81144" y="3270504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Identificar objetos</a:t>
            </a:r>
            <a:r>
              <a:rPr sz="85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81144" y="3461837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" b="0" i="0">
                <a:solidFill>
                  <a:srgbClr val="6A6E78"/>
                </a:solidFill>
                <a:latin typeface="Inter"/>
              </a:rPr>
              <a:t>¿Qué es esto? · Esto es un/una… · Esto son… (meervoud) · un libro · una mesa (el/la)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330183" y="3243072"/>
            <a:ext cx="35661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94775" y="3270504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Decir qué hay y para qué sirve</a:t>
            </a:r>
            <a:r>
              <a:rPr sz="85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94775" y="3461837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" b="0" i="0">
                <a:solidFill>
                  <a:srgbClr val="6A6E78"/>
                </a:solidFill>
                <a:latin typeface="Inter"/>
              </a:rPr>
              <a:t>¿Hay…? · (No) hay… · Sí que hay… · … que sirve para + infinitivo · sirve para abrir · beber · descansar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3769359"/>
            <a:ext cx="35661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" y="3796791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Ubicar cosas · decir dónde está</a:t>
            </a:r>
            <a:r>
              <a:rPr sz="85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7512" y="3988124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" b="0" i="0">
                <a:solidFill>
                  <a:srgbClr val="6A6E78"/>
                </a:solidFill>
                <a:latin typeface="Inter"/>
              </a:rPr>
              <a:t>¿Dónde está…? · está en… · encima de · debajo de · dentro de · al lado de · delante de · detrás de · Hay … en la cocina · del (de+el)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416552" y="3769359"/>
            <a:ext cx="35661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81144" y="3796791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Pedir y dar permiso</a:t>
            </a:r>
            <a:r>
              <a:rPr sz="85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81144" y="3988124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" b="0" i="0">
                <a:solidFill>
                  <a:srgbClr val="6A6E78"/>
                </a:solidFill>
                <a:latin typeface="Inter"/>
              </a:rPr>
              <a:t>¿Puedo…? · ¿Puedes…? · Sí, puedes… · Aquí no · puedes ir fuera · ¿Puedo fumar? · ¿Puedes venir?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330183" y="3769359"/>
            <a:ext cx="35661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94775" y="3796791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Hablar del trabajo</a:t>
            </a:r>
            <a:r>
              <a:rPr sz="85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94775" y="3988124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" b="0" i="0">
                <a:solidFill>
                  <a:srgbClr val="6A6E78"/>
                </a:solidFill>
                <a:latin typeface="Inter"/>
              </a:rPr>
              <a:t>¿A qué te dedicas? · ¿En qué trabajas? · Soy profesor/a · escritor/a · actriz · Trabajo en una tienda · una oficina · ser + profesión (zonder un/una)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02920" y="4295648"/>
            <a:ext cx="35661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7512" y="4323080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Especular y adivinar</a:t>
            </a:r>
            <a:r>
              <a:rPr sz="85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7512" y="4514413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" b="0" i="0">
                <a:solidFill>
                  <a:srgbClr val="6A6E78"/>
                </a:solidFill>
                <a:latin typeface="Inter"/>
              </a:rPr>
              <a:t>Puede ser… (escritora) · ¿Trabaja en una tienda? · Creo que es… · ¡Ya lo sé! · ¿O algo parecido?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416552" y="4295648"/>
            <a:ext cx="35661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81144" y="4323080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Decir y preguntar la hora</a:t>
            </a:r>
            <a:r>
              <a:rPr sz="85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81144" y="4514413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" b="0" i="0">
                <a:solidFill>
                  <a:srgbClr val="6A6E78"/>
                </a:solidFill>
                <a:latin typeface="Inter"/>
              </a:rPr>
              <a:t>¿Qué hora es? · Es la una · Son las ocho · y media · y cuarto · menos cuarto · en punto · ¿A qué hora? · a las doce · el lunes · los lunes …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330183" y="4295648"/>
            <a:ext cx="35661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94775" y="4323080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Quedar con alguien</a:t>
            </a:r>
            <a:r>
              <a:rPr sz="85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494775" y="4514413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" b="0" i="0">
                <a:solidFill>
                  <a:srgbClr val="6A6E78"/>
                </a:solidFill>
                <a:latin typeface="Inter"/>
              </a:rPr>
              <a:t>¿Quieres quedar (esta noche)? · Quedamos a las… · en mi casa · Más tarde · ahora mismo no puedo · Es un poco pronto · un poco tarde · Hasta ahora …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502920" y="4821936"/>
            <a:ext cx="35661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67512" y="4849368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Hablar de planes</a:t>
            </a:r>
            <a:r>
              <a:rPr sz="85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7512" y="5040701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" b="0" i="0">
                <a:solidFill>
                  <a:srgbClr val="6A6E78"/>
                </a:solidFill>
                <a:latin typeface="Inter"/>
              </a:rPr>
              <a:t>Voy a + infinitivo (voy a preparar café) · Vamos a dormir un poquito más · El domingo voy a quedar con amigas · ¿Vamos a pasear?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416552" y="4821936"/>
            <a:ext cx="35661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581144" y="4849368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Expresar obligación</a:t>
            </a:r>
            <a:r>
              <a:rPr sz="85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81144" y="5040701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" b="0" i="0">
                <a:solidFill>
                  <a:srgbClr val="6A6E78"/>
                </a:solidFill>
                <a:latin typeface="Inter"/>
              </a:rPr>
              <a:t>Tengo que + infinitivo (tengo que trabajar) · Tengo cosas que hacer · ¿Tienes que hacer algo? · tengo hambre · tengo sueño (tener + naamwoord) …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330183" y="4821936"/>
            <a:ext cx="35661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494775" y="4849368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Ofrecer y pedir ayuda</a:t>
            </a:r>
            <a:r>
              <a:rPr sz="85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494775" y="5040701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" b="0" i="0">
                <a:solidFill>
                  <a:srgbClr val="6A6E78"/>
                </a:solidFill>
                <a:latin typeface="Inter"/>
              </a:rPr>
              <a:t>Yo te ayudo · ¿Te ayudo? · ¿Qué tengo que hacer? · No es molestia · Déjame, lo hago yo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502920" y="5348223"/>
            <a:ext cx="3566160" cy="43484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67512" y="5375655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Decir lo que sé hacer</a:t>
            </a:r>
            <a:r>
              <a:rPr sz="85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67512" y="5566988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" b="0" i="0">
                <a:solidFill>
                  <a:srgbClr val="6A6E78"/>
                </a:solidFill>
                <a:latin typeface="Inter"/>
              </a:rPr>
              <a:t>Sé + infinitivo (sé pasar la aspiradora) · ¿Sabes…? · ¿Sabes cómo funciona? · Sabemos… (nosotros) · Claro que sé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416552" y="5348223"/>
            <a:ext cx="3566160" cy="434847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581144" y="5375655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Hablar del tiempo</a:t>
            </a:r>
            <a:r>
              <a:rPr sz="85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81144" y="5566988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" b="0" i="0">
                <a:solidFill>
                  <a:srgbClr val="6A6E78"/>
                </a:solidFill>
                <a:latin typeface="Inter"/>
              </a:rPr>
              <a:t>¿Qué tiempo hace? · Hace frío · hace calor · hace viento · hace sol · Hace buen / mal tiempo · En invierno / en verano… · Aquí hace demasiado calor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330183" y="5348223"/>
            <a:ext cx="3566160" cy="434847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494775" y="5375655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Expresar gustos y aficiones</a:t>
            </a:r>
            <a:r>
              <a:rPr sz="85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94775" y="5566988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" b="0" i="0">
                <a:solidFill>
                  <a:srgbClr val="6A6E78"/>
                </a:solidFill>
                <a:latin typeface="Inter"/>
              </a:rPr>
              <a:t>Me gusta + el cine / la ópera · Me gusta + infinitivo (me gusta hacer yoga) · Me gustan los deportes (meervoud) · A mí me gusta más el frío …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502920" y="5874512"/>
            <a:ext cx="3566160" cy="434847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667512" y="5901944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20242E"/>
                </a:solidFill>
                <a:latin typeface="Bricolage Grotesque"/>
              </a:rPr>
              <a:t>Decir con qué frecuencia</a:t>
            </a:r>
            <a:r>
              <a:rPr sz="85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67512" y="6093277"/>
            <a:ext cx="3236976" cy="21742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60" b="0" i="0">
                <a:solidFill>
                  <a:srgbClr val="6A6E78"/>
                </a:solidFill>
                <a:latin typeface="Inter"/>
              </a:rPr>
              <a:t>siempre · casi siempre · a veces · casi nunca · nunca · todos los años · todos los días · tres veces por semana · Voy mucho al cine</a:t>
            </a:r>
          </a:p>
        </p:txBody>
      </p:sp>
      <p:sp>
        <p:nvSpPr>
          <p:cNvPr id="84" name="Rectangle 8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U11 · TIEMPO   ·   C4 · La Ruta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je nu kunt — semáforo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6949440" cy="3017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91640"/>
            <a:ext cx="6492240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praat je over het weer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 i="0">
                <a:solidFill>
                  <a:srgbClr val="20242E"/>
                </a:solidFill>
                <a:latin typeface="Inter"/>
              </a:rPr>
              <a:t>Hace frío · hace calor · hace viento · hace buen tiempo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6A6E78"/>
                </a:solidFill>
                <a:latin typeface="Inter"/>
              </a:rPr>
              <a:t>¿Qué tiempo hace? — hace verandert nooit (net als hay)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zeg je wat je graag hebt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Me gusta el cine · Me gusta hacer yoga · Me gustan los deportes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 mí también · A mí tampoco · A mí no · A mí sí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zeg je hoe vaak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siempre → casi siempre → a veces → casi nunca → nunca · tres veces por semana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4709160"/>
            <a:ext cx="6949440" cy="914400"/>
          </a:xfrm>
          <a:prstGeom prst="roundRect">
            <a:avLst>
              <a:gd name="adj" fmla="val 5500"/>
            </a:avLst>
          </a:prstGeom>
          <a:solidFill>
            <a:srgbClr val="FDE8E8"/>
          </a:solidFill>
          <a:ln w="25400">
            <a:solidFill>
              <a:srgbClr val="DC2626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782312"/>
            <a:ext cx="649224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DC2626"/>
                </a:solidFill>
                <a:latin typeface="Bricolage Grotesque"/>
              </a:rPr>
              <a:t>¡Ojo! · las dos trampas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het weer: </a:t>
            </a:r>
            <a:r>
              <a:rPr sz="1250" b="1" i="0">
                <a:solidFill>
                  <a:srgbClr val="EA7317"/>
                </a:solidFill>
                <a:latin typeface="Inter"/>
              </a:rPr>
              <a:t>hace frío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(nooit «es frío») ↔ de persoon: </a:t>
            </a:r>
            <a:r>
              <a:rPr sz="1250" b="1" i="0">
                <a:solidFill>
                  <a:srgbClr val="2563EB"/>
                </a:solidFill>
                <a:latin typeface="Inter"/>
              </a:rPr>
              <a:t>tengo frío</a:t>
            </a:r>
            <a:r>
              <a:rPr sz="1200" b="0" i="0">
                <a:solidFill>
                  <a:srgbClr val="20242E"/>
                </a:solidFill>
                <a:latin typeface="Inter"/>
              </a:rPr>
              <a:t>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En bij gustar kiest </a:t>
            </a:r>
            <a:r>
              <a:rPr sz="1250" b="1" i="0">
                <a:solidFill>
                  <a:srgbClr val="DC2626"/>
                </a:solidFill>
                <a:latin typeface="Inter"/>
              </a:rPr>
              <a:t>het ding</a:t>
            </a:r>
            <a:r>
              <a:rPr sz="1200" b="0" i="0">
                <a:solidFill>
                  <a:srgbClr val="20242E"/>
                </a:solidFill>
                <a:latin typeface="Inter"/>
              </a:rPr>
              <a:t> de vorm: me gusta el cine ↔ me gustan los deportes — nooit «yo gusto».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1554480"/>
            <a:ext cx="4023360" cy="40690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09560" y="173736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Puedo… · Ik kan…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228600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over het weer praten (hace frío · hace calor)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278892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de estaciones benoemen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329184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zeggen wat ik graag heb (me gusta / me gustan)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379476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reageren (a mí también / tampoco)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429768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zeggen hoe vaak (siempre · a veces · nunca)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480060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100" b="0" i="0">
                <a:solidFill>
                  <a:srgbClr val="20242E"/>
                </a:solidFill>
                <a:latin typeface="Inter"/>
              </a:rPr>
              <a:t>vragen «¿te gusta…?» in een enquête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516636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🎮 Repasa jugando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online op de hub · el gustómetro · ¿gusta o gustan?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U11 · TIEMPO   ·   C4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