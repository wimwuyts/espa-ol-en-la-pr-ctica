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Openingsdia. Lees het citaat voor en vraag wat ze al herkennen.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zit in een bar en hoort dat iedereen ergens anders heen gaat: zij naar de Canarische Eilanden, hij naar het dorp van zijn ouders in Ávila, waar het ijskoud is. Alles wat ze zeggen heb je zelf nodig zodra iemand vraagt waar jij naartoe gaat — en wat voor weer het daar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Speel het fragment af (digitale pagina, tabblad Escucha). Eerst zonder tekst, daarna meelezen.
Vertaling:
Julio: Zij gaat op vakantie naar het strand, naar de Canarische Eilanden. Daar is het altijd mooi weer. Ze reist met wat vrienden; met een vriend, een Engelsman.
Camarero: Dat is vier vijftig.
Julio: Ik niet, ik ga naar het dorp van mijn ouders, Cabezas de Bonilla, in Ávila. Dat ligt dicht bij Madrid.
Camarero: Ávila is mooi.
Julio: Maar wat is het daar koud… Zo koud is het nooit in Madrid.
Camarero: Het goede is dat je tenminste bij je familie kan zijn.
Camarero: Je brengt de kerstdagen door met de jouwen. Met je ouders, je ooms en tantes, je broers en zussen.
Camarero: Je schoonbroers en schoonzussen.
Julio: Precies. Soms word je moe van restaurants en stranden en hotels. Vrienden, geliefden, drankjes, wijn, feest. De familie daarentegen…
Camarero: Wat?
Julio: Nee, ik zeg dat familie voor altijd is.
Julio: Juist. En jij, blijf jij in Madrid?
Camarero: Ik ga elk jaar naar de Caraïben.
Julio: En de familie?
Camarero: Het is gewoon dat ik graag ga duiken.
Julio: Juist. Zij duikt ook graag.
Camarero: Waarom probeer je het niet?
Julio: Tja, in Ávila is dat moeilijk, weet je. Ik ga veel naar de film.
Clienta: Ik hou van film en ik hou van opera.
Julio: Ik ga bijna nooit naar de opera.
Clienta: En sport. Ik ga drie keer per week naar de sportschool. Ik doe yoga.
Julio: Wat goed!
Clienta: Hou jij van yoga? Kijk, kijk wat ik met mijn been kan. Ik ben heel lenig.
Julio: Dat zie ik, 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Speel het fragment af (digitale pagina, tabblad Escucha). Eerst zonder tekst, daarna meelezen.
Vertaling:
Clienta: Oe, wat waait het hard!
Julio: Ja.
Clienta: In de winter is het koud.
Julio: En winderig.
Clienta: Ja. In de zomer daarentegen is het warm.
Julio: Ik hou meer van de kou.
Clienta: Echt?
Julio: Ja.
Clienta: Bij mij thuis is het warm en ik heb een fles wijn.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klappen op de klemtoon. Iedereen zegt elk woord drie keer hardop.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de klas eerst wat de rechterkolom zou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eerst luisteren, dan pas kiezen. Klik door naar de volgende dia voor de oplossing.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Elke zin is een taalhandeling: wat dóé je ermee? Laat ze er zelf een bedenken.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Noodroute: lukt de opname niet, laat de scène dan gewoon live spelen.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Sluit af met een ronde: iedereen zegt één chunk hardop.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8323B"/>
        </a:solidFill>
      </p:bgPr>
    </p:bg>
    <p:spTree>
      <p:nvGrpSpPr>
        <p:cNvPr id="1" name=""/>
        <p:cNvGrpSpPr/>
        <p:nvPr/>
      </p:nvGrpSpPr>
      <p:grpSpPr>
        <a:xfrm>
          <a:off x="0" y="0"/>
          <a:ext cx="0" cy="0"/>
          <a:chOff x="0" y="0"/>
          <a:chExt cx="0" cy="0"/>
        </a:xfrm>
      </p:grpSpPr>
      <p:sp>
        <p:nvSpPr>
          <p:cNvPr id="2" name="Text 0"/>
          <p:cNvSpPr/>
          <p:nvPr/>
        </p:nvSpPr>
        <p:spPr>
          <a:xfrm>
            <a:off x="731520" y="1371600"/>
            <a:ext cx="10725912" cy="365760"/>
          </a:xfrm>
          <a:prstGeom prst="rect">
            <a:avLst/>
          </a:prstGeom>
          <a:noFill/>
          <a:ln/>
        </p:spPr>
        <p:txBody>
          <a:bodyPr wrap="square" lIns="0" tIns="0" rIns="0" bIns="0" rtlCol="0" anchor="ctr"/>
          <a:lstStyle/>
          <a:p>
            <a:pPr indent="0" marL="0">
              <a:buNone/>
            </a:pPr>
            <a:r>
              <a:rPr lang="en-US" sz="1300" spc="200" kern="0" dirty="0">
                <a:solidFill>
                  <a:srgbClr val="FFFFFF"/>
                </a:solidFill>
                <a:latin typeface="Inter" pitchFamily="34" charset="0"/>
                <a:ea typeface="Inter" pitchFamily="34" charset="-122"/>
                <a:cs typeface="Inter" pitchFamily="34" charset="-120"/>
              </a:rPr>
              <a:t>C4 · LA RUTA · EL DESPEGUE · PARADA 11</a:t>
            </a:r>
            <a:endParaRPr lang="en-US" sz="1300" dirty="0"/>
          </a:p>
        </p:txBody>
      </p:sp>
      <p:sp>
        <p:nvSpPr>
          <p:cNvPr id="3" name="Text 1"/>
          <p:cNvSpPr/>
          <p:nvPr/>
        </p:nvSpPr>
        <p:spPr>
          <a:xfrm>
            <a:off x="731520" y="1783080"/>
            <a:ext cx="10725912" cy="1097280"/>
          </a:xfrm>
          <a:prstGeom prst="rect">
            <a:avLst/>
          </a:prstGeom>
          <a:noFill/>
          <a:ln/>
        </p:spPr>
        <p:txBody>
          <a:bodyPr wrap="square" lIns="0" tIns="0" rIns="0" bIns="0" rtlCol="0" anchor="ctr"/>
          <a:lstStyle/>
          <a:p>
            <a:pPr indent="0" marL="0">
              <a:buNone/>
            </a:pPr>
            <a:r>
              <a:rPr lang="en-US" sz="5400" b="1" dirty="0">
                <a:solidFill>
                  <a:srgbClr val="FFFFFF"/>
                </a:solidFill>
                <a:latin typeface="Bricolage Grotesque" pitchFamily="34" charset="0"/>
                <a:ea typeface="Bricolage Grotesque" pitchFamily="34" charset="-122"/>
                <a:cs typeface="Bricolage Grotesque" pitchFamily="34" charset="-120"/>
              </a:rPr>
              <a:t>Aquí hace demasiado calor</a:t>
            </a:r>
            <a:endParaRPr lang="en-US" sz="5400" dirty="0"/>
          </a:p>
        </p:txBody>
      </p:sp>
      <p:sp>
        <p:nvSpPr>
          <p:cNvPr id="4" name="Text 2"/>
          <p:cNvSpPr/>
          <p:nvPr/>
        </p:nvSpPr>
        <p:spPr>
          <a:xfrm>
            <a:off x="731520" y="2880360"/>
            <a:ext cx="10725912" cy="640080"/>
          </a:xfrm>
          <a:prstGeom prst="rect">
            <a:avLst/>
          </a:prstGeom>
          <a:noFill/>
          <a:ln/>
        </p:spPr>
        <p:txBody>
          <a:bodyPr wrap="square" lIns="0" tIns="0" rIns="0" bIns="0" rtlCol="0" anchor="ctr"/>
          <a:lstStyle/>
          <a:p>
            <a:pPr indent="0" marL="0">
              <a:buNone/>
            </a:pPr>
            <a:r>
              <a:rPr lang="en-US" sz="1700" dirty="0">
                <a:solidFill>
                  <a:srgbClr val="F6DDE0"/>
                </a:solidFill>
                <a:latin typeface="Inter" pitchFamily="34" charset="0"/>
                <a:ea typeface="Inter" pitchFamily="34" charset="-122"/>
                <a:cs typeface="Inter" pitchFamily="34" charset="-120"/>
              </a:rPr>
              <a:t>Praten over het weer, over vakantie, en over wat je graag doet.</a:t>
            </a:r>
            <a:endParaRPr lang="en-US" sz="1700" dirty="0"/>
          </a:p>
        </p:txBody>
      </p:sp>
      <p:sp>
        <p:nvSpPr>
          <p:cNvPr id="5" name="Shape 3"/>
          <p:cNvSpPr/>
          <p:nvPr/>
        </p:nvSpPr>
        <p:spPr>
          <a:xfrm>
            <a:off x="731520" y="3749040"/>
            <a:ext cx="10725912" cy="914400"/>
          </a:xfrm>
          <a:prstGeom prst="roundRect">
            <a:avLst>
              <a:gd name="adj" fmla="val 12000"/>
            </a:avLst>
          </a:prstGeom>
          <a:solidFill>
            <a:srgbClr val="FFFFFF">
              <a:alpha val="14000"/>
            </a:srgbClr>
          </a:solidFill>
          <a:ln/>
        </p:spPr>
      </p:sp>
      <p:sp>
        <p:nvSpPr>
          <p:cNvPr id="6" name="Text 4"/>
          <p:cNvSpPr/>
          <p:nvPr/>
        </p:nvSpPr>
        <p:spPr>
          <a:xfrm>
            <a:off x="1005840" y="3749040"/>
            <a:ext cx="10177272" cy="914400"/>
          </a:xfrm>
          <a:prstGeom prst="rect">
            <a:avLst/>
          </a:prstGeom>
          <a:noFill/>
          <a:ln/>
        </p:spPr>
        <p:txBody>
          <a:bodyPr wrap="square" lIns="0" tIns="0" rIns="0" bIns="0" rtlCol="0" anchor="ctr"/>
          <a:lstStyle/>
          <a:p>
            <a:pPr indent="0" marL="0">
              <a:buNone/>
            </a:pPr>
            <a:r>
              <a:rPr lang="en-US" sz="1900" dirty="0">
                <a:solidFill>
                  <a:srgbClr val="FFFFFF"/>
                </a:solidFill>
                <a:latin typeface="Bricolage Grotesque" pitchFamily="34" charset="0"/>
                <a:ea typeface="Bricolage Grotesque" pitchFamily="34" charset="-122"/>
                <a:cs typeface="Bricolage Grotesque" pitchFamily="34" charset="-120"/>
              </a:rPr>
              <a:t>« Siempre hace buen tiempo en Canarias. — Pero hace un frío… »</a:t>
            </a:r>
            <a:endParaRPr lang="en-US" sz="1900" dirty="0"/>
          </a:p>
        </p:txBody>
      </p:sp>
      <p:sp>
        <p:nvSpPr>
          <p:cNvPr id="7" name="Text 5"/>
          <p:cNvSpPr/>
          <p:nvPr/>
        </p:nvSpPr>
        <p:spPr>
          <a:xfrm>
            <a:off x="731520" y="5029200"/>
            <a:ext cx="10725912" cy="365760"/>
          </a:xfrm>
          <a:prstGeom prst="rect">
            <a:avLst/>
          </a:prstGeom>
          <a:noFill/>
          <a:ln/>
        </p:spPr>
        <p:txBody>
          <a:bodyPr wrap="square" lIns="0" tIns="0" rIns="0" bIns="0" rtlCol="0" anchor="ctr"/>
          <a:lstStyle/>
          <a:p>
            <a:pPr indent="0" marL="0">
              <a:buNone/>
            </a:pPr>
            <a:r>
              <a:rPr lang="en-US" sz="1400" dirty="0">
                <a:solidFill>
                  <a:srgbClr val="F6DDE0"/>
                </a:solidFill>
                <a:latin typeface="Inter" pitchFamily="34" charset="0"/>
                <a:ea typeface="Inter" pitchFamily="34" charset="-122"/>
                <a:cs typeface="Inter" pitchFamily="34" charset="-120"/>
              </a:rPr>
              <a:t>El tiempo · las vacaciones · lo que me gusta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En esta unidad vas 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Unidad 11</a:t>
            </a:r>
            <a:endParaRPr lang="en-US" sz="1200" dirty="0"/>
          </a:p>
        </p:txBody>
      </p:sp>
      <p:sp>
        <p:nvSpPr>
          <p:cNvPr id="5" name="Shape 3"/>
          <p:cNvSpPr/>
          <p:nvPr/>
        </p:nvSpPr>
        <p:spPr>
          <a:xfrm>
            <a:off x="640080" y="1234440"/>
            <a:ext cx="10908792" cy="960120"/>
          </a:xfrm>
          <a:prstGeom prst="roundRect">
            <a:avLst>
              <a:gd name="adj" fmla="val 8571"/>
            </a:avLst>
          </a:prstGeom>
          <a:solidFill>
            <a:srgbClr val="FFFFFF"/>
          </a:solidFill>
          <a:ln w="12700">
            <a:solidFill>
              <a:srgbClr val="E7E1DF"/>
            </a:solidFill>
            <a:prstDash val="solid"/>
          </a:ln>
        </p:spPr>
      </p:sp>
      <p:sp>
        <p:nvSpPr>
          <p:cNvPr id="6" name="Shape 4"/>
          <p:cNvSpPr/>
          <p:nvPr/>
        </p:nvSpPr>
        <p:spPr>
          <a:xfrm>
            <a:off x="868680" y="1490472"/>
            <a:ext cx="457200" cy="457200"/>
          </a:xfrm>
          <a:prstGeom prst="ellipse">
            <a:avLst/>
          </a:prstGeom>
          <a:solidFill>
            <a:srgbClr val="FBEAEC"/>
          </a:solidFill>
          <a:ln/>
        </p:spPr>
      </p:sp>
      <p:sp>
        <p:nvSpPr>
          <p:cNvPr id="7" name="Text 5"/>
          <p:cNvSpPr/>
          <p:nvPr/>
        </p:nvSpPr>
        <p:spPr>
          <a:xfrm>
            <a:off x="868680" y="1490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1</a:t>
            </a:r>
            <a:endParaRPr lang="en-US" sz="1600" dirty="0"/>
          </a:p>
        </p:txBody>
      </p:sp>
      <p:sp>
        <p:nvSpPr>
          <p:cNvPr id="8" name="Text 6"/>
          <p:cNvSpPr/>
          <p:nvPr/>
        </p:nvSpPr>
        <p:spPr>
          <a:xfrm>
            <a:off x="1508760" y="1362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Decir qué tiempo hace</a:t>
            </a:r>
            <a:endParaRPr lang="en-US" sz="1700" dirty="0"/>
          </a:p>
        </p:txBody>
      </p:sp>
      <p:sp>
        <p:nvSpPr>
          <p:cNvPr id="9" name="Text 7"/>
          <p:cNvSpPr/>
          <p:nvPr/>
        </p:nvSpPr>
        <p:spPr>
          <a:xfrm>
            <a:off x="1508760" y="1746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hace sol · hace frío · llueve · hay niebla</a:t>
            </a:r>
            <a:endParaRPr lang="en-US" sz="1350" dirty="0"/>
          </a:p>
        </p:txBody>
      </p:sp>
      <p:sp>
        <p:nvSpPr>
          <p:cNvPr id="10" name="Shape 8"/>
          <p:cNvSpPr/>
          <p:nvPr/>
        </p:nvSpPr>
        <p:spPr>
          <a:xfrm>
            <a:off x="640080" y="2377440"/>
            <a:ext cx="10908792" cy="960120"/>
          </a:xfrm>
          <a:prstGeom prst="roundRect">
            <a:avLst>
              <a:gd name="adj" fmla="val 8571"/>
            </a:avLst>
          </a:prstGeom>
          <a:solidFill>
            <a:srgbClr val="FFFFFF"/>
          </a:solidFill>
          <a:ln w="12700">
            <a:solidFill>
              <a:srgbClr val="E7E1DF"/>
            </a:solidFill>
            <a:prstDash val="solid"/>
          </a:ln>
        </p:spPr>
      </p:sp>
      <p:sp>
        <p:nvSpPr>
          <p:cNvPr id="11" name="Shape 9"/>
          <p:cNvSpPr/>
          <p:nvPr/>
        </p:nvSpPr>
        <p:spPr>
          <a:xfrm>
            <a:off x="868680" y="2633472"/>
            <a:ext cx="457200" cy="457200"/>
          </a:xfrm>
          <a:prstGeom prst="ellipse">
            <a:avLst/>
          </a:prstGeom>
          <a:solidFill>
            <a:srgbClr val="FBEAEC"/>
          </a:solidFill>
          <a:ln/>
        </p:spPr>
      </p:sp>
      <p:sp>
        <p:nvSpPr>
          <p:cNvPr id="12" name="Text 10"/>
          <p:cNvSpPr/>
          <p:nvPr/>
        </p:nvSpPr>
        <p:spPr>
          <a:xfrm>
            <a:off x="868680" y="2633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2</a:t>
            </a:r>
            <a:endParaRPr lang="en-US" sz="1600" dirty="0"/>
          </a:p>
        </p:txBody>
      </p:sp>
      <p:sp>
        <p:nvSpPr>
          <p:cNvPr id="13" name="Text 11"/>
          <p:cNvSpPr/>
          <p:nvPr/>
        </p:nvSpPr>
        <p:spPr>
          <a:xfrm>
            <a:off x="1508760" y="2505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Hablar de vacaciones</a:t>
            </a:r>
            <a:endParaRPr lang="en-US" sz="1700" dirty="0"/>
          </a:p>
        </p:txBody>
      </p:sp>
      <p:sp>
        <p:nvSpPr>
          <p:cNvPr id="14" name="Text 12"/>
          <p:cNvSpPr/>
          <p:nvPr/>
        </p:nvSpPr>
        <p:spPr>
          <a:xfrm>
            <a:off x="1508760" y="2889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voy a la playa en avión · al pueblo en coche</a:t>
            </a:r>
            <a:endParaRPr lang="en-US" sz="1350" dirty="0"/>
          </a:p>
        </p:txBody>
      </p:sp>
      <p:sp>
        <p:nvSpPr>
          <p:cNvPr id="15" name="Shape 13"/>
          <p:cNvSpPr/>
          <p:nvPr/>
        </p:nvSpPr>
        <p:spPr>
          <a:xfrm>
            <a:off x="640080" y="3520440"/>
            <a:ext cx="10908792" cy="960120"/>
          </a:xfrm>
          <a:prstGeom prst="roundRect">
            <a:avLst>
              <a:gd name="adj" fmla="val 8571"/>
            </a:avLst>
          </a:prstGeom>
          <a:solidFill>
            <a:srgbClr val="FFFFFF"/>
          </a:solidFill>
          <a:ln w="12700">
            <a:solidFill>
              <a:srgbClr val="E7E1DF"/>
            </a:solidFill>
            <a:prstDash val="solid"/>
          </a:ln>
        </p:spPr>
      </p:sp>
      <p:sp>
        <p:nvSpPr>
          <p:cNvPr id="16" name="Shape 14"/>
          <p:cNvSpPr/>
          <p:nvPr/>
        </p:nvSpPr>
        <p:spPr>
          <a:xfrm>
            <a:off x="868680" y="3776472"/>
            <a:ext cx="457200" cy="457200"/>
          </a:xfrm>
          <a:prstGeom prst="ellipse">
            <a:avLst/>
          </a:prstGeom>
          <a:solidFill>
            <a:srgbClr val="FBEAEC"/>
          </a:solidFill>
          <a:ln/>
        </p:spPr>
      </p:sp>
      <p:sp>
        <p:nvSpPr>
          <p:cNvPr id="17" name="Text 15"/>
          <p:cNvSpPr/>
          <p:nvPr/>
        </p:nvSpPr>
        <p:spPr>
          <a:xfrm>
            <a:off x="868680" y="3776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3</a:t>
            </a:r>
            <a:endParaRPr lang="en-US" sz="1600" dirty="0"/>
          </a:p>
        </p:txBody>
      </p:sp>
      <p:sp>
        <p:nvSpPr>
          <p:cNvPr id="18" name="Text 16"/>
          <p:cNvSpPr/>
          <p:nvPr/>
        </p:nvSpPr>
        <p:spPr>
          <a:xfrm>
            <a:off x="1508760" y="3648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Decir lo que te gusta</a:t>
            </a:r>
            <a:endParaRPr lang="en-US" sz="1700" dirty="0"/>
          </a:p>
        </p:txBody>
      </p:sp>
      <p:sp>
        <p:nvSpPr>
          <p:cNvPr id="19" name="Text 17"/>
          <p:cNvSpPr/>
          <p:nvPr/>
        </p:nvSpPr>
        <p:spPr>
          <a:xfrm>
            <a:off x="1508760" y="4032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me gusta · me encanta · no soporto · prefiero</a:t>
            </a:r>
            <a:endParaRPr lang="en-US" sz="1350" dirty="0"/>
          </a:p>
        </p:txBody>
      </p:sp>
      <p:sp>
        <p:nvSpPr>
          <p:cNvPr id="20" name="Shape 18"/>
          <p:cNvSpPr/>
          <p:nvPr/>
        </p:nvSpPr>
        <p:spPr>
          <a:xfrm>
            <a:off x="640080" y="4663440"/>
            <a:ext cx="10908792" cy="960120"/>
          </a:xfrm>
          <a:prstGeom prst="roundRect">
            <a:avLst>
              <a:gd name="adj" fmla="val 8571"/>
            </a:avLst>
          </a:prstGeom>
          <a:solidFill>
            <a:srgbClr val="FFFFFF"/>
          </a:solidFill>
          <a:ln w="12700">
            <a:solidFill>
              <a:srgbClr val="E7E1DF"/>
            </a:solidFill>
            <a:prstDash val="solid"/>
          </a:ln>
        </p:spPr>
      </p:sp>
      <p:sp>
        <p:nvSpPr>
          <p:cNvPr id="21" name="Shape 19"/>
          <p:cNvSpPr/>
          <p:nvPr/>
        </p:nvSpPr>
        <p:spPr>
          <a:xfrm>
            <a:off x="868680" y="4919472"/>
            <a:ext cx="457200" cy="457200"/>
          </a:xfrm>
          <a:prstGeom prst="ellipse">
            <a:avLst/>
          </a:prstGeom>
          <a:solidFill>
            <a:srgbClr val="FBEAEC"/>
          </a:solidFill>
          <a:ln/>
        </p:spPr>
      </p:sp>
      <p:sp>
        <p:nvSpPr>
          <p:cNvPr id="22" name="Text 20"/>
          <p:cNvSpPr/>
          <p:nvPr/>
        </p:nvSpPr>
        <p:spPr>
          <a:xfrm>
            <a:off x="868680" y="4919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4</a:t>
            </a:r>
            <a:endParaRPr lang="en-US" sz="1600" dirty="0"/>
          </a:p>
        </p:txBody>
      </p:sp>
      <p:sp>
        <p:nvSpPr>
          <p:cNvPr id="23" name="Text 21"/>
          <p:cNvSpPr/>
          <p:nvPr/>
        </p:nvSpPr>
        <p:spPr>
          <a:xfrm>
            <a:off x="1508760" y="4791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Decir con qué frecuencia</a:t>
            </a:r>
            <a:endParaRPr lang="en-US" sz="1700" dirty="0"/>
          </a:p>
        </p:txBody>
      </p:sp>
      <p:sp>
        <p:nvSpPr>
          <p:cNvPr id="24" name="Text 22"/>
          <p:cNvSpPr/>
          <p:nvPr/>
        </p:nvSpPr>
        <p:spPr>
          <a:xfrm>
            <a:off x="1508760" y="5175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siempre · a menudo · a veces · casi nunca</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Escena 1 · En el bar</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Aquí hace demasiado calor</a:t>
            </a:r>
            <a:endParaRPr lang="en-US" sz="1200" dirty="0"/>
          </a:p>
        </p:txBody>
      </p:sp>
      <p:sp>
        <p:nvSpPr>
          <p:cNvPr id="5" name="Text 3"/>
          <p:cNvSpPr/>
          <p:nvPr/>
        </p:nvSpPr>
        <p:spPr>
          <a:xfrm>
            <a:off x="640080" y="960120"/>
            <a:ext cx="10908792" cy="36576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Julio gaat naar het dorp van zijn ouders, de ober naar de Caraïben. Een klant luistert mee.</a:t>
            </a:r>
            <a:endParaRPr lang="en-US" sz="1350" dirty="0"/>
          </a:p>
        </p:txBody>
      </p:sp>
      <p:sp>
        <p:nvSpPr>
          <p:cNvPr id="6" name="Text 4"/>
          <p:cNvSpPr/>
          <p:nvPr/>
        </p:nvSpPr>
        <p:spPr>
          <a:xfrm>
            <a:off x="685800" y="141732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7" name="Text 5"/>
          <p:cNvSpPr/>
          <p:nvPr/>
        </p:nvSpPr>
        <p:spPr>
          <a:xfrm>
            <a:off x="2377440" y="141732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Ella se va de vacaciones a la playa, a Canarias. Siempre hace buen tiempo en Canarias. Viaja con unos amigos; con un amigo, un inglés.</a:t>
            </a:r>
            <a:endParaRPr lang="en-US" sz="1500" dirty="0"/>
          </a:p>
        </p:txBody>
      </p:sp>
      <p:sp>
        <p:nvSpPr>
          <p:cNvPr id="8" name="Text 6"/>
          <p:cNvSpPr/>
          <p:nvPr/>
        </p:nvSpPr>
        <p:spPr>
          <a:xfrm>
            <a:off x="685800" y="162306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Camarero</a:t>
            </a:r>
            <a:endParaRPr lang="en-US" sz="1250" dirty="0"/>
          </a:p>
        </p:txBody>
      </p:sp>
      <p:sp>
        <p:nvSpPr>
          <p:cNvPr id="9" name="Text 7"/>
          <p:cNvSpPr/>
          <p:nvPr/>
        </p:nvSpPr>
        <p:spPr>
          <a:xfrm>
            <a:off x="2377440" y="162306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Son cuatro cincuenta.</a:t>
            </a:r>
            <a:endParaRPr lang="en-US" sz="1500" dirty="0"/>
          </a:p>
        </p:txBody>
      </p:sp>
      <p:sp>
        <p:nvSpPr>
          <p:cNvPr id="10" name="Text 8"/>
          <p:cNvSpPr/>
          <p:nvPr/>
        </p:nvSpPr>
        <p:spPr>
          <a:xfrm>
            <a:off x="685800" y="182880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1" name="Text 9"/>
          <p:cNvSpPr/>
          <p:nvPr/>
        </p:nvSpPr>
        <p:spPr>
          <a:xfrm>
            <a:off x="2377440" y="182880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Yo no, yo voy al pueblo de mis padres, Cabezas de Bonilla, en Ávila. Está cerca de Madrid.</a:t>
            </a:r>
            <a:endParaRPr lang="en-US" sz="1500" dirty="0"/>
          </a:p>
        </p:txBody>
      </p:sp>
      <p:sp>
        <p:nvSpPr>
          <p:cNvPr id="12" name="Text 10"/>
          <p:cNvSpPr/>
          <p:nvPr/>
        </p:nvSpPr>
        <p:spPr>
          <a:xfrm>
            <a:off x="685800" y="203454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Camarero</a:t>
            </a:r>
            <a:endParaRPr lang="en-US" sz="1250" dirty="0"/>
          </a:p>
        </p:txBody>
      </p:sp>
      <p:sp>
        <p:nvSpPr>
          <p:cNvPr id="13" name="Text 11"/>
          <p:cNvSpPr/>
          <p:nvPr/>
        </p:nvSpPr>
        <p:spPr>
          <a:xfrm>
            <a:off x="2377440" y="203454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 bonito Ávila.</a:t>
            </a:r>
            <a:endParaRPr lang="en-US" sz="1500" dirty="0"/>
          </a:p>
        </p:txBody>
      </p:sp>
      <p:sp>
        <p:nvSpPr>
          <p:cNvPr id="14" name="Text 12"/>
          <p:cNvSpPr/>
          <p:nvPr/>
        </p:nvSpPr>
        <p:spPr>
          <a:xfrm>
            <a:off x="685800" y="224028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5" name="Text 13"/>
          <p:cNvSpPr/>
          <p:nvPr/>
        </p:nvSpPr>
        <p:spPr>
          <a:xfrm>
            <a:off x="2377440" y="224028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Pero hace un frío… Nunca hace ese frío en Madrid.</a:t>
            </a:r>
            <a:endParaRPr lang="en-US" sz="1500" dirty="0"/>
          </a:p>
        </p:txBody>
      </p:sp>
      <p:sp>
        <p:nvSpPr>
          <p:cNvPr id="16" name="Text 14"/>
          <p:cNvSpPr/>
          <p:nvPr/>
        </p:nvSpPr>
        <p:spPr>
          <a:xfrm>
            <a:off x="685800" y="244602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Camarero</a:t>
            </a:r>
            <a:endParaRPr lang="en-US" sz="1250" dirty="0"/>
          </a:p>
        </p:txBody>
      </p:sp>
      <p:sp>
        <p:nvSpPr>
          <p:cNvPr id="17" name="Text 15"/>
          <p:cNvSpPr/>
          <p:nvPr/>
        </p:nvSpPr>
        <p:spPr>
          <a:xfrm>
            <a:off x="2377440" y="244602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Lo bueno es que, por lo menos, puedes estar con tu familia.</a:t>
            </a:r>
            <a:endParaRPr lang="en-US" sz="1500" dirty="0"/>
          </a:p>
        </p:txBody>
      </p:sp>
      <p:sp>
        <p:nvSpPr>
          <p:cNvPr id="18" name="Text 16"/>
          <p:cNvSpPr/>
          <p:nvPr/>
        </p:nvSpPr>
        <p:spPr>
          <a:xfrm>
            <a:off x="685800" y="265176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Camarero</a:t>
            </a:r>
            <a:endParaRPr lang="en-US" sz="1250" dirty="0"/>
          </a:p>
        </p:txBody>
      </p:sp>
      <p:sp>
        <p:nvSpPr>
          <p:cNvPr id="19" name="Text 17"/>
          <p:cNvSpPr/>
          <p:nvPr/>
        </p:nvSpPr>
        <p:spPr>
          <a:xfrm>
            <a:off x="2377440" y="265176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Pasas las fiestas de Navidad con los tuyos. Con tus padres, tus tíos, tus hermanos.</a:t>
            </a:r>
            <a:endParaRPr lang="en-US" sz="1500" dirty="0"/>
          </a:p>
        </p:txBody>
      </p:sp>
      <p:sp>
        <p:nvSpPr>
          <p:cNvPr id="20" name="Text 18"/>
          <p:cNvSpPr/>
          <p:nvPr/>
        </p:nvSpPr>
        <p:spPr>
          <a:xfrm>
            <a:off x="685800" y="285750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Camarero</a:t>
            </a:r>
            <a:endParaRPr lang="en-US" sz="1250" dirty="0"/>
          </a:p>
        </p:txBody>
      </p:sp>
      <p:sp>
        <p:nvSpPr>
          <p:cNvPr id="21" name="Text 19"/>
          <p:cNvSpPr/>
          <p:nvPr/>
        </p:nvSpPr>
        <p:spPr>
          <a:xfrm>
            <a:off x="2377440" y="285750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Tus cuñados.</a:t>
            </a:r>
            <a:endParaRPr lang="en-US" sz="1500" dirty="0"/>
          </a:p>
        </p:txBody>
      </p:sp>
      <p:sp>
        <p:nvSpPr>
          <p:cNvPr id="22" name="Text 20"/>
          <p:cNvSpPr/>
          <p:nvPr/>
        </p:nvSpPr>
        <p:spPr>
          <a:xfrm>
            <a:off x="685800" y="306324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3" name="Text 21"/>
          <p:cNvSpPr/>
          <p:nvPr/>
        </p:nvSpPr>
        <p:spPr>
          <a:xfrm>
            <a:off x="2377440" y="306324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Exacto. A veces te cansas de restaurantes y playas y hoteles. Amigos, amantes, copas, vino, fiesta. En cambio la familia…</a:t>
            </a:r>
            <a:endParaRPr lang="en-US" sz="1500" dirty="0"/>
          </a:p>
        </p:txBody>
      </p:sp>
      <p:sp>
        <p:nvSpPr>
          <p:cNvPr id="24" name="Text 22"/>
          <p:cNvSpPr/>
          <p:nvPr/>
        </p:nvSpPr>
        <p:spPr>
          <a:xfrm>
            <a:off x="685800" y="326898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Camarero</a:t>
            </a:r>
            <a:endParaRPr lang="en-US" sz="1250" dirty="0"/>
          </a:p>
        </p:txBody>
      </p:sp>
      <p:sp>
        <p:nvSpPr>
          <p:cNvPr id="25" name="Text 23"/>
          <p:cNvSpPr/>
          <p:nvPr/>
        </p:nvSpPr>
        <p:spPr>
          <a:xfrm>
            <a:off x="2377440" y="326898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¿Qué?</a:t>
            </a:r>
            <a:endParaRPr lang="en-US" sz="1500" dirty="0"/>
          </a:p>
        </p:txBody>
      </p:sp>
      <p:sp>
        <p:nvSpPr>
          <p:cNvPr id="26" name="Text 24"/>
          <p:cNvSpPr/>
          <p:nvPr/>
        </p:nvSpPr>
        <p:spPr>
          <a:xfrm>
            <a:off x="685800" y="347472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7" name="Text 25"/>
          <p:cNvSpPr/>
          <p:nvPr/>
        </p:nvSpPr>
        <p:spPr>
          <a:xfrm>
            <a:off x="2377440" y="347472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 digo que la familia es para siempre.</a:t>
            </a:r>
            <a:endParaRPr lang="en-US" sz="1500" dirty="0"/>
          </a:p>
        </p:txBody>
      </p:sp>
      <p:sp>
        <p:nvSpPr>
          <p:cNvPr id="28" name="Text 26"/>
          <p:cNvSpPr/>
          <p:nvPr/>
        </p:nvSpPr>
        <p:spPr>
          <a:xfrm>
            <a:off x="685800" y="368046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9" name="Text 27"/>
          <p:cNvSpPr/>
          <p:nvPr/>
        </p:nvSpPr>
        <p:spPr>
          <a:xfrm>
            <a:off x="2377440" y="368046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Ya. ¿Y tú te quedas en Madrid?</a:t>
            </a:r>
            <a:endParaRPr lang="en-US" sz="1500" dirty="0"/>
          </a:p>
        </p:txBody>
      </p:sp>
      <p:sp>
        <p:nvSpPr>
          <p:cNvPr id="30" name="Text 28"/>
          <p:cNvSpPr/>
          <p:nvPr/>
        </p:nvSpPr>
        <p:spPr>
          <a:xfrm>
            <a:off x="685800" y="388620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Camarero</a:t>
            </a:r>
            <a:endParaRPr lang="en-US" sz="1250" dirty="0"/>
          </a:p>
        </p:txBody>
      </p:sp>
      <p:sp>
        <p:nvSpPr>
          <p:cNvPr id="31" name="Text 29"/>
          <p:cNvSpPr/>
          <p:nvPr/>
        </p:nvSpPr>
        <p:spPr>
          <a:xfrm>
            <a:off x="2377440" y="388620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Yo voy todos los años al Caribe.</a:t>
            </a:r>
            <a:endParaRPr lang="en-US" sz="1500" dirty="0"/>
          </a:p>
        </p:txBody>
      </p:sp>
      <p:sp>
        <p:nvSpPr>
          <p:cNvPr id="32" name="Text 30"/>
          <p:cNvSpPr/>
          <p:nvPr/>
        </p:nvSpPr>
        <p:spPr>
          <a:xfrm>
            <a:off x="685800" y="409194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3" name="Text 31"/>
          <p:cNvSpPr/>
          <p:nvPr/>
        </p:nvSpPr>
        <p:spPr>
          <a:xfrm>
            <a:off x="2377440" y="409194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 la familia?</a:t>
            </a:r>
            <a:endParaRPr lang="en-US" sz="1500" dirty="0"/>
          </a:p>
        </p:txBody>
      </p:sp>
      <p:sp>
        <p:nvSpPr>
          <p:cNvPr id="34" name="Text 32"/>
          <p:cNvSpPr/>
          <p:nvPr/>
        </p:nvSpPr>
        <p:spPr>
          <a:xfrm>
            <a:off x="685800" y="429768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Camarero</a:t>
            </a:r>
            <a:endParaRPr lang="en-US" sz="1250" dirty="0"/>
          </a:p>
        </p:txBody>
      </p:sp>
      <p:sp>
        <p:nvSpPr>
          <p:cNvPr id="35" name="Text 33"/>
          <p:cNvSpPr/>
          <p:nvPr/>
        </p:nvSpPr>
        <p:spPr>
          <a:xfrm>
            <a:off x="2377440" y="429768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 que me gusta hacer submarinismo.</a:t>
            </a:r>
            <a:endParaRPr lang="en-US" sz="1500" dirty="0"/>
          </a:p>
        </p:txBody>
      </p:sp>
      <p:sp>
        <p:nvSpPr>
          <p:cNvPr id="36" name="Text 34"/>
          <p:cNvSpPr/>
          <p:nvPr/>
        </p:nvSpPr>
        <p:spPr>
          <a:xfrm>
            <a:off x="685800" y="450342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7" name="Text 35"/>
          <p:cNvSpPr/>
          <p:nvPr/>
        </p:nvSpPr>
        <p:spPr>
          <a:xfrm>
            <a:off x="2377440" y="450342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Ya. A ella también le gusta hacer submarinismo.</a:t>
            </a:r>
            <a:endParaRPr lang="en-US" sz="1500" dirty="0"/>
          </a:p>
        </p:txBody>
      </p:sp>
      <p:sp>
        <p:nvSpPr>
          <p:cNvPr id="38" name="Text 36"/>
          <p:cNvSpPr/>
          <p:nvPr/>
        </p:nvSpPr>
        <p:spPr>
          <a:xfrm>
            <a:off x="685800" y="470916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Camarero</a:t>
            </a:r>
            <a:endParaRPr lang="en-US" sz="1250" dirty="0"/>
          </a:p>
        </p:txBody>
      </p:sp>
      <p:sp>
        <p:nvSpPr>
          <p:cNvPr id="39" name="Text 37"/>
          <p:cNvSpPr/>
          <p:nvPr/>
        </p:nvSpPr>
        <p:spPr>
          <a:xfrm>
            <a:off x="2377440" y="470916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¿Por qué no lo intentas?</a:t>
            </a:r>
            <a:endParaRPr lang="en-US" sz="1500" dirty="0"/>
          </a:p>
        </p:txBody>
      </p:sp>
      <p:sp>
        <p:nvSpPr>
          <p:cNvPr id="40" name="Text 38"/>
          <p:cNvSpPr/>
          <p:nvPr/>
        </p:nvSpPr>
        <p:spPr>
          <a:xfrm>
            <a:off x="685800" y="491490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41" name="Text 39"/>
          <p:cNvSpPr/>
          <p:nvPr/>
        </p:nvSpPr>
        <p:spPr>
          <a:xfrm>
            <a:off x="2377440" y="491490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Bueno, es que en Ávila es difícil, ¿sabes? Yo voy mucho al cine.</a:t>
            </a:r>
            <a:endParaRPr lang="en-US" sz="1500" dirty="0"/>
          </a:p>
        </p:txBody>
      </p:sp>
      <p:sp>
        <p:nvSpPr>
          <p:cNvPr id="42" name="Text 40"/>
          <p:cNvSpPr/>
          <p:nvPr/>
        </p:nvSpPr>
        <p:spPr>
          <a:xfrm>
            <a:off x="685800" y="512064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Clienta</a:t>
            </a:r>
            <a:endParaRPr lang="en-US" sz="1250" dirty="0"/>
          </a:p>
        </p:txBody>
      </p:sp>
      <p:sp>
        <p:nvSpPr>
          <p:cNvPr id="43" name="Text 41"/>
          <p:cNvSpPr/>
          <p:nvPr/>
        </p:nvSpPr>
        <p:spPr>
          <a:xfrm>
            <a:off x="2377440" y="512064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Me gusta el cine y me gusta la ópera.</a:t>
            </a:r>
            <a:endParaRPr lang="en-US" sz="1500" dirty="0"/>
          </a:p>
        </p:txBody>
      </p:sp>
      <p:sp>
        <p:nvSpPr>
          <p:cNvPr id="44" name="Text 42"/>
          <p:cNvSpPr/>
          <p:nvPr/>
        </p:nvSpPr>
        <p:spPr>
          <a:xfrm>
            <a:off x="685800" y="532638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45" name="Text 43"/>
          <p:cNvSpPr/>
          <p:nvPr/>
        </p:nvSpPr>
        <p:spPr>
          <a:xfrm>
            <a:off x="2377440" y="532638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Casi nunca voy a la ópera.</a:t>
            </a:r>
            <a:endParaRPr lang="en-US" sz="1500" dirty="0"/>
          </a:p>
        </p:txBody>
      </p:sp>
      <p:sp>
        <p:nvSpPr>
          <p:cNvPr id="46" name="Text 44"/>
          <p:cNvSpPr/>
          <p:nvPr/>
        </p:nvSpPr>
        <p:spPr>
          <a:xfrm>
            <a:off x="685800" y="553212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Clienta</a:t>
            </a:r>
            <a:endParaRPr lang="en-US" sz="1250" dirty="0"/>
          </a:p>
        </p:txBody>
      </p:sp>
      <p:sp>
        <p:nvSpPr>
          <p:cNvPr id="47" name="Text 45"/>
          <p:cNvSpPr/>
          <p:nvPr/>
        </p:nvSpPr>
        <p:spPr>
          <a:xfrm>
            <a:off x="2377440" y="553212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 los deportes. Voy al gimnasio tres veces por semana. Hago yoga.</a:t>
            </a:r>
            <a:endParaRPr lang="en-US" sz="1500" dirty="0"/>
          </a:p>
        </p:txBody>
      </p:sp>
      <p:sp>
        <p:nvSpPr>
          <p:cNvPr id="48" name="Text 46"/>
          <p:cNvSpPr/>
          <p:nvPr/>
        </p:nvSpPr>
        <p:spPr>
          <a:xfrm>
            <a:off x="685800" y="573786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49" name="Text 47"/>
          <p:cNvSpPr/>
          <p:nvPr/>
        </p:nvSpPr>
        <p:spPr>
          <a:xfrm>
            <a:off x="2377440" y="573786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¡Qué bien!</a:t>
            </a:r>
            <a:endParaRPr lang="en-US" sz="1500" dirty="0"/>
          </a:p>
        </p:txBody>
      </p:sp>
      <p:sp>
        <p:nvSpPr>
          <p:cNvPr id="50" name="Text 48"/>
          <p:cNvSpPr/>
          <p:nvPr/>
        </p:nvSpPr>
        <p:spPr>
          <a:xfrm>
            <a:off x="685800" y="594360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Clienta</a:t>
            </a:r>
            <a:endParaRPr lang="en-US" sz="1250" dirty="0"/>
          </a:p>
        </p:txBody>
      </p:sp>
      <p:sp>
        <p:nvSpPr>
          <p:cNvPr id="51" name="Text 49"/>
          <p:cNvSpPr/>
          <p:nvPr/>
        </p:nvSpPr>
        <p:spPr>
          <a:xfrm>
            <a:off x="2377440" y="594360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gusta el yoga? Mira, mira lo que hago con la pierna. Soy muy flexible.</a:t>
            </a:r>
            <a:endParaRPr lang="en-US" sz="1500" dirty="0"/>
          </a:p>
        </p:txBody>
      </p:sp>
      <p:sp>
        <p:nvSpPr>
          <p:cNvPr id="52" name="Text 50"/>
          <p:cNvSpPr/>
          <p:nvPr/>
        </p:nvSpPr>
        <p:spPr>
          <a:xfrm>
            <a:off x="685800" y="6149340"/>
            <a:ext cx="1645920" cy="1600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53" name="Text 51"/>
          <p:cNvSpPr/>
          <p:nvPr/>
        </p:nvSpPr>
        <p:spPr>
          <a:xfrm>
            <a:off x="2377440" y="6149340"/>
            <a:ext cx="9079992" cy="1600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Ya veo, ya.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Escena 2 · En la calle</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Aquí hace demasiado calor</a:t>
            </a:r>
            <a:endParaRPr lang="en-US" sz="1200" dirty="0"/>
          </a:p>
        </p:txBody>
      </p:sp>
      <p:sp>
        <p:nvSpPr>
          <p:cNvPr id="5" name="Text 3"/>
          <p:cNvSpPr/>
          <p:nvPr/>
        </p:nvSpPr>
        <p:spPr>
          <a:xfrm>
            <a:off x="640080" y="960120"/>
            <a:ext cx="10908792" cy="36576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Julio en de klant komen buiten. Het weer beslist mee.</a:t>
            </a:r>
            <a:endParaRPr lang="en-US" sz="1350" dirty="0"/>
          </a:p>
        </p:txBody>
      </p:sp>
      <p:sp>
        <p:nvSpPr>
          <p:cNvPr id="6" name="Text 4"/>
          <p:cNvSpPr/>
          <p:nvPr/>
        </p:nvSpPr>
        <p:spPr>
          <a:xfrm>
            <a:off x="685800" y="1417320"/>
            <a:ext cx="1645920" cy="5029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Clienta</a:t>
            </a:r>
            <a:endParaRPr lang="en-US" sz="1250" dirty="0"/>
          </a:p>
        </p:txBody>
      </p:sp>
      <p:sp>
        <p:nvSpPr>
          <p:cNvPr id="7" name="Text 5"/>
          <p:cNvSpPr/>
          <p:nvPr/>
        </p:nvSpPr>
        <p:spPr>
          <a:xfrm>
            <a:off x="2377440" y="1417320"/>
            <a:ext cx="9079992" cy="5029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¡Uh, hace mucho viento!</a:t>
            </a:r>
            <a:endParaRPr lang="en-US" sz="1500" dirty="0"/>
          </a:p>
        </p:txBody>
      </p:sp>
      <p:sp>
        <p:nvSpPr>
          <p:cNvPr id="8" name="Text 6"/>
          <p:cNvSpPr/>
          <p:nvPr/>
        </p:nvSpPr>
        <p:spPr>
          <a:xfrm>
            <a:off x="685800" y="1965960"/>
            <a:ext cx="1645920" cy="5029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9" name="Text 7"/>
          <p:cNvSpPr/>
          <p:nvPr/>
        </p:nvSpPr>
        <p:spPr>
          <a:xfrm>
            <a:off x="2377440" y="1965960"/>
            <a:ext cx="9079992" cy="5029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Sí.</a:t>
            </a:r>
            <a:endParaRPr lang="en-US" sz="1500" dirty="0"/>
          </a:p>
        </p:txBody>
      </p:sp>
      <p:sp>
        <p:nvSpPr>
          <p:cNvPr id="10" name="Text 8"/>
          <p:cNvSpPr/>
          <p:nvPr/>
        </p:nvSpPr>
        <p:spPr>
          <a:xfrm>
            <a:off x="685800" y="2514600"/>
            <a:ext cx="1645920" cy="5029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Clienta</a:t>
            </a:r>
            <a:endParaRPr lang="en-US" sz="1250" dirty="0"/>
          </a:p>
        </p:txBody>
      </p:sp>
      <p:sp>
        <p:nvSpPr>
          <p:cNvPr id="11" name="Text 9"/>
          <p:cNvSpPr/>
          <p:nvPr/>
        </p:nvSpPr>
        <p:spPr>
          <a:xfrm>
            <a:off x="2377440" y="2514600"/>
            <a:ext cx="9079992" cy="5029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En invierno hace frío.</a:t>
            </a:r>
            <a:endParaRPr lang="en-US" sz="1500" dirty="0"/>
          </a:p>
        </p:txBody>
      </p:sp>
      <p:sp>
        <p:nvSpPr>
          <p:cNvPr id="12" name="Text 10"/>
          <p:cNvSpPr/>
          <p:nvPr/>
        </p:nvSpPr>
        <p:spPr>
          <a:xfrm>
            <a:off x="685800" y="3063240"/>
            <a:ext cx="1645920" cy="5029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3" name="Text 11"/>
          <p:cNvSpPr/>
          <p:nvPr/>
        </p:nvSpPr>
        <p:spPr>
          <a:xfrm>
            <a:off x="2377440" y="3063240"/>
            <a:ext cx="9079992" cy="5029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 viento.</a:t>
            </a:r>
            <a:endParaRPr lang="en-US" sz="1500" dirty="0"/>
          </a:p>
        </p:txBody>
      </p:sp>
      <p:sp>
        <p:nvSpPr>
          <p:cNvPr id="14" name="Text 12"/>
          <p:cNvSpPr/>
          <p:nvPr/>
        </p:nvSpPr>
        <p:spPr>
          <a:xfrm>
            <a:off x="685800" y="3611880"/>
            <a:ext cx="1645920" cy="5029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Clienta</a:t>
            </a:r>
            <a:endParaRPr lang="en-US" sz="1250" dirty="0"/>
          </a:p>
        </p:txBody>
      </p:sp>
      <p:sp>
        <p:nvSpPr>
          <p:cNvPr id="15" name="Text 13"/>
          <p:cNvSpPr/>
          <p:nvPr/>
        </p:nvSpPr>
        <p:spPr>
          <a:xfrm>
            <a:off x="2377440" y="3611880"/>
            <a:ext cx="9079992" cy="5029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Sí. En verano, en cambio, hace calor.</a:t>
            </a:r>
            <a:endParaRPr lang="en-US" sz="1500" dirty="0"/>
          </a:p>
        </p:txBody>
      </p:sp>
      <p:sp>
        <p:nvSpPr>
          <p:cNvPr id="16" name="Text 14"/>
          <p:cNvSpPr/>
          <p:nvPr/>
        </p:nvSpPr>
        <p:spPr>
          <a:xfrm>
            <a:off x="685800" y="4160520"/>
            <a:ext cx="1645920" cy="5029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7" name="Text 15"/>
          <p:cNvSpPr/>
          <p:nvPr/>
        </p:nvSpPr>
        <p:spPr>
          <a:xfrm>
            <a:off x="2377440" y="4160520"/>
            <a:ext cx="9079992" cy="5029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A mí me gusta más el frío.</a:t>
            </a:r>
            <a:endParaRPr lang="en-US" sz="1500" dirty="0"/>
          </a:p>
        </p:txBody>
      </p:sp>
      <p:sp>
        <p:nvSpPr>
          <p:cNvPr id="18" name="Text 16"/>
          <p:cNvSpPr/>
          <p:nvPr/>
        </p:nvSpPr>
        <p:spPr>
          <a:xfrm>
            <a:off x="685800" y="4709160"/>
            <a:ext cx="1645920" cy="5029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Clienta</a:t>
            </a:r>
            <a:endParaRPr lang="en-US" sz="1250" dirty="0"/>
          </a:p>
        </p:txBody>
      </p:sp>
      <p:sp>
        <p:nvSpPr>
          <p:cNvPr id="19" name="Text 17"/>
          <p:cNvSpPr/>
          <p:nvPr/>
        </p:nvSpPr>
        <p:spPr>
          <a:xfrm>
            <a:off x="2377440" y="4709160"/>
            <a:ext cx="9079992" cy="5029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¿Sí?</a:t>
            </a:r>
            <a:endParaRPr lang="en-US" sz="1500" dirty="0"/>
          </a:p>
        </p:txBody>
      </p:sp>
      <p:sp>
        <p:nvSpPr>
          <p:cNvPr id="20" name="Text 18"/>
          <p:cNvSpPr/>
          <p:nvPr/>
        </p:nvSpPr>
        <p:spPr>
          <a:xfrm>
            <a:off x="685800" y="5257800"/>
            <a:ext cx="1645920" cy="5029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1" name="Text 19"/>
          <p:cNvSpPr/>
          <p:nvPr/>
        </p:nvSpPr>
        <p:spPr>
          <a:xfrm>
            <a:off x="2377440" y="5257800"/>
            <a:ext cx="9079992" cy="5029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Sí.</a:t>
            </a:r>
            <a:endParaRPr lang="en-US" sz="1500" dirty="0"/>
          </a:p>
        </p:txBody>
      </p:sp>
      <p:sp>
        <p:nvSpPr>
          <p:cNvPr id="22" name="Text 20"/>
          <p:cNvSpPr/>
          <p:nvPr/>
        </p:nvSpPr>
        <p:spPr>
          <a:xfrm>
            <a:off x="685800" y="5806440"/>
            <a:ext cx="1645920" cy="502920"/>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Clienta</a:t>
            </a:r>
            <a:endParaRPr lang="en-US" sz="1250" dirty="0"/>
          </a:p>
        </p:txBody>
      </p:sp>
      <p:sp>
        <p:nvSpPr>
          <p:cNvPr id="23" name="Text 21"/>
          <p:cNvSpPr/>
          <p:nvPr/>
        </p:nvSpPr>
        <p:spPr>
          <a:xfrm>
            <a:off x="2377440" y="5806440"/>
            <a:ext cx="9079992" cy="502920"/>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En mi casa hace calor y tengo una botella de vino.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¿Qué tiempo hace?</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het weer</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hace buen tiempo</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is mooi weer</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hace calor</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is warm</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hace frío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is koud</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hace viento</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waait</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hace sol</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is zonnig</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llueve</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regent</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nieva</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sneeuwt</a:t>
            </a:r>
            <a:endParaRPr lang="en-US" sz="1250" dirty="0"/>
          </a:p>
        </p:txBody>
      </p:sp>
      <p:sp>
        <p:nvSpPr>
          <p:cNvPr id="26" name="Shape 24"/>
          <p:cNvSpPr/>
          <p:nvPr/>
        </p:nvSpPr>
        <p:spPr>
          <a:xfrm>
            <a:off x="6185916" y="3794760"/>
            <a:ext cx="5362956" cy="731520"/>
          </a:xfrm>
          <a:prstGeom prst="roundRect">
            <a:avLst>
              <a:gd name="adj" fmla="val 11250"/>
            </a:avLst>
          </a:prstGeom>
          <a:solidFill>
            <a:srgbClr val="F3EEE4"/>
          </a:solidFill>
          <a:ln w="12700">
            <a:solidFill>
              <a:srgbClr val="F3EEE4"/>
            </a:solidFill>
            <a:prstDash val="solid"/>
          </a:ln>
        </p:spPr>
      </p:sp>
      <p:sp>
        <p:nvSpPr>
          <p:cNvPr id="27" name="Text 25"/>
          <p:cNvSpPr/>
          <p:nvPr/>
        </p:nvSpPr>
        <p:spPr>
          <a:xfrm>
            <a:off x="6414516"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hay niebla</a:t>
            </a:r>
            <a:endParaRPr lang="en-US" sz="1550" dirty="0"/>
          </a:p>
        </p:txBody>
      </p:sp>
      <p:sp>
        <p:nvSpPr>
          <p:cNvPr id="28" name="Text 26"/>
          <p:cNvSpPr/>
          <p:nvPr/>
        </p:nvSpPr>
        <p:spPr>
          <a:xfrm>
            <a:off x="6414516"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is mistig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Las estaciones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de seizoenen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primavera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lente</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verano</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zomer</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otoño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herfst</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invierno</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winter</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en verano · en invierno</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in de zomer · in de winter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¿Cómo vas?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vervoer</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en tren</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met de trein</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en avión</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met het vliegtuig</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en barco · en ferry</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met de boot · met de veerboot</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en coche</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met de auto</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en bici</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met de fiets</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en moto</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met de motor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¿Adónde vas?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bestemmingen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 la playa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naar het strand</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 la montaña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naar de bergen</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al mar</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naar de zee</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 una isla</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naar een eiland</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 la ciudad</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naar de stad</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al pueblo</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naar het dorp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¿Con qué frecuencia?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hoe vaak</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siempre</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altijd</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 menudo</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vaak</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a veces</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soms</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casi nunca</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bijna nooit</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nunca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nooit</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todos los años</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elk jaar</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tres veces por semana</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drie keer per week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Tengo frío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hoe jij je voelt</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tengo frío</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ik heb het koud</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tengo calor</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ik heb het warm</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tengo sueño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ik ben slaperig</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tengo hambre</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ik heb honger</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estoy cansado/a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ik ben moe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Suena bien</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La s española — siempre sorda</a:t>
            </a:r>
            <a:endParaRPr lang="en-US" sz="1200" dirty="0"/>
          </a:p>
        </p:txBody>
      </p:sp>
      <p:sp>
        <p:nvSpPr>
          <p:cNvPr id="5" name="Shape 3"/>
          <p:cNvSpPr/>
          <p:nvPr/>
        </p:nvSpPr>
        <p:spPr>
          <a:xfrm>
            <a:off x="640080" y="1005840"/>
            <a:ext cx="10908792" cy="1051560"/>
          </a:xfrm>
          <a:prstGeom prst="roundRect">
            <a:avLst>
              <a:gd name="adj" fmla="val 8696"/>
            </a:avLst>
          </a:prstGeom>
          <a:solidFill>
            <a:srgbClr val="FEF3C7"/>
          </a:solidFill>
          <a:ln w="12700">
            <a:solidFill>
              <a:srgbClr val="B45309"/>
            </a:solidFill>
            <a:prstDash val="solid"/>
          </a:ln>
        </p:spPr>
      </p:sp>
      <p:sp>
        <p:nvSpPr>
          <p:cNvPr id="6" name="Text 4"/>
          <p:cNvSpPr/>
          <p:nvPr/>
        </p:nvSpPr>
        <p:spPr>
          <a:xfrm>
            <a:off x="914400" y="1005840"/>
            <a:ext cx="10360152" cy="1051560"/>
          </a:xfrm>
          <a:prstGeom prst="rect">
            <a:avLst/>
          </a:prstGeom>
          <a:noFill/>
          <a:ln/>
        </p:spPr>
        <p:txBody>
          <a:bodyPr wrap="square" lIns="0" tIns="0" rIns="0" bIns="0" rtlCol="0" anchor="ctr"/>
          <a:lstStyle/>
          <a:p>
            <a:pPr indent="0" marL="0">
              <a:buNone/>
            </a:pPr>
            <a:r>
              <a:rPr lang="en-US" sz="1400" dirty="0">
                <a:solidFill>
                  <a:srgbClr val="20242E"/>
                </a:solidFill>
                <a:latin typeface="Inter" pitchFamily="34" charset="0"/>
                <a:ea typeface="Inter" pitchFamily="34" charset="-122"/>
                <a:cs typeface="Inter" pitchFamily="34" charset="-120"/>
              </a:rPr>
              <a:t>De Spaanse s is áltijd stemloos, zoals in het Nederlandse «sok». Nooit als de z in «zon» — ook niet tussen twee klinkers. Deze unidad zit er vol mee: siempre, vacaciones, estaciones.</a:t>
            </a:r>
            <a:endParaRPr lang="en-US" sz="1400" dirty="0"/>
          </a:p>
        </p:txBody>
      </p:sp>
      <p:sp>
        <p:nvSpPr>
          <p:cNvPr id="7" name="Shape 5"/>
          <p:cNvSpPr/>
          <p:nvPr/>
        </p:nvSpPr>
        <p:spPr>
          <a:xfrm>
            <a:off x="640080" y="2286000"/>
            <a:ext cx="3499104" cy="548640"/>
          </a:xfrm>
          <a:prstGeom prst="roundRect">
            <a:avLst>
              <a:gd name="adj" fmla="val 15000"/>
            </a:avLst>
          </a:prstGeom>
          <a:solidFill>
            <a:srgbClr val="FFFFFF"/>
          </a:solidFill>
          <a:ln w="12700">
            <a:solidFill>
              <a:srgbClr val="E7E1DF"/>
            </a:solidFill>
            <a:prstDash val="solid"/>
          </a:ln>
        </p:spPr>
      </p:sp>
      <p:sp>
        <p:nvSpPr>
          <p:cNvPr id="8" name="Text 6"/>
          <p:cNvSpPr/>
          <p:nvPr/>
        </p:nvSpPr>
        <p:spPr>
          <a:xfrm>
            <a:off x="822960"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siempre</a:t>
            </a:r>
            <a:endParaRPr lang="en-US" sz="1600" dirty="0"/>
          </a:p>
        </p:txBody>
      </p:sp>
      <p:sp>
        <p:nvSpPr>
          <p:cNvPr id="9" name="Shape 7"/>
          <p:cNvSpPr/>
          <p:nvPr/>
        </p:nvSpPr>
        <p:spPr>
          <a:xfrm>
            <a:off x="4276344" y="2286000"/>
            <a:ext cx="3499104" cy="548640"/>
          </a:xfrm>
          <a:prstGeom prst="roundRect">
            <a:avLst>
              <a:gd name="adj" fmla="val 15000"/>
            </a:avLst>
          </a:prstGeom>
          <a:solidFill>
            <a:srgbClr val="FFFFFF"/>
          </a:solidFill>
          <a:ln w="12700">
            <a:solidFill>
              <a:srgbClr val="E7E1DF"/>
            </a:solidFill>
            <a:prstDash val="solid"/>
          </a:ln>
        </p:spPr>
      </p:sp>
      <p:sp>
        <p:nvSpPr>
          <p:cNvPr id="10" name="Text 8"/>
          <p:cNvSpPr/>
          <p:nvPr/>
        </p:nvSpPr>
        <p:spPr>
          <a:xfrm>
            <a:off x="4459224"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vacaciones</a:t>
            </a:r>
            <a:endParaRPr lang="en-US" sz="1600" dirty="0"/>
          </a:p>
        </p:txBody>
      </p:sp>
      <p:sp>
        <p:nvSpPr>
          <p:cNvPr id="11" name="Shape 9"/>
          <p:cNvSpPr/>
          <p:nvPr/>
        </p:nvSpPr>
        <p:spPr>
          <a:xfrm>
            <a:off x="7912608" y="2286000"/>
            <a:ext cx="3499104" cy="548640"/>
          </a:xfrm>
          <a:prstGeom prst="roundRect">
            <a:avLst>
              <a:gd name="adj" fmla="val 15000"/>
            </a:avLst>
          </a:prstGeom>
          <a:solidFill>
            <a:srgbClr val="FFFFFF"/>
          </a:solidFill>
          <a:ln w="12700">
            <a:solidFill>
              <a:srgbClr val="E7E1DF"/>
            </a:solidFill>
            <a:prstDash val="solid"/>
          </a:ln>
        </p:spPr>
      </p:sp>
      <p:sp>
        <p:nvSpPr>
          <p:cNvPr id="12" name="Text 10"/>
          <p:cNvSpPr/>
          <p:nvPr/>
        </p:nvSpPr>
        <p:spPr>
          <a:xfrm>
            <a:off x="8095488"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las estaciones</a:t>
            </a:r>
            <a:endParaRPr lang="en-US" sz="1600" dirty="0"/>
          </a:p>
        </p:txBody>
      </p:sp>
      <p:sp>
        <p:nvSpPr>
          <p:cNvPr id="13" name="Shape 11"/>
          <p:cNvSpPr/>
          <p:nvPr/>
        </p:nvSpPr>
        <p:spPr>
          <a:xfrm>
            <a:off x="640080" y="2971800"/>
            <a:ext cx="3499104" cy="548640"/>
          </a:xfrm>
          <a:prstGeom prst="roundRect">
            <a:avLst>
              <a:gd name="adj" fmla="val 15000"/>
            </a:avLst>
          </a:prstGeom>
          <a:solidFill>
            <a:srgbClr val="FFFFFF"/>
          </a:solidFill>
          <a:ln w="12700">
            <a:solidFill>
              <a:srgbClr val="E7E1DF"/>
            </a:solidFill>
            <a:prstDash val="solid"/>
          </a:ln>
        </p:spPr>
      </p:sp>
      <p:sp>
        <p:nvSpPr>
          <p:cNvPr id="14" name="Text 12"/>
          <p:cNvSpPr/>
          <p:nvPr/>
        </p:nvSpPr>
        <p:spPr>
          <a:xfrm>
            <a:off x="822960"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submarinismo</a:t>
            </a:r>
            <a:endParaRPr lang="en-US" sz="1600" dirty="0"/>
          </a:p>
        </p:txBody>
      </p:sp>
      <p:sp>
        <p:nvSpPr>
          <p:cNvPr id="15" name="Shape 13"/>
          <p:cNvSpPr/>
          <p:nvPr/>
        </p:nvSpPr>
        <p:spPr>
          <a:xfrm>
            <a:off x="4276344" y="2971800"/>
            <a:ext cx="3499104" cy="548640"/>
          </a:xfrm>
          <a:prstGeom prst="roundRect">
            <a:avLst>
              <a:gd name="adj" fmla="val 15000"/>
            </a:avLst>
          </a:prstGeom>
          <a:solidFill>
            <a:srgbClr val="FFFFFF"/>
          </a:solidFill>
          <a:ln w="12700">
            <a:solidFill>
              <a:srgbClr val="E7E1DF"/>
            </a:solidFill>
            <a:prstDash val="solid"/>
          </a:ln>
        </p:spPr>
      </p:sp>
      <p:sp>
        <p:nvSpPr>
          <p:cNvPr id="16" name="Text 14"/>
          <p:cNvSpPr/>
          <p:nvPr/>
        </p:nvSpPr>
        <p:spPr>
          <a:xfrm>
            <a:off x="4459224"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casi nunca</a:t>
            </a:r>
            <a:endParaRPr lang="en-US" sz="1600" dirty="0"/>
          </a:p>
        </p:txBody>
      </p:sp>
      <p:sp>
        <p:nvSpPr>
          <p:cNvPr id="17" name="Shape 15"/>
          <p:cNvSpPr/>
          <p:nvPr/>
        </p:nvSpPr>
        <p:spPr>
          <a:xfrm>
            <a:off x="7912608" y="2971800"/>
            <a:ext cx="3499104" cy="548640"/>
          </a:xfrm>
          <a:prstGeom prst="roundRect">
            <a:avLst>
              <a:gd name="adj" fmla="val 15000"/>
            </a:avLst>
          </a:prstGeom>
          <a:solidFill>
            <a:srgbClr val="FFFFFF"/>
          </a:solidFill>
          <a:ln w="12700">
            <a:solidFill>
              <a:srgbClr val="E7E1DF"/>
            </a:solidFill>
            <a:prstDash val="solid"/>
          </a:ln>
        </p:spPr>
      </p:sp>
      <p:sp>
        <p:nvSpPr>
          <p:cNvPr id="18" name="Text 16"/>
          <p:cNvSpPr/>
          <p:nvPr/>
        </p:nvSpPr>
        <p:spPr>
          <a:xfrm>
            <a:off x="8095488"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tres veces</a:t>
            </a:r>
            <a:endParaRPr lang="en-US" sz="1600" dirty="0"/>
          </a:p>
        </p:txBody>
      </p:sp>
      <p:sp>
        <p:nvSpPr>
          <p:cNvPr id="19" name="Text 17"/>
          <p:cNvSpPr/>
          <p:nvPr/>
        </p:nvSpPr>
        <p:spPr>
          <a:xfrm>
            <a:off x="640080" y="3886200"/>
            <a:ext cx="10908792" cy="365760"/>
          </a:xfrm>
          <a:prstGeom prst="rect">
            <a:avLst/>
          </a:prstGeom>
          <a:noFill/>
          <a:ln/>
        </p:spPr>
        <p:txBody>
          <a:bodyPr wrap="square" lIns="0" tIns="0" rIns="0" bIns="0" rtlCol="0" anchor="ctr"/>
          <a:lstStyle/>
          <a:p>
            <a:pPr indent="0" marL="0">
              <a:buNone/>
            </a:pPr>
            <a:r>
              <a:rPr lang="en-US" sz="1700" b="1" dirty="0">
                <a:solidFill>
                  <a:srgbClr val="A8323B"/>
                </a:solidFill>
                <a:latin typeface="Bricolage Grotesque" pitchFamily="34" charset="0"/>
                <a:ea typeface="Bricolage Grotesque" pitchFamily="34" charset="-122"/>
                <a:cs typeface="Bricolage Grotesque" pitchFamily="34" charset="-120"/>
              </a:rPr>
              <a:t>El acento en las estaciones y la frecuencia</a:t>
            </a:r>
            <a:endParaRPr lang="en-US" sz="1700" dirty="0"/>
          </a:p>
        </p:txBody>
      </p:sp>
      <p:sp>
        <p:nvSpPr>
          <p:cNvPr id="20" name="Text 18"/>
          <p:cNvSpPr/>
          <p:nvPr/>
        </p:nvSpPr>
        <p:spPr>
          <a:xfrm>
            <a:off x="640080" y="4251960"/>
            <a:ext cx="10908792" cy="457200"/>
          </a:xfrm>
          <a:prstGeom prst="rect">
            <a:avLst/>
          </a:prstGeom>
          <a:noFill/>
          <a:ln/>
        </p:spPr>
        <p:txBody>
          <a:bodyPr wrap="square" lIns="0" tIns="0" rIns="0" bIns="0" rtlCol="0" anchor="ctr"/>
          <a:lstStyle/>
          <a:p>
            <a:pPr indent="0" marL="0">
              <a:buNone/>
            </a:pPr>
            <a:r>
              <a:rPr lang="en-US" sz="1300" dirty="0">
                <a:solidFill>
                  <a:srgbClr val="6A6E78"/>
                </a:solidFill>
                <a:latin typeface="Inter" pitchFamily="34" charset="0"/>
                <a:ea typeface="Inter" pitchFamily="34" charset="-122"/>
                <a:cs typeface="Inter" pitchFamily="34" charset="-120"/>
              </a:rPr>
              <a:t>De klemtoon ligt vast. Klap mee terwijl je het zegt.</a:t>
            </a:r>
            <a:endParaRPr lang="en-US" sz="1300" dirty="0"/>
          </a:p>
        </p:txBody>
      </p:sp>
      <p:sp>
        <p:nvSpPr>
          <p:cNvPr id="21" name="Text 19"/>
          <p:cNvSpPr/>
          <p:nvPr/>
        </p:nvSpPr>
        <p:spPr>
          <a:xfrm>
            <a:off x="822960" y="4754880"/>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primavera  ·  pri·ma·VE·ra</a:t>
            </a:r>
            <a:endParaRPr lang="en-US" sz="1350" dirty="0"/>
          </a:p>
        </p:txBody>
      </p:sp>
      <p:sp>
        <p:nvSpPr>
          <p:cNvPr id="22" name="Text 20"/>
          <p:cNvSpPr/>
          <p:nvPr/>
        </p:nvSpPr>
        <p:spPr>
          <a:xfrm>
            <a:off x="822960" y="5065776"/>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verano  ·  ve·RA·no</a:t>
            </a:r>
            <a:endParaRPr lang="en-US" sz="1350" dirty="0"/>
          </a:p>
        </p:txBody>
      </p:sp>
      <p:sp>
        <p:nvSpPr>
          <p:cNvPr id="23" name="Text 21"/>
          <p:cNvSpPr/>
          <p:nvPr/>
        </p:nvSpPr>
        <p:spPr>
          <a:xfrm>
            <a:off x="822960" y="5376672"/>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otoño  ·  o·TO·ño</a:t>
            </a:r>
            <a:endParaRPr lang="en-US" sz="1350" dirty="0"/>
          </a:p>
        </p:txBody>
      </p:sp>
      <p:sp>
        <p:nvSpPr>
          <p:cNvPr id="24" name="Text 22"/>
          <p:cNvSpPr/>
          <p:nvPr/>
        </p:nvSpPr>
        <p:spPr>
          <a:xfrm>
            <a:off x="822960" y="5687568"/>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invierno  ·  in·VIER·no</a:t>
            </a:r>
            <a:endParaRPr lang="en-US" sz="1350" dirty="0"/>
          </a:p>
        </p:txBody>
      </p:sp>
      <p:sp>
        <p:nvSpPr>
          <p:cNvPr id="25" name="Text 23"/>
          <p:cNvSpPr/>
          <p:nvPr/>
        </p:nvSpPr>
        <p:spPr>
          <a:xfrm>
            <a:off x="822960" y="5998464"/>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siempre  ·  SIEM·pre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Me gusta · te gusta · le gusta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zeggen wat je graag doet — en hoe graag</a:t>
            </a:r>
            <a:endParaRPr lang="en-US" sz="1200" dirty="0"/>
          </a:p>
        </p:txBody>
      </p:sp>
      <p:sp>
        <p:nvSpPr>
          <p:cNvPr id="5" name="Shape 3"/>
          <p:cNvSpPr/>
          <p:nvPr/>
        </p:nvSpPr>
        <p:spPr>
          <a:xfrm>
            <a:off x="640080" y="1188720"/>
            <a:ext cx="10908792" cy="777240"/>
          </a:xfrm>
          <a:prstGeom prst="roundRect">
            <a:avLst>
              <a:gd name="adj" fmla="val 10588"/>
            </a:avLst>
          </a:prstGeom>
          <a:solidFill>
            <a:srgbClr val="FFFFFF"/>
          </a:solidFill>
          <a:ln w="12700">
            <a:solidFill>
              <a:srgbClr val="E7E1DF"/>
            </a:solidFill>
            <a:prstDash val="solid"/>
          </a:ln>
        </p:spPr>
      </p:sp>
      <p:sp>
        <p:nvSpPr>
          <p:cNvPr id="6" name="Text 4"/>
          <p:cNvSpPr/>
          <p:nvPr/>
        </p:nvSpPr>
        <p:spPr>
          <a:xfrm>
            <a:off x="914400" y="1243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A mí me gusta el cine</a:t>
            </a:r>
            <a:endParaRPr lang="en-US" sz="1700" dirty="0"/>
          </a:p>
        </p:txBody>
      </p:sp>
      <p:sp>
        <p:nvSpPr>
          <p:cNvPr id="7" name="Text 5"/>
          <p:cNvSpPr/>
          <p:nvPr/>
        </p:nvSpPr>
        <p:spPr>
          <a:xfrm>
            <a:off x="914400" y="1609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yo</a:t>
            </a:r>
            <a:endParaRPr lang="en-US" sz="1250" dirty="0"/>
          </a:p>
        </p:txBody>
      </p:sp>
      <p:sp>
        <p:nvSpPr>
          <p:cNvPr id="8" name="Shape 6"/>
          <p:cNvSpPr/>
          <p:nvPr/>
        </p:nvSpPr>
        <p:spPr>
          <a:xfrm>
            <a:off x="640080" y="2103120"/>
            <a:ext cx="10908792" cy="777240"/>
          </a:xfrm>
          <a:prstGeom prst="roundRect">
            <a:avLst>
              <a:gd name="adj" fmla="val 10588"/>
            </a:avLst>
          </a:prstGeom>
          <a:solidFill>
            <a:srgbClr val="FFFFFF"/>
          </a:solidFill>
          <a:ln w="12700">
            <a:solidFill>
              <a:srgbClr val="E7E1DF"/>
            </a:solidFill>
            <a:prstDash val="solid"/>
          </a:ln>
        </p:spPr>
      </p:sp>
      <p:sp>
        <p:nvSpPr>
          <p:cNvPr id="9" name="Text 7"/>
          <p:cNvSpPr/>
          <p:nvPr/>
        </p:nvSpPr>
        <p:spPr>
          <a:xfrm>
            <a:off x="914400" y="2157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A ti te gusta el yoga</a:t>
            </a:r>
            <a:endParaRPr lang="en-US" sz="1700" dirty="0"/>
          </a:p>
        </p:txBody>
      </p:sp>
      <p:sp>
        <p:nvSpPr>
          <p:cNvPr id="10" name="Text 8"/>
          <p:cNvSpPr/>
          <p:nvPr/>
        </p:nvSpPr>
        <p:spPr>
          <a:xfrm>
            <a:off x="914400" y="2523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tú</a:t>
            </a:r>
            <a:endParaRPr lang="en-US" sz="1250" dirty="0"/>
          </a:p>
        </p:txBody>
      </p:sp>
      <p:sp>
        <p:nvSpPr>
          <p:cNvPr id="11" name="Shape 9"/>
          <p:cNvSpPr/>
          <p:nvPr/>
        </p:nvSpPr>
        <p:spPr>
          <a:xfrm>
            <a:off x="640080" y="3017520"/>
            <a:ext cx="10908792" cy="777240"/>
          </a:xfrm>
          <a:prstGeom prst="roundRect">
            <a:avLst>
              <a:gd name="adj" fmla="val 10588"/>
            </a:avLst>
          </a:prstGeom>
          <a:solidFill>
            <a:srgbClr val="FFFFFF"/>
          </a:solidFill>
          <a:ln w="12700">
            <a:solidFill>
              <a:srgbClr val="E7E1DF"/>
            </a:solidFill>
            <a:prstDash val="solid"/>
          </a:ln>
        </p:spPr>
      </p:sp>
      <p:sp>
        <p:nvSpPr>
          <p:cNvPr id="12" name="Text 10"/>
          <p:cNvSpPr/>
          <p:nvPr/>
        </p:nvSpPr>
        <p:spPr>
          <a:xfrm>
            <a:off x="914400" y="30723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A él/ella le gusta el submarinismo</a:t>
            </a:r>
            <a:endParaRPr lang="en-US" sz="1700" dirty="0"/>
          </a:p>
        </p:txBody>
      </p:sp>
      <p:sp>
        <p:nvSpPr>
          <p:cNvPr id="13" name="Text 11"/>
          <p:cNvSpPr/>
          <p:nvPr/>
        </p:nvSpPr>
        <p:spPr>
          <a:xfrm>
            <a:off x="914400" y="34381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él · ella</a:t>
            </a:r>
            <a:endParaRPr lang="en-US" sz="1250" dirty="0"/>
          </a:p>
        </p:txBody>
      </p:sp>
      <p:sp>
        <p:nvSpPr>
          <p:cNvPr id="14" name="Shape 12"/>
          <p:cNvSpPr/>
          <p:nvPr/>
        </p:nvSpPr>
        <p:spPr>
          <a:xfrm>
            <a:off x="640080" y="3931920"/>
            <a:ext cx="10908792" cy="777240"/>
          </a:xfrm>
          <a:prstGeom prst="roundRect">
            <a:avLst>
              <a:gd name="adj" fmla="val 10588"/>
            </a:avLst>
          </a:prstGeom>
          <a:solidFill>
            <a:srgbClr val="FFFFFF"/>
          </a:solidFill>
          <a:ln w="12700">
            <a:solidFill>
              <a:srgbClr val="E7E1DF"/>
            </a:solidFill>
            <a:prstDash val="solid"/>
          </a:ln>
        </p:spPr>
      </p:sp>
      <p:sp>
        <p:nvSpPr>
          <p:cNvPr id="15" name="Text 13"/>
          <p:cNvSpPr/>
          <p:nvPr/>
        </p:nvSpPr>
        <p:spPr>
          <a:xfrm>
            <a:off x="914400" y="39867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Me encanta la playa</a:t>
            </a:r>
            <a:endParaRPr lang="en-US" sz="1700" dirty="0"/>
          </a:p>
        </p:txBody>
      </p:sp>
      <p:sp>
        <p:nvSpPr>
          <p:cNvPr id="16" name="Text 14"/>
          <p:cNvSpPr/>
          <p:nvPr/>
        </p:nvSpPr>
        <p:spPr>
          <a:xfrm>
            <a:off x="914400" y="43525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más fuerte</a:t>
            </a:r>
            <a:endParaRPr lang="en-US" sz="1250" dirty="0"/>
          </a:p>
        </p:txBody>
      </p:sp>
      <p:sp>
        <p:nvSpPr>
          <p:cNvPr id="17" name="Shape 15"/>
          <p:cNvSpPr/>
          <p:nvPr/>
        </p:nvSpPr>
        <p:spPr>
          <a:xfrm>
            <a:off x="640080" y="4846320"/>
            <a:ext cx="10908792" cy="777240"/>
          </a:xfrm>
          <a:prstGeom prst="roundRect">
            <a:avLst>
              <a:gd name="adj" fmla="val 10588"/>
            </a:avLst>
          </a:prstGeom>
          <a:solidFill>
            <a:srgbClr val="FFFFFF"/>
          </a:solidFill>
          <a:ln w="12700">
            <a:solidFill>
              <a:srgbClr val="E7E1DF"/>
            </a:solidFill>
            <a:prstDash val="solid"/>
          </a:ln>
        </p:spPr>
      </p:sp>
      <p:sp>
        <p:nvSpPr>
          <p:cNvPr id="18" name="Text 16"/>
          <p:cNvSpPr/>
          <p:nvPr/>
        </p:nvSpPr>
        <p:spPr>
          <a:xfrm>
            <a:off x="914400" y="49011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No soporto el frío</a:t>
            </a:r>
            <a:endParaRPr lang="en-US" sz="1700" dirty="0"/>
          </a:p>
        </p:txBody>
      </p:sp>
      <p:sp>
        <p:nvSpPr>
          <p:cNvPr id="19" name="Text 17"/>
          <p:cNvSpPr/>
          <p:nvPr/>
        </p:nvSpPr>
        <p:spPr>
          <a:xfrm>
            <a:off x="914400" y="52669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lo contrario</a:t>
            </a:r>
            <a:endParaRPr lang="en-US" sz="1250" dirty="0"/>
          </a:p>
        </p:txBody>
      </p:sp>
      <p:sp>
        <p:nvSpPr>
          <p:cNvPr id="20" name="Shape 18"/>
          <p:cNvSpPr/>
          <p:nvPr/>
        </p:nvSpPr>
        <p:spPr>
          <a:xfrm>
            <a:off x="640080" y="5760720"/>
            <a:ext cx="10908792" cy="777240"/>
          </a:xfrm>
          <a:prstGeom prst="roundRect">
            <a:avLst>
              <a:gd name="adj" fmla="val 10588"/>
            </a:avLst>
          </a:prstGeom>
          <a:solidFill>
            <a:srgbClr val="FFFFFF"/>
          </a:solidFill>
          <a:ln w="12700">
            <a:solidFill>
              <a:srgbClr val="E7E1DF"/>
            </a:solidFill>
            <a:prstDash val="solid"/>
          </a:ln>
        </p:spPr>
      </p:sp>
      <p:sp>
        <p:nvSpPr>
          <p:cNvPr id="21" name="Text 19"/>
          <p:cNvSpPr/>
          <p:nvPr/>
        </p:nvSpPr>
        <p:spPr>
          <a:xfrm>
            <a:off x="914400" y="5815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Prefiero el verano</a:t>
            </a:r>
            <a:endParaRPr lang="en-US" sz="1700" dirty="0"/>
          </a:p>
        </p:txBody>
      </p:sp>
      <p:sp>
        <p:nvSpPr>
          <p:cNvPr id="22" name="Text 20"/>
          <p:cNvSpPr/>
          <p:nvPr/>
        </p:nvSpPr>
        <p:spPr>
          <a:xfrm>
            <a:off x="914400" y="6181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elegir</a:t>
            </a:r>
            <a:endParaRPr lang="en-US" sz="1250" dirty="0"/>
          </a:p>
        </p:txBody>
      </p:sp>
      <p:sp>
        <p:nvSpPr>
          <p:cNvPr id="23" name="Shape 21"/>
          <p:cNvSpPr/>
          <p:nvPr/>
        </p:nvSpPr>
        <p:spPr>
          <a:xfrm>
            <a:off x="640080" y="6858000"/>
            <a:ext cx="10908792" cy="914400"/>
          </a:xfrm>
          <a:prstGeom prst="roundRect">
            <a:avLst>
              <a:gd name="adj" fmla="val 10000"/>
            </a:avLst>
          </a:prstGeom>
          <a:solidFill>
            <a:srgbClr val="FBEAEC"/>
          </a:solidFill>
          <a:ln w="12700">
            <a:solidFill>
              <a:srgbClr val="FBEAEC"/>
            </a:solidFill>
            <a:prstDash val="solid"/>
          </a:ln>
        </p:spPr>
      </p:sp>
      <p:sp>
        <p:nvSpPr>
          <p:cNvPr id="24" name="Text 22"/>
          <p:cNvSpPr/>
          <p:nvPr/>
        </p:nvSpPr>
        <p:spPr>
          <a:xfrm>
            <a:off x="914400" y="6858000"/>
            <a:ext cx="10360152" cy="914400"/>
          </a:xfrm>
          <a:prstGeom prst="rect">
            <a:avLst/>
          </a:prstGeom>
          <a:noFill/>
          <a:ln/>
        </p:spPr>
        <p:txBody>
          <a:bodyPr wrap="square" lIns="0" tIns="0" rIns="0" bIns="0" rtlCol="0" anchor="ctr"/>
          <a:lstStyle/>
          <a:p>
            <a:pPr indent="0" marL="0">
              <a:buNone/>
            </a:pPr>
            <a:r>
              <a:rPr lang="en-US" sz="1350" b="1" dirty="0">
                <a:solidFill>
                  <a:srgbClr val="A8323B"/>
                </a:solidFill>
                <a:latin typeface="Inter" pitchFamily="34" charset="0"/>
                <a:ea typeface="Inter" pitchFamily="34" charset="-122"/>
                <a:cs typeface="Inter" pitchFamily="34" charset="-120"/>
              </a:rPr>
              <a:t>¡Ojo!  </a:t>
            </a:r>
            <a:pPr indent="0" marL="0">
              <a:buNone/>
            </a:pPr>
            <a:r>
              <a:rPr lang="en-US" sz="1350" dirty="0">
                <a:solidFill>
                  <a:srgbClr val="20242E"/>
                </a:solidFill>
                <a:latin typeface="Inter" pitchFamily="34" charset="0"/>
                <a:ea typeface="Inter" pitchFamily="34" charset="-122"/>
                <a:cs typeface="Inter" pitchFamily="34" charset="-120"/>
              </a:rPr>
              <a:t>Twee dingen tegelijk. Eén: het is me gusta, niet «yo gusto» — het Spaans zegt letterlijk «het bevalt mij». Twee: hace frío gaat over het wéér, tengo frío over jóú. «Estoy frío» bestaat niet.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¿Qué has entendido?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Escucha · dos amigos hablan de las vacaciones</a:t>
            </a:r>
            <a:endParaRPr lang="en-US" sz="1200" dirty="0"/>
          </a:p>
        </p:txBody>
      </p:sp>
      <p:sp>
        <p:nvSpPr>
          <p:cNvPr id="5" name="Text 3"/>
          <p:cNvSpPr/>
          <p:nvPr/>
        </p:nvSpPr>
        <p:spPr>
          <a:xfrm>
            <a:off x="640080" y="11430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1. ¿Adónde va Nico?</a:t>
            </a:r>
            <a:endParaRPr lang="en-US" sz="1700" dirty="0"/>
          </a:p>
        </p:txBody>
      </p:sp>
      <p:sp>
        <p:nvSpPr>
          <p:cNvPr id="6" name="Shape 4"/>
          <p:cNvSpPr/>
          <p:nvPr/>
        </p:nvSpPr>
        <p:spPr>
          <a:xfrm>
            <a:off x="822960" y="1600200"/>
            <a:ext cx="3270504" cy="566928"/>
          </a:xfrm>
          <a:prstGeom prst="roundRect">
            <a:avLst>
              <a:gd name="adj" fmla="val 14516"/>
            </a:avLst>
          </a:prstGeom>
          <a:solidFill>
            <a:srgbClr val="FFFFFF"/>
          </a:solidFill>
          <a:ln w="12700">
            <a:solidFill>
              <a:srgbClr val="E7E1DF"/>
            </a:solidFill>
            <a:prstDash val="solid"/>
          </a:ln>
        </p:spPr>
      </p:sp>
      <p:sp>
        <p:nvSpPr>
          <p:cNvPr id="7" name="Text 5"/>
          <p:cNvSpPr/>
          <p:nvPr/>
        </p:nvSpPr>
        <p:spPr>
          <a:xfrm>
            <a:off x="987552"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A la montaña</a:t>
            </a:r>
            <a:endParaRPr lang="en-US" sz="1350" dirty="0"/>
          </a:p>
        </p:txBody>
      </p:sp>
      <p:sp>
        <p:nvSpPr>
          <p:cNvPr id="8" name="Shape 6"/>
          <p:cNvSpPr/>
          <p:nvPr/>
        </p:nvSpPr>
        <p:spPr>
          <a:xfrm>
            <a:off x="4276344" y="1600200"/>
            <a:ext cx="3270504" cy="566928"/>
          </a:xfrm>
          <a:prstGeom prst="roundRect">
            <a:avLst>
              <a:gd name="adj" fmla="val 14516"/>
            </a:avLst>
          </a:prstGeom>
          <a:solidFill>
            <a:srgbClr val="FFFFFF"/>
          </a:solidFill>
          <a:ln w="12700">
            <a:solidFill>
              <a:srgbClr val="E7E1DF"/>
            </a:solidFill>
            <a:prstDash val="solid"/>
          </a:ln>
        </p:spPr>
      </p:sp>
      <p:sp>
        <p:nvSpPr>
          <p:cNvPr id="9" name="Text 7"/>
          <p:cNvSpPr/>
          <p:nvPr/>
        </p:nvSpPr>
        <p:spPr>
          <a:xfrm>
            <a:off x="4440936"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A la playa</a:t>
            </a:r>
            <a:endParaRPr lang="en-US" sz="1350" dirty="0"/>
          </a:p>
        </p:txBody>
      </p:sp>
      <p:sp>
        <p:nvSpPr>
          <p:cNvPr id="10" name="Shape 8"/>
          <p:cNvSpPr/>
          <p:nvPr/>
        </p:nvSpPr>
        <p:spPr>
          <a:xfrm>
            <a:off x="7729728" y="1600200"/>
            <a:ext cx="3270504" cy="566928"/>
          </a:xfrm>
          <a:prstGeom prst="roundRect">
            <a:avLst>
              <a:gd name="adj" fmla="val 14516"/>
            </a:avLst>
          </a:prstGeom>
          <a:solidFill>
            <a:srgbClr val="FFFFFF"/>
          </a:solidFill>
          <a:ln w="12700">
            <a:solidFill>
              <a:srgbClr val="E7E1DF"/>
            </a:solidFill>
            <a:prstDash val="solid"/>
          </a:ln>
        </p:spPr>
      </p:sp>
      <p:sp>
        <p:nvSpPr>
          <p:cNvPr id="11" name="Text 9"/>
          <p:cNvSpPr/>
          <p:nvPr/>
        </p:nvSpPr>
        <p:spPr>
          <a:xfrm>
            <a:off x="7894320"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Al pueblo</a:t>
            </a:r>
            <a:endParaRPr lang="en-US" sz="1350" dirty="0"/>
          </a:p>
        </p:txBody>
      </p:sp>
      <p:sp>
        <p:nvSpPr>
          <p:cNvPr id="12" name="Text 10"/>
          <p:cNvSpPr/>
          <p:nvPr/>
        </p:nvSpPr>
        <p:spPr>
          <a:xfrm>
            <a:off x="640080" y="27432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2. ¿Cómo viaja Nico?</a:t>
            </a:r>
            <a:endParaRPr lang="en-US" sz="1700" dirty="0"/>
          </a:p>
        </p:txBody>
      </p:sp>
      <p:sp>
        <p:nvSpPr>
          <p:cNvPr id="13" name="Shape 11"/>
          <p:cNvSpPr/>
          <p:nvPr/>
        </p:nvSpPr>
        <p:spPr>
          <a:xfrm>
            <a:off x="822960" y="3200400"/>
            <a:ext cx="3270504" cy="566928"/>
          </a:xfrm>
          <a:prstGeom prst="roundRect">
            <a:avLst>
              <a:gd name="adj" fmla="val 14516"/>
            </a:avLst>
          </a:prstGeom>
          <a:solidFill>
            <a:srgbClr val="FFFFFF"/>
          </a:solidFill>
          <a:ln w="12700">
            <a:solidFill>
              <a:srgbClr val="E7E1DF"/>
            </a:solidFill>
            <a:prstDash val="solid"/>
          </a:ln>
        </p:spPr>
      </p:sp>
      <p:sp>
        <p:nvSpPr>
          <p:cNvPr id="14" name="Text 12"/>
          <p:cNvSpPr/>
          <p:nvPr/>
        </p:nvSpPr>
        <p:spPr>
          <a:xfrm>
            <a:off x="987552"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En tren</a:t>
            </a:r>
            <a:endParaRPr lang="en-US" sz="1350" dirty="0"/>
          </a:p>
        </p:txBody>
      </p:sp>
      <p:sp>
        <p:nvSpPr>
          <p:cNvPr id="15" name="Shape 13"/>
          <p:cNvSpPr/>
          <p:nvPr/>
        </p:nvSpPr>
        <p:spPr>
          <a:xfrm>
            <a:off x="4276344" y="3200400"/>
            <a:ext cx="3270504" cy="566928"/>
          </a:xfrm>
          <a:prstGeom prst="roundRect">
            <a:avLst>
              <a:gd name="adj" fmla="val 14516"/>
            </a:avLst>
          </a:prstGeom>
          <a:solidFill>
            <a:srgbClr val="FFFFFF"/>
          </a:solidFill>
          <a:ln w="12700">
            <a:solidFill>
              <a:srgbClr val="E7E1DF"/>
            </a:solidFill>
            <a:prstDash val="solid"/>
          </a:ln>
        </p:spPr>
      </p:sp>
      <p:sp>
        <p:nvSpPr>
          <p:cNvPr id="16" name="Text 14"/>
          <p:cNvSpPr/>
          <p:nvPr/>
        </p:nvSpPr>
        <p:spPr>
          <a:xfrm>
            <a:off x="4440936"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En coche</a:t>
            </a:r>
            <a:endParaRPr lang="en-US" sz="1350" dirty="0"/>
          </a:p>
        </p:txBody>
      </p:sp>
      <p:sp>
        <p:nvSpPr>
          <p:cNvPr id="17" name="Shape 15"/>
          <p:cNvSpPr/>
          <p:nvPr/>
        </p:nvSpPr>
        <p:spPr>
          <a:xfrm>
            <a:off x="7729728" y="3200400"/>
            <a:ext cx="3270504" cy="566928"/>
          </a:xfrm>
          <a:prstGeom prst="roundRect">
            <a:avLst>
              <a:gd name="adj" fmla="val 14516"/>
            </a:avLst>
          </a:prstGeom>
          <a:solidFill>
            <a:srgbClr val="FFFFFF"/>
          </a:solidFill>
          <a:ln w="12700">
            <a:solidFill>
              <a:srgbClr val="E7E1DF"/>
            </a:solidFill>
            <a:prstDash val="solid"/>
          </a:ln>
        </p:spPr>
      </p:sp>
      <p:sp>
        <p:nvSpPr>
          <p:cNvPr id="18" name="Text 16"/>
          <p:cNvSpPr/>
          <p:nvPr/>
        </p:nvSpPr>
        <p:spPr>
          <a:xfrm>
            <a:off x="7894320"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En avión</a:t>
            </a:r>
            <a:endParaRPr lang="en-US" sz="1350" dirty="0"/>
          </a:p>
        </p:txBody>
      </p:sp>
      <p:sp>
        <p:nvSpPr>
          <p:cNvPr id="19" name="Text 17"/>
          <p:cNvSpPr/>
          <p:nvPr/>
        </p:nvSpPr>
        <p:spPr>
          <a:xfrm>
            <a:off x="640080" y="43434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3. ¿Por qué prefiere Ana la montaña?</a:t>
            </a:r>
            <a:endParaRPr lang="en-US" sz="1700" dirty="0"/>
          </a:p>
        </p:txBody>
      </p:sp>
      <p:sp>
        <p:nvSpPr>
          <p:cNvPr id="20" name="Shape 18"/>
          <p:cNvSpPr/>
          <p:nvPr/>
        </p:nvSpPr>
        <p:spPr>
          <a:xfrm>
            <a:off x="822960" y="4800600"/>
            <a:ext cx="3270504" cy="566928"/>
          </a:xfrm>
          <a:prstGeom prst="roundRect">
            <a:avLst>
              <a:gd name="adj" fmla="val 14516"/>
            </a:avLst>
          </a:prstGeom>
          <a:solidFill>
            <a:srgbClr val="FFFFFF"/>
          </a:solidFill>
          <a:ln w="12700">
            <a:solidFill>
              <a:srgbClr val="E7E1DF"/>
            </a:solidFill>
            <a:prstDash val="solid"/>
          </a:ln>
        </p:spPr>
      </p:sp>
      <p:sp>
        <p:nvSpPr>
          <p:cNvPr id="21" name="Text 19"/>
          <p:cNvSpPr/>
          <p:nvPr/>
        </p:nvSpPr>
        <p:spPr>
          <a:xfrm>
            <a:off x="987552"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no soporta el calor</a:t>
            </a:r>
            <a:endParaRPr lang="en-US" sz="1350" dirty="0"/>
          </a:p>
        </p:txBody>
      </p:sp>
      <p:sp>
        <p:nvSpPr>
          <p:cNvPr id="22" name="Shape 20"/>
          <p:cNvSpPr/>
          <p:nvPr/>
        </p:nvSpPr>
        <p:spPr>
          <a:xfrm>
            <a:off x="4276344" y="4800600"/>
            <a:ext cx="3270504" cy="566928"/>
          </a:xfrm>
          <a:prstGeom prst="roundRect">
            <a:avLst>
              <a:gd name="adj" fmla="val 14516"/>
            </a:avLst>
          </a:prstGeom>
          <a:solidFill>
            <a:srgbClr val="FFFFFF"/>
          </a:solidFill>
          <a:ln w="12700">
            <a:solidFill>
              <a:srgbClr val="E7E1DF"/>
            </a:solidFill>
            <a:prstDash val="solid"/>
          </a:ln>
        </p:spPr>
      </p:sp>
      <p:sp>
        <p:nvSpPr>
          <p:cNvPr id="23" name="Text 21"/>
          <p:cNvSpPr/>
          <p:nvPr/>
        </p:nvSpPr>
        <p:spPr>
          <a:xfrm>
            <a:off x="4440936"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es barato</a:t>
            </a:r>
            <a:endParaRPr lang="en-US" sz="1350" dirty="0"/>
          </a:p>
        </p:txBody>
      </p:sp>
      <p:sp>
        <p:nvSpPr>
          <p:cNvPr id="24" name="Shape 22"/>
          <p:cNvSpPr/>
          <p:nvPr/>
        </p:nvSpPr>
        <p:spPr>
          <a:xfrm>
            <a:off x="7729728" y="4800600"/>
            <a:ext cx="3270504" cy="566928"/>
          </a:xfrm>
          <a:prstGeom prst="roundRect">
            <a:avLst>
              <a:gd name="adj" fmla="val 14516"/>
            </a:avLst>
          </a:prstGeom>
          <a:solidFill>
            <a:srgbClr val="FFFFFF"/>
          </a:solidFill>
          <a:ln w="12700">
            <a:solidFill>
              <a:srgbClr val="E7E1DF"/>
            </a:solidFill>
            <a:prstDash val="solid"/>
          </a:ln>
        </p:spPr>
      </p:sp>
      <p:sp>
        <p:nvSpPr>
          <p:cNvPr id="25" name="Text 23"/>
          <p:cNvSpPr/>
          <p:nvPr/>
        </p:nvSpPr>
        <p:spPr>
          <a:xfrm>
            <a:off x="7894320"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hay mar</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Lo que ya sé decir</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Funciones comunicativas</a:t>
            </a:r>
            <a:endParaRPr lang="en-US" sz="1200" dirty="0"/>
          </a:p>
        </p:txBody>
      </p:sp>
      <p:sp>
        <p:nvSpPr>
          <p:cNvPr id="5" name="Shape 3"/>
          <p:cNvSpPr/>
          <p:nvPr/>
        </p:nvSpPr>
        <p:spPr>
          <a:xfrm>
            <a:off x="640080" y="1188720"/>
            <a:ext cx="10908792" cy="640080"/>
          </a:xfrm>
          <a:prstGeom prst="roundRect">
            <a:avLst>
              <a:gd name="adj" fmla="val 12857"/>
            </a:avLst>
          </a:prstGeom>
          <a:solidFill>
            <a:srgbClr val="FFFFFF"/>
          </a:solidFill>
          <a:ln w="12700">
            <a:solidFill>
              <a:srgbClr val="E7E1DF"/>
            </a:solidFill>
            <a:prstDash val="solid"/>
          </a:ln>
        </p:spPr>
      </p:sp>
      <p:sp>
        <p:nvSpPr>
          <p:cNvPr id="6" name="Text 4"/>
          <p:cNvSpPr/>
          <p:nvPr/>
        </p:nvSpPr>
        <p:spPr>
          <a:xfrm>
            <a:off x="914400" y="118872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«Siempre hace buen tiempo en Canarias.»</a:t>
            </a:r>
            <a:endParaRPr lang="en-US" sz="1600" dirty="0"/>
          </a:p>
        </p:txBody>
      </p:sp>
      <p:sp>
        <p:nvSpPr>
          <p:cNvPr id="7" name="Text 5"/>
          <p:cNvSpPr/>
          <p:nvPr/>
        </p:nvSpPr>
        <p:spPr>
          <a:xfrm>
            <a:off x="7680960" y="118872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Hablar del tiempo que hace</a:t>
            </a:r>
            <a:endParaRPr lang="en-US" sz="1250" dirty="0"/>
          </a:p>
        </p:txBody>
      </p:sp>
      <p:sp>
        <p:nvSpPr>
          <p:cNvPr id="8" name="Shape 6"/>
          <p:cNvSpPr/>
          <p:nvPr/>
        </p:nvSpPr>
        <p:spPr>
          <a:xfrm>
            <a:off x="640080" y="1965960"/>
            <a:ext cx="10908792" cy="640080"/>
          </a:xfrm>
          <a:prstGeom prst="roundRect">
            <a:avLst>
              <a:gd name="adj" fmla="val 12857"/>
            </a:avLst>
          </a:prstGeom>
          <a:solidFill>
            <a:srgbClr val="FFFFFF"/>
          </a:solidFill>
          <a:ln w="12700">
            <a:solidFill>
              <a:srgbClr val="E7E1DF"/>
            </a:solidFill>
            <a:prstDash val="solid"/>
          </a:ln>
        </p:spPr>
      </p:sp>
      <p:sp>
        <p:nvSpPr>
          <p:cNvPr id="9" name="Text 7"/>
          <p:cNvSpPr/>
          <p:nvPr/>
        </p:nvSpPr>
        <p:spPr>
          <a:xfrm>
            <a:off x="914400" y="196596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«Pero hace un frío… Nunca hace ese frío en Madrid.»</a:t>
            </a:r>
            <a:endParaRPr lang="en-US" sz="1600" dirty="0"/>
          </a:p>
        </p:txBody>
      </p:sp>
      <p:sp>
        <p:nvSpPr>
          <p:cNvPr id="10" name="Text 8"/>
          <p:cNvSpPr/>
          <p:nvPr/>
        </p:nvSpPr>
        <p:spPr>
          <a:xfrm>
            <a:off x="7680960" y="196596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Hablar del tiempo que hace</a:t>
            </a:r>
            <a:endParaRPr lang="en-US" sz="1250" dirty="0"/>
          </a:p>
        </p:txBody>
      </p:sp>
      <p:sp>
        <p:nvSpPr>
          <p:cNvPr id="11" name="Shape 9"/>
          <p:cNvSpPr/>
          <p:nvPr/>
        </p:nvSpPr>
        <p:spPr>
          <a:xfrm>
            <a:off x="640080" y="2743200"/>
            <a:ext cx="10908792" cy="640080"/>
          </a:xfrm>
          <a:prstGeom prst="roundRect">
            <a:avLst>
              <a:gd name="adj" fmla="val 12857"/>
            </a:avLst>
          </a:prstGeom>
          <a:solidFill>
            <a:srgbClr val="FFFFFF"/>
          </a:solidFill>
          <a:ln w="12700">
            <a:solidFill>
              <a:srgbClr val="E7E1DF"/>
            </a:solidFill>
            <a:prstDash val="solid"/>
          </a:ln>
        </p:spPr>
      </p:sp>
      <p:sp>
        <p:nvSpPr>
          <p:cNvPr id="12" name="Text 10"/>
          <p:cNvSpPr/>
          <p:nvPr/>
        </p:nvSpPr>
        <p:spPr>
          <a:xfrm>
            <a:off x="914400" y="274320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«Me gusta hacer submarinismo.»</a:t>
            </a:r>
            <a:endParaRPr lang="en-US" sz="1600" dirty="0"/>
          </a:p>
        </p:txBody>
      </p:sp>
      <p:sp>
        <p:nvSpPr>
          <p:cNvPr id="13" name="Text 11"/>
          <p:cNvSpPr/>
          <p:nvPr/>
        </p:nvSpPr>
        <p:spPr>
          <a:xfrm>
            <a:off x="7680960" y="274320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Decir lo que te gusta y con qué frecuencia</a:t>
            </a:r>
            <a:endParaRPr lang="en-US" sz="1250" dirty="0"/>
          </a:p>
        </p:txBody>
      </p:sp>
      <p:sp>
        <p:nvSpPr>
          <p:cNvPr id="14" name="Shape 12"/>
          <p:cNvSpPr/>
          <p:nvPr/>
        </p:nvSpPr>
        <p:spPr>
          <a:xfrm>
            <a:off x="640080" y="3520440"/>
            <a:ext cx="10908792" cy="640080"/>
          </a:xfrm>
          <a:prstGeom prst="roundRect">
            <a:avLst>
              <a:gd name="adj" fmla="val 12857"/>
            </a:avLst>
          </a:prstGeom>
          <a:solidFill>
            <a:srgbClr val="FFFFFF"/>
          </a:solidFill>
          <a:ln w="12700">
            <a:solidFill>
              <a:srgbClr val="E7E1DF"/>
            </a:solidFill>
            <a:prstDash val="solid"/>
          </a:ln>
        </p:spPr>
      </p:sp>
      <p:sp>
        <p:nvSpPr>
          <p:cNvPr id="15" name="Text 13"/>
          <p:cNvSpPr/>
          <p:nvPr/>
        </p:nvSpPr>
        <p:spPr>
          <a:xfrm>
            <a:off x="914400" y="352044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«A ella también le gusta hacer submarinismo.»</a:t>
            </a:r>
            <a:endParaRPr lang="en-US" sz="1600" dirty="0"/>
          </a:p>
        </p:txBody>
      </p:sp>
      <p:sp>
        <p:nvSpPr>
          <p:cNvPr id="16" name="Text 14"/>
          <p:cNvSpPr/>
          <p:nvPr/>
        </p:nvSpPr>
        <p:spPr>
          <a:xfrm>
            <a:off x="7680960" y="352044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Decir lo que te gusta y con qué frecuencia</a:t>
            </a:r>
            <a:endParaRPr lang="en-US" sz="1250" dirty="0"/>
          </a:p>
        </p:txBody>
      </p:sp>
      <p:sp>
        <p:nvSpPr>
          <p:cNvPr id="17" name="Shape 15"/>
          <p:cNvSpPr/>
          <p:nvPr/>
        </p:nvSpPr>
        <p:spPr>
          <a:xfrm>
            <a:off x="640080" y="4297680"/>
            <a:ext cx="10908792" cy="640080"/>
          </a:xfrm>
          <a:prstGeom prst="roundRect">
            <a:avLst>
              <a:gd name="adj" fmla="val 12857"/>
            </a:avLst>
          </a:prstGeom>
          <a:solidFill>
            <a:srgbClr val="FFFFFF"/>
          </a:solidFill>
          <a:ln w="12700">
            <a:solidFill>
              <a:srgbClr val="E7E1DF"/>
            </a:solidFill>
            <a:prstDash val="solid"/>
          </a:ln>
        </p:spPr>
      </p:sp>
      <p:sp>
        <p:nvSpPr>
          <p:cNvPr id="18" name="Text 16"/>
          <p:cNvSpPr/>
          <p:nvPr/>
        </p:nvSpPr>
        <p:spPr>
          <a:xfrm>
            <a:off x="914400" y="429768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«Casi nunca voy a la ópera.»</a:t>
            </a:r>
            <a:endParaRPr lang="en-US" sz="1600" dirty="0"/>
          </a:p>
        </p:txBody>
      </p:sp>
      <p:sp>
        <p:nvSpPr>
          <p:cNvPr id="19" name="Text 17"/>
          <p:cNvSpPr/>
          <p:nvPr/>
        </p:nvSpPr>
        <p:spPr>
          <a:xfrm>
            <a:off x="7680960" y="429768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Decir lo que te gusta y con qué frecuencia</a:t>
            </a:r>
            <a:endParaRPr lang="en-US" sz="1250" dirty="0"/>
          </a:p>
        </p:txBody>
      </p:sp>
      <p:sp>
        <p:nvSpPr>
          <p:cNvPr id="20" name="Shape 18"/>
          <p:cNvSpPr/>
          <p:nvPr/>
        </p:nvSpPr>
        <p:spPr>
          <a:xfrm>
            <a:off x="640080" y="5074920"/>
            <a:ext cx="10908792" cy="640080"/>
          </a:xfrm>
          <a:prstGeom prst="roundRect">
            <a:avLst>
              <a:gd name="adj" fmla="val 12857"/>
            </a:avLst>
          </a:prstGeom>
          <a:solidFill>
            <a:srgbClr val="FFFFFF"/>
          </a:solidFill>
          <a:ln w="12700">
            <a:solidFill>
              <a:srgbClr val="E7E1DF"/>
            </a:solidFill>
            <a:prstDash val="solid"/>
          </a:ln>
        </p:spPr>
      </p:sp>
      <p:sp>
        <p:nvSpPr>
          <p:cNvPr id="21" name="Text 19"/>
          <p:cNvSpPr/>
          <p:nvPr/>
        </p:nvSpPr>
        <p:spPr>
          <a:xfrm>
            <a:off x="914400" y="507492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«Voy al gimnasio tres veces por semana.»</a:t>
            </a:r>
            <a:endParaRPr lang="en-US" sz="1600" dirty="0"/>
          </a:p>
        </p:txBody>
      </p:sp>
      <p:sp>
        <p:nvSpPr>
          <p:cNvPr id="22" name="Text 20"/>
          <p:cNvSpPr/>
          <p:nvPr/>
        </p:nvSpPr>
        <p:spPr>
          <a:xfrm>
            <a:off x="7680960" y="507492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Decir lo que te gusta y con qué frecuencia</a:t>
            </a:r>
            <a:endParaRPr lang="en-US" sz="1250" dirty="0"/>
          </a:p>
        </p:txBody>
      </p:sp>
      <p:sp>
        <p:nvSpPr>
          <p:cNvPr id="23" name="Shape 21"/>
          <p:cNvSpPr/>
          <p:nvPr/>
        </p:nvSpPr>
        <p:spPr>
          <a:xfrm>
            <a:off x="640080" y="5852160"/>
            <a:ext cx="10908792" cy="640080"/>
          </a:xfrm>
          <a:prstGeom prst="roundRect">
            <a:avLst>
              <a:gd name="adj" fmla="val 12857"/>
            </a:avLst>
          </a:prstGeom>
          <a:solidFill>
            <a:srgbClr val="FFFFFF"/>
          </a:solidFill>
          <a:ln w="12700">
            <a:solidFill>
              <a:srgbClr val="E7E1DF"/>
            </a:solidFill>
            <a:prstDash val="solid"/>
          </a:ln>
        </p:spPr>
      </p:sp>
      <p:sp>
        <p:nvSpPr>
          <p:cNvPr id="24" name="Text 22"/>
          <p:cNvSpPr/>
          <p:nvPr/>
        </p:nvSpPr>
        <p:spPr>
          <a:xfrm>
            <a:off x="914400" y="585216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«¡Qué bien!»</a:t>
            </a:r>
            <a:endParaRPr lang="en-US" sz="1600" dirty="0"/>
          </a:p>
        </p:txBody>
      </p:sp>
      <p:sp>
        <p:nvSpPr>
          <p:cNvPr id="25" name="Text 23"/>
          <p:cNvSpPr/>
          <p:nvPr/>
        </p:nvSpPr>
        <p:spPr>
          <a:xfrm>
            <a:off x="7680960" y="585216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Reaccionar con una exclamación</a:t>
            </a:r>
            <a:endParaRPr lang="en-US" sz="1250" dirty="0"/>
          </a:p>
        </p:txBody>
      </p:sp>
      <p:sp>
        <p:nvSpPr>
          <p:cNvPr id="26" name="Shape 24"/>
          <p:cNvSpPr/>
          <p:nvPr/>
        </p:nvSpPr>
        <p:spPr>
          <a:xfrm>
            <a:off x="640080" y="6629400"/>
            <a:ext cx="10908792" cy="640080"/>
          </a:xfrm>
          <a:prstGeom prst="roundRect">
            <a:avLst>
              <a:gd name="adj" fmla="val 12857"/>
            </a:avLst>
          </a:prstGeom>
          <a:solidFill>
            <a:srgbClr val="FFFFFF"/>
          </a:solidFill>
          <a:ln w="12700">
            <a:solidFill>
              <a:srgbClr val="E7E1DF"/>
            </a:solidFill>
            <a:prstDash val="solid"/>
          </a:ln>
        </p:spPr>
      </p:sp>
      <p:sp>
        <p:nvSpPr>
          <p:cNvPr id="27" name="Text 25"/>
          <p:cNvSpPr/>
          <p:nvPr/>
        </p:nvSpPr>
        <p:spPr>
          <a:xfrm>
            <a:off x="914400" y="662940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«A mí me gusta más el frío.»</a:t>
            </a:r>
            <a:endParaRPr lang="en-US" sz="1600" dirty="0"/>
          </a:p>
        </p:txBody>
      </p:sp>
      <p:sp>
        <p:nvSpPr>
          <p:cNvPr id="28" name="Text 26"/>
          <p:cNvSpPr/>
          <p:nvPr/>
        </p:nvSpPr>
        <p:spPr>
          <a:xfrm>
            <a:off x="7680960" y="662940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Decir lo que te gusta y con qué frecuencia</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Tarea final · El tiempo y mis vacaciones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Unidad 11</a:t>
            </a:r>
            <a:endParaRPr lang="en-US" sz="1200" dirty="0"/>
          </a:p>
        </p:txBody>
      </p:sp>
      <p:sp>
        <p:nvSpPr>
          <p:cNvPr id="5" name="Shape 3"/>
          <p:cNvSpPr/>
          <p:nvPr/>
        </p:nvSpPr>
        <p:spPr>
          <a:xfrm>
            <a:off x="640080" y="1005840"/>
            <a:ext cx="10908792" cy="914400"/>
          </a:xfrm>
          <a:prstGeom prst="roundRect">
            <a:avLst>
              <a:gd name="adj" fmla="val 10000"/>
            </a:avLst>
          </a:prstGeom>
          <a:solidFill>
            <a:srgbClr val="FBEAEC"/>
          </a:solidFill>
          <a:ln w="12700">
            <a:solidFill>
              <a:srgbClr val="FBEAEC"/>
            </a:solidFill>
            <a:prstDash val="solid"/>
          </a:ln>
        </p:spPr>
      </p:sp>
      <p:sp>
        <p:nvSpPr>
          <p:cNvPr id="6" name="Text 4"/>
          <p:cNvSpPr/>
          <p:nvPr/>
        </p:nvSpPr>
        <p:spPr>
          <a:xfrm>
            <a:off x="914400" y="1005840"/>
            <a:ext cx="10360152" cy="502920"/>
          </a:xfrm>
          <a:prstGeom prst="rect">
            <a:avLst/>
          </a:prstGeom>
          <a:noFill/>
          <a:ln/>
        </p:spPr>
        <p:txBody>
          <a:bodyPr wrap="square" lIns="0" tIns="0" rIns="0" bIns="0" rtlCol="0" anchor="ctr"/>
          <a:lstStyle/>
          <a:p>
            <a:pPr indent="0" marL="0">
              <a:buNone/>
            </a:pPr>
            <a:r>
              <a:rPr lang="en-US" sz="1800" b="1" dirty="0">
                <a:solidFill>
                  <a:srgbClr val="A8323B"/>
                </a:solidFill>
                <a:latin typeface="Bricolage Grotesque" pitchFamily="34" charset="0"/>
                <a:ea typeface="Bricolage Grotesque" pitchFamily="34" charset="-122"/>
                <a:cs typeface="Bricolage Grotesque" pitchFamily="34" charset="-120"/>
              </a:rPr>
              <a:t>Cuenta qué tiempo hace, adónde vas y qué te gusta hacer.</a:t>
            </a:r>
            <a:endParaRPr lang="en-US" sz="1800" dirty="0"/>
          </a:p>
        </p:txBody>
      </p:sp>
      <p:sp>
        <p:nvSpPr>
          <p:cNvPr id="7" name="Text 5"/>
          <p:cNvSpPr/>
          <p:nvPr/>
        </p:nvSpPr>
        <p:spPr>
          <a:xfrm>
            <a:off x="914400" y="1463040"/>
            <a:ext cx="10360152" cy="41148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Vertel wat voor weer het is, waar je heen gaat en wat je graag doet.</a:t>
            </a:r>
            <a:endParaRPr lang="en-US" sz="1350" dirty="0"/>
          </a:p>
        </p:txBody>
      </p:sp>
      <p:sp>
        <p:nvSpPr>
          <p:cNvPr id="8" name="Shape 6"/>
          <p:cNvSpPr/>
          <p:nvPr/>
        </p:nvSpPr>
        <p:spPr>
          <a:xfrm>
            <a:off x="685800" y="2240280"/>
            <a:ext cx="411480" cy="411480"/>
          </a:xfrm>
          <a:prstGeom prst="ellipse">
            <a:avLst/>
          </a:prstGeom>
          <a:solidFill>
            <a:srgbClr val="D64550"/>
          </a:solidFill>
          <a:ln/>
        </p:spPr>
      </p:sp>
      <p:sp>
        <p:nvSpPr>
          <p:cNvPr id="9" name="Text 7"/>
          <p:cNvSpPr/>
          <p:nvPr/>
        </p:nvSpPr>
        <p:spPr>
          <a:xfrm>
            <a:off x="685800" y="2240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1</a:t>
            </a:r>
            <a:endParaRPr lang="en-US" sz="1400" dirty="0"/>
          </a:p>
        </p:txBody>
      </p:sp>
      <p:sp>
        <p:nvSpPr>
          <p:cNvPr id="10" name="Text 8"/>
          <p:cNvSpPr/>
          <p:nvPr/>
        </p:nvSpPr>
        <p:spPr>
          <a:xfrm>
            <a:off x="1280160" y="2148840"/>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Zeg wat voor weer het vandaag is: hace… of está…</a:t>
            </a:r>
            <a:endParaRPr lang="en-US" sz="1450" dirty="0"/>
          </a:p>
        </p:txBody>
      </p:sp>
      <p:sp>
        <p:nvSpPr>
          <p:cNvPr id="11" name="Shape 9"/>
          <p:cNvSpPr/>
          <p:nvPr/>
        </p:nvSpPr>
        <p:spPr>
          <a:xfrm>
            <a:off x="685800" y="3044952"/>
            <a:ext cx="411480" cy="411480"/>
          </a:xfrm>
          <a:prstGeom prst="ellipse">
            <a:avLst/>
          </a:prstGeom>
          <a:solidFill>
            <a:srgbClr val="D64550"/>
          </a:solidFill>
          <a:ln/>
        </p:spPr>
      </p:sp>
      <p:sp>
        <p:nvSpPr>
          <p:cNvPr id="12" name="Text 10"/>
          <p:cNvSpPr/>
          <p:nvPr/>
        </p:nvSpPr>
        <p:spPr>
          <a:xfrm>
            <a:off x="685800" y="30449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2</a:t>
            </a:r>
            <a:endParaRPr lang="en-US" sz="1400" dirty="0"/>
          </a:p>
        </p:txBody>
      </p:sp>
      <p:sp>
        <p:nvSpPr>
          <p:cNvPr id="13" name="Text 11"/>
          <p:cNvSpPr/>
          <p:nvPr/>
        </p:nvSpPr>
        <p:spPr>
          <a:xfrm>
            <a:off x="1280160" y="2953512"/>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Kies een bestemming en zeg hoe je er geraakt: voy a… en…</a:t>
            </a:r>
            <a:endParaRPr lang="en-US" sz="1450" dirty="0"/>
          </a:p>
        </p:txBody>
      </p:sp>
      <p:sp>
        <p:nvSpPr>
          <p:cNvPr id="14" name="Shape 12"/>
          <p:cNvSpPr/>
          <p:nvPr/>
        </p:nvSpPr>
        <p:spPr>
          <a:xfrm>
            <a:off x="685800" y="3849624"/>
            <a:ext cx="411480" cy="411480"/>
          </a:xfrm>
          <a:prstGeom prst="ellipse">
            <a:avLst/>
          </a:prstGeom>
          <a:solidFill>
            <a:srgbClr val="D64550"/>
          </a:solidFill>
          <a:ln/>
        </p:spPr>
      </p:sp>
      <p:sp>
        <p:nvSpPr>
          <p:cNvPr id="15" name="Text 13"/>
          <p:cNvSpPr/>
          <p:nvPr/>
        </p:nvSpPr>
        <p:spPr>
          <a:xfrm>
            <a:off x="685800" y="384962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3</a:t>
            </a:r>
            <a:endParaRPr lang="en-US" sz="1400" dirty="0"/>
          </a:p>
        </p:txBody>
      </p:sp>
      <p:sp>
        <p:nvSpPr>
          <p:cNvPr id="16" name="Text 14"/>
          <p:cNvSpPr/>
          <p:nvPr/>
        </p:nvSpPr>
        <p:spPr>
          <a:xfrm>
            <a:off x="1280160" y="3758184"/>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Zeg wat je daar graag doet met me gusta of me encanta.</a:t>
            </a:r>
            <a:endParaRPr lang="en-US" sz="1450" dirty="0"/>
          </a:p>
        </p:txBody>
      </p:sp>
      <p:sp>
        <p:nvSpPr>
          <p:cNvPr id="17" name="Shape 15"/>
          <p:cNvSpPr/>
          <p:nvPr/>
        </p:nvSpPr>
        <p:spPr>
          <a:xfrm>
            <a:off x="685800" y="4654296"/>
            <a:ext cx="411480" cy="411480"/>
          </a:xfrm>
          <a:prstGeom prst="ellipse">
            <a:avLst/>
          </a:prstGeom>
          <a:solidFill>
            <a:srgbClr val="D64550"/>
          </a:solidFill>
          <a:ln/>
        </p:spPr>
      </p:sp>
      <p:sp>
        <p:nvSpPr>
          <p:cNvPr id="18" name="Text 16"/>
          <p:cNvSpPr/>
          <p:nvPr/>
        </p:nvSpPr>
        <p:spPr>
          <a:xfrm>
            <a:off x="685800" y="46542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4</a:t>
            </a:r>
            <a:endParaRPr lang="en-US" sz="1400" dirty="0"/>
          </a:p>
        </p:txBody>
      </p:sp>
      <p:sp>
        <p:nvSpPr>
          <p:cNvPr id="19" name="Text 17"/>
          <p:cNvSpPr/>
          <p:nvPr/>
        </p:nvSpPr>
        <p:spPr>
          <a:xfrm>
            <a:off x="1280160" y="4562856"/>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Voeg één woord toe dat zegt hóé vaak: siempre · a veces · nunca.</a:t>
            </a:r>
            <a:endParaRPr lang="en-US" sz="1450" dirty="0"/>
          </a:p>
        </p:txBody>
      </p:sp>
      <p:sp>
        <p:nvSpPr>
          <p:cNvPr id="20" name="Shape 18"/>
          <p:cNvSpPr/>
          <p:nvPr/>
        </p:nvSpPr>
        <p:spPr>
          <a:xfrm>
            <a:off x="685800" y="5458968"/>
            <a:ext cx="411480" cy="411480"/>
          </a:xfrm>
          <a:prstGeom prst="ellipse">
            <a:avLst/>
          </a:prstGeom>
          <a:solidFill>
            <a:srgbClr val="D64550"/>
          </a:solidFill>
          <a:ln/>
        </p:spPr>
      </p:sp>
      <p:sp>
        <p:nvSpPr>
          <p:cNvPr id="21" name="Text 19"/>
          <p:cNvSpPr/>
          <p:nvPr/>
        </p:nvSpPr>
        <p:spPr>
          <a:xfrm>
            <a:off x="685800" y="54589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5</a:t>
            </a:r>
            <a:endParaRPr lang="en-US" sz="1400" dirty="0"/>
          </a:p>
        </p:txBody>
      </p:sp>
      <p:sp>
        <p:nvSpPr>
          <p:cNvPr id="22" name="Text 20"/>
          <p:cNvSpPr/>
          <p:nvPr/>
        </p:nvSpPr>
        <p:spPr>
          <a:xfrm>
            <a:off x="1280160" y="5367528"/>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Vraag het je buur: «¿Y a ti? ¿Qué te gusta hacer en vacaciones?»</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8323B"/>
        </a:solidFill>
      </p:bgPr>
    </p:bg>
    <p:spTree>
      <p:nvGrpSpPr>
        <p:cNvPr id="1" name=""/>
        <p:cNvGrpSpPr/>
        <p:nvPr/>
      </p:nvGrpSpPr>
      <p:grpSpPr>
        <a:xfrm>
          <a:off x="0" y="0"/>
          <a:ext cx="0" cy="0"/>
          <a:chOff x="0" y="0"/>
          <a:chExt cx="0" cy="0"/>
        </a:xfrm>
      </p:grpSpPr>
      <p:sp>
        <p:nvSpPr>
          <p:cNvPr id="2" name="Text 0"/>
          <p:cNvSpPr/>
          <p:nvPr/>
        </p:nvSpPr>
        <p:spPr>
          <a:xfrm>
            <a:off x="731520" y="2194560"/>
            <a:ext cx="10725912" cy="914400"/>
          </a:xfrm>
          <a:prstGeom prst="rect">
            <a:avLst/>
          </a:prstGeom>
          <a:noFill/>
          <a:ln/>
        </p:spPr>
        <p:txBody>
          <a:bodyPr wrap="square" lIns="0" tIns="0" rIns="0" bIns="0" rtlCol="0" anchor="ctr"/>
          <a:lstStyle/>
          <a:p>
            <a:pPr indent="0" marL="0">
              <a:buNone/>
            </a:pPr>
            <a:r>
              <a:rPr lang="en-US" sz="4600" b="1" dirty="0">
                <a:solidFill>
                  <a:srgbClr val="FFFFFF"/>
                </a:solidFill>
                <a:latin typeface="Bricolage Grotesque" pitchFamily="34" charset="0"/>
                <a:ea typeface="Bricolage Grotesque" pitchFamily="34" charset="-122"/>
                <a:cs typeface="Bricolage Grotesque" pitchFamily="34" charset="-120"/>
              </a:rPr>
              <a:t>¿Y tú?</a:t>
            </a:r>
            <a:endParaRPr lang="en-US" sz="4600" dirty="0"/>
          </a:p>
        </p:txBody>
      </p:sp>
      <p:sp>
        <p:nvSpPr>
          <p:cNvPr id="3" name="Text 1"/>
          <p:cNvSpPr/>
          <p:nvPr/>
        </p:nvSpPr>
        <p:spPr>
          <a:xfrm>
            <a:off x="731520" y="3200400"/>
            <a:ext cx="10725912" cy="731520"/>
          </a:xfrm>
          <a:prstGeom prst="rect">
            <a:avLst/>
          </a:prstGeom>
          <a:noFill/>
          <a:ln/>
        </p:spPr>
        <p:txBody>
          <a:bodyPr wrap="square" lIns="0" tIns="0" rIns="0" bIns="0" rtlCol="0" anchor="ctr"/>
          <a:lstStyle/>
          <a:p>
            <a:pPr indent="0" marL="0">
              <a:buNone/>
            </a:pPr>
            <a:r>
              <a:rPr lang="en-US" sz="1700" dirty="0">
                <a:solidFill>
                  <a:srgbClr val="F6DDE0"/>
                </a:solidFill>
                <a:latin typeface="Inter" pitchFamily="34" charset="0"/>
                <a:ea typeface="Inter" pitchFamily="34" charset="-122"/>
                <a:cs typeface="Inter" pitchFamily="34" charset="-120"/>
              </a:rPr>
              <a:t>Wat neem je mee uit deze unidad? Noteer drie chunks die je zeker wil onthouden.</a:t>
            </a:r>
            <a:endParaRPr lang="en-US" sz="1700" dirty="0"/>
          </a:p>
        </p:txBody>
      </p:sp>
      <p:sp>
        <p:nvSpPr>
          <p:cNvPr id="4" name="Text 2"/>
          <p:cNvSpPr/>
          <p:nvPr/>
        </p:nvSpPr>
        <p:spPr>
          <a:xfrm>
            <a:off x="731520" y="4023360"/>
            <a:ext cx="10725912" cy="731520"/>
          </a:xfrm>
          <a:prstGeom prst="rect">
            <a:avLst/>
          </a:prstGeom>
          <a:noFill/>
          <a:ln/>
        </p:spPr>
        <p:txBody>
          <a:bodyPr wrap="square" lIns="0" tIns="0" rIns="0" bIns="0" rtlCol="0" anchor="ctr"/>
          <a:lstStyle/>
          <a:p>
            <a:pPr indent="0" marL="0">
              <a:buNone/>
            </a:pPr>
            <a:r>
              <a:rPr lang="en-US" sz="1600" dirty="0">
                <a:solidFill>
                  <a:srgbClr val="FFFFFF"/>
                </a:solidFill>
                <a:latin typeface="Bricolage Grotesque" pitchFamily="34" charset="0"/>
                <a:ea typeface="Bricolage Grotesque" pitchFamily="34" charset="-122"/>
                <a:cs typeface="Bricolage Grotesque" pitchFamily="34" charset="-120"/>
              </a:rPr>
              <a:t>· se va de vacaciones    · hace buen tiempo    · hace un frío    · nunca hace ese frío    · me gusta hacer submarinismo    · le gusta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C4 · Unidad 11 · Aquí hace demasiado calor</dc:title>
  <dc:subject>PptxGenJS Presentation</dc:subject>
  <dc:creator>Español en la práctica</dc:creator>
  <cp:lastModifiedBy>Español en la práctica</cp:lastModifiedBy>
  <cp:revision>1</cp:revision>
  <dcterms:created xsi:type="dcterms:W3CDTF">2026-08-09T19:11:55Z</dcterms:created>
  <dcterms:modified xsi:type="dcterms:W3CDTF">2026-08-09T19:11:55Z</dcterms:modified>
</cp:coreProperties>
</file>