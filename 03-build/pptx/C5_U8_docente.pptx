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notesSlides/notesSlide22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77" r:id="rId29"/>
    <p:sldId id="278" r:id="rId30"/>
    <p:sldId id="279" r:id="rId31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TITLE. Parada 8 = Perú (Cusco · Machu Picchu): de laatste halte van jaar 5. Gastvrouw = Nina. Doel: contar qué has hecho met het pretérito perfecto compuesto (haber + participio), de participios (reg. -ado/-ido + irregular hecho/visto/dicho…), de marcadores (ya/todavía no/hoy/alguna vez/nunca) en el tiempo (hace sol/frío, llueve, nieva, está nublado). Kernvalstrik: haber ≠ tener (has hecho, niet tienes hecho); participio blijft gelijk (ha comidO). Docentdeck = vrije navigatie + oplossing in notities; leerlingdeck (.pptx, F5) = elke klik onthult het antwoord.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LESSON_MENU. Elke tegel = hyperlink; op elke oefendia staat ⌂ Menú terug. Richttijd 50 min. Begin bij §1 (perfecto compuesto) → §2 (participios) = het hart van de unit. Kruisverwijzing print/HTML: «oefen online — 18 juegos».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VOCABULARY. Toon per cluster (viajes/transporte/clima). Laat raden zónder de NL-gloss. Online: flip cards + Memoria de los viajes + El tiempo y el clima.</a:t>
            </a:r>
          </a:p>
          <a:p/>
          <a:p>
            <a:r>
              <a:t>— SOLUCIÓN (docent · presenter view) —</a:t>
            </a:r>
          </a:p>
          <a:p>
            <a:r>
              <a:t>🔴 «Het is warm (weer)» = hace calor (niet «es caliente»).</a:t>
            </a:r>
          </a:p>
          <a:p>
            <a:r>
              <a:t>Drie manieren voor het weer: hace (sol/frío) · un verbo (llueve/nieva) · está (nublado).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(color-coding). Twee delen zichtbaar maken: haber (vervoegd) + participio (vast). Verbindt verleden met nu (hoy/esta semana). Online: «completa: haber + participio» (cloze) + haber Tetris.</a:t>
            </a:r>
          </a:p>
          <a:p/>
          <a:p>
            <a:r>
              <a:t>— SOLUCIÓN (docent · presenter view) —</a:t>
            </a:r>
          </a:p>
          <a:p>
            <a:r>
              <a:t>Regla: haber (he, has, ha, hemos, habéis, han) + participio. Auxiliar = haber, niet tener. De participio blijft gelijk (ha comidO).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(reveal). Laat de klas eerst de vorm bouwen (haber + participio), klik dan. Online: «haber + participio» (cloze) + haber Tetris.</a:t>
            </a:r>
          </a:p>
          <a:p/>
          <a:p>
            <a:r>
              <a:t>— SOLUCIÓN (docent · presenter view) —</a:t>
            </a:r>
          </a:p>
          <a:p>
            <a:r>
              <a:t>Onregelmatige participios hier: ver → visto · escribir → escrito · hacer → hecho.</a:t>
            </a:r>
          </a:p>
          <a:p>
            <a:r>
              <a:t>De rest is regelmatig: subir → subido · sacar → sacado · viajar → viajado.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participios (reveal). Onthul per kaart; laat de vorm voorspellen. Rood = irregular (memoriseren). Online: «participio ↔ infinitivo» (match) + «regular o irregular» (classify) + «participio irregular» (cloze).</a:t>
            </a:r>
          </a:p>
          <a:p/>
          <a:p>
            <a:r>
              <a:t>— SOLUCIÓN (docent · presenter view) —</a:t>
            </a:r>
          </a:p>
          <a:p>
            <a:r>
              <a:t>🔴 Los 8 irregulares: hecho, visto, dicho, escrito, vuelto, puesto, abierto, roto. Truco: muchos acaban en -to o -cho.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marcadores. Twee soorten: periode-die-loopt vs. ervaring. Onthul per klik. Online: «¿ya, todavía no o…?» (cloze) + «periodo o experiencia» (classify).</a:t>
            </a:r>
          </a:p>
          <a:p/>
          <a:p>
            <a:r>
              <a:t>— SOLUCIÓN (docent · presenter view) —</a:t>
            </a:r>
          </a:p>
          <a:p>
            <a:r>
              <a:t>Deze marcadores + perfecto compuesto: hoy · esta semana · este año · ya · todavía no · alguna vez · nunca · muchas veces.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participio (retrieval). Klas roept regular/irregular vóór de klik. Online: «regular o irregular» (classify).</a:t>
            </a:r>
          </a:p>
          <a:p/>
          <a:p>
            <a:r>
              <a:t>— SOLUCIÓN (docent · presenter view) —</a:t>
            </a:r>
          </a:p>
          <a:p>
            <a:r>
              <a:t>Regular = -ado (-ar) / -ido (-er,-ir). Irregular = hecho, visto, dicho, escrito, vuelto, puesto, abierto, roto.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READING (lezen→schrijven-keten). Eerst voorspellen (titel/foto), dan scannen. Onthul de antwoorden pas na de klas. Daarna: leerlingen schrijven hun eigen dagboekdag (transfer → Tarea Mis vacaciones).</a:t>
            </a:r>
          </a:p>
          <a:p/>
          <a:p>
            <a:r>
              <a:t>— SOLUCIÓN (docent · presenter view) —</a:t>
            </a:r>
          </a:p>
          <a:p>
            <a:r>
              <a:t>🎯 Leesdoel: volg wat Nina wél/niet gedaan heeft + het weer. Scannen, niet élk woord.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LISTENING (selectief → spreken). Lees elk verhaal voor (of TTS). Klas noteert het participio; onthul per klik. Koppel meteen aan de spreekopdracht (§1 ¿qué has hecho tú?).</a:t>
            </a:r>
          </a:p>
          <a:p/>
          <a:p>
            <a:r>
              <a:t>— SOLUCIÓN (docent · presenter view) —</a:t>
            </a:r>
          </a:p>
          <a:p>
            <a:r>
              <a:t>Modelo-audio (docent leest of TTS): «Este verano he subido a Machu Picchu y he sacado muchas fotos.» …</a:t>
            </a:r>
          </a:p>
          <a:p>
            <a:r>
              <a:t>Daarna spreken: leerling vertelt zelf wat hij/zij gedaan heeft.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ya/todavía no (reveal). Coro: klas zegt ya/todavía no vóór de klik. Online: «¿ya, todavía no o…?» (cloze).</a:t>
            </a:r>
          </a:p>
          <a:p/>
          <a:p>
            <a:r>
              <a:t>— SOLUCIÓN (docent · presenter view) —</a:t>
            </a:r>
          </a:p>
          <a:p>
            <a:r>
              <a:t>ya (✅ klaar) staat vóór het perfecto; todavía no (⏳) ook. ¿Alguna vez has…? = «Heb je ooit…?».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SPEAKING (interactie). Automatiseer vertellen-wat-je-gedaan-hebt in rondes met afbouwende steun. Online: recorder (opname + zelfevaluatie). Print blijft bruikbaar zonder opname.</a:t>
            </a:r>
          </a:p>
          <a:p/>
          <a:p>
            <a:r>
              <a:t>— SOLUCIÓN (docent · presenter view) —</a:t>
            </a:r>
          </a:p>
          <a:p>
            <a:r>
              <a:t>Modelo: «He ido a Perú. He viajado en avión. Ha hecho frío en la sierra. He visto Machu Picchu. Me ha encantado.»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WRITING (lezen→schrijven). Checklist = zichtbare steun; onthul het model pas na het schrijven (retrieval). Nakijkfocus: perfecto compuesto (4×), participios, marcadores, het weer. Dit voedt de Tarea «Mis vacaciones».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VOCAB transporte/clima. Klik onthult; koppel elk woord aan een perfecto-compuesto-zin. Volledige set + audio op de digitale pagina (flip cards + memoria).</a:t>
            </a:r>
          </a:p>
          <a:p/>
          <a:p>
            <a:r>
              <a:t>— SOLUCIÓN (docent · presenter view) —</a:t>
            </a:r>
          </a:p>
          <a:p>
            <a:r>
              <a:t>Combineer met perfecto compuesto: He viajado en tren · ha hecho sol · me he puesto el abrigo (hace frío).</a:t>
            </a:r>
          </a:p>
          <a:p>
            <a:r>
              <a:t>Drie manieren voor het weer: hace (sol/frío) · un verbo (llueve/nieva) · está (nublado).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TALLER. Tilde diacrítica = valstrik. Conectores = ideaal voor het reisdagboek. Meteen toepassen in de mini-tekst. Online: «tilde diacrítica» + «ordena el diario».</a:t>
            </a:r>
          </a:p>
          <a:p/>
          <a:p>
            <a:r>
              <a:t>— SOLUCIÓN (docent · presenter view) —</a:t>
            </a:r>
          </a:p>
          <a:p>
            <a:r>
              <a:t>🔴 A: het streepje zit op het woord met de «sterkste» betekenis: persoon (tú, él), vraag (qué), ja (sí), meer (más).</a:t>
            </a:r>
          </a:p>
          <a:p>
            <a:r>
              <a:t>B: primero → luego/después → al final (voor je reisverslag).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CULTURE (identiteit in diversiteit, LPD 5). Onthul per kaart. Vergelijk de drie klimaatzones met België. Bruggetje naar de Tarea Mis vacaciones. Online: «país ↔ clima» (match) + de kaart van de Spaanstalige wereld.</a:t>
            </a:r>
          </a:p>
          <a:p/>
          <a:p>
            <a:r>
              <a:t>— SOLUCIÓN (docent · presenter view) —</a:t>
            </a:r>
          </a:p>
          <a:p>
            <a:r>
              <a:t>Actividad: schrijf 3 zinnen over het weer waar jij woont in verschillende seizoenen (¿qué tiempo hace en verano/invierno?).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el tiempo. Klas vult de zin vóór de klik. Daarna: het weerbericht van een verzonnen stad vertellen (spreken).</a:t>
            </a:r>
          </a:p>
          <a:p/>
          <a:p>
            <a:r>
              <a:t>— SOLUCIÓN (docent · presenter view) —</a:t>
            </a:r>
          </a:p>
          <a:p>
            <a:r>
              <a:t>Drie manieren: hace + sol/frío/calor · un verbo (llueve/nieva) · está nublado / hay tormenta. Temperatuur: estamos a … grados.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FINAL_MISSION (communicatieve eindtaak). Afzender/ontvanger/doel/situatie/resultaat expliciet. Beoordeel met de rúbrica; opname + zelfevaluatie op de digitale pagina. Voeg een mini-encuesta + grafiekje toe (¿adónde ha viajado la clase?).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mezcla (retrieval vóór herlezen). Zonder waarschuwing door elkaar. Exit-ticket. Zwakke punten → terug via menu.</a:t>
            </a:r>
          </a:p>
          <a:p/>
          <a:p>
            <a:r>
              <a:t>— SOLUCIÓN (docent · presenter view) —</a:t>
            </a:r>
          </a:p>
          <a:p>
            <a:r>
              <a:t>Alles komt terug: haber · participios (reg/irreg) · marcadores · el tiempo.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FEEDBACK/REPASO. Semáforo = zelfevaluatie. Repaso-drills online (18 spellen). Fin del viaje de 5º; bruggetje: C6 «Historias y mundos» — el viaje continúa hacia el pasado (indefinido/imperfecto, biografías).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Alleen in het docentdeck. Volledige LPD-dekking en didactische route staan in het cursusdossier (U8_cocktail.md).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 2 · Nunca he… — 🔓 puzzel &amp; escape</a:t>
            </a:r>
          </a:p>
          <a:p>
            <a:r>
              <a:t>OPDRACHT: Zeg iets wat jij nooit gedaan hebt maar waarvan je denkt dat anderen het wél deden.</a:t>
            </a:r>
          </a:p>
          <a:p>
            <a:r>
              <a:t>DE REGEL: Elke bewering begint met «Nunca he» plus een participium — en je moet zelf verliezen als je liegt. Wie een zin zonder perfecto zegt, verliest ook een vinger.</a:t>
            </a:r>
          </a:p>
          <a:p>
            <a:r>
              <a:t>VERLOOP: Todos con cinco dedos arriba. | Por turnos: «Nunca he …». | Quien sí lo ha hecho, baja un dedo y lo cuenta en una frase. | Gana quien queda con dedos. Y la clase apunta los participios nuevos.</a:t>
            </a:r>
          </a:p>
          <a:p>
            <a:r>
              <a:t>SLEUTEL: De negen aanzetten dekken samen zeven onregelmatige participia (visto, roto, dicho, escrito, vuelto, hecho, puesto). Het spel is dus een verkapte drill.  ||  «Yo sí: he …» is verplicht bij het zakken van een vinger — anders wordt het een spel zonder taal. Dat is de belangrijkste spelregel om te bewaken.  ||  Houd de beweringen onschuldig: dit is een klasspel, geen biecht. De lijst «seguras» geeft veilige voorbeelden voor wie niets bedenkt.</a:t>
            </a:r>
          </a:p>
          <a:p>
            <a:r>
              <a:t>NOTA: Speel twee rondes: in de tweede mag niemand een werkwoord herhalen dat al gevallen is. Daar begint de echte woordenschat.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 6 · La entrevista al guía — 🎭 simulatie met beperking</a:t>
            </a:r>
          </a:p>
          <a:p>
            <a:r>
              <a:t>OPDRACHT: Bereid vijf perfecto-vragen voor, luister en vat samen wat er veranderd is.</a:t>
            </a:r>
          </a:p>
          <a:p>
            <a:r>
              <a:t>DE REGEL: Alle vijf de vragen staan in het perfecto compuesto en mogen niet met ja of nee te beantwoorden zijn. Een vraag die «sí» oplevert, telt niet mee.</a:t>
            </a:r>
          </a:p>
          <a:p>
            <a:r>
              <a:t>VERLOOP: En grupo: escribid cinco preguntas en perfecto. | Comprobad: ninguna se contesta con sí o no. | Escuchad la entrevista y anotad las respuestas. | Resumid en tres frases qué ha cambiado en treinta años.</a:t>
            </a:r>
          </a:p>
          <a:p>
            <a:r>
              <a:t>SLEUTEL: De vier «cerradas» in de data zijn expres gesloten vragen: ze staan correct in het perfecto en leveren toch niets op. Laat de klas ze eerst herformuleren.  ||  «¿Cuántas veces ha subido usted?» is de brug tussen §2 en §3: perfecto plus telbaarheid.  ||  De samenvatting moet de tweeslag bevatten: er is iets beter geworden (lokale gidsen, betere lonen) én iets slechter (afval, drukte). Wie maar één kant noemt, heeft het interview half gehoord.</a:t>
            </a:r>
          </a:p>
          <a:p>
            <a:r>
              <a:t>NOTA: Rosa Quispe is een samengesteld personage op basis van hoe het Camino Inca geregeld is; geen echte persoon.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 7 · El clima que decide — ⚖️ onderhandeling &amp; dilemma</a:t>
            </a:r>
          </a:p>
          <a:p>
            <a:r>
              <a:t>OPDRACHT: Beslis samen op welke dag jullie vertrekken en verdedig het met het weer.</a:t>
            </a:r>
          </a:p>
          <a:p>
            <a:r>
              <a:t>DE REGEL: Elke stem wordt verantwoord met een weerdetail én een gevolg («si llueve, el camino…»). Een stem zonder weerreden telt niet mee.</a:t>
            </a:r>
          </a:p>
          <a:p>
            <a:r>
              <a:t>VERLOOP: Leed los tres pronósticos. | Cada uno defiende un día. Con el tiempo, no con el gusto. | Negociad hasta que haya mayoría. | Escribid la decisión en una frase, con la razón.</a:t>
            </a:r>
          </a:p>
          <a:p>
            <a:r>
              <a:t>SLEUTEL: Er is geen juiste dag: donderdag is mooi maar gevaarlijk na drieën, vrijdag is veilig maar koud, zaterdag is perfect én overvol. Elk antwoord is verdedigbaar.  ||  De sterkste argumenten koppelen weer aan gevolg: niet «llueve» maar «si llueve, el camino de piedra resbala». Dat is precies de conditionele zin met si + presente, die in C5 wél mag.  ||  Toets de verantwoording, niet de keuze. Een groep die unaniem zaterdag kiest zonder de drukte te noemen, heeft de tabel niet gelezen.</a:t>
            </a:r>
          </a:p>
          <a:p>
            <a:r>
              <a:t>NOTA: Werkt ook als stemming met de voeten: drie hoeken in het lokaal, en verhuizen mag alleen ná een argument in het Spaans.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4.xml"/><Relationship Id="rId7" Type="http://schemas.openxmlformats.org/officeDocument/2006/relationships/slide" Target="slide9.xml"/><Relationship Id="rId8" Type="http://schemas.openxmlformats.org/officeDocument/2006/relationships/slide" Target="slide16.xml"/><Relationship Id="rId9" Type="http://schemas.openxmlformats.org/officeDocument/2006/relationships/slide" Target="slide18.xml"/><Relationship Id="rId10" Type="http://schemas.openxmlformats.org/officeDocument/2006/relationships/slide" Target="slide2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Relationship Id="rId4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Relationship Id="rId4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slide" Target="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slide" Target="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82296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3108960" cy="3291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0" b="1" i="0">
                <a:solidFill>
                  <a:srgbClr val="2EB085"/>
                </a:solidFill>
                <a:latin typeface="Bricolage Grotesque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777240"/>
            <a:ext cx="44092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57355"/>
                </a:solidFill>
                <a:latin typeface="Inter"/>
              </a:rPr>
              <a:t>LA RUTA · PARADA 8 · PERÚ · CUSCO · MACHU PICCHU 🇵🇪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234440"/>
            <a:ext cx="786384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0" b="1" i="0">
                <a:solidFill>
                  <a:srgbClr val="FFFFFF"/>
                </a:solidFill>
                <a:latin typeface="Bricolage Grotesque"/>
              </a:rPr>
              <a:t>¿Qué has hecho?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468880"/>
            <a:ext cx="76809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E4F4EE"/>
                </a:solidFill>
                <a:latin typeface="Inter"/>
              </a:rPr>
              <a:t>Viajes y experiencias recientes: el perfecto compuesto, los participios y el tiempo — en los Andes, con Nina.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3063240"/>
            <a:ext cx="76809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Bricolage Grotesque"/>
              </a:rPr>
              <a:t>¿Qué has hecho este año?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4F4EE"/>
                </a:solidFill>
                <a:latin typeface="Inter"/>
              </a:rPr>
              <a:t>Wat heb je dit jaar gedaan?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262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La gente de la ruta — je reisgezellen</a:t>
            </a:r>
          </a:p>
        </p:txBody>
      </p:sp>
      <p:pic>
        <p:nvPicPr>
          <p:cNvPr id="11" name="Picture 10" descr="n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937760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Nina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anfitriona</a:t>
            </a:r>
          </a:p>
        </p:txBody>
      </p:sp>
      <p:pic>
        <p:nvPicPr>
          <p:cNvPr id="13" name="Picture 12" descr="luc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59" y="4937760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85999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Lucia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Sevilla 🇪🇸</a:t>
            </a:r>
          </a:p>
        </p:txBody>
      </p:sp>
      <p:pic>
        <p:nvPicPr>
          <p:cNvPr id="15" name="Picture 14" descr="die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78" y="493776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60518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Diego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CDMX 🇲🇽</a:t>
            </a:r>
          </a:p>
        </p:txBody>
      </p:sp>
      <p:pic>
        <p:nvPicPr>
          <p:cNvPr id="17" name="Picture 16" descr="val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197" y="4937760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37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Valen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Cartagena 🇨🇴</a:t>
            </a:r>
          </a:p>
        </p:txBody>
      </p:sp>
      <p:pic>
        <p:nvPicPr>
          <p:cNvPr id="19" name="Picture 18" descr="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16" y="4937760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09556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Tú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de reiziger = jij</a:t>
            </a:r>
          </a:p>
        </p:txBody>
      </p:sp>
      <p:pic>
        <p:nvPicPr>
          <p:cNvPr id="21" name="Picture 20" descr="mochil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35" y="4937760"/>
            <a:ext cx="914400" cy="914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84075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Mochila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La mochila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¿QUÉ HAS HECHO?   ·   C5 · A1 · La Ruta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MENÚ DE LA LECCIÓN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mapa de la Unidad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Kies je route — klik een tegel. Alles oefent naar de Tarea «Mis vacaciones» toe.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457200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hlinkClick action="ppaction://hlinksldjump" r:id="rId3"/>
          </p:cNvPr>
          <p:cNvSpPr/>
          <p:nvPr/>
        </p:nvSpPr>
        <p:spPr>
          <a:xfrm>
            <a:off x="457200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He hecho…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perfecto compuesto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3</a:t>
            </a:r>
          </a:p>
        </p:txBody>
      </p:sp>
      <p:sp>
        <p:nvSpPr>
          <p:cNvPr id="15" name="Rounded Rectangle 14">
            <a:hlinkClick action="ppaction://hlinksldjump" r:id="rId4"/>
          </p:cNvPr>
          <p:cNvSpPr/>
          <p:nvPr/>
        </p:nvSpPr>
        <p:spPr>
          <a:xfrm>
            <a:off x="3328416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>
            <a:hlinkClick action="ppaction://hlinksldjump" r:id="rId4"/>
          </p:cNvPr>
          <p:cNvSpPr/>
          <p:nvPr/>
        </p:nvSpPr>
        <p:spPr>
          <a:xfrm>
            <a:off x="3328416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38144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Participios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-ado/-ido + irregular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3008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6</a:t>
            </a:r>
          </a:p>
        </p:txBody>
      </p:sp>
      <p:sp>
        <p:nvSpPr>
          <p:cNvPr id="21" name="Rounded Rectangle 20">
            <a:hlinkClick action="ppaction://hlinksldjump" r:id="rId5"/>
          </p:cNvPr>
          <p:cNvSpPr/>
          <p:nvPr/>
        </p:nvSpPr>
        <p:spPr>
          <a:xfrm>
            <a:off x="6199632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>
            <a:hlinkClick action="ppaction://hlinksldjump" r:id="rId5"/>
          </p:cNvPr>
          <p:cNvSpPr/>
          <p:nvPr/>
        </p:nvSpPr>
        <p:spPr>
          <a:xfrm>
            <a:off x="6199632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Marcadores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ya · todavía no · nunca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7</a:t>
            </a:r>
          </a:p>
        </p:txBody>
      </p:sp>
      <p:sp>
        <p:nvSpPr>
          <p:cNvPr id="27" name="Rounded Rectangle 26">
            <a:hlinkClick action="ppaction://hlinksldjump" r:id="rId6"/>
          </p:cNvPr>
          <p:cNvSpPr/>
          <p:nvPr/>
        </p:nvSpPr>
        <p:spPr>
          <a:xfrm>
            <a:off x="9070848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>
            <a:hlinkClick action="ppaction://hlinksldjump" r:id="rId6"/>
          </p:cNvPr>
          <p:cNvSpPr/>
          <p:nvPr/>
        </p:nvSpPr>
        <p:spPr>
          <a:xfrm>
            <a:off x="9070848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80576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¿Qué tiempo hace?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hace sol · llueve · nieva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4</a:t>
            </a:r>
          </a:p>
        </p:txBody>
      </p:sp>
      <p:sp>
        <p:nvSpPr>
          <p:cNvPr id="33" name="Rounded Rectangle 32">
            <a:hlinkClick action="ppaction://hlinksldjump" r:id="rId7"/>
          </p:cNvPr>
          <p:cNvSpPr/>
          <p:nvPr/>
        </p:nvSpPr>
        <p:spPr>
          <a:xfrm>
            <a:off x="457200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>
            <a:hlinkClick action="ppaction://hlinksldjump" r:id="rId7"/>
          </p:cNvPr>
          <p:cNvSpPr/>
          <p:nvPr/>
        </p:nvSpPr>
        <p:spPr>
          <a:xfrm>
            <a:off x="457200" y="384048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6928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Lectura + escucha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diario de Nina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56692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9</a:t>
            </a:r>
          </a:p>
        </p:txBody>
      </p:sp>
      <p:sp>
        <p:nvSpPr>
          <p:cNvPr id="39" name="Rounded Rectangle 38">
            <a:hlinkClick action="ppaction://hlinksldjump" r:id="rId8"/>
          </p:cNvPr>
          <p:cNvSpPr/>
          <p:nvPr/>
        </p:nvSpPr>
        <p:spPr>
          <a:xfrm>
            <a:off x="3328416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>
            <a:hlinkClick action="ppaction://hlinksldjump" r:id="rId8"/>
          </p:cNvPr>
          <p:cNvSpPr/>
          <p:nvPr/>
        </p:nvSpPr>
        <p:spPr>
          <a:xfrm>
            <a:off x="3328416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438144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58768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Cultura · Machu Picchu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93008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los Andes y el clima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93008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16</a:t>
            </a:r>
          </a:p>
        </p:txBody>
      </p:sp>
      <p:sp>
        <p:nvSpPr>
          <p:cNvPr id="45" name="Rounded Rectangle 44">
            <a:hlinkClick action="ppaction://hlinksldjump" r:id="rId9"/>
          </p:cNvPr>
          <p:cNvSpPr/>
          <p:nvPr/>
        </p:nvSpPr>
        <p:spPr>
          <a:xfrm>
            <a:off x="6199632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>
            <a:hlinkClick action="ppaction://hlinksldjump" r:id="rId9"/>
          </p:cNvPr>
          <p:cNvSpPr/>
          <p:nvPr/>
        </p:nvSpPr>
        <p:spPr>
          <a:xfrm>
            <a:off x="6199632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09360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9984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Tarea · Mis vacaciones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4224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reisverslag (vlog/tekst)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64224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18</a:t>
            </a:r>
          </a:p>
        </p:txBody>
      </p:sp>
      <p:sp>
        <p:nvSpPr>
          <p:cNvPr id="51" name="Rounded Rectangle 50">
            <a:hlinkClick action="ppaction://hlinksldjump" r:id="rId10"/>
          </p:cNvPr>
          <p:cNvSpPr/>
          <p:nvPr/>
        </p:nvSpPr>
        <p:spPr>
          <a:xfrm>
            <a:off x="9070848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>
            <a:hlinkClick action="ppaction://hlinksldjump" r:id="rId10"/>
          </p:cNvPr>
          <p:cNvSpPr/>
          <p:nvPr/>
        </p:nvSpPr>
        <p:spPr>
          <a:xfrm>
            <a:off x="9070848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180576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◎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Repaso + semáforo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lo esencial · zelfevaluatie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35440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20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¿QUÉ HAS HECHO?   ·   C5 · A1 · La Ruta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§V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Viajes, transporte y el tiempo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De woorden van de reis — observa. Herken ze, dan gebruik je ze.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el viaje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1463040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reis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1463040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la maleta · el billete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las vacaciones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2121408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vakantie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2121408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hotel · la playa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el avión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779776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vliegtuig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2779776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tren · el barco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montaña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3438144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berg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3438144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mar · la excursión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hace sol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1463040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is zonnig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78440" y="1463040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hace calor · hace frío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llueve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2121408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regent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78440" y="2121408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nieva · está nublado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llama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2779776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lama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78440" y="2779776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Machu Picchu 🇵🇪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72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el pasaporte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3438144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paspoort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78440" y="3438144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la foto · el recuerdo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Marcadores: </a:t>
            </a:r>
            <a:r>
              <a:rPr sz="1300" b="1" i="0">
                <a:solidFill>
                  <a:srgbClr val="7C3AED"/>
                </a:solidFill>
                <a:latin typeface="Inter"/>
              </a:rPr>
              <a:t>hoy · esta semana · este año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· </a:t>
            </a:r>
            <a:r>
              <a:rPr sz="1300" b="1" i="0">
                <a:solidFill>
                  <a:srgbClr val="7C3AED"/>
                </a:solidFill>
                <a:latin typeface="Inter"/>
              </a:rPr>
              <a:t>ya ↔ todavía no · alguna vez · nunca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55" name="Rounded Rectangle 5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89204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«Het is warm (weer)» =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hace calor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(niet «es caliente»).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Drie manieren voor het weer: hace (sol/frío) · un verbo (llueve/nieva) · está (nublado).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4360" y="476402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¿QUÉ HAS HECHO?   ·   C5 · A1 · La Ruta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Pretérito perfecto compuesto — haber + participio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Kleur = de functie. haber (he/has/ha…) + participio.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11247120" cy="109728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554480"/>
            <a:ext cx="1069848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563EB"/>
                </a:solidFill>
                <a:latin typeface="Bricolage Grotesque"/>
              </a:rPr>
              <a:t>(Yo) </a:t>
            </a:r>
            <a:r>
              <a:rPr sz="2400" b="1" i="0">
                <a:solidFill>
                  <a:srgbClr val="EA7317"/>
                </a:solidFill>
                <a:latin typeface="Bricolage Grotesque"/>
              </a:rPr>
              <a:t>he </a:t>
            </a:r>
            <a:r>
              <a:rPr sz="2400" b="1" i="0">
                <a:solidFill>
                  <a:srgbClr val="1E9E74"/>
                </a:solidFill>
                <a:latin typeface="Bricolage Grotesque"/>
              </a:rPr>
              <a:t>visto </a:t>
            </a:r>
            <a:r>
              <a:rPr sz="2400" b="1" i="0">
                <a:solidFill>
                  <a:srgbClr val="14B8A6"/>
                </a:solidFill>
                <a:latin typeface="Bricolage Grotesque"/>
              </a:rPr>
              <a:t>Machu Picchu </a:t>
            </a:r>
            <a:r>
              <a:rPr sz="2400" b="1" i="0">
                <a:solidFill>
                  <a:srgbClr val="7C3AED"/>
                </a:solidFill>
                <a:latin typeface="Bricolage Grotesque"/>
              </a:rPr>
              <a:t>hoy.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88036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El auxiliar «haber» — ¿qué forma?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291840"/>
            <a:ext cx="17373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A7317"/>
                </a:solidFill>
                <a:latin typeface="Inter"/>
              </a:rPr>
              <a:t>yo → 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19" y="3291840"/>
            <a:ext cx="16459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he viajado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968496"/>
            <a:ext cx="17373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A7317"/>
                </a:solidFill>
                <a:latin typeface="Inter"/>
              </a:rPr>
              <a:t>tú → has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19" y="3968496"/>
            <a:ext cx="16459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has comido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645152"/>
            <a:ext cx="17373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A7317"/>
                </a:solidFill>
                <a:latin typeface="Inter"/>
              </a:rPr>
              <a:t>él/ella → ha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31719" y="4645152"/>
            <a:ext cx="16459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ha subido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3291840"/>
            <a:ext cx="17373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A7317"/>
                </a:solidFill>
                <a:latin typeface="Inter"/>
              </a:rPr>
              <a:t>nosotros → hemos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199" y="3291840"/>
            <a:ext cx="16459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hemos ido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3968496"/>
            <a:ext cx="17373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A7317"/>
                </a:solidFill>
                <a:latin typeface="Inter"/>
              </a:rPr>
              <a:t>vosotros → habéis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199" y="3968496"/>
            <a:ext cx="16459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habéis hecho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4645152"/>
            <a:ext cx="17373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A7317"/>
                </a:solidFill>
                <a:latin typeface="Inter"/>
              </a:rPr>
              <a:t>ellos → han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199" y="4645152"/>
            <a:ext cx="16459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han vuelto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43" name="Rounded Rectangle 42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212080"/>
            <a:ext cx="11247120" cy="6400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haber (he, has, ha, hemos, habéis, han) + participio. Auxiliar = haber, niet tener. De participio blijft gelijk (ha comidO).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5084064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REGLA · docent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¿QUÉ HAS HECHO?   ·   C5 · A1 · La Ruta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Completa: haber + participio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zin → de juiste vorm verschijnt. Let op de onregelmatige participios.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54480"/>
            <a:ext cx="3566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(Yo) ___ a Machu Picchu (subir)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39" y="1554480"/>
            <a:ext cx="16916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he subido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59152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59152"/>
            <a:ext cx="3566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¿(Tú) ___ las llamas? (ver)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39" y="2359152"/>
            <a:ext cx="16916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has visto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63824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63824"/>
            <a:ext cx="3566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(Nosotros) ___ fotos (sacar)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163824"/>
            <a:ext cx="16916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hemos sacado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554480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554480"/>
            <a:ext cx="3566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Nina ___ una postal (escribir)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39" y="1554480"/>
            <a:ext cx="16916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ha escrito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359152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359152"/>
            <a:ext cx="3566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(Ellos) ___ en tren (viajar)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39" y="2359152"/>
            <a:ext cx="16916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han viajado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163824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163824"/>
            <a:ext cx="3566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¿(Vosotros) ___ la maleta? (hacer)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39" y="3163824"/>
            <a:ext cx="16916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habéis hecho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48056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9E74"/>
                </a:solidFill>
                <a:latin typeface="Inter"/>
              </a:rPr>
              <a:t>Onregelmatige participios hier: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ver → visto · escribir → escrito · hacer → hecho.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De rest is regelmatig: subir → subido · sacar → sacado · viajar → viajado.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3525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¿QUÉ HAS HECHO?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§2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Los participios — la máquina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kaart → de participio verschijnt. -ar → -ado · -er/-ir → -ido · irregulares.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0242E"/>
                </a:solidFill>
                <a:latin typeface="Inter"/>
              </a:rPr>
              <a:t>La fórmula: </a:t>
            </a:r>
            <a:r>
              <a:rPr sz="1400" b="1" i="0">
                <a:solidFill>
                  <a:srgbClr val="EA7317"/>
                </a:solidFill>
                <a:latin typeface="Inter"/>
              </a:rPr>
              <a:t>-ar → -ado </a:t>
            </a:r>
            <a:r>
              <a:rPr sz="1400" b="1" i="0">
                <a:solidFill>
                  <a:srgbClr val="1E9E74"/>
                </a:solidFill>
                <a:latin typeface="Inter"/>
              </a:rPr>
              <a:t>· -er/-ir → -ido </a:t>
            </a:r>
            <a:r>
              <a:rPr sz="1400" b="1" i="0">
                <a:solidFill>
                  <a:srgbClr val="DC2626"/>
                </a:solidFill>
                <a:latin typeface="Inter"/>
              </a:rPr>
              <a:t>· irregulares (memorizar)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11680"/>
            <a:ext cx="365760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03120"/>
            <a:ext cx="36576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viajar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14016"/>
            <a:ext cx="36576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157355"/>
                </a:solidFill>
                <a:latin typeface="Bricolage Grotesque"/>
              </a:rPr>
              <a:t>→ viajado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011680"/>
            <a:ext cx="365760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103120"/>
            <a:ext cx="36576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comer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414016"/>
            <a:ext cx="36576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157355"/>
                </a:solidFill>
                <a:latin typeface="Bricolage Grotesque"/>
              </a:rPr>
              <a:t>→ comido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011680"/>
            <a:ext cx="365760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103120"/>
            <a:ext cx="36576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vivir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414016"/>
            <a:ext cx="36576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157355"/>
                </a:solidFill>
                <a:latin typeface="Bricolage Grotesque"/>
              </a:rPr>
              <a:t>→ vivido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063240"/>
            <a:ext cx="365760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DC2626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154680"/>
            <a:ext cx="36576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hacer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465576"/>
            <a:ext cx="36576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DC2626"/>
                </a:solidFill>
                <a:latin typeface="Bricolage Grotesque"/>
              </a:rPr>
              <a:t>→ hecho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063240"/>
            <a:ext cx="365760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DC2626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3154680"/>
            <a:ext cx="36576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465576"/>
            <a:ext cx="36576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DC2626"/>
                </a:solidFill>
                <a:latin typeface="Bricolage Grotesque"/>
              </a:rPr>
              <a:t>→ visto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063240"/>
            <a:ext cx="365760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DC2626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3154680"/>
            <a:ext cx="36576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escribir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3465576"/>
            <a:ext cx="36576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DC2626"/>
                </a:solidFill>
                <a:latin typeface="Bricolage Grotesque"/>
              </a:rPr>
              <a:t>→ escrito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114800"/>
            <a:ext cx="365760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DC2626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206240"/>
            <a:ext cx="36576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volver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517136"/>
            <a:ext cx="36576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DC2626"/>
                </a:solidFill>
                <a:latin typeface="Bricolage Grotesque"/>
              </a:rPr>
              <a:t>→ vuelto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4114800"/>
            <a:ext cx="365760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DC2626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0" y="4206240"/>
            <a:ext cx="36576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poner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4517136"/>
            <a:ext cx="36576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DC2626"/>
                </a:solidFill>
                <a:latin typeface="Bricolage Grotesque"/>
              </a:rPr>
              <a:t>→ puesto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4114800"/>
            <a:ext cx="365760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DC2626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4206240"/>
            <a:ext cx="36576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abrir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4517136"/>
            <a:ext cx="36576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DC2626"/>
                </a:solidFill>
                <a:latin typeface="Bricolage Grotesque"/>
              </a:rPr>
              <a:t>→ abierto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9" name="Rounded Rectangle 3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394960"/>
            <a:ext cx="11247120" cy="6400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Los 8 irregulares: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hecho, visto, dicho, escrito, vuelto, puesto, abierto, roto.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Truco: muchos acaban en -to o -cho.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52669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¿QUÉ HAS HECHO?   ·   C5 · A1 · La Ruta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0611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§3 · GRAMÁTICA · FUNCIONES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Marcadores — ya / todavía no / nunca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kaart → periode of ervaring. Ze kondigen het perfecto compuesto aan.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755648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📅 Periodo abierto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57355"/>
                </a:solidFill>
                <a:latin typeface="Bricolage Grotesque"/>
              </a:rPr>
              <a:t>hoy · esta semana · este año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45920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B7860B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1755648"/>
            <a:ext cx="455371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✅ 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103120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57355"/>
                </a:solidFill>
                <a:latin typeface="Bricolage Grotesque"/>
              </a:rPr>
              <a:t>ya he hecho la maleta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724912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834640"/>
            <a:ext cx="1128369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⏳ todavía 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182112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57355"/>
                </a:solidFill>
                <a:latin typeface="Bricolage Grotesque"/>
              </a:rPr>
              <a:t>todavía no he comido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724912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B7860B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55080" y="2834640"/>
            <a:ext cx="1212494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🌍 Experiencia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182112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57355"/>
                </a:solidFill>
                <a:latin typeface="Bricolage Grotesque"/>
              </a:rPr>
              <a:t>¿Has viajado alguna vez?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803904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3913632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🚫 nunca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61104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57355"/>
                </a:solidFill>
                <a:latin typeface="Bricolage Grotesque"/>
              </a:rPr>
              <a:t>Nunca he estado en Perú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803904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B7860B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55080" y="3913632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🔁 muchas veces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261104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57355"/>
                </a:solidFill>
                <a:latin typeface="Bricolage Grotesque"/>
              </a:rPr>
              <a:t>Lo he visto muchas veces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07492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ya (klaar ✅) ↔ todavía no (nog niet ⏳).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nunca + he… = «ik heb nooit…».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0" name="Rounded Rectangle 29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57784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Deze marcadores + perfecto compuesto: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hoy · esta semana · este año · ya · todavía no · alguna vez · nunca · muchas veces.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44982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¿QUÉ HAS HECHO?   ·   C5 · A1 · La Ruta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§2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¿Participio regular o irregular?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werkwoord → de participio + het type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21945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viajar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600200"/>
            <a:ext cx="30632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→ viajado · regular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21945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hacer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478024"/>
            <a:ext cx="30632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→ hecho · irregular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21945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comer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355848"/>
            <a:ext cx="30632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→ comido · regular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21945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1600200"/>
            <a:ext cx="30632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→ visto · irregular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21945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escribir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478024"/>
            <a:ext cx="30632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→ escrito · irregular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21945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subir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3355848"/>
            <a:ext cx="30632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→ subido · regular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Regular = -ado (-ar) / -ido (-er,-ir).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Irregular = hecho, visto, dicho, escrito, vuelto, puesto, abierto, roto.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¿QUÉ HAS HECHO?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§5 · LEER · COMPRENSIÓN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diario de viaje de Nina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Lees en beantwoord. Klik een vraag → het antwoord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5120640" cy="356616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n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1005840" cy="1005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20240" y="1828800"/>
            <a:ext cx="347472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20242E"/>
                </a:solidFill>
                <a:latin typeface="Inter"/>
              </a:rPr>
              <a:t>«Lunes: he llegado a Cusco en avión. Hace frío y está nublado. He visto la Plaza de Armas. Martes: he cogido el tren y he subido a Machu Picchu. Ha hecho sol. He visto las llamas y he escrito una postal.»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554480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609344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¿Cómo ha viajado a Cusco?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956816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En avión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2450592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2505456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¿Qué tiempo hace en Cusco?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852928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Hace frío y está nublado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3346704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3401568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¿Cómo ha ido a Machu Picchu?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3749040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En tren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0" y="4242816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4297680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¿Qué ha visto en Machu Picchu?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4645152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Las llamas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6" name="Rounded Rectangle 25">
            <a:hlinkClick action="ppaction://hlinksldjump" r:id="rId4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52160" y="5166360"/>
            <a:ext cx="585216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🎯 Leesdoel: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volg wat Nina wél/niet gedaan heeft + het weer. Scannen, niet élk woord.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89320" y="50383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¿QUÉ HAS HECHO?   ·   C5 · A1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1249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ESCUCHAR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han hecho este verano?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Vier personas cuentan. Klik un nombre → wat ze gedaan hebben. (audio op de digitale pagina)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🔊  Nina 🇵🇪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Ha…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43200"/>
            <a:ext cx="24231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ha subido a Machu Picchu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🔊  Diego 🇲🇽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377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Ha…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743200"/>
            <a:ext cx="24231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ha comido en un mercado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🔊  Lucía 🇪🇸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377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Ha…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743200"/>
            <a:ext cx="24231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ha ido a la playa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🔊  Valen 🇨🇴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Ha…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743200"/>
            <a:ext cx="24231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ha viajado en barco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1" name="Rounded Rectangle 30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48056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Modelo-audio (docent leest of TTS):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«Este verano he subido a Machu Picchu y he sacado muchas fotos.» …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Daarna spreken: leerling vertelt zelf wat hij/zij gedaan heeft.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3525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¿QUÉ HAS HECHO?   ·   C5 · A1 · La Ruta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§3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¿ya o todavía no?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taak → ya (✅) of todavía no (⏳). De checklist van Nina.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 hecho la maleta 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39" y="1600200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→ ya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 reservado el hotel 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39" y="2478024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→ todavía no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 comprado el billete 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355848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→ ya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 llamado al hotel 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39" y="1600200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→ todavía no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Me he puesto el abrigo 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39" y="2478024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→ ya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 subido a la montaña 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39" y="3355848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→ todavía 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0916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🟡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ya = al (klaar) · todavía no = nog niet. ¿Ya has comido? → No, todavía no.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0" name="Rounded Rectangle 29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257800"/>
            <a:ext cx="11247120" cy="5943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ya (✅ klaar) staat vóór het perfecto; todavía no (⏳) ook.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¿Alguna vez has…? = «Heb je ooit…?».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12978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¿QUÉ HAS HECHO?   ·   C5 · A1 · La Ruta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9024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SPEAKING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¡Cuenta tu viaje!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Vertel wat je gedaan hebt. Steun bouwt af: kaarten → beginwoorden → uit het hoofd.</a:t>
            </a:r>
          </a:p>
        </p:txBody>
      </p:sp>
      <p:pic>
        <p:nvPicPr>
          <p:cNvPr id="9" name="Picture 8" descr="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1554480"/>
            <a:ext cx="1188720" cy="1188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¿Adónde?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He ido a…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¿Cómo?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He viajado en…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¿Qué tiempo?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Ha hecho…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4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¿Qué has visto?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He visto…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4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¿Con quién?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con…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4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¿Te ha gustado?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Me ha encantado.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572000"/>
            <a:ext cx="96012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Ronda 1: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met de kaarten.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Ronda 2: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alleen beginwoorden.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Ronda 3: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uit het hoofd, ander viaje.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Ronda 4: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grábate en de digitale pagina.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251960"/>
            <a:ext cx="4577486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🎙️ Grábate online · «Mensaje de voz: cuenta tu viaje»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2" name="Rounded Rectangle 31">
            <a:hlinkClick action="ppaction://hlinksldjump" r:id="rId4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120640"/>
            <a:ext cx="11247120" cy="5943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«He ido a Perú. He viajado en avión. Ha hecho frío en la sierra. He visto Machu Picchu. Me ha encantado.»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992624"/>
            <a:ext cx="138074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MODELO · docent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¿QUÉ HAS HECHO?   ·   C5 · A1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WRITING · PRODUCCIÓN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 diario de viaje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Schrijf één dagboekdag. Klik → een modeltekst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486400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✍️ Escribe aquí tu diario: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94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661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480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Checklist: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116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☐  4× perfecto compuesto </a:t>
            </a:r>
            <a:r>
              <a:rPr sz="1000" b="0" i="1">
                <a:solidFill>
                  <a:srgbClr val="6A6E78"/>
                </a:solidFill>
                <a:latin typeface="Inter"/>
              </a:rPr>
              <a:t>· he + participio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395728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☐  1 marcador </a:t>
            </a:r>
            <a:r>
              <a:rPr sz="1000" b="0" i="1">
                <a:solidFill>
                  <a:srgbClr val="6A6E78"/>
                </a:solidFill>
                <a:latin typeface="Inter"/>
              </a:rPr>
              <a:t>· hoy · ya · nunca…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779776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☐  el transporte </a:t>
            </a:r>
            <a:r>
              <a:rPr sz="1000" b="0" i="1">
                <a:solidFill>
                  <a:srgbClr val="6A6E78"/>
                </a:solidFill>
                <a:latin typeface="Inter"/>
              </a:rPr>
              <a:t>· he viajado en…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163824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☐  el tiempo </a:t>
            </a:r>
            <a:r>
              <a:rPr sz="1000" b="0" i="1">
                <a:solidFill>
                  <a:srgbClr val="6A6E78"/>
                </a:solidFill>
                <a:latin typeface="Inter"/>
              </a:rPr>
              <a:t>· ha hecho…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547872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☐  conectores </a:t>
            </a:r>
            <a:r>
              <a:rPr sz="1000" b="0" i="1">
                <a:solidFill>
                  <a:srgbClr val="6A6E78"/>
                </a:solidFill>
                <a:latin typeface="Inter"/>
              </a:rPr>
              <a:t>· primero · luego · al final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93192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☐  una foto/dibujo </a:t>
            </a:r>
            <a:r>
              <a:rPr sz="1000" b="0" i="1">
                <a:solidFill>
                  <a:srgbClr val="6A6E78"/>
                </a:solidFill>
                <a:latin typeface="Inter"/>
              </a:rPr>
              <a:t>· con onderschrift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977639"/>
            <a:ext cx="5486400" cy="114300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1524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023360"/>
            <a:ext cx="521208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Modelo: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«Hoy he llegado a Cusco en avión. Ha hecho frío. Primero he visto la plaza, luego he comido. Todavía no he subido a la montaña.»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¿QUÉ HAS HECHO?   ·   C5 · A1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1378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§V · VOCABULARIO · CLIMA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transporte y el tiempo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woord → de vertaling verschijnt. Bouw je woordnetwerk.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54480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el avión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554480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9E74"/>
                </a:solidFill>
                <a:latin typeface="Inter"/>
              </a:rPr>
              <a:t>→ vliegtuig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554480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el tren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554480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9E74"/>
                </a:solidFill>
                <a:latin typeface="Inter"/>
              </a:rPr>
              <a:t>→ trein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554480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el barco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554480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9E74"/>
                </a:solidFill>
                <a:latin typeface="Inter"/>
              </a:rPr>
              <a:t>→ boot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1554480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bicicleta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1554480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9E74"/>
                </a:solidFill>
                <a:latin typeface="Inter"/>
              </a:rPr>
              <a:t>→ fiets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322576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hace sol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2322576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9E74"/>
                </a:solidFill>
                <a:latin typeface="Inter"/>
              </a:rPr>
              <a:t>→ het is zonnig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1568" y="2322576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hace frío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2322576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9E74"/>
                </a:solidFill>
                <a:latin typeface="Inter"/>
              </a:rPr>
              <a:t>→ het is koud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2322576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llueve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2322576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9E74"/>
                </a:solidFill>
                <a:latin typeface="Inter"/>
              </a:rPr>
              <a:t>→ het regent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0848" y="2322576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nieva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2322576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9E74"/>
                </a:solidFill>
                <a:latin typeface="Inter"/>
              </a:rPr>
              <a:t>→ het sneeuwt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090672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está nublado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3090672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9E74"/>
                </a:solidFill>
                <a:latin typeface="Inter"/>
              </a:rPr>
              <a:t>→ bewolkt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184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01568" y="3090672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tormenta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3090672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9E74"/>
                </a:solidFill>
                <a:latin typeface="Inter"/>
              </a:rPr>
              <a:t>→ storm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36208" y="3090672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el paraguas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3090672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9E74"/>
                </a:solidFill>
                <a:latin typeface="Inter"/>
              </a:rPr>
              <a:t>→ paraplu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70848" y="3090672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nieve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3090672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E9E74"/>
                </a:solidFill>
                <a:latin typeface="Inter"/>
              </a:rPr>
              <a:t>→ sneeuw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47" name="Rounded Rectangle 46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57200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Combineer met perfecto compuesto: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He viajado en tren · ha hecho sol · me he puesto el abrigo (hace frío).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Drie manieren voor het weer: hace (sol/frío) · un verbo (llueve/nieva) · está (nublado).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444398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¿QUÉ HAS HECHO?   ·   C5 · A1 · La Ruta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TALLER DE LENGUA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tilde diacrítica + conectores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item → correcte vorm. Zelfde letters, ander streepje = andere betekenis.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A · tilde diacrítica: mismo sonido, tilde ≠ significado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783080"/>
            <a:ext cx="32918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¿(Tú/Tu) ___ has viajado?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783080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→ Tú (persoon)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41448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441448"/>
            <a:ext cx="32918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Este es (él/el) ___ tren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441448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→ el (lidwoord)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99816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099816"/>
            <a:ext cx="32918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¿(Qué/Que) ___ has visto?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099816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→ Qué (vraag)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58184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758184"/>
            <a:ext cx="32918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—¿Has comido? —(Sí/Si) ___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758184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→ Sí (ja)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B · conectores del relato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783080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1783080"/>
            <a:ext cx="32918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___ , he cogido el tren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1783080"/>
            <a:ext cx="18288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→ Primero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441448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41448"/>
            <a:ext cx="32918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___ , he subido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2441448"/>
            <a:ext cx="18288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→ Luego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099816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099816"/>
            <a:ext cx="32918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___ , he sacado fotos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3099816"/>
            <a:ext cx="18288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→ Después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758184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758184"/>
            <a:ext cx="32918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___ , he vuelto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3758184"/>
            <a:ext cx="18288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→ Al final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7" name="Rounded Rectangle 36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A: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het streepje zit op het woord met de «sterkste» betekenis: persoon (tú, él), vraag (qué), ja (sí), meer (más).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B: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primero → luego/después → al final (voor je reisverslag).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444398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¿QUÉ HAS HECHO?   ·   C5 · A1 · La Ruta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CULTURA · PARADA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Machu Picchu y el clima andino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kaart → het weetje verschijnt. Perú: tres climas en un país.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57355"/>
                </a:solidFill>
                <a:latin typeface="Bricolage Grotesque"/>
              </a:rPr>
              <a:t>🏔️ Machu Picchu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La ciudad inca, a 2430 m. Se llega en tren desde Cusco y luego a pie. Una de las siete maravillas del mundo.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El símbolo de Perú.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57355"/>
                </a:solidFill>
                <a:latin typeface="Bricolage Grotesque"/>
              </a:rPr>
              <a:t>🦙 Los Andes y las llamas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La sierra es alta y fría. Allí viven las llamas y las alpacas. En Cusco (3400 m) hace frío por la noche.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Cusco = capital inca.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4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4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57355"/>
                </a:solidFill>
                <a:latin typeface="Bricolage Grotesque"/>
              </a:rPr>
              <a:t>🌦️ Los tres climas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Costa (sol, seco), sierra (frío, nieva) y selva (calor, llueve). ¡Tres climas en un día! Nina lleva abrigo y paraguas.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No comas a las 18:00… lleva paraguas.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9204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Actividad: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schrijf 3 zinnen over het weer waar jij woont in verschillende seizoenen (¿qué tiempo hace en verano/invierno?).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76402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¿QUÉ HAS HECHO?   ·   C5 · A1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§4 · QUIZ · EL TIEMPO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tiempo hace?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Wat past? Klik → het antwoord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sol (het is zonnig)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39" y="1600200"/>
            <a:ext cx="1645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→ hace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nublado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39" y="2478024"/>
            <a:ext cx="1645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→ está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(het regent)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355848"/>
            <a:ext cx="1645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→ llueve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frío en Cusco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39" y="1600200"/>
            <a:ext cx="1645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→ hace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(het sneeuwt) en los Andes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39" y="2478024"/>
            <a:ext cx="1645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→ nieva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a 20 grados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39" y="3355848"/>
            <a:ext cx="1645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→ estamos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Drie manieren: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hace + sol/frío/calor · un verbo (llueve/nieva) · está nublado / hay tormenta. Temperatuur: estamos a … grados.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¿QUÉ HAS HECHO?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Bricolage Grotesque"/>
              </a:rPr>
              <a:t>🎒 Tarea final · Mis vacaciones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4F4EE"/>
                </a:solidFill>
                <a:latin typeface="Inter"/>
              </a:rPr>
              <a:t>Escribe (of graba en vlog) el diario de tus vacaciones con el perfecto compuesto.</a:t>
            </a:r>
          </a:p>
        </p:txBody>
      </p:sp>
      <p:pic>
        <p:nvPicPr>
          <p:cNvPr id="5" name="Picture 4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182880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554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42062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Elige un destino y el momento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554480"/>
            <a:ext cx="621792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echt of verzonnen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21408"/>
            <a:ext cx="42062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Rellena la ficha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121408"/>
            <a:ext cx="621792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transporte · tiempo · 3 cosas que has hecho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883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88336"/>
            <a:ext cx="42062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Escribe el diario (mín. 5 frases)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688336"/>
            <a:ext cx="621792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perfecto compuesto + marcadores + el tiempo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552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55264"/>
            <a:ext cx="42062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Graba un vlog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3255264"/>
            <a:ext cx="621792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of doe het in pareja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221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22192"/>
            <a:ext cx="42062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Añade una foto/dibujo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3822192"/>
            <a:ext cx="621792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con onderschrift («He visto…»)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Rúbrica · ¿lo logré?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5× perfecto compuesto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participios correctos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el tiempo + transporte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marcadores/conectores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3212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🎯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Afzender jij (de reiziger) · ontvanger je familie/vrienden · doel je reis navertellen · situatie terug van vakantie · resultaat: reisverslag (of vlog) met perfecto compuesto.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¿QUÉ HAS HECHO?   ·   C5 · A1 · La Ruta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QUIZ · LA MEZCLA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Ophaal door elkaar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Gemengde ophaal van de hele unit. Klik een vraag → het antwoord. (retrieval)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haber, yo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1600200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he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13432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haber, nosotros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313432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hemos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26664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participio de hacer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3026664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hecho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39896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participio de 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3739896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visto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marcador «nog niet»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1600200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todavía no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13432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¿qué ___ hecho? (tú)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313432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has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026664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weer: ___ sol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026664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hace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739896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participio de escribir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3739896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escrito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Alles komt terug: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haber · participios (reg/irreg) · marcadores · el tiempo.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48970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¿QUÉ HAS HECHO?   ·   C5 · A1 · La 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REPASO · LO ESENCIAL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De volledige herhaling (18 spellen, drills) staat online. Hier: de kern + semáforo.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11247120" cy="228600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Perfecto compuesto: haber (he, has, ha, hemos, habéis, han) + participio: «He viajado. ¿Has visto?».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66544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Participios: -ar → -ado · -er/-ir → -ido. Irregular: hecho, visto, dicho, escrito, vuelto, puesto, abierto, roto.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Marcadores: hoy · esta semana · este año (periode) · ya ↔ todavía no · alguna vez · nunca · muchas veces (ervaring).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07792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El tiempo: hace sol/calor/frío/viento · llueve · nieva · está nublado · estamos a … grados.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28416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🔴 Trampas: haber ≠ tener (has hecho) · participio blijft gelijk (ha comidO) · tilde diacrítica (tú/tu · qué/que).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Semáforo — ¿cómo lo llevas?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contar qué has hecho (perfecto)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27448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participios (reg + irreg)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11496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marcadores (ya/todavía no/nunca)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95544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hablar del tiempo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79592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viajes/transporte benoemen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¿QUÉ HAS HECHO?   ·   C5 · A1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Bricolage Grotesque"/>
              </a:rPr>
              <a:t>TEACHER_NOTES · U8 «¿Qué has hecho?»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1B6349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Timing (50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4F4EE"/>
                </a:solidFill>
                <a:latin typeface="Inter"/>
              </a:rPr>
              <a:t>Menu 2' · perfecto compuesto 10' · participios 8' · marcadores 6' · el tiempo 6' · lectura/escucha 8' · cultura 3' · Tarea-briefing 3' · repaso 4'.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04288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1B6349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Kernvalstrikken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4F4EE"/>
                </a:solidFill>
                <a:latin typeface="Inter"/>
              </a:rPr>
              <a:t>haber ≠ tener (has hecho, niet tienes hecho) · participio blijft gelijk (ha comidO) · irregulares (hecho/visto/dicho/escrito/vuelto/puesto/abierto/roto) · hace calor ≠ es caliente · tilde diacrítica (tú/tu · qué/que · sí/si · más/mas).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28416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1B6349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401568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Differentiatie (zij-instromers)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8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4F4EE"/>
                </a:solidFill>
                <a:latin typeface="Inter"/>
              </a:rPr>
              <a:t>Alles start vanaf nul. Sterker: volledig reisverslag met marcadores + het weer + irregulares. Zwakker: haber-tabel + participio-lijst langer open, zinsframes houden.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52544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1B6349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425696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Digitaal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791456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4F4EE"/>
                </a:solidFill>
                <a:latin typeface="Inter"/>
              </a:rPr>
              <a:t>18 spellen + flip cards + klikbare kaart + recorder (Hablar) + Lectura (diario de Nina) op de página digital. QR's in het boek → juiste anker. Conjugador = aparte tool (enkel presente).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76672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1B6349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449824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Evaluatie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15584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4F4EE"/>
                </a:solidFill>
                <a:latin typeface="Inter"/>
              </a:rPr>
              <a:t>Tarea «Mis vacaciones» met rúbrica (4 criteria). LPD 3·4·7·8 + 5 (cultura) + 1·2 (receptief: lezen/luisteren). Scope: perfecto compuesto = A2-eindstructuur jaar 5 (géén indefinido/imperfecto/futuro/subjuntivo).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¿QUÉ HAS HECHO?   ·   C5 · A1 · La Ruta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Cabecera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Chip"/>
          <p:cNvSpPr/>
          <p:nvPr/>
        </p:nvSpPr>
        <p:spPr>
          <a:xfrm>
            <a:off x="457200" y="182880"/>
            <a:ext cx="30175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hipTxt"/>
          <p:cNvSpPr txBox="1"/>
          <p:nvPr/>
        </p:nvSpPr>
        <p:spPr>
          <a:xfrm>
            <a:off x="457200" y="173736"/>
            <a:ext cx="301752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RETO 2 · PUZZEL &amp; ESCAPE</a:t>
            </a:r>
          </a:p>
        </p:txBody>
      </p:sp>
      <p:sp>
        <p:nvSpPr>
          <p:cNvPr id="6" name="Titulo"/>
          <p:cNvSpPr txBox="1"/>
          <p:nvPr/>
        </p:nvSpPr>
        <p:spPr>
          <a:xfrm>
            <a:off x="457200" y="502920"/>
            <a:ext cx="8412480" cy="4754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Bricolage Grotesque"/>
              </a:rPr>
              <a:t>Nunca he…</a:t>
            </a:r>
          </a:p>
        </p:txBody>
      </p:sp>
      <p:sp>
        <p:nvSpPr>
          <p:cNvPr id="7" name="Badges"/>
          <p:cNvSpPr txBox="1"/>
          <p:nvPr/>
        </p:nvSpPr>
        <p:spPr>
          <a:xfrm>
            <a:off x="9052560" y="256032"/>
            <a:ext cx="26517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1000">
                <a:solidFill>
                  <a:srgbClr val="E4F4EE"/>
                </a:solidFill>
                <a:latin typeface="Inter"/>
              </a:rPr>
              <a:t>🏫 Toda la clase</a:t>
            </a:r>
          </a:p>
          <a:p>
            <a:pPr algn="r"/>
            <a:r>
              <a:rPr sz="1000">
                <a:solidFill>
                  <a:srgbClr val="E4F4EE"/>
                </a:solidFill>
                <a:latin typeface="Inter"/>
              </a:rPr>
              <a:t>± 12 min · ★★☆</a:t>
            </a:r>
          </a:p>
        </p:txBody>
      </p:sp>
      <p:sp>
        <p:nvSpPr>
          <p:cNvPr id="8" name="Gancho"/>
          <p:cNvSpPr txBox="1"/>
          <p:nvPr/>
        </p:nvSpPr>
        <p:spPr>
          <a:xfrm>
            <a:off x="457200" y="1225296"/>
            <a:ext cx="11274552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600" b="1">
                <a:solidFill>
                  <a:srgbClr val="157355"/>
                </a:solidFill>
                <a:latin typeface="Bricolage Grotesque"/>
              </a:rPr>
              <a:t>Cinco dedos arriba. Cada vez que tú sí lo has hecho, baja uno.</a:t>
            </a:r>
          </a:p>
          <a:p>
            <a:pPr algn="l"/>
            <a:r>
              <a:rPr sz="1100" i="1">
                <a:solidFill>
                  <a:srgbClr val="6A6E78"/>
                </a:solidFill>
                <a:latin typeface="Inter"/>
              </a:rPr>
              <a:t>Vijf vingers in de lucht. Elke keer dat jij het wél gedaan hebt, gaat er één omlaag.</a:t>
            </a:r>
          </a:p>
        </p:txBody>
      </p:sp>
      <p:sp>
        <p:nvSpPr>
          <p:cNvPr id="9" name="ReglaCaja"/>
          <p:cNvSpPr/>
          <p:nvPr/>
        </p:nvSpPr>
        <p:spPr>
          <a:xfrm>
            <a:off x="457200" y="1847088"/>
            <a:ext cx="11274552" cy="658368"/>
          </a:xfrm>
          <a:prstGeom prst="roundRect">
            <a:avLst>
              <a:gd name="adj" fmla="val 5000"/>
            </a:avLst>
          </a:prstGeom>
          <a:solidFill>
            <a:srgbClr val="FB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glaTxt"/>
          <p:cNvSpPr txBox="1"/>
          <p:nvPr/>
        </p:nvSpPr>
        <p:spPr>
          <a:xfrm>
            <a:off x="603504" y="1883664"/>
            <a:ext cx="10972800" cy="5852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B7860B"/>
                </a:solidFill>
                <a:latin typeface="Inter"/>
              </a:rPr>
              <a:t>LA REGLA DEL RETO</a:t>
            </a:r>
          </a:p>
          <a:p>
            <a:pPr algn="l"/>
            <a:r>
              <a:rPr sz="1100">
                <a:solidFill>
                  <a:srgbClr val="20242E"/>
                </a:solidFill>
                <a:latin typeface="Inter"/>
              </a:rPr>
              <a:t>Elke bewering begint met «Nunca he» plus een participium — en je moet zelf verliezen als je liegt. Wie een zin zonder perfecto zegt, verliest ook een vinger.</a:t>
            </a:r>
          </a:p>
        </p:txBody>
      </p:sp>
      <p:sp>
        <p:nvSpPr>
          <p:cNvPr id="11" name="Tarjeta 0"/>
          <p:cNvSpPr/>
          <p:nvPr/>
        </p:nvSpPr>
        <p:spPr>
          <a:xfrm>
            <a:off x="457200" y="2670048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arjetaTxt 0"/>
          <p:cNvSpPr txBox="1"/>
          <p:nvPr/>
        </p:nvSpPr>
        <p:spPr>
          <a:xfrm>
            <a:off x="548640" y="2724912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Empieza así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Nunca he montado … · Nunca he comido … · Nunca he visto …</a:t>
            </a:r>
          </a:p>
        </p:txBody>
      </p:sp>
      <p:sp>
        <p:nvSpPr>
          <p:cNvPr id="13" name="Tarjeta 1"/>
          <p:cNvSpPr/>
          <p:nvPr/>
        </p:nvSpPr>
        <p:spPr>
          <a:xfrm>
            <a:off x="3312414" y="2670048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arjetaTxt 1"/>
          <p:cNvSpPr txBox="1"/>
          <p:nvPr/>
        </p:nvSpPr>
        <p:spPr>
          <a:xfrm>
            <a:off x="3403854" y="2724912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Empieza así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Nunca he roto … · Nunca he dicho … · Nunca he perdido …</a:t>
            </a:r>
          </a:p>
        </p:txBody>
      </p:sp>
      <p:sp>
        <p:nvSpPr>
          <p:cNvPr id="15" name="Tarjeta 2"/>
          <p:cNvSpPr/>
          <p:nvPr/>
        </p:nvSpPr>
        <p:spPr>
          <a:xfrm>
            <a:off x="6167628" y="2670048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arjetaTxt 2"/>
          <p:cNvSpPr txBox="1"/>
          <p:nvPr/>
        </p:nvSpPr>
        <p:spPr>
          <a:xfrm>
            <a:off x="6259068" y="2724912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Empieza así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Nunca he escrito … · Nunca he vuelto a … · Nunca he hecho …</a:t>
            </a:r>
          </a:p>
        </p:txBody>
      </p:sp>
      <p:sp>
        <p:nvSpPr>
          <p:cNvPr id="17" name="Tarjeta 3"/>
          <p:cNvSpPr/>
          <p:nvPr/>
        </p:nvSpPr>
        <p:spPr>
          <a:xfrm>
            <a:off x="9022842" y="2670048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arjetaTxt 3"/>
          <p:cNvSpPr txBox="1"/>
          <p:nvPr/>
        </p:nvSpPr>
        <p:spPr>
          <a:xfrm>
            <a:off x="9114282" y="2724912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segura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Nunca he montado en camello.</a:t>
            </a:r>
          </a:p>
        </p:txBody>
      </p:sp>
      <p:sp>
        <p:nvSpPr>
          <p:cNvPr id="19" name="Tarjeta 4"/>
          <p:cNvSpPr/>
          <p:nvPr/>
        </p:nvSpPr>
        <p:spPr>
          <a:xfrm>
            <a:off x="457200" y="3696462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arjetaTxt 4"/>
          <p:cNvSpPr txBox="1"/>
          <p:nvPr/>
        </p:nvSpPr>
        <p:spPr>
          <a:xfrm>
            <a:off x="548640" y="3751326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segura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Nunca he comido insectos.</a:t>
            </a:r>
          </a:p>
        </p:txBody>
      </p:sp>
      <p:sp>
        <p:nvSpPr>
          <p:cNvPr id="21" name="Tarjeta 5"/>
          <p:cNvSpPr/>
          <p:nvPr/>
        </p:nvSpPr>
        <p:spPr>
          <a:xfrm>
            <a:off x="3312414" y="3696462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arjetaTxt 5"/>
          <p:cNvSpPr txBox="1"/>
          <p:nvPr/>
        </p:nvSpPr>
        <p:spPr>
          <a:xfrm>
            <a:off x="3403854" y="3751326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segura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Nunca he visto el mar en invierno.</a:t>
            </a:r>
          </a:p>
        </p:txBody>
      </p:sp>
      <p:sp>
        <p:nvSpPr>
          <p:cNvPr id="23" name="Tarjeta 6"/>
          <p:cNvSpPr/>
          <p:nvPr/>
        </p:nvSpPr>
        <p:spPr>
          <a:xfrm>
            <a:off x="6167628" y="3696462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arjetaTxt 6"/>
          <p:cNvSpPr txBox="1"/>
          <p:nvPr/>
        </p:nvSpPr>
        <p:spPr>
          <a:xfrm>
            <a:off x="6259068" y="3751326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segura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Nunca he roto un hueso.</a:t>
            </a:r>
          </a:p>
        </p:txBody>
      </p:sp>
      <p:sp>
        <p:nvSpPr>
          <p:cNvPr id="25" name="Tarjeta 7"/>
          <p:cNvSpPr/>
          <p:nvPr/>
        </p:nvSpPr>
        <p:spPr>
          <a:xfrm>
            <a:off x="9022842" y="3696462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arjetaTxt 7"/>
          <p:cNvSpPr txBox="1"/>
          <p:nvPr/>
        </p:nvSpPr>
        <p:spPr>
          <a:xfrm>
            <a:off x="9114282" y="3751326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segura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Nunca he dormido en una tienda.</a:t>
            </a:r>
          </a:p>
        </p:txBody>
      </p:sp>
      <p:sp>
        <p:nvSpPr>
          <p:cNvPr id="27" name="Tarjeta 8"/>
          <p:cNvSpPr/>
          <p:nvPr/>
        </p:nvSpPr>
        <p:spPr>
          <a:xfrm>
            <a:off x="457200" y="4722876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arjetaTxt 8"/>
          <p:cNvSpPr txBox="1"/>
          <p:nvPr/>
        </p:nvSpPr>
        <p:spPr>
          <a:xfrm>
            <a:off x="548640" y="4777740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segura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Nunca he cantado en público.</a:t>
            </a:r>
          </a:p>
        </p:txBody>
      </p:sp>
      <p:sp>
        <p:nvSpPr>
          <p:cNvPr id="29" name="Tarjeta 9"/>
          <p:cNvSpPr/>
          <p:nvPr/>
        </p:nvSpPr>
        <p:spPr>
          <a:xfrm>
            <a:off x="3312414" y="4722876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arjetaTxt 9"/>
          <p:cNvSpPr txBox="1"/>
          <p:nvPr/>
        </p:nvSpPr>
        <p:spPr>
          <a:xfrm>
            <a:off x="3403854" y="4777740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segura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Nunca he hecho un pastel yo solo/a.</a:t>
            </a:r>
          </a:p>
        </p:txBody>
      </p:sp>
      <p:sp>
        <p:nvSpPr>
          <p:cNvPr id="31" name="Tarjeta 10"/>
          <p:cNvSpPr/>
          <p:nvPr/>
        </p:nvSpPr>
        <p:spPr>
          <a:xfrm>
            <a:off x="6167628" y="4722876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arjetaTxt 10"/>
          <p:cNvSpPr txBox="1"/>
          <p:nvPr/>
        </p:nvSpPr>
        <p:spPr>
          <a:xfrm>
            <a:off x="6259068" y="4777740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reacción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Yo sí: he …</a:t>
            </a:r>
          </a:p>
        </p:txBody>
      </p:sp>
      <p:sp>
        <p:nvSpPr>
          <p:cNvPr id="33" name="Tarjeta 11"/>
          <p:cNvSpPr/>
          <p:nvPr/>
        </p:nvSpPr>
        <p:spPr>
          <a:xfrm>
            <a:off x="9022842" y="4722876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arjetaTxt 11"/>
          <p:cNvSpPr txBox="1"/>
          <p:nvPr/>
        </p:nvSpPr>
        <p:spPr>
          <a:xfrm>
            <a:off x="9114282" y="4777740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reacción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Yo tampoco.</a:t>
            </a:r>
          </a:p>
        </p:txBody>
      </p:sp>
      <p:sp>
        <p:nvSpPr>
          <p:cNvPr id="35" name="Tarjeta 12"/>
          <p:cNvSpPr/>
          <p:nvPr/>
        </p:nvSpPr>
        <p:spPr>
          <a:xfrm>
            <a:off x="457200" y="5749290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arjetaTxt 12"/>
          <p:cNvSpPr txBox="1"/>
          <p:nvPr/>
        </p:nvSpPr>
        <p:spPr>
          <a:xfrm>
            <a:off x="548640" y="5804154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reacción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¿En serio? ¿Cuándo?</a:t>
            </a:r>
          </a:p>
        </p:txBody>
      </p:sp>
      <p:sp>
        <p:nvSpPr>
          <p:cNvPr id="37" name="Tarjeta 13"/>
          <p:cNvSpPr/>
          <p:nvPr/>
        </p:nvSpPr>
        <p:spPr>
          <a:xfrm>
            <a:off x="3312414" y="5749290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arjetaTxt 13"/>
          <p:cNvSpPr txBox="1"/>
          <p:nvPr/>
        </p:nvSpPr>
        <p:spPr>
          <a:xfrm>
            <a:off x="3403854" y="5804154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reacción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Yo también, pero solo una vez.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Cabecera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Chip"/>
          <p:cNvSpPr/>
          <p:nvPr/>
        </p:nvSpPr>
        <p:spPr>
          <a:xfrm>
            <a:off x="457200" y="182880"/>
            <a:ext cx="30175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hipTxt"/>
          <p:cNvSpPr txBox="1"/>
          <p:nvPr/>
        </p:nvSpPr>
        <p:spPr>
          <a:xfrm>
            <a:off x="457200" y="173736"/>
            <a:ext cx="301752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RETO 6 · SIMULATIE MET BEPERKING</a:t>
            </a:r>
          </a:p>
        </p:txBody>
      </p:sp>
      <p:sp>
        <p:nvSpPr>
          <p:cNvPr id="6" name="Titulo"/>
          <p:cNvSpPr txBox="1"/>
          <p:nvPr/>
        </p:nvSpPr>
        <p:spPr>
          <a:xfrm>
            <a:off x="457200" y="502920"/>
            <a:ext cx="8412480" cy="4754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Bricolage Grotesque"/>
              </a:rPr>
              <a:t>La entrevista al guía</a:t>
            </a:r>
          </a:p>
        </p:txBody>
      </p:sp>
      <p:sp>
        <p:nvSpPr>
          <p:cNvPr id="7" name="Badges"/>
          <p:cNvSpPr txBox="1"/>
          <p:nvPr/>
        </p:nvSpPr>
        <p:spPr>
          <a:xfrm>
            <a:off x="9052560" y="256032"/>
            <a:ext cx="26517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1000">
                <a:solidFill>
                  <a:srgbClr val="E4F4EE"/>
                </a:solidFill>
                <a:latin typeface="Inter"/>
              </a:rPr>
              <a:t>👨‍👩‍👧 En grupos</a:t>
            </a:r>
          </a:p>
          <a:p>
            <a:pPr algn="r"/>
            <a:r>
              <a:rPr sz="1000">
                <a:solidFill>
                  <a:srgbClr val="E4F4EE"/>
                </a:solidFill>
                <a:latin typeface="Inter"/>
              </a:rPr>
              <a:t>± 18 min · ★★★</a:t>
            </a:r>
          </a:p>
        </p:txBody>
      </p:sp>
      <p:sp>
        <p:nvSpPr>
          <p:cNvPr id="8" name="Gancho"/>
          <p:cNvSpPr txBox="1"/>
          <p:nvPr/>
        </p:nvSpPr>
        <p:spPr>
          <a:xfrm>
            <a:off x="457200" y="1225296"/>
            <a:ext cx="11274552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600" b="1">
                <a:solidFill>
                  <a:srgbClr val="157355"/>
                </a:solidFill>
                <a:latin typeface="Bricolage Grotesque"/>
              </a:rPr>
              <a:t>Treinta años subiendo la misma montaña. ¿Qué ha cambiado?</a:t>
            </a:r>
          </a:p>
          <a:p>
            <a:pPr algn="l"/>
            <a:r>
              <a:rPr sz="1100" i="1">
                <a:solidFill>
                  <a:srgbClr val="6A6E78"/>
                </a:solidFill>
                <a:latin typeface="Inter"/>
              </a:rPr>
              <a:t>Dertig jaar dezelfde berg op. Wat is er veranderd?</a:t>
            </a:r>
          </a:p>
        </p:txBody>
      </p:sp>
      <p:sp>
        <p:nvSpPr>
          <p:cNvPr id="9" name="ReglaCaja"/>
          <p:cNvSpPr/>
          <p:nvPr/>
        </p:nvSpPr>
        <p:spPr>
          <a:xfrm>
            <a:off x="457200" y="1847088"/>
            <a:ext cx="11274552" cy="658368"/>
          </a:xfrm>
          <a:prstGeom prst="roundRect">
            <a:avLst>
              <a:gd name="adj" fmla="val 5000"/>
            </a:avLst>
          </a:prstGeom>
          <a:solidFill>
            <a:srgbClr val="FB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glaTxt"/>
          <p:cNvSpPr txBox="1"/>
          <p:nvPr/>
        </p:nvSpPr>
        <p:spPr>
          <a:xfrm>
            <a:off x="603504" y="1883664"/>
            <a:ext cx="10972800" cy="5852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B7860B"/>
                </a:solidFill>
                <a:latin typeface="Inter"/>
              </a:rPr>
              <a:t>LA REGLA DEL RETO</a:t>
            </a:r>
          </a:p>
          <a:p>
            <a:pPr algn="l"/>
            <a:r>
              <a:rPr sz="1100">
                <a:solidFill>
                  <a:srgbClr val="20242E"/>
                </a:solidFill>
                <a:latin typeface="Inter"/>
              </a:rPr>
              <a:t>Alle vijf de vragen staan in het perfecto compuesto en mogen niet met ja of nee te beantwoorden zijn. Een vraag die «sí» oplevert, telt niet mee.</a:t>
            </a:r>
          </a:p>
        </p:txBody>
      </p:sp>
      <p:sp>
        <p:nvSpPr>
          <p:cNvPr id="11" name="Tarjeta 0"/>
          <p:cNvSpPr/>
          <p:nvPr/>
        </p:nvSpPr>
        <p:spPr>
          <a:xfrm>
            <a:off x="457200" y="2670048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arjetaTxt 0"/>
          <p:cNvSpPr txBox="1"/>
          <p:nvPr/>
        </p:nvSpPr>
        <p:spPr>
          <a:xfrm>
            <a:off x="548640" y="2724912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nombre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Rosa Quispe, guía en el Camino Inca desde 1994</a:t>
            </a:r>
          </a:p>
        </p:txBody>
      </p:sp>
      <p:sp>
        <p:nvSpPr>
          <p:cNvPr id="13" name="Tarjeta 1"/>
          <p:cNvSpPr/>
          <p:nvPr/>
        </p:nvSpPr>
        <p:spPr>
          <a:xfrm>
            <a:off x="3312414" y="2670048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arjetaTxt 1"/>
          <p:cNvSpPr txBox="1"/>
          <p:nvPr/>
        </p:nvSpPr>
        <p:spPr>
          <a:xfrm>
            <a:off x="3403854" y="2724912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antes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grupos de seis personas, sin permiso, sin límite de días</a:t>
            </a:r>
          </a:p>
        </p:txBody>
      </p:sp>
      <p:sp>
        <p:nvSpPr>
          <p:cNvPr id="15" name="Tarjeta 2"/>
          <p:cNvSpPr/>
          <p:nvPr/>
        </p:nvSpPr>
        <p:spPr>
          <a:xfrm>
            <a:off x="6167628" y="2670048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arjetaTxt 2"/>
          <p:cNvSpPr txBox="1"/>
          <p:nvPr/>
        </p:nvSpPr>
        <p:spPr>
          <a:xfrm>
            <a:off x="6259068" y="2724912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ahora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grupos de dieciséis, permiso con meses de antelación, cupo diario</a:t>
            </a:r>
          </a:p>
        </p:txBody>
      </p:sp>
      <p:sp>
        <p:nvSpPr>
          <p:cNvPr id="17" name="Tarjeta 3"/>
          <p:cNvSpPr/>
          <p:nvPr/>
        </p:nvSpPr>
        <p:spPr>
          <a:xfrm>
            <a:off x="9022842" y="2670048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arjetaTxt 3"/>
          <p:cNvSpPr txBox="1"/>
          <p:nvPr/>
        </p:nvSpPr>
        <p:spPr>
          <a:xfrm>
            <a:off x="9114282" y="2724912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lo mejor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que ahora los guías son de la zona y cobran mejor</a:t>
            </a:r>
          </a:p>
        </p:txBody>
      </p:sp>
      <p:sp>
        <p:nvSpPr>
          <p:cNvPr id="19" name="Tarjeta 4"/>
          <p:cNvSpPr/>
          <p:nvPr/>
        </p:nvSpPr>
        <p:spPr>
          <a:xfrm>
            <a:off x="457200" y="3696462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arjetaTxt 4"/>
          <p:cNvSpPr txBox="1"/>
          <p:nvPr/>
        </p:nvSpPr>
        <p:spPr>
          <a:xfrm>
            <a:off x="548640" y="3751326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lo peor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que hay basura donde antes no había nadie</a:t>
            </a:r>
          </a:p>
        </p:txBody>
      </p:sp>
      <p:sp>
        <p:nvSpPr>
          <p:cNvPr id="21" name="Tarjeta 5"/>
          <p:cNvSpPr/>
          <p:nvPr/>
        </p:nvSpPr>
        <p:spPr>
          <a:xfrm>
            <a:off x="3312414" y="3696462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arjetaTxt 5"/>
          <p:cNvSpPr txBox="1"/>
          <p:nvPr/>
        </p:nvSpPr>
        <p:spPr>
          <a:xfrm>
            <a:off x="3403854" y="3751326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modelo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¿Qué ha cambiado más en estos años?</a:t>
            </a:r>
          </a:p>
        </p:txBody>
      </p:sp>
      <p:sp>
        <p:nvSpPr>
          <p:cNvPr id="23" name="Tarjeta 6"/>
          <p:cNvSpPr/>
          <p:nvPr/>
        </p:nvSpPr>
        <p:spPr>
          <a:xfrm>
            <a:off x="6167628" y="3696462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arjetaTxt 6"/>
          <p:cNvSpPr txBox="1"/>
          <p:nvPr/>
        </p:nvSpPr>
        <p:spPr>
          <a:xfrm>
            <a:off x="6259068" y="3751326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modelo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¿Qué ha desaparecido del camino?</a:t>
            </a:r>
          </a:p>
        </p:txBody>
      </p:sp>
      <p:sp>
        <p:nvSpPr>
          <p:cNvPr id="25" name="Tarjeta 7"/>
          <p:cNvSpPr/>
          <p:nvPr/>
        </p:nvSpPr>
        <p:spPr>
          <a:xfrm>
            <a:off x="9022842" y="3696462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arjetaTxt 7"/>
          <p:cNvSpPr txBox="1"/>
          <p:nvPr/>
        </p:nvSpPr>
        <p:spPr>
          <a:xfrm>
            <a:off x="9114282" y="3751326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modelo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¿Qué ha mejorado para la gente de aquí?</a:t>
            </a:r>
          </a:p>
        </p:txBody>
      </p:sp>
      <p:sp>
        <p:nvSpPr>
          <p:cNvPr id="27" name="Tarjeta 8"/>
          <p:cNvSpPr/>
          <p:nvPr/>
        </p:nvSpPr>
        <p:spPr>
          <a:xfrm>
            <a:off x="457200" y="4722876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arjetaTxt 8"/>
          <p:cNvSpPr txBox="1"/>
          <p:nvPr/>
        </p:nvSpPr>
        <p:spPr>
          <a:xfrm>
            <a:off x="548640" y="4777740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modelo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¿Cuántas veces ha subido usted?</a:t>
            </a:r>
          </a:p>
        </p:txBody>
      </p:sp>
      <p:sp>
        <p:nvSpPr>
          <p:cNvPr id="29" name="Tarjeta 9"/>
          <p:cNvSpPr/>
          <p:nvPr/>
        </p:nvSpPr>
        <p:spPr>
          <a:xfrm>
            <a:off x="3312414" y="4722876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arjetaTxt 9"/>
          <p:cNvSpPr txBox="1"/>
          <p:nvPr/>
        </p:nvSpPr>
        <p:spPr>
          <a:xfrm>
            <a:off x="3403854" y="4777740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modelo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¿Qué le ha sorprendido de los turistas?</a:t>
            </a:r>
          </a:p>
        </p:txBody>
      </p:sp>
      <p:sp>
        <p:nvSpPr>
          <p:cNvPr id="31" name="Tarjeta 10"/>
          <p:cNvSpPr/>
          <p:nvPr/>
        </p:nvSpPr>
        <p:spPr>
          <a:xfrm>
            <a:off x="6167628" y="4722876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arjetaTxt 10"/>
          <p:cNvSpPr txBox="1"/>
          <p:nvPr/>
        </p:nvSpPr>
        <p:spPr>
          <a:xfrm>
            <a:off x="6259068" y="4777740"/>
            <a:ext cx="2526030" cy="58750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cerrada ✗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¿Le gusta su trabajo?</a:t>
            </a:r>
          </a:p>
        </p:txBody>
      </p:sp>
      <p:sp>
        <p:nvSpPr>
          <p:cNvPr id="33" name="Onthul 10"/>
          <p:cNvSpPr/>
          <p:nvPr/>
        </p:nvSpPr>
        <p:spPr>
          <a:xfrm>
            <a:off x="6259068" y="5328666"/>
            <a:ext cx="2526030" cy="237744"/>
          </a:xfrm>
          <a:prstGeom prst="roundRect">
            <a:avLst>
              <a:gd name="adj" fmla="val 2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nthulTxt 10"/>
          <p:cNvSpPr txBox="1"/>
          <p:nvPr/>
        </p:nvSpPr>
        <p:spPr>
          <a:xfrm>
            <a:off x="6277356" y="5328666"/>
            <a:ext cx="2489454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157355"/>
                </a:solidFill>
                <a:latin typeface="Inter"/>
              </a:rPr>
              <a:t>reformúlala: ¿qué? ¿cuánto?</a:t>
            </a:r>
          </a:p>
        </p:txBody>
      </p:sp>
      <p:sp>
        <p:nvSpPr>
          <p:cNvPr id="35" name="Tarjeta 11"/>
          <p:cNvSpPr/>
          <p:nvPr/>
        </p:nvSpPr>
        <p:spPr>
          <a:xfrm>
            <a:off x="9022842" y="4722876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arjetaTxt 11"/>
          <p:cNvSpPr txBox="1"/>
          <p:nvPr/>
        </p:nvSpPr>
        <p:spPr>
          <a:xfrm>
            <a:off x="9114282" y="4777740"/>
            <a:ext cx="2526030" cy="58750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cerrada ✗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¿Ha subido muchas veces?</a:t>
            </a:r>
          </a:p>
        </p:txBody>
      </p:sp>
      <p:sp>
        <p:nvSpPr>
          <p:cNvPr id="37" name="Onthul 11"/>
          <p:cNvSpPr/>
          <p:nvPr/>
        </p:nvSpPr>
        <p:spPr>
          <a:xfrm>
            <a:off x="9114282" y="5328666"/>
            <a:ext cx="2526030" cy="237744"/>
          </a:xfrm>
          <a:prstGeom prst="roundRect">
            <a:avLst>
              <a:gd name="adj" fmla="val 2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nthulTxt 11"/>
          <p:cNvSpPr txBox="1"/>
          <p:nvPr/>
        </p:nvSpPr>
        <p:spPr>
          <a:xfrm>
            <a:off x="9132570" y="5328666"/>
            <a:ext cx="2489454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157355"/>
                </a:solidFill>
                <a:latin typeface="Inter"/>
              </a:rPr>
              <a:t>reformúlala: ¿qué? ¿cuánto?</a:t>
            </a:r>
          </a:p>
        </p:txBody>
      </p:sp>
      <p:sp>
        <p:nvSpPr>
          <p:cNvPr id="39" name="Tarjeta 12"/>
          <p:cNvSpPr/>
          <p:nvPr/>
        </p:nvSpPr>
        <p:spPr>
          <a:xfrm>
            <a:off x="457200" y="5749290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arjetaTxt 12"/>
          <p:cNvSpPr txBox="1"/>
          <p:nvPr/>
        </p:nvSpPr>
        <p:spPr>
          <a:xfrm>
            <a:off x="548640" y="5804154"/>
            <a:ext cx="2526030" cy="58750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cerrada ✗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¿Es difícil?</a:t>
            </a:r>
          </a:p>
        </p:txBody>
      </p:sp>
      <p:sp>
        <p:nvSpPr>
          <p:cNvPr id="41" name="Onthul 12"/>
          <p:cNvSpPr/>
          <p:nvPr/>
        </p:nvSpPr>
        <p:spPr>
          <a:xfrm>
            <a:off x="548640" y="6355080"/>
            <a:ext cx="2526030" cy="237744"/>
          </a:xfrm>
          <a:prstGeom prst="roundRect">
            <a:avLst>
              <a:gd name="adj" fmla="val 2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nthulTxt 12"/>
          <p:cNvSpPr txBox="1"/>
          <p:nvPr/>
        </p:nvSpPr>
        <p:spPr>
          <a:xfrm>
            <a:off x="566928" y="6355080"/>
            <a:ext cx="2489454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157355"/>
                </a:solidFill>
                <a:latin typeface="Inter"/>
              </a:rPr>
              <a:t>reformúlala: ¿qué? ¿cuánto?</a:t>
            </a:r>
          </a:p>
        </p:txBody>
      </p:sp>
      <p:sp>
        <p:nvSpPr>
          <p:cNvPr id="43" name="Tarjeta 13"/>
          <p:cNvSpPr/>
          <p:nvPr/>
        </p:nvSpPr>
        <p:spPr>
          <a:xfrm>
            <a:off x="3312414" y="5749290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arjetaTxt 13"/>
          <p:cNvSpPr txBox="1"/>
          <p:nvPr/>
        </p:nvSpPr>
        <p:spPr>
          <a:xfrm>
            <a:off x="3403854" y="5804154"/>
            <a:ext cx="2526030" cy="58750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cerrada ✗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¿Ha visto turistas?</a:t>
            </a:r>
          </a:p>
        </p:txBody>
      </p:sp>
      <p:sp>
        <p:nvSpPr>
          <p:cNvPr id="45" name="Onthul 13"/>
          <p:cNvSpPr/>
          <p:nvPr/>
        </p:nvSpPr>
        <p:spPr>
          <a:xfrm>
            <a:off x="3403854" y="6355080"/>
            <a:ext cx="2526030" cy="237744"/>
          </a:xfrm>
          <a:prstGeom prst="roundRect">
            <a:avLst>
              <a:gd name="adj" fmla="val 2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nthulTxt 13"/>
          <p:cNvSpPr txBox="1"/>
          <p:nvPr/>
        </p:nvSpPr>
        <p:spPr>
          <a:xfrm>
            <a:off x="3422142" y="6355080"/>
            <a:ext cx="2489454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157355"/>
                </a:solidFill>
                <a:latin typeface="Inter"/>
              </a:rPr>
              <a:t>reformúlala: ¿qué? ¿cuánto?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Cabecera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Chip"/>
          <p:cNvSpPr/>
          <p:nvPr/>
        </p:nvSpPr>
        <p:spPr>
          <a:xfrm>
            <a:off x="457200" y="182880"/>
            <a:ext cx="30175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hipTxt"/>
          <p:cNvSpPr txBox="1"/>
          <p:nvPr/>
        </p:nvSpPr>
        <p:spPr>
          <a:xfrm>
            <a:off x="457200" y="173736"/>
            <a:ext cx="301752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RETO 7 · ONDERHANDELING &amp; DILEMMA</a:t>
            </a:r>
          </a:p>
        </p:txBody>
      </p:sp>
      <p:sp>
        <p:nvSpPr>
          <p:cNvPr id="6" name="Titulo"/>
          <p:cNvSpPr txBox="1"/>
          <p:nvPr/>
        </p:nvSpPr>
        <p:spPr>
          <a:xfrm>
            <a:off x="457200" y="502920"/>
            <a:ext cx="8412480" cy="4754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Bricolage Grotesque"/>
              </a:rPr>
              <a:t>El clima que decide</a:t>
            </a:r>
          </a:p>
        </p:txBody>
      </p:sp>
      <p:sp>
        <p:nvSpPr>
          <p:cNvPr id="7" name="Badges"/>
          <p:cNvSpPr txBox="1"/>
          <p:nvPr/>
        </p:nvSpPr>
        <p:spPr>
          <a:xfrm>
            <a:off x="9052560" y="256032"/>
            <a:ext cx="26517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1000">
                <a:solidFill>
                  <a:srgbClr val="E4F4EE"/>
                </a:solidFill>
                <a:latin typeface="Inter"/>
              </a:rPr>
              <a:t>👨‍👩‍👧 En grupos</a:t>
            </a:r>
          </a:p>
          <a:p>
            <a:pPr algn="r"/>
            <a:r>
              <a:rPr sz="1000">
                <a:solidFill>
                  <a:srgbClr val="E4F4EE"/>
                </a:solidFill>
                <a:latin typeface="Inter"/>
              </a:rPr>
              <a:t>± 15 min · ★★★</a:t>
            </a:r>
          </a:p>
        </p:txBody>
      </p:sp>
      <p:sp>
        <p:nvSpPr>
          <p:cNvPr id="8" name="Gancho"/>
          <p:cNvSpPr txBox="1"/>
          <p:nvPr/>
        </p:nvSpPr>
        <p:spPr>
          <a:xfrm>
            <a:off x="457200" y="1225296"/>
            <a:ext cx="11274552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600" b="1">
                <a:solidFill>
                  <a:srgbClr val="157355"/>
                </a:solidFill>
                <a:latin typeface="Bricolage Grotesque"/>
              </a:rPr>
              <a:t>Tres días, tres pronósticos, un solo permiso para subir.</a:t>
            </a:r>
          </a:p>
          <a:p>
            <a:pPr algn="l"/>
            <a:r>
              <a:rPr sz="1100" i="1">
                <a:solidFill>
                  <a:srgbClr val="6A6E78"/>
                </a:solidFill>
                <a:latin typeface="Inter"/>
              </a:rPr>
              <a:t>Drie dagen, drie voorspellingen, maar één vergunning om te klimmen.</a:t>
            </a:r>
          </a:p>
        </p:txBody>
      </p:sp>
      <p:sp>
        <p:nvSpPr>
          <p:cNvPr id="9" name="ReglaCaja"/>
          <p:cNvSpPr/>
          <p:nvPr/>
        </p:nvSpPr>
        <p:spPr>
          <a:xfrm>
            <a:off x="457200" y="1847088"/>
            <a:ext cx="11274552" cy="658368"/>
          </a:xfrm>
          <a:prstGeom prst="roundRect">
            <a:avLst>
              <a:gd name="adj" fmla="val 5000"/>
            </a:avLst>
          </a:prstGeom>
          <a:solidFill>
            <a:srgbClr val="FB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glaTxt"/>
          <p:cNvSpPr txBox="1"/>
          <p:nvPr/>
        </p:nvSpPr>
        <p:spPr>
          <a:xfrm>
            <a:off x="603504" y="1883664"/>
            <a:ext cx="10972800" cy="5852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B7860B"/>
                </a:solidFill>
                <a:latin typeface="Inter"/>
              </a:rPr>
              <a:t>LA REGLA DEL RETO</a:t>
            </a:r>
          </a:p>
          <a:p>
            <a:pPr algn="l"/>
            <a:r>
              <a:rPr sz="1100">
                <a:solidFill>
                  <a:srgbClr val="20242E"/>
                </a:solidFill>
                <a:latin typeface="Inter"/>
              </a:rPr>
              <a:t>Elke stem wordt verantwoord met een weerdetail én een gevolg («si llueve, el camino…»). Een stem zonder weerreden telt niet mee.</a:t>
            </a:r>
          </a:p>
        </p:txBody>
      </p:sp>
      <p:sp>
        <p:nvSpPr>
          <p:cNvPr id="11" name="Tarjeta 0"/>
          <p:cNvSpPr/>
          <p:nvPr/>
        </p:nvSpPr>
        <p:spPr>
          <a:xfrm>
            <a:off x="457200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arjetaTxt 0"/>
          <p:cNvSpPr txBox="1"/>
          <p:nvPr/>
        </p:nvSpPr>
        <p:spPr>
          <a:xfrm>
            <a:off x="548640" y="2724912"/>
            <a:ext cx="2526030" cy="8595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jueves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sol por la mañana, tormenta a las tres — el camino de piedra se moja y resbala</a:t>
            </a:r>
          </a:p>
        </p:txBody>
      </p:sp>
      <p:sp>
        <p:nvSpPr>
          <p:cNvPr id="13" name="Onthul 0"/>
          <p:cNvSpPr/>
          <p:nvPr/>
        </p:nvSpPr>
        <p:spPr>
          <a:xfrm>
            <a:off x="548640" y="3547872"/>
            <a:ext cx="2526030" cy="237744"/>
          </a:xfrm>
          <a:prstGeom prst="roundRect">
            <a:avLst>
              <a:gd name="adj" fmla="val 2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nthulTxt 0"/>
          <p:cNvSpPr txBox="1"/>
          <p:nvPr/>
        </p:nvSpPr>
        <p:spPr>
          <a:xfrm>
            <a:off x="566928" y="3547872"/>
            <a:ext cx="2489454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157355"/>
                </a:solidFill>
                <a:latin typeface="Inter"/>
              </a:rPr>
              <a:t>¿lo habéis dicho?</a:t>
            </a:r>
          </a:p>
        </p:txBody>
      </p:sp>
      <p:sp>
        <p:nvSpPr>
          <p:cNvPr id="15" name="Tarjeta 1"/>
          <p:cNvSpPr/>
          <p:nvPr/>
        </p:nvSpPr>
        <p:spPr>
          <a:xfrm>
            <a:off x="3312414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arjetaTxt 1"/>
          <p:cNvSpPr txBox="1"/>
          <p:nvPr/>
        </p:nvSpPr>
        <p:spPr>
          <a:xfrm>
            <a:off x="3403854" y="2724912"/>
            <a:ext cx="2526030" cy="8595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viernes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nublado todo el día, 4 °C, sin lluvia — frío pero seco; hay que llevar ropa de abrigo</a:t>
            </a:r>
          </a:p>
        </p:txBody>
      </p:sp>
      <p:sp>
        <p:nvSpPr>
          <p:cNvPr id="17" name="Onthul 1"/>
          <p:cNvSpPr/>
          <p:nvPr/>
        </p:nvSpPr>
        <p:spPr>
          <a:xfrm>
            <a:off x="3403854" y="3547872"/>
            <a:ext cx="2526030" cy="237744"/>
          </a:xfrm>
          <a:prstGeom prst="roundRect">
            <a:avLst>
              <a:gd name="adj" fmla="val 2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nthulTxt 1"/>
          <p:cNvSpPr txBox="1"/>
          <p:nvPr/>
        </p:nvSpPr>
        <p:spPr>
          <a:xfrm>
            <a:off x="3422142" y="3547872"/>
            <a:ext cx="2489454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157355"/>
                </a:solidFill>
                <a:latin typeface="Inter"/>
              </a:rPr>
              <a:t>¿lo habéis dicho?</a:t>
            </a:r>
          </a:p>
        </p:txBody>
      </p:sp>
      <p:sp>
        <p:nvSpPr>
          <p:cNvPr id="19" name="Tarjeta 2"/>
          <p:cNvSpPr/>
          <p:nvPr/>
        </p:nvSpPr>
        <p:spPr>
          <a:xfrm>
            <a:off x="6167628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arjetaTxt 2"/>
          <p:cNvSpPr txBox="1"/>
          <p:nvPr/>
        </p:nvSpPr>
        <p:spPr>
          <a:xfrm>
            <a:off x="6259068" y="2724912"/>
            <a:ext cx="2526030" cy="8595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sábado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sol todo el día, 22 °C — perfecto, pero es el día con más gente y menos cupo</a:t>
            </a:r>
          </a:p>
        </p:txBody>
      </p:sp>
      <p:sp>
        <p:nvSpPr>
          <p:cNvPr id="21" name="Onthul 2"/>
          <p:cNvSpPr/>
          <p:nvPr/>
        </p:nvSpPr>
        <p:spPr>
          <a:xfrm>
            <a:off x="6259068" y="3547872"/>
            <a:ext cx="2526030" cy="237744"/>
          </a:xfrm>
          <a:prstGeom prst="roundRect">
            <a:avLst>
              <a:gd name="adj" fmla="val 2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nthulTxt 2"/>
          <p:cNvSpPr txBox="1"/>
          <p:nvPr/>
        </p:nvSpPr>
        <p:spPr>
          <a:xfrm>
            <a:off x="6277356" y="3547872"/>
            <a:ext cx="2489454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157355"/>
                </a:solidFill>
                <a:latin typeface="Inter"/>
              </a:rPr>
              <a:t>¿lo habéis dicho?</a:t>
            </a:r>
          </a:p>
        </p:txBody>
      </p:sp>
      <p:sp>
        <p:nvSpPr>
          <p:cNvPr id="23" name="Tarjeta 3"/>
          <p:cNvSpPr/>
          <p:nvPr/>
        </p:nvSpPr>
        <p:spPr>
          <a:xfrm>
            <a:off x="9022842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arjetaTxt 3"/>
          <p:cNvSpPr txBox="1"/>
          <p:nvPr/>
        </p:nvSpPr>
        <p:spPr>
          <a:xfrm>
            <a:off x="9114282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Yo voto por el … porque …</a:t>
            </a:r>
          </a:p>
        </p:txBody>
      </p:sp>
      <p:sp>
        <p:nvSpPr>
          <p:cNvPr id="25" name="Tarjeta 4"/>
          <p:cNvSpPr/>
          <p:nvPr/>
        </p:nvSpPr>
        <p:spPr>
          <a:xfrm>
            <a:off x="457200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arjetaTxt 4"/>
          <p:cNvSpPr txBox="1"/>
          <p:nvPr/>
        </p:nvSpPr>
        <p:spPr>
          <a:xfrm>
            <a:off x="548640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Si llueve, …</a:t>
            </a:r>
          </a:p>
        </p:txBody>
      </p:sp>
      <p:sp>
        <p:nvSpPr>
          <p:cNvPr id="27" name="Tarjeta 5"/>
          <p:cNvSpPr/>
          <p:nvPr/>
        </p:nvSpPr>
        <p:spPr>
          <a:xfrm>
            <a:off x="3312414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arjetaTxt 5"/>
          <p:cNvSpPr txBox="1"/>
          <p:nvPr/>
        </p:nvSpPr>
        <p:spPr>
          <a:xfrm>
            <a:off x="3403854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El problema del … es que …</a:t>
            </a:r>
          </a:p>
        </p:txBody>
      </p:sp>
      <p:sp>
        <p:nvSpPr>
          <p:cNvPr id="29" name="Tarjeta 6"/>
          <p:cNvSpPr/>
          <p:nvPr/>
        </p:nvSpPr>
        <p:spPr>
          <a:xfrm>
            <a:off x="6167628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arjetaTxt 6"/>
          <p:cNvSpPr txBox="1"/>
          <p:nvPr/>
        </p:nvSpPr>
        <p:spPr>
          <a:xfrm>
            <a:off x="6259068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Prefiero pasar frío que …</a:t>
            </a:r>
          </a:p>
        </p:txBody>
      </p:sp>
      <p:sp>
        <p:nvSpPr>
          <p:cNvPr id="31" name="Tarjeta 7"/>
          <p:cNvSpPr/>
          <p:nvPr/>
        </p:nvSpPr>
        <p:spPr>
          <a:xfrm>
            <a:off x="9022842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arjetaTxt 7"/>
          <p:cNvSpPr txBox="1"/>
          <p:nvPr/>
        </p:nvSpPr>
        <p:spPr>
          <a:xfrm>
            <a:off x="9114282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Entonces salimos el …, ¿de acuerdo?</a:t>
            </a:r>
          </a:p>
        </p:txBody>
      </p:sp>
      <p:sp>
        <p:nvSpPr>
          <p:cNvPr id="33" name="Tarjeta 8"/>
          <p:cNvSpPr/>
          <p:nvPr/>
        </p:nvSpPr>
        <p:spPr>
          <a:xfrm>
            <a:off x="457200" y="5266944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arjetaTxt 8"/>
          <p:cNvSpPr txBox="1"/>
          <p:nvPr/>
        </p:nvSpPr>
        <p:spPr>
          <a:xfrm>
            <a:off x="548640" y="5321808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El dilema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El día con mejor tiempo es el día con más gente. No hay una respuesta correcta.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