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4.xml"/><Relationship Id="rId4" Type="http://schemas.openxmlformats.org/officeDocument/2006/relationships/slide" Target="slide6.xml"/><Relationship Id="rId5" Type="http://schemas.openxmlformats.org/officeDocument/2006/relationships/slide" Target="slide7.xml"/><Relationship Id="rId6" Type="http://schemas.openxmlformats.org/officeDocument/2006/relationships/slide" Target="slide11.xml"/><Relationship Id="rId7" Type="http://schemas.openxmlformats.org/officeDocument/2006/relationships/slide" Target="slide9.xml"/><Relationship Id="rId8" Type="http://schemas.openxmlformats.org/officeDocument/2006/relationships/slide" Target="slide17.xml"/><Relationship Id="rId9" Type="http://schemas.openxmlformats.org/officeDocument/2006/relationships/slide" Target="slide1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82296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3108960" cy="3291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0" b="1" i="0">
                <a:solidFill>
                  <a:srgbClr val="9374C2"/>
                </a:solidFill>
                <a:latin typeface="Bricolage Grotesque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777240"/>
            <a:ext cx="281086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5B3E83"/>
                </a:solidFill>
                <a:latin typeface="Inter"/>
              </a:rPr>
              <a:t>LA RUTA · CHILE 🇨🇱 · DE VIAJE ✈️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86384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200" b="1" i="0">
                <a:solidFill>
                  <a:srgbClr val="FFFFFF"/>
                </a:solidFill>
                <a:latin typeface="Bricolage Grotesque"/>
              </a:rPr>
              <a:t>De viaje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468880"/>
            <a:ext cx="76809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1">
                <a:solidFill>
                  <a:srgbClr val="EEE8F5"/>
                </a:solidFill>
                <a:latin typeface="Inter"/>
              </a:rPr>
              <a:t>Recente ervaringen: el perfecto (haber + participio) · por/para.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3063240"/>
            <a:ext cx="76809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FFFFF"/>
                </a:solidFill>
                <a:latin typeface="Bricolage Grotesque"/>
              </a:rPr>
              <a:t>¿Has viajado alguna vez a un país hispano?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EE8F5"/>
                </a:solidFill>
                <a:latin typeface="Inter"/>
              </a:rPr>
              <a:t>Ben je ooit naar een Spaanstalig land gereisd?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La gente de la ruta — parada 4: Chile, el gran viaje</a:t>
            </a:r>
          </a:p>
        </p:txBody>
      </p:sp>
      <p:pic>
        <p:nvPicPr>
          <p:cNvPr id="11" name="Picture 10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37760"/>
            <a:ext cx="9144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Lucia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Sevilla 🇪🇸</a:t>
            </a:r>
          </a:p>
        </p:txBody>
      </p:sp>
      <p:pic>
        <p:nvPicPr>
          <p:cNvPr id="13" name="Picture 12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59" y="4937760"/>
            <a:ext cx="9144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85999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Diego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CDMX 🇲🇽</a:t>
            </a:r>
          </a:p>
        </p:txBody>
      </p:sp>
      <p:pic>
        <p:nvPicPr>
          <p:cNvPr id="15" name="Picture 14" descr="val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8" y="493776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18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Valen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Cartagena 🇨🇴</a:t>
            </a:r>
          </a:p>
        </p:txBody>
      </p:sp>
      <p:pic>
        <p:nvPicPr>
          <p:cNvPr id="17" name="Picture 16" descr="n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197" y="4937760"/>
            <a:ext cx="914400" cy="914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37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Nina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Cusco 🇵🇪</a:t>
            </a:r>
          </a:p>
        </p:txBody>
      </p:sp>
      <p:pic>
        <p:nvPicPr>
          <p:cNvPr id="19" name="Picture 18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16" y="493776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909556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Tú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pic>
        <p:nvPicPr>
          <p:cNvPr id="21" name="Picture 20" descr="mochil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35" y="4937760"/>
            <a:ext cx="9144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84075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Mochila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La mochila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DE VIAJE   ·   C6+ · de viaje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MENÚ DE LA LECCIÓN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mapa de la Unidad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Kies je route — klik een tegel. Alles oefent naar de Tarea «Mi mejor viaje» toe.</a:t>
            </a:r>
          </a:p>
        </p:txBody>
      </p:sp>
      <p:sp>
        <p:nvSpPr>
          <p:cNvPr id="9" name="Rounded Rectangle 8">
            <a:hlinkClick action="ppaction://hlinksldjump" r:id="rId2"/>
          </p:cNvPr>
          <p:cNvSpPr/>
          <p:nvPr/>
        </p:nvSpPr>
        <p:spPr>
          <a:xfrm>
            <a:off x="457200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2"/>
          </p:cNvPr>
          <p:cNvSpPr/>
          <p:nvPr/>
        </p:nvSpPr>
        <p:spPr>
          <a:xfrm>
            <a:off x="457200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Transporte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y alojamiento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3</a:t>
            </a:r>
          </a:p>
        </p:txBody>
      </p:sp>
      <p:sp>
        <p:nvSpPr>
          <p:cNvPr id="15" name="Rounded Rectangle 14">
            <a:hlinkClick action="ppaction://hlinksldjump" r:id="rId3"/>
          </p:cNvPr>
          <p:cNvSpPr/>
          <p:nvPr/>
        </p:nvSpPr>
        <p:spPr>
          <a:xfrm>
            <a:off x="3328416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3"/>
          </p:cNvPr>
          <p:cNvSpPr/>
          <p:nvPr/>
        </p:nvSpPr>
        <p:spPr>
          <a:xfrm>
            <a:off x="3328416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El perfecto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haber + participio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3008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4</a:t>
            </a:r>
          </a:p>
        </p:txBody>
      </p:sp>
      <p:sp>
        <p:nvSpPr>
          <p:cNvPr id="21" name="Rounded Rectangle 20">
            <a:hlinkClick action="ppaction://hlinksldjump" r:id="rId4"/>
          </p:cNvPr>
          <p:cNvSpPr/>
          <p:nvPr/>
        </p:nvSpPr>
        <p:spPr>
          <a:xfrm>
            <a:off x="6199632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action="ppaction://hlinksldjump" r:id="rId4"/>
          </p:cNvPr>
          <p:cNvSpPr/>
          <p:nvPr/>
        </p:nvSpPr>
        <p:spPr>
          <a:xfrm>
            <a:off x="6199632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§2b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4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Participios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irregulares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64224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6</a:t>
            </a:r>
          </a:p>
        </p:txBody>
      </p:sp>
      <p:sp>
        <p:nvSpPr>
          <p:cNvPr id="27" name="Rounded Rectangle 26">
            <a:hlinkClick action="ppaction://hlinksldjump" r:id="rId5"/>
          </p:cNvPr>
          <p:cNvSpPr/>
          <p:nvPr/>
        </p:nvSpPr>
        <p:spPr>
          <a:xfrm>
            <a:off x="9070848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hlinkClick action="ppaction://hlinksldjump" r:id="rId5"/>
          </p:cNvPr>
          <p:cNvSpPr/>
          <p:nvPr/>
        </p:nvSpPr>
        <p:spPr>
          <a:xfrm>
            <a:off x="9070848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80576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Por / para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doel ↔ middel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7</a:t>
            </a:r>
          </a:p>
        </p:txBody>
      </p:sp>
      <p:sp>
        <p:nvSpPr>
          <p:cNvPr id="33" name="Rounded Rectangle 32">
            <a:hlinkClick action="ppaction://hlinksldjump" r:id="rId6"/>
          </p:cNvPr>
          <p:cNvSpPr/>
          <p:nvPr/>
        </p:nvSpPr>
        <p:spPr>
          <a:xfrm>
            <a:off x="457200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hlinkClick action="ppaction://hlinksldjump" r:id="rId6"/>
          </p:cNvPr>
          <p:cNvSpPr/>
          <p:nvPr/>
        </p:nvSpPr>
        <p:spPr>
          <a:xfrm>
            <a:off x="457200" y="384048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66928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Experiencias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ya · nunca · alguna vez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11</a:t>
            </a:r>
          </a:p>
        </p:txBody>
      </p:sp>
      <p:sp>
        <p:nvSpPr>
          <p:cNvPr id="39" name="Rounded Rectangle 38">
            <a:hlinkClick action="ppaction://hlinksldjump" r:id="rId7"/>
          </p:cNvPr>
          <p:cNvSpPr/>
          <p:nvPr/>
        </p:nvSpPr>
        <p:spPr>
          <a:xfrm>
            <a:off x="3328416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hlinkClick action="ppaction://hlinksldjump" r:id="rId7"/>
          </p:cNvPr>
          <p:cNvSpPr/>
          <p:nvPr/>
        </p:nvSpPr>
        <p:spPr>
          <a:xfrm>
            <a:off x="3328416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438144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B3E83"/>
                </a:solidFill>
                <a:latin typeface="Bricolage Grotesque"/>
              </a:rPr>
              <a:t>★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58768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Lectura + escucha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93008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un viaje inolvidable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93008" y="56692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9</a:t>
            </a:r>
          </a:p>
        </p:txBody>
      </p:sp>
      <p:sp>
        <p:nvSpPr>
          <p:cNvPr id="45" name="Rounded Rectangle 44">
            <a:hlinkClick action="ppaction://hlinksldjump" r:id="rId8"/>
          </p:cNvPr>
          <p:cNvSpPr/>
          <p:nvPr/>
        </p:nvSpPr>
        <p:spPr>
          <a:xfrm>
            <a:off x="6199632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>
            <a:hlinkClick action="ppaction://hlinksldjump" r:id="rId8"/>
          </p:cNvPr>
          <p:cNvSpPr/>
          <p:nvPr/>
        </p:nvSpPr>
        <p:spPr>
          <a:xfrm>
            <a:off x="6199632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09360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B3E83"/>
                </a:solidFill>
                <a:latin typeface="Bricolage Grotesque"/>
              </a:rPr>
              <a:t>🗿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9984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Cultura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64224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gran viaje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64224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17</a:t>
            </a:r>
          </a:p>
        </p:txBody>
      </p:sp>
      <p:sp>
        <p:nvSpPr>
          <p:cNvPr id="51" name="Rounded Rectangle 50">
            <a:hlinkClick action="ppaction://hlinksldjump" r:id="rId9"/>
          </p:cNvPr>
          <p:cNvSpPr/>
          <p:nvPr/>
        </p:nvSpPr>
        <p:spPr>
          <a:xfrm>
            <a:off x="9070848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>
            <a:hlinkClick action="ppaction://hlinksldjump" r:id="rId9"/>
          </p:cNvPr>
          <p:cNvSpPr/>
          <p:nvPr/>
        </p:nvSpPr>
        <p:spPr>
          <a:xfrm>
            <a:off x="9070848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180576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B3E83"/>
                </a:solidFill>
                <a:latin typeface="Bricolage Grotesque"/>
              </a:rPr>
              <a:t>✈️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Tarea · Mi viaje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blog + opinión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35440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18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DE VIAJE   ·   C6+ · de viaje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§1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Transporte y alojamiento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De woorden van de reis — observa. Herken ze, dan gebruik je ze.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el avión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1463040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vliegtuig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1463040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por avión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el tren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2121408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trein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2121408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 estación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el billete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779776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ticket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2779776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de ida y vuelta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la maleta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3438144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koffer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3438144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hacer la maleta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el hotel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58200" y="1463040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hotel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87000" y="1463040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 reserva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72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la habitación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58200" y="2121408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kamer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87000" y="2121408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doble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72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9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la llave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2779776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sleutel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87000" y="2779776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 recepción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72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la playa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58200" y="3438144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strand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287000" y="3438144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 montaña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434340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¡Ojo! el/la: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el avión, el tren, el billete, el hotel (m) · la maleta, la reserva, la llave, la playa (v)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55" name="Rounded Rectangle 5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489204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Collocaties: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comprar un billete · hacer la maleta · reservar una habitación · sacar fotos · coger el tren.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🔴 middel = por avión / por tren.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94360" y="47640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DE VIAJE   ·   C6+ · de viaje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pretérito perfecto compuesto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haber (he/has/ha…) + participio (-ado/-ido). «wat je gedaan hebt».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11247120" cy="109728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54480"/>
            <a:ext cx="10698480" cy="10972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2563EB"/>
                </a:solidFill>
                <a:latin typeface="Bricolage Grotesque"/>
              </a:rPr>
              <a:t>(Yo) </a:t>
            </a:r>
            <a:r>
              <a:rPr sz="2200" b="1" i="0">
                <a:solidFill>
                  <a:srgbClr val="EA7317"/>
                </a:solidFill>
                <a:latin typeface="Bricolage Grotesque"/>
              </a:rPr>
              <a:t>he </a:t>
            </a:r>
            <a:r>
              <a:rPr sz="2200" b="1" i="0">
                <a:solidFill>
                  <a:srgbClr val="B4309A"/>
                </a:solidFill>
                <a:latin typeface="Bricolage Grotesque"/>
              </a:rPr>
              <a:t>viajado </a:t>
            </a:r>
            <a:r>
              <a:rPr sz="2200" b="1" i="0">
                <a:solidFill>
                  <a:srgbClr val="64748B"/>
                </a:solidFill>
                <a:latin typeface="Bricolage Grotesque"/>
              </a:rPr>
              <a:t>a Chile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88036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La conjugación de haber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291840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yo he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23160" y="3291840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A7317"/>
                </a:solidFill>
                <a:latin typeface="Inter"/>
              </a:rPr>
              <a:t>he viajado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968496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tú has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23160" y="3968496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A7317"/>
                </a:solidFill>
                <a:latin typeface="Inter"/>
              </a:rPr>
              <a:t>has comido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4645152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él/ella ha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23160" y="4645152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A7317"/>
                </a:solidFill>
                <a:latin typeface="Inter"/>
              </a:rPr>
              <a:t>ha salido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34840" y="3291840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nosotros hemos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63640" y="3291840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A7317"/>
                </a:solidFill>
                <a:latin typeface="Inter"/>
              </a:rPr>
              <a:t>hemos visto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9768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34840" y="3968496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vosotros habéis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63640" y="3968496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A7317"/>
                </a:solidFill>
                <a:latin typeface="Inter"/>
              </a:rPr>
              <a:t>habéis reservado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768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34840" y="4645152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ellos han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63640" y="4645152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A7317"/>
                </a:solidFill>
                <a:latin typeface="Inter"/>
              </a:rPr>
              <a:t>han llegado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3" name="Rounded Rectangle 42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25780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haber (verandert) + participio (-ado/-ido, blijft gelijk). 🔴 haber ≠ tener: he comido, niet «tengo comido».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" y="51297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DE VIAJE   ·   C6+ · de viaje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forma del perfecto?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zin → de juiste vorm. Kijk naar de persoon.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(Yo) ___ (viajar) a Chile.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600200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he viajado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¿(Tú) ___ (comer)?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478024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has comido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Nosotros ___ (visitar) el museo.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355848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hemos visitado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El avión ___ (llegar).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2680" y="1600200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ha llegado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Mis amigos ___ (reservar).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12680" y="2478024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han reservado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(Yo) ___ (dormir) mal.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3355848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he dormido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Truc: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he/has/ha/hemos/habéis/han + participio (-ado/-ido). Het participio verandert niet.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DE VIAJE   ·   C6+ · de viaje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§2b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Los participios irregulares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verbo → het participio. Uit het hoofd leren.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hacer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1600200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hecho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8658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86584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ver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2386584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visto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72968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72968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decir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3172968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dicho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9593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959352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volver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3959352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vuelto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poner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32520" y="1600200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puesto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8658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86584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escribir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32520" y="2386584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escrito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172968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172968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abrir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2520" y="3172968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abierto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9593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959352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romper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32520" y="3959352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roto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43484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Los 8 clásicos: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hecho · visto · dicho · vuelto · puesto · escrito · abierto · roto.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🔴 acentos: leer → leído, oír → oído (i na klinker).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3068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DE VIAJE   ·   C6+ · de viaje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§3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Por y para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para = doel/bestemming · por = middel/duur/reden.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5486400" cy="100584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1554480"/>
            <a:ext cx="5120640" cy="1005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Salgo </a:t>
            </a:r>
            <a:r>
              <a:rPr sz="1800" b="1" i="0">
                <a:solidFill>
                  <a:srgbClr val="B4309A"/>
                </a:solidFill>
                <a:latin typeface="Inter"/>
              </a:rPr>
              <a:t>para </a:t>
            </a:r>
            <a:r>
              <a:rPr sz="1600" b="0" i="0">
                <a:solidFill>
                  <a:srgbClr val="20242E"/>
                </a:solidFill>
                <a:latin typeface="Inter"/>
              </a:rPr>
              <a:t>Chile</a:t>
            </a:r>
            <a:r>
              <a:rPr sz="1600" b="0" i="0">
                <a:solidFill>
                  <a:srgbClr val="20242E"/>
                </a:solidFill>
                <a:latin typeface="Inter"/>
              </a:rPr>
              <a:t>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1554480"/>
            <a:ext cx="5486400" cy="100584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554480"/>
            <a:ext cx="5120640" cy="1005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Viajo </a:t>
            </a:r>
            <a:r>
              <a:rPr sz="1800" b="1" i="0">
                <a:solidFill>
                  <a:srgbClr val="EA7317"/>
                </a:solidFill>
                <a:latin typeface="Inter"/>
              </a:rPr>
              <a:t>por </a:t>
            </a:r>
            <a:r>
              <a:rPr sz="1600" b="0" i="0">
                <a:solidFill>
                  <a:srgbClr val="20242E"/>
                </a:solidFill>
                <a:latin typeface="Inter"/>
              </a:rPr>
              <a:t>avión</a:t>
            </a:r>
            <a:r>
              <a:rPr sz="1600" b="0" i="0">
                <a:solidFill>
                  <a:srgbClr val="20242E"/>
                </a:solidFill>
                <a:latin typeface="Inter"/>
              </a:rPr>
              <a:t>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88036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880360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para + destino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14600" y="2880360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para Chile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55701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3557016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para + inf. (doel)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14600" y="3557016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para descansar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23367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4233672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para + persona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14600" y="4233672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para ti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97680" y="288036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34840" y="2880360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por + medio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5080" y="2880360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por avión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97680" y="355701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34840" y="3557016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por + duración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5080" y="3557016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por dos días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297680" y="423367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434840" y="4233672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por + causa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5080" y="4233672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por el mal tiempo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4" name="Rounded Rectangle 43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7200" y="4709160"/>
            <a:ext cx="11247120" cy="68580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para = doel/bestemming/«om te» · por = middel/duur/reden/doorheen. Viajo por avión para visitar Chile.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9436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DE VIAJE   ·   C6+ · de viaje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§3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¿por o para?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zin → de juiste optie.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Salgo ___ Chile.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1600200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para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Viajo ___ avión.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478024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por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Estudio ___ aprobar.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355848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para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Me quedo ___ dos días.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1600200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por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Es ___ ti.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2478024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para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Paseo ___ la playa.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3355848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por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para = doel/bestemming · por = middel/duur/reden. Bij twijfel: «waarheen/waarvoor» = para.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DE VIAJE   ·   C6+ · de viaje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§5 · LEER · COMPRENSIÓN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Dos viajes — «Un viaje inolvidable»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Lees. Klik een vraag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120640" cy="356616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 w="1778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n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914400" cy="914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1810512"/>
            <a:ext cx="35661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20242E"/>
                </a:solidFill>
                <a:latin typeface="Inter"/>
              </a:rPr>
              <a:t>«Este año he viajado a Chile. Hemos estado en el desierto de Atacama y he visto un cielo lleno de estrellas. Lo mejor ha sido el paisaje. Todavía no he estado en Rapa Nui.»</a:t>
            </a:r>
          </a:p>
        </p:txBody>
      </p:sp>
      <p:pic>
        <p:nvPicPr>
          <p:cNvPr id="12" name="Picture 11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337560"/>
            <a:ext cx="914400" cy="914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364992"/>
            <a:ext cx="35661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20242E"/>
                </a:solidFill>
                <a:latin typeface="Inter"/>
              </a:rPr>
              <a:t>«He vuelto de un viaje por Europa. He probado la paella en València, he hecho muchas fotos y he escrito un diario. Lo peor ha sido el vuelo, muy largo.»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52160" y="1554480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89320" y="1609344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¿Adónde ha viajado Nina?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1956816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A Chile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52160" y="2450592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89320" y="2505456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¿Ya ha estado en Rapa Nui?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9320" y="2852928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Todavía no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2160" y="3346704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89320" y="3401568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¿Qué ha probado Diego?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9320" y="3749040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La paella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52160" y="4242816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89320" y="4297680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¿Qué ha sido lo peor (Diego)?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89320" y="4645152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El vuelo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4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852160" y="5166360"/>
            <a:ext cx="585216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🎯 Leesdoel: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scannen naar het perfecto (he/ha…) + lo mejor/lo peor.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89320" y="50383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DE VIAJE   ·   C6+ · de viaje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ESCUCHAR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tal el viaje?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Volg het verhaal. Klik un dato → de info. (audio + script op de web)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dato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7744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🔊 ¿Adónde?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10896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Ha ido a Chile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900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dato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7744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🔊 ¿Qué ha visto?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310896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El desierto, las estrellas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dato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37744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🔊 ¿Qué ha hecho?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310896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Ha sacado fotos, ha subido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0684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dato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37744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🔊 ¿Lo mejor?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0" y="310896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El paisaje, inolvidable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1" name="Rounded Rectangle 30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448056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Modelo-audio (docent/TTS):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«He viajado a Chile. He visto el desierto y he sacado muchas fotos. Lo mejor ha sido el paisaje.» 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Daarna: A vertelt zijn reis, B stelt vragen (perfecto).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" y="43525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DE VIAJE   ·   C6+ · de viaje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Los marcadores del perfecto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cue → de betekenis. ya · todavía no · nunca · alguna vez.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al (gedaan)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1600200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ya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8658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86584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nog niet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2386584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todavía no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72968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72968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nooit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3172968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nunca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9593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959352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ooit?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3959352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¿… alguna vez?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dit jaar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32520" y="1600200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este año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8658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86584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deze week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32520" y="2386584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esta semana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172968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172968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vandaag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2520" y="3172968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hoy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9593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959352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de laatste tijd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32520" y="3959352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últimamente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43484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Chunks: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¿Has estado alguna vez en…? — Sí, una vez. / No, nunca. / Todavía no.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Deze markers horen bij het perfecto (recente/onbepaalde tijd).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3068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DE VIAJE   ·   C6+ · de viaje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12836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§2–§3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Perfecto + participios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→ de juiste vorm. Let op de onregelmatige.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(Yo) ___ (hacer) las maletas.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600200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he hecho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¿(Tú) ___ (ver) el mar?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478024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has visto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Nosotros ___ (volver).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355848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hemos vuelto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(Yo) ___ (escribir) una postal.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2680" y="1600200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he escrito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Han ___ (abrir) el museo.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12680" y="2478024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abierto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¿Has estado ___ vez en Perú?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3355848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alguna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7C56A9"/>
                </a:solidFill>
                <a:latin typeface="Inter"/>
              </a:rPr>
              <a:t>Irregulares: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hecho · visto · dicho · vuelto · puesto · escrito · abierto · roto.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DE VIAJE   ·   C6+ · de viaje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SPEAKING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Habla de un viaje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Speel de scène met de frames. Steun bouwt af: kaarten → beginwoorden → uit het hoofd.</a:t>
            </a:r>
          </a:p>
        </p:txBody>
      </p:sp>
      <p:pic>
        <p:nvPicPr>
          <p:cNvPr id="9" name="Picture 8" descr="t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1554480"/>
            <a:ext cx="1188720" cy="1188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¿Adónde?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He viajado a…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¿Cómo? (por)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Por avión/tren…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¿Qué has visto?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He visto…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4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¿Qué has hecho?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He hecho / probado…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4904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¿Lo mejor?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Lo mejor ha sido…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4904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8620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Argumento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8620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…porque…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251960"/>
            <a:ext cx="508223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5B3E83"/>
                </a:solidFill>
                <a:latin typeface="Inter"/>
              </a:rPr>
              <a:t>🎙️ Grábate online · «Mensaje de voz: mi viaje / mi opinión»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617720"/>
            <a:ext cx="96012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Ronda 1: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met de kaarten.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2: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beginwoorden.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3: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uit het hoofd.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4: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grábate.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2" name="Rounded Rectangle 31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12064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«He viajado a Chile por avión. He visto el desierto y he sacado muchas fotos. Lo mejor ha sido el paisaje porque es impresionante.»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49926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DE VIAJE   ·   C6+ · de viaje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WRITING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 mejor viaje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Schrijf je reisblog. Klik → een modeltekst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486400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✍️ Escribe tu blog de viaje: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94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517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089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5661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233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480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Checklist: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0116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adónde has viajado (+ por)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42316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3–4 experiencias (he visto/hecho…)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2 participios irregulares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2461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por/para correct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65760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una opinión (lo mejor ha sido…)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0690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6–8 frases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977639"/>
            <a:ext cx="5486400" cy="114300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 w="1524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023360"/>
            <a:ext cx="521208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Modelo: </a:t>
            </a:r>
            <a:r>
              <a:rPr sz="1100" b="0" i="1">
                <a:solidFill>
                  <a:srgbClr val="20242E"/>
                </a:solidFill>
                <a:latin typeface="Inter"/>
              </a:rPr>
              <a:t>«Este año he viajado a Chile por avión para descansar. He estado en Atacama y he visto las estrellas. He hecho muchas fotos. Lo mejor ha sido el paisaje. ¡Ha sido inolvidable!»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DE VIAJE   ·   C6+ · de viaje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§4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Experiencias y lugares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kaart → la respuesta. Bouw je woordnetwerk.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he estado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1554480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ik ben geweest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0156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he visto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1554480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ik heb gezien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he probado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6680" y="1554480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ik heb geproefd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la playa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61320" y="1554480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het strand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la montaña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7400" y="2322576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de berg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156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el desierto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2040" y="2322576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de woestijn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3620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el paisaje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26680" y="2322576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het landschap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084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impresionante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61320" y="2322576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indrukwekkend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inolvidable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57400" y="3090672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onvergetelijk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0156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lo mejor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92040" y="3090672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het beste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2648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3620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lo peor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26680" y="3090672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het ergste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6112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7084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ya / todavía no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61320" y="3090672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al / nog niet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7" name="Rounded Rectangle 46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45720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Opinión: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Lo mejor ha sido… · Lo peor ha sido… · Ha sido impresionante/inolvidable.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Experiencias: he estado/visto/hecho/probado + ya/todavía no/nunca/alguna vez.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4360" y="44439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DE VIAJE   ·   C6+ · de viaje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TALLER DE LENGUA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h muda + conectores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item → correcte vorm. Gereedschap voor spelling en volgorde.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A · ortografía: la h muda (klinkt niet)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3080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83080"/>
            <a:ext cx="25603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___e comido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1783080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he comido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41448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441448"/>
            <a:ext cx="25603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el ___otel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2441448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hotel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99816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099816"/>
            <a:ext cx="25603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___acer → ___echo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099816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hacer → hecho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58184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758184"/>
            <a:ext cx="25603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la ___abitación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3758184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habitación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B · conectores: cuenta tu viaje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783080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1783080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primero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0" y="1783080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B3E83"/>
                </a:solidFill>
                <a:latin typeface="Inter"/>
              </a:rPr>
              <a:t>→ eerst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2441448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2441448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luego / después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9680" y="2441448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B3E83"/>
                </a:solidFill>
                <a:latin typeface="Inter"/>
              </a:rPr>
              <a:t>→ daarna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099816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3099816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más tarde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0" y="3099816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B3E83"/>
                </a:solidFill>
                <a:latin typeface="Inter"/>
              </a:rPr>
              <a:t>→ later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758184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3758184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al final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69680" y="3758184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B3E83"/>
                </a:solidFill>
                <a:latin typeface="Inter"/>
              </a:rPr>
              <a:t>→ ten slotte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57200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de h wordt geschreven maar niet uitgesproken: he, has, hotel, hacer → hecho. 🔴 nooit «e comido».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B: primero → luego/después → más tarde → al final (om je reis te vertellen).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44439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DE VIAJE   ·   C6+ · de viaje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22199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CULTURA · PARADA 4: CHILE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gran viaje hispano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kaart → het weetje. Atacama, el Camino y Rapa Nui.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🏜️ El desierto de Atacama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In Chile ligt de droogste woestijn ter wereld. 's Nachts zie je er de helderste sterrenhemel — grote sterrenwachten.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Nina ha estado allí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🥾 El Camino de Santiago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In España lopen pelgrims al eeuwen de Camino naar Santiago. «He hecho el Camino» is een klassiek reisverhaal — honderden km te voet.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un clásico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1584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1584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🗿 Rapa Nui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Isla de Pascua (Chile), midden in de Stille Oceaan, is beroemd om de moáis: reusachtige stenen beelden. Zeer afgelegen.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todavía no…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89204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Actividad: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¿adónde has viajado o quieres viajar? Cuenta con el perfecto (he estado…) o «todavía no».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7640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DE VIAJE   ·   C6+ · de viaje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✈️ Tarea final · Mi mejor viaje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EE8F5"/>
                </a:solidFill>
                <a:latin typeface="Inter"/>
              </a:rPr>
              <a:t>Escribe un blog sobre un viaje con el perfecto, por/para y una opinión.</a:t>
            </a:r>
          </a:p>
        </p:txBody>
      </p:sp>
      <p:pic>
        <p:nvPicPr>
          <p:cNvPr id="5" name="Picture 4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82880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5544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Di adónde has viajado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0" y="1554480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«He viajado a… por avión/tren»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21408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Cuenta 3–4 experiencias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2121408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«He visto…, he probado…, he hecho…»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883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88336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Usa por/para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2688336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«para descansar», «por una semana»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552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55264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Añade tu opinión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255264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«Lo mejor ha sido… porque…»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2219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22192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Preséntalo y graba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3822192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en la web (recorder) — escúchate y mejora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7200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Rúbrica · ¿lo logré?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perfecto (haber+part.)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3756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2 irregulares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por/para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9828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una opinión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321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🎯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Afzender jij · ontvanger de klas · doel je reis delen · situatie een blog · resultaat: blog + presentación oral.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DE VIAJE   ·   C6+ · de viaje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QUIZ · LA MEZCLA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Ophaal door elkaar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Gemengde ophaal van de hele unit. Klik → het antwoord. (retrieval)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«ik heb gereisd» =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1600200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he viajado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13432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hacer → participio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313432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hecho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ver → participio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51960" y="3026664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visto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Salgo ___ Chile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1960" y="3739896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para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Viajo ___ avión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66960" y="1600200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por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13432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«nog niet» =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66960" y="2313432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todavía no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26664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volver → participio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66960" y="3026664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vuelto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39896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viaje ___ sido genial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66960" y="3739896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ha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177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Alles komt terug: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perfecto · participios irregulares · por/para · marcadores.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48970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DE VIAJE   ·   C6+ · de viaje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REPASO · LO ESENCIAL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De volledige herhaling (12 spellen, drills) staat online. Hier: de kern + semáforo.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11247120" cy="22860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Perfecto: haber (he/has/ha/hemos/habéis/han) + participio (-ado/-ido). He viajado.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66544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Participios irregulares: hecho · visto · dicho · vuelto · puesto · escrito · abierto · roto.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87168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Marcadores: hoy · esta semana · este año · ya · todavía no · nunca · alguna vez.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07792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Para = doel/bestemming/«om te» · Por = middel/duur/reden/doorheen.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28416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🔴 Trampas: haber ≠ tener · vergeet de h niet (he, has) · hecho/visto (irreg.) · por ≠ para.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3192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Semáforo — ¿cómo lo llevas?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over transport en verblijf praten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27448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perfecto vormen (haber + participio)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111496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onregelmatige participios gebruiken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584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95544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por en para onderscheiden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84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879592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een reis vertellen met een mini-mening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DE VIAJE   ·   C6+ · de viaje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