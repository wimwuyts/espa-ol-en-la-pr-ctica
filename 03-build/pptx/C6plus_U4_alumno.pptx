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23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76" r:id="rId27"/>
    <p:sldId id="277" r:id="rId28"/>
    <p:sldId id="278" r:id="rId29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 1 · El vuelo cancelado — ⚖️ onderhandeling &amp; dilemma</a:t>
            </a:r>
          </a:p>
          <a:p>
            <a:r>
              <a:t>OPDRACHT: Onderhandel over een oplossing. Elk heeft een geheime instructie.</a:t>
            </a:r>
          </a:p>
          <a:p>
            <a:r>
              <a:t>DE REGEL: Je geheime instructie mag je niet voorlezen en niet vertalen — je moet ernaar hándelen. En niemand mag de stem verheffen: dit is een balie, geen ruzie.</a:t>
            </a:r>
          </a:p>
          <a:p>
            <a:r>
              <a:t>VERLOOP: Repartid los papeles y leed la instrucción en secreto. | El pasajero empieza. El mostrador escucha antes de contestar. | Negociad hasta un acuerdo, o hasta el bloqueo. | Contad a la clase qué habéis acordado y por qué.</a:t>
            </a:r>
          </a:p>
          <a:p>
            <a:r>
              <a:t>SLEUTEL: De sleutel zit in de tweede instructie van de balie: er zijn twee plaatsen, maar alleen voor dringende gevallen. De passagier moet dus zijn examen noemen — en dat is een spreekhandeling, geen woordenschatoefening.  ||  «Lo que sí puedo hacer es…» is de belangrijkste chunk aan de baliekant: iets weigeren en tegelijk een uitweg bieden.  ||  De impasse is een geldig einde. Twee duo's die vastlopen maar beleefd blijven, hebben de reto beter gedaan dan een duo dat meteen alles krijgt.  ||  Toets de spreekhandelingen (klacht formuleren, alternatief vragen, weigeren met uitweg), niet wie wint.</a:t>
            </a:r>
          </a:p>
          <a:p>
            <a:r>
              <a:t>NOTA: Draai daarna de rollen om met dezelfde instructies. De tweede ronde is altijd beter, en de klas hoort dat zelf.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 3 · Presupuesto de mochilero — 🔬 onderzoek &amp; data</a:t>
            </a:r>
          </a:p>
          <a:p>
            <a:r>
              <a:t>OPDRACHT: Stel de reis samen binnen het budget en verantwoord elke uitgave met por of para.</a:t>
            </a:r>
          </a:p>
          <a:p>
            <a:r>
              <a:t>DE REGEL: Zeshonderd euro, geen cent meer, en tien nachten moeten gedekt zijn. Elke uitgave wordt verantwoord met «por» (het bedrag, de ruil) of «para» (het doel).</a:t>
            </a:r>
          </a:p>
          <a:p>
            <a:r>
              <a:t>VERLOOP: Mirad los precios de los tres países. | Decidid la ruta y contad las noches. | Justificad cada gasto con por o para. | ¿Cabe en 600 €? Si no, ¿qué quitáis?</a:t>
            </a:r>
          </a:p>
          <a:p>
            <a:r>
              <a:t>SLEUTEL: Het budget klopt alleen als de groep tijd inruilt tegen geld: de bus van tien uur in plaats van de binnenlandse vlucht. Dat is de kern van backpacken en meteen de beste «por»-zin: «cambiamos el vuelo por el bus».  ||  Chili is bijna dubbel zo duur als Bolivia. Wie de route van zuid naar noord legt, houdt geld over voor de parken; omgekeerd niet.  ||  «Por» voor het bedrag en de ruil, «para» voor het doel — het budget maakt dat verschil concreet in plaats van abstract.  ||  Toets de tien gedekte nachten, het bedrag, en of elke uitgave een por- of para-zin heeft.</a:t>
            </a:r>
          </a:p>
          <a:p>
            <a:r>
              <a:t>NOTA: Prijzen zijn ordes van grootte. Wie actuele prijzen opzoekt, mag ze gebruiken — dan wordt de oefening alleen maar echter.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RETO 5 · Equipaje de mano — ⚖️ onderhandeling &amp; dilemma</a:t>
            </a:r>
          </a:p>
          <a:p>
            <a:r>
              <a:t>OPDRACHT: Beslis wat de rugzak in gaat. Elk voorwerp wordt verdedigd met para.</a:t>
            </a:r>
          </a:p>
          <a:p>
            <a:r>
              <a:t>DE REGEL: Zeven kilo, geen gram meer. Elk voorwerp krijgt een «para»-zin die zegt waarvóór het dient — «para el frío de la noche», niet «porque es útil». Zonder «para» blijft het thuis.</a:t>
            </a:r>
          </a:p>
          <a:p>
            <a:r>
              <a:t>VERLOOP: Mirad la lista y los pesos. | Cada uno defiende tres objetos con para. | Sumad. ¿Pasáis de siete kilos? | Negociad hasta llegar justo. | Y ahora: ¿qué habéis dejado y os va a hacer falta?</a:t>
            </a:r>
          </a:p>
          <a:p>
            <a:r>
              <a:t>SLEUTEL: De volledige lijst weegt ongeveer 7,2 kilo: net te veel. Er móet dus geschrapt worden, en dat is opzet.  ||  De bestemming beslist: van Atacama naar Patagonië betekent 35 graden én nul graden. Wie de muts schrapt, heeft de opdracht niet gelezen; wie het boek houdt boven de regenjas, moet dat kunnen verdedigen.  ||  «¿Y para qué lo quieres exactamente?» is de vraag die de hele reto draagt: hij dwingt de ander tot een tweede, preciezere para-zin.  ||  Toets de para-zinnen en het eindgewicht. Welke voorwerpen meegaan, is aan de groep.</a:t>
            </a:r>
          </a:p>
          <a:p>
            <a:r>
              <a:t>NOTA: Weeg het echt na als je een weegschaal hebt en de klas eigen spullen meebrengt. Het verschil tussen geschat en gewogen gewicht is altijd een verrassing.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6.xml"/><Relationship Id="rId5" Type="http://schemas.openxmlformats.org/officeDocument/2006/relationships/slide" Target="slide7.xml"/><Relationship Id="rId6" Type="http://schemas.openxmlformats.org/officeDocument/2006/relationships/slide" Target="slide11.xml"/><Relationship Id="rId7" Type="http://schemas.openxmlformats.org/officeDocument/2006/relationships/slide" Target="slide9.xml"/><Relationship Id="rId8" Type="http://schemas.openxmlformats.org/officeDocument/2006/relationships/slide" Target="slide17.xml"/><Relationship Id="rId9" Type="http://schemas.openxmlformats.org/officeDocument/2006/relationships/slide" Target="slide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slide" Target="slide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slide" Target="slide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29768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82296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320040"/>
            <a:ext cx="3108960" cy="3291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6000" b="1" i="0">
                <a:solidFill>
                  <a:srgbClr val="9374C2"/>
                </a:solidFill>
                <a:latin typeface="Bricolage Grotesque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77639" y="777240"/>
            <a:ext cx="281086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5B3E83"/>
                </a:solidFill>
                <a:latin typeface="Inter"/>
              </a:rPr>
              <a:t>LA RUTA · CHILE 🇨🇱 · DE VIAJE ✈️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234440"/>
            <a:ext cx="786384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6200" b="1" i="0">
                <a:solidFill>
                  <a:srgbClr val="FFFFFF"/>
                </a:solidFill>
                <a:latin typeface="Bricolage Grotesque"/>
              </a:rPr>
              <a:t>De viaje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468880"/>
            <a:ext cx="76809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1">
                <a:solidFill>
                  <a:srgbClr val="EEE8F5"/>
                </a:solidFill>
                <a:latin typeface="Inter"/>
              </a:rPr>
              <a:t>Recente ervaringen: el perfecto (haber + participio) · por/para.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3063240"/>
            <a:ext cx="768096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FFFFFF"/>
                </a:solidFill>
                <a:latin typeface="Bricolage Grotesque"/>
              </a:rPr>
              <a:t>¿Has viajado alguna vez a un país hispano?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EE8F5"/>
                </a:solidFill>
                <a:latin typeface="Inter"/>
              </a:rPr>
              <a:t>Ben je ooit naar een Spaanstalig land gereisd?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262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La gente de la ruta — parada 4: Chile, el gran viaje</a:t>
            </a:r>
          </a:p>
        </p:txBody>
      </p:sp>
      <p:pic>
        <p:nvPicPr>
          <p:cNvPr id="11" name="Picture 10" descr="lu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93776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11480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Lucia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Sevilla 🇪🇸</a:t>
            </a:r>
          </a:p>
        </p:txBody>
      </p:sp>
      <p:pic>
        <p:nvPicPr>
          <p:cNvPr id="13" name="Picture 12" descr="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159" y="4937760"/>
            <a:ext cx="914400" cy="9144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85999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Diego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CDMX 🇲🇽</a:t>
            </a:r>
          </a:p>
        </p:txBody>
      </p:sp>
      <p:pic>
        <p:nvPicPr>
          <p:cNvPr id="15" name="Picture 14" descr="val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78" y="4937760"/>
            <a:ext cx="914400" cy="9144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160518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Valen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Cartagena 🇨🇴</a:t>
            </a:r>
          </a:p>
        </p:txBody>
      </p:sp>
      <p:pic>
        <p:nvPicPr>
          <p:cNvPr id="17" name="Picture 16" descr="nin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197" y="4937760"/>
            <a:ext cx="914400" cy="9144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35037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Nina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Cusco 🇵🇪</a:t>
            </a:r>
          </a:p>
        </p:txBody>
      </p:sp>
      <p:pic>
        <p:nvPicPr>
          <p:cNvPr id="19" name="Picture 18" descr="tu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16" y="4937760"/>
            <a:ext cx="914400" cy="9144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909556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Tú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de reiziger = jij</a:t>
            </a:r>
          </a:p>
        </p:txBody>
      </p:sp>
      <p:pic>
        <p:nvPicPr>
          <p:cNvPr id="21" name="Picture 20" descr="mochila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35" y="4937760"/>
            <a:ext cx="914400" cy="9144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784075" y="5870448"/>
            <a:ext cx="11887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42E"/>
                </a:solidFill>
                <a:latin typeface="Inter"/>
              </a:rPr>
              <a:t>Mochila</a:t>
            </a:r>
          </a:p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0">
                <a:solidFill>
                  <a:srgbClr val="6A6E78"/>
                </a:solidFill>
                <a:latin typeface="Inter"/>
              </a:rPr>
              <a:t>La mochila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63311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MENÚ DE LA LECCIÓN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mapa de la Unidad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Kies je route — klik een tegel. Alles oefent naar de Tarea «Mi mejor viaje» toe.</a:t>
            </a:r>
          </a:p>
        </p:txBody>
      </p:sp>
      <p:sp>
        <p:nvSpPr>
          <p:cNvPr id="9" name="Rounded Rectangle 8">
            <a:hlinkClick action="ppaction://hlinksldjump" r:id="rId2"/>
          </p:cNvPr>
          <p:cNvSpPr/>
          <p:nvPr/>
        </p:nvSpPr>
        <p:spPr>
          <a:xfrm>
            <a:off x="457200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>
            <a:hlinkClick action="ppaction://hlinksldjump" r:id="rId2"/>
          </p:cNvPr>
          <p:cNvSpPr/>
          <p:nvPr/>
        </p:nvSpPr>
        <p:spPr>
          <a:xfrm>
            <a:off x="457200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Transporte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y alojamiento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3</a:t>
            </a:r>
          </a:p>
        </p:txBody>
      </p:sp>
      <p:sp>
        <p:nvSpPr>
          <p:cNvPr id="15" name="Rounded Rectangle 14">
            <a:hlinkClick action="ppaction://hlinksldjump" r:id="rId3"/>
          </p:cNvPr>
          <p:cNvSpPr/>
          <p:nvPr/>
        </p:nvSpPr>
        <p:spPr>
          <a:xfrm>
            <a:off x="3328416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>
            <a:hlinkClick action="ppaction://hlinksldjump" r:id="rId3"/>
          </p:cNvPr>
          <p:cNvSpPr/>
          <p:nvPr/>
        </p:nvSpPr>
        <p:spPr>
          <a:xfrm>
            <a:off x="3328416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38144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58768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El perfecto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93008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haber + participio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93008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4</a:t>
            </a:r>
          </a:p>
        </p:txBody>
      </p:sp>
      <p:sp>
        <p:nvSpPr>
          <p:cNvPr id="21" name="Rounded Rectangle 20">
            <a:hlinkClick action="ppaction://hlinksldjump" r:id="rId4"/>
          </p:cNvPr>
          <p:cNvSpPr/>
          <p:nvPr/>
        </p:nvSpPr>
        <p:spPr>
          <a:xfrm>
            <a:off x="6199632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>
            <a:hlinkClick action="ppaction://hlinksldjump" r:id="rId4"/>
          </p:cNvPr>
          <p:cNvSpPr/>
          <p:nvPr/>
        </p:nvSpPr>
        <p:spPr>
          <a:xfrm>
            <a:off x="6199632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309360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§2b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Participios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64224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irregulares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64224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6</a:t>
            </a:r>
          </a:p>
        </p:txBody>
      </p:sp>
      <p:sp>
        <p:nvSpPr>
          <p:cNvPr id="27" name="Rounded Rectangle 26">
            <a:hlinkClick action="ppaction://hlinksldjump" r:id="rId5"/>
          </p:cNvPr>
          <p:cNvSpPr/>
          <p:nvPr/>
        </p:nvSpPr>
        <p:spPr>
          <a:xfrm>
            <a:off x="9070848" y="141732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>
            <a:hlinkClick action="ppaction://hlinksldjump" r:id="rId5"/>
          </p:cNvPr>
          <p:cNvSpPr/>
          <p:nvPr/>
        </p:nvSpPr>
        <p:spPr>
          <a:xfrm>
            <a:off x="9070848" y="141732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80576" y="149047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147218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Por / para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203911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doel ↔ middel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235440" y="324612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7</a:t>
            </a:r>
          </a:p>
        </p:txBody>
      </p:sp>
      <p:sp>
        <p:nvSpPr>
          <p:cNvPr id="33" name="Rounded Rectangle 32">
            <a:hlinkClick action="ppaction://hlinksldjump" r:id="rId6"/>
          </p:cNvPr>
          <p:cNvSpPr/>
          <p:nvPr/>
        </p:nvSpPr>
        <p:spPr>
          <a:xfrm>
            <a:off x="457200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>
            <a:hlinkClick action="ppaction://hlinksldjump" r:id="rId6"/>
          </p:cNvPr>
          <p:cNvSpPr/>
          <p:nvPr/>
        </p:nvSpPr>
        <p:spPr>
          <a:xfrm>
            <a:off x="457200" y="3840480"/>
            <a:ext cx="2743200" cy="457200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566928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7C56A9"/>
                </a:solidFill>
                <a:latin typeface="Bricolage Grotesque"/>
              </a:rPr>
              <a:t>§4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Experiencias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ya · nunca · alguna vez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11</a:t>
            </a:r>
          </a:p>
        </p:txBody>
      </p:sp>
      <p:sp>
        <p:nvSpPr>
          <p:cNvPr id="39" name="Rounded Rectangle 38">
            <a:hlinkClick action="ppaction://hlinksldjump" r:id="rId7"/>
          </p:cNvPr>
          <p:cNvSpPr/>
          <p:nvPr/>
        </p:nvSpPr>
        <p:spPr>
          <a:xfrm>
            <a:off x="3328416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>
            <a:hlinkClick action="ppaction://hlinksldjump" r:id="rId7"/>
          </p:cNvPr>
          <p:cNvSpPr/>
          <p:nvPr/>
        </p:nvSpPr>
        <p:spPr>
          <a:xfrm>
            <a:off x="3328416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438144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★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58768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Lectura + escucha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un viaje inolvidable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493008" y="5669280"/>
            <a:ext cx="70774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9</a:t>
            </a:r>
          </a:p>
        </p:txBody>
      </p:sp>
      <p:sp>
        <p:nvSpPr>
          <p:cNvPr id="45" name="Rounded Rectangle 44">
            <a:hlinkClick action="ppaction://hlinksldjump" r:id="rId8"/>
          </p:cNvPr>
          <p:cNvSpPr/>
          <p:nvPr/>
        </p:nvSpPr>
        <p:spPr>
          <a:xfrm>
            <a:off x="6199632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>
            <a:hlinkClick action="ppaction://hlinksldjump" r:id="rId8"/>
          </p:cNvPr>
          <p:cNvSpPr/>
          <p:nvPr/>
        </p:nvSpPr>
        <p:spPr>
          <a:xfrm>
            <a:off x="6199632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309360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🗿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9984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Cultura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64224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gran viaje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64224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17</a:t>
            </a:r>
          </a:p>
        </p:txBody>
      </p:sp>
      <p:sp>
        <p:nvSpPr>
          <p:cNvPr id="51" name="Rounded Rectangle 50">
            <a:hlinkClick action="ppaction://hlinksldjump" r:id="rId9"/>
          </p:cNvPr>
          <p:cNvSpPr/>
          <p:nvPr/>
        </p:nvSpPr>
        <p:spPr>
          <a:xfrm>
            <a:off x="9070848" y="3840480"/>
            <a:ext cx="2743200" cy="2240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20320">
            <a:solidFill>
              <a:srgbClr val="5B3E83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>
            <a:hlinkClick action="ppaction://hlinksldjump" r:id="rId9"/>
          </p:cNvPr>
          <p:cNvSpPr/>
          <p:nvPr/>
        </p:nvSpPr>
        <p:spPr>
          <a:xfrm>
            <a:off x="9070848" y="3840480"/>
            <a:ext cx="2743200" cy="45720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80576" y="3913632"/>
            <a:ext cx="310896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5B3E83"/>
                </a:solidFill>
                <a:latin typeface="Bricolage Grotesque"/>
              </a:rPr>
              <a:t>✈️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601200" y="3895344"/>
            <a:ext cx="210312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FFFFFF"/>
                </a:solidFill>
                <a:latin typeface="Bricolage Grotesque"/>
              </a:rPr>
              <a:t>Tarea · Mi viaje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235440" y="4462272"/>
            <a:ext cx="2414016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blog + opinión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235440" y="5669280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→ dia 18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§1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Transporte y alojamiento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De woorden van de reis — observa. Herken ze, dan gebruik je ze.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avión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1463040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vliegtuig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1463040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por avión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tren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2121408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trein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2121408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estación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billete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2779776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ticket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2779776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de ida y vuelta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la maleta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0" y="3438144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koffer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3438144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hacer la maleta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72200" y="1463040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1463040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el hotel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58200" y="1463040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hotel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87000" y="1463040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reserva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72200" y="2121408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09360" y="2121408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la habitación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2121408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kamer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87000" y="2121408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doble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72200" y="2779776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09360" y="2779776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la llave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2779776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sleutel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87000" y="2779776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recepción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3438144"/>
            <a:ext cx="557784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3438144"/>
            <a:ext cx="21945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la playa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58200" y="3438144"/>
            <a:ext cx="19202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het strand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287000" y="3438144"/>
            <a:ext cx="13716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la montaña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4343400"/>
            <a:ext cx="11247120" cy="4572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¡Ojo! el/la: </a:t>
            </a:r>
            <a:r>
              <a:rPr sz="1300" b="0" i="0">
                <a:solidFill>
                  <a:srgbClr val="20242E"/>
                </a:solidFill>
                <a:latin typeface="Inter"/>
              </a:rPr>
              <a:t>el avión, el tren, el billete, el hotel (m) · la maleta, la reserva, la llave, la playa (v)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55" name="Rounded Rectangle 5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57200" y="4892040"/>
            <a:ext cx="11247120" cy="86868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Collocaties: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comprar un billete · hacer la maleta · reservar una habitación · sacar fotos · coger el tren.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🔴 middel = por avión / por tren.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94360" y="47640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59" name="Rectangle 5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pretérito perfecto compuesto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haber (he/has/ha…) + participio (-ado/-ido). «wat je gedaan hebt».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11247120" cy="109728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554480"/>
            <a:ext cx="10698480" cy="10972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200" b="1" i="0">
                <a:solidFill>
                  <a:srgbClr val="2563EB"/>
                </a:solidFill>
                <a:latin typeface="Bricolage Grotesque"/>
              </a:rPr>
              <a:t>(Yo) </a:t>
            </a:r>
            <a:r>
              <a:rPr sz="2200" b="1" i="0">
                <a:solidFill>
                  <a:srgbClr val="EA7317"/>
                </a:solidFill>
                <a:latin typeface="Bricolage Grotesque"/>
              </a:rPr>
              <a:t>he </a:t>
            </a:r>
            <a:r>
              <a:rPr sz="2200" b="1" i="0">
                <a:solidFill>
                  <a:srgbClr val="B4309A"/>
                </a:solidFill>
                <a:latin typeface="Bricolage Grotesque"/>
              </a:rPr>
              <a:t>viajado </a:t>
            </a:r>
            <a:r>
              <a:rPr sz="2200" b="1" i="0">
                <a:solidFill>
                  <a:srgbClr val="64748B"/>
                </a:solidFill>
                <a:latin typeface="Bricolage Grotesque"/>
              </a:rPr>
              <a:t>a Chile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La conjugación de haber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291840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yo he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23160" y="3291840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he viajado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3968496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tú has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423160" y="3968496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has comido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" y="4645152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él/ella ha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23160" y="4645152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ha salido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80" y="329184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34840" y="3291840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nosotros hemos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291840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hemos visto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96849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3968496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vosotros habéis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63640" y="3968496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habéis reservado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97680" y="464515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434840" y="4645152"/>
            <a:ext cx="18288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5B3E83"/>
                </a:solidFill>
                <a:latin typeface="Inter"/>
              </a:rPr>
              <a:t>ellos han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63640" y="4645152"/>
            <a:ext cx="155448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EA7317"/>
                </a:solidFill>
                <a:latin typeface="Inter"/>
              </a:rPr>
              <a:t>han llegado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3" name="Rounded Rectangle 42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525780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haber (verandert) + participio (-ado/-ido, blijft gelijk). 🔴 haber ≠ tener: he comido, niet «tengo comido».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94360" y="51297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forma del perfecto?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zin → de juiste vorm. Kijk naar de persoon.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(Yo) ___ (viajar) a Chile.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he viajado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¿(Tú) ___ (comer)?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has comido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Nosotros ___ (visitar) el museo.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hemos visitado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El avión ___ (llegar).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ha llegado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Mis amigos ___ (reservar).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han reservado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(Yo) ___ (dormir) mal.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he dormido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DC2626"/>
                </a:solidFill>
                <a:latin typeface="Inter"/>
              </a:rPr>
              <a:t>Truc: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he/has/ha/hemos/habéis/han + participio (-ado/-ido). Het participio verandert niet.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380743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§2b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Los participios irregulares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verbo → het participio. Uit het hoofd leren.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hacer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600200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hecho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8658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86584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386584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visto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7296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72968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decir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172968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dicho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593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9352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volver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959352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vuelto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poner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600200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puesto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8658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86584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escribir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2386584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escrito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17296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172968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abrir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3172968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abierto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9593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959352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6A6E78"/>
                </a:solidFill>
                <a:latin typeface="Inter"/>
              </a:rPr>
              <a:t>romper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3959352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roto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43484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Los 8 clásicos: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hecho · visto · dicho · vuelto · puesto · escrito · abierto · roto.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DC2626"/>
                </a:solidFill>
                <a:latin typeface="Inter"/>
              </a:rPr>
              <a:t>🔴 acentos: leer → leído, oír → oído (i na klinker).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3068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8549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§3 · GRAMÁTICA VISUAL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Por y para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para = doel/bestemming · por = middel/duur/reden.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484632"/>
            <a:ext cx="118872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i="0">
                <a:solidFill>
                  <a:srgbClr val="6A6E78"/>
                </a:solidFill>
                <a:latin typeface="Inter"/>
              </a:rPr>
              <a:t>Kleurcode: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2124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8583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persoon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74121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73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38713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werkw.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170309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334901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tijd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653112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17704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plaats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249300" y="521208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13892" y="475488"/>
            <a:ext cx="91440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0">
                <a:solidFill>
                  <a:srgbClr val="20242E"/>
                </a:solidFill>
                <a:latin typeface="Inter"/>
              </a:rPr>
              <a:t>valstrik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1554480"/>
            <a:ext cx="5486400" cy="100584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554480"/>
            <a:ext cx="512064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Salgo </a:t>
            </a:r>
            <a:r>
              <a:rPr sz="1800" b="1" i="0">
                <a:solidFill>
                  <a:srgbClr val="B4309A"/>
                </a:solidFill>
                <a:latin typeface="Inter"/>
              </a:rPr>
              <a:t>para </a:t>
            </a:r>
            <a:r>
              <a:rPr sz="1600" b="0" i="0">
                <a:solidFill>
                  <a:srgbClr val="20242E"/>
                </a:solidFill>
                <a:latin typeface="Inter"/>
              </a:rPr>
              <a:t>Chile</a:t>
            </a:r>
            <a:r>
              <a:rPr sz="1600" b="0" i="0">
                <a:solidFill>
                  <a:srgbClr val="20242E"/>
                </a:solidFill>
                <a:latin typeface="Inter"/>
              </a:rPr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1554480"/>
            <a:ext cx="5486400" cy="100584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1554480"/>
            <a:ext cx="5120640" cy="10058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0" i="0">
                <a:solidFill>
                  <a:srgbClr val="20242E"/>
                </a:solidFill>
                <a:latin typeface="Inter"/>
              </a:rPr>
              <a:t>Viajo </a:t>
            </a:r>
            <a:r>
              <a:rPr sz="1800" b="1" i="0">
                <a:solidFill>
                  <a:srgbClr val="EA7317"/>
                </a:solidFill>
                <a:latin typeface="Inter"/>
              </a:rPr>
              <a:t>por </a:t>
            </a:r>
            <a:r>
              <a:rPr sz="1600" b="0" i="0">
                <a:solidFill>
                  <a:srgbClr val="20242E"/>
                </a:solidFill>
                <a:latin typeface="Inter"/>
              </a:rPr>
              <a:t>avión</a:t>
            </a:r>
            <a:r>
              <a:rPr sz="1600" b="0" i="0">
                <a:solidFill>
                  <a:srgbClr val="20242E"/>
                </a:solidFill>
                <a:latin typeface="Inter"/>
              </a:rPr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288036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2880360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para + destino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14600" y="2880360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para Chile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55701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557016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para + inf. (doel)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3557016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para descansar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23367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94360" y="4233672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para + persona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14600" y="4233672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para ti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2880360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2880360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por + medio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55080" y="2880360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por avión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297680" y="3557016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434840" y="3557016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por + duración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55080" y="3557016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por dos días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4233672"/>
            <a:ext cx="365760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34840" y="4233672"/>
            <a:ext cx="19202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5B3E83"/>
                </a:solidFill>
                <a:latin typeface="Inter"/>
              </a:rPr>
              <a:t>por + causa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55080" y="4233672"/>
            <a:ext cx="146304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42E"/>
                </a:solidFill>
                <a:latin typeface="Inter"/>
              </a:rPr>
              <a:t>por el mal tiempo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4" name="Rounded Rectangle 43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4709160"/>
            <a:ext cx="11247120" cy="68580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para = doel/bestemming/«om te» · por = middel/duur/reden/doorheen. Viajo por avión para visitar Chile.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875995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§3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¿por o para?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zin → de juiste optie.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Salgo ___ Chile.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para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Viajo ___ avión.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78024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por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Estudio ___ aprobar.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355848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para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Me quedo ___ dos días.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87000" y="1600200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por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Es ___ ti.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87000" y="2478024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para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93192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42E"/>
                </a:solidFill>
                <a:latin typeface="Inter"/>
              </a:rPr>
              <a:t>Paseo ___ la playa.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87000" y="3355848"/>
            <a:ext cx="132588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Inter"/>
              </a:rPr>
              <a:t>→ por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Regla: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para = doel/bestemming · por = middel/duur/reden. Bij twijfel: «waarheen/waarvoor» = para.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053742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§5 · LEER · COMPRENSIÓN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Dos viajes — «Un viaje inolvidable»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Lees. Klik een vraag → het antwoord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08760"/>
            <a:ext cx="5120640" cy="356616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 w="1778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n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783080"/>
            <a:ext cx="914400" cy="9144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1810512"/>
            <a:ext cx="35661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«Este año he viajado a Chile. Hemos estado en el desierto de Atacama y he visto un cielo lleno de estrellas. Lo mejor ha sido el paisaje. Todavía no he estado en Rapa Nui.»</a:t>
            </a:r>
          </a:p>
        </p:txBody>
      </p:sp>
      <p:pic>
        <p:nvPicPr>
          <p:cNvPr id="12" name="Picture 11" descr="die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37560"/>
            <a:ext cx="914400" cy="9144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364992"/>
            <a:ext cx="35661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1">
                <a:solidFill>
                  <a:srgbClr val="20242E"/>
                </a:solidFill>
                <a:latin typeface="Inter"/>
              </a:rPr>
              <a:t>«He vuelto de un viaje por Europa. He probado la paella en València, he hecho muchas fotos y he escrito un diario. Lo peor ha sido el vuelo, muy largo.»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1554480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1609344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¿Adónde ha viajado Nina?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956816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A Chile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2450592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2505456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¿Ya ha estado en Rapa Nui?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852928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Todavía no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0" y="3346704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89320" y="3401568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¿Qué ha probado Diego?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89320" y="3749040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La paella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52160" y="4242816"/>
            <a:ext cx="5852160" cy="777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4297680"/>
            <a:ext cx="55778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¿Qué ha sido lo peor (Diego)?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4645152"/>
            <a:ext cx="557784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→ El vuelo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4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5166360"/>
            <a:ext cx="585216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🎯 Leesdoel: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scannen naar het perfecto (he/ha…) + lo mejor/lo peor.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9320" y="50383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ESCUCHAR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¿Qué tal el viaje?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Volg het verhaal. Klik un dato → de info. (audio + script op de web)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🔊 ¿Adónde?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Ha ido a Chile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🔊 ¿Qué ha visto?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El desierto, las estrellas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🔊 ¿Qué ha hecho?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Ha sacado fotos, ha subido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1737360"/>
            <a:ext cx="2697480" cy="2194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1737360"/>
            <a:ext cx="26974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dato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37744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0242E"/>
                </a:solidFill>
                <a:latin typeface="Bricolage Grotesque"/>
              </a:rPr>
              <a:t>🔊 ¿Lo mejor?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3108960"/>
            <a:ext cx="2423160" cy="6400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7C56A9"/>
                </a:solidFill>
                <a:latin typeface="Inter"/>
              </a:rPr>
              <a:t>El paisaje, inolvidable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1" name="Rounded Rectangle 30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48056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Modelo-audio (docent/TTS):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«He viajado a Chile. He visto el desierto y he sacado muchas fotos. Lo mejor ha sido el paisaje.» 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Daarna: A vertelt zijn reis, B stelt vragen (perfecto).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4360" y="43525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29661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§4 · GRAMÁTICA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Los marcadores del perfecto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cue → de betekenis. ya · todavía no · nunca · alguna vez.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al (gedaan)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1600200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ya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8658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86584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nog niet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386584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todavía no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17296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172968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nooit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172968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nunca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9593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959352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ooit?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3959352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¿… alguna vez?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dit jaar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1600200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este año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86584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86584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deze week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2386584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esta semana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172968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172968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vandaag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732520" y="3172968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hoy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959352"/>
            <a:ext cx="5532120" cy="65836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959352"/>
            <a:ext cx="237744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6A6E78"/>
                </a:solidFill>
                <a:latin typeface="Inter"/>
              </a:rPr>
              <a:t>de laatste tijd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32520" y="3959352"/>
            <a:ext cx="2880360" cy="65836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→ últimamente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43484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Chunks: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¿Has estado alguna vez en…? — Sí, una vez. / No, nunca. / Todavía no.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Deze markers horen bij het perfecto (recente/onbepaalde tijd).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3068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11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128369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§2–§3 · QUIZ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Perfecto + participios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→ de juiste vorm. Let op de onregelmatige.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(Yo) ___ (hacer) las maletas.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he hecho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¿(Tú) ___ (ver) el mar?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has visto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Nosotros ___ (volver).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hemos vuelto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00200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600200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(Yo) ___ (escribir) una postal.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12680" y="1600200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he escrito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2478024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478024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Han ___ (abrir) el museo.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12680" y="2478024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abierto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355848"/>
            <a:ext cx="5532120" cy="71323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355848"/>
            <a:ext cx="36576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¿Has estado ___ vez en Perú?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3355848"/>
            <a:ext cx="1600200" cy="713232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Inter"/>
              </a:rPr>
              <a:t>→ alguna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9" name="Rounded Rectangle 28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70916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7C56A9"/>
                </a:solidFill>
                <a:latin typeface="Inter"/>
              </a:rPr>
              <a:t>Irregulares: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hecho · visto · dicho · vuelto · puesto · escrito · abierto · roto.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458114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39024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§2 · SPEAKING · INTERACCIÓN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Habla de un viaje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Speel de scène met de frames. Steun bouwt af: kaarten → beginwoorden → uit het hoofd.</a:t>
            </a:r>
          </a:p>
        </p:txBody>
      </p:sp>
      <p:pic>
        <p:nvPicPr>
          <p:cNvPr id="9" name="Picture 8" descr="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1554480"/>
            <a:ext cx="1188720" cy="11887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45720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¿Adónde?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He viajado a…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¿Cómo? (por)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Por avión/tren…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¿Qué has visto?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He visto…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49040" y="1645920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86200" y="1691640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¿Qué has hecho?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1975104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He hecho / probado…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749040" y="2542032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86200" y="2587752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¿Lo mejor?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86200" y="2871216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Lo mejor ha sido…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3438144"/>
            <a:ext cx="3108960" cy="7315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86200" y="3483864"/>
            <a:ext cx="2834640" cy="292608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A6E78"/>
                </a:solidFill>
                <a:latin typeface="Inter"/>
              </a:rPr>
              <a:t>Argumento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6200" y="3767328"/>
            <a:ext cx="2834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5B3E83"/>
                </a:solidFill>
                <a:latin typeface="Bricolage Grotesque"/>
              </a:rPr>
              <a:t>…porque…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251960"/>
            <a:ext cx="5082235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5B3E83"/>
                </a:solidFill>
                <a:latin typeface="Inter"/>
              </a:rPr>
              <a:t>🎙️ Grábate online · «Mensaje de voz: mi viaje / mi opinión»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617720"/>
            <a:ext cx="9601200" cy="8229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Ronda 1: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met de kaarten.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2: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beginwoorden.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3: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uit het hoofd. </a:t>
            </a:r>
            <a:r>
              <a:rPr sz="1200" b="1" i="0">
                <a:solidFill>
                  <a:srgbClr val="5B3E83"/>
                </a:solidFill>
                <a:latin typeface="Inter"/>
              </a:rPr>
              <a:t>Ronda 4: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grábate.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2" name="Rounded Rectangle 31">
            <a:hlinkClick action="ppaction://hlinksldjump" r:id="rId3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5120640"/>
            <a:ext cx="11247120" cy="5943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«He viajado a Chile por avión. He visto el desierto y he sacado muchas fotos. Lo mejor ha sido el paisaje porque es impresionante.»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9926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WRITING · PRODUCCIÓN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Mi mejor viaje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Schrijf je reisblog. Klik → een modeltekst verschijnt.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5486400" cy="3566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5240">
            <a:solidFill>
              <a:srgbClr val="E4E3DE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✍️ Escribe tu blog de viaje: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194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26517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" y="31089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35661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233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480560"/>
            <a:ext cx="5120640" cy="9144"/>
          </a:xfrm>
          <a:prstGeom prst="rect">
            <a:avLst/>
          </a:prstGeom>
          <a:solidFill>
            <a:srgbClr val="E4E3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15544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Checklist: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0116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adónde has viajado (+ por)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42316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3–4 experiencias (he visto/hecho…)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83464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2 participios irregulares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24612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por/para correct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65760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una opinión (lo mejor ha sido…)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4069080"/>
            <a:ext cx="54864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2E"/>
                </a:solidFill>
                <a:latin typeface="Inter"/>
              </a:rPr>
              <a:t>☐  6–8 frases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977639"/>
            <a:ext cx="5486400" cy="1143000"/>
          </a:xfrm>
          <a:prstGeom prst="roundRect">
            <a:avLst>
              <a:gd name="adj" fmla="val 5500"/>
            </a:avLst>
          </a:prstGeom>
          <a:solidFill>
            <a:srgbClr val="EEE8F5"/>
          </a:solidFill>
          <a:ln w="1524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46520" y="4023360"/>
            <a:ext cx="5212080" cy="10972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3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Modelo: </a:t>
            </a:r>
            <a:r>
              <a:rPr sz="1100" b="0" i="1">
                <a:solidFill>
                  <a:srgbClr val="20242E"/>
                </a:solidFill>
                <a:latin typeface="Inter"/>
              </a:rPr>
              <a:t>«Este año he viajado a Chile por avión para descansar. He estado en Atacama y he visto las estrellas. He hecho muchas fotos. Lo mejor ha sido el paisaje. ¡Ha sido inolvidable!»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8" name="Rounded Rectangle 27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§4 · VOCABULARIO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Experiencias y lugares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kaart → la respuesta. Bouw je woordnetwerk.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he estado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1554480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ik ben geweest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he visto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1554480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ik heb gezien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3620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he probado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26680" y="1554480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ik heb geproefd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554480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70848" y="1554480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la playa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1554480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het strand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la montaña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2322576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de berg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0156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el desierto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92040" y="2322576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de woestijn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3620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el paisaje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26680" y="2322576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het landschap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2322576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70848" y="2322576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impresionante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61320" y="2322576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indrukwekkend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6692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inolvidable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3090672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onvergetelijk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9184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0156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lo mejor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92040" y="3090672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het beste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2648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3620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lo peor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26680" y="3090672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het ergste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961120" y="3090672"/>
            <a:ext cx="2743200" cy="6400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070848" y="3090672"/>
            <a:ext cx="164592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42E"/>
                </a:solidFill>
                <a:latin typeface="Inter"/>
              </a:rPr>
              <a:t>ya / todavía no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61320" y="3090672"/>
            <a:ext cx="1051560" cy="64008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7C56A9"/>
                </a:solidFill>
                <a:latin typeface="Inter"/>
              </a:rPr>
              <a:t>→ al / nog niet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47" name="Rounded Rectangle 4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4572000"/>
            <a:ext cx="11247120" cy="82296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Opinión: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Lo mejor ha sido… · Lo peor ha sido… · Ha sido impresionante/inolvidable.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Experiencias: he estado/visto/hecho/probado + ya/todavía no/nunca/alguna vez.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94360" y="44439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TALLER DE LENGUA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La h muda + conectores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item → correcte vorm. Gereedschap voor spelling en volgorde.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A · ortografía: la h muda (klinkt niet)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783080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1783080"/>
            <a:ext cx="25603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___e comido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783080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he comido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441448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" y="2441448"/>
            <a:ext cx="25603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el ___otel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2441448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hotel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099816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3099816"/>
            <a:ext cx="25603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___acer → ___echo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099816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hacer → hecho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58184"/>
            <a:ext cx="548640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3758184"/>
            <a:ext cx="256032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la ___abitación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758184"/>
            <a:ext cx="265176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habitación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1371600"/>
            <a:ext cx="54864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B · conectores: cuenta tu viaje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1783080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1783080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primero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1783080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3E83"/>
                </a:solidFill>
                <a:latin typeface="Inter"/>
              </a:rPr>
              <a:t>→ eerst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60" y="2441448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19088" y="2441448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luego / después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69680" y="2441448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3E83"/>
                </a:solidFill>
                <a:latin typeface="Inter"/>
              </a:rPr>
              <a:t>→ daarna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099816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19088" y="3099816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más tarde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3099816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3E83"/>
                </a:solidFill>
                <a:latin typeface="Inter"/>
              </a:rPr>
              <a:t>→ later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3758184"/>
            <a:ext cx="5394960" cy="5486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19088" y="3758184"/>
            <a:ext cx="237744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42E"/>
                </a:solidFill>
                <a:latin typeface="Inter"/>
              </a:rPr>
              <a:t>al final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758184"/>
            <a:ext cx="27432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5B3E83"/>
                </a:solidFill>
                <a:latin typeface="Inter"/>
              </a:rPr>
              <a:t>→ ten slotte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7" name="Rounded Rectangle 36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4572000"/>
            <a:ext cx="11247120" cy="7772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de h wordt geschreven maar niet uitgesproken: he, has, hotel, hacer → hecho. 🔴 nooit «e comido».</a:t>
            </a:r>
          </a:p>
          <a:p>
            <a:pPr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 i="0">
                <a:solidFill>
                  <a:srgbClr val="5B3E83"/>
                </a:solidFill>
                <a:latin typeface="Inter"/>
              </a:rPr>
              <a:t>B: primero → luego/después → más tarde → al final (om je reis te vertellen).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444398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2221991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CULTURA · PARADA 4: CHILE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El gran viaje hispano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Klik een kaart → het weetje. Atacama, el Camino y Rapa Nui.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🏜️ El desierto de Atacama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In Chile ligt de droogste woestijn ter wereld. 's Nachts zie je er de helderste sterrenhemel — grote sterrenwachten.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Nina ha estado allí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79392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9392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2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🥾 El Camino de Santiago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In España lopen pelgrims al eeuwen de Camino naar Santiago. «He hecho el Camino» is een klassiek reisverhaal — honderden km te voet.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2272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un clásico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1554480"/>
            <a:ext cx="3703320" cy="31089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6510">
            <a:solidFill>
              <a:srgbClr val="7C56A9"/>
            </a:solidFill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1554480"/>
            <a:ext cx="3703320" cy="548640"/>
          </a:xfrm>
          <a:prstGeom prst="rect">
            <a:avLst/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554480"/>
            <a:ext cx="3429000" cy="54864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🗿 Rapa Nui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84464" y="2286000"/>
            <a:ext cx="3337560" cy="17373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Isla de Pascua (Chile), midden in de Stille Oceaan, is beroemd om de moáis: reusachtige stenen beelden. Zeer afgelegen.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4464" y="4069080"/>
            <a:ext cx="3337560" cy="5486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1">
                <a:solidFill>
                  <a:srgbClr val="6A6E78"/>
                </a:solidFill>
                <a:latin typeface="Inter"/>
              </a:rPr>
              <a:t>todavía no…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26" name="Rounded Rectangle 25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892040"/>
            <a:ext cx="11247120" cy="54864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Actividad: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¿adónde has viajado o quieres viajar? Cuenta con el perfecto (he estado…) o «todavía no».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360" y="476402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8229600" cy="9144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✈️ Tarea final · Mi mejor viaje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1">
                <a:solidFill>
                  <a:srgbClr val="EEE8F5"/>
                </a:solidFill>
                <a:latin typeface="Inter"/>
              </a:rPr>
              <a:t>Escribe un blog sobre un viaje con el perfecto, por/para y una opinión.</a:t>
            </a:r>
          </a:p>
        </p:txBody>
      </p:sp>
      <p:pic>
        <p:nvPicPr>
          <p:cNvPr id="5" name="Picture 4" descr="moch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7040" y="182880"/>
            <a:ext cx="914400" cy="9144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57200" y="155448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554480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Di adónde has viajado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«He viajado a… por avión/tren»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2140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121408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Cuenta 3–4 experiencias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0" y="2121408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«He visto…, he probado…, he hecho…»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68833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688336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Usa por/para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688336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«para descansar», «por una semana»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552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255264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Añade tu opinión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255264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«Lo mejor ha sido… porque…»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2219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Bricolage Grotesque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822192"/>
            <a:ext cx="402336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5B3E83"/>
                </a:solidFill>
                <a:latin typeface="Bricolage Grotesque"/>
              </a:rPr>
              <a:t>Preséntalo y graba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822192"/>
            <a:ext cx="640080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en la web (recorder) — escúchate y mejora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Rúbrica · ¿lo logré?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perfecto (haber+part.)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3756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2 irregulares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por/para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98280" y="4983480"/>
            <a:ext cx="2788920" cy="292608"/>
          </a:xfrm>
          <a:prstGeom prst="roundRect">
            <a:avLst>
              <a:gd name="adj" fmla="val 50000"/>
            </a:avLst>
          </a:prstGeom>
          <a:solidFill>
            <a:srgbClr val="EE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000" b="1">
                <a:solidFill>
                  <a:srgbClr val="5B3E83"/>
                </a:solidFill>
                <a:latin typeface="Inter"/>
              </a:rPr>
              <a:t>☐ una opinión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🎯 </a:t>
            </a:r>
            <a:r>
              <a:rPr sz="1150" b="0" i="1">
                <a:solidFill>
                  <a:srgbClr val="6A6E78"/>
                </a:solidFill>
                <a:latin typeface="Inter"/>
              </a:rPr>
              <a:t>Afzender jij · ontvanger de klas · doel je reis delen · situatie een blog · resultaat: blog + presentación oral.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464868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QUIZ · LA MEZCLA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Ophaal door elkaar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Gemengde ophaal van de hele unit. Klik → het antwoord. (retrieval)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«ik heb gereisd» 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600200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he viajado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313432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hacer → participio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51960" y="2313432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hecho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026664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ver → participio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026664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visto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739896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Salgo ___ Chile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739896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para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1600200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1600200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Viajo ___ avión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66960" y="1600200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por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2313432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13432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«nog niet» =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2313432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todavía no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3026664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026664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volver → participio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3026664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vuelto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39896"/>
            <a:ext cx="5532120" cy="5669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39896"/>
            <a:ext cx="36576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42E"/>
                </a:solidFill>
                <a:latin typeface="Inter"/>
              </a:rPr>
              <a:t>El viaje ___ sido genial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3739896"/>
            <a:ext cx="1600200" cy="56692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→ ha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6053328"/>
            <a:ext cx="2093976" cy="365760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FFFFFF"/>
                </a:solidFill>
                <a:latin typeface="Inter"/>
              </a:rPr>
              <a:t>▶  Mostrar solución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97480" y="6053328"/>
            <a:ext cx="1088136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⏭  Saltar</a:t>
            </a:r>
          </a:p>
        </p:txBody>
      </p:sp>
      <p:sp>
        <p:nvSpPr>
          <p:cNvPr id="35" name="Rounded Rectangle 34">
            <a:hlinkClick action="ppaction://hlinksldjump" r:id="rId2"/>
          </p:cNvPr>
          <p:cNvSpPr/>
          <p:nvPr/>
        </p:nvSpPr>
        <p:spPr>
          <a:xfrm>
            <a:off x="3931920" y="6053328"/>
            <a:ext cx="1691639" cy="3657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2700" bIns="12700"/>
          <a:lstStyle/>
          <a:p>
            <a:pPr algn="ctr"/>
            <a:r>
              <a:rPr sz="1050" b="1">
                <a:solidFill>
                  <a:srgbClr val="5B3E83"/>
                </a:solidFill>
                <a:latin typeface="Inter"/>
              </a:rPr>
              <a:t>⌂  Menú (dia 2)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6053328"/>
            <a:ext cx="338328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50" b="0" i="1">
                <a:solidFill>
                  <a:srgbClr val="6A6E78"/>
                </a:solidFill>
                <a:latin typeface="Inter"/>
              </a:rPr>
              <a:t>Klik ▶ om de solución te tonen · ⌂ terug naar het menu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61772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EEE8F5"/>
          </a:solidFill>
          <a:ln w="19050">
            <a:solidFill>
              <a:srgbClr val="7C56A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39700" bIns="76200"/>
          <a:lstStyle/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 i="0">
                <a:solidFill>
                  <a:srgbClr val="5B3E83"/>
                </a:solidFill>
                <a:latin typeface="Inter"/>
              </a:rPr>
              <a:t>Alles komt terug: </a:t>
            </a:r>
            <a:r>
              <a:rPr sz="1200" b="0" i="0">
                <a:solidFill>
                  <a:srgbClr val="5B3E83"/>
                </a:solidFill>
                <a:latin typeface="Inter"/>
              </a:rPr>
              <a:t>perfecto · participios irregulares · por/para · marcadores.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94360" y="4489704"/>
            <a:ext cx="791870" cy="292608"/>
          </a:xfrm>
          <a:prstGeom prst="roundRect">
            <a:avLst>
              <a:gd name="adj" fmla="val 50000"/>
            </a:avLst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950" b="1">
                <a:solidFill>
                  <a:srgbClr val="FFFFFF"/>
                </a:solidFill>
                <a:latin typeface="Inter"/>
              </a:rPr>
              <a:t>SOLUCIÓN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19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5B3E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"/>
            <a:ext cx="1801367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100" b="1">
                <a:solidFill>
                  <a:srgbClr val="7C56A9"/>
                </a:solidFill>
                <a:latin typeface="Inter"/>
              </a:rPr>
              <a:t>REPASO · LO ESENCIAL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-137160"/>
            <a:ext cx="1737360" cy="137160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8800" b="1" i="0">
                <a:solidFill>
                  <a:srgbClr val="FFFFFF"/>
                </a:solidFill>
                <a:latin typeface="Bricolage Grotesque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"/>
            <a:ext cx="9692640" cy="5029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FFFFFF"/>
                </a:solidFill>
                <a:latin typeface="Bricolage Grotesque"/>
              </a:rPr>
              <a:t>Lo esencial de un vistazo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932688"/>
            <a:ext cx="9692640" cy="27432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1">
                <a:solidFill>
                  <a:srgbClr val="EEE8F5"/>
                </a:solidFill>
                <a:latin typeface="Inter"/>
              </a:rPr>
              <a:t>De volledige herhaling (12 spellen, drills) staat online. Hier: de kern + semáforo.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1463040"/>
            <a:ext cx="11247120" cy="2286000"/>
          </a:xfrm>
          <a:prstGeom prst="roundRect">
            <a:avLst>
              <a:gd name="adj" fmla="val 5500"/>
            </a:avLst>
          </a:prstGeom>
          <a:solidFill>
            <a:srgbClr val="F3EEE4"/>
          </a:solidFill>
          <a:ln>
            <a:noFill/>
          </a:ln>
          <a:effectLst>
            <a:outerShdw blurRad="90000" dist="38000" dir="5400000" rotWithShape="0">
              <a:srgbClr val="20242E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Perfecto: haber (he/has/ha/hemos/habéis/han) + participio (-ado/-ido). He viajado.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066544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Participios irregulares: hecho · visto · dicho · vuelto · puesto · escrito · abierto · roto.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87168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Marcadores: hoy · esta semana · este año · ya · todavía no · nunca · alguna vez.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07792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Para = doel/bestemming/«om te» · Por = middel/duur/reden/doorheen.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328416"/>
            <a:ext cx="10789920" cy="41148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Inter"/>
              </a:rPr>
              <a:t>• </a:t>
            </a:r>
            <a:r>
              <a:rPr sz="1200" b="0" i="0">
                <a:solidFill>
                  <a:srgbClr val="20242E"/>
                </a:solidFill>
                <a:latin typeface="Inter"/>
              </a:rPr>
              <a:t>🔴 Trampas: haber ≠ tener · vergeet de h niet (he, has) · hecho/visto (irreg.) · por ≠ para.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931920"/>
            <a:ext cx="10972800" cy="320040"/>
          </a:xfrm>
          <a:prstGeom prst="rect">
            <a:avLst/>
          </a:prstGeom>
          <a:noFill/>
        </p:spPr>
        <p:txBody>
          <a:bodyPr wrap="square" anchor="t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5B3E83"/>
                </a:solidFill>
                <a:latin typeface="Bricolage Grotesque"/>
              </a:rPr>
              <a:t>Semáforo — ¿cómo lo llevas?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343400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over transport en verblijf praten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0" y="4370832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727448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perfecto vormen (haber + participio)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058400" y="4754880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111496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de onregelmatige participios gebruiken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6868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058400" y="5138928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95544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por en para onderscheiden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868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58400" y="5522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879592"/>
            <a:ext cx="6400800" cy="36576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42E"/>
                </a:solidFill>
                <a:latin typeface="Inter"/>
              </a:rPr>
              <a:t>een reis vertellen met een mini-mening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DC2626"/>
                </a:solidFill>
                <a:latin typeface="Inter"/>
              </a:rPr>
              <a:t>🔴 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6868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B7860B"/>
                </a:solidFill>
                <a:latin typeface="Inter"/>
              </a:rPr>
              <a:t>🟠 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058400" y="5907024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8900" rIns="88900" tIns="12700" bIns="12700"/>
          <a:lstStyle/>
          <a:p>
            <a:pPr algn="ctr"/>
            <a:r>
              <a:rPr sz="1200" b="1">
                <a:solidFill>
                  <a:srgbClr val="7C56A9"/>
                </a:solidFill>
                <a:latin typeface="Inter"/>
              </a:rPr>
              <a:t>🟢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47104"/>
            <a:ext cx="12191695" cy="310896"/>
          </a:xfrm>
          <a:prstGeom prst="rect">
            <a:avLst/>
          </a:prstGeom>
          <a:solidFill>
            <a:srgbClr val="F3EE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6565392"/>
            <a:ext cx="54864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7C56A9"/>
                </a:solidFill>
                <a:latin typeface="Inter"/>
              </a:rPr>
              <a:t>● </a:t>
            </a:r>
            <a:r>
              <a:rPr sz="950" b="0" i="0">
                <a:solidFill>
                  <a:srgbClr val="6A6E78"/>
                </a:solidFill>
                <a:latin typeface="Inter"/>
              </a:rPr>
              <a:t>U4 · DE VIAJE   ·   C6+ · de viaje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6565392"/>
            <a:ext cx="306324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0" i="1">
                <a:solidFill>
                  <a:srgbClr val="6A6E78"/>
                </a:solidFill>
                <a:latin typeface="Inter"/>
              </a:rPr>
              <a:t>Leerlingenversie — klik onthult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75720" y="6565392"/>
            <a:ext cx="4572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5B3E83"/>
                </a:solidFill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abecera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hip"/>
          <p:cNvSpPr/>
          <p:nvPr/>
        </p:nvSpPr>
        <p:spPr>
          <a:xfrm>
            <a:off x="457200" y="18288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Txt"/>
          <p:cNvSpPr txBox="1"/>
          <p:nvPr/>
        </p:nvSpPr>
        <p:spPr>
          <a:xfrm>
            <a:off x="457200" y="173736"/>
            <a:ext cx="301752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RETO 1 · ONDERHANDELING &amp; DILEMMA</a:t>
            </a:r>
          </a:p>
        </p:txBody>
      </p:sp>
      <p:sp>
        <p:nvSpPr>
          <p:cNvPr id="6" name="Titulo"/>
          <p:cNvSpPr txBox="1"/>
          <p:nvPr/>
        </p:nvSpPr>
        <p:spPr>
          <a:xfrm>
            <a:off x="457200" y="502920"/>
            <a:ext cx="841248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Bricolage Grotesque"/>
              </a:rPr>
              <a:t>El vuelo cancelado</a:t>
            </a:r>
          </a:p>
        </p:txBody>
      </p:sp>
      <p:sp>
        <p:nvSpPr>
          <p:cNvPr id="7" name="Badges"/>
          <p:cNvSpPr txBox="1"/>
          <p:nvPr/>
        </p:nvSpPr>
        <p:spPr>
          <a:xfrm>
            <a:off x="9052560" y="256032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👥 En parejas</a:t>
            </a:r>
          </a:p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± 18 min · ★★★</a:t>
            </a:r>
          </a:p>
        </p:txBody>
      </p:sp>
      <p:sp>
        <p:nvSpPr>
          <p:cNvPr id="8" name="Gancho"/>
          <p:cNvSpPr txBox="1"/>
          <p:nvPr/>
        </p:nvSpPr>
        <p:spPr>
          <a:xfrm>
            <a:off x="457200" y="1225296"/>
            <a:ext cx="11274552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5B3E83"/>
                </a:solidFill>
                <a:latin typeface="Bricolage Grotesque"/>
              </a:rPr>
              <a:t>Tú tienes derechos. El mostrador tiene normas. Los dos tenéis razón.</a:t>
            </a:r>
          </a:p>
          <a:p>
            <a:pPr algn="l"/>
            <a:r>
              <a:rPr sz="1100" i="1">
                <a:solidFill>
                  <a:srgbClr val="6A6E78"/>
                </a:solidFill>
                <a:latin typeface="Inter"/>
              </a:rPr>
              <a:t>Jij hebt rechten. De balie heeft regels. Jullie hebben allebei gelijk.</a:t>
            </a:r>
          </a:p>
        </p:txBody>
      </p:sp>
      <p:sp>
        <p:nvSpPr>
          <p:cNvPr id="9" name="ReglaCaja"/>
          <p:cNvSpPr/>
          <p:nvPr/>
        </p:nvSpPr>
        <p:spPr>
          <a:xfrm>
            <a:off x="457200" y="1847088"/>
            <a:ext cx="11274552" cy="658368"/>
          </a:xfrm>
          <a:prstGeom prst="roundRect">
            <a:avLst>
              <a:gd name="adj" fmla="val 5000"/>
            </a:avLst>
          </a:prstGeom>
          <a:solidFill>
            <a:srgbClr val="FB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glaTxt"/>
          <p:cNvSpPr txBox="1"/>
          <p:nvPr/>
        </p:nvSpPr>
        <p:spPr>
          <a:xfrm>
            <a:off x="603504" y="1883664"/>
            <a:ext cx="10972800" cy="5852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B7860B"/>
                </a:solidFill>
                <a:latin typeface="Inter"/>
              </a:rPr>
              <a:t>LA REGLA DEL RETO</a:t>
            </a:r>
          </a:p>
          <a:p>
            <a:pPr algn="l"/>
            <a:r>
              <a:rPr sz="1100">
                <a:solidFill>
                  <a:srgbClr val="20242E"/>
                </a:solidFill>
                <a:latin typeface="Inter"/>
              </a:rPr>
              <a:t>Je geheime instructie mag je niet voorlezen en niet vertalen — je moet ernaar hándelen. En niemand mag de stem verheffen: dit is een balie, geen ruzie.</a:t>
            </a:r>
          </a:p>
        </p:txBody>
      </p:sp>
      <p:sp>
        <p:nvSpPr>
          <p:cNvPr id="11" name="Tarjeta 0"/>
          <p:cNvSpPr/>
          <p:nvPr/>
        </p:nvSpPr>
        <p:spPr>
          <a:xfrm>
            <a:off x="457200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arjetaTxt 0"/>
          <p:cNvSpPr txBox="1"/>
          <p:nvPr/>
        </p:nvSpPr>
        <p:spPr>
          <a:xfrm>
            <a:off x="548640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La situación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Vuelo Santiago–Madrid, cancelado a las 22:40. El próximo es dentro de 26 horas.</a:t>
            </a:r>
          </a:p>
        </p:txBody>
      </p:sp>
      <p:sp>
        <p:nvSpPr>
          <p:cNvPr id="13" name="Tarjeta 1"/>
          <p:cNvSpPr/>
          <p:nvPr/>
        </p:nvSpPr>
        <p:spPr>
          <a:xfrm>
            <a:off x="3312414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arjetaTxt 1"/>
          <p:cNvSpPr txBox="1"/>
          <p:nvPr/>
        </p:nvSpPr>
        <p:spPr>
          <a:xfrm>
            <a:off x="3403854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Pasajero · secreto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Tienes un examen pasado mañana a las nueve de la mañana.</a:t>
            </a:r>
          </a:p>
        </p:txBody>
      </p:sp>
      <p:sp>
        <p:nvSpPr>
          <p:cNvPr id="15" name="Tarjeta 2"/>
          <p:cNvSpPr/>
          <p:nvPr/>
        </p:nvSpPr>
        <p:spPr>
          <a:xfrm>
            <a:off x="6167628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arjetaTxt 2"/>
          <p:cNvSpPr txBox="1"/>
          <p:nvPr/>
        </p:nvSpPr>
        <p:spPr>
          <a:xfrm>
            <a:off x="6259068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Pasajero · secreto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No te puedes permitir un hotel de tu bolsillo.</a:t>
            </a:r>
          </a:p>
        </p:txBody>
      </p:sp>
      <p:sp>
        <p:nvSpPr>
          <p:cNvPr id="17" name="Tarjeta 3"/>
          <p:cNvSpPr/>
          <p:nvPr/>
        </p:nvSpPr>
        <p:spPr>
          <a:xfrm>
            <a:off x="9022842" y="2670048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arjetaTxt 3"/>
          <p:cNvSpPr txBox="1"/>
          <p:nvPr/>
        </p:nvSpPr>
        <p:spPr>
          <a:xfrm>
            <a:off x="9114282" y="2724912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Pasajero · secreto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Sabes que tienes derecho a comida y alojamiento, pero no sabes decirlo con esas palabras.</a:t>
            </a:r>
          </a:p>
        </p:txBody>
      </p:sp>
      <p:sp>
        <p:nvSpPr>
          <p:cNvPr id="19" name="Tarjeta 4"/>
          <p:cNvSpPr/>
          <p:nvPr/>
        </p:nvSpPr>
        <p:spPr>
          <a:xfrm>
            <a:off x="457200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arjetaTxt 4"/>
          <p:cNvSpPr txBox="1"/>
          <p:nvPr/>
        </p:nvSpPr>
        <p:spPr>
          <a:xfrm>
            <a:off x="548640" y="3751326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Mostrador · secreto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Solo puedes dar un vale de comida de 12 €, salvo que el pasajero lo pida claramente.</a:t>
            </a:r>
          </a:p>
        </p:txBody>
      </p:sp>
      <p:sp>
        <p:nvSpPr>
          <p:cNvPr id="21" name="Tarjeta 5"/>
          <p:cNvSpPr/>
          <p:nvPr/>
        </p:nvSpPr>
        <p:spPr>
          <a:xfrm>
            <a:off x="3312414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arjetaTxt 5"/>
          <p:cNvSpPr txBox="1"/>
          <p:nvPr/>
        </p:nvSpPr>
        <p:spPr>
          <a:xfrm>
            <a:off x="3403854" y="3751326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Mostrador · secreto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Tienes dos plazas en un vuelo de otra compañía, pero son para casos urgentes.</a:t>
            </a:r>
          </a:p>
        </p:txBody>
      </p:sp>
      <p:sp>
        <p:nvSpPr>
          <p:cNvPr id="23" name="Tarjeta 6"/>
          <p:cNvSpPr/>
          <p:nvPr/>
        </p:nvSpPr>
        <p:spPr>
          <a:xfrm>
            <a:off x="6167628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arjetaTxt 6"/>
          <p:cNvSpPr txBox="1"/>
          <p:nvPr/>
        </p:nvSpPr>
        <p:spPr>
          <a:xfrm>
            <a:off x="6259068" y="3751326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Mostrador · secreto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Llevas nueve horas de turno y eres la única persona en el mostrador.</a:t>
            </a:r>
          </a:p>
        </p:txBody>
      </p:sp>
      <p:sp>
        <p:nvSpPr>
          <p:cNvPr id="25" name="Tarjeta 7"/>
          <p:cNvSpPr/>
          <p:nvPr/>
        </p:nvSpPr>
        <p:spPr>
          <a:xfrm>
            <a:off x="9022842" y="3696462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arjetaTxt 7"/>
          <p:cNvSpPr txBox="1"/>
          <p:nvPr/>
        </p:nvSpPr>
        <p:spPr>
          <a:xfrm>
            <a:off x="9114282" y="3751326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 · pasajero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Entiendo que no es culpa suya, pero …</a:t>
            </a:r>
          </a:p>
        </p:txBody>
      </p:sp>
      <p:sp>
        <p:nvSpPr>
          <p:cNvPr id="27" name="Tarjeta 8"/>
          <p:cNvSpPr/>
          <p:nvPr/>
        </p:nvSpPr>
        <p:spPr>
          <a:xfrm>
            <a:off x="457200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arjetaTxt 8"/>
          <p:cNvSpPr txBox="1"/>
          <p:nvPr/>
        </p:nvSpPr>
        <p:spPr>
          <a:xfrm>
            <a:off x="548640" y="4777740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 · pasajero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Tengo que estar en … el … a las …</a:t>
            </a:r>
          </a:p>
        </p:txBody>
      </p:sp>
      <p:sp>
        <p:nvSpPr>
          <p:cNvPr id="29" name="Tarjeta 9"/>
          <p:cNvSpPr/>
          <p:nvPr/>
        </p:nvSpPr>
        <p:spPr>
          <a:xfrm>
            <a:off x="3312414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arjetaTxt 9"/>
          <p:cNvSpPr txBox="1"/>
          <p:nvPr/>
        </p:nvSpPr>
        <p:spPr>
          <a:xfrm>
            <a:off x="3403854" y="4777740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 · pasajero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¿Qué opciones hay?</a:t>
            </a:r>
          </a:p>
        </p:txBody>
      </p:sp>
      <p:sp>
        <p:nvSpPr>
          <p:cNvPr id="31" name="Tarjeta 10"/>
          <p:cNvSpPr/>
          <p:nvPr/>
        </p:nvSpPr>
        <p:spPr>
          <a:xfrm>
            <a:off x="6167628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arjetaTxt 10"/>
          <p:cNvSpPr txBox="1"/>
          <p:nvPr/>
        </p:nvSpPr>
        <p:spPr>
          <a:xfrm>
            <a:off x="6259068" y="4777740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 · pasajero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¿Y si me pone en otro vuelo?</a:t>
            </a:r>
          </a:p>
        </p:txBody>
      </p:sp>
      <p:sp>
        <p:nvSpPr>
          <p:cNvPr id="33" name="Tarjeta 11"/>
          <p:cNvSpPr/>
          <p:nvPr/>
        </p:nvSpPr>
        <p:spPr>
          <a:xfrm>
            <a:off x="9022842" y="4722876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arjetaTxt 11"/>
          <p:cNvSpPr txBox="1"/>
          <p:nvPr/>
        </p:nvSpPr>
        <p:spPr>
          <a:xfrm>
            <a:off x="9114282" y="4777740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 · mostrador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Lo siento mucho, en este momento …</a:t>
            </a:r>
          </a:p>
        </p:txBody>
      </p:sp>
      <p:sp>
        <p:nvSpPr>
          <p:cNvPr id="35" name="Tarjeta 12"/>
          <p:cNvSpPr/>
          <p:nvPr/>
        </p:nvSpPr>
        <p:spPr>
          <a:xfrm>
            <a:off x="457200" y="5749290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arjetaTxt 12"/>
          <p:cNvSpPr txBox="1"/>
          <p:nvPr/>
        </p:nvSpPr>
        <p:spPr>
          <a:xfrm>
            <a:off x="548640" y="5804154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 · mostrador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Lo que sí puedo hacer es …</a:t>
            </a:r>
          </a:p>
        </p:txBody>
      </p:sp>
      <p:sp>
        <p:nvSpPr>
          <p:cNvPr id="37" name="Tarjeta 13"/>
          <p:cNvSpPr/>
          <p:nvPr/>
        </p:nvSpPr>
        <p:spPr>
          <a:xfrm>
            <a:off x="3312414" y="5749290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arjetaTxt 13"/>
          <p:cNvSpPr txBox="1"/>
          <p:nvPr/>
        </p:nvSpPr>
        <p:spPr>
          <a:xfrm>
            <a:off x="3403854" y="5804154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 · mostrador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Deme un momento, lo compruebo.</a:t>
            </a:r>
          </a:p>
        </p:txBody>
      </p:sp>
      <p:sp>
        <p:nvSpPr>
          <p:cNvPr id="39" name="Tarjeta 14"/>
          <p:cNvSpPr/>
          <p:nvPr/>
        </p:nvSpPr>
        <p:spPr>
          <a:xfrm>
            <a:off x="6167628" y="5749290"/>
            <a:ext cx="2708910" cy="89839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arjetaTxt 14"/>
          <p:cNvSpPr txBox="1"/>
          <p:nvPr/>
        </p:nvSpPr>
        <p:spPr>
          <a:xfrm>
            <a:off x="6259068" y="5804154"/>
            <a:ext cx="2526030" cy="78867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 · mostrador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Si es urgente, tengo otra opción.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abecera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hip"/>
          <p:cNvSpPr/>
          <p:nvPr/>
        </p:nvSpPr>
        <p:spPr>
          <a:xfrm>
            <a:off x="457200" y="18288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Txt"/>
          <p:cNvSpPr txBox="1"/>
          <p:nvPr/>
        </p:nvSpPr>
        <p:spPr>
          <a:xfrm>
            <a:off x="457200" y="173736"/>
            <a:ext cx="301752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RETO 3 · ONDERZOEK &amp; DATA</a:t>
            </a:r>
          </a:p>
        </p:txBody>
      </p:sp>
      <p:sp>
        <p:nvSpPr>
          <p:cNvPr id="6" name="Titulo"/>
          <p:cNvSpPr txBox="1"/>
          <p:nvPr/>
        </p:nvSpPr>
        <p:spPr>
          <a:xfrm>
            <a:off x="457200" y="502920"/>
            <a:ext cx="841248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Bricolage Grotesque"/>
              </a:rPr>
              <a:t>Presupuesto de mochilero</a:t>
            </a:r>
          </a:p>
        </p:txBody>
      </p:sp>
      <p:sp>
        <p:nvSpPr>
          <p:cNvPr id="7" name="Badges"/>
          <p:cNvSpPr txBox="1"/>
          <p:nvPr/>
        </p:nvSpPr>
        <p:spPr>
          <a:xfrm>
            <a:off x="9052560" y="256032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👨‍👩‍👧 En grupos</a:t>
            </a:r>
          </a:p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± 18 min · ★★★</a:t>
            </a:r>
          </a:p>
        </p:txBody>
      </p:sp>
      <p:sp>
        <p:nvSpPr>
          <p:cNvPr id="8" name="Gancho"/>
          <p:cNvSpPr txBox="1"/>
          <p:nvPr/>
        </p:nvSpPr>
        <p:spPr>
          <a:xfrm>
            <a:off x="457200" y="1225296"/>
            <a:ext cx="11274552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5B3E83"/>
                </a:solidFill>
                <a:latin typeface="Bricolage Grotesque"/>
              </a:rPr>
              <a:t>Diez días, tres países, seiscientos euros. Y hay que dormir en algún sitio.</a:t>
            </a:r>
          </a:p>
          <a:p>
            <a:pPr algn="l"/>
            <a:r>
              <a:rPr sz="1100" i="1">
                <a:solidFill>
                  <a:srgbClr val="6A6E78"/>
                </a:solidFill>
                <a:latin typeface="Inter"/>
              </a:rPr>
              <a:t>Tien dagen, drie landen, zeshonderd euro. En slapen moet ergens.</a:t>
            </a:r>
          </a:p>
        </p:txBody>
      </p:sp>
      <p:sp>
        <p:nvSpPr>
          <p:cNvPr id="9" name="ReglaCaja"/>
          <p:cNvSpPr/>
          <p:nvPr/>
        </p:nvSpPr>
        <p:spPr>
          <a:xfrm>
            <a:off x="457200" y="1847088"/>
            <a:ext cx="11274552" cy="658368"/>
          </a:xfrm>
          <a:prstGeom prst="roundRect">
            <a:avLst>
              <a:gd name="adj" fmla="val 5000"/>
            </a:avLst>
          </a:prstGeom>
          <a:solidFill>
            <a:srgbClr val="FB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glaTxt"/>
          <p:cNvSpPr txBox="1"/>
          <p:nvPr/>
        </p:nvSpPr>
        <p:spPr>
          <a:xfrm>
            <a:off x="603504" y="1883664"/>
            <a:ext cx="10972800" cy="5852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B7860B"/>
                </a:solidFill>
                <a:latin typeface="Inter"/>
              </a:rPr>
              <a:t>LA REGLA DEL RETO</a:t>
            </a:r>
          </a:p>
          <a:p>
            <a:pPr algn="l"/>
            <a:r>
              <a:rPr sz="1100">
                <a:solidFill>
                  <a:srgbClr val="20242E"/>
                </a:solidFill>
                <a:latin typeface="Inter"/>
              </a:rPr>
              <a:t>Zeshonderd euro, geen cent meer, en tien nachten moeten gedekt zijn. Elke uitgave wordt verantwoord met «por» (het bedrag, de ruil) of «para» (het doel).</a:t>
            </a:r>
          </a:p>
        </p:txBody>
      </p:sp>
      <p:sp>
        <p:nvSpPr>
          <p:cNvPr id="11" name="Tarjeta 0"/>
          <p:cNvSpPr/>
          <p:nvPr/>
        </p:nvSpPr>
        <p:spPr>
          <a:xfrm>
            <a:off x="457200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arjetaTxt 0"/>
          <p:cNvSpPr txBox="1"/>
          <p:nvPr/>
        </p:nvSpPr>
        <p:spPr>
          <a:xfrm>
            <a:off x="548640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Precios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Chile · hostal: unos 18 € la noche · Chile · comida del día: unos 9 € · Chile · bus largo (10 h): unos 30 €</a:t>
            </a:r>
          </a:p>
        </p:txBody>
      </p:sp>
      <p:sp>
        <p:nvSpPr>
          <p:cNvPr id="13" name="Tarjeta 1"/>
          <p:cNvSpPr/>
          <p:nvPr/>
        </p:nvSpPr>
        <p:spPr>
          <a:xfrm>
            <a:off x="3312414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arjetaTxt 1"/>
          <p:cNvSpPr txBox="1"/>
          <p:nvPr/>
        </p:nvSpPr>
        <p:spPr>
          <a:xfrm>
            <a:off x="3403854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Precios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Perú · hostal: unos 11 € la noche · Perú · comida del día: unos 6 € · Perú · bus largo (10 h): unos 18 €</a:t>
            </a:r>
          </a:p>
        </p:txBody>
      </p:sp>
      <p:sp>
        <p:nvSpPr>
          <p:cNvPr id="15" name="Tarjeta 2"/>
          <p:cNvSpPr/>
          <p:nvPr/>
        </p:nvSpPr>
        <p:spPr>
          <a:xfrm>
            <a:off x="6167628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arjetaTxt 2"/>
          <p:cNvSpPr txBox="1"/>
          <p:nvPr/>
        </p:nvSpPr>
        <p:spPr>
          <a:xfrm>
            <a:off x="6259068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Precios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Bolivia · hostal: unos 8 € la noche · Bolivia · comida del día: unos 5 € · Bolivia · bus largo (10 h): unos 12 €</a:t>
            </a:r>
          </a:p>
        </p:txBody>
      </p:sp>
      <p:sp>
        <p:nvSpPr>
          <p:cNvPr id="17" name="Tarjeta 3"/>
          <p:cNvSpPr/>
          <p:nvPr/>
        </p:nvSpPr>
        <p:spPr>
          <a:xfrm>
            <a:off x="9022842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arjetaTxt 3"/>
          <p:cNvSpPr txBox="1"/>
          <p:nvPr/>
        </p:nvSpPr>
        <p:spPr>
          <a:xfrm>
            <a:off x="9114282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Precios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entrada a un parque nacional: entre 15 € y 40 € · vuelo interno: entre 60 € y 120 €</a:t>
            </a:r>
          </a:p>
        </p:txBody>
      </p:sp>
      <p:sp>
        <p:nvSpPr>
          <p:cNvPr id="19" name="Tarjeta 4"/>
          <p:cNvSpPr/>
          <p:nvPr/>
        </p:nvSpPr>
        <p:spPr>
          <a:xfrm>
            <a:off x="457200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arjetaTxt 4"/>
          <p:cNvSpPr txBox="1"/>
          <p:nvPr/>
        </p:nvSpPr>
        <p:spPr>
          <a:xfrm>
            <a:off x="548640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Vamos en bus por … euros.</a:t>
            </a:r>
          </a:p>
        </p:txBody>
      </p:sp>
      <p:sp>
        <p:nvSpPr>
          <p:cNvPr id="21" name="Tarjeta 5"/>
          <p:cNvSpPr/>
          <p:nvPr/>
        </p:nvSpPr>
        <p:spPr>
          <a:xfrm>
            <a:off x="3312414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arjetaTxt 5"/>
          <p:cNvSpPr txBox="1"/>
          <p:nvPr/>
        </p:nvSpPr>
        <p:spPr>
          <a:xfrm>
            <a:off x="3403854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Reservamos … para dormir en …</a:t>
            </a:r>
          </a:p>
        </p:txBody>
      </p:sp>
      <p:sp>
        <p:nvSpPr>
          <p:cNvPr id="23" name="Tarjeta 6"/>
          <p:cNvSpPr/>
          <p:nvPr/>
        </p:nvSpPr>
        <p:spPr>
          <a:xfrm>
            <a:off x="6167628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arjetaTxt 6"/>
          <p:cNvSpPr txBox="1"/>
          <p:nvPr/>
        </p:nvSpPr>
        <p:spPr>
          <a:xfrm>
            <a:off x="6259068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Cambiamos el vuelo por el bus, porque …</a:t>
            </a:r>
          </a:p>
        </p:txBody>
      </p:sp>
      <p:sp>
        <p:nvSpPr>
          <p:cNvPr id="25" name="Tarjeta 7"/>
          <p:cNvSpPr/>
          <p:nvPr/>
        </p:nvSpPr>
        <p:spPr>
          <a:xfrm>
            <a:off x="9022842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arjetaTxt 7"/>
          <p:cNvSpPr txBox="1"/>
          <p:nvPr/>
        </p:nvSpPr>
        <p:spPr>
          <a:xfrm>
            <a:off x="9114282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Nos quedan … euros para …</a:t>
            </a:r>
          </a:p>
        </p:txBody>
      </p:sp>
      <p:sp>
        <p:nvSpPr>
          <p:cNvPr id="27" name="Tarjeta 8"/>
          <p:cNvSpPr/>
          <p:nvPr/>
        </p:nvSpPr>
        <p:spPr>
          <a:xfrm>
            <a:off x="457200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arjetaTxt 8"/>
          <p:cNvSpPr txBox="1"/>
          <p:nvPr/>
        </p:nvSpPr>
        <p:spPr>
          <a:xfrm>
            <a:off x="548640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Por ese precio no vale la pena …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ndo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B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Cabecera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7C5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Chip"/>
          <p:cNvSpPr/>
          <p:nvPr/>
        </p:nvSpPr>
        <p:spPr>
          <a:xfrm>
            <a:off x="457200" y="182880"/>
            <a:ext cx="3017520" cy="29260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ChipTxt"/>
          <p:cNvSpPr txBox="1"/>
          <p:nvPr/>
        </p:nvSpPr>
        <p:spPr>
          <a:xfrm>
            <a:off x="457200" y="173736"/>
            <a:ext cx="3017520" cy="310896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normAutofit/>
          </a:bodyPr>
          <a:lstStyle/>
          <a:p>
            <a:pPr algn="ctr"/>
            <a:r>
              <a:rPr sz="950" b="1">
                <a:solidFill>
                  <a:srgbClr val="5B3E83"/>
                </a:solidFill>
                <a:latin typeface="Inter"/>
              </a:rPr>
              <a:t>RETO 5 · ONDERHANDELING &amp; DILEMMA</a:t>
            </a:r>
          </a:p>
        </p:txBody>
      </p:sp>
      <p:sp>
        <p:nvSpPr>
          <p:cNvPr id="6" name="Titulo"/>
          <p:cNvSpPr txBox="1"/>
          <p:nvPr/>
        </p:nvSpPr>
        <p:spPr>
          <a:xfrm>
            <a:off x="457200" y="502920"/>
            <a:ext cx="8412480" cy="47548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Bricolage Grotesque"/>
              </a:rPr>
              <a:t>Equipaje de mano</a:t>
            </a:r>
          </a:p>
        </p:txBody>
      </p:sp>
      <p:sp>
        <p:nvSpPr>
          <p:cNvPr id="7" name="Badges"/>
          <p:cNvSpPr txBox="1"/>
          <p:nvPr/>
        </p:nvSpPr>
        <p:spPr>
          <a:xfrm>
            <a:off x="9052560" y="256032"/>
            <a:ext cx="2651760" cy="640080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👨‍👩‍👧 En grupos</a:t>
            </a:r>
          </a:p>
          <a:p>
            <a:pPr algn="r"/>
            <a:r>
              <a:rPr sz="1000">
                <a:solidFill>
                  <a:srgbClr val="EEE8F5"/>
                </a:solidFill>
                <a:latin typeface="Inter"/>
              </a:rPr>
              <a:t>± 15 min · ★★★</a:t>
            </a:r>
          </a:p>
        </p:txBody>
      </p:sp>
      <p:sp>
        <p:nvSpPr>
          <p:cNvPr id="8" name="Gancho"/>
          <p:cNvSpPr txBox="1"/>
          <p:nvPr/>
        </p:nvSpPr>
        <p:spPr>
          <a:xfrm>
            <a:off x="457200" y="1225296"/>
            <a:ext cx="11274552" cy="566928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600" b="1">
                <a:solidFill>
                  <a:srgbClr val="5B3E83"/>
                </a:solidFill>
                <a:latin typeface="Bricolage Grotesque"/>
              </a:rPr>
              <a:t>Siete kilos. Treinta días. Cuatro personas que no están de acuerdo.</a:t>
            </a:r>
          </a:p>
          <a:p>
            <a:pPr algn="l"/>
            <a:r>
              <a:rPr sz="1100" i="1">
                <a:solidFill>
                  <a:srgbClr val="6A6E78"/>
                </a:solidFill>
                <a:latin typeface="Inter"/>
              </a:rPr>
              <a:t>Zeven kilo. Dertig dagen. Vier mensen die het oneens zijn.</a:t>
            </a:r>
          </a:p>
        </p:txBody>
      </p:sp>
      <p:sp>
        <p:nvSpPr>
          <p:cNvPr id="9" name="ReglaCaja"/>
          <p:cNvSpPr/>
          <p:nvPr/>
        </p:nvSpPr>
        <p:spPr>
          <a:xfrm>
            <a:off x="457200" y="1847088"/>
            <a:ext cx="11274552" cy="658368"/>
          </a:xfrm>
          <a:prstGeom prst="roundRect">
            <a:avLst>
              <a:gd name="adj" fmla="val 5000"/>
            </a:avLst>
          </a:prstGeom>
          <a:solidFill>
            <a:srgbClr val="FBF3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glaTxt"/>
          <p:cNvSpPr txBox="1"/>
          <p:nvPr/>
        </p:nvSpPr>
        <p:spPr>
          <a:xfrm>
            <a:off x="603504" y="1883664"/>
            <a:ext cx="10972800" cy="585216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850" b="1">
                <a:solidFill>
                  <a:srgbClr val="B7860B"/>
                </a:solidFill>
                <a:latin typeface="Inter"/>
              </a:rPr>
              <a:t>LA REGLA DEL RETO</a:t>
            </a:r>
          </a:p>
          <a:p>
            <a:pPr algn="l"/>
            <a:r>
              <a:rPr sz="1100">
                <a:solidFill>
                  <a:srgbClr val="20242E"/>
                </a:solidFill>
                <a:latin typeface="Inter"/>
              </a:rPr>
              <a:t>Zeven kilo, geen gram meer. Elk voorwerp krijgt een «para»-zin die zegt waarvóór het dient — «para el frío de la noche», niet «porque es útil». Zonder «para» blijft het thuis.</a:t>
            </a:r>
          </a:p>
        </p:txBody>
      </p:sp>
      <p:sp>
        <p:nvSpPr>
          <p:cNvPr id="11" name="Tarjeta 0"/>
          <p:cNvSpPr/>
          <p:nvPr/>
        </p:nvSpPr>
        <p:spPr>
          <a:xfrm>
            <a:off x="457200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arjetaTxt 0"/>
          <p:cNvSpPr txBox="1"/>
          <p:nvPr/>
        </p:nvSpPr>
        <p:spPr>
          <a:xfrm>
            <a:off x="548640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El destino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Del desierto de Atacama a la Patagonia: 35 °C de día en el norte, 0 °C de noche en el sur.</a:t>
            </a:r>
          </a:p>
        </p:txBody>
      </p:sp>
      <p:sp>
        <p:nvSpPr>
          <p:cNvPr id="13" name="Tarjeta 1"/>
          <p:cNvSpPr/>
          <p:nvPr/>
        </p:nvSpPr>
        <p:spPr>
          <a:xfrm>
            <a:off x="3312414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arjetaTxt 1"/>
          <p:cNvSpPr txBox="1"/>
          <p:nvPr/>
        </p:nvSpPr>
        <p:spPr>
          <a:xfrm>
            <a:off x="3403854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La mochila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dos pantalones (900 g) · cuatro camisetas (600 g) · un jersey de lana (500 g) · un chubasquero (350 g)</a:t>
            </a:r>
          </a:p>
        </p:txBody>
      </p:sp>
      <p:sp>
        <p:nvSpPr>
          <p:cNvPr id="15" name="Tarjeta 2"/>
          <p:cNvSpPr/>
          <p:nvPr/>
        </p:nvSpPr>
        <p:spPr>
          <a:xfrm>
            <a:off x="6167628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arjetaTxt 2"/>
          <p:cNvSpPr txBox="1"/>
          <p:nvPr/>
        </p:nvSpPr>
        <p:spPr>
          <a:xfrm>
            <a:off x="6259068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La mochila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botas de montaña (1200 g) · chanclas (200 g) · saco de dormir fino (700 g) · toalla de microfibra (150 g)</a:t>
            </a:r>
          </a:p>
        </p:txBody>
      </p:sp>
      <p:sp>
        <p:nvSpPr>
          <p:cNvPr id="17" name="Tarjeta 3"/>
          <p:cNvSpPr/>
          <p:nvPr/>
        </p:nvSpPr>
        <p:spPr>
          <a:xfrm>
            <a:off x="9022842" y="2670048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arjetaTxt 3"/>
          <p:cNvSpPr txBox="1"/>
          <p:nvPr/>
        </p:nvSpPr>
        <p:spPr>
          <a:xfrm>
            <a:off x="9114282" y="2724912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La mochila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neceser completo (600 g) · botiquín (300 g) · cargador y cables (250 g) · libro de papel (400 g)</a:t>
            </a:r>
          </a:p>
        </p:txBody>
      </p:sp>
      <p:sp>
        <p:nvSpPr>
          <p:cNvPr id="19" name="Tarjeta 4"/>
          <p:cNvSpPr/>
          <p:nvPr/>
        </p:nvSpPr>
        <p:spPr>
          <a:xfrm>
            <a:off x="457200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arjetaTxt 4"/>
          <p:cNvSpPr txBox="1"/>
          <p:nvPr/>
        </p:nvSpPr>
        <p:spPr>
          <a:xfrm>
            <a:off x="548640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La mochila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cámara pequeña (450 g) · candado y cuerda (200 g) · bañador (150 g) · gorro y guantes (250 g)</a:t>
            </a:r>
          </a:p>
        </p:txBody>
      </p:sp>
      <p:sp>
        <p:nvSpPr>
          <p:cNvPr id="21" name="Tarjeta 5"/>
          <p:cNvSpPr/>
          <p:nvPr/>
        </p:nvSpPr>
        <p:spPr>
          <a:xfrm>
            <a:off x="3312414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arjetaTxt 5"/>
          <p:cNvSpPr txBox="1"/>
          <p:nvPr/>
        </p:nvSpPr>
        <p:spPr>
          <a:xfrm>
            <a:off x="3403854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Llevo … para …</a:t>
            </a:r>
          </a:p>
        </p:txBody>
      </p:sp>
      <p:sp>
        <p:nvSpPr>
          <p:cNvPr id="23" name="Tarjeta 6"/>
          <p:cNvSpPr/>
          <p:nvPr/>
        </p:nvSpPr>
        <p:spPr>
          <a:xfrm>
            <a:off x="6167628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arjetaTxt 6"/>
          <p:cNvSpPr txBox="1"/>
          <p:nvPr/>
        </p:nvSpPr>
        <p:spPr>
          <a:xfrm>
            <a:off x="6259068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Sin … no puedo, porque …</a:t>
            </a:r>
          </a:p>
        </p:txBody>
      </p:sp>
      <p:sp>
        <p:nvSpPr>
          <p:cNvPr id="25" name="Tarjeta 7"/>
          <p:cNvSpPr/>
          <p:nvPr/>
        </p:nvSpPr>
        <p:spPr>
          <a:xfrm>
            <a:off x="9022842" y="3968496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arjetaTxt 7"/>
          <p:cNvSpPr txBox="1"/>
          <p:nvPr/>
        </p:nvSpPr>
        <p:spPr>
          <a:xfrm>
            <a:off x="9114282" y="4023360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Eso lo dejamos: para … ya tenemos …</a:t>
            </a:r>
          </a:p>
        </p:txBody>
      </p:sp>
      <p:sp>
        <p:nvSpPr>
          <p:cNvPr id="27" name="Tarjeta 8"/>
          <p:cNvSpPr/>
          <p:nvPr/>
        </p:nvSpPr>
        <p:spPr>
          <a:xfrm>
            <a:off x="457200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arjetaTxt 8"/>
          <p:cNvSpPr txBox="1"/>
          <p:nvPr/>
        </p:nvSpPr>
        <p:spPr>
          <a:xfrm>
            <a:off x="548640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¿Y para qué lo quieres exactamente?</a:t>
            </a:r>
          </a:p>
        </p:txBody>
      </p:sp>
      <p:sp>
        <p:nvSpPr>
          <p:cNvPr id="29" name="Tarjeta 9"/>
          <p:cNvSpPr/>
          <p:nvPr/>
        </p:nvSpPr>
        <p:spPr>
          <a:xfrm>
            <a:off x="3312414" y="5266944"/>
            <a:ext cx="2708910" cy="11704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4E3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arjetaTxt 9"/>
          <p:cNvSpPr txBox="1"/>
          <p:nvPr/>
        </p:nvSpPr>
        <p:spPr>
          <a:xfrm>
            <a:off x="3403854" y="5321808"/>
            <a:ext cx="2526030" cy="1060704"/>
          </a:xfrm>
          <a:prstGeom prst="rect">
            <a:avLst/>
          </a:prstGeom>
          <a:noFill/>
        </p:spPr>
        <p:txBody>
          <a:bodyPr wrap="square" anchor="t" lIns="45720" rIns="45720" tIns="27432" bIns="27432">
            <a:normAutofit/>
          </a:bodyPr>
          <a:lstStyle/>
          <a:p>
            <a:pPr algn="l"/>
            <a:r>
              <a:rPr sz="1100" b="1">
                <a:solidFill>
                  <a:srgbClr val="5B3E83"/>
                </a:solidFill>
                <a:latin typeface="Bricolage Grotesque"/>
              </a:rPr>
              <a:t>marco</a:t>
            </a:r>
          </a:p>
          <a:p>
            <a:pPr algn="l"/>
            <a:r>
              <a:rPr sz="1000">
                <a:solidFill>
                  <a:srgbClr val="20242E"/>
                </a:solidFill>
                <a:latin typeface="Inter"/>
              </a:rPr>
              <a:t>Nos pasamos de … gramos. ¿Qué quitamos?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