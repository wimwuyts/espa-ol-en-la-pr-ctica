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3.xml"/><Relationship Id="rId3" Type="http://schemas.openxmlformats.org/officeDocument/2006/relationships/slide" Target="slide4.xml"/><Relationship Id="rId4" Type="http://schemas.openxmlformats.org/officeDocument/2006/relationships/slide" Target="slide5.xml"/><Relationship Id="rId5" Type="http://schemas.openxmlformats.org/officeDocument/2006/relationships/slide" Target="slide7.xml"/><Relationship Id="rId6" Type="http://schemas.openxmlformats.org/officeDocument/2006/relationships/slide" Target="slide9.xml"/><Relationship Id="rId7" Type="http://schemas.openxmlformats.org/officeDocument/2006/relationships/slide" Target="slide10.xml"/><Relationship Id="rId8" Type="http://schemas.openxmlformats.org/officeDocument/2006/relationships/slide" Target="slide11.xml"/><Relationship Id="rId9" Type="http://schemas.openxmlformats.org/officeDocument/2006/relationships/slide" Target="slide12.xml"/><Relationship Id="rId10" Type="http://schemas.openxmlformats.org/officeDocument/2006/relationships/slide" Target="slide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video" Target="https://www.youtube.com/embed/l4Ci-M4wdYA" TargetMode="External"/><Relationship Id="rId4" Type="http://schemas.microsoft.com/office/2007/relationships/media" Target="https://www.youtube.com/embed/l4Ci-M4wdYA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slide" Target="slide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429768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4224528"/>
            <a:ext cx="12191695" cy="73152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48640" y="457200"/>
            <a:ext cx="323148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200" b="1">
                <a:solidFill>
                  <a:srgbClr val="D64550"/>
                </a:solidFill>
                <a:latin typeface="Inter"/>
              </a:rPr>
              <a:t>C4 · LA RUTA · EL DESPEGUE · PARADA 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051560"/>
            <a:ext cx="1124712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4600" b="1" i="0">
                <a:solidFill>
                  <a:srgbClr val="FFFFFF"/>
                </a:solidFill>
                <a:latin typeface="Bricolage Grotesque"/>
              </a:rPr>
              <a:t>Objetos cotidianos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57400"/>
            <a:ext cx="1078992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Bricolage Grotesque"/>
              </a:rPr>
              <a:t>¿Qué es esto? </a:t>
            </a:r>
            <a:r>
              <a:rPr sz="1700" b="0" i="1">
                <a:solidFill>
                  <a:srgbClr val="FBEAEC"/>
                </a:solidFill>
                <a:latin typeface="Inter"/>
              </a:rPr>
              <a:t>— Esto es un sofá.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926080"/>
            <a:ext cx="10515600" cy="10058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FFFFFF"/>
                </a:solidFill>
                <a:latin typeface="Inter"/>
              </a:rPr>
              <a:t>Voorwerpen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benoemen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en zeggen </a:t>
            </a:r>
            <a:r>
              <a:rPr sz="1600" b="1" i="0">
                <a:solidFill>
                  <a:srgbClr val="FFFFFF"/>
                </a:solidFill>
                <a:latin typeface="Inter"/>
              </a:rPr>
              <a:t>waarvoor ze dienen</a:t>
            </a:r>
            <a:r>
              <a:rPr sz="1600" b="0" i="0">
                <a:solidFill>
                  <a:srgbClr val="FFFFFF"/>
                </a:solidFill>
                <a:latin typeface="Inter"/>
              </a:rPr>
              <a:t> (un/una · hay · sirve para).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1">
                <a:solidFill>
                  <a:srgbClr val="FBEAEC"/>
                </a:solidFill>
                <a:latin typeface="Inter"/>
              </a:rPr>
              <a:t>Survival in Spanish — identificar objetos y decir para qué sirven.</a:t>
            </a:r>
          </a:p>
        </p:txBody>
      </p:sp>
      <p:pic>
        <p:nvPicPr>
          <p:cNvPr id="9" name="Picture 8" descr="mochi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84080" y="4526280"/>
            <a:ext cx="1554480" cy="1554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48640" y="4800600"/>
            <a:ext cx="8229600" cy="12801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En esta unidad vas 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Identificar objetos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¿qué es esto? · esto es un/una…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Usar un / una · el / la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un libro (♂) · una mesa (♀)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• Decir hay y para qué sirve  </a:t>
            </a:r>
            <a:r>
              <a:rPr sz="1100" b="0" i="1">
                <a:solidFill>
                  <a:srgbClr val="6A6E78"/>
                </a:solidFill>
                <a:latin typeface="Inter"/>
              </a:rPr>
              <a:t>hay un vaso que sirve para beber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455371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MENÚ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vamos a hacer?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gaan we doen? — klik op een tegel</a:t>
            </a:r>
          </a:p>
        </p:txBody>
      </p:sp>
      <p:sp>
        <p:nvSpPr>
          <p:cNvPr id="8" name="Rounded Rectangle 7">
            <a:hlinkClick action="ppaction://hlinksldjump" r:id="rId2"/>
          </p:cNvPr>
          <p:cNvSpPr/>
          <p:nvPr/>
        </p:nvSpPr>
        <p:spPr>
          <a:xfrm>
            <a:off x="502920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¡Escucha!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la escena + chunks</a:t>
            </a:r>
          </a:p>
        </p:txBody>
      </p:sp>
      <p:sp>
        <p:nvSpPr>
          <p:cNvPr id="11" name="Rounded Rectangle 10">
            <a:hlinkClick action="ppaction://hlinksldjump" r:id="rId3"/>
          </p:cNvPr>
          <p:cNvSpPr/>
          <p:nvPr/>
        </p:nvSpPr>
        <p:spPr>
          <a:xfrm>
            <a:off x="3410712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93592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93592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Suena bien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r · rr · la tilde</a:t>
            </a:r>
          </a:p>
        </p:txBody>
      </p:sp>
      <p:sp>
        <p:nvSpPr>
          <p:cNvPr id="14" name="Rounded Rectangle 13">
            <a:hlinkClick action="ppaction://hlinksldjump" r:id="rId4"/>
          </p:cNvPr>
          <p:cNvSpPr/>
          <p:nvPr/>
        </p:nvSpPr>
        <p:spPr>
          <a:xfrm>
            <a:off x="6318504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01384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1384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Kit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objetos · identificar</a:t>
            </a:r>
          </a:p>
        </p:txBody>
      </p:sp>
      <p:sp>
        <p:nvSpPr>
          <p:cNvPr id="17" name="Rounded Rectangle 16">
            <a:hlinkClick action="ppaction://hlinksldjump" r:id="rId5"/>
          </p:cNvPr>
          <p:cNvSpPr/>
          <p:nvPr/>
        </p:nvSpPr>
        <p:spPr>
          <a:xfrm>
            <a:off x="9226296" y="155448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09176" y="166420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09176" y="212140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Gramática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un/una · hay · sirve para</a:t>
            </a:r>
          </a:p>
        </p:txBody>
      </p:sp>
      <p:sp>
        <p:nvSpPr>
          <p:cNvPr id="20" name="Rounded Rectangle 19">
            <a:hlinkClick action="ppaction://hlinksldjump" r:id="rId6"/>
          </p:cNvPr>
          <p:cNvSpPr/>
          <p:nvPr/>
        </p:nvSpPr>
        <p:spPr>
          <a:xfrm>
            <a:off x="502920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5800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Práctica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oefenen samen</a:t>
            </a:r>
          </a:p>
        </p:txBody>
      </p:sp>
      <p:sp>
        <p:nvSpPr>
          <p:cNvPr id="23" name="Rounded Rectangle 22">
            <a:hlinkClick action="ppaction://hlinksldjump" r:id="rId7"/>
          </p:cNvPr>
          <p:cNvSpPr/>
          <p:nvPr/>
        </p:nvSpPr>
        <p:spPr>
          <a:xfrm>
            <a:off x="3410712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593592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93592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Hablar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identifica un objeto</a:t>
            </a:r>
          </a:p>
        </p:txBody>
      </p:sp>
      <p:sp>
        <p:nvSpPr>
          <p:cNvPr id="26" name="Rounded Rectangle 25">
            <a:hlinkClick action="ppaction://hlinksldjump" r:id="rId8"/>
          </p:cNvPr>
          <p:cNvSpPr/>
          <p:nvPr/>
        </p:nvSpPr>
        <p:spPr>
          <a:xfrm>
            <a:off x="6318504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384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4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Música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objetos del mundo hispano</a:t>
            </a:r>
          </a:p>
        </p:txBody>
      </p:sp>
      <p:sp>
        <p:nvSpPr>
          <p:cNvPr id="29" name="Rounded Rectangle 28">
            <a:hlinkClick action="ppaction://hlinksldjump" r:id="rId9"/>
          </p:cNvPr>
          <p:cNvSpPr/>
          <p:nvPr/>
        </p:nvSpPr>
        <p:spPr>
          <a:xfrm>
            <a:off x="9226296" y="278892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409176" y="289864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9176" y="335584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Tarea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Diccionario de la clase</a:t>
            </a:r>
          </a:p>
        </p:txBody>
      </p:sp>
      <p:sp>
        <p:nvSpPr>
          <p:cNvPr id="32" name="Rounded Rectangle 31">
            <a:hlinkClick action="ppaction://hlinksldjump" r:id="rId10"/>
          </p:cNvPr>
          <p:cNvSpPr/>
          <p:nvPr/>
        </p:nvSpPr>
        <p:spPr>
          <a:xfrm>
            <a:off x="502920" y="4023360"/>
            <a:ext cx="2743200" cy="1051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85800" y="4133088"/>
            <a:ext cx="6400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400" b="1" i="0">
                <a:solidFill>
                  <a:srgbClr val="D64550"/>
                </a:solidFill>
                <a:latin typeface="Bricolage Grotesque"/>
              </a:rPr>
              <a:t>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85800" y="4590288"/>
            <a:ext cx="2423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Bricolage Grotesque"/>
              </a:rPr>
              <a:t>Repaso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050" b="0" i="1">
                <a:solidFill>
                  <a:srgbClr val="6A6E78"/>
                </a:solidFill>
                <a:latin typeface="Inter"/>
              </a:rPr>
              <a:t>wat kun je nu?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544068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Consejo · Tip.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Wijs een voorwerp aan, zeg wat het is en waarvoor het dient. Durf raden — fouten maken hoort erbij.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§1 · ¡ESCUCHA!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Bekijk la escena y escucha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Kijk &amp; luister — Julio toont María su casa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17320"/>
            <a:ext cx="676656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85800" y="164592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48840" y="162763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 son mis llaves, que sirven para abrir la puerta.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85800" y="217627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48840" y="215798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esto son dos botellas de vino.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85800" y="270662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48840" y="268833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¿Qué es esto?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5800" y="3236976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148840" y="3218688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Esto es un sofá, que sirve para descansar.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85800" y="3767328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E9E7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48840" y="3749040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eso es una televisión. Y un vaso que sirve para beber.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85800" y="4297680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148840" y="4279392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Ahí está la cocina, y ahí está el cuarto de baño.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85800" y="4828032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María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48840" y="4809744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Y ordenador, ¿hay un ordenador?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358384"/>
            <a:ext cx="539496" cy="292608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000" b="1">
                <a:solidFill>
                  <a:srgbClr val="FFFFFF"/>
                </a:solidFill>
                <a:latin typeface="Inter"/>
              </a:rPr>
              <a:t>Julio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48840" y="5340096"/>
            <a:ext cx="49377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No, no hay… Perdóname, sí que hay un ordenador.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98079" y="1417320"/>
            <a:ext cx="4206240" cy="22402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26679" y="1572768"/>
            <a:ext cx="3749039" cy="20116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Chunks para llevar 🎒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¿qué es esto? · esto es un/una…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esto son… · un libro / una mesa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que sirve para + infinitivo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 i="0">
                <a:solidFill>
                  <a:srgbClr val="20242E"/>
                </a:solidFill>
                <a:latin typeface="Inter"/>
              </a:rPr>
              <a:t>hay · no hay · ¿hay…? · sí que hay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98079" y="3767328"/>
            <a:ext cx="42062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A8323B"/>
                </a:solidFill>
                <a:latin typeface="Bricolage Grotesque"/>
              </a:rPr>
              <a:t>🎬 Sitcom · Episodio 5 — klik om af te spelen</a:t>
            </a:r>
          </a:p>
        </p:txBody>
      </p:sp>
      <p:pic>
        <p:nvPicPr>
          <p:cNvPr id="29" name="Picture 28" descr="video_poster_U5.png">
            <a:hlinkClick r:id="" action="ppaction://media"/>
          </p:cNvPr>
          <p:cNvPicPr>
            <a:picLocks noChangeAspect="1"/>
          </p:cNvPicPr>
          <p:nvPr>
            <a:videoFile r:link="rId3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2"/>
          <a:stretch>
            <a:fillRect/>
          </a:stretch>
        </p:blipFill>
        <p:spPr>
          <a:xfrm>
            <a:off x="7498079" y="4069080"/>
            <a:ext cx="4206240" cy="2331720"/>
          </a:xfrm>
          <a:prstGeom prst="rect">
            <a:avLst/>
          </a:prstGeom>
        </p:spPr>
      </p:pic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9601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SUENA BIEN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La r suave · la rr fuerte · la tilde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zachte r, de rollende rr &amp; de klemtoon — luister en spreek na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r suave · tussen klinkers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pero · cara · para · ahora · mira · hora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Tussen klinkers is de r zacht — één tikje van de tong.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1463040"/>
            <a:ext cx="5532120" cy="1965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2200" y="1463040"/>
            <a:ext cx="5532120" cy="128016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0" y="169164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rr fuerte · rollende 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0" y="2148840"/>
            <a:ext cx="5120640" cy="11887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perro · rojo · guitarra · rosa · arriba · ratón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De rr (en de r aan het begin) is sterk, rollend.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566160"/>
            <a:ext cx="11201400" cy="77724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3703320"/>
            <a:ext cx="1069848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Bricolage Grotesque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pe</a:t>
            </a:r>
            <a:r>
              <a:rPr sz="1300" b="1" i="0">
                <a:solidFill>
                  <a:srgbClr val="A8323B"/>
                </a:solidFill>
                <a:latin typeface="Inter"/>
              </a:rPr>
              <a:t>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 (maar) ≠ pe</a:t>
            </a:r>
            <a:r>
              <a:rPr sz="1300" b="1" i="0">
                <a:solidFill>
                  <a:srgbClr val="A8323B"/>
                </a:solidFill>
                <a:latin typeface="Inter"/>
              </a:rPr>
              <a:t>rr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 (hond) · ca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 (duur) ≠ ca</a:t>
            </a:r>
            <a:r>
              <a:rPr sz="1300" b="1" i="0">
                <a:solidFill>
                  <a:srgbClr val="A8323B"/>
                </a:solidFill>
                <a:latin typeface="Inter"/>
              </a:rPr>
              <a:t>rr</a:t>
            </a:r>
            <a:r>
              <a:rPr sz="1300" b="0" i="0">
                <a:solidFill>
                  <a:srgbClr val="20242E"/>
                </a:solidFill>
                <a:latin typeface="Inter"/>
              </a:rPr>
              <a:t>o (kar). De dubbele r verandert de betekenis!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457200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La tilde · waarom een accent? — het staat op de sterkste lettergreep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5074920"/>
            <a:ext cx="1115568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000" b="0" i="0">
                <a:solidFill>
                  <a:srgbClr val="20242E"/>
                </a:solidFill>
                <a:latin typeface="Bricolage Grotesque"/>
              </a:rPr>
              <a:t>so·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FÁ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te·le·vi·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SIÓN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      </a:t>
            </a:r>
            <a:r>
              <a:rPr sz="2000" b="1" i="0">
                <a:solidFill>
                  <a:srgbClr val="D64550"/>
                </a:solidFill>
                <a:latin typeface="Bricolage Grotesque"/>
              </a:rPr>
              <a:t>MÚ</a:t>
            </a:r>
            <a:r>
              <a:rPr sz="2000" b="0" i="0">
                <a:solidFill>
                  <a:srgbClr val="20242E"/>
                </a:solidFill>
                <a:latin typeface="Bricolage Grotesque"/>
              </a:rPr>
              <a:t>·si·ca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5806440"/>
            <a:ext cx="109728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🔊 Oefen de klanken online op de hub (tabblad Kit · Suena bien).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Objetos e identificar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De voorwerpen &amp; ze benoemen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Objetos de la clase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libro · el cuaderno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boek · schrift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boli · el lápiz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pen · potlood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mochila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rugzak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mesa · la silla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tafel · stoel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móvil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gsm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Objetos de casa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sofá · la televisión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bank · tv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 ventana · la puerta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raam · deur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ordenador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computer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las llaves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sleutels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vaso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glas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83880" y="1463040"/>
            <a:ext cx="36576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1627632"/>
            <a:ext cx="32918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Identificar · ¿qué es esto?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2240280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¿Qué es esto?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wat is dit?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412480" y="2898648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Esto es un/una…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is een…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3557016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Esto son…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dit zijn…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4215384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un libro · una mesa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boek (♂) · tafel (♀)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4873752"/>
            <a:ext cx="320040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el / la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de (♂ / 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§2 · KIT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¿Para qué sirve? · ¿Qué hay?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Waarvoor het dient &amp; wat er is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¿Para qué sirve? · la función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¿Para qué sirve?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waarvoor dient het?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Sirve para + inf.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het dient om te…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para abrir · beber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openen · drinken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para descansar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rusten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para estudiar · mirar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studeren · kijken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17920" y="1463040"/>
            <a:ext cx="5486400" cy="44805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46520" y="1627632"/>
            <a:ext cx="502920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50" b="1" i="0">
                <a:solidFill>
                  <a:srgbClr val="A8323B"/>
                </a:solidFill>
                <a:latin typeface="Bricolage Grotesque"/>
              </a:rPr>
              <a:t>¿Qué hay? · la existencia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46520" y="2286000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¿Hay…?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is/zijn er…?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46520" y="2944368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Hay un/una…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er is een…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46520" y="3602736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No hay…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er is geen…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4261104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Sí que hay…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jawel, er is…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46520" y="4919472"/>
            <a:ext cx="493776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Inter"/>
              </a:rPr>
              <a:t>aquí · ahí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hier · daar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5212080"/>
            <a:ext cx="50292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hay verandert nooit · sirve para + hele werkwoord (beber, no bebo).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¿Qué es esto? · es / son · hay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Iets benoemen, es↔son &amp; hay — functioneel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280160"/>
            <a:ext cx="118872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1" i="0">
                <a:solidFill>
                  <a:srgbClr val="6A6E78"/>
                </a:solidFill>
                <a:latin typeface="Inter"/>
              </a:rPr>
              <a:t>Kleurcode: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55448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71907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persoon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207361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EA731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71953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werkw.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803549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968141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tijd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86352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50944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plaats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2540" y="1316736"/>
            <a:ext cx="128016" cy="128016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047132" y="1271016"/>
            <a:ext cx="91440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0">
                <a:solidFill>
                  <a:srgbClr val="20242E"/>
                </a:solidFill>
                <a:latin typeface="Inter"/>
              </a:rPr>
              <a:t>valstrik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31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es (één) · son (meer) · … que sirve para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es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één ding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Esto es un sofá.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2770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son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meer dingen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Esto son mis llaves.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3209544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A7317"/>
                </a:solidFill>
                <a:latin typeface="Inter"/>
              </a:rPr>
              <a:t>sirve para 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waarvoor?</a:t>
            </a:r>
            <a:r>
              <a:rPr sz="1100" b="0" i="1">
                <a:solidFill>
                  <a:srgbClr val="6A6E78"/>
                </a:solidFill>
                <a:latin typeface="Inter"/>
              </a:rPr>
              <a:t>   …que sirve para descansar.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17920" y="1737360"/>
            <a:ext cx="5486400" cy="201168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46520" y="1874519"/>
            <a:ext cx="502920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hay — er is / er zijn · ejemplos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46520" y="2331720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¿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un ordenador?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46520" y="2715768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No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televisión.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46520" y="3099816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Sí que </a:t>
            </a:r>
            <a:r>
              <a:rPr sz="1300" b="1" i="0">
                <a:solidFill>
                  <a:srgbClr val="EA7317"/>
                </a:solidFill>
                <a:latin typeface="Inter"/>
              </a:rPr>
              <a:t>hay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un ordenador.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46520" y="3246120"/>
            <a:ext cx="512064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150" b="0" i="1">
                <a:solidFill>
                  <a:srgbClr val="20242E"/>
                </a:solidFill>
                <a:latin typeface="Inter"/>
              </a:rPr>
              <a:t>hay verandert nooit — voor één én voor meer.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3977639"/>
            <a:ext cx="11201400" cy="155448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4114800"/>
            <a:ext cx="1069848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Completa · vul aan (klik voor de oplossing):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Esto ___ un sofá.  Esto ___ mis llaves.  ¿___ un ordenador? 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31520" y="4709160"/>
            <a:ext cx="10698480" cy="64008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1" i="0">
                <a:solidFill>
                  <a:srgbClr val="A8323B"/>
                </a:solidFill>
                <a:latin typeface="Inter"/>
              </a:rPr>
              <a:t>es · son · hay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68680" y="45811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37" name="Rounded Rectangle 36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39" name="Rectangle 38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7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96619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§4 · GRAMÁTICA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un / una · el / la — género ♂/♀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Elk voorwerp is ♂ of ♀ — un/una en el/la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E8F0FE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Bricolage Grotesque"/>
              </a:rPr>
              <a:t>♂ masculino — meestal -o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1E40AF"/>
                </a:solidFill>
                <a:latin typeface="Inter"/>
              </a:rPr>
              <a:t>un libro · un vaso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1E40AF"/>
                </a:solidFill>
                <a:latin typeface="Inter"/>
              </a:rPr>
              <a:t>el boli · el ordenador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54480"/>
            <a:ext cx="5486400" cy="2103120"/>
          </a:xfrm>
          <a:prstGeom prst="roundRect">
            <a:avLst>
              <a:gd name="adj" fmla="val 5500"/>
            </a:avLst>
          </a:prstGeom>
          <a:solidFill>
            <a:srgbClr val="FCE7F0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1737360"/>
            <a:ext cx="5029200" cy="18288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Bricolage Grotesque"/>
              </a:rPr>
              <a:t>♀ femenino — meestal -a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1" i="0">
                <a:solidFill>
                  <a:srgbClr val="9D174D"/>
                </a:solidFill>
                <a:latin typeface="Inter"/>
              </a:rPr>
              <a:t>una mesa · una silla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9D174D"/>
                </a:solidFill>
                <a:latin typeface="Inter"/>
              </a:rPr>
              <a:t>la ventana · la mochila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3840480"/>
            <a:ext cx="11201400" cy="164592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023360"/>
            <a:ext cx="1069848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A8323B"/>
                </a:solidFill>
                <a:latin typeface="Bricolage Grotesque"/>
              </a:rPr>
              <a:t>un/una = een  ·  el/la = de  ·  las excepciones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Onbepaald: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libro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una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mesa. Bepaald: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el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boli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la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ventana.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DC2626"/>
                </a:solidFill>
                <a:latin typeface="Inter"/>
              </a:rPr>
              <a:t>¡Ojo! </a:t>
            </a:r>
            <a:r>
              <a:rPr sz="1300" b="0" i="0">
                <a:solidFill>
                  <a:srgbClr val="20242E"/>
                </a:solidFill>
                <a:latin typeface="Inter"/>
              </a:rPr>
              <a:t>uitzonderingen leer je er gewoon bij: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el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sofá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la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televisión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el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día · </a:t>
            </a:r>
            <a:r>
              <a:rPr sz="1300" b="1" i="0">
                <a:solidFill>
                  <a:srgbClr val="1E9E74"/>
                </a:solidFill>
                <a:latin typeface="Inter"/>
              </a:rPr>
              <a:t>la</a:t>
            </a:r>
            <a:r>
              <a:rPr sz="1300" b="0" i="0">
                <a:solidFill>
                  <a:srgbClr val="20242E"/>
                </a:solidFill>
                <a:latin typeface="Inter"/>
              </a:rPr>
              <a:t> mano.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21249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PRÁCTICA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Completa el diálogo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Vul samen aan — klik voor de oplossing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41148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82880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¿Qué es esto?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5176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Esto ___ ___ sofá. ___ para descansar.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47472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¿Y esto? — Esto ___ mis llaves.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4297680"/>
            <a:ext cx="6492240" cy="548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— ¿___ un ordenador? — Sí, sí que hay.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80960" y="1737360"/>
            <a:ext cx="4023360" cy="3657600"/>
          </a:xfrm>
          <a:prstGeom prst="roundRect">
            <a:avLst>
              <a:gd name="adj" fmla="val 6000"/>
            </a:avLst>
          </a:prstGeom>
          <a:solidFill>
            <a:srgbClr val="FBEAEC"/>
          </a:solidFill>
          <a:ln w="19050">
            <a:solidFill>
              <a:srgbClr val="D6455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7000" rIns="127000" tIns="139700" bIns="76200"/>
          <a:lstStyle/>
          <a:p>
            <a:pPr algn="ctr"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1. es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2. un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3. Sirve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4. son</a:t>
            </a:r>
          </a:p>
          <a:p>
            <a:pPr>
              <a:lnSpc>
                <a:spcPct val="102000"/>
              </a:lnSpc>
              <a:spcBef>
                <a:spcPts val="0"/>
              </a:spcBef>
              <a:spcAft>
                <a:spcPts val="300"/>
              </a:spcAft>
            </a:pPr>
            <a:r>
              <a:rPr sz="1400" b="0" i="0">
                <a:solidFill>
                  <a:srgbClr val="A8323B"/>
                </a:solidFill>
                <a:latin typeface="Inter"/>
              </a:rPr>
              <a:t>5. Hay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818120" y="1609344"/>
            <a:ext cx="791870" cy="292608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950" b="1">
                <a:solidFill>
                  <a:srgbClr val="FFFFFF"/>
                </a:solidFill>
                <a:latin typeface="Inter"/>
              </a:rPr>
              <a:t>SOLUCIÓN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6053328"/>
            <a:ext cx="2093976" cy="365760"/>
          </a:xfrm>
          <a:prstGeom prst="roundRect">
            <a:avLst>
              <a:gd name="adj" fmla="val 50000"/>
            </a:avLst>
          </a:prstGeom>
          <a:solidFill>
            <a:srgbClr val="D64550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FFFFFF"/>
                </a:solidFill>
                <a:latin typeface="Inter"/>
              </a:rPr>
              <a:t>▶  Mostrar solución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97480" y="6053328"/>
            <a:ext cx="1088136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⏭  Saltar</a:t>
            </a:r>
          </a:p>
        </p:txBody>
      </p:sp>
      <p:sp>
        <p:nvSpPr>
          <p:cNvPr id="18" name="Rounded Rectangle 17">
            <a:hlinkClick action="ppaction://hlinksldjump" r:id="rId2"/>
          </p:cNvPr>
          <p:cNvSpPr/>
          <p:nvPr/>
        </p:nvSpPr>
        <p:spPr>
          <a:xfrm>
            <a:off x="3931920" y="6053328"/>
            <a:ext cx="1691639" cy="36576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E4E3D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12700" bIns="12700"/>
          <a:lstStyle/>
          <a:p>
            <a:pPr algn="ctr"/>
            <a:r>
              <a:rPr sz="1050" b="1">
                <a:solidFill>
                  <a:srgbClr val="A8323B"/>
                </a:solidFill>
                <a:latin typeface="Inter"/>
              </a:rPr>
              <a:t>⌂  Menú (dia 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6053328"/>
            <a:ext cx="3383280" cy="36576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1">
                <a:solidFill>
                  <a:srgbClr val="6A6E78"/>
                </a:solidFill>
                <a:latin typeface="Inter"/>
              </a:rPr>
              <a:t>Klik ▶ om de solución te tonen · ⌂ terug naar het menu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9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044244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§3 · HABLAR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Identifica un objeto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Wijs een voorwerp aan, benoem het &amp; zeg waarvoor het dient — sin leer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6949440" cy="31089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1783080"/>
            <a:ext cx="649224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Modelo · zeg dit hardop: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«— Esto es un boli,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que sirve para escribir.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800" b="0" i="0">
                <a:solidFill>
                  <a:srgbClr val="20242E"/>
                </a:solidFill>
                <a:latin typeface="Inter"/>
              </a:rPr>
              <a:t>— Esto son mis llaves,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600" b="0" i="0">
                <a:solidFill>
                  <a:srgbClr val="20242E"/>
                </a:solidFill>
                <a:latin typeface="Inter"/>
              </a:rPr>
              <a:t>que sirven para abrir la puerta.»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680960" y="1554480"/>
            <a:ext cx="4023360" cy="31089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783080"/>
            <a:ext cx="3566160" cy="2743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¿Cómo? · Werkvorm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Kies een voorwerp (klas of thuis).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Identifica: «Esto es un/una… (♂/♀)».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Función: «que sirve para + werkwoord».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Wissel van rol (3×).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937760"/>
            <a:ext cx="1097280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Interactie </a:t>
            </a:r>
            <a:r>
              <a:rPr sz="1200" b="0" i="1">
                <a:solidFill>
                  <a:srgbClr val="20242E"/>
                </a:solidFill>
                <a:latin typeface="Inter"/>
              </a:rPr>
              <a:t>= beurt nemen, aanwijzen en reageren. Begrijp je iets niet? Zeg: «¿Cómo? / Otra vez, por favor.»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70774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CULTURA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Objetos del mundo hispano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Typische voorwerpen + muziek die jullie kennen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Perla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53712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Shakira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Antología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47304" y="1600200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75904" y="1783080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Juanes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La Camisa Negra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🇨🇴 Colombia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Aitana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Los Ángeles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25112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53712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Luis Fonsi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Despacito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🇵🇷 P. Rico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47304" y="3136392"/>
            <a:ext cx="3657600" cy="13716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75904" y="3319272"/>
            <a:ext cx="3291840" cy="10972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20242E"/>
                </a:solidFill>
                <a:latin typeface="Bricolage Grotesque"/>
              </a:rPr>
              <a:t>Rosalía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6A6E78"/>
                </a:solidFill>
                <a:latin typeface="Inter"/>
              </a:rPr>
              <a:t>🎵 TKN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0">
                <a:solidFill>
                  <a:srgbClr val="A8323B"/>
                </a:solidFill>
                <a:latin typeface="Inter"/>
              </a:rPr>
              <a:t>🇪🇸 España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29200"/>
            <a:ext cx="11201400" cy="96012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166360"/>
            <a:ext cx="10698480" cy="7315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🎸 Objetos típicos del mundo hispano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(la guitarra española · el mate argentino · la piñata mexicana · la hamaca del Caribe). La playlist + LyricsTraining op de digitale hub → tabblad Música.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1464868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§5 · TAREA FINAL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424160" y="-137160"/>
            <a:ext cx="1737360" cy="1371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800" b="1" i="0">
                <a:solidFill>
                  <a:srgbClr val="FFFFFF"/>
                </a:solidFill>
                <a:latin typeface="Bricolage Grotesque"/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Diccionario de la clase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Teken &amp; benoem 5 voorwerpen + hun functie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2032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02920" y="1554480"/>
            <a:ext cx="5486400" cy="502920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85800" y="1627632"/>
            <a:ext cx="5120640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Bricolage Grotesque"/>
              </a:rPr>
              <a:t>DICCIONARIO · noteer je frames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286000"/>
            <a:ext cx="4937760" cy="22860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✏️ Esto es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(un/una) ____.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🔧 Sirve para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 (abrir · beber…).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20242E"/>
                </a:solidFill>
                <a:latin typeface="Inter"/>
              </a:rPr>
              <a:t>📕 Esto es </a:t>
            </a:r>
            <a:r>
              <a:rPr sz="1400" b="0" i="0">
                <a:solidFill>
                  <a:srgbClr val="E4E3DE"/>
                </a:solidFill>
                <a:latin typeface="Inter"/>
              </a:rPr>
              <a:t>____. Sirve para ____.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554480"/>
            <a:ext cx="5486400" cy="320040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737360"/>
            <a:ext cx="5029200" cy="28346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Los pasos · stappen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1. Elige 5 objetos (klas of thuis).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2. Dibuja e identifica: «Esto es un/una…»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3. ¿Para qué sirve? «Sirve para + werkwoord».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4. Preséntalo a la clase — zónder af te lezen.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5029200"/>
            <a:ext cx="10972800" cy="8229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🏁 Klaar als… </a:t>
            </a:r>
            <a:r>
              <a:rPr sz="1250" b="0" i="0">
                <a:solidFill>
                  <a:srgbClr val="20242E"/>
                </a:solidFill>
                <a:latin typeface="Inter"/>
              </a:rPr>
              <a:t>je 5 voorwerpen benoemt met «esto es un/una…» (juiste ♂/♀) en per voorwerp «sirve para + werkwoord» zegt — zónder af te lezen.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875995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FUNCIONES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Mis funciones comunicativas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Lo que ya sé hacer — crece cada unidad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11155680" cy="32004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Mi repertorio: 12 / 12 funciones — </a:t>
            </a:r>
            <a:r>
              <a:rPr sz="1200" b="0" i="0">
                <a:solidFill>
                  <a:srgbClr val="6A6E78"/>
                </a:solidFill>
                <a:latin typeface="Inter"/>
              </a:rPr>
              <a:t>no solo palabras: lo que puedo HACER con el español.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1664208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174650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Saludar y despedirse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2035911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Hola · Adiós · Hasta luego · Buenos días / tardes / noches · ¡Buenas! · Hasta mañana · ¡Nos vemos!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664208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74650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Presentarse y presentar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4808" y="2035911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Me llamo… · (Yo) soy… · Encantado/a · Soy de… (país) · Soy español/a · mexicano/a · belga · Esta es mi madre · Este es mi padre · Es mi hermano/a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453640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04088" y="253593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y dar información personal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" y="2825343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¿Cómo te llamas? · ¿Y tú? · ¿De dónde eres? · ¿De qué país? · ¿Qué idiomas hablas?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2453640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2535936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Reaccionar con cortesía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64808" y="2825343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Por favor · Gracias · Muchas gracias · De nada · Perdona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3243072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4088" y="3325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Preguntar y decir cómo estoy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" y="3614775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¿Qué tal? · ¿Cómo estás? · Estoy bien / cansado-a / ocupado-a · Regular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243072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64808" y="3325368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Pedir algo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64808" y="3614775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…, por favor · ¿Me da…?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4032504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4088" y="411480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Contar (números 0–20)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4088" y="4404207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uno · dos · tres · cinco · diez · veinte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263640" y="4032504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64808" y="4114800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Gestionar la comprensión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64808" y="4404207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¿Cómo? · Otra vez, por favor · ¿Puedes repetir? · Más despacio, por favor · No entiendo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4821936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" y="490423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Hablar de la familia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" y="5193639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mi madre · mi padre · mi hermano/a · mi abuelo/a · el tío / la tía · la hermana de María (de + nombre)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4821936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64808" y="4904232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Describir a alguien</a:t>
            </a:r>
            <a:r>
              <a:rPr sz="900" b="1" i="0">
                <a:solidFill>
                  <a:srgbClr val="A8323B"/>
                </a:solidFill>
                <a:latin typeface="Inter"/>
              </a:rPr>
              <a:t/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64808" y="5193639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es alto/a · bajo/a · guapo/a · es simpático/a · divertido/a · inteligente · es muy… · un poco…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02920" y="5611368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4088" y="569366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Identificar objetos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4088" y="5983071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¿Qué es esto? · Esto es un/una… · Esto son… (meervoud) · un libro · una mesa (el/la)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63640" y="5611368"/>
            <a:ext cx="5394960" cy="643127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64808" y="5693664"/>
            <a:ext cx="4992624" cy="36576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20242E"/>
                </a:solidFill>
                <a:latin typeface="Bricolage Grotesque"/>
              </a:rPr>
              <a:t>Decir qué hay y para qué sirve</a:t>
            </a:r>
            <a:r>
              <a:rPr sz="900" b="1" i="0">
                <a:solidFill>
                  <a:srgbClr val="A8323B"/>
                </a:solidFill>
                <a:latin typeface="Inter"/>
              </a:rPr>
              <a:t>  ● NUEVA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464808" y="5983071"/>
            <a:ext cx="4992624" cy="321563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850" b="0" i="0">
                <a:solidFill>
                  <a:srgbClr val="6A6E78"/>
                </a:solidFill>
                <a:latin typeface="Inter"/>
              </a:rPr>
              <a:t>¿Hay…? · (No) hay… · Sí que hay… · … que sirve para + infinitivo · sirve para abrir · beber · descansar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B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D645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78992"/>
            <a:ext cx="12191695" cy="54864"/>
          </a:xfrm>
          <a:prstGeom prst="rect">
            <a:avLst/>
          </a:prstGeom>
          <a:solidFill>
            <a:srgbClr val="A832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82880"/>
            <a:ext cx="623620" cy="29260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88900" rIns="88900" tIns="12700" bIns="12700"/>
          <a:lstStyle/>
          <a:p>
            <a:pPr algn="ctr"/>
            <a:r>
              <a:rPr sz="1100" b="1">
                <a:solidFill>
                  <a:srgbClr val="D64550"/>
                </a:solidFill>
                <a:latin typeface="Inter"/>
              </a:rPr>
              <a:t>REPASO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"/>
            <a:ext cx="9692640" cy="5029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2700" b="1" i="0">
                <a:solidFill>
                  <a:srgbClr val="FFFFFF"/>
                </a:solidFill>
                <a:latin typeface="Bricolage Grotesque"/>
              </a:rPr>
              <a:t>Lo esencial de un vistazo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932688"/>
            <a:ext cx="9692640" cy="27432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50" b="0" i="1">
                <a:solidFill>
                  <a:srgbClr val="FBEAEC"/>
                </a:solidFill>
                <a:latin typeface="Inter"/>
              </a:rPr>
              <a:t>Wat je nu kunt — semáforo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1554480"/>
            <a:ext cx="6949440" cy="4023360"/>
          </a:xfrm>
          <a:prstGeom prst="roundRect">
            <a:avLst>
              <a:gd name="adj" fmla="val 5500"/>
            </a:avLst>
          </a:prstGeom>
          <a:solidFill>
            <a:srgbClr val="FFFFFF"/>
          </a:solidFill>
          <a:ln w="15240">
            <a:solidFill>
              <a:srgbClr val="E4E3DE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6492240" cy="36576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benoem je een voorwerp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0" i="0">
                <a:solidFill>
                  <a:srgbClr val="20242E"/>
                </a:solidFill>
                <a:latin typeface="Inter"/>
              </a:rPr>
              <a:t>¿Qué es esto? — Esto es un/una ___. Esto son ___.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-o = ♂ (un libro · el boli) · -a = ♀ (una mesa · la silla)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600" b="0" i="0">
                <a:solidFill>
                  <a:srgbClr val="20242E"/>
                </a:solidFill>
                <a:latin typeface="Inter"/>
              </a:rPr>
              <a:t/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400" b="1" i="0">
                <a:solidFill>
                  <a:srgbClr val="A8323B"/>
                </a:solidFill>
                <a:latin typeface="Bricolage Grotesque"/>
              </a:rPr>
              <a:t>Zo zeg je wat er is &amp; waarvoor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hay · no hay · ¿hay…? · sí que hay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… que sirve para + werkwoord (abrir · beber…)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0" i="0">
                <a:solidFill>
                  <a:srgbClr val="20242E"/>
                </a:solidFill>
                <a:latin typeface="Inter"/>
              </a:rPr>
              <a:t>es (één) · son (meer) · hay verandert nooit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680960" y="1554480"/>
            <a:ext cx="4023360" cy="4023360"/>
          </a:xfrm>
          <a:prstGeom prst="roundRect">
            <a:avLst>
              <a:gd name="adj" fmla="val 5500"/>
            </a:avLst>
          </a:prstGeom>
          <a:solidFill>
            <a:srgbClr val="FBEAEC"/>
          </a:solidFill>
          <a:ln w="15240">
            <a:solidFill>
              <a:srgbClr val="D64550"/>
            </a:solidFill>
          </a:ln>
          <a:effectLst>
            <a:outerShdw blurRad="90000" dist="38000" dir="5400000" rotWithShape="0">
              <a:srgbClr val="2024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09560" y="1737360"/>
            <a:ext cx="3566160" cy="45720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A8323B"/>
                </a:solidFill>
                <a:latin typeface="Bricolage Grotesque"/>
              </a:rPr>
              <a:t>Puedo… · Ik kan…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09560" y="233172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een voorwerp benoemen (esto es un/una…)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990088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un/una en el/la juist kiezen (♂/♀)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09560" y="3648456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hay / no hay / sí que hay gebruiken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09560" y="4306824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0" i="0">
                <a:solidFill>
                  <a:srgbClr val="20242E"/>
                </a:solidFill>
                <a:latin typeface="Inter"/>
              </a:rPr>
              <a:t>🟢🟡🔴  </a:t>
            </a:r>
            <a:r>
              <a:rPr sz="1200" b="0" i="0">
                <a:solidFill>
                  <a:srgbClr val="20242E"/>
                </a:solidFill>
                <a:latin typeface="Inter"/>
              </a:rPr>
              <a:t>zeggen waarvoor iets dient (sirve para…)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09560" y="5029200"/>
            <a:ext cx="3566160" cy="640080"/>
          </a:xfrm>
          <a:prstGeom prst="rect">
            <a:avLst/>
          </a:prstGeom>
          <a:noFill/>
        </p:spPr>
        <p:txBody>
          <a:bodyPr wrap="square" anchor="t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200" b="1" i="0">
                <a:solidFill>
                  <a:srgbClr val="A8323B"/>
                </a:solidFill>
                <a:latin typeface="Bricolage Grotesque"/>
              </a:rPr>
              <a:t>🎮 Repasa jugando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0" i="1">
                <a:solidFill>
                  <a:srgbClr val="6A6E78"/>
                </a:solidFill>
                <a:latin typeface="Inter"/>
              </a:rPr>
              <a:t>online op de hub · diccionario de la clase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F3E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565392"/>
            <a:ext cx="54864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1100" b="1" i="0">
                <a:solidFill>
                  <a:srgbClr val="D64550"/>
                </a:solidFill>
                <a:latin typeface="Inter"/>
              </a:rPr>
              <a:t>● </a:t>
            </a:r>
            <a:r>
              <a:rPr sz="950" b="0" i="0">
                <a:solidFill>
                  <a:srgbClr val="6A6E78"/>
                </a:solidFill>
                <a:latin typeface="Inter"/>
              </a:rPr>
              <a:t>U5 · OBJETOS COTIDIANOS   ·   C4 · La Ruta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6565392"/>
            <a:ext cx="306324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00" b="0" i="1">
                <a:solidFill>
                  <a:srgbClr val="6A6E78"/>
                </a:solidFill>
                <a:latin typeface="Inter"/>
              </a:rPr>
              <a:t>Leerlingenversie — klik onthult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75720" y="6565392"/>
            <a:ext cx="4572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r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950" b="1" i="0">
                <a:solidFill>
                  <a:srgbClr val="A8323B"/>
                </a:solidFill>
                <a:latin typeface="Inter"/>
              </a:rPr>
              <a:t>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0242E"/>
      </a:dk2>
      <a:lt2>
        <a:srgbClr val="F3EEE4"/>
      </a:lt2>
      <a:accent1>
        <a:srgbClr val="D64550"/>
      </a:accent1>
      <a:accent2>
        <a:srgbClr val="A8323B"/>
      </a:accent2>
      <a:accent3>
        <a:srgbClr val="C25A63"/>
      </a:accent3>
      <a:accent4>
        <a:srgbClr val="E08A90"/>
      </a:accent4>
      <a:accent5>
        <a:srgbClr val="9D2A33"/>
      </a:accent5>
      <a:accent6>
        <a:srgbClr val="FBEAEC"/>
      </a:accent6>
      <a:hlink>
        <a:srgbClr val="A8323B"/>
      </a:hlink>
      <a:folHlink>
        <a:srgbClr val="D6455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