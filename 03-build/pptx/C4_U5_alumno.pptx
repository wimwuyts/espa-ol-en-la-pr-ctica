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video" Target="https://www.youtube.com/embed/l4Ci-M4wdYA" TargetMode="External"/><Relationship Id="rId4" Type="http://schemas.microsoft.com/office/2007/relationships/media" Target="https://www.youtube.com/embed/l4Ci-M4wdYA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64550"/>
                </a:solidFill>
                <a:latin typeface="Inter"/>
              </a:rPr>
              <a:t>C4 · LA RUTA · EL DESPEGUE · PARADA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Bricolage Grotesque"/>
              </a:rPr>
              <a:t>Objetos cotidianos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07899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Bricolage Grotesque"/>
              </a:rPr>
              <a:t>¿Qué es esto? </a:t>
            </a:r>
            <a:r>
              <a:rPr sz="1700" b="0" i="1">
                <a:solidFill>
                  <a:srgbClr val="FBEAEC"/>
                </a:solidFill>
                <a:latin typeface="Inter"/>
              </a:rPr>
              <a:t>— Esto es un sofá.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51560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Inter"/>
              </a:rPr>
              <a:t>Voorwerpen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benoemen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en zeggen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waarvoor ze dienen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(un/una · hay · sirve para).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BEAEC"/>
                </a:solidFill>
                <a:latin typeface="Inter"/>
              </a:rPr>
              <a:t>Survival in Spanish — identificar objetos y decir para qué sirven.</a:t>
            </a:r>
          </a:p>
        </p:txBody>
      </p:sp>
      <p:pic>
        <p:nvPicPr>
          <p:cNvPr id="9" name="Picture 8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26280"/>
            <a:ext cx="155448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800600"/>
            <a:ext cx="8229600" cy="12801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En esta unidad vas 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Identificar objetos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¿qué es esto? · esto es un/una…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Usar un / una · el / la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un libro (♂) · una mesa (♀)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Decir hay y para qué sirve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hay un vaso que sirve para beber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MENÚ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vamos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gaan we doen? — klik op een tegel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¡Escucha!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escena + chunks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410712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Suena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r · rr · la tilde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318504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Kit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objetos · identificar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226296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Gramática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un/una · hay · sirve para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02920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Práctica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oefenen samen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3410712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Hablar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identifica un objeto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18504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Música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objetos del mundo hispano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9226296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9176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Tarea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Diccionario de la clase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02920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Repaso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wat kun je nu?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Consejo · Tip.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Wijs een voorwerp aan, zeg wat het is en waarvoor het dient. Durf raden — fouten maken hoort erbij.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§1 · ¡ESCUCHA!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Bekijk la escena y escucha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Kijk &amp; luister — Julio toont María su casa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6656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62763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Esto son mis llaves, que sirven para abrir la puerta.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7627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5798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Y esto son dos botellas de vino.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0662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68833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¿Qué es esto?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36976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218688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Esto es un sofá, que sirve para descansar.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6732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749040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Y eso es una televisión. Y un vaso que sirve para beber.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9768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7939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Ahí está la cocina, y ahí está el cuarto de baño.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2803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80974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Y ordenador, ¿hay un ordenador?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35838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34009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No, no hay… Perdóname, sí que hay un ordenador.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417320"/>
            <a:ext cx="4206240" cy="22402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1572768"/>
            <a:ext cx="3749039" cy="2011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Chunks para llevar 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¿qué es esto? · esto es un/una…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esto son… · un libro / una mesa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que sirve para + infinitivo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hay · no hay · ¿hay…? · sí que hay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767328"/>
            <a:ext cx="42062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🎬 Sitcom · Episodio 5 — klik om af te spelen</a:t>
            </a:r>
          </a:p>
        </p:txBody>
      </p:sp>
      <p:pic>
        <p:nvPicPr>
          <p:cNvPr id="29" name="Picture 28" descr="video_poster_U5.png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7498079" y="4069080"/>
            <a:ext cx="4206240" cy="233172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SUENA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r suave · la rr fuerte · la tilde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zachte r, de rollende rr &amp; de klemtoon — luister en spreek 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r suave · tussen klinkers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pero · cara · para · ahora · mira · hora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Tussen klinkers is de r zacht — één tikje van de tong.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rr fuerte · rollende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perro · rojo · guitarra · rosa · arriba · ratón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De rr (en de r aan het begin) is sterk, rollend.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11201400" cy="7772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984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Bricolage Grotesque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pe</a:t>
            </a:r>
            <a:r>
              <a:rPr sz="1300" b="1" i="0">
                <a:solidFill>
                  <a:srgbClr val="A8323B"/>
                </a:solidFill>
                <a:latin typeface="Inter"/>
              </a:rPr>
              <a:t>r</a:t>
            </a:r>
            <a:r>
              <a:rPr sz="1300" b="0" i="0">
                <a:solidFill>
                  <a:srgbClr val="20242E"/>
                </a:solidFill>
                <a:latin typeface="Inter"/>
              </a:rPr>
              <a:t>o (maar) ≠ pe</a:t>
            </a:r>
            <a:r>
              <a:rPr sz="1300" b="1" i="0">
                <a:solidFill>
                  <a:srgbClr val="A8323B"/>
                </a:solidFill>
                <a:latin typeface="Inter"/>
              </a:rPr>
              <a:t>rr</a:t>
            </a:r>
            <a:r>
              <a:rPr sz="1300" b="0" i="0">
                <a:solidFill>
                  <a:srgbClr val="20242E"/>
                </a:solidFill>
                <a:latin typeface="Inter"/>
              </a:rPr>
              <a:t>o (hond) · ca</a:t>
            </a:r>
            <a:r>
              <a:rPr sz="1300" b="1" i="0">
                <a:solidFill>
                  <a:srgbClr val="A8323B"/>
                </a:solidFill>
                <a:latin typeface="Inter"/>
              </a:rPr>
              <a:t>r</a:t>
            </a:r>
            <a:r>
              <a:rPr sz="1300" b="0" i="0">
                <a:solidFill>
                  <a:srgbClr val="20242E"/>
                </a:solidFill>
                <a:latin typeface="Inter"/>
              </a:rPr>
              <a:t>o (duur) ≠ ca</a:t>
            </a:r>
            <a:r>
              <a:rPr sz="1300" b="1" i="0">
                <a:solidFill>
                  <a:srgbClr val="A8323B"/>
                </a:solidFill>
                <a:latin typeface="Inter"/>
              </a:rPr>
              <a:t>rr</a:t>
            </a:r>
            <a:r>
              <a:rPr sz="1300" b="0" i="0">
                <a:solidFill>
                  <a:srgbClr val="20242E"/>
                </a:solidFill>
                <a:latin typeface="Inter"/>
              </a:rPr>
              <a:t>o (kar). De dubbele r verandert de betekenis!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tilde · waarom een accent? — het staat op de sterkste lettergreep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11556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0242E"/>
                </a:solidFill>
                <a:latin typeface="Bricolage Grotesque"/>
              </a:rPr>
              <a:t>so·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FÁ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te·le·vi·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SIÓN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MÚ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·si·ca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🔊 Oefen de klanken online op de hub (tabblad Kit · Suena bien).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Objetos e identificar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voorwerpen &amp; ze benoemen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Objetos de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libro · el cuaderno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boek · schrift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boli · el lápiz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pen · potlood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la mochila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rugzak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la mesa · la silla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tafel · stoel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móvil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gsm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Objetos de casa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sofá · la televisión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bank · tv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la ventana · la puerta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raam · deur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ordenador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computer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las llaves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sleutels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vaso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het glas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Identificar · ¿qué es esto?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¿Qué es esto?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wat is dit?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Esto es un/una…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dit is een…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Esto son…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dit zijn…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un libro · una mesa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boek (♂) · tafel (♀)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/ la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(♂ / ♀)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¿Para qué sirve? · ¿Qué hay?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Waarvoor het dient &amp; wat er 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¿Para qué sirve? · la función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¿Para qué sirve?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waarvoor dient het?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Sirve para + inf.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het dient om te…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para abrir · beber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openen · drinken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para descansar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rusten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para estudiar · mirar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studeren · kijken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¿Qué hay? · la existencia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¿Hay…?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is/zijn er…?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Hay un/una…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er is een…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No hay…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er is geen…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Sí que hay…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jawel, er is…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aquí · ahí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hier · daar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212080"/>
            <a:ext cx="50292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hay verandert nooit · sirve para + hele werkwoord (beber, no bebo).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es esto? · es / son · hay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Iets benoemen, es↔son &amp; hay — functioneel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37360"/>
            <a:ext cx="54864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5029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es (één) · son (meer) · … que sirve para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33172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es 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één ding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Esto es un sofá.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770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son 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meer dingen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Esto son mis llaves.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09544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sirve para 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waarvoor?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…que sirve para descansar.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737360"/>
            <a:ext cx="54864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874519"/>
            <a:ext cx="5029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hay — er is / er zijn · ejemplos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33172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</a:t>
            </a:r>
            <a:r>
              <a:rPr sz="1300" b="1" i="0">
                <a:solidFill>
                  <a:srgbClr val="EA7317"/>
                </a:solidFill>
                <a:latin typeface="Inter"/>
              </a:rPr>
              <a:t>Hay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un ordenador?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715768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No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hay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televisión.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099816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Sí que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hay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un ordenador.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246120"/>
            <a:ext cx="51206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150" b="0" i="1">
                <a:solidFill>
                  <a:srgbClr val="20242E"/>
                </a:solidFill>
                <a:latin typeface="Inter"/>
              </a:rPr>
              <a:t>hay verandert nooit — voor één én voor meer.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977639"/>
            <a:ext cx="11201400" cy="15544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Completa · vul aan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Esto ___ un sofá.  Esto ___ mis llaves.  ¿___ un ordenador?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709160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es · son · hay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un / una · el / la — género ♂/♀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Elk voorwerp is ♂ of ♀ — un/una en el/la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E8F0FE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02920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40AF"/>
                </a:solidFill>
                <a:latin typeface="Bricolage Grotesque"/>
              </a:rPr>
              <a:t>♂ masculino — meestal -o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E40AF"/>
                </a:solidFill>
                <a:latin typeface="Inter"/>
              </a:rPr>
              <a:t>un libro · un vaso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40AF"/>
                </a:solidFill>
                <a:latin typeface="Inter"/>
              </a:rPr>
              <a:t>el boli · el ordenador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FCE7F0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502920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D174D"/>
                </a:solidFill>
                <a:latin typeface="Bricolage Grotesque"/>
              </a:rPr>
              <a:t>♀ femenino — meestal -a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9D174D"/>
                </a:solidFill>
                <a:latin typeface="Inter"/>
              </a:rPr>
              <a:t>una mesa · una silla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D174D"/>
                </a:solidFill>
                <a:latin typeface="Inter"/>
              </a:rPr>
              <a:t>la ventana · la mochila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40480"/>
            <a:ext cx="11201400" cy="1645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1069848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un/una = een  ·  el/la = de  ·  las excepciones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Onbepaald: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un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libro ·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una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mesa. Bepaald: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el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boli ·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la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ventana.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uitzonderingen leer je er gewoon bij: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el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sofá ·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la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televisión ·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el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día ·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la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mano.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diálogo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samen aan — klik voor de oplossing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¿Qué es esto?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Esto ___ ___ sofá. ___ para descansar.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¿Y esto? — Esto ___ mis llaves.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¿___ un ordenador? — Sí, sí que hay.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73736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1. 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2. un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3. Sirve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4. son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5. Hay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9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18" name="Rounded Rectangle 1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HABLAR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Identifica un objeto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Wijs een voorwerp aan, benoem het &amp; zeg waarvoor het dient — sin leer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649224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Modelo · zeg dit hardop: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«— Esto es un boli,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que sirve para escribir.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— Esto son mis llaves,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que sirven para abrir la puerta.»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54480"/>
            <a:ext cx="402336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56616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¿Cómo? · Werkvorm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Kies een voorwerp (klas of thuis).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Identifica: «Esto es un/una… (♂/♀)».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Función: «que sirve para + werkwoord».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Wissel van rol (3×).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Interactie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= beurt nemen, aanwijzen en reageren. Begrijp je iets niet? Zeg: «¿Cómo? / Otra vez, por favor.»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CULTURA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Objetos del mundo hispano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Typische voorwerpen + muziek die jullie kennen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Perla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Shakira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Antología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Juanes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Camisa Negra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Aitana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Los Ángeles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Luis Fonsi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Despacito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🇵🇷 P. Rico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TKN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66360"/>
            <a:ext cx="1069848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🎸 Objetos típicos del mundo hispano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(la guitarra española · el mate argentino · la piñata mexicana · la hamaca del Caribe). La playlist + LyricsTraining op de digitale hub → tabblad Música.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§5 · TAREA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Diccionario de la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Teken &amp; benoem 5 voorwerpen + hun functie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5486400" cy="50292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DICCIONARIO · noteer je frames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22860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✏️ Esto es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 (un/una) ____.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🔧 Sirve para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 (abrir · beber…).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📕 Esto es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____. Sirve para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5029200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Los pasos · stappen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Elige 5 objetos (klas of thuis).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Dibuja e identifica: «Esto es un/una…»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¿Para qué sirve? «Sirve para + werkwoord».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Preséntalo a la clase — zónder af te lezen.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🏁 Klaar als…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je 5 voorwerpen benoemt met «esto es un/una…» (juiste ♂/♀) en per voorwerp «sirve para + werkwoord» zegt — zónder af te lezen.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Mis funciones comunicativas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Lo que ya sé hacer — crece cada unidad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Mi repertorio: 12 / 12 funciones — </a:t>
            </a:r>
            <a:r>
              <a:rPr sz="1200" b="0" i="0">
                <a:solidFill>
                  <a:srgbClr val="6A6E78"/>
                </a:solidFill>
                <a:latin typeface="Inter"/>
              </a:rPr>
              <a:t>no solo palabras: lo que puedo HACER con el español.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74650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Saludar y despedirse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35911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Hola · Adiós · Hasta luego · Buenos días / tardes / noches · ¡Buenas! · Hasta mañana · ¡Nos vemos!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74650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Presentarse y presentar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035911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Me llamo… · (Yo) soy… · Encantado/a · Soy de… (país) · Soy español/a · mexicano/a · belga · Esta es mi madre · Este es mi padre · Es mi hermano/a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53640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535936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Pedir y dar información personal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825343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¿Cómo te llamas? · ¿Y tú? · ¿De dónde eres? · ¿De qué país? · ¿Qué idiomas hablas?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453640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535936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Reaccionar con cortesía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825343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Por favor · Gracias · Muchas gracias · De nada · Perdona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243072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325368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Preguntar y decir cómo estoy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3614775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¿Qué tal? · ¿Cómo estás? · Estoy bien / cansado-a / ocupado-a · Regular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243072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325368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Pedir algo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3614775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…, por favor · ¿Me da…?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032504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114800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Contar (números 0–20)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404207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uno · dos · tres · cinco · diez · veinte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032504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4114800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Gestionar la comprensión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4404207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¿Cómo? · Otra vez, por favor · ¿Puedes repetir? · Más despacio, por favor · No entiendo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821936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904232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Hablar de la familia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5193639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mi madre · mi padre · mi hermano/a · mi abuelo/a · el tío / la tía · la hermana de María (de + nombre)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821936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4904232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Describir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5193639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es alto/a · bajo/a · guapo/a · es simpático/a · divertido/a · inteligente · es muy… · un poco…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611368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569366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Identificar objetos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" y="5983071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¿Qué es esto? · Esto es un/una… · Esto son… (meervoud) · un libro · una mesa (el/la)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5611368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4808" y="569366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Decir qué hay y para qué sirve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8" y="5983071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¿Hay…? · (No) hay… · Sí que hay… · … que sirve para + infinitivo · sirve para abrir · beber · descansar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je nu kunt — semáforo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4023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6492240" cy="3657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benoem je een voorwerp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¿Qué es esto? — Esto es un/una ___. Esto son ___.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-o = ♂ (un libro · el boli) · -a = ♀ (una mesa · la silla)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zeg je wat er is &amp; waarvoor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hay · no hay · ¿hay…? · sí que hay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… que sirve para + werkwoord (abrir · beber…)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 (één) · son (meer) · hay verandert nooit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554480"/>
            <a:ext cx="4023360" cy="40233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Puedo… · Ik kan…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33172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een voorwerp benoemen (esto es un/una…)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8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un/una en el/la juist kiezen (♂/♀)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648456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hay / no hay / sí que hay gebruiken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306824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zeggen waarvoor iets dient (sirve para…)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50292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🎮 Repasa jugando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online op de hub · diccionario de la clase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