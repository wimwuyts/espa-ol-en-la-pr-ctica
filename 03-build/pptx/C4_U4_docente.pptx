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Functioneel: enkel de vaste vormen mi / tu / su (herkennen &amp; gebruiken). Géén volledig possessief-systeem (nuestro, vuestro, plural) — dat is C5. Kern: mi/tu blijven gelijk (geen -o/-a): mi madre én mi padre. Alternatief: de + naam (la hermana de María).</a:t>
            </a:r>
          </a:p>
          <a:p/>
          <a:p>
            <a:r>
              <a:t>— SOLUCIÓN (docent · presenter view) —</a:t>
            </a:r>
          </a:p>
          <a:p>
            <a:r>
              <a:t>mi · tu · su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leerlingen eerst zelf proberen (in duo). Klik daarna de oplossing open. Let op: ser (es) om te beschrijven, de concordancia ♂/♀ (simpático/simpática, alto/alta) en mi/tu (mi hermana, mi hermano).</a:t>
            </a:r>
          </a:p>
          <a:p/>
          <a:p>
            <a:r>
              <a:t>— SOLUCIÓN (docent · presenter view) —</a:t>
            </a:r>
          </a:p>
          <a:p>
            <a:r>
              <a:t>1. Es</a:t>
            </a:r>
          </a:p>
          <a:p>
            <a:r>
              <a:t>2. simpática (♀)</a:t>
            </a:r>
          </a:p>
          <a:p>
            <a:r>
              <a:t>3. mi</a:t>
            </a:r>
          </a:p>
          <a:p>
            <a:r>
              <a:t>4. alto (♂)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video" Target="https://www.youtube.com/embed/guCpaHfy7VQ" TargetMode="External"/><Relationship Id="rId4" Type="http://schemas.microsoft.com/office/2007/relationships/media" Target="https://www.youtube.com/embed/guCpaHfy7VQ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32314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64550"/>
                </a:solidFill>
                <a:latin typeface="Inter"/>
              </a:rPr>
              <a:t>C4 · LA RUTA · EL DESPEGUE · PARADA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Bricolage Grotesque"/>
              </a:rPr>
              <a:t>La familia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07899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Bricolage Grotesque"/>
              </a:rPr>
              <a:t>Esta es mi madre. </a:t>
            </a:r>
            <a:r>
              <a:rPr sz="1700" b="0" i="1">
                <a:solidFill>
                  <a:srgbClr val="FBEAEC"/>
                </a:solidFill>
                <a:latin typeface="Inter"/>
              </a:rPr>
              <a:t>Es muy elegante.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51560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Inter"/>
              </a:rPr>
              <a:t>Je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familie voorstellen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en mensen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beschrijven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(het uiterlijk &amp; het karakter).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FBEAEC"/>
                </a:solidFill>
                <a:latin typeface="Inter"/>
              </a:rPr>
              <a:t>Survival in Spanish — presentar y describir a las personas.</a:t>
            </a:r>
          </a:p>
        </p:txBody>
      </p:sp>
      <p:pic>
        <p:nvPicPr>
          <p:cNvPr id="9" name="Picture 8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26280"/>
            <a:ext cx="155448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800600"/>
            <a:ext cx="8229600" cy="12801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En esta unidad vas 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Presentar a tu familia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esta es mi madre · se llama…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Describir a alguien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es alto/a · guapo/a · simpático/a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Graduar con muy / un poco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muy guapa · un poco tímido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MENÚ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vamos a hacer?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gaan we doen? — klik op een tegel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502920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¡Escucha!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escena + chunks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3410712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Suena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ll · y (yeísmo) · llana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6318504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Kit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familia · describir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226296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Gramática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mi/tu · ser + adjetivo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502920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Práctica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oefenen samen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3410712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Hablar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presenta a un familiar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6318504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Música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familia hispana</a:t>
            </a:r>
          </a:p>
        </p:txBody>
      </p:sp>
      <p:sp>
        <p:nvSpPr>
          <p:cNvPr id="29" name="Rounded Rectangle 28">
            <a:hlinkClick action="ppaction://hlinksldjump" r:id="rId9"/>
          </p:cNvPr>
          <p:cNvSpPr/>
          <p:nvPr/>
        </p:nvSpPr>
        <p:spPr>
          <a:xfrm>
            <a:off x="9226296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9176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Tarea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Mi árbol de familia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02920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Repaso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wat kun je nu?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Consejo · Tip.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Luister eerst, spreek na, en durf zelf te beschrijven. Fouten maken hoort erbij.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§1 · ¡ESCUCHA!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Bekijk la escena y escucha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Kijk &amp; luister — una madre toont el álbum de fotos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76656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62763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¿Es un chico? ¿Y es simpático?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7627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Madre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5798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Esta es mi madre, la abuela de María.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0662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Madre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68833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 muy elegante, pero un poco gorda.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36976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218688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María es una chica muy delgada y muy guapa.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6732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Madre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749040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El tío Fermín es el guapo de la familia.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9768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Madre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27939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 muy alto y muy fuerte.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2803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Madre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80974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Paula es la hermana de María.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35838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Madre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34009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Vive en Londres. ¡Divertida, amable…!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417320"/>
            <a:ext cx="4206240" cy="22402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1572768"/>
            <a:ext cx="3749039" cy="2011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Chunks para llevar 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familia · mi madre / mi padre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esta es… · es la hermana de…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 alto · guapo · simpático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muy… · un poco…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767328"/>
            <a:ext cx="42062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🎬 Sitcom · Episodio 4 — klik om af te spelen</a:t>
            </a:r>
          </a:p>
        </p:txBody>
      </p:sp>
      <p:pic>
        <p:nvPicPr>
          <p:cNvPr id="29" name="Picture 28" descr="video_poster_U4.png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7498079" y="4069080"/>
            <a:ext cx="4206240" cy="233172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SUENA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ll · la y (yeísmo) · el acento llano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ll, de y &amp; de klemtoon — luister en spreek 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elle · ll — de klank van «calle»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calle · llave · apellido · ella · silla · llamar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Klinkt in de meeste landen als de NL «j» in «ja»: ca-je.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i griega · y — el yeísmo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yo · ya · playa · mayo · desayuno · leyenda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De y klinkt nét als de ll (dat heet yeísmo): «yo» ≈ «jo».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11201400" cy="7772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6984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Bricolage Grotesque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«ll» is één letter/klank, niet twee l's: ca</a:t>
            </a:r>
            <a:r>
              <a:rPr sz="1300" b="1" i="0">
                <a:solidFill>
                  <a:srgbClr val="A8323B"/>
                </a:solidFill>
                <a:latin typeface="Inter"/>
              </a:rPr>
              <a:t>ll</a:t>
            </a:r>
            <a:r>
              <a:rPr sz="1300" b="0" i="0">
                <a:solidFill>
                  <a:srgbClr val="20242E"/>
                </a:solidFill>
                <a:latin typeface="Inter"/>
              </a:rPr>
              <a:t>e,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ll</a:t>
            </a:r>
            <a:r>
              <a:rPr sz="1300" b="0" i="0">
                <a:solidFill>
                  <a:srgbClr val="20242E"/>
                </a:solidFill>
                <a:latin typeface="Inter"/>
              </a:rPr>
              <a:t>ave, ape</a:t>
            </a:r>
            <a:r>
              <a:rPr sz="1300" b="1" i="0">
                <a:solidFill>
                  <a:srgbClr val="A8323B"/>
                </a:solidFill>
                <a:latin typeface="Inter"/>
              </a:rPr>
              <a:t>ll</a:t>
            </a:r>
            <a:r>
              <a:rPr sz="1300" b="0" i="0">
                <a:solidFill>
                  <a:srgbClr val="20242E"/>
                </a:solidFill>
                <a:latin typeface="Inter"/>
              </a:rPr>
              <a:t>ido. En de y klinkt nét zo (yeísmo).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El acento llano · de meeste woorden — klemtoon op de voorlaatste lettergreep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11556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64550"/>
                </a:solidFill>
                <a:latin typeface="Bricolage Grotesque"/>
              </a:rPr>
              <a:t>MA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·dre      her·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MA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·no      a·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BUE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·la      e·le·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GAN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🔊 Oefen de klanken online op de hub (tabblad Kit · Suena bien).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familia y presentar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gezinsleden &amp; iemand voorstellen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La familia · miembros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la madre · el padre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moeder · vader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hermano · la hermana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broer · zus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abuelo · la abuela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opa · oma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tío · la tía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oom · tante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hijo · la hija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zoon · dochter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Presentar a alguien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Esta es mi madre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dit is mijn moeder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Este es mi padre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dit is mijn vader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Es mi hermano/a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mijn broer/zus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Se llama…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hij/zij heet…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Es la hermana de María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zus van María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¿Dónde vive?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¿Dónde vives?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waar woon je?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Vivo en…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woon in…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Vive en Londres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woont in Londen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en la calle…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in de straat…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¿Y tú?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en jij?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Describir · el físico y el carácter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Beschrijven: het uiterlijk &amp; het karakter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El físico · el aspecto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 alto/a · bajo/a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lang · klein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 guapo/a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knap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 delgado/a · gordo/a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slank · mollig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 fuerte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sterk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tiene el pelo largo/corto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lang/kort haar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El carácter · la personalidad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 simpático/a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aardig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 divertido/a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grappig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 amable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vriendelijk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 inteligente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intelligent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 elegante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elegant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212080"/>
            <a:ext cx="50292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muy = heel · un poco = een beetje. Beschrijven = ser (es).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· tu · su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Van wie is het? De posesivos — functioneel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737360"/>
            <a:ext cx="548640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74519"/>
            <a:ext cx="5029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mi · tu · su — van wie is het familielid?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33172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mi 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mijn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mi madre · mi hermano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770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tu 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jouw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¿Y tu familia?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209544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su 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zijn/haar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su padre (de él/ella)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737360"/>
            <a:ext cx="548640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874519"/>
            <a:ext cx="5029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de + naam · ejemplos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33172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Esta es </a:t>
            </a:r>
            <a:r>
              <a:rPr sz="1300" b="1" i="0">
                <a:solidFill>
                  <a:srgbClr val="2563EB"/>
                </a:solidFill>
                <a:latin typeface="Inter"/>
              </a:rPr>
              <a:t>mi madre.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715768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la hermana </a:t>
            </a:r>
            <a:r>
              <a:rPr sz="1300" b="1" i="0">
                <a:solidFill>
                  <a:srgbClr val="2563EB"/>
                </a:solidFill>
                <a:latin typeface="Inter"/>
              </a:rPr>
              <a:t>de María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099816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¿Y </a:t>
            </a:r>
            <a:r>
              <a:rPr sz="1300" b="1" i="0">
                <a:solidFill>
                  <a:srgbClr val="2563EB"/>
                </a:solidFill>
                <a:latin typeface="Inter"/>
              </a:rPr>
              <a:t>tu familia?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246120"/>
            <a:ext cx="51206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150" b="0" i="1">
                <a:solidFill>
                  <a:srgbClr val="20242E"/>
                </a:solidFill>
                <a:latin typeface="Inter"/>
              </a:rPr>
              <a:t>mi/tu blijven gelijk: mi madre én mi padre.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977639"/>
            <a:ext cx="11201400" cy="15544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Completa · vul aan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Esta es ___ madre (van mij).  ¿Y ___ familia? (van jou)  ___ padre (van hem).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709160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mi · tu · su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 + adjetivo ♂/♀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Iemand beschrijven: het adjectief past zich aan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E8F0FE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029200" cy="1828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40AF"/>
                </a:solidFill>
                <a:latin typeface="Bricolage Grotesque"/>
              </a:rPr>
              <a:t>♂ Un chico es…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E40AF"/>
                </a:solidFill>
                <a:latin typeface="Inter"/>
              </a:rPr>
              <a:t>alto · guapo · delgado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40AF"/>
                </a:solidFill>
                <a:latin typeface="Inter"/>
              </a:rPr>
              <a:t>simpático · divertido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FCE7F0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5029200" cy="1828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D174D"/>
                </a:solidFill>
                <a:latin typeface="Bricolage Grotesque"/>
              </a:rPr>
              <a:t>♀ Una chica es…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9D174D"/>
                </a:solidFill>
                <a:latin typeface="Inter"/>
              </a:rPr>
              <a:t>alta · guapa · delgada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D174D"/>
                </a:solidFill>
                <a:latin typeface="Inter"/>
              </a:rPr>
              <a:t>simpática · divertida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40480"/>
            <a:ext cx="11201400" cy="1645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1069848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Op -e blijft gelijk (♂ = ♀)  ·  muy / un poco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Eindigt op -e → gelijk voor ♂ én ♀: </a:t>
            </a:r>
            <a:r>
              <a:rPr sz="1300" b="1" i="0">
                <a:solidFill>
                  <a:srgbClr val="2563EB"/>
                </a:solidFill>
                <a:latin typeface="Inter"/>
              </a:rPr>
              <a:t>amable · inteligente · elegante · fuerte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Beschrijven =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ser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(es guapa), niet estar. </a:t>
            </a:r>
            <a:r>
              <a:rPr sz="1300" b="1" i="0">
                <a:solidFill>
                  <a:srgbClr val="20242E"/>
                </a:solidFill>
                <a:latin typeface="Inter"/>
              </a:rPr>
              <a:t>muy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= heel · </a:t>
            </a:r>
            <a:r>
              <a:rPr sz="1300" b="1" i="0">
                <a:solidFill>
                  <a:srgbClr val="20242E"/>
                </a:solidFill>
                <a:latin typeface="Inter"/>
              </a:rPr>
              <a:t>un poco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= een beetje (muy alta · un poco gorda).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la descripción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samen aan — klik voor de oplossing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¿Quién es esta chica?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___ mi hermana. Es muy simpátic__.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¿Y este chico?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Es ___ hermano. Es alt__ y un poco tímido.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737360"/>
            <a:ext cx="4023360" cy="3657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1. 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2. simpática (♀)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3. mi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4. alto (♂)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9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HABLAR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Presenta a un familiar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Stel een familielid voor &amp; beschrijf hem/haar — sin leer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649224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Modelo · zeg dit hardop: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«— Esta es mi madre.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— Se llama Ana. Es muy simpática.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— Es alta y un poco tímida.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Vive en Sevilla.»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54480"/>
            <a:ext cx="402336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56616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¿Cómo? · Werkvorm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Kies een familielid (echt of fantasie).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Presenta: «Esta/Este es mi… Se llama…»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Describe: 2 adjectieven (♂/♀ + muy/un poco).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Wissel van rol (3×).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Interactie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= beurt nemen, luisteren en reageren. Begrijp je iets niet? Zeg: «¿Cómo? / Otra vez, por favor.»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CULTURA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familia en el mundo hispano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Grote, warme families + muziek die jullie kennen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Perla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Shakira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Antología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Juanes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Camisa Negra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Aitana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Los Ángeles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Luis Fonsi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Despacito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🇵🇷 P. Rico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TKN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66360"/>
            <a:ext cx="1069848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👨‍👩‍👧‍👦 La familia es grande y cercana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(la sobremesa = lang napraten aan tafel · dos apellidos · Frida Kahlo schilderde haar stamboom). La playlist + LyricsTraining op de digitale hub → tabblad Música.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§5 · TAREA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árbol de familia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Stel 4 familieleden voor &amp; beschrijf 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5486400" cy="50292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MI ÁRBOL · noteer je frames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22860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👩 Esta es mi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____. Se llama ____. Es ____.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👨 Este es mi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____. Es ____ y ____.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🧑 Est_ es mi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____. Es muy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5029200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Los pasos · stappen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Dibuja el árbol: 4 personen (madre, padre…).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Presenta a cada uno: «Est_ es mi… Se llama…»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Describe: 2 adjectieven (♂/♀ + muy/un poco).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Preséntalo a la clase — zónder af te lezen.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🏁 Klaar als…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je 4 familieleden voorstelt met «est_ es mi…», elk met 2 adjectieven (juiste ♂/♀ + muy/un poco), en de stamboom aanwijst — zónder af te lezen.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Mis funciones comunicativas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Lo que ya sé hacer — crece cada unidad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1556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Mi repertorio: 10 / 10 funciones — </a:t>
            </a:r>
            <a:r>
              <a:rPr sz="1200" b="0" i="0">
                <a:solidFill>
                  <a:srgbClr val="6A6E78"/>
                </a:solidFill>
                <a:latin typeface="Inter"/>
              </a:rPr>
              <a:t>no solo palabras: lo que puedo HACER con el español.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801368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Saludar y despedirse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94560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Hola · Adiós · Hasta luego · Buenos días / tardes / noches · ¡Buenas! · Hasta mañana · ¡Nos vemos!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91640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801368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Presentarse y presentar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▲ nivel+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194560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Me llamo… · (Yo) soy… · Encantado/a · Soy de… (país) · Soy español/a · mexicano/a · belga · Esta es mi madre · Este es mi padre · Es mi hermano/a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98648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008376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Pedir y dar información personal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401568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¿Cómo te llamas? · ¿Y tú? · ¿De dónde eres? · ¿De qué país? · ¿Qué idiomas hablas?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898648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3008376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Reaccionar con cortesía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3401568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Por favor · Gracias · Muchas gracias · De nada · Perdona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05656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21538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Preguntar y decir cómo estoy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4608576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¿Qué tal? · ¿Cómo estás? · Estoy bien / cansado-a / ocupado-a · Regular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105656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21538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Pedir algo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4608576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…, por favor · ¿Me da…?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312664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5422392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Contar (números 0–20)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5815584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uno · dos · tres · cinco · diez · veinte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5312664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5422392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Gestionar la comprensión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5815584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¿Cómo? · Otra vez, por favor · ¿Puedes repetir? · Más despacio, por favor · No entiendo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519672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6629400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Hablar de la familia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7022592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mi madre · mi padre · mi hermano/a · mi abuelo/a · el tío / la tía · la hermana de María (de + nombre)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6519672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6629400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Describir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7022592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es alto/a · bajo/a · guapo/a · es simpático/a · divertido/a · inteligente · es muy… · un poco…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je nu kunt — semáforo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949440" cy="4023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6492240" cy="3657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stel je iemand voor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Esta/Este es mi ___ (madre/padre…). Se llama ___.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mi = van mij · tu = van jou · de + naam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beschrijf je iemand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 alto/alta · guapo/guapa · simpático/a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-o = ♂ · -a = ♀  |  -e blijft gelijk (amable)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muy = heel · un poco = een beetje · ser (es)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554480"/>
            <a:ext cx="4023360" cy="40233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Puedo… · Ik kan…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33172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mijn familie voorstellen (est_ es mi…)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8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iemand beschrijven (ser + adjetivo, ♂/♀)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648456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mi/tu en muy/un poco juist gebruiken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306824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de familieleden benoemen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50292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🎮 Repasa jugando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online op de hub · árbol de familia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Bricolage Grotesque"/>
              </a:rPr>
              <a:t>Docentendossier · Unidad 4 «La familia»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Timing (2 lesuren van 50 min).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AE3"/>
                </a:solidFill>
                <a:latin typeface="Inter"/>
              </a:rPr>
              <a:t>Les 1: Escucha (sitcom ep. 4 · id guCpaHfy7VQ, el álbum de fotos) + Suena bien (ll · y/yeísmo · acento llano) + Kit (la familia · presentar · describir). Les 2: gramática functioneel (mi/tu · ser+adjetivo ♂/♀ · muy/un poco), hablar «presenta a un familiar», tarea «Mi árbol de familia» + música.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Aanpak C4 (survival).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AE3"/>
                </a:solidFill>
                <a:latin typeface="Inter"/>
              </a:rPr>
              <a:t>Chunks komen auditief binnen (luisteren → naspreken). mi/tu en ser+adjetivo enkel functioneel (vaste vormen, herkennen &amp; gebruiken), géén volledig possessief-/adjectiefsysteem — dat is C5. Recycle uit U3: concordancia -o/-a (nu op adjetivos). Kernvalstrik: beschrijven = ser (es), niet estar; -e blijft gelijk (amable). Doelcodes: C4-SP-1/2 · C4-WS-1 · C4-MEC-1/2 · C4-STR-1 · C4-CU-1.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Evaluatie.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AE3"/>
                </a:solidFill>
                <a:latin typeface="Inter"/>
              </a:rPr>
              <a:t>Mondelinge mini-taak («Mi árbol de familia»: 4 personen voorstellen + beschrijven met país nvt, ser+adjetivo ♂/♀ + muy/un poco) + herkennen miembro/adjetivo. Geen leerplan → focus op «kunnen gebruiken in de praktijk».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A6A29A"/>
                </a:solidFill>
                <a:latin typeface="Inter"/>
              </a:rPr>
              <a:t>Oplossingen staan bij elke oefendia in de presenter-notities; antwoorden verschijnen bij klik.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