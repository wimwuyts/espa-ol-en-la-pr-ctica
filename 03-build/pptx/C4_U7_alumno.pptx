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video" Target="https://www.youtube.com/embed/_636fQfHIa4" TargetMode="External"/><Relationship Id="rId4" Type="http://schemas.microsoft.com/office/2007/relationships/media" Target="https://www.youtube.com/embed/_636fQfHIa4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ricolage Grotesque"/>
              </a:rPr>
              <a:t>Las profesiones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07899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¿A qué te dedicas? </a:t>
            </a:r>
            <a:r>
              <a:rPr sz="1700" b="0" i="1">
                <a:solidFill>
                  <a:srgbClr val="FBEAEC"/>
                </a:solidFill>
                <a:latin typeface="Inter"/>
              </a:rPr>
              <a:t>— Soy profesora.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Inter"/>
              </a:rPr>
              <a:t>Naar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werk vragen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en je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beroep zeggen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(ser + profesión · trabajo en… · ser ↔ estar).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hablar del trabajo y adivinar como Josefina.</a:t>
            </a:r>
          </a:p>
        </p:txBody>
      </p:sp>
      <p:pic>
        <p:nvPicPr>
          <p:cNvPr id="9" name="Picture 8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800600"/>
            <a:ext cx="8229600" cy="12801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Preguntar por el trabajo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¿a qué te dedicas? · ¿en qué trabajas? · ¿dónde trabajas?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tu profesión + trabajo-chunks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soy profesor/a (zonder un/una) · trabajo en una tienda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Usar ser ↔ estar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es profesora (wie/wat) · está tranquila (toestand)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escena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Suena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c/qu = /k/ · esdrújula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profesiones · lugares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ser + profesión · ser/estar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¿quién soy? · adivina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Música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el trabajo en el mundo hispano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¿Quién soy? · adivina la profesión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02920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Gis zoals waarzegster Josefina: «¿puede ser…?». Durf raden — fouten maken hoort erbij.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Josefina «leest» de kaarten en gist María's beroep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2763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Yo trabajo aquí, tú trabajas aquí y él trabaja aquí.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1226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09397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Está todo bien. Yo estoy bien. Él está bien. Estamos todos bien.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578608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560320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Yo os veo… No estáis bien.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44952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Josefina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02666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Silencio. Hay una mujer. Puede ser escritora.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11296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493008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No, no es escritora.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7764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Josefina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95935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¿Dependienta? ¿Trabaja en una tienda? ¡Ya lo sé! Es una actriz.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4398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42569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Si es la que creo, es profesora.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10328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Josefina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892040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 María, la nueva. Tú no estás bien, estás muy mal.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376672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35838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Si tú estás tranquila, yo estoy tranquilo. ¡Qué tranquilidad!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1417320"/>
            <a:ext cx="4206240" cy="22402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1572768"/>
            <a:ext cx="3749039" cy="2011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¿a qué te dedicas? · ¿en qué trabajas?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soy profesor/a · es profesora · puede ser…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trabajo en una tienda · la academia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estamos todos bien · ¿estáis bien?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767328"/>
            <a:ext cx="42062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🎬 Sitcom · Episodio 7 — klik om af te spelen</a:t>
            </a:r>
          </a:p>
        </p:txBody>
      </p:sp>
      <p:pic>
        <p:nvPicPr>
          <p:cNvPr id="31" name="Picture 30" descr="video_poster_U7.png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7498079" y="4069080"/>
            <a:ext cx="4206240" cy="23317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SUENA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 + a/o/u = /k/ · qu + e/i = /k/ · la esdrújula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/k/-klank (met stille u!) &amp; de klemtoon op de 3de lettergreep van achter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c + a/o/u = /k/ · la c fuerte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casa · cocina · médico · actriz · carta · tranquilo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vóór a, o, u klinkt de c als /k/ (vergelijk: cine /θ/ · U3).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qu + e/i = /k/ · de stille 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queso = «ke-so» · ¿quién? = «kjen» · aquí · pequeño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vóór e en i schrijf je qu — de u hoor je NIET.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201400" cy="7772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Bricolage Grotesque"/>
              </a:rPr>
              <a:t>¡Ojo!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que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= «ke» (niet «kwe»!) ·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qui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= «ki». Vergelijk: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c</a:t>
            </a:r>
            <a:r>
              <a:rPr sz="1300" b="0" i="0">
                <a:solidFill>
                  <a:srgbClr val="20242E"/>
                </a:solidFill>
                <a:latin typeface="Inter"/>
              </a:rPr>
              <a:t>asa /k/ maar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c</a:t>
            </a:r>
            <a:r>
              <a:rPr sz="1300" b="0" i="0">
                <a:solidFill>
                  <a:srgbClr val="20242E"/>
                </a:solidFill>
                <a:latin typeface="Inter"/>
              </a:rPr>
              <a:t>ine /θ/ — dáárom bestaat qu!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esdrújula · klemtoon op de 3de lettergreep van achter — áltijd een accent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1556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64550"/>
                </a:solidFill>
                <a:latin typeface="Bricolage Grotesque"/>
              </a:rPr>
              <a:t>MÉ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·di·co      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MÚ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·si·ca      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SÁ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·ba·do      te·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LÉ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·fo·no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🔊 Oefen de klanken online op de hub (tabblad Kit · Suena bien).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Las profesiones · los lugares de trabajo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beroepen (♂/♀), de werkplekken &amp; naar werk vragen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Las profesiones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el profesor · la profesora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leraar/lerares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el escritor · la escritora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schrijver/-ster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el actor · la actriz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acteur · actrice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el dependiente · la dependienta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winkelbediende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el/la estudiante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student(e)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el médico · la médica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de dokter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Los lugares de trabajo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la academia · la escuela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de (taal)school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la tienda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de winkel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la oficina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het kantoor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el hospital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het ziekenhuis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el teatro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het theater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Preguntar por el trabajo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¿A qué te dedicas?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wat doe je (voor werk)?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¿En qué trabajas?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waarin werk je?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¿Dónde trabajas?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waar werk je?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0242E"/>
                </a:solidFill>
                <a:latin typeface="Inter"/>
              </a:rPr>
              <a:t>¿Trabaja en una tienda?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werkt hij/zij in een winkel?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Decir el trabajo &amp; ¿cómo estamos?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Je beroep zeggen &amp; zeggen hoe het met iedereen gaat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Decir el trabajo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Soy profesor/a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 leraar/lerares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Soy estudiante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 student(e)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Trabajo en una oficina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werk op een kantoor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yo trabajo · tú trabajas · él trabaja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· jij · hij werk(t)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¿A qué te dedicas?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wat doe je (voor werk)?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¿Cómo estamos? · estar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Estoy bien · tranquilo/a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 oké · rustig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Estamos todos bien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we zijn allemaal oké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¿Estáis bien?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zijn jullie oké?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Estás muy mal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jij bent er erg aan toe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¡Qué tranquilidad!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wat een rust!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212080"/>
            <a:ext cx="50292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soy profesora — zónder un/una · actor → actriz · el/la estudiante blijft gelijk.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ser + profesión · trabajo en…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Je beroep zeggen zonder un/una + de trabajo-chunks uit de scène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6949440" cy="37490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ser + profesión — zónder un/una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331720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Soy profesora.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ik ben lerares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niet: soy una profesora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788920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Es escritor.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hij is schrijver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¿Es actriz? — No, es profesora.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46120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Soy estudiante.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ik ben student(e)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  el/la estudiante (blijft gelijk)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94760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♂ / ♀ 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profesor/profesora · escritor/escritora · dependiente/dependienta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actor → </a:t>
            </a:r>
            <a:r>
              <a:rPr sz="1250" b="1" i="0">
                <a:solidFill>
                  <a:srgbClr val="2563EB"/>
                </a:solidFill>
                <a:latin typeface="Inter"/>
              </a:rPr>
              <a:t>actriz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 ·  el/la estudiante blijft gelijk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006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150" b="0" i="1">
                <a:solidFill>
                  <a:srgbClr val="20242E"/>
                </a:solidFill>
                <a:latin typeface="Inter"/>
              </a:rPr>
              <a:t>nooit «soy una profesora» — beroep = zonder lidwoord.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1737360"/>
            <a:ext cx="4023360" cy="374903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1874519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trabajo · trabajas · trabaja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2377440"/>
            <a:ext cx="3566160" cy="21945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563EB"/>
                </a:solidFill>
                <a:latin typeface="Inter"/>
              </a:rPr>
              <a:t>(yo) </a:t>
            </a:r>
            <a:r>
              <a:rPr sz="1400" b="1" i="0">
                <a:solidFill>
                  <a:srgbClr val="EA7317"/>
                </a:solidFill>
                <a:latin typeface="Inter"/>
              </a:rPr>
              <a:t>trabajo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ik werk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563EB"/>
                </a:solidFill>
                <a:latin typeface="Inter"/>
              </a:rPr>
              <a:t>(tú) </a:t>
            </a:r>
            <a:r>
              <a:rPr sz="1400" b="1" i="0">
                <a:solidFill>
                  <a:srgbClr val="EA7317"/>
                </a:solidFill>
                <a:latin typeface="Inter"/>
              </a:rPr>
              <a:t>trabajas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jij werkt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563EB"/>
                </a:solidFill>
                <a:latin typeface="Inter"/>
              </a:rPr>
              <a:t>(él/ella) </a:t>
            </a:r>
            <a:r>
              <a:rPr sz="1400" b="1" i="0">
                <a:solidFill>
                  <a:srgbClr val="EA7317"/>
                </a:solidFill>
                <a:latin typeface="Inter"/>
              </a:rPr>
              <a:t>trabaja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hij/zij werkt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Trabajo </a:t>
            </a:r>
            <a:r>
              <a:rPr sz="1400" b="1" i="0">
                <a:solidFill>
                  <a:srgbClr val="0E9E97"/>
                </a:solidFill>
                <a:latin typeface="Inter"/>
              </a:rPr>
              <a:t>en una tienda</a:t>
            </a:r>
            <a:r>
              <a:rPr sz="1400" b="0" i="0">
                <a:solidFill>
                  <a:srgbClr val="20242E"/>
                </a:solidFill>
                <a:latin typeface="Inter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chunks uit de scène — leer ze als vaste vormen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470916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150" b="0" i="1">
                <a:solidFill>
                  <a:srgbClr val="20242E"/>
                </a:solidFill>
                <a:latin typeface="Inter"/>
              </a:rPr>
              <a:t>werkplek altijd met en: trabajo en una academia · en casa.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ser ↔ estar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Wie/wat je bent → ser · hoe je je voelt (toestand) → estar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694944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SER — wie/wat je bent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es profesora 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beroep (wie/wat)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Si es la que creo, es profesora.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24328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soy belga 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afkomst (U3)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Soy de Bélgica.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99816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es María, la nueva 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identiteit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¿Es actriz? — No, es profesora.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508760"/>
            <a:ext cx="4023360" cy="228600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64592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ESTAR — toestand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148840"/>
            <a:ext cx="3566160" cy="1554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Estoy </a:t>
            </a:r>
            <a:r>
              <a:rPr sz="1400" b="0" i="0">
                <a:solidFill>
                  <a:srgbClr val="20242E"/>
                </a:solidFill>
                <a:latin typeface="Inter"/>
              </a:rPr>
              <a:t>bien · tranquilo/a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Estamos </a:t>
            </a:r>
            <a:r>
              <a:rPr sz="1400" b="0" i="0">
                <a:solidFill>
                  <a:srgbClr val="20242E"/>
                </a:solidFill>
                <a:latin typeface="Inter"/>
              </a:rPr>
              <a:t>todos bien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wij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¿</a:t>
            </a:r>
            <a:r>
              <a:rPr sz="1400" b="1" i="0">
                <a:solidFill>
                  <a:srgbClr val="EA7317"/>
                </a:solidFill>
                <a:latin typeface="Inter"/>
              </a:rPr>
              <a:t>Estáis</a:t>
            </a:r>
            <a:r>
              <a:rPr sz="1400" b="0" i="0">
                <a:solidFill>
                  <a:srgbClr val="20242E"/>
                </a:solidFill>
                <a:latin typeface="Inter"/>
              </a:rPr>
              <a:t> bien?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jullie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6A6E78"/>
                </a:solidFill>
                <a:latin typeface="Inter"/>
              </a:rPr>
              <a:t>Tú no estás bien, estás muy mal.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77639"/>
            <a:ext cx="11201400" cy="15544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María ___ profesora.  Julio no ___ bien.  Nosotros ___ tranquilos.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09160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es · está · estamos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23" name="Rounded Rectangle 22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diálogo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¿A qué te ___?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___ profesora.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¿Y dónde ___?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___ en una academia.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¿Y ___ contenta? — Sí, muy contenta.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dedicas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Soy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trabajas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Trabajo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5. estás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609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19" name="Rounded Rectangle 1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¿Quién soy? · adivina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Geef pistas over een beroep en laat je buur gissen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«— Trabajo en un hospital.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Estoy con muchas personas.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— ¿Puede ser… médica?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— ¡Sí! Soy médica.»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Kies (geheim!) een beroep.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Geef pistas: «trabajo en… · estoy…».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Je buur gist: «¿puede ser…?».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Wissel van rol (3×).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beurt nemen, gissen en reageren. Begrijp je iets niet? Zeg: «¿Cómo? / Otra vez, por favor.»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trabajo en el mundo hispano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Hoe werk klinkt in de Spaanstalige wereld + muziek die jullie kennen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Perla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Juanes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A Dios le Pido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Álvaro Soler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Sofía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Marc Anthony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Vivir Mi Vida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🇵🇷 P. Rico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Manu Chao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Me Gustas Tú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🇪🇸/🇫🇷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Shakira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Antología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1069848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💼 El trabajo en el mundo hispano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soy profesor — zónder un/una · het horario partido (winkels dicht van 14 tot 17 u) · beroemde beroepen: Frida Kahlo pintora · García Márquez escritor · Messi futbolista · Rosalía cantante. Playlist + LyricsTraining op de digitale hub → tabblad Música.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¿Quién soy? · adivina la profesión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Kies geheim een beroep, geef 3 pistas — de klas gist zoals Josefina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5486400" cy="50292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FICHA · noteer je frames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22860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💼 Mi profesión: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 (geheim!).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🕵️ Pista: Trabajo en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 · Estoy ____ 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🎯 Adivina: ¿Puede ser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 ? · ¡Ya lo sé!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502920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Elige (geheim!) una profesión + werkplek.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Da tres pistas: «trabajo en…» · «estoy…» · «trabajo con…».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La clase adivina: «¿puede ser…?» · «¿trabajas en…?» · «¡ya lo sé!».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Confirma: «Sí, soy…» / «No, no soy…» — wie raadt, is aan de beurt.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je drie pistas geeft met «trabajo en…» + «estoy…», en gist/antwoordt met ser zónder un/una («¿puede ser médica?» — «sí, soy médica») — zónder af te lezen.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Mis funciones comunicativas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Lo que ya sé hacer — crece cada unidad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Mi repertorio: 16 / 16 funciones — </a:t>
            </a:r>
            <a:r>
              <a:rPr sz="1200" b="0" i="0">
                <a:solidFill>
                  <a:srgbClr val="6A6E78"/>
                </a:solidFill>
                <a:latin typeface="Inter"/>
              </a:rPr>
              <a:t>no solo palabras: lo que puedo HACER con el español.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709928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Saludar y despedirse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10524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Hola · Adiós · Hasta luego · Buenos días / tardes / noches · ¡Buenas! · Hasta mañana · ¡Nos vemos!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709928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Presentarse y presentar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910524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Me llamo… · (Yo) soy… · Encantado/a · Soy de… (país) · Soy español/a · mexicano/a · belga · Esta es mi madre · Este es mi padre · Es mi hermano/a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256282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302002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Pedir y dar información personal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502598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¿Cómo te llamas? · ¿Y tú? · ¿De dónde eres? · ¿De qué país? · ¿Qué idiomas hablas?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256282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302002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Reaccionar con cortesía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502598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Por favor · Gracias · Muchas gracias · De nada · Perdona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848356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894076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Preguntar y decir cómo estoy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▲ nivel+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3094672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¿Qué tal? · ¿Cómo estás? · Estoy bien / cansado-a / ocupado-a · Regular · Estamos todos bien / tranquilos · ¿Estáis bien? · estar = toestand · ser = wie/wat je bent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848356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2894076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Pedir algo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3094672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…, por favor · ¿Me da…?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440430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486150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Contar (números 0–20)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3686746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uno · dos · tres · cinco · diez · veinte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440430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3486150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Gestionar la comprensión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3686746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¿Cómo? · Otra vez, por favor · ¿Puedes repetir? · Más despacio, por favor · No entiendo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032504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078224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Hablar de la familia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4278820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mi madre · mi padre · mi hermano/a · mi abuelo/a · el tío / la tía · la hermana de María (de + nombre)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032504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4078224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Describir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4278820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es alto/a · bajo/a · guapo/a · es simpático/a · divertido/a · inteligente · es muy… · un poco…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624578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4670298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Identificar objetos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" y="4870894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¿Qué es esto? · Esto es un/una… · Esto son… (meervoud) · un libro · una mesa (el/la)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624578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8" y="4670298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Decir qué hay y para qué sirve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8" y="4870894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¿Hay…? · (No) hay… · Sí que hay… · … que sirve para + infinitivo · sirve para abrir · beber · descansar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216652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5262372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Ubicar cosas · decir dónde está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" y="5462968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¿Dónde está…? · está en… · encima de · debajo de · dentro de · al lado de · delante de · detrás de · Hay … en la cocina · del (de+el)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5216652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64808" y="5262372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Pedir y dar permiso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4808" y="5462968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¿Puedo…? · ¿Puedes…? · Sí, puedes… · Aquí no · puedes ir fuera · ¿Puedo fumar? · ¿Puedes venir?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5808726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" y="5854446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Hablar del trabajo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" y="6055042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¿A qué te dedicas? · ¿En qué trabajas? · Soy profesor/a · escritor/a · actriz · Trabajo en una tienda · una oficina · ser + profesión (zonder un/una)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63640" y="5808726"/>
            <a:ext cx="5394960" cy="44576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64808" y="5854446"/>
            <a:ext cx="4992624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Bricolage Grotesque"/>
              </a:rPr>
              <a:t>Especular y adivinar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64808" y="6055042"/>
            <a:ext cx="4992624" cy="2228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A6E78"/>
                </a:solidFill>
                <a:latin typeface="Inter"/>
              </a:rPr>
              <a:t>Puede ser… (escritora) · ¿Trabaja en una tienda? · Creo que es… · ¡Ya lo sé! · ¿O algo parecido?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4023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6492240" cy="3657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praat je over werk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¿A qué te dedicas? · ¿En qué trabajas? · ¿Dónde trabajas?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Soy profesor/a · soy estudiante — zónder un/una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trabajo · trabajas · trabaja + en (trabajo en una tienda)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ser ↔ estar · ♂/♀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ser = wie/wat je bent (es profesora) · estar = toestand (estoy bien)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estamos todos bien · ¿estáis bien? · estás muy mal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profesor/profesora · actor/actriz · el/la estudiante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554480"/>
            <a:ext cx="4023360" cy="40233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2860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naar werk vragen (¿a qué te dedicas?)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852928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mijn beroep zeggen zónder un/una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419856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trabajo/trabajas/trabaja + en gebruiken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986784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ser en estar juist kiezen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553712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gissen zoals Josefina (¿puede ser…?)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512064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 · ¿quién soy?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LAS PROFESIONES   ·   C4 · La Ruta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