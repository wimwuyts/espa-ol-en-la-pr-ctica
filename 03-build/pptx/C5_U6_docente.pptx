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77" r:id="rId29"/>
    <p:sldId id="278" r:id="rId30"/>
    <p:sldId id="279" r:id="rId31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Parada 6 = México, los mercados y tianguis. Gastheer = Diego. Doel: ropa/colores benoemen, OD-pronombres lo/la/los/las (¿la falda? → la compro), acabar de + infinitivo (net gedaan), demostrativos este/ese/aquel (afstand), en de concordancia van het adjectief (camiseta roja · de rayas). Kernvalstrik: la compro (niet «compro la»); una falda azul (niet «azula»); acabo DE comprar. Docentdeck = vrije navigatie + oplossing in notities; leerlingdeck (.pptx, F5) = elke klik onthult het volgende antwoord.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Elke tegel = hyperlink; op elke oefendia staat ⌂ Menú terug. Richttijd 50 min. Begin bij §1 (lo/la/los/las) → §4 (concordancia) = het hart van de unit. Kruisverwijzing print/HTML: «oefen online — 20 juegos».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VOCABULARY. Toon per cluster (arriba/abajo/calzado/complemento). Laat raden zónder de NL-gloss. Online: flip cards + Memoria de la ropa + ¿arriba, abajo, calzado o complemento?</a:t>
            </a:r>
          </a:p>
          <a:p/>
          <a:p>
            <a:r>
              <a:t>— SOLUCIÓN (docent · presenter view) —</a:t>
            </a:r>
          </a:p>
          <a:p>
            <a:r>
              <a:t>🔴 Concordancia: camiseta rojA · zapatos rojOS · vestido rojO · botas rojAS.</a:t>
            </a:r>
          </a:p>
          <a:p>
            <a:r>
              <a:t>Kleuren op -o veranderen; azul/gris/verde/marrón niet (enkel meervoud +s/+es).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(color-coding). Maak de plaatsing fysiek zichtbaar. Truc: geslacht + aantal van de prenda → lo/la/los/las. Online: «¿lo, la, los o las?» (classify + cloze).</a:t>
            </a:r>
          </a:p>
          <a:p/>
          <a:p>
            <a:r>
              <a:t>— SOLUCIÓN (docent · presenter view) —</a:t>
            </a:r>
          </a:p>
          <a:p>
            <a:r>
              <a:t>Regla: lo/la/los/las vervangt de prenda en staat vóór het vervoegde ww (la compro) of vast achter de infinitief (comprarla).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(reveal). Laat de klas eerst kiezen, klik dan. Online: «lo-la-los-las» (classify) + cloze.</a:t>
            </a:r>
          </a:p>
          <a:p/>
          <a:p>
            <a:r>
              <a:t>— SOLUCIÓN (docent · presenter view) —</a:t>
            </a:r>
          </a:p>
          <a:p>
            <a:r>
              <a:t>lo/la = enkelvoud (m/v) · los/las = meervoud (m/v). Kijk naar het lidwoord: el/la · los/las. Vóór het werkwoord!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acabar de + inf. Onthul per kaart; laat de vorm voorspellen. Twee delen: acabar (vervoegd) + de + infinitief. Niet verwarren met acabar = eindigen. Online: «acabar de + infinitivo» (cloze).</a:t>
            </a:r>
          </a:p>
          <a:p/>
          <a:p>
            <a:r>
              <a:t>— SOLUCIÓN (docent · presenter view) —</a:t>
            </a:r>
          </a:p>
          <a:p>
            <a:r>
              <a:t>🔴 Vergeet de «de» niet: acabo DE comprar. 🔴 Het tweede werkwoord blijft infinitief: acabo de COMPRAR. Betekenis: net (zopas) gedaan.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demostrativos. Fysiek maken: wijs voorwerpen aan op verschillende afstanden. Onthul per klik. Online: «cerca/ahí/lejos» (classify) + «este/ese/aquel» (cloze).</a:t>
            </a:r>
          </a:p>
          <a:p/>
          <a:p>
            <a:r>
              <a:t>— SOLUCIÓN (docent · presenter view) —</a:t>
            </a:r>
          </a:p>
          <a:p>
            <a:r>
              <a:t>Afstand: este (aquí, in mijn hand) · ese (ahí, bij jou) · aquel (allí, in het escaparate).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demostrativos (retrieval). Klas roept vóór de klik. Daarna in parejas: prendas aanwijzen en prijs vragen.</a:t>
            </a:r>
          </a:p>
          <a:p/>
          <a:p>
            <a:r>
              <a:t>— SOLUCIÓN (docent · presenter view) —</a:t>
            </a:r>
          </a:p>
          <a:p>
            <a:r>
              <a:t>Cerca = este/esta/estos/estas · ahí = ese/esa… · lejos = aquel/aquella… Concuerda met de prenda (m/v · ev/mv).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(lezen→schrijven-keten). Eerst globaal (waarover?), dan scannen. Onthul de antwoorden pas na de klas. Daarna: leerlingen schrijven hun eigen reseña (transfer → Tarea Abre tu tienda).</a:t>
            </a:r>
          </a:p>
          <a:p/>
          <a:p>
            <a:r>
              <a:t>— SOLUCIÓN (docent · presenter view) —</a:t>
            </a:r>
          </a:p>
          <a:p>
            <a:r>
              <a:t>🎯 Leesdoel: scannen naar precios/descuentos en wat de klant wel/niet kocht — niet élk woord.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(selectief → spreken). Lees elk pedido voor (of TTS). Klas noteert prenda + detalle; onthul per klik. Koppel meteen aan de rollenspel-scène (§1).</a:t>
            </a:r>
          </a:p>
          <a:p/>
          <a:p>
            <a:r>
              <a:t>— SOLUCIÓN (docent · presenter view) —</a:t>
            </a:r>
          </a:p>
          <a:p>
            <a:r>
              <a:t>Modelo-audio (docent leest of TTS): «Busco una camisa azul en talla M. ¿Puedo probármela?» …</a:t>
            </a:r>
          </a:p>
          <a:p>
            <a:r>
              <a:t>Daarna spreken: leerling speelt de cliente en koopt zelf.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concordancia (reveal). Coro: klas zegt de vorm vóór de klik. Kernidee: kijk naar de prenda. Online: «color + prenda» (match) + concordancia-Tetris + «masculino/femenino».</a:t>
            </a:r>
          </a:p>
          <a:p/>
          <a:p>
            <a:r>
              <a:t>— SOLUCIÓN (docent · presenter view) —</a:t>
            </a:r>
          </a:p>
          <a:p>
            <a:r>
              <a:t>Regla: het adjectief komt overeen in geslacht (m/v) en getal (ev/mv). Patronen met «de» (de rayas, de cuadros) veranderen niet.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(interactie). Automatiseer saludar→buscar→probar→precio→regatear in rondes met afbouwende steun. Online: recorder (opname + zelfevaluatie). Print blijft bruikbaar zonder opname. NB: regatear enkel op de markt/tianguis.</a:t>
            </a:r>
          </a:p>
          <a:p/>
          <a:p>
            <a:r>
              <a:t>— SOLUCIÓN (docent · presenter view) —</a:t>
            </a:r>
          </a:p>
          <a:p>
            <a:r>
              <a:t>Modelo: «Busco una camisa azul. ¿Puedo probármela? … ¿Cuánto cuesta? Es un poco caro, ¿me hace un descuento? … Me la llevo.»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(lezen→schrijven). Checklist = zichtbare steun; onthul het model pas na het schrijven (retrieval). Nakijkfocus: concordancia, precios, anuncio. Dit voedt de Tarea «Abre tu tienda».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colores/tiendas. Klik onthult; koppel elk woord aan een concordancia-zin. Volledige set + audio op de digitale pagina (flip cards + memoria).</a:t>
            </a:r>
          </a:p>
          <a:p/>
          <a:p>
            <a:r>
              <a:t>— SOLUCIÓN (docent · presenter view) —</a:t>
            </a:r>
          </a:p>
          <a:p>
            <a:r>
              <a:t>Combineer prenda + color: una camiseta roja · unos vaqueros azules · una gorra verde. Comprar en la zapatería, la panadería, el mercado.</a:t>
            </a:r>
          </a:p>
          <a:p>
            <a:r>
              <a:t>En la tienda: la talla, el probador, la caja, las rebajas, el descuento.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Sílaba tónica met de meervoudsval (pantalón→pantalones). Conectores meteen toepassen. Online: «sílaba tónica» + conectoren-oefeningen.</a:t>
            </a:r>
          </a:p>
          <a:p/>
          <a:p>
            <a:r>
              <a:t>— SOLUCIÓN (docent · presenter view) —</a:t>
            </a:r>
          </a:p>
          <a:p>
            <a:r>
              <a:t>A: aguda=laatste · llana=voorlaatste · esdrújula=voor-voorlaatste (altijd tilde). 🔴 los pantalones/marrones (tilde weg).</a:t>
            </a:r>
          </a:p>
          <a:p>
            <a:r>
              <a:t>🔴 B: «dus» = así que/por eso (niet luego). Na ontkenning «maar wel» = 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(identiteit in diversiteit, LPD 5). Onthul per kaart. Tianguis = náhuatl-woord. Bruggetje naar de Tarea Abre tu tienda. Online: «prenda ↔ tienda» (match).</a:t>
            </a:r>
          </a:p>
          <a:p/>
          <a:p>
            <a:r>
              <a:t>— SOLUCIÓN (docent · presenter view) —</a:t>
            </a:r>
          </a:p>
          <a:p>
            <a:r>
              <a:t>Actividad: ¿compras ropa nueva o de segunda mano? ¿regateas? Refrán: «Lo barato sale caro».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interactie. Klas vult de zin vóór de klik. Daarna de rollenspel-scène in parejas.</a:t>
            </a:r>
          </a:p>
          <a:p/>
          <a:p>
            <a:r>
              <a:t>— SOLUCIÓN (docent · presenter view) —</a:t>
            </a:r>
          </a:p>
          <a:p>
            <a:r>
              <a:t>De winkelzinnen: ¿Qué desea? · ¿Puedo probármelo/la? · ¿Cuánto cuesta? · Me lo llevo · Acabo de comprar · Pago con tarjeta.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eindtaak). Afzender/ontvanger/doel/situatie/resultaat expliciet. Beoordeel met de rúbrica; opname + zelfevaluatie op de digitale pagina. Voeg een mini-encuesta + grafiekje toe (ropa favorita van de klas).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Zonder waarschuwing door elkaar. Exit-ticket. Zwakke punten → terug via menu.</a:t>
            </a:r>
          </a:p>
          <a:p/>
          <a:p>
            <a:r>
              <a:t>— SOLUCIÓN (docent · presenter view) —</a:t>
            </a:r>
          </a:p>
          <a:p>
            <a:r>
              <a:t>Alles komt terug: lo/la/los/las · acabar de + infinitivo · este/ese/aquel · concordancia.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zelfevaluatie. Repaso-drills online (20 spellen). Bruggetje: U7 «Mi casa y mi barrio» — Cartagena, Colombia: de casa, el barrio, describir dónde vives.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(bron.md).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1 · El regateo — ⚖️ onderhandeling &amp; dilemma</a:t>
            </a:r>
          </a:p>
          <a:p>
            <a:r>
              <a:t>OPDRACHT: Onderhandel tot jullie een deal hebben. Ieder heeft een geheime grens.</a:t>
            </a:r>
          </a:p>
          <a:p>
            <a:r>
              <a:t>DE REGEL: De verkoper mag niet onder zijn bodemprijs, de koper niet boven zijn budget. En elk nieuw bod moet met een reden komen — een getal alleen telt niet.</a:t>
            </a:r>
          </a:p>
          <a:p>
            <a:r>
              <a:t>VERLOOP: Coge tu tarjeta: precio mínimo o presupuesto. | El vendedor empieza. Siempre alto. | Regatead con razones, no solo con números. | ¿No hay trato? También es un resultado.</a:t>
            </a:r>
          </a:p>
          <a:p>
            <a:r>
              <a:t>SLEUTEL: Getallen zijn (vraagprijs, bodemprijs) in peso's. Een deal ligt altijd tussen de bodemprijs en het budget van de koper.  ||  De pronomina zitten in de formules: «se lo dejo en…», «me lo llevo». Wijs erop dat onderhandelen in het Spaans bijna niet kan zonder.  ||  «No puedo bajar más» is het sluitstuk: wie het te vroeg zegt, verliest zijn ruimte.</a:t>
            </a:r>
          </a:p>
          <a:p>
            <a:r>
              <a:t>NOTA: Afdingen is op Mexicaanse markten gebruikelijk in ambachtelijke kramen, niet in winkels met vaste prijzen. Zeg dat erbij, anders leren leerlingen het verkeerd.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2 · Devolución imposible — 🎭 simulatie met beperking</a:t>
            </a:r>
          </a:p>
          <a:p>
            <a:r>
              <a:t>OPDRACHT: Krijg de ruil rond. De verkoper heeft drie weigeringen en jij drie argumenten.</a:t>
            </a:r>
          </a:p>
          <a:p>
            <a:r>
              <a:t>DE REGEL: Je mag elk argument maar één keer gebruiken. Op wie in herhaling valt, hoeft de verkoper niet meer te antwoorden.</a:t>
            </a:r>
          </a:p>
          <a:p>
            <a:r>
              <a:t>VERLOOP: El cliente explica el problema. | El vendedor dice que no. Primera negativa. | El cliente usa su siguiente argumento. | ¿Cambio, vale de tienda o nada?</a:t>
            </a:r>
          </a:p>
          <a:p>
            <a:r>
              <a:t>SLEUTEL: Het sterkste argument is het derde: wie alleen een andere maat vraagt, ontwijkt het hele bonverhaal. Laat leerlingen dat zelf ontdekken.  ||  Alle drie de weigeringen en alle drie de argumenten bevatten een pronomen — dat is geen toeval maar het doel van de unit.  ||  «Vale para la tienda» is de realistische uitkomst en een prima compromis.</a:t>
            </a:r>
          </a:p>
          <a:p>
            <a:r>
              <a:t>NOTA: Wissel de rollen halverwege. De verkoperrol oefent meer dan de klantrol, omdat die moet reageren op wat er komt.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8 · El cliente imposible — 🎭 simulatie met beperking</a:t>
            </a:r>
          </a:p>
          <a:p>
            <a:r>
              <a:t>OPDRACHT: Speel je type zonder het te zeggen. De verkoper raadt op het einde.</a:t>
            </a:r>
          </a:p>
          <a:p>
            <a:r>
              <a:t>DE REGEL: Je mag je type niet benoemen en niet overdrijven tot karikatuur. Het moet uit je vragen en je reacties blijken.</a:t>
            </a:r>
          </a:p>
          <a:p>
            <a:r>
              <a:t>VERLOOP: Coge tu tarjeta de tipo. En secreto. | Comprad algo. Cinco turnos como máximo. | El vendedor dice qué tipo cree que eres. | ¿Acierta? Cambiad de papel.</a:t>
            </a:r>
          </a:p>
          <a:p>
            <a:r>
              <a:t>SLEUTEL: «El que va a regalar» is het makkelijkst te raden (die vraagt naar andermans maat), «el desconfiado» het moeilijkst.  ||  De verkoper oefent hier het meest: die moet vijf beurten lang blijven aanbieden met pronomina.  ||  Overdrijven bederft het spel én de taal: wie karikaturaal speelt, hoeft geen zinnen meer te bouwen.</a:t>
            </a:r>
          </a:p>
          <a:p>
            <a:r>
              <a:t>NOTA: Vijf beurten is genoeg. Langer en de klant valt uit zijn rol.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11.xml"/><Relationship Id="rId7" Type="http://schemas.openxmlformats.org/officeDocument/2006/relationships/slide" Target="slide9.xml"/><Relationship Id="rId8" Type="http://schemas.openxmlformats.org/officeDocument/2006/relationships/slide" Target="slide16.xml"/><Relationship Id="rId9" Type="http://schemas.openxmlformats.org/officeDocument/2006/relationships/slide" Target="slide18.xml"/><Relationship Id="rId10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Relationship Id="rId4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90448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6 · MÉXICO · LOS MERCADOS 🇲🇽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0" b="1" i="0">
                <a:solidFill>
                  <a:srgbClr val="FFFFFF"/>
                </a:solidFill>
                <a:latin typeface="Bricolage Grotesque"/>
              </a:rPr>
              <a:t>De tiendas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E4F4EE"/>
                </a:solidFill>
                <a:latin typeface="Inter"/>
              </a:rPr>
              <a:t>La ropa y los colores: lo/la/los/las, acabar de, este/ese/aquel y la concordancia — de compras con Diego.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¿Qué te vas a comprar hoy?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Wat ga je vandaag kopen?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anfitrión</a:t>
            </a:r>
          </a:p>
        </p:txBody>
      </p:sp>
      <p:pic>
        <p:nvPicPr>
          <p:cNvPr id="13" name="Picture 12" descr="lu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«Abre tu tienda»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lo/la/los/las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¿la falda? → la compro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4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Acabar de + inf.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net iets gedaan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6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este/ese/aquel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cerca ↔ lejos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7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Concordancia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camiseta roja de rayas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11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¡rebajas! + reseña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9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 · compras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rebajas · regateo · tianguis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🛍️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tu tienda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escaparate + diálogo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18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§V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ropa y los complementos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woorden van de kast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camiseta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T-shirt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👕 arriba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los pantalones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broek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👖 abajo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vestido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jurk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falda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rok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👗 abajo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los zapatos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schoenen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👞 calzado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las zapatillas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sportschoenen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gorra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pet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🧢 complemento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bolso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handtas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Colores: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rojo/roja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azul · gris · verde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14B8A6"/>
                </a:solidFill>
                <a:latin typeface="Inter"/>
              </a:rPr>
              <a:t>patrón: de rayas · de cuadros · de lunares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Concordancia: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camiseta rojA · zapatos rojOS · vestido rojO · botas rojAS.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Kleuren op -o veranderen; azul/gris/verde/marrón niet (enkel meervoud +s/+es).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/ la / los / las — vervang de prenda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het pronomen. Het staat vóór het vervoegde werkwoord.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0242E"/>
                </a:solidFill>
                <a:latin typeface="Bricolage Grotesque"/>
              </a:rPr>
              <a:t>¿La camisa? 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— Sí, </a:t>
            </a:r>
            <a:r>
              <a:rPr sz="2200" b="1" i="0">
                <a:solidFill>
                  <a:srgbClr val="1E9E74"/>
                </a:solidFill>
                <a:latin typeface="Bricolage Grotesque"/>
              </a:rPr>
              <a:t>la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compro.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   ¿Los zapatos? — </a:t>
            </a:r>
            <a:r>
              <a:rPr sz="2200" b="1" i="0">
                <a:solidFill>
                  <a:srgbClr val="1E9E74"/>
                </a:solidFill>
                <a:latin typeface="Bricolage Grotesque"/>
              </a:rPr>
              <a:t>Los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quiero.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concordancia — ¿qué pronombre?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m. ev. (el jersey)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v. ev. (la falda)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los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m. mv. (los zapatos)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v. mv. (las botas)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vóór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el ww: la compro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achter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de infinitief: comprarla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lo/la/los/las vervangt de prenda en staat vóór het vervoegde ww (la compro) of vast achter de infinitief (comprarla).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08406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¿lo, la, los o las?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prenda → het juiste pronomen verschijnt. Kijk naar m/v en ev/mv.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¿la falda? → ___ compro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la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v. ev.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¿el jersey? → ___ compro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lo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m. ev.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¿los zapatos? → ___ compro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los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m. mv.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¿las botas? → ___ compro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las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v. mv.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¿el abrigo? → ___ compro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lo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m. ev.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¿las gafas? → ___ compro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las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v. mv.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lo/la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enkelvoud (m/v)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los/las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meervoud (m/v). Kijk naar het lidwoord: el/la · los/las. Vóór het werkwoord!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Acabar de + infinitivo — net gedaan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de vorm verschijnt. Fórmula: acabar (presente) + de + infinitivo.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La fórmula: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acabar (acabo, acabas, acaba…) </a:t>
            </a:r>
            <a:r>
              <a:rPr sz="1400" b="1" i="0">
                <a:solidFill>
                  <a:srgbClr val="7C3AED"/>
                </a:solidFill>
                <a:latin typeface="Inter"/>
              </a:rPr>
              <a:t>+ de + </a:t>
            </a:r>
            <a:r>
              <a:rPr sz="1400" b="1" i="0">
                <a:solidFill>
                  <a:srgbClr val="1E9E74"/>
                </a:solidFill>
                <a:latin typeface="Inter"/>
              </a:rPr>
              <a:t>infinitivo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  →   Acabo de comprar una gorra.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acabo de…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acabas de…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acaba de…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acabamos de…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acabáis de…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acaban de…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Vergeet de «de» niet: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acabo DE comprar. 🔴 Het tweede werkwoord blijft infinitief: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acabo de COMPRAR</a:t>
            </a:r>
            <a:r>
              <a:rPr sz="1200" b="0" i="0">
                <a:solidFill>
                  <a:srgbClr val="157355"/>
                </a:solidFill>
                <a:latin typeface="Inter"/>
              </a:rPr>
              <a:t>. Betekenis: net (zopas) gedaan.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9926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Este / ese / aquel — cerca ↔ lejos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afstand → de vorm verschijnt. Cerca=este · ahí=ese · lejos=aquel.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55648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👉 aquí (cerca)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este / esta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55648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estos / estas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+ mv.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83464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👉👉 ahí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ese / esa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4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esos / esas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+ mv.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913632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👉👉👉 allí (lejos)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aquel / aquella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3913632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aquellos / aquellas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+ mv.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Concuerda con la prenda: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estA falda (v) · estOS pantalones (m mv). Kijk naar het kledingstuk!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7784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Afstand: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este (aquí, in mijn hand) · ese (ahí, bij jou) · aquel (allí, in het escaparate).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4498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¿este, ese o aquel?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de juiste vorm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gusta ___ camiseta (aquí).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¿Cuánto cuesta ___ gorra (ahí)?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abrigo (allí) es caro.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Aquel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zapatos (aquí) son cómodos.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estos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Prefiero ___ vestido (ahí).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botas (allí) son de cuero.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Aquellas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Cerca = este/esta/estos/estas · ahí = ese/esa… · lejos = aquel/aquella…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Concuerda met de prenda (m/v · ev/mv).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¡Rebajas! + una reseña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en beantwoord.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a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1828800"/>
            <a:ext cx="347472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📣 Moda Diego · ¡−50 %! Camisetas 10→5 €, vaqueros 40→25 €, zapatillas 60→39 €. ⭐ @valen: «Acabo de comprar unos vaqueros azules (25 €). Me los probé y me quedan bien. Pagué con tarjeta.»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¿Cuánto cuestan los vaqueros en rebajas?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25 € (antes 40)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compró Valen?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unos vaqueros azules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¿Cómo pagó?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con tarjeta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¿Se probó la ropa? ¿Dónde?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Sí, en el probador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scannen naar precios/descuentos en wat de klant wel/niet kocht — niet élk woord.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Escucha en la tienda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clientes compran. Klik un nombre → wat ze kopen.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Leo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Compra: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una camisa azul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talla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Frida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Compra: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unos vaqueros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25 €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Mateo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Compra: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unas zapatillas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talla 42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Sara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Compra: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un vestido rojo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de lunares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«Busco una camisa azul en talla M. ¿Puedo probármela?»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Daarna spreken: leerling speelt de cliente en koopt zelf.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Concordancia — camiseta roja de rayas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prenda → de juiste kleurvorm verschijnt. Kleur past bij de prenda (m/v · ev/mv).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un vestido (rojo)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57355"/>
                </a:solidFill>
                <a:latin typeface="Bricolage Grotesque"/>
              </a:rPr>
              <a:t>→ rojo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una camiseta (rojo)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57355"/>
                </a:solidFill>
                <a:latin typeface="Bricolage Grotesque"/>
              </a:rPr>
              <a:t>→ roja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unos zapatos (rojo)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57355"/>
                </a:solidFill>
                <a:latin typeface="Bricolage Grotesque"/>
              </a:rPr>
              <a:t>→ rojos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unas botas (rojo)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57355"/>
                </a:solidFill>
                <a:latin typeface="Bricolage Grotesque"/>
              </a:rPr>
              <a:t>→ rojas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una falda (azul)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57355"/>
                </a:solidFill>
                <a:latin typeface="Bricolage Grotesque"/>
              </a:rPr>
              <a:t>→ azul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unos vaqueros (azul)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57355"/>
                </a:solidFill>
                <a:latin typeface="Bricolage Grotesque"/>
              </a:rPr>
              <a:t>→ azules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🟡 Dos tipos: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rojo/roja/rojos/rojas (verandert) · azul/gris/verde (enkel meervoud +s/+es).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5780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het adjectief komt overeen in geslacht (m/v) en getal (ev/mv). Patronen met «de» (de rayas, de cuadros) veranderen niet.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1297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¡Vas de compras! (regateo)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Speel de scène met de zinnen.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Saludar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¿Qué desea?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Buscar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Busco una…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Probar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¿Puedo probármelo?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Precio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¿Cuánto cuesta?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Regatear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¿Me hace un descuento?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Cerrar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Me lo llevo.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beginwoorden.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hoofd, andere prenda.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 en de digitale pagina.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3904487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«Mensaje de voz: regatea»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«Busco una camisa azul. ¿Puedo probármela? … ¿Cuánto cuesta? Es un poco caro, ¿me hace un descuento? … Me la llevo.»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escaparate (tienda)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Ontwerp je etalage.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 tu escaparate: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4 prendas + color/patrón + precio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concordancia correcta (roja/azules)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anuncio de rebajas (antes→ahora)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diálogo: este/ese/aquel + lo/la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acabar de (net gekocht)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reseña de tu compañero/a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«Moda Diego. Camiseta roja de rayas (5 €). Vaqueros azules (25 €). Vestido de lunares (20 €). Zapatillas blancas (39 €). ¡Grandes rebajas −50 %!»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§V · VOCABULARIO ·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Colores y tiendas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de vertaling verschijnt.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rojo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rood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azul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blauw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verde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groen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negro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zwart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zapatería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schoenwinkel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panadería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bakkerij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mercado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markt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las rebajas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solden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talla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de maat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probador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paskamer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caja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de kassa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descuento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de korting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Combineer prenda + color: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una camiseta roja · unos vaqueros azules · una gorra verde. Comprar en la zapatería, la panadería, el mercado.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En la tienda: la talla, el probador, la caja, las rebajas, el descuento.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Sílaba tónica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Gereedschap voor klemtoon en verbindingswoorden.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A · sílaba tónica: aguda · llana · esdrújula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panta-lón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8308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→ aguda (laatste)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fal-da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4144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→ llana (voorlaatste)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sá-ba-do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09981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→ esdrújula (tilde)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pantalón → los…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75818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→ pantalones (tilde weg)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B · conectores: y→e · o→u · pero/sino · así que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madre ___ hija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78308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e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vóór i-/hi-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siete ___ ocho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44144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u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vóór o-/ho-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 es azul, ___ verde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09981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sino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na ontkenning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Hay rebajas, ___ compro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75818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así que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dus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aguda=laatste · llana=voorlaatste · esdrújula=voor-voorlaatste (altijd tilde). 🔴 los pantalones/marrones (tilde weg).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«dus» = así que/por eso (niet luego). Na ontkenning «maar wel» = sino.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Rebajas, regateo y tianguis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 verschijnt. Comprar también es cultura.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🏷️ Las rebajas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Dos veces al año (enero y julio en España): descuentos de −30 %, −50 %. La gente hace cola en las tiendas.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Rebajas = solden.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🤝 El regateo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el mercado o el tianguis se puede regatear: «¿Me hace un descuento?». En una tienda con etiqueta, 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Regatear = afdingen (enkel op de markt).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🧺 El tianguis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Del náhuatl «tiānquiztli»: mercado al aire libre e itinerante, desde tiempos aztecas. Ropa, comida, artesanía; se paga en efectivo.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Moda sostenible vs moda rápida.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¿compras ropa nueva o de segunda mano? ¿regateas? Refrán: «Lo barato sale caro».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la compra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Wat past? Klik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¿Qué ___? (u wenst)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554481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desea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¿Puedo ___me la falda? (passen)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554481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probar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¿Cuánto ___? (kosten)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554481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cuesta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queda bien. Me ___ llevo. (het)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554481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lo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Acabo ___ comprar. (van)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554481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Pago con ___. (kaart)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554481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tarjeta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De winkelzinnen: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¿Qué desea? · ¿Puedo probármelo/la? · ¿Cuánto cuesta? · Me lo llevo · Acabo de comprar · Pago con tarjeta.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🛍️ Tarea final · Abre tu tienda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Ontwerp de tienda van je eigen winkel y representa la escena vendedor ↔ cliente.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Elige un nombre y estilo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554480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deportivo, elegante, sostenible…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Diseña el escaparate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21408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4 prendas + color/patrón + precio (concordancia)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un anuncio de rebajas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688336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antes → ahora · descuento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el diálogo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255264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saludar → este/ese → probador → precio/regateo → me lo llevo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Representa + reseña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822192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pareja (of neem audio op) +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4 prendas + color + precio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lo/la/los/las in de dialoog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este/ese + acabar 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representar la escena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(de winkel) · ontvanger de cliente · doel kleding aanbieden &amp; verkopen · situatie una tienda/tianguis en México · resultaat: escaparate + anuncio + dialoog + reseña.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¿La falda? → ___ compro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600200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¿Los zapatos? → ___ llevo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13432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los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acabar, yo → ___ de comprar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026664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acabo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acabar, nosotros → ___ de pagar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739896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acabamos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camiseta (rood) → roj__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600200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roja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vaqueros (blauw) → azul__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313432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azules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cerca (v) → ___ camiseta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026664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lejos (m) → ___ abrigo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739896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aquel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lo/la/los/las · acabar de + infinitivo · este/ese/aquel · concordancia.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(20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lo/la/los/las: ¿la falda? → La compro. Vóór het vervoegde ww of vast achter de infinitief (comprarla).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Acabar de + infinitivo: acabo/acabas/acaba… + de + infinitief = net (zopas) gedaan.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este/ese/aquel: este (aquí) · ese (ahí) · aquel (allí) — past bij de prenda (este/esta/estos/estas…).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Concordancia: camiseta rojA · zapatos rojOS. Kleuren op -o veranderen; azul/gris/verde niet (enkel mv.).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la compro (niet «compro la») · acabo DE comprar · una falda azul (niet «azula») · los pantalones (tilde weg).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ropa/colores benoemen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lo/la/los/las (la compro)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acabar de + infinitivo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este/ese/aquel (afstand)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concordancia (roja/azules)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TEACHER_NOTES · U6 «De tiendas»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Menu 2' · lo/la/los/las 10' · acabar de + inf. 7' · este/ese/aquel 7' · concordancia 8' · lectura/escucha 8' · cultura 3' · Tarea-briefing 3'.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la compro (niet «compro la») · pronomen vóór het vervoegde ww / achter de infinitief · acabo DE comprar · una falda azul (niet «azula»); rojo/roja/rojos/rojas · los pantalones/marrones (tilde weg) · «dus» = así que/por eso.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Differentiatie (zij-instromers)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Alles start vanaf nul. Sterker: hele winkelscène + regateo + eigen escaparate + reseña. Zwakker: pronomen-kaart en acabar-tabel langer open, concordancia-kaart houden.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20 spellen + flip cards + klikbare kaart + recorder (Hablar) + Lectura (anuncio + reseña) op de página digital. QR's in het boek → juiste anker. Conjugador = aparte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Tarea «Abre tu tienda» met rúbrica (4 criteria). LPD 3·4·7·8 + 5 (cultura) + 1·2 (receptief: lezen/luisteren).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RETO 1 · ONDERHANDELING &amp; DILEMMA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El regateo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4F4EE"/>
                </a:solidFill>
                <a:latin typeface="Inter"/>
              </a:rPr>
              <a:t>👥 En parejas</a:t>
            </a:r>
          </a:p>
          <a:p>
            <a:pPr algn="r"/>
            <a:r>
              <a:rPr sz="1000">
                <a:solidFill>
                  <a:srgbClr val="E4F4EE"/>
                </a:solidFill>
                <a:latin typeface="Inter"/>
              </a:rPr>
              <a:t>± 15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157355"/>
                </a:solidFill>
                <a:latin typeface="Bricolage Grotesque"/>
              </a:rPr>
              <a:t>En el mercado el primer precio nunca es el precio.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Op de markt is de eerste prijs nooit de prijs.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De verkoper mag niet onder zijn bodemprijs, de koper niet boven zijn budget. En elk nieuw bod moet met een reden komen — een getal alleen telt niet.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8595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un sombrero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pide 250 pesos</a:t>
            </a:r>
          </a:p>
        </p:txBody>
      </p:sp>
      <p:sp>
        <p:nvSpPr>
          <p:cNvPr id="13" name="Onthul 0"/>
          <p:cNvSpPr/>
          <p:nvPr/>
        </p:nvSpPr>
        <p:spPr>
          <a:xfrm>
            <a:off x="548640" y="354787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nthulTxt 0"/>
          <p:cNvSpPr txBox="1"/>
          <p:nvPr/>
        </p:nvSpPr>
        <p:spPr>
          <a:xfrm>
            <a:off x="566928" y="354787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157355"/>
                </a:solidFill>
                <a:latin typeface="Inter"/>
              </a:rPr>
              <a:t>solo al final: ≈ 120 pesos</a:t>
            </a:r>
          </a:p>
        </p:txBody>
      </p:sp>
      <p:sp>
        <p:nvSpPr>
          <p:cNvPr id="15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1"/>
          <p:cNvSpPr txBox="1"/>
          <p:nvPr/>
        </p:nvSpPr>
        <p:spPr>
          <a:xfrm>
            <a:off x="3403854" y="2724912"/>
            <a:ext cx="2526030" cy="8595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una manta de lana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pide 600 pesos</a:t>
            </a:r>
          </a:p>
        </p:txBody>
      </p:sp>
      <p:sp>
        <p:nvSpPr>
          <p:cNvPr id="17" name="Onthul 1"/>
          <p:cNvSpPr/>
          <p:nvPr/>
        </p:nvSpPr>
        <p:spPr>
          <a:xfrm>
            <a:off x="3403854" y="354787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nthulTxt 1"/>
          <p:cNvSpPr txBox="1"/>
          <p:nvPr/>
        </p:nvSpPr>
        <p:spPr>
          <a:xfrm>
            <a:off x="3422142" y="354787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157355"/>
                </a:solidFill>
                <a:latin typeface="Inter"/>
              </a:rPr>
              <a:t>solo al final: ≈ 350 pesos</a:t>
            </a:r>
          </a:p>
        </p:txBody>
      </p:sp>
      <p:sp>
        <p:nvSpPr>
          <p:cNvPr id="19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2"/>
          <p:cNvSpPr txBox="1"/>
          <p:nvPr/>
        </p:nvSpPr>
        <p:spPr>
          <a:xfrm>
            <a:off x="6259068" y="2724912"/>
            <a:ext cx="2526030" cy="8595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unos aretes de plata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pide 400 pesos</a:t>
            </a:r>
          </a:p>
        </p:txBody>
      </p:sp>
      <p:sp>
        <p:nvSpPr>
          <p:cNvPr id="21" name="Onthul 2"/>
          <p:cNvSpPr/>
          <p:nvPr/>
        </p:nvSpPr>
        <p:spPr>
          <a:xfrm>
            <a:off x="6259068" y="354787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nthulTxt 2"/>
          <p:cNvSpPr txBox="1"/>
          <p:nvPr/>
        </p:nvSpPr>
        <p:spPr>
          <a:xfrm>
            <a:off x="6277356" y="354787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157355"/>
                </a:solidFill>
                <a:latin typeface="Inter"/>
              </a:rPr>
              <a:t>solo al final: ≈ 200 pesos</a:t>
            </a:r>
          </a:p>
        </p:txBody>
      </p:sp>
      <p:sp>
        <p:nvSpPr>
          <p:cNvPr id="23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3"/>
          <p:cNvSpPr txBox="1"/>
          <p:nvPr/>
        </p:nvSpPr>
        <p:spPr>
          <a:xfrm>
            <a:off x="9114282" y="2724912"/>
            <a:ext cx="2526030" cy="8595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una bolsa bordada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pide 500 pesos</a:t>
            </a:r>
          </a:p>
        </p:txBody>
      </p:sp>
      <p:sp>
        <p:nvSpPr>
          <p:cNvPr id="25" name="Onthul 3"/>
          <p:cNvSpPr/>
          <p:nvPr/>
        </p:nvSpPr>
        <p:spPr>
          <a:xfrm>
            <a:off x="9114282" y="354787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nthulTxt 3"/>
          <p:cNvSpPr txBox="1"/>
          <p:nvPr/>
        </p:nvSpPr>
        <p:spPr>
          <a:xfrm>
            <a:off x="9132570" y="354787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157355"/>
                </a:solidFill>
                <a:latin typeface="Inter"/>
              </a:rPr>
              <a:t>solo al final: ≈ 260 pesos</a:t>
            </a:r>
          </a:p>
        </p:txBody>
      </p:sp>
      <p:sp>
        <p:nvSpPr>
          <p:cNvPr id="27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Vendedor/a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Le hago un buen precio.</a:t>
            </a:r>
          </a:p>
        </p:txBody>
      </p:sp>
      <p:sp>
        <p:nvSpPr>
          <p:cNvPr id="29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Vendedor/a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Es hecho a mano, mire.</a:t>
            </a:r>
          </a:p>
        </p:txBody>
      </p:sp>
      <p:sp>
        <p:nvSpPr>
          <p:cNvPr id="31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Vendedor/a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Se lo dejo en …</a:t>
            </a:r>
          </a:p>
        </p:txBody>
      </p:sp>
      <p:sp>
        <p:nvSpPr>
          <p:cNvPr id="33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Vendedor/a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 puedo bajar más.</a:t>
            </a:r>
          </a:p>
        </p:txBody>
      </p:sp>
      <p:sp>
        <p:nvSpPr>
          <p:cNvPr id="35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Cliente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¿Cuánto cuesta?</a:t>
            </a:r>
          </a:p>
        </p:txBody>
      </p:sp>
      <p:sp>
        <p:nvSpPr>
          <p:cNvPr id="37" name="Tarjeta 9"/>
          <p:cNvSpPr/>
          <p:nvPr/>
        </p:nvSpPr>
        <p:spPr>
          <a:xfrm>
            <a:off x="3312414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arjetaTxt 9"/>
          <p:cNvSpPr txBox="1"/>
          <p:nvPr/>
        </p:nvSpPr>
        <p:spPr>
          <a:xfrm>
            <a:off x="3403854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Cliente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Es un poco caro para mí.</a:t>
            </a:r>
          </a:p>
        </p:txBody>
      </p:sp>
      <p:sp>
        <p:nvSpPr>
          <p:cNvPr id="39" name="Tarjeta 10"/>
          <p:cNvSpPr/>
          <p:nvPr/>
        </p:nvSpPr>
        <p:spPr>
          <a:xfrm>
            <a:off x="6167628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arjetaTxt 10"/>
          <p:cNvSpPr txBox="1"/>
          <p:nvPr/>
        </p:nvSpPr>
        <p:spPr>
          <a:xfrm>
            <a:off x="6259068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Cliente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¿Me lo deja en …?</a:t>
            </a:r>
          </a:p>
        </p:txBody>
      </p:sp>
      <p:sp>
        <p:nvSpPr>
          <p:cNvPr id="41" name="Tarjeta 11"/>
          <p:cNvSpPr/>
          <p:nvPr/>
        </p:nvSpPr>
        <p:spPr>
          <a:xfrm>
            <a:off x="9022842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arjetaTxt 11"/>
          <p:cNvSpPr txBox="1"/>
          <p:nvPr/>
        </p:nvSpPr>
        <p:spPr>
          <a:xfrm>
            <a:off x="9114282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Cliente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Entonces me lo llevo.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RETO 2 · SIMULATIE MET BEPERKING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Devolución imposible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4F4EE"/>
                </a:solidFill>
                <a:latin typeface="Inter"/>
              </a:rPr>
              <a:t>👥 En parejas</a:t>
            </a:r>
          </a:p>
          <a:p>
            <a:pPr algn="r"/>
            <a:r>
              <a:rPr sz="1000">
                <a:solidFill>
                  <a:srgbClr val="E4F4EE"/>
                </a:solidFill>
                <a:latin typeface="Inter"/>
              </a:rPr>
              <a:t>± 12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157355"/>
                </a:solidFill>
                <a:latin typeface="Bricolage Grotesque"/>
              </a:rPr>
              <a:t>Quieres devolver algo. No tienes el ticket.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Je wil iets terugbrengen. Je hebt geen kassabon.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Je mag elk argument maar één keer gebruiken. Op wie in herhaling valt, hoeft de verkoper niet meer te antwoorden.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La tienda dice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Sin ticket no puedo hacer nada.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La tienda dice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Ya la ha llevado, mire la etiqueta.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La tienda dice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La política de la tienda es de quince días.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Tu argumento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La he comprado aquí esta semana, me acuerdo del vendedor.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Tu argumento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 la he llevado, solo me la he probado en casa.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Tu argumento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Solo quiero cambiarla por otra talla, no el dinero.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salida posible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cambio por otra talla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salida posible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vale para la tienda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salida posible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nada de nada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RETO 8 · SIMULATIE MET BEPERKING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El cliente imposible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4F4EE"/>
                </a:solidFill>
                <a:latin typeface="Inter"/>
              </a:rPr>
              <a:t>👥 En parejas</a:t>
            </a:r>
          </a:p>
          <a:p>
            <a:pPr algn="r"/>
            <a:r>
              <a:rPr sz="1000">
                <a:solidFill>
                  <a:srgbClr val="E4F4EE"/>
                </a:solidFill>
                <a:latin typeface="Inter"/>
              </a:rPr>
              <a:t>± 12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157355"/>
                </a:solidFill>
                <a:latin typeface="Bricolage Grotesque"/>
              </a:rPr>
              <a:t>El vendedor tiene que adivinar qué tipo de cliente le ha tocado.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De verkoper moet raden wat voor klant hij tegenover zich heeft.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Je mag je type niet benoemen en niet overdrijven tot karikatuur. Het moet uit je vragen en je reacties blijken.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el indeciso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Todo te gusta y nada te convence. Preguntas mucho.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el ahorrador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Solo miras el precio. Siempre buscas algo más barato.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el que tiene prisa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Quieres salir en dos minutos. Nada de charla.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el desconfiado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Quieres saber de dónde viene todo y si se puede devolver.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el que va a regalar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 es para ti. No sabes la talla del otro.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Vendedor/a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¿Le ayudo?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Vendedor/a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Este le queda muy bien.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Vendedor/a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Se lo puedo enseñar en otro color.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157355"/>
                </a:solidFill>
                <a:latin typeface="Bricolage Grotesque"/>
              </a:rPr>
              <a:t>Vendedor/a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¿Se lo envuelvo para regalo?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