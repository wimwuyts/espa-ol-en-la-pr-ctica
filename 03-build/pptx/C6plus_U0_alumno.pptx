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7.xml"/><Relationship Id="rId5" Type="http://schemas.openxmlformats.org/officeDocument/2006/relationships/slide" Target="slide14.xml"/><Relationship Id="rId6" Type="http://schemas.openxmlformats.org/officeDocument/2006/relationships/slide" Target="slide9.xml"/><Relationship Id="rId7" Type="http://schemas.openxmlformats.org/officeDocument/2006/relationships/slide" Target="slide16.xml"/><Relationship Id="rId8" Type="http://schemas.openxmlformats.org/officeDocument/2006/relationships/slide" Target="slide18.xml"/><Relationship Id="rId9" Type="http://schemas.openxmlformats.org/officeDocument/2006/relationships/slide" Target="slide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9374C2"/>
                </a:solidFill>
                <a:latin typeface="Bricolage Grotesque"/>
              </a:rPr>
              <a:t>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390448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5B3E83"/>
                </a:solidFill>
                <a:latin typeface="Inter"/>
              </a:rPr>
              <a:t>LA RUTA · EL REENCUENTRO · EL MUNDO HISPANO 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600" b="1" i="0">
                <a:solidFill>
                  <a:srgbClr val="FFFFFF"/>
                </a:solidFill>
                <a:latin typeface="Bricolage Grotesque"/>
              </a:rPr>
              <a:t>¡Volvemos!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1">
                <a:solidFill>
                  <a:srgbClr val="EEE8F5"/>
                </a:solidFill>
                <a:latin typeface="Inter"/>
              </a:rPr>
              <a:t>Otra vez juntos: saludar, presentarte y activar tu base (presente · género · países).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Bricolage Grotesque"/>
              </a:rPr>
              <a:t>¿Quién eres… otra vez?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Wie ben je… opnieuw?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 gente de la ruta — je reisgezellen</a:t>
            </a:r>
          </a:p>
        </p:txBody>
      </p:sp>
      <p:pic>
        <p:nvPicPr>
          <p:cNvPr id="11" name="Picture 10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3" name="Picture 12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Kies je route — klik een tegel. Alles oefent naar de Tarea «Tarjeta de reencuentro» toe.</a:t>
            </a:r>
          </a:p>
        </p:txBody>
      </p:sp>
      <p:sp>
        <p:nvSpPr>
          <p:cNvPr id="9" name="Rounded Rectangle 8">
            <a:hlinkClick action="ppaction://hlinksldjump" r:id="rId2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2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Saludos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presentarse · tú/usted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3</a:t>
            </a:r>
          </a:p>
        </p:txBody>
      </p:sp>
      <p:sp>
        <p:nvSpPr>
          <p:cNvPr id="15" name="Rounded Rectangle 14">
            <a:hlinkClick action="ppaction://hlinksldjump" r:id="rId3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3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El presente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regular + ser/estar/ir…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4</a:t>
            </a:r>
          </a:p>
        </p:txBody>
      </p:sp>
      <p:sp>
        <p:nvSpPr>
          <p:cNvPr id="21" name="Rounded Rectangle 20">
            <a:hlinkClick action="ppaction://hlinksldjump" r:id="rId4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4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Género y adj.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el/la · -o/-a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7</a:t>
            </a:r>
          </a:p>
        </p:txBody>
      </p:sp>
      <p:sp>
        <p:nvSpPr>
          <p:cNvPr id="27" name="Rounded Rectangle 26">
            <a:hlinkClick action="ppaction://hlinksldjump" r:id="rId5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5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Países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nacionalidad · lengua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14</a:t>
            </a:r>
          </a:p>
        </p:txBody>
      </p:sp>
      <p:sp>
        <p:nvSpPr>
          <p:cNvPr id="33" name="Rounded Rectangle 32">
            <a:hlinkClick action="ppaction://hlinksldjump" r:id="rId6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6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Lectura + escucha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dos perfiles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9</a:t>
            </a:r>
          </a:p>
        </p:txBody>
      </p:sp>
      <p:sp>
        <p:nvSpPr>
          <p:cNvPr id="39" name="Rounded Rectangle 38">
            <a:hlinkClick action="ppaction://hlinksldjump" r:id="rId7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7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Cultura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mundo hispano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16</a:t>
            </a:r>
          </a:p>
        </p:txBody>
      </p:sp>
      <p:sp>
        <p:nvSpPr>
          <p:cNvPr id="45" name="Rounded Rectangle 44">
            <a:hlinkClick action="ppaction://hlinksldjump" r:id="rId8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8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🪪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· Tarjeta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preséntate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18</a:t>
            </a:r>
          </a:p>
        </p:txBody>
      </p:sp>
      <p:sp>
        <p:nvSpPr>
          <p:cNvPr id="51" name="Rounded Rectangle 50">
            <a:hlinkClick action="ppaction://hlinksldjump" r:id="rId9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9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◎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Repaso + semáforo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 esencial · zelfevaluatie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20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Saludar y presentarse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woorden van het reencuentro — observa. Herken ze,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hola / adiós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hallo / dag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saludo · despedida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buenos días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goedemorgen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buenas tardes/noches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me llamo…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heet…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¿cómo te llamas?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soy de…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kom uit…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¿de dónde eres?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tengo … años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ben … jaar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87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¿cuántos años tienes?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vivo en…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woon in…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87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¿dónde vives?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hablo…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spreek…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87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lengua / el idioma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encantado/-a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aangenaam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287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mucho gusto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Formal vs. informal: </a:t>
            </a:r>
            <a:r>
              <a:rPr sz="1300" b="1" i="0">
                <a:solidFill>
                  <a:srgbClr val="2563EB"/>
                </a:solidFill>
                <a:latin typeface="Inter"/>
              </a:rPr>
              <a:t>tú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(¿cómo estás?) · </a:t>
            </a:r>
            <a:r>
              <a:rPr sz="1300" b="1" i="0">
                <a:solidFill>
                  <a:srgbClr val="2563EB"/>
                </a:solidFill>
                <a:latin typeface="Inter"/>
              </a:rPr>
              <a:t>usted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(¿cómo está?)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Presentarte (3 werkwoorden):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me llamo · soy (de) · tengo … años · vivo en · hablo …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🔴 nacionaliteiten met kleine letter: soy belga, es española (niet Belga/Española).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presente — ¿quién hace qué?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Kleur = de functie. Het werkwoord past zich aan de persoon aan.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2563EB"/>
                </a:solidFill>
                <a:latin typeface="Bricolage Grotesque"/>
              </a:rPr>
              <a:t>(Yo) </a:t>
            </a:r>
            <a:r>
              <a:rPr sz="2200" b="1" i="0">
                <a:solidFill>
                  <a:srgbClr val="EA7317"/>
                </a:solidFill>
                <a:latin typeface="Bricolage Grotesque"/>
              </a:rPr>
              <a:t>hablo </a:t>
            </a:r>
            <a:r>
              <a:rPr sz="2200" b="1" i="0">
                <a:solidFill>
                  <a:srgbClr val="B4309A"/>
                </a:solidFill>
                <a:latin typeface="Bricolage Grotesque"/>
              </a:rPr>
              <a:t>español </a:t>
            </a:r>
            <a:r>
              <a:rPr sz="2200" b="1" i="0">
                <a:solidFill>
                  <a:srgbClr val="20242E"/>
                </a:solidFill>
                <a:latin typeface="Bricolage Grotesque"/>
              </a:rPr>
              <a:t>y </a:t>
            </a:r>
            <a:r>
              <a:rPr sz="2200" b="1" i="0">
                <a:solidFill>
                  <a:srgbClr val="EA7317"/>
                </a:solidFill>
                <a:latin typeface="Bricolage Grotesque"/>
              </a:rPr>
              <a:t>vivo </a:t>
            </a:r>
            <a:r>
              <a:rPr sz="2200" b="1" i="0">
                <a:solidFill>
                  <a:srgbClr val="64748B"/>
                </a:solidFill>
                <a:latin typeface="Bricolage Grotesque"/>
              </a:rPr>
              <a:t>en Gante.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Las terminaciones regulares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822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383280"/>
            <a:ext cx="33832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-ar hablar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3712464"/>
            <a:ext cx="33832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o · as · a · amos · áis · 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51960" y="3291840"/>
            <a:ext cx="3657600" cy="822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9120" y="3383280"/>
            <a:ext cx="33832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-er comer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3712464"/>
            <a:ext cx="33832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o · es · e · emos · éis · en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6720" y="3291840"/>
            <a:ext cx="3657600" cy="822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83880" y="3383280"/>
            <a:ext cx="33832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-ir vivir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83880" y="3712464"/>
            <a:ext cx="33832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o · es · e · imos · ís · en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4" name="Rounded Rectangle 33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448056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raíz (habl-) + terminación. De terminación verandert met de persoon: yo hablo, tú hablas, él habla…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De 7 onregelmatige (yo): soy · estoy · tengo · voy · hago · vengo · doy (vaak -oy of -go).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el presente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zin → de juiste vorm verschijnt. Kijk naar de persoon.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3931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Yo ___ (ser) de Bélgica.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554480"/>
            <a:ext cx="13258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soy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3931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¿Tú ___ (vivir) en Gante?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359152"/>
            <a:ext cx="13258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vives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3931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Nina ___ (tener) 16 años.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163824"/>
            <a:ext cx="13258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tiene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3931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Nosotros ___ (hablar) español.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1554480"/>
            <a:ext cx="13258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hablamos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59152"/>
            <a:ext cx="3931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Diego ___ (ir) al mercado.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2359152"/>
            <a:ext cx="13258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va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163824"/>
            <a:ext cx="3931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Ellos ___ (venir) de México.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3163824"/>
            <a:ext cx="13258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vienen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8056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7C56A9"/>
                </a:solidFill>
                <a:latin typeface="Inter"/>
              </a:rPr>
              <a:t>yo → -o (hablo, vivo) · soy/estoy/tengo/voy/vengo/hago/doy.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tú → -s · él/ella → -a/-e · nosotros → -mos · ellos → -n.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verbo «ser» + ¡ojo! soy / estoy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de vorm verschijnt. ser = wie/wat je bent.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3040" y="1737360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1828800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139696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5B3E83"/>
                </a:solidFill>
                <a:latin typeface="Bricolage Grotesque"/>
              </a:rPr>
              <a:t>soy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46320" y="1737360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0" y="1828800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2139696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5B3E83"/>
                </a:solidFill>
                <a:latin typeface="Bricolage Grotesque"/>
              </a:rPr>
              <a:t>eres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1737360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1828800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él/ella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139696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5B3E83"/>
                </a:solidFill>
                <a:latin typeface="Bricolage Grotesque"/>
              </a:rPr>
              <a:t>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463040" y="2852928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63040" y="2944368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nosotros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3255264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5B3E83"/>
                </a:solidFill>
                <a:latin typeface="Bricolage Grotesque"/>
              </a:rPr>
              <a:t>somos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46320" y="2852928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2944368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vosotros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3255264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5B3E83"/>
                </a:solidFill>
                <a:latin typeface="Bricolage Grotesque"/>
              </a:rPr>
              <a:t>sois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0" y="2852928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2944368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ellos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3255264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5B3E83"/>
                </a:solidFill>
                <a:latin typeface="Bricolage Grotesque"/>
              </a:rPr>
              <a:t>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61772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🟡 </a:t>
            </a:r>
            <a:r>
              <a:rPr sz="1300" b="1" i="0">
                <a:solidFill>
                  <a:srgbClr val="2563EB"/>
                </a:solidFill>
                <a:latin typeface="Inter"/>
              </a:rPr>
              <a:t>soy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= identiteit (soy belga, soy estudiante) · </a:t>
            </a:r>
            <a:r>
              <a:rPr sz="1300" b="1" i="0">
                <a:solidFill>
                  <a:srgbClr val="64748B"/>
                </a:solidFill>
                <a:latin typeface="Inter"/>
              </a:rPr>
              <a:t>estoy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= plaats/gevoel (estoy en clase, estoy bien).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16636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Truc: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permanent/eigenschap → ser (soy) · tijdelijk/plaats → estar (estoy). Contrast komt uitgebreid in U1.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0383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Género y concordancia — el/la · -o/-a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Lidwoord én adjectief volgen het zelfstandig naamwoord (m/v · ev/mv).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1554480"/>
            <a:ext cx="512064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563EB"/>
                </a:solidFill>
                <a:latin typeface="Inter"/>
              </a:rPr>
              <a:t>el </a:t>
            </a:r>
            <a:r>
              <a:rPr sz="2000" b="1" i="0">
                <a:solidFill>
                  <a:srgbClr val="20242E"/>
                </a:solidFill>
                <a:latin typeface="Inter"/>
              </a:rPr>
              <a:t>chic</a:t>
            </a:r>
            <a:r>
              <a:rPr sz="2000" b="1" i="0">
                <a:solidFill>
                  <a:srgbClr val="EA7317"/>
                </a:solidFill>
                <a:latin typeface="Inter"/>
              </a:rPr>
              <a:t>o </a:t>
            </a:r>
            <a:r>
              <a:rPr sz="2000" b="1" i="0">
                <a:solidFill>
                  <a:srgbClr val="20242E"/>
                </a:solidFill>
                <a:latin typeface="Inter"/>
              </a:rPr>
              <a:t>alt</a:t>
            </a:r>
            <a:r>
              <a:rPr sz="2000" b="1" i="0">
                <a:solidFill>
                  <a:srgbClr val="EA7317"/>
                </a:solidFill>
                <a:latin typeface="Inter"/>
              </a:rPr>
              <a:t>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155448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554480"/>
            <a:ext cx="512064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563EB"/>
                </a:solidFill>
                <a:latin typeface="Inter"/>
              </a:rPr>
              <a:t>la </a:t>
            </a:r>
            <a:r>
              <a:rPr sz="2000" b="1" i="0">
                <a:solidFill>
                  <a:srgbClr val="20242E"/>
                </a:solidFill>
                <a:latin typeface="Inter"/>
              </a:rPr>
              <a:t>chic</a:t>
            </a:r>
            <a:r>
              <a:rPr sz="2000" b="1" i="0">
                <a:solidFill>
                  <a:srgbClr val="DC2626"/>
                </a:solidFill>
                <a:latin typeface="Inter"/>
              </a:rPr>
              <a:t>a </a:t>
            </a:r>
            <a:r>
              <a:rPr sz="2000" b="1" i="0">
                <a:solidFill>
                  <a:srgbClr val="20242E"/>
                </a:solidFill>
                <a:latin typeface="Inter"/>
              </a:rPr>
              <a:t>alt</a:t>
            </a:r>
            <a:r>
              <a:rPr sz="2000" b="1" i="0">
                <a:solidFill>
                  <a:srgbClr val="DC2626"/>
                </a:solidFill>
                <a:latin typeface="Inter"/>
              </a:rPr>
              <a:t>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88036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880360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el / un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31719" y="2880360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masculino (-o)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55701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557016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la / una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31719" y="3557016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femenino (-a)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23367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4233672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los / las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19" y="4233672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plural (+ -s)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97680" y="288036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34840" y="2880360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-o → -a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2199" y="2880360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chico → chica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97680" y="355701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34840" y="3557016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🔴 el problema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199" y="3557016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-ma = m.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97680" y="423367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34840" y="4233672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🔴 la mano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72199" y="4233672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-o = f.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4" name="Rounded Rectangle 43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4892040"/>
            <a:ext cx="11247120" cy="68580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lidwoord + adjectief komen overeen in geslacht én getal. Uitzonderingen: el día/mapa/problema (m), la mano/foto (f).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¿el o la?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woord → het juiste lidwoord. Let op de valstrikken.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___ casa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600200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la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___ problema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478024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___ día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355848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___ mano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1600200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la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___ ciudad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2478024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la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___ mapa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46920" y="3355848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Valstrikken: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-ma → m (el problema, el idioma) · la mano, la foto (f ondanks -o) · -dad → f (la ciudad).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§5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Dos perfiles — «De vuelta al insti»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Lees en beantwoord.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die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914400" cy="914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181051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1">
                <a:solidFill>
                  <a:srgbClr val="20242E"/>
                </a:solidFill>
                <a:latin typeface="Inter"/>
              </a:rPr>
              <a:t>«Me llamo Diego, soy de la Ciudad de México. Tengo 16 años. Vivo con mi madre y mi hermana. En clase soy alegre. Hablo español y estudio neerlandés.»</a:t>
            </a:r>
          </a:p>
        </p:txBody>
      </p:sp>
      <p:pic>
        <p:nvPicPr>
          <p:cNvPr id="12" name="Picture 11" descr="nin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337560"/>
            <a:ext cx="914400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36499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1">
                <a:solidFill>
                  <a:srgbClr val="20242E"/>
                </a:solidFill>
                <a:latin typeface="Inter"/>
              </a:rPr>
              <a:t>«Soy Nina, peruana, de Cusco. Tengo 16 años y un hermano pequeño. Soy tranquila. Hablo español y un poco de quechua.»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¿De dónde es Diego?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De México (CDMX)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¿Qué lengua habla Nina además del español?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Un poco de quechua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¿Cuántos años tienen los dos?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Dieciséis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¿Cómo es Nina?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Tranquila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🎯 Leesdoel: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scannen naar datos (país, edad, lengua, carácter) — niet élk woord.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89320" y="50383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§4 · ESCUCHAR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Escucha las presentaciones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Vier personas se presentan. Klik un nombre → país + dato. (audio op de digitale pagina)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🔊  Lucía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Es de: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España 🇪🇸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Edad · carácter: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7C56A9"/>
                </a:solidFill>
                <a:latin typeface="Inter"/>
              </a:rPr>
              <a:t>16 · alegre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🔊  Diego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Es de: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México 🇲🇽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Edad · carácter: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7C56A9"/>
                </a:solidFill>
                <a:latin typeface="Inter"/>
              </a:rPr>
              <a:t>16 · hablador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🔊  Valen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Es de: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Colombia 🇨🇴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Edad · carácter: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7C56A9"/>
                </a:solidFill>
                <a:latin typeface="Inter"/>
              </a:rPr>
              <a:t>15 · costeña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🔊  Mateo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Es de: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Argentina 🇦🇷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Edad · carácter: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7C56A9"/>
                </a:solidFill>
                <a:latin typeface="Inter"/>
              </a:rPr>
              <a:t>17 · voseo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9" name="Rounded Rectangle 3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Modelo-audio (docent leest of TTS):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«Hola, me llamo Lucía, soy de España. Tengo dieciséis años y soy alegre.» …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Daarna spreken: elke leerling presenteert zich zoals het model.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¿soy o estoy?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zin → de juiste vorm. ser = identiteit · estar = plaats/gevoel.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1188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709928"/>
            <a:ext cx="33924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___ de Bélgica.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57400"/>
            <a:ext cx="361188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5B3E83"/>
                </a:solidFill>
                <a:latin typeface="Bricolage Grotesque"/>
              </a:rPr>
              <a:t>→ soy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600200"/>
            <a:ext cx="361188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61688" y="1709928"/>
            <a:ext cx="33924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___ en clase.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057400"/>
            <a:ext cx="361188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5B3E83"/>
                </a:solidFill>
                <a:latin typeface="Bricolage Grotesque"/>
              </a:rPr>
              <a:t>→ estoy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00200"/>
            <a:ext cx="361188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6448" y="1709928"/>
            <a:ext cx="33924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___ estudiante.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057400"/>
            <a:ext cx="361188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5B3E83"/>
                </a:solidFill>
                <a:latin typeface="Bricolage Grotesque"/>
              </a:rPr>
              <a:t>→ soy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834640"/>
            <a:ext cx="361188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944368"/>
            <a:ext cx="33924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Hoy ___ contento.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291840"/>
            <a:ext cx="361188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5B3E83"/>
                </a:solidFill>
                <a:latin typeface="Bricolage Grotesque"/>
              </a:rPr>
              <a:t>→ estoy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51960" y="2834640"/>
            <a:ext cx="361188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61688" y="2944368"/>
            <a:ext cx="33924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___ belga.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3291840"/>
            <a:ext cx="361188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5B3E83"/>
                </a:solidFill>
                <a:latin typeface="Bricolage Grotesque"/>
              </a:rPr>
              <a:t>→ soy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2834640"/>
            <a:ext cx="361188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56448" y="2944368"/>
            <a:ext cx="33924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___ muy bien, gracias.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3291840"/>
            <a:ext cx="361188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5B3E83"/>
                </a:solidFill>
                <a:latin typeface="Bricolage Grotesque"/>
              </a:rPr>
              <a:t>→ estoy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ser (soy):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herkomst · nationaliteit · beroep · karakter.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estar (estoy):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plaats · gevoel · toestand.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§1 · SPEAKING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¡Preséntate!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Speel de scène met de frames. Steun bouwt af: kaarten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Saludar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¡Hola! / Buenos días.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Nombre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Me llamo 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Origen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Soy de 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Edad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Tengo … años.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Dónde vives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Vivo en 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Lengua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Hablo 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251960"/>
            <a:ext cx="4156862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5B3E83"/>
                </a:solidFill>
                <a:latin typeface="Inter"/>
              </a:rPr>
              <a:t>🎙️ Grábate online · «Mensaje de voz: preséntate»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61772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kaarten.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alleen beginwoorden.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«¡Hola! Me llamo … Soy de … Tengo … años. Vivo en … Hablo … ¡Mucho gusto!»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tarjeta de reencuentro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Schrijf je kaartje.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✍️ Escribe aquí tu tarjeta: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nombre + edad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de dónde eres (origen)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dónde vives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una lengua que hablas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adjetivo de carácter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conector (y/pero/porque)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524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«¡Hola! Me llamo Sara. Soy de Bélgica y tengo 16 años. Vivo en Gante. Soy alegre y trabajadora, y hablo neerlandés y español. ¡Mucho gusto!»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§4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Países, nacionalidades y números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woord → de vertaling/vorm. Bouw je woordnetwerk.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España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1554480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español/a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México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1554480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mexicano/a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Colombia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1554480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colombiano/a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Perú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1554480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peruano/a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Argentina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20" y="2322576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argentino/a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Bélgica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2322576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belga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veinte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2322576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20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cincuenta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0" y="2322576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50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cien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20" y="3090672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100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lengua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37760" y="3090672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de taal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idioma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090672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de taal (m!)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nacionalidad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07040" y="3090672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nationaliteit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Zin: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Soy de España, soy español/a y hablo español. </a:t>
            </a:r>
            <a:r>
              <a:rPr sz="1200" b="0" i="0">
                <a:solidFill>
                  <a:srgbClr val="DC2626"/>
                </a:solidFill>
                <a:latin typeface="Inter"/>
              </a:rPr>
              <a:t>🔴 nacionalidades met kleine letter; landen met hoofdletter.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Números: veinte (20) · cincuenta (50) · cien (100).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Acentuación + conectores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item → correcte vorm. Gereedschap voor uitspraak en verbinden.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A · acento: aguda / llana / esdrújula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Ma-drid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1783080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aguda (laatste)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ca-sa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441448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llana (voorlaatste)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mú-si-ca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3099816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esdrújula (tilde!)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es-pa-ñol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3758184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aguda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B · conectores: y · pero · porque · también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39319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Soy de Bélgica ___ hablo NL.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60" y="1783080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39319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Estudio español ___ me gusta.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24160" y="2441448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porque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39319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Nina es tranquila, ___ Diego habla mucho.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4160" y="3099816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pero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39319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Tengo un hermano ___ una hermana.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0" y="3758184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de meeste woorden zijn llana; draagt het een tilde, volg de tilde (mú-si-ca).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B: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«want» én «omdat» = porque · «maar» = pero · «dus» = así que/por eso (niet luego).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1378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CULTURA · EL REENCUENTRO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mundo hispano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het weetje verschijnt. 21 países, 500+ miljoen sprekers.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🇪🇸 Europa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España is het enige Spaanstalige land in Europa. Ook catalán, gallego y euskera. Madrid = hoofdstad.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castellano = español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🌎 América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meeste hispanohablantes wonen in Latijns-Amerika: van México (~130 mln) tot Argentina (voseo).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19 landen, veel accenten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🌍 ¿Sabías que…?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Ook in Guinea Ecuatorial (Afrika) is Spaans officieel. En in de VS ~40 mln hispanohablantes.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2ª lengua materna del mundo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¿Qué país quieres visitar y por qué? Schrijf één zin met «Quiero visitar … porque …».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§1 · QUIZ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la presentación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Wat past? Klik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¿Cómo te ___? (heten)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39" y="1600200"/>
            <a:ext cx="1645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llamas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de Bélgica. (ik kom uit)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39" y="2478024"/>
            <a:ext cx="1645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Soy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Tengo dieciséis ___.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39" y="3355848"/>
            <a:ext cx="1645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años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¿De ___ eres? (waar)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39" y="1600200"/>
            <a:ext cx="1645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dónde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Yo ___ en Gante. (wonen)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39" y="2478024"/>
            <a:ext cx="1645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vivo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Mucho ___. (aangenaam)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21239" y="3355848"/>
            <a:ext cx="1645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gusto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Presentarse: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¿Cómo te llamas? · Soy de … · Tengo … años · ¿De dónde eres? · Vivo en … · Mucho gusto.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Bricolage Grotesque"/>
              </a:rPr>
              <a:t>🪪 Tarea final · Tarjeta de reencuentro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Maak je terugkeer-kaartje voor de klasmuur y preséntate en pareja.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Planifica tus datos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554480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nombre · edad · origen · lengua · carácter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Escribe la tarjeta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121408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4–5 frases con me llamo / soy / tengo / vivo / hablo + conector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Preséntate en pareja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688336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lee en voz alta; tu compañero/a anota un dato y pregunta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Graba tu presentación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3255264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en la web (recorder) — escúchate y mejora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Cuelga la tarjeta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3822192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en el muro de la clase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5 datos (nombre·edad·origen·lengua·carácter)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3756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presente correcto (soy/tengo/vivo)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un conector (y/pero/porque)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28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presentar en pareja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· ontvanger de klas (el muro) · doel jezelf (opnieuw) voorstellen · situatie de eerste les · resultaat: tarjeta + presentación oral.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Gemengde ophaal van de hele unit. Klik een vraag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yo (ser)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1600200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soy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tú (tener)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2313432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tienes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nosotros (vivir)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3026664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vivimos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España → nacionalidad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3320" y="3739896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español/a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la chica (alto)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1600200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alta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 ___ problema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2313432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«want/omdat» =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0" y="3026664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porque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en clase → soy/estoy?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3739896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estoy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el presente · género/concordancia · ser/estar · países/nacionalidades · conectores.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volledige herhaling (13 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Presentarte: me llamo · soy (de) · tengo … años · vivo en · hablo 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El presente: -ar → o/as/a/amos/áis/an · -er/-ir gelijkaardig · 7 onreg. (soy·estoy·tengo·voy·hago·vengo·doy).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Concordancia: el chico alto / la chica alta · los/las + -os/-as.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Países/nacionalidades: soy de España, soy español/a (kleine letter), hablo español.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🔴 Trampas: soy ≠ estoy · porque = want én omdat · nacionalidad = kleine letter · belga = m/v gelijk.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saludar + presentarse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 presente (regular + ser/estar/tener/ir)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género + concordancia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país/nacionalidad/lengua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leer un perfil + escribir una tarjeta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