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slides/slide23.xml" ContentType="application/vnd.openxmlformats-officedocument.presentationml.slide+xml"/>
  <Override PartName="/ppt/notesSlides/notesSlide2.xml" ContentType="application/vnd.openxmlformats-officedocument.presentationml.notesSlide+xml"/>
  <Override PartName="/ppt/slides/slide24.xml" ContentType="application/vnd.openxmlformats-officedocument.presentationml.slide+xml"/>
  <Override PartName="/ppt/notesSlides/notesSlide3.xml" ContentType="application/vnd.openxmlformats-officedocument.presentationml.notes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8" r:id="rId29"/>
    <p:sldId id="279" r:id="rId30"/>
    <p:sldId id="280" r:id="rId31"/>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3 · La entrevista de trabajo absurda — 🎭 simulatie met beperking</a:t>
            </a:r>
          </a:p>
          <a:p>
            <a:r>
              <a:t>OPDRACHT: Doe het sollicitatiegesprek. Alles in het presente, met één argument per antwoord.</a:t>
            </a:r>
          </a:p>
          <a:p>
            <a:r>
              <a:t>DE REGEL: Alles in het presente — geen verleden, geen toekomst. En op elke vraag antwoord je met een reden («porque…»), nooit met alleen «sí».</a:t>
            </a:r>
          </a:p>
          <a:p>
            <a:r>
              <a:t>VERLOOP: Elegid un trabajo absurdo. | El entrevistador elige cinco preguntas. | El candidato contesta en presente, con porque. | Cambiad de papel. | La clase decide quién contrata a quién.</a:t>
            </a:r>
          </a:p>
          <a:p>
            <a:r>
              <a:t>SLEUTEL: De usted-vorm in de vragen tegenover de yo-vorm in de antwoorden is de eigenlijke drill: elke beurt oefent twee persoonsvormen tegelijk.  ||  «¿Cuál es su mayor defecto?» is de moeilijkste: het antwoord vraagt om een «pero»-zin, en dat is precies de conector die het leerplan wil.  ||  Het absurde is geen decor maar een didactisch middel: niemand kan een voorbereid antwoord uit het hoofd opzeggen over pandaverzorging, dus iedereen moet echt formuleren.</a:t>
            </a:r>
          </a:p>
          <a:p>
            <a:r>
              <a:t>NOTA: Werkt sterk in de eerste weken: er is geen goed antwoord, dus zij-instromers en doorstromers staan even sterk.</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9 · Un país en cinco datos — 🔬 onderzoek &amp; data</a:t>
            </a:r>
          </a:p>
          <a:p>
            <a:r>
              <a:t>OPDRACHT: Presenteer je land in vijf cijfers. De klas raadt welk het is.</a:t>
            </a:r>
          </a:p>
          <a:p>
            <a:r>
              <a:t>DE REGEL: De landnaam, de hoofdstad en de vlag zijn verboden. Alleen cijfers, en elk cijfer krijgt een zin met een werkwoord — een lijstje getallen is geen presentatie.</a:t>
            </a:r>
          </a:p>
          <a:p>
            <a:r>
              <a:t>VERLOOP: Elige un país hispanohablante. | Busca cinco cifras de verdad. | Escribe una frase por cifra. | Presenta. La clase adivina. | ¿Han acertado antes del quinto dato? Eran demasiado fáciles.</a:t>
            </a:r>
          </a:p>
          <a:p>
            <a:r>
              <a:t>SLEUTEL: Het voorbeeld is Paraguay: binnenland, twee officiële talen, guaraní bij bijna iedereen. Laat het pas zien ná de eerste ronde, anders kiest de halve klas datzelfde land.  ||  Van makkelijk naar moeilijk ordenen is de kunst: begin met het cijfer dat het minst verraadt en houd het meest kenmerkende voor het laatst.  ||  Toets de vijf zinnen (werkwoord plus cijfer), niet of het geraden wordt. Te snel geraden betekent alleen dat de volgorde beter kon.</a:t>
            </a:r>
          </a:p>
          <a:p>
            <a:r>
              <a:t>NOTA: Laat elk land maar één keer kiezen: zo dekt de klas samen de hele Spaanstalige wereld af in één les.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10 · La clase perfecta — ⚖️ onderhandeling &amp; dilemma</a:t>
            </a:r>
          </a:p>
          <a:p>
            <a:r>
              <a:t>OPDRACHT: Stel voor, onderhandel en stem over tien afspraken. Elk voorstel met ser of estar.</a:t>
            </a:r>
          </a:p>
          <a:p>
            <a:r>
              <a:t>DE REGEL: Elk voorstel bevat een zin met «es» of «está» — «es importante que hablemos español» mag niet, want dat is subjuntivo; «es importante hablar español» wel. Een voorstel zonder ser of estar komt niet op het bord.</a:t>
            </a:r>
          </a:p>
          <a:p>
            <a:r>
              <a:t>VERLOOP: Cada uno escribe dos propuestas. | Se leen en voz alta. Solo las que llevan ser o estar. | Se negocian las parecidas. | Se vota. Diez reglas, ni una más. | Se cuelgan en la pared, en español.</a:t>
            </a:r>
          </a:p>
          <a:p>
            <a:r>
              <a:t>SLEUTEL: De grammaticale grens is hier de leerstof: «es importante + infinitivo» werkt, «es importante que + subjuntivo» niet — en subjuntivo hoort niet in dit leerplan. Dat verschil is meteen een echte les.  ||  Het derde dilemma is voor deze groep het belangrijkste: de klas zit vol zij-instromers. Laat de afspraak daarover écht gemaakt worden, niet weggestemd.  ||  Toets de tien afspraken op vorm (ser of estar) en op het feit dat ze in het Spaans aan de muur hangen. De inhoud is van de klas, niet van de leerkracht.</a:t>
            </a:r>
          </a:p>
          <a:p>
            <a:r>
              <a:t>NOTA: Hang ze echt op en verwijs er het hele jaar naar. Een afspraak die na één les verdwijnt, leert de klas dat de reto een spelletje was.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7.xml"/><Relationship Id="rId5" Type="http://schemas.openxmlformats.org/officeDocument/2006/relationships/slide" Target="slide14.xml"/><Relationship Id="rId6" Type="http://schemas.openxmlformats.org/officeDocument/2006/relationships/slide" Target="slide9.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29768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97680"/>
            <a:ext cx="12191695" cy="82296"/>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20040"/>
            <a:ext cx="3108960" cy="32918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6000" b="1" i="0">
                <a:solidFill>
                  <a:srgbClr val="9374C2"/>
                </a:solidFill>
                <a:latin typeface="Bricolage Grotesque"/>
              </a:rPr>
              <a:t>0</a:t>
            </a:r>
          </a:p>
        </p:txBody>
      </p:sp>
      <p:sp>
        <p:nvSpPr>
          <p:cNvPr id="6" name="Rounded Rectangle 5"/>
          <p:cNvSpPr/>
          <p:nvPr/>
        </p:nvSpPr>
        <p:spPr>
          <a:xfrm>
            <a:off x="3977639" y="777240"/>
            <a:ext cx="390448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5B3E83"/>
                </a:solidFill>
                <a:latin typeface="Inter"/>
              </a:rPr>
              <a:t>LA RUTA · EL REENCUENTRO · EL MUNDO HISPANO 🧭</a:t>
            </a:r>
          </a:p>
        </p:txBody>
      </p:sp>
      <p:sp>
        <p:nvSpPr>
          <p:cNvPr id="7" name="TextBox 6"/>
          <p:cNvSpPr txBox="1"/>
          <p:nvPr/>
        </p:nvSpPr>
        <p:spPr>
          <a:xfrm>
            <a:off x="3931920" y="1234440"/>
            <a:ext cx="7863840" cy="13716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6600" b="1" i="0">
                <a:solidFill>
                  <a:srgbClr val="FFFFFF"/>
                </a:solidFill>
                <a:latin typeface="Bricolage Grotesque"/>
              </a:rPr>
              <a:t>¡Volvemos!</a:t>
            </a:r>
          </a:p>
        </p:txBody>
      </p:sp>
      <p:sp>
        <p:nvSpPr>
          <p:cNvPr id="8" name="TextBox 7"/>
          <p:cNvSpPr txBox="1"/>
          <p:nvPr/>
        </p:nvSpPr>
        <p:spPr>
          <a:xfrm>
            <a:off x="3977639" y="2468880"/>
            <a:ext cx="7680960" cy="5486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500" b="0" i="1">
                <a:solidFill>
                  <a:srgbClr val="EEE8F5"/>
                </a:solidFill>
                <a:latin typeface="Inter"/>
              </a:rPr>
              <a:t>Otra vez juntos: saludar, presentarte y activar tu base (presente · género · países).</a:t>
            </a:r>
          </a:p>
        </p:txBody>
      </p:sp>
      <p:sp>
        <p:nvSpPr>
          <p:cNvPr id="9" name="TextBox 8"/>
          <p:cNvSpPr txBox="1"/>
          <p:nvPr/>
        </p:nvSpPr>
        <p:spPr>
          <a:xfrm>
            <a:off x="3977639" y="3063240"/>
            <a:ext cx="7680960" cy="8229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2400" b="1" i="0">
                <a:solidFill>
                  <a:srgbClr val="FFFFFF"/>
                </a:solidFill>
                <a:latin typeface="Bricolage Grotesque"/>
              </a:rPr>
              <a:t>¿Quién eres… otra vez?</a:t>
            </a:r>
          </a:p>
          <a:p>
            <a:pPr algn="l">
              <a:lnSpc>
                <a:spcPct val="106000"/>
              </a:lnSpc>
              <a:spcBef>
                <a:spcPts val="0"/>
              </a:spcBef>
              <a:spcAft>
                <a:spcPts val="200"/>
              </a:spcAft>
            </a:pPr>
            <a:r>
              <a:rPr sz="1300" b="0" i="1">
                <a:solidFill>
                  <a:srgbClr val="EEE8F5"/>
                </a:solidFill>
                <a:latin typeface="Inter"/>
              </a:rPr>
              <a:t>Wie ben je… opnieuw?</a:t>
            </a:r>
          </a:p>
        </p:txBody>
      </p:sp>
      <p:sp>
        <p:nvSpPr>
          <p:cNvPr id="10" name="TextBox 9"/>
          <p:cNvSpPr txBox="1"/>
          <p:nvPr/>
        </p:nvSpPr>
        <p:spPr>
          <a:xfrm>
            <a:off x="548640" y="45262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La gente de la ruta — je reisgezellen</a:t>
            </a:r>
          </a:p>
        </p:txBody>
      </p:sp>
      <p:pic>
        <p:nvPicPr>
          <p:cNvPr id="11" name="Picture 10" descr="lucia.png"/>
          <p:cNvPicPr>
            <a:picLocks noChangeAspect="1"/>
          </p:cNvPicPr>
          <p:nvPr/>
        </p:nvPicPr>
        <p:blipFill>
          <a:blip r:embed="rId2"/>
          <a:stretch>
            <a:fillRect/>
          </a:stretch>
        </p:blipFill>
        <p:spPr>
          <a:xfrm>
            <a:off x="548640" y="4937760"/>
            <a:ext cx="914400" cy="914400"/>
          </a:xfrm>
          <a:prstGeom prst="rect">
            <a:avLst/>
          </a:prstGeom>
        </p:spPr>
      </p:pic>
      <p:sp>
        <p:nvSpPr>
          <p:cNvPr id="12" name="TextBox 11"/>
          <p:cNvSpPr txBox="1"/>
          <p:nvPr/>
        </p:nvSpPr>
        <p:spPr>
          <a:xfrm>
            <a:off x="411480"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Lucia</a:t>
            </a:r>
          </a:p>
          <a:p>
            <a:pPr algn="ctr">
              <a:lnSpc>
                <a:spcPct val="106000"/>
              </a:lnSpc>
              <a:spcBef>
                <a:spcPts val="0"/>
              </a:spcBef>
              <a:spcAft>
                <a:spcPts val="200"/>
              </a:spcAft>
            </a:pPr>
            <a:r>
              <a:rPr sz="850" b="0" i="0">
                <a:solidFill>
                  <a:srgbClr val="6A6E78"/>
                </a:solidFill>
                <a:latin typeface="Inter"/>
              </a:rPr>
              <a:t>Sevilla 🇪🇸</a:t>
            </a:r>
          </a:p>
        </p:txBody>
      </p:sp>
      <p:pic>
        <p:nvPicPr>
          <p:cNvPr id="13" name="Picture 12" descr="diego.png"/>
          <p:cNvPicPr>
            <a:picLocks noChangeAspect="1"/>
          </p:cNvPicPr>
          <p:nvPr/>
        </p:nvPicPr>
        <p:blipFill>
          <a:blip r:embed="rId3"/>
          <a:stretch>
            <a:fillRect/>
          </a:stretch>
        </p:blipFill>
        <p:spPr>
          <a:xfrm>
            <a:off x="2423159" y="4937760"/>
            <a:ext cx="914400" cy="914400"/>
          </a:xfrm>
          <a:prstGeom prst="rect">
            <a:avLst/>
          </a:prstGeom>
        </p:spPr>
      </p:pic>
      <p:sp>
        <p:nvSpPr>
          <p:cNvPr id="14" name="TextBox 13"/>
          <p:cNvSpPr txBox="1"/>
          <p:nvPr/>
        </p:nvSpPr>
        <p:spPr>
          <a:xfrm>
            <a:off x="2285999"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Diego</a:t>
            </a:r>
          </a:p>
          <a:p>
            <a:pPr algn="ctr">
              <a:lnSpc>
                <a:spcPct val="106000"/>
              </a:lnSpc>
              <a:spcBef>
                <a:spcPts val="0"/>
              </a:spcBef>
              <a:spcAft>
                <a:spcPts val="200"/>
              </a:spcAft>
            </a:pPr>
            <a:r>
              <a:rPr sz="850" b="0" i="0">
                <a:solidFill>
                  <a:srgbClr val="6A6E78"/>
                </a:solidFill>
                <a:latin typeface="Inter"/>
              </a:rPr>
              <a:t>CDMX 🇲🇽</a:t>
            </a:r>
          </a:p>
        </p:txBody>
      </p:sp>
      <p:pic>
        <p:nvPicPr>
          <p:cNvPr id="15" name="Picture 14" descr="valen.png"/>
          <p:cNvPicPr>
            <a:picLocks noChangeAspect="1"/>
          </p:cNvPicPr>
          <p:nvPr/>
        </p:nvPicPr>
        <p:blipFill>
          <a:blip r:embed="rId4"/>
          <a:stretch>
            <a:fillRect/>
          </a:stretch>
        </p:blipFill>
        <p:spPr>
          <a:xfrm>
            <a:off x="4297678" y="4937760"/>
            <a:ext cx="914400" cy="914400"/>
          </a:xfrm>
          <a:prstGeom prst="rect">
            <a:avLst/>
          </a:prstGeom>
        </p:spPr>
      </p:pic>
      <p:sp>
        <p:nvSpPr>
          <p:cNvPr id="16" name="TextBox 15"/>
          <p:cNvSpPr txBox="1"/>
          <p:nvPr/>
        </p:nvSpPr>
        <p:spPr>
          <a:xfrm>
            <a:off x="4160518"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Valen</a:t>
            </a:r>
          </a:p>
          <a:p>
            <a:pPr algn="ctr">
              <a:lnSpc>
                <a:spcPct val="106000"/>
              </a:lnSpc>
              <a:spcBef>
                <a:spcPts val="0"/>
              </a:spcBef>
              <a:spcAft>
                <a:spcPts val="200"/>
              </a:spcAft>
            </a:pPr>
            <a:r>
              <a:rPr sz="850" b="0" i="0">
                <a:solidFill>
                  <a:srgbClr val="6A6E78"/>
                </a:solidFill>
                <a:latin typeface="Inter"/>
              </a:rPr>
              <a:t>Cartagena 🇨🇴</a:t>
            </a:r>
          </a:p>
        </p:txBody>
      </p:sp>
      <p:pic>
        <p:nvPicPr>
          <p:cNvPr id="17" name="Picture 16" descr="nina.png"/>
          <p:cNvPicPr>
            <a:picLocks noChangeAspect="1"/>
          </p:cNvPicPr>
          <p:nvPr/>
        </p:nvPicPr>
        <p:blipFill>
          <a:blip r:embed="rId5"/>
          <a:stretch>
            <a:fillRect/>
          </a:stretch>
        </p:blipFill>
        <p:spPr>
          <a:xfrm>
            <a:off x="6172197" y="4937760"/>
            <a:ext cx="914400" cy="914400"/>
          </a:xfrm>
          <a:prstGeom prst="rect">
            <a:avLst/>
          </a:prstGeom>
        </p:spPr>
      </p:pic>
      <p:sp>
        <p:nvSpPr>
          <p:cNvPr id="18" name="TextBox 17"/>
          <p:cNvSpPr txBox="1"/>
          <p:nvPr/>
        </p:nvSpPr>
        <p:spPr>
          <a:xfrm>
            <a:off x="6035037"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Nina</a:t>
            </a:r>
          </a:p>
          <a:p>
            <a:pPr algn="ctr">
              <a:lnSpc>
                <a:spcPct val="106000"/>
              </a:lnSpc>
              <a:spcBef>
                <a:spcPts val="0"/>
              </a:spcBef>
              <a:spcAft>
                <a:spcPts val="200"/>
              </a:spcAft>
            </a:pPr>
            <a:r>
              <a:rPr sz="850" b="0" i="0">
                <a:solidFill>
                  <a:srgbClr val="6A6E78"/>
                </a:solidFill>
                <a:latin typeface="Inter"/>
              </a:rPr>
              <a:t>Cusco 🇵🇪</a:t>
            </a:r>
          </a:p>
        </p:txBody>
      </p:sp>
      <p:pic>
        <p:nvPicPr>
          <p:cNvPr id="19" name="Picture 18" descr="tu.png"/>
          <p:cNvPicPr>
            <a:picLocks noChangeAspect="1"/>
          </p:cNvPicPr>
          <p:nvPr/>
        </p:nvPicPr>
        <p:blipFill>
          <a:blip r:embed="rId6"/>
          <a:stretch>
            <a:fillRect/>
          </a:stretch>
        </p:blipFill>
        <p:spPr>
          <a:xfrm>
            <a:off x="8046716" y="4937760"/>
            <a:ext cx="914400" cy="914400"/>
          </a:xfrm>
          <a:prstGeom prst="rect">
            <a:avLst/>
          </a:prstGeom>
        </p:spPr>
      </p:pic>
      <p:sp>
        <p:nvSpPr>
          <p:cNvPr id="20" name="TextBox 19"/>
          <p:cNvSpPr txBox="1"/>
          <p:nvPr/>
        </p:nvSpPr>
        <p:spPr>
          <a:xfrm>
            <a:off x="7909556"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Tú</a:t>
            </a:r>
          </a:p>
          <a:p>
            <a:pPr algn="ctr">
              <a:lnSpc>
                <a:spcPct val="106000"/>
              </a:lnSpc>
              <a:spcBef>
                <a:spcPts val="0"/>
              </a:spcBef>
              <a:spcAft>
                <a:spcPts val="200"/>
              </a:spcAft>
            </a:pPr>
            <a:r>
              <a:rPr sz="850" b="0" i="0">
                <a:solidFill>
                  <a:srgbClr val="6A6E78"/>
                </a:solidFill>
                <a:latin typeface="Inter"/>
              </a:rPr>
              <a:t>de reiziger = jij</a:t>
            </a:r>
          </a:p>
        </p:txBody>
      </p:sp>
      <p:pic>
        <p:nvPicPr>
          <p:cNvPr id="21" name="Picture 20" descr="mochila.png"/>
          <p:cNvPicPr>
            <a:picLocks noChangeAspect="1"/>
          </p:cNvPicPr>
          <p:nvPr/>
        </p:nvPicPr>
        <p:blipFill>
          <a:blip r:embed="rId7"/>
          <a:stretch>
            <a:fillRect/>
          </a:stretch>
        </p:blipFill>
        <p:spPr>
          <a:xfrm>
            <a:off x="9921235" y="4937760"/>
            <a:ext cx="914400" cy="914400"/>
          </a:xfrm>
          <a:prstGeom prst="rect">
            <a:avLst/>
          </a:prstGeom>
        </p:spPr>
      </p:pic>
      <p:sp>
        <p:nvSpPr>
          <p:cNvPr id="22" name="TextBox 21"/>
          <p:cNvSpPr txBox="1"/>
          <p:nvPr/>
        </p:nvSpPr>
        <p:spPr>
          <a:xfrm>
            <a:off x="9784075"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Mochila</a:t>
            </a:r>
          </a:p>
          <a:p>
            <a:pPr algn="ctr">
              <a:lnSpc>
                <a:spcPct val="106000"/>
              </a:lnSpc>
              <a:spcBef>
                <a:spcPts val="0"/>
              </a:spcBef>
              <a:spcAft>
                <a:spcPts val="200"/>
              </a:spcAft>
            </a:pPr>
            <a:r>
              <a:rPr sz="850" b="0" i="0">
                <a:solidFill>
                  <a:srgbClr val="6A6E78"/>
                </a:solidFill>
                <a:latin typeface="Inter"/>
              </a:rPr>
              <a:t>La mochila</a:t>
            </a:r>
          </a:p>
        </p:txBody>
      </p:sp>
      <p:sp>
        <p:nvSpPr>
          <p:cNvPr id="23" name="Rectangle 2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25" name="TextBox 2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26" name="TextBox 2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63311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MENÚ DE LA LECCIÓN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0</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mapa de la Unidad 0</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Kies je route — klik een tegel. Alles oefent naar de Tarea «Tarjeta de reencuentro» toe.</a:t>
            </a:r>
          </a:p>
        </p:txBody>
      </p:sp>
      <p:sp>
        <p:nvSpPr>
          <p:cNvPr id="9" name="Rounded Rectangle 8">
            <a:hlinkClick action="ppaction://hlinksldjump" r:id="rId2"/>
          </p:cNvPr>
          <p:cNvSpPr/>
          <p:nvPr/>
        </p:nvSpPr>
        <p:spPr>
          <a:xfrm>
            <a:off x="457200" y="1417320"/>
            <a:ext cx="2743200" cy="2240280"/>
          </a:xfrm>
          <a:prstGeom prst="roundRect">
            <a:avLst>
              <a:gd name="adj" fmla="val 5500"/>
            </a:avLst>
          </a:prstGeom>
          <a:solidFill>
            <a:srgbClr val="FFFFFF"/>
          </a:solidFill>
          <a:ln w="2032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2"/>
          </p:cNvPr>
          <p:cNvSpPr/>
          <p:nvPr/>
        </p:nvSpPr>
        <p:spPr>
          <a:xfrm>
            <a:off x="457200" y="1417320"/>
            <a:ext cx="2743200" cy="45720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C56A9"/>
                </a:solidFill>
                <a:latin typeface="Bricolage Grotesque"/>
              </a:rPr>
              <a:t>§1</a:t>
            </a:r>
          </a:p>
        </p:txBody>
      </p:sp>
      <p:sp>
        <p:nvSpPr>
          <p:cNvPr id="12" name="TextBox 11"/>
          <p:cNvSpPr txBox="1"/>
          <p:nvPr/>
        </p:nvSpPr>
        <p:spPr>
          <a:xfrm>
            <a:off x="987552"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Saludos</a:t>
            </a:r>
          </a:p>
        </p:txBody>
      </p:sp>
      <p:sp>
        <p:nvSpPr>
          <p:cNvPr id="13" name="TextBox 12"/>
          <p:cNvSpPr txBox="1"/>
          <p:nvPr/>
        </p:nvSpPr>
        <p:spPr>
          <a:xfrm>
            <a:off x="621792"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presentarse · tú/usted</a:t>
            </a:r>
          </a:p>
        </p:txBody>
      </p:sp>
      <p:sp>
        <p:nvSpPr>
          <p:cNvPr id="14" name="Rounded Rectangle 13"/>
          <p:cNvSpPr/>
          <p:nvPr/>
        </p:nvSpPr>
        <p:spPr>
          <a:xfrm>
            <a:off x="621792" y="3246120"/>
            <a:ext cx="707745"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3</a:t>
            </a:r>
          </a:p>
        </p:txBody>
      </p:sp>
      <p:sp>
        <p:nvSpPr>
          <p:cNvPr id="15" name="Rounded Rectangle 14">
            <a:hlinkClick action="ppaction://hlinksldjump" r:id="rId3"/>
          </p:cNvPr>
          <p:cNvSpPr/>
          <p:nvPr/>
        </p:nvSpPr>
        <p:spPr>
          <a:xfrm>
            <a:off x="3328416" y="1417320"/>
            <a:ext cx="2743200" cy="2240280"/>
          </a:xfrm>
          <a:prstGeom prst="roundRect">
            <a:avLst>
              <a:gd name="adj" fmla="val 5500"/>
            </a:avLst>
          </a:prstGeom>
          <a:solidFill>
            <a:srgbClr val="FFFFFF"/>
          </a:solidFill>
          <a:ln w="2032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hlinkClick action="ppaction://hlinksldjump" r:id="rId3"/>
          </p:cNvPr>
          <p:cNvSpPr/>
          <p:nvPr/>
        </p:nvSpPr>
        <p:spPr>
          <a:xfrm>
            <a:off x="3328416" y="1417320"/>
            <a:ext cx="2743200" cy="45720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38144"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C56A9"/>
                </a:solidFill>
                <a:latin typeface="Bricolage Grotesque"/>
              </a:rPr>
              <a:t>§2</a:t>
            </a:r>
          </a:p>
        </p:txBody>
      </p:sp>
      <p:sp>
        <p:nvSpPr>
          <p:cNvPr id="18" name="TextBox 17"/>
          <p:cNvSpPr txBox="1"/>
          <p:nvPr/>
        </p:nvSpPr>
        <p:spPr>
          <a:xfrm>
            <a:off x="3858768"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El presente</a:t>
            </a:r>
          </a:p>
        </p:txBody>
      </p:sp>
      <p:sp>
        <p:nvSpPr>
          <p:cNvPr id="19" name="TextBox 18"/>
          <p:cNvSpPr txBox="1"/>
          <p:nvPr/>
        </p:nvSpPr>
        <p:spPr>
          <a:xfrm>
            <a:off x="3493008"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regular + ser/estar/ir…</a:t>
            </a:r>
          </a:p>
        </p:txBody>
      </p:sp>
      <p:sp>
        <p:nvSpPr>
          <p:cNvPr id="20" name="Rounded Rectangle 19"/>
          <p:cNvSpPr/>
          <p:nvPr/>
        </p:nvSpPr>
        <p:spPr>
          <a:xfrm>
            <a:off x="3493008" y="3246120"/>
            <a:ext cx="707745"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4</a:t>
            </a:r>
          </a:p>
        </p:txBody>
      </p:sp>
      <p:sp>
        <p:nvSpPr>
          <p:cNvPr id="21" name="Rounded Rectangle 20">
            <a:hlinkClick action="ppaction://hlinksldjump" r:id="rId4"/>
          </p:cNvPr>
          <p:cNvSpPr/>
          <p:nvPr/>
        </p:nvSpPr>
        <p:spPr>
          <a:xfrm>
            <a:off x="6199632" y="1417320"/>
            <a:ext cx="2743200" cy="2240280"/>
          </a:xfrm>
          <a:prstGeom prst="roundRect">
            <a:avLst>
              <a:gd name="adj" fmla="val 5500"/>
            </a:avLst>
          </a:prstGeom>
          <a:solidFill>
            <a:srgbClr val="FFFFFF"/>
          </a:solidFill>
          <a:ln w="2032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hlinkClick action="ppaction://hlinksldjump" r:id="rId4"/>
          </p:cNvPr>
          <p:cNvSpPr/>
          <p:nvPr/>
        </p:nvSpPr>
        <p:spPr>
          <a:xfrm>
            <a:off x="6199632" y="1417320"/>
            <a:ext cx="2743200" cy="45720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C56A9"/>
                </a:solidFill>
                <a:latin typeface="Bricolage Grotesque"/>
              </a:rPr>
              <a:t>§3</a:t>
            </a:r>
          </a:p>
        </p:txBody>
      </p:sp>
      <p:sp>
        <p:nvSpPr>
          <p:cNvPr id="24" name="TextBox 23"/>
          <p:cNvSpPr txBox="1"/>
          <p:nvPr/>
        </p:nvSpPr>
        <p:spPr>
          <a:xfrm>
            <a:off x="6729984"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Género y adj.</a:t>
            </a:r>
          </a:p>
        </p:txBody>
      </p:sp>
      <p:sp>
        <p:nvSpPr>
          <p:cNvPr id="25" name="TextBox 24"/>
          <p:cNvSpPr txBox="1"/>
          <p:nvPr/>
        </p:nvSpPr>
        <p:spPr>
          <a:xfrm>
            <a:off x="6364224"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el/la · -o/-a</a:t>
            </a:r>
          </a:p>
        </p:txBody>
      </p:sp>
      <p:sp>
        <p:nvSpPr>
          <p:cNvPr id="26" name="Rounded Rectangle 25"/>
          <p:cNvSpPr/>
          <p:nvPr/>
        </p:nvSpPr>
        <p:spPr>
          <a:xfrm>
            <a:off x="6364224" y="3246120"/>
            <a:ext cx="707745"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7</a:t>
            </a:r>
          </a:p>
        </p:txBody>
      </p:sp>
      <p:sp>
        <p:nvSpPr>
          <p:cNvPr id="27" name="Rounded Rectangle 26">
            <a:hlinkClick action="ppaction://hlinksldjump" r:id="rId5"/>
          </p:cNvPr>
          <p:cNvSpPr/>
          <p:nvPr/>
        </p:nvSpPr>
        <p:spPr>
          <a:xfrm>
            <a:off x="9070848" y="1417320"/>
            <a:ext cx="2743200" cy="2240280"/>
          </a:xfrm>
          <a:prstGeom prst="roundRect">
            <a:avLst>
              <a:gd name="adj" fmla="val 5500"/>
            </a:avLst>
          </a:prstGeom>
          <a:solidFill>
            <a:srgbClr val="FFFFFF"/>
          </a:solidFill>
          <a:ln w="2032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a:hlinkClick action="ppaction://hlinksldjump" r:id="rId5"/>
          </p:cNvPr>
          <p:cNvSpPr/>
          <p:nvPr/>
        </p:nvSpPr>
        <p:spPr>
          <a:xfrm>
            <a:off x="9070848" y="1417320"/>
            <a:ext cx="2743200" cy="45720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80576"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C56A9"/>
                </a:solidFill>
                <a:latin typeface="Bricolage Grotesque"/>
              </a:rPr>
              <a:t>§4</a:t>
            </a:r>
          </a:p>
        </p:txBody>
      </p:sp>
      <p:sp>
        <p:nvSpPr>
          <p:cNvPr id="30" name="TextBox 29"/>
          <p:cNvSpPr txBox="1"/>
          <p:nvPr/>
        </p:nvSpPr>
        <p:spPr>
          <a:xfrm>
            <a:off x="9601200"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Países</a:t>
            </a:r>
          </a:p>
        </p:txBody>
      </p:sp>
      <p:sp>
        <p:nvSpPr>
          <p:cNvPr id="31" name="TextBox 30"/>
          <p:cNvSpPr txBox="1"/>
          <p:nvPr/>
        </p:nvSpPr>
        <p:spPr>
          <a:xfrm>
            <a:off x="9235440"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nacionalidad · lengua</a:t>
            </a:r>
          </a:p>
        </p:txBody>
      </p:sp>
      <p:sp>
        <p:nvSpPr>
          <p:cNvPr id="32" name="Rounded Rectangle 31"/>
          <p:cNvSpPr/>
          <p:nvPr/>
        </p:nvSpPr>
        <p:spPr>
          <a:xfrm>
            <a:off x="9235440" y="3246120"/>
            <a:ext cx="79187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14</a:t>
            </a:r>
          </a:p>
        </p:txBody>
      </p:sp>
      <p:sp>
        <p:nvSpPr>
          <p:cNvPr id="33" name="Rounded Rectangle 32">
            <a:hlinkClick action="ppaction://hlinksldjump" r:id="rId6"/>
          </p:cNvPr>
          <p:cNvSpPr/>
          <p:nvPr/>
        </p:nvSpPr>
        <p:spPr>
          <a:xfrm>
            <a:off x="457200" y="3840480"/>
            <a:ext cx="2743200" cy="2240280"/>
          </a:xfrm>
          <a:prstGeom prst="roundRect">
            <a:avLst>
              <a:gd name="adj" fmla="val 5500"/>
            </a:avLst>
          </a:prstGeom>
          <a:solidFill>
            <a:srgbClr val="FFFFFF"/>
          </a:solidFill>
          <a:ln w="2032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a:hlinkClick action="ppaction://hlinksldjump" r:id="rId6"/>
          </p:cNvPr>
          <p:cNvSpPr/>
          <p:nvPr/>
        </p:nvSpPr>
        <p:spPr>
          <a:xfrm>
            <a:off x="457200" y="3840480"/>
            <a:ext cx="2743200" cy="457200"/>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C56A9"/>
                </a:solidFill>
                <a:latin typeface="Bricolage Grotesque"/>
              </a:rPr>
              <a:t>§5</a:t>
            </a:r>
          </a:p>
        </p:txBody>
      </p:sp>
      <p:sp>
        <p:nvSpPr>
          <p:cNvPr id="36" name="TextBox 35"/>
          <p:cNvSpPr txBox="1"/>
          <p:nvPr/>
        </p:nvSpPr>
        <p:spPr>
          <a:xfrm>
            <a:off x="987552"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Lectura + escucha</a:t>
            </a:r>
          </a:p>
        </p:txBody>
      </p:sp>
      <p:sp>
        <p:nvSpPr>
          <p:cNvPr id="37" name="TextBox 36"/>
          <p:cNvSpPr txBox="1"/>
          <p:nvPr/>
        </p:nvSpPr>
        <p:spPr>
          <a:xfrm>
            <a:off x="621792"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dos perfiles</a:t>
            </a:r>
          </a:p>
        </p:txBody>
      </p:sp>
      <p:sp>
        <p:nvSpPr>
          <p:cNvPr id="38" name="Rounded Rectangle 37"/>
          <p:cNvSpPr/>
          <p:nvPr/>
        </p:nvSpPr>
        <p:spPr>
          <a:xfrm>
            <a:off x="621792" y="5669280"/>
            <a:ext cx="707745"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9</a:t>
            </a:r>
          </a:p>
        </p:txBody>
      </p:sp>
      <p:sp>
        <p:nvSpPr>
          <p:cNvPr id="39" name="Rounded Rectangle 38">
            <a:hlinkClick action="ppaction://hlinksldjump" r:id="rId7"/>
          </p:cNvPr>
          <p:cNvSpPr/>
          <p:nvPr/>
        </p:nvSpPr>
        <p:spPr>
          <a:xfrm>
            <a:off x="3328416" y="3840480"/>
            <a:ext cx="2743200" cy="2240280"/>
          </a:xfrm>
          <a:prstGeom prst="roundRect">
            <a:avLst>
              <a:gd name="adj" fmla="val 5500"/>
            </a:avLst>
          </a:prstGeom>
          <a:solidFill>
            <a:srgbClr val="FFFFFF"/>
          </a:solidFill>
          <a:ln w="20320">
            <a:solidFill>
              <a:srgbClr val="5B3E83"/>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a:hlinkClick action="ppaction://hlinksldjump" r:id="rId7"/>
          </p:cNvPr>
          <p:cNvSpPr/>
          <p:nvPr/>
        </p:nvSpPr>
        <p:spPr>
          <a:xfrm>
            <a:off x="3328416" y="3840480"/>
            <a:ext cx="2743200" cy="457200"/>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438144"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5B3E83"/>
                </a:solidFill>
                <a:latin typeface="Bricolage Grotesque"/>
              </a:rPr>
              <a:t>★</a:t>
            </a:r>
          </a:p>
        </p:txBody>
      </p:sp>
      <p:sp>
        <p:nvSpPr>
          <p:cNvPr id="42" name="TextBox 41"/>
          <p:cNvSpPr txBox="1"/>
          <p:nvPr/>
        </p:nvSpPr>
        <p:spPr>
          <a:xfrm>
            <a:off x="3858768"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Cultura</a:t>
            </a:r>
          </a:p>
        </p:txBody>
      </p:sp>
      <p:sp>
        <p:nvSpPr>
          <p:cNvPr id="43" name="TextBox 42"/>
          <p:cNvSpPr txBox="1"/>
          <p:nvPr/>
        </p:nvSpPr>
        <p:spPr>
          <a:xfrm>
            <a:off x="3493008"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el mundo hispano</a:t>
            </a:r>
          </a:p>
        </p:txBody>
      </p:sp>
      <p:sp>
        <p:nvSpPr>
          <p:cNvPr id="44" name="Rounded Rectangle 43"/>
          <p:cNvSpPr/>
          <p:nvPr/>
        </p:nvSpPr>
        <p:spPr>
          <a:xfrm>
            <a:off x="3493008" y="5669280"/>
            <a:ext cx="79187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16</a:t>
            </a:r>
          </a:p>
        </p:txBody>
      </p:sp>
      <p:sp>
        <p:nvSpPr>
          <p:cNvPr id="45" name="Rounded Rectangle 44">
            <a:hlinkClick action="ppaction://hlinksldjump" r:id="rId8"/>
          </p:cNvPr>
          <p:cNvSpPr/>
          <p:nvPr/>
        </p:nvSpPr>
        <p:spPr>
          <a:xfrm>
            <a:off x="6199632" y="3840480"/>
            <a:ext cx="2743200" cy="2240280"/>
          </a:xfrm>
          <a:prstGeom prst="roundRect">
            <a:avLst>
              <a:gd name="adj" fmla="val 5500"/>
            </a:avLst>
          </a:prstGeom>
          <a:solidFill>
            <a:srgbClr val="FFFFFF"/>
          </a:solidFill>
          <a:ln w="20320">
            <a:solidFill>
              <a:srgbClr val="5B3E83"/>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a:hlinkClick action="ppaction://hlinksldjump" r:id="rId8"/>
          </p:cNvPr>
          <p:cNvSpPr/>
          <p:nvPr/>
        </p:nvSpPr>
        <p:spPr>
          <a:xfrm>
            <a:off x="6199632" y="3840480"/>
            <a:ext cx="2743200" cy="457200"/>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309360"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5B3E83"/>
                </a:solidFill>
                <a:latin typeface="Bricolage Grotesque"/>
              </a:rPr>
              <a:t>🪪</a:t>
            </a:r>
          </a:p>
        </p:txBody>
      </p:sp>
      <p:sp>
        <p:nvSpPr>
          <p:cNvPr id="48" name="TextBox 47"/>
          <p:cNvSpPr txBox="1"/>
          <p:nvPr/>
        </p:nvSpPr>
        <p:spPr>
          <a:xfrm>
            <a:off x="6729984"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Tarea · Tarjeta</a:t>
            </a:r>
          </a:p>
        </p:txBody>
      </p:sp>
      <p:sp>
        <p:nvSpPr>
          <p:cNvPr id="49" name="TextBox 48"/>
          <p:cNvSpPr txBox="1"/>
          <p:nvPr/>
        </p:nvSpPr>
        <p:spPr>
          <a:xfrm>
            <a:off x="6364224"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preséntate</a:t>
            </a:r>
          </a:p>
        </p:txBody>
      </p:sp>
      <p:sp>
        <p:nvSpPr>
          <p:cNvPr id="50" name="Rounded Rectangle 49"/>
          <p:cNvSpPr/>
          <p:nvPr/>
        </p:nvSpPr>
        <p:spPr>
          <a:xfrm>
            <a:off x="6364224" y="5669280"/>
            <a:ext cx="79187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18</a:t>
            </a:r>
          </a:p>
        </p:txBody>
      </p:sp>
      <p:sp>
        <p:nvSpPr>
          <p:cNvPr id="51" name="Rounded Rectangle 50">
            <a:hlinkClick action="ppaction://hlinksldjump" r:id="rId9"/>
          </p:cNvPr>
          <p:cNvSpPr/>
          <p:nvPr/>
        </p:nvSpPr>
        <p:spPr>
          <a:xfrm>
            <a:off x="9070848" y="3840480"/>
            <a:ext cx="2743200" cy="2240280"/>
          </a:xfrm>
          <a:prstGeom prst="roundRect">
            <a:avLst>
              <a:gd name="adj" fmla="val 5500"/>
            </a:avLst>
          </a:prstGeom>
          <a:solidFill>
            <a:srgbClr val="FFFFFF"/>
          </a:solidFill>
          <a:ln w="20320">
            <a:solidFill>
              <a:srgbClr val="5B3E83"/>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a:hlinkClick action="ppaction://hlinksldjump" r:id="rId9"/>
          </p:cNvPr>
          <p:cNvSpPr/>
          <p:nvPr/>
        </p:nvSpPr>
        <p:spPr>
          <a:xfrm>
            <a:off x="9070848" y="3840480"/>
            <a:ext cx="2743200" cy="457200"/>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180576"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5B3E83"/>
                </a:solidFill>
                <a:latin typeface="Bricolage Grotesque"/>
              </a:rPr>
              <a:t>◎</a:t>
            </a:r>
          </a:p>
        </p:txBody>
      </p:sp>
      <p:sp>
        <p:nvSpPr>
          <p:cNvPr id="54" name="TextBox 53"/>
          <p:cNvSpPr txBox="1"/>
          <p:nvPr/>
        </p:nvSpPr>
        <p:spPr>
          <a:xfrm>
            <a:off x="9601200"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Repaso + semáforo</a:t>
            </a:r>
          </a:p>
        </p:txBody>
      </p:sp>
      <p:sp>
        <p:nvSpPr>
          <p:cNvPr id="55" name="TextBox 54"/>
          <p:cNvSpPr txBox="1"/>
          <p:nvPr/>
        </p:nvSpPr>
        <p:spPr>
          <a:xfrm>
            <a:off x="9235440"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lo esencial · zelfevaluatie</a:t>
            </a:r>
          </a:p>
        </p:txBody>
      </p:sp>
      <p:sp>
        <p:nvSpPr>
          <p:cNvPr id="56" name="Rounded Rectangle 55"/>
          <p:cNvSpPr/>
          <p:nvPr/>
        </p:nvSpPr>
        <p:spPr>
          <a:xfrm>
            <a:off x="9235440" y="5669280"/>
            <a:ext cx="79187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5B3E83"/>
                </a:solidFill>
                <a:latin typeface="Inter"/>
              </a:rPr>
              <a:t>→ dia 20</a:t>
            </a:r>
          </a:p>
        </p:txBody>
      </p:sp>
      <p:sp>
        <p:nvSpPr>
          <p:cNvPr id="57" name="Rectangle 56"/>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59" name="TextBox 58"/>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60" name="TextBox 59"/>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§1 · VOCABULARIO</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Saludar y presentarse</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De woorden van het reencuentro — observa. Herken ze, dan gebruik je ze.</a:t>
            </a:r>
          </a:p>
        </p:txBody>
      </p:sp>
      <p:sp>
        <p:nvSpPr>
          <p:cNvPr id="9" name="TextBox 8"/>
          <p:cNvSpPr txBox="1"/>
          <p:nvPr/>
        </p:nvSpPr>
        <p:spPr>
          <a:xfrm>
            <a:off x="8869680" y="484632"/>
            <a:ext cx="118872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1" i="0">
                <a:solidFill>
                  <a:srgbClr val="6A6E78"/>
                </a:solidFill>
                <a:latin typeface="Inter"/>
              </a:rPr>
              <a:t>Kleurcode:</a:t>
            </a:r>
          </a:p>
        </p:txBody>
      </p:sp>
      <p:sp>
        <p:nvSpPr>
          <p:cNvPr id="10" name="Rounded Rectangle 9"/>
          <p:cNvSpPr/>
          <p:nvPr/>
        </p:nvSpPr>
        <p:spPr>
          <a:xfrm>
            <a:off x="9921240" y="521208"/>
            <a:ext cx="128016" cy="128016"/>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583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persoon</a:t>
            </a:r>
          </a:p>
        </p:txBody>
      </p:sp>
      <p:sp>
        <p:nvSpPr>
          <p:cNvPr id="12" name="Rounded Rectangle 11"/>
          <p:cNvSpPr/>
          <p:nvPr/>
        </p:nvSpPr>
        <p:spPr>
          <a:xfrm>
            <a:off x="10574121" y="521208"/>
            <a:ext cx="128016" cy="128016"/>
          </a:xfrm>
          <a:prstGeom prst="roundRect">
            <a:avLst>
              <a:gd name="adj" fmla="val 50000"/>
            </a:avLst>
          </a:prstGeom>
          <a:solidFill>
            <a:srgbClr val="EA7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38713"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werkw.</a:t>
            </a:r>
          </a:p>
        </p:txBody>
      </p:sp>
      <p:sp>
        <p:nvSpPr>
          <p:cNvPr id="14" name="Rounded Rectangle 13"/>
          <p:cNvSpPr/>
          <p:nvPr/>
        </p:nvSpPr>
        <p:spPr>
          <a:xfrm>
            <a:off x="11170309" y="521208"/>
            <a:ext cx="128016"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4901"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tijd</a:t>
            </a:r>
          </a:p>
        </p:txBody>
      </p:sp>
      <p:sp>
        <p:nvSpPr>
          <p:cNvPr id="16" name="Rounded Rectangle 15"/>
          <p:cNvSpPr/>
          <p:nvPr/>
        </p:nvSpPr>
        <p:spPr>
          <a:xfrm>
            <a:off x="11653112" y="521208"/>
            <a:ext cx="128016" cy="128016"/>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17704"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plaats</a:t>
            </a:r>
          </a:p>
        </p:txBody>
      </p:sp>
      <p:sp>
        <p:nvSpPr>
          <p:cNvPr id="18" name="Rounded Rectangle 17"/>
          <p:cNvSpPr/>
          <p:nvPr/>
        </p:nvSpPr>
        <p:spPr>
          <a:xfrm>
            <a:off x="12249300" y="521208"/>
            <a:ext cx="128016" cy="128016"/>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1389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valstrik</a:t>
            </a:r>
          </a:p>
        </p:txBody>
      </p:sp>
      <p:sp>
        <p:nvSpPr>
          <p:cNvPr id="20" name="Rounded Rectangle 19"/>
          <p:cNvSpPr/>
          <p:nvPr/>
        </p:nvSpPr>
        <p:spPr>
          <a:xfrm>
            <a:off x="457200" y="1463040"/>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463040"/>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hola / adiós</a:t>
            </a:r>
          </a:p>
        </p:txBody>
      </p:sp>
      <p:sp>
        <p:nvSpPr>
          <p:cNvPr id="22" name="TextBox 21"/>
          <p:cNvSpPr txBox="1"/>
          <p:nvPr/>
        </p:nvSpPr>
        <p:spPr>
          <a:xfrm>
            <a:off x="2743200" y="1463040"/>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hallo / dag</a:t>
            </a:r>
          </a:p>
        </p:txBody>
      </p:sp>
      <p:sp>
        <p:nvSpPr>
          <p:cNvPr id="23" name="TextBox 22"/>
          <p:cNvSpPr txBox="1"/>
          <p:nvPr/>
        </p:nvSpPr>
        <p:spPr>
          <a:xfrm>
            <a:off x="4572000" y="1463040"/>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saludo · despedida</a:t>
            </a:r>
          </a:p>
        </p:txBody>
      </p:sp>
      <p:sp>
        <p:nvSpPr>
          <p:cNvPr id="24" name="Rounded Rectangle 23"/>
          <p:cNvSpPr/>
          <p:nvPr/>
        </p:nvSpPr>
        <p:spPr>
          <a:xfrm>
            <a:off x="457200" y="2121408"/>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121408"/>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buenos días</a:t>
            </a:r>
          </a:p>
        </p:txBody>
      </p:sp>
      <p:sp>
        <p:nvSpPr>
          <p:cNvPr id="26" name="TextBox 25"/>
          <p:cNvSpPr txBox="1"/>
          <p:nvPr/>
        </p:nvSpPr>
        <p:spPr>
          <a:xfrm>
            <a:off x="2743200" y="2121408"/>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goedemorgen</a:t>
            </a:r>
          </a:p>
        </p:txBody>
      </p:sp>
      <p:sp>
        <p:nvSpPr>
          <p:cNvPr id="27" name="TextBox 26"/>
          <p:cNvSpPr txBox="1"/>
          <p:nvPr/>
        </p:nvSpPr>
        <p:spPr>
          <a:xfrm>
            <a:off x="4572000" y="2121408"/>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buenas tardes/noches</a:t>
            </a:r>
          </a:p>
        </p:txBody>
      </p:sp>
      <p:sp>
        <p:nvSpPr>
          <p:cNvPr id="28" name="Rounded Rectangle 27"/>
          <p:cNvSpPr/>
          <p:nvPr/>
        </p:nvSpPr>
        <p:spPr>
          <a:xfrm>
            <a:off x="457200" y="2779776"/>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779776"/>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me llamo…</a:t>
            </a:r>
          </a:p>
        </p:txBody>
      </p:sp>
      <p:sp>
        <p:nvSpPr>
          <p:cNvPr id="30" name="TextBox 29"/>
          <p:cNvSpPr txBox="1"/>
          <p:nvPr/>
        </p:nvSpPr>
        <p:spPr>
          <a:xfrm>
            <a:off x="2743200" y="2779776"/>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ik heet…</a:t>
            </a:r>
          </a:p>
        </p:txBody>
      </p:sp>
      <p:sp>
        <p:nvSpPr>
          <p:cNvPr id="31" name="TextBox 30"/>
          <p:cNvSpPr txBox="1"/>
          <p:nvPr/>
        </p:nvSpPr>
        <p:spPr>
          <a:xfrm>
            <a:off x="4572000" y="2779776"/>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¿cómo te llamas?</a:t>
            </a:r>
          </a:p>
        </p:txBody>
      </p:sp>
      <p:sp>
        <p:nvSpPr>
          <p:cNvPr id="32" name="Rounded Rectangle 31"/>
          <p:cNvSpPr/>
          <p:nvPr/>
        </p:nvSpPr>
        <p:spPr>
          <a:xfrm>
            <a:off x="457200" y="3438144"/>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438144"/>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soy de…</a:t>
            </a:r>
          </a:p>
        </p:txBody>
      </p:sp>
      <p:sp>
        <p:nvSpPr>
          <p:cNvPr id="34" name="TextBox 33"/>
          <p:cNvSpPr txBox="1"/>
          <p:nvPr/>
        </p:nvSpPr>
        <p:spPr>
          <a:xfrm>
            <a:off x="2743200" y="3438144"/>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ik kom uit…</a:t>
            </a:r>
          </a:p>
        </p:txBody>
      </p:sp>
      <p:sp>
        <p:nvSpPr>
          <p:cNvPr id="35" name="TextBox 34"/>
          <p:cNvSpPr txBox="1"/>
          <p:nvPr/>
        </p:nvSpPr>
        <p:spPr>
          <a:xfrm>
            <a:off x="4572000" y="3438144"/>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¿de dónde eres?</a:t>
            </a:r>
          </a:p>
        </p:txBody>
      </p:sp>
      <p:sp>
        <p:nvSpPr>
          <p:cNvPr id="36" name="Rounded Rectangle 35"/>
          <p:cNvSpPr/>
          <p:nvPr/>
        </p:nvSpPr>
        <p:spPr>
          <a:xfrm>
            <a:off x="6172200" y="1463040"/>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1463040"/>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tengo … años</a:t>
            </a:r>
          </a:p>
        </p:txBody>
      </p:sp>
      <p:sp>
        <p:nvSpPr>
          <p:cNvPr id="38" name="TextBox 37"/>
          <p:cNvSpPr txBox="1"/>
          <p:nvPr/>
        </p:nvSpPr>
        <p:spPr>
          <a:xfrm>
            <a:off x="8458200" y="1463040"/>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ik ben … jaar</a:t>
            </a:r>
          </a:p>
        </p:txBody>
      </p:sp>
      <p:sp>
        <p:nvSpPr>
          <p:cNvPr id="39" name="TextBox 38"/>
          <p:cNvSpPr txBox="1"/>
          <p:nvPr/>
        </p:nvSpPr>
        <p:spPr>
          <a:xfrm>
            <a:off x="10287000" y="1463040"/>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¿cuántos años tienes?</a:t>
            </a:r>
          </a:p>
        </p:txBody>
      </p:sp>
      <p:sp>
        <p:nvSpPr>
          <p:cNvPr id="40" name="Rounded Rectangle 39"/>
          <p:cNvSpPr/>
          <p:nvPr/>
        </p:nvSpPr>
        <p:spPr>
          <a:xfrm>
            <a:off x="6172200" y="2121408"/>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2121408"/>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vivo en…</a:t>
            </a:r>
          </a:p>
        </p:txBody>
      </p:sp>
      <p:sp>
        <p:nvSpPr>
          <p:cNvPr id="42" name="TextBox 41"/>
          <p:cNvSpPr txBox="1"/>
          <p:nvPr/>
        </p:nvSpPr>
        <p:spPr>
          <a:xfrm>
            <a:off x="8458200" y="2121408"/>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ik woon in…</a:t>
            </a:r>
          </a:p>
        </p:txBody>
      </p:sp>
      <p:sp>
        <p:nvSpPr>
          <p:cNvPr id="43" name="TextBox 42"/>
          <p:cNvSpPr txBox="1"/>
          <p:nvPr/>
        </p:nvSpPr>
        <p:spPr>
          <a:xfrm>
            <a:off x="10287000" y="2121408"/>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¿dónde vives?</a:t>
            </a:r>
          </a:p>
        </p:txBody>
      </p:sp>
      <p:sp>
        <p:nvSpPr>
          <p:cNvPr id="44" name="Rounded Rectangle 43"/>
          <p:cNvSpPr/>
          <p:nvPr/>
        </p:nvSpPr>
        <p:spPr>
          <a:xfrm>
            <a:off x="6172200" y="2779776"/>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2779776"/>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hablo…</a:t>
            </a:r>
          </a:p>
        </p:txBody>
      </p:sp>
      <p:sp>
        <p:nvSpPr>
          <p:cNvPr id="46" name="TextBox 45"/>
          <p:cNvSpPr txBox="1"/>
          <p:nvPr/>
        </p:nvSpPr>
        <p:spPr>
          <a:xfrm>
            <a:off x="8458200" y="2779776"/>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ik spreek…</a:t>
            </a:r>
          </a:p>
        </p:txBody>
      </p:sp>
      <p:sp>
        <p:nvSpPr>
          <p:cNvPr id="47" name="TextBox 46"/>
          <p:cNvSpPr txBox="1"/>
          <p:nvPr/>
        </p:nvSpPr>
        <p:spPr>
          <a:xfrm>
            <a:off x="10287000" y="2779776"/>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la lengua / el idioma</a:t>
            </a:r>
          </a:p>
        </p:txBody>
      </p:sp>
      <p:sp>
        <p:nvSpPr>
          <p:cNvPr id="48" name="Rounded Rectangle 47"/>
          <p:cNvSpPr/>
          <p:nvPr/>
        </p:nvSpPr>
        <p:spPr>
          <a:xfrm>
            <a:off x="6172200" y="3438144"/>
            <a:ext cx="557784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9360" y="3438144"/>
            <a:ext cx="21945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5B3E83"/>
                </a:solidFill>
                <a:latin typeface="Inter"/>
              </a:rPr>
              <a:t>encantado/-a</a:t>
            </a:r>
          </a:p>
        </p:txBody>
      </p:sp>
      <p:sp>
        <p:nvSpPr>
          <p:cNvPr id="50" name="TextBox 49"/>
          <p:cNvSpPr txBox="1"/>
          <p:nvPr/>
        </p:nvSpPr>
        <p:spPr>
          <a:xfrm>
            <a:off x="8458200" y="3438144"/>
            <a:ext cx="19202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aangenaam</a:t>
            </a:r>
          </a:p>
        </p:txBody>
      </p:sp>
      <p:sp>
        <p:nvSpPr>
          <p:cNvPr id="51" name="TextBox 50"/>
          <p:cNvSpPr txBox="1"/>
          <p:nvPr/>
        </p:nvSpPr>
        <p:spPr>
          <a:xfrm>
            <a:off x="10287000" y="3438144"/>
            <a:ext cx="13716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900" b="0" i="1">
                <a:solidFill>
                  <a:srgbClr val="6A6E78"/>
                </a:solidFill>
                <a:latin typeface="Inter"/>
              </a:rPr>
              <a:t>mucho gusto</a:t>
            </a:r>
          </a:p>
        </p:txBody>
      </p:sp>
      <p:sp>
        <p:nvSpPr>
          <p:cNvPr id="52" name="TextBox 51"/>
          <p:cNvSpPr txBox="1"/>
          <p:nvPr/>
        </p:nvSpPr>
        <p:spPr>
          <a:xfrm>
            <a:off x="457200" y="4343400"/>
            <a:ext cx="11247120" cy="4572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Formal vs. informal: </a:t>
            </a:r>
            <a:r>
              <a:rPr sz="1300" b="1" i="0">
                <a:solidFill>
                  <a:srgbClr val="2563EB"/>
                </a:solidFill>
                <a:latin typeface="Inter"/>
              </a:rPr>
              <a:t>tú </a:t>
            </a:r>
            <a:r>
              <a:rPr sz="1300" b="0" i="0">
                <a:solidFill>
                  <a:srgbClr val="20242E"/>
                </a:solidFill>
                <a:latin typeface="Inter"/>
              </a:rPr>
              <a:t>(¿cómo estás?) · </a:t>
            </a:r>
            <a:r>
              <a:rPr sz="1300" b="1" i="0">
                <a:solidFill>
                  <a:srgbClr val="2563EB"/>
                </a:solidFill>
                <a:latin typeface="Inter"/>
              </a:rPr>
              <a:t>usted </a:t>
            </a:r>
            <a:r>
              <a:rPr sz="1300" b="0" i="0">
                <a:solidFill>
                  <a:srgbClr val="20242E"/>
                </a:solidFill>
                <a:latin typeface="Inter"/>
              </a:rPr>
              <a:t>(¿cómo está?)</a:t>
            </a:r>
          </a:p>
        </p:txBody>
      </p:sp>
      <p:sp>
        <p:nvSpPr>
          <p:cNvPr id="53" name="Rounded Rectangle 52"/>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54" name="Rounded Rectangle 53"/>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55" name="Rounded Rectangle 54">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56" name="TextBox 55"/>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57" name="Rounded Rectangle 56"/>
          <p:cNvSpPr/>
          <p:nvPr/>
        </p:nvSpPr>
        <p:spPr>
          <a:xfrm>
            <a:off x="457200" y="4892040"/>
            <a:ext cx="11247120" cy="86868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Presentarte (3 werkwoorden): </a:t>
            </a:r>
            <a:r>
              <a:rPr sz="1200" b="1" i="0">
                <a:solidFill>
                  <a:srgbClr val="5B3E83"/>
                </a:solidFill>
                <a:latin typeface="Inter"/>
              </a:rPr>
              <a:t>me llamo · soy (de) · tengo … años · vivo en · hablo …</a:t>
            </a:r>
          </a:p>
          <a:p>
            <a:pPr>
              <a:lnSpc>
                <a:spcPct val="102000"/>
              </a:lnSpc>
              <a:spcBef>
                <a:spcPts val="0"/>
              </a:spcBef>
              <a:spcAft>
                <a:spcPts val="300"/>
              </a:spcAft>
            </a:pPr>
            <a:r>
              <a:rPr sz="1200" b="0" i="0">
                <a:solidFill>
                  <a:srgbClr val="DC2626"/>
                </a:solidFill>
                <a:latin typeface="Inter"/>
              </a:rPr>
              <a:t>🔴 nacionaliteiten met kleine letter: soy belga, es española (niet Belga/Española).</a:t>
            </a:r>
          </a:p>
        </p:txBody>
      </p:sp>
      <p:sp>
        <p:nvSpPr>
          <p:cNvPr id="58" name="Rounded Rectangle 57"/>
          <p:cNvSpPr/>
          <p:nvPr/>
        </p:nvSpPr>
        <p:spPr>
          <a:xfrm>
            <a:off x="594360" y="476402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59" name="Rectangle 58"/>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61" name="TextBox 60"/>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62" name="TextBox 61"/>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854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§2 · GRAMÁTICA VISUAL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presente — ¿quién hace qué?</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Kleur = de functie. Het werkwoord past zich aan de persoon aan.</a:t>
            </a:r>
          </a:p>
        </p:txBody>
      </p:sp>
      <p:sp>
        <p:nvSpPr>
          <p:cNvPr id="9" name="TextBox 8"/>
          <p:cNvSpPr txBox="1"/>
          <p:nvPr/>
        </p:nvSpPr>
        <p:spPr>
          <a:xfrm>
            <a:off x="8869680" y="484632"/>
            <a:ext cx="118872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1" i="0">
                <a:solidFill>
                  <a:srgbClr val="6A6E78"/>
                </a:solidFill>
                <a:latin typeface="Inter"/>
              </a:rPr>
              <a:t>Kleurcode:</a:t>
            </a:r>
          </a:p>
        </p:txBody>
      </p:sp>
      <p:sp>
        <p:nvSpPr>
          <p:cNvPr id="10" name="Rounded Rectangle 9"/>
          <p:cNvSpPr/>
          <p:nvPr/>
        </p:nvSpPr>
        <p:spPr>
          <a:xfrm>
            <a:off x="9921240" y="521208"/>
            <a:ext cx="128016" cy="128016"/>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583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persoon</a:t>
            </a:r>
          </a:p>
        </p:txBody>
      </p:sp>
      <p:sp>
        <p:nvSpPr>
          <p:cNvPr id="12" name="Rounded Rectangle 11"/>
          <p:cNvSpPr/>
          <p:nvPr/>
        </p:nvSpPr>
        <p:spPr>
          <a:xfrm>
            <a:off x="10574121" y="521208"/>
            <a:ext cx="128016" cy="128016"/>
          </a:xfrm>
          <a:prstGeom prst="roundRect">
            <a:avLst>
              <a:gd name="adj" fmla="val 50000"/>
            </a:avLst>
          </a:prstGeom>
          <a:solidFill>
            <a:srgbClr val="EA7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38713"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werkw.</a:t>
            </a:r>
          </a:p>
        </p:txBody>
      </p:sp>
      <p:sp>
        <p:nvSpPr>
          <p:cNvPr id="14" name="Rounded Rectangle 13"/>
          <p:cNvSpPr/>
          <p:nvPr/>
        </p:nvSpPr>
        <p:spPr>
          <a:xfrm>
            <a:off x="11170309" y="521208"/>
            <a:ext cx="128016"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4901"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tijd</a:t>
            </a:r>
          </a:p>
        </p:txBody>
      </p:sp>
      <p:sp>
        <p:nvSpPr>
          <p:cNvPr id="16" name="Rounded Rectangle 15"/>
          <p:cNvSpPr/>
          <p:nvPr/>
        </p:nvSpPr>
        <p:spPr>
          <a:xfrm>
            <a:off x="11653112" y="521208"/>
            <a:ext cx="128016" cy="128016"/>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17704"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plaats</a:t>
            </a:r>
          </a:p>
        </p:txBody>
      </p:sp>
      <p:sp>
        <p:nvSpPr>
          <p:cNvPr id="18" name="Rounded Rectangle 17"/>
          <p:cNvSpPr/>
          <p:nvPr/>
        </p:nvSpPr>
        <p:spPr>
          <a:xfrm>
            <a:off x="12249300" y="521208"/>
            <a:ext cx="128016" cy="128016"/>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1389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valstrik</a:t>
            </a:r>
          </a:p>
        </p:txBody>
      </p:sp>
      <p:sp>
        <p:nvSpPr>
          <p:cNvPr id="20" name="Rounded Rectangle 19"/>
          <p:cNvSpPr/>
          <p:nvPr/>
        </p:nvSpPr>
        <p:spPr>
          <a:xfrm>
            <a:off x="457200" y="1554480"/>
            <a:ext cx="11247120" cy="1097280"/>
          </a:xfrm>
          <a:prstGeom prst="roundRect">
            <a:avLst>
              <a:gd name="adj" fmla="val 5500"/>
            </a:avLst>
          </a:prstGeom>
          <a:solidFill>
            <a:srgbClr val="EEE8F5"/>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554480"/>
            <a:ext cx="10698480" cy="10972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200" b="1" i="0">
                <a:solidFill>
                  <a:srgbClr val="2563EB"/>
                </a:solidFill>
                <a:latin typeface="Bricolage Grotesque"/>
              </a:rPr>
              <a:t>(Yo) </a:t>
            </a:r>
            <a:r>
              <a:rPr sz="2200" b="1" i="0">
                <a:solidFill>
                  <a:srgbClr val="EA7317"/>
                </a:solidFill>
                <a:latin typeface="Bricolage Grotesque"/>
              </a:rPr>
              <a:t>hablo </a:t>
            </a:r>
            <a:r>
              <a:rPr sz="2200" b="1" i="0">
                <a:solidFill>
                  <a:srgbClr val="B4309A"/>
                </a:solidFill>
                <a:latin typeface="Bricolage Grotesque"/>
              </a:rPr>
              <a:t>español </a:t>
            </a:r>
            <a:r>
              <a:rPr sz="2200" b="1" i="0">
                <a:solidFill>
                  <a:srgbClr val="20242E"/>
                </a:solidFill>
                <a:latin typeface="Bricolage Grotesque"/>
              </a:rPr>
              <a:t>y </a:t>
            </a:r>
            <a:r>
              <a:rPr sz="2200" b="1" i="0">
                <a:solidFill>
                  <a:srgbClr val="EA7317"/>
                </a:solidFill>
                <a:latin typeface="Bricolage Grotesque"/>
              </a:rPr>
              <a:t>vivo </a:t>
            </a:r>
            <a:r>
              <a:rPr sz="2200" b="1" i="0">
                <a:solidFill>
                  <a:srgbClr val="64748B"/>
                </a:solidFill>
                <a:latin typeface="Bricolage Grotesque"/>
              </a:rPr>
              <a:t>en Gante.</a:t>
            </a:r>
          </a:p>
        </p:txBody>
      </p:sp>
      <p:sp>
        <p:nvSpPr>
          <p:cNvPr id="22" name="TextBox 21"/>
          <p:cNvSpPr txBox="1"/>
          <p:nvPr/>
        </p:nvSpPr>
        <p:spPr>
          <a:xfrm>
            <a:off x="457200" y="2880360"/>
            <a:ext cx="109728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Las terminaciones regulares</a:t>
            </a:r>
          </a:p>
        </p:txBody>
      </p:sp>
      <p:sp>
        <p:nvSpPr>
          <p:cNvPr id="23" name="Rounded Rectangle 22"/>
          <p:cNvSpPr/>
          <p:nvPr/>
        </p:nvSpPr>
        <p:spPr>
          <a:xfrm>
            <a:off x="457200" y="3291840"/>
            <a:ext cx="3657600" cy="82296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383280"/>
            <a:ext cx="338328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-ar hablar</a:t>
            </a:r>
          </a:p>
        </p:txBody>
      </p:sp>
      <p:sp>
        <p:nvSpPr>
          <p:cNvPr id="25" name="TextBox 24"/>
          <p:cNvSpPr txBox="1"/>
          <p:nvPr/>
        </p:nvSpPr>
        <p:spPr>
          <a:xfrm>
            <a:off x="594360" y="3712464"/>
            <a:ext cx="338328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EA7317"/>
                </a:solidFill>
                <a:latin typeface="Inter"/>
              </a:rPr>
              <a:t>o · as · a · amos · áis · an</a:t>
            </a:r>
          </a:p>
        </p:txBody>
      </p:sp>
      <p:sp>
        <p:nvSpPr>
          <p:cNvPr id="26" name="Rounded Rectangle 25"/>
          <p:cNvSpPr/>
          <p:nvPr/>
        </p:nvSpPr>
        <p:spPr>
          <a:xfrm>
            <a:off x="4251960" y="3291840"/>
            <a:ext cx="3657600" cy="82296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3383280"/>
            <a:ext cx="338328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-er comer</a:t>
            </a:r>
          </a:p>
        </p:txBody>
      </p:sp>
      <p:sp>
        <p:nvSpPr>
          <p:cNvPr id="28" name="TextBox 27"/>
          <p:cNvSpPr txBox="1"/>
          <p:nvPr/>
        </p:nvSpPr>
        <p:spPr>
          <a:xfrm>
            <a:off x="4389120" y="3712464"/>
            <a:ext cx="338328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EA7317"/>
                </a:solidFill>
                <a:latin typeface="Inter"/>
              </a:rPr>
              <a:t>o · es · e · emos · éis · en</a:t>
            </a:r>
          </a:p>
        </p:txBody>
      </p:sp>
      <p:sp>
        <p:nvSpPr>
          <p:cNvPr id="29" name="Rounded Rectangle 28"/>
          <p:cNvSpPr/>
          <p:nvPr/>
        </p:nvSpPr>
        <p:spPr>
          <a:xfrm>
            <a:off x="8046720" y="3291840"/>
            <a:ext cx="3657600" cy="82296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3383280"/>
            <a:ext cx="338328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-ir vivir</a:t>
            </a:r>
          </a:p>
        </p:txBody>
      </p:sp>
      <p:sp>
        <p:nvSpPr>
          <p:cNvPr id="31" name="TextBox 30"/>
          <p:cNvSpPr txBox="1"/>
          <p:nvPr/>
        </p:nvSpPr>
        <p:spPr>
          <a:xfrm>
            <a:off x="8183880" y="3712464"/>
            <a:ext cx="338328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EA7317"/>
                </a:solidFill>
                <a:latin typeface="Inter"/>
              </a:rPr>
              <a:t>o · es · e · imos · ís · en</a:t>
            </a:r>
          </a:p>
        </p:txBody>
      </p:sp>
      <p:sp>
        <p:nvSpPr>
          <p:cNvPr id="32" name="Rounded Rectangle 31"/>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3" name="Rounded Rectangle 32"/>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4" name="Rounded Rectangle 33">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5" name="TextBox 34"/>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6" name="Rounded Rectangle 35"/>
          <p:cNvSpPr/>
          <p:nvPr/>
        </p:nvSpPr>
        <p:spPr>
          <a:xfrm>
            <a:off x="457200" y="4480560"/>
            <a:ext cx="11247120" cy="82296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Regla: </a:t>
            </a:r>
            <a:r>
              <a:rPr sz="1200" b="0" i="0">
                <a:solidFill>
                  <a:srgbClr val="5B3E83"/>
                </a:solidFill>
                <a:latin typeface="Inter"/>
              </a:rPr>
              <a:t>raíz (habl-) + terminación. De terminación verandert met de persoon: yo hablo, tú hablas, él habla…</a:t>
            </a:r>
          </a:p>
          <a:p>
            <a:pPr>
              <a:lnSpc>
                <a:spcPct val="102000"/>
              </a:lnSpc>
              <a:spcBef>
                <a:spcPts val="0"/>
              </a:spcBef>
              <a:spcAft>
                <a:spcPts val="300"/>
              </a:spcAft>
            </a:pPr>
            <a:r>
              <a:rPr sz="1200" b="0" i="0">
                <a:solidFill>
                  <a:srgbClr val="5B3E83"/>
                </a:solidFill>
                <a:latin typeface="Inter"/>
              </a:rPr>
              <a:t>De 7 onregelmatige (yo): soy · estoy · tengo · voy · hago · vengo · doy (vaak -oy of -go).</a:t>
            </a:r>
          </a:p>
        </p:txBody>
      </p:sp>
      <p:sp>
        <p:nvSpPr>
          <p:cNvPr id="37" name="Rounded Rectangle 36"/>
          <p:cNvSpPr/>
          <p:nvPr/>
        </p:nvSpPr>
        <p:spPr>
          <a:xfrm>
            <a:off x="594360" y="43525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8" name="Rectangle 37"/>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40" name="TextBox 39"/>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41" name="TextBox 40"/>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875995"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§2 · QUIZ</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Completa el presente</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zin → de juiste vorm verschijnt. Kijk naar de persoon.</a:t>
            </a:r>
          </a:p>
        </p:txBody>
      </p:sp>
      <p:sp>
        <p:nvSpPr>
          <p:cNvPr id="9" name="Rounded Rectangle 8"/>
          <p:cNvSpPr/>
          <p:nvPr/>
        </p:nvSpPr>
        <p:spPr>
          <a:xfrm>
            <a:off x="457200" y="1554480"/>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54480"/>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Yo ___ (ser) de Bélgica.</a:t>
            </a:r>
          </a:p>
        </p:txBody>
      </p:sp>
      <p:sp>
        <p:nvSpPr>
          <p:cNvPr id="11" name="TextBox 10"/>
          <p:cNvSpPr txBox="1"/>
          <p:nvPr/>
        </p:nvSpPr>
        <p:spPr>
          <a:xfrm>
            <a:off x="4572000" y="1554480"/>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soy</a:t>
            </a:r>
          </a:p>
        </p:txBody>
      </p:sp>
      <p:sp>
        <p:nvSpPr>
          <p:cNvPr id="12" name="Rounded Rectangle 11"/>
          <p:cNvSpPr/>
          <p:nvPr/>
        </p:nvSpPr>
        <p:spPr>
          <a:xfrm>
            <a:off x="457200" y="2359152"/>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59152"/>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¿Tú ___ (vivir) en Gante?</a:t>
            </a:r>
          </a:p>
        </p:txBody>
      </p:sp>
      <p:sp>
        <p:nvSpPr>
          <p:cNvPr id="14" name="TextBox 13"/>
          <p:cNvSpPr txBox="1"/>
          <p:nvPr/>
        </p:nvSpPr>
        <p:spPr>
          <a:xfrm>
            <a:off x="4572000" y="2359152"/>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vives</a:t>
            </a:r>
          </a:p>
        </p:txBody>
      </p:sp>
      <p:sp>
        <p:nvSpPr>
          <p:cNvPr id="15" name="Rounded Rectangle 14"/>
          <p:cNvSpPr/>
          <p:nvPr/>
        </p:nvSpPr>
        <p:spPr>
          <a:xfrm>
            <a:off x="457200" y="3163824"/>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163824"/>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Nina ___ (tener) 16 años.</a:t>
            </a:r>
          </a:p>
        </p:txBody>
      </p:sp>
      <p:sp>
        <p:nvSpPr>
          <p:cNvPr id="17" name="TextBox 16"/>
          <p:cNvSpPr txBox="1"/>
          <p:nvPr/>
        </p:nvSpPr>
        <p:spPr>
          <a:xfrm>
            <a:off x="4572000" y="3163824"/>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tiene</a:t>
            </a:r>
          </a:p>
        </p:txBody>
      </p:sp>
      <p:sp>
        <p:nvSpPr>
          <p:cNvPr id="18" name="Rounded Rectangle 17"/>
          <p:cNvSpPr/>
          <p:nvPr/>
        </p:nvSpPr>
        <p:spPr>
          <a:xfrm>
            <a:off x="6172200" y="1554480"/>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554480"/>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Nosotros ___ (hablar) español.</a:t>
            </a:r>
          </a:p>
        </p:txBody>
      </p:sp>
      <p:sp>
        <p:nvSpPr>
          <p:cNvPr id="20" name="TextBox 19"/>
          <p:cNvSpPr txBox="1"/>
          <p:nvPr/>
        </p:nvSpPr>
        <p:spPr>
          <a:xfrm>
            <a:off x="10287000" y="1554480"/>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hablamos</a:t>
            </a:r>
          </a:p>
        </p:txBody>
      </p:sp>
      <p:sp>
        <p:nvSpPr>
          <p:cNvPr id="21" name="Rounded Rectangle 20"/>
          <p:cNvSpPr/>
          <p:nvPr/>
        </p:nvSpPr>
        <p:spPr>
          <a:xfrm>
            <a:off x="6172200" y="2359152"/>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359152"/>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Diego ___ (ir) al mercado.</a:t>
            </a:r>
          </a:p>
        </p:txBody>
      </p:sp>
      <p:sp>
        <p:nvSpPr>
          <p:cNvPr id="23" name="TextBox 22"/>
          <p:cNvSpPr txBox="1"/>
          <p:nvPr/>
        </p:nvSpPr>
        <p:spPr>
          <a:xfrm>
            <a:off x="10287000" y="2359152"/>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va</a:t>
            </a:r>
          </a:p>
        </p:txBody>
      </p:sp>
      <p:sp>
        <p:nvSpPr>
          <p:cNvPr id="24" name="Rounded Rectangle 23"/>
          <p:cNvSpPr/>
          <p:nvPr/>
        </p:nvSpPr>
        <p:spPr>
          <a:xfrm>
            <a:off x="6172200" y="3163824"/>
            <a:ext cx="553212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163824"/>
            <a:ext cx="393192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0" i="0">
                <a:solidFill>
                  <a:srgbClr val="20242E"/>
                </a:solidFill>
                <a:latin typeface="Inter"/>
              </a:rPr>
              <a:t>Ellos ___ (venir) de México.</a:t>
            </a:r>
          </a:p>
        </p:txBody>
      </p:sp>
      <p:sp>
        <p:nvSpPr>
          <p:cNvPr id="26" name="TextBox 25"/>
          <p:cNvSpPr txBox="1"/>
          <p:nvPr/>
        </p:nvSpPr>
        <p:spPr>
          <a:xfrm>
            <a:off x="10287000" y="3163824"/>
            <a:ext cx="13258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vienen</a:t>
            </a:r>
          </a:p>
        </p:txBody>
      </p:sp>
      <p:sp>
        <p:nvSpPr>
          <p:cNvPr id="27" name="Rounded Rectangle 26"/>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9" name="Rounded Rectangle 28">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1" name="Rounded Rectangle 30"/>
          <p:cNvSpPr/>
          <p:nvPr/>
        </p:nvSpPr>
        <p:spPr>
          <a:xfrm>
            <a:off x="457200" y="4480560"/>
            <a:ext cx="11247120" cy="86868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7C56A9"/>
                </a:solidFill>
                <a:latin typeface="Inter"/>
              </a:rPr>
              <a:t>yo → -o (hablo, vivo) · soy/estoy/tengo/voy/vengo/hago/doy. </a:t>
            </a:r>
            <a:r>
              <a:rPr sz="1200" b="0" i="0">
                <a:solidFill>
                  <a:srgbClr val="5B3E83"/>
                </a:solidFill>
                <a:latin typeface="Inter"/>
              </a:rPr>
              <a:t>tú → -s · él/ella → -a/-e · nosotros → -mos · ellos → -n.</a:t>
            </a:r>
          </a:p>
        </p:txBody>
      </p:sp>
      <p:sp>
        <p:nvSpPr>
          <p:cNvPr id="32" name="Rounded Rectangle 31"/>
          <p:cNvSpPr/>
          <p:nvPr/>
        </p:nvSpPr>
        <p:spPr>
          <a:xfrm>
            <a:off x="594360" y="43525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§2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verbo «ser» + ¡ojo! soy / estoy</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kaart → de vorm verschijnt. ser = wie/wat je bent.</a:t>
            </a:r>
          </a:p>
        </p:txBody>
      </p:sp>
      <p:sp>
        <p:nvSpPr>
          <p:cNvPr id="9" name="Rounded Rectangle 8"/>
          <p:cNvSpPr/>
          <p:nvPr/>
        </p:nvSpPr>
        <p:spPr>
          <a:xfrm>
            <a:off x="1463040" y="1737360"/>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828800"/>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yo</a:t>
            </a:r>
          </a:p>
        </p:txBody>
      </p:sp>
      <p:sp>
        <p:nvSpPr>
          <p:cNvPr id="11" name="TextBox 10"/>
          <p:cNvSpPr txBox="1"/>
          <p:nvPr/>
        </p:nvSpPr>
        <p:spPr>
          <a:xfrm>
            <a:off x="1463040" y="2139696"/>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soy</a:t>
            </a:r>
          </a:p>
        </p:txBody>
      </p:sp>
      <p:sp>
        <p:nvSpPr>
          <p:cNvPr id="12" name="Rounded Rectangle 11"/>
          <p:cNvSpPr/>
          <p:nvPr/>
        </p:nvSpPr>
        <p:spPr>
          <a:xfrm>
            <a:off x="4846320" y="1737360"/>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828800"/>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tú</a:t>
            </a:r>
          </a:p>
        </p:txBody>
      </p:sp>
      <p:sp>
        <p:nvSpPr>
          <p:cNvPr id="14" name="TextBox 13"/>
          <p:cNvSpPr txBox="1"/>
          <p:nvPr/>
        </p:nvSpPr>
        <p:spPr>
          <a:xfrm>
            <a:off x="4846320" y="2139696"/>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eres</a:t>
            </a:r>
          </a:p>
        </p:txBody>
      </p:sp>
      <p:sp>
        <p:nvSpPr>
          <p:cNvPr id="15" name="Rounded Rectangle 14"/>
          <p:cNvSpPr/>
          <p:nvPr/>
        </p:nvSpPr>
        <p:spPr>
          <a:xfrm>
            <a:off x="8229600" y="1737360"/>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28800"/>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él/ella</a:t>
            </a:r>
          </a:p>
        </p:txBody>
      </p:sp>
      <p:sp>
        <p:nvSpPr>
          <p:cNvPr id="17" name="TextBox 16"/>
          <p:cNvSpPr txBox="1"/>
          <p:nvPr/>
        </p:nvSpPr>
        <p:spPr>
          <a:xfrm>
            <a:off x="8229600" y="2139696"/>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es</a:t>
            </a:r>
          </a:p>
        </p:txBody>
      </p:sp>
      <p:sp>
        <p:nvSpPr>
          <p:cNvPr id="18" name="Rounded Rectangle 17"/>
          <p:cNvSpPr/>
          <p:nvPr/>
        </p:nvSpPr>
        <p:spPr>
          <a:xfrm>
            <a:off x="1463040" y="2852928"/>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63040" y="2944368"/>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nosotros</a:t>
            </a:r>
          </a:p>
        </p:txBody>
      </p:sp>
      <p:sp>
        <p:nvSpPr>
          <p:cNvPr id="20" name="TextBox 19"/>
          <p:cNvSpPr txBox="1"/>
          <p:nvPr/>
        </p:nvSpPr>
        <p:spPr>
          <a:xfrm>
            <a:off x="1463040" y="3255264"/>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somos</a:t>
            </a:r>
          </a:p>
        </p:txBody>
      </p:sp>
      <p:sp>
        <p:nvSpPr>
          <p:cNvPr id="21" name="Rounded Rectangle 20"/>
          <p:cNvSpPr/>
          <p:nvPr/>
        </p:nvSpPr>
        <p:spPr>
          <a:xfrm>
            <a:off x="4846320" y="2852928"/>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944368"/>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vosotros</a:t>
            </a:r>
          </a:p>
        </p:txBody>
      </p:sp>
      <p:sp>
        <p:nvSpPr>
          <p:cNvPr id="23" name="TextBox 22"/>
          <p:cNvSpPr txBox="1"/>
          <p:nvPr/>
        </p:nvSpPr>
        <p:spPr>
          <a:xfrm>
            <a:off x="4846320" y="3255264"/>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sois</a:t>
            </a:r>
          </a:p>
        </p:txBody>
      </p:sp>
      <p:sp>
        <p:nvSpPr>
          <p:cNvPr id="24" name="Rounded Rectangle 23"/>
          <p:cNvSpPr/>
          <p:nvPr/>
        </p:nvSpPr>
        <p:spPr>
          <a:xfrm>
            <a:off x="8229600" y="2852928"/>
            <a:ext cx="3108960" cy="91440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2944368"/>
            <a:ext cx="3108960" cy="292608"/>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00" b="0" i="0">
                <a:solidFill>
                  <a:srgbClr val="6A6E78"/>
                </a:solidFill>
                <a:latin typeface="Inter"/>
              </a:rPr>
              <a:t>ellos</a:t>
            </a:r>
          </a:p>
        </p:txBody>
      </p:sp>
      <p:sp>
        <p:nvSpPr>
          <p:cNvPr id="26" name="TextBox 25"/>
          <p:cNvSpPr txBox="1"/>
          <p:nvPr/>
        </p:nvSpPr>
        <p:spPr>
          <a:xfrm>
            <a:off x="8229600" y="3255264"/>
            <a:ext cx="310896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5B3E83"/>
                </a:solidFill>
                <a:latin typeface="Bricolage Grotesque"/>
              </a:rPr>
              <a:t>son</a:t>
            </a:r>
          </a:p>
        </p:txBody>
      </p:sp>
      <p:sp>
        <p:nvSpPr>
          <p:cNvPr id="27" name="TextBox 26"/>
          <p:cNvSpPr txBox="1"/>
          <p:nvPr/>
        </p:nvSpPr>
        <p:spPr>
          <a:xfrm>
            <a:off x="457200" y="4617720"/>
            <a:ext cx="11247120" cy="4572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t>
            </a:r>
            <a:r>
              <a:rPr sz="1300" b="1" i="0">
                <a:solidFill>
                  <a:srgbClr val="2563EB"/>
                </a:solidFill>
                <a:latin typeface="Inter"/>
              </a:rPr>
              <a:t>soy </a:t>
            </a:r>
            <a:r>
              <a:rPr sz="1200" b="0" i="0">
                <a:solidFill>
                  <a:srgbClr val="20242E"/>
                </a:solidFill>
                <a:latin typeface="Inter"/>
              </a:rPr>
              <a:t>= identiteit (soy belga, soy estudiante) · </a:t>
            </a:r>
            <a:r>
              <a:rPr sz="1300" b="1" i="0">
                <a:solidFill>
                  <a:srgbClr val="64748B"/>
                </a:solidFill>
                <a:latin typeface="Inter"/>
              </a:rPr>
              <a:t>estoy </a:t>
            </a:r>
            <a:r>
              <a:rPr sz="1200" b="0" i="0">
                <a:solidFill>
                  <a:srgbClr val="20242E"/>
                </a:solidFill>
                <a:latin typeface="Inter"/>
              </a:rPr>
              <a:t>= plaats/gevoel (estoy en clase, estoy bien).</a:t>
            </a:r>
          </a:p>
        </p:txBody>
      </p:sp>
      <p:sp>
        <p:nvSpPr>
          <p:cNvPr id="28" name="Rounded Rectangle 27"/>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9" name="Rounded Rectangle 28"/>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0" name="Rounded Rectangle 29">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1" name="TextBox 30"/>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2" name="Rounded Rectangle 31"/>
          <p:cNvSpPr/>
          <p:nvPr/>
        </p:nvSpPr>
        <p:spPr>
          <a:xfrm>
            <a:off x="457200" y="5166360"/>
            <a:ext cx="11247120" cy="64008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Truc: </a:t>
            </a:r>
            <a:r>
              <a:rPr sz="1200" b="0" i="0">
                <a:solidFill>
                  <a:srgbClr val="5B3E83"/>
                </a:solidFill>
                <a:latin typeface="Inter"/>
              </a:rPr>
              <a:t>permanent/eigenschap → ser (soy) · tijdelijk/plaats → estar (estoy). Contrast komt uitgebreid in U1.</a:t>
            </a:r>
          </a:p>
        </p:txBody>
      </p:sp>
      <p:sp>
        <p:nvSpPr>
          <p:cNvPr id="33" name="Rounded Rectangle 32"/>
          <p:cNvSpPr/>
          <p:nvPr/>
        </p:nvSpPr>
        <p:spPr>
          <a:xfrm>
            <a:off x="594360" y="50383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4" name="Rectangle 33"/>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6" name="TextBox 35"/>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7" name="TextBox 36"/>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854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§3 · GRAMÁTICA VISUAL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Género y concordancia — el/la · -o/-a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Lidwoord én adjectief volgen het zelfstandig naamwoord (m/v · ev/mv).</a:t>
            </a:r>
          </a:p>
        </p:txBody>
      </p:sp>
      <p:sp>
        <p:nvSpPr>
          <p:cNvPr id="9" name="TextBox 8"/>
          <p:cNvSpPr txBox="1"/>
          <p:nvPr/>
        </p:nvSpPr>
        <p:spPr>
          <a:xfrm>
            <a:off x="8869680" y="484632"/>
            <a:ext cx="118872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1" i="0">
                <a:solidFill>
                  <a:srgbClr val="6A6E78"/>
                </a:solidFill>
                <a:latin typeface="Inter"/>
              </a:rPr>
              <a:t>Kleurcode:</a:t>
            </a:r>
          </a:p>
        </p:txBody>
      </p:sp>
      <p:sp>
        <p:nvSpPr>
          <p:cNvPr id="10" name="Rounded Rectangle 9"/>
          <p:cNvSpPr/>
          <p:nvPr/>
        </p:nvSpPr>
        <p:spPr>
          <a:xfrm>
            <a:off x="9921240" y="521208"/>
            <a:ext cx="128016" cy="128016"/>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583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persoon</a:t>
            </a:r>
          </a:p>
        </p:txBody>
      </p:sp>
      <p:sp>
        <p:nvSpPr>
          <p:cNvPr id="12" name="Rounded Rectangle 11"/>
          <p:cNvSpPr/>
          <p:nvPr/>
        </p:nvSpPr>
        <p:spPr>
          <a:xfrm>
            <a:off x="10574121" y="521208"/>
            <a:ext cx="128016" cy="128016"/>
          </a:xfrm>
          <a:prstGeom prst="roundRect">
            <a:avLst>
              <a:gd name="adj" fmla="val 50000"/>
            </a:avLst>
          </a:prstGeom>
          <a:solidFill>
            <a:srgbClr val="EA7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38713"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werkw.</a:t>
            </a:r>
          </a:p>
        </p:txBody>
      </p:sp>
      <p:sp>
        <p:nvSpPr>
          <p:cNvPr id="14" name="Rounded Rectangle 13"/>
          <p:cNvSpPr/>
          <p:nvPr/>
        </p:nvSpPr>
        <p:spPr>
          <a:xfrm>
            <a:off x="11170309" y="521208"/>
            <a:ext cx="128016"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4901"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tijd</a:t>
            </a:r>
          </a:p>
        </p:txBody>
      </p:sp>
      <p:sp>
        <p:nvSpPr>
          <p:cNvPr id="16" name="Rounded Rectangle 15"/>
          <p:cNvSpPr/>
          <p:nvPr/>
        </p:nvSpPr>
        <p:spPr>
          <a:xfrm>
            <a:off x="11653112" y="521208"/>
            <a:ext cx="128016" cy="128016"/>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17704"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plaats</a:t>
            </a:r>
          </a:p>
        </p:txBody>
      </p:sp>
      <p:sp>
        <p:nvSpPr>
          <p:cNvPr id="18" name="Rounded Rectangle 17"/>
          <p:cNvSpPr/>
          <p:nvPr/>
        </p:nvSpPr>
        <p:spPr>
          <a:xfrm>
            <a:off x="12249300" y="521208"/>
            <a:ext cx="128016" cy="128016"/>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1389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valstrik</a:t>
            </a:r>
          </a:p>
        </p:txBody>
      </p:sp>
      <p:sp>
        <p:nvSpPr>
          <p:cNvPr id="20" name="Rounded Rectangle 19"/>
          <p:cNvSpPr/>
          <p:nvPr/>
        </p:nvSpPr>
        <p:spPr>
          <a:xfrm>
            <a:off x="457200" y="1554480"/>
            <a:ext cx="5486400" cy="1005840"/>
          </a:xfrm>
          <a:prstGeom prst="roundRect">
            <a:avLst>
              <a:gd name="adj" fmla="val 5500"/>
            </a:avLst>
          </a:prstGeom>
          <a:solidFill>
            <a:srgbClr val="EEE8F5"/>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1554480"/>
            <a:ext cx="5120640" cy="10058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000" b="1" i="0">
                <a:solidFill>
                  <a:srgbClr val="2563EB"/>
                </a:solidFill>
                <a:latin typeface="Inter"/>
              </a:rPr>
              <a:t>el </a:t>
            </a:r>
            <a:r>
              <a:rPr sz="2000" b="1" i="0">
                <a:solidFill>
                  <a:srgbClr val="20242E"/>
                </a:solidFill>
                <a:latin typeface="Inter"/>
              </a:rPr>
              <a:t>chic</a:t>
            </a:r>
            <a:r>
              <a:rPr sz="2000" b="1" i="0">
                <a:solidFill>
                  <a:srgbClr val="EA7317"/>
                </a:solidFill>
                <a:latin typeface="Inter"/>
              </a:rPr>
              <a:t>o </a:t>
            </a:r>
            <a:r>
              <a:rPr sz="2000" b="1" i="0">
                <a:solidFill>
                  <a:srgbClr val="20242E"/>
                </a:solidFill>
                <a:latin typeface="Inter"/>
              </a:rPr>
              <a:t>alt</a:t>
            </a:r>
            <a:r>
              <a:rPr sz="2000" b="1" i="0">
                <a:solidFill>
                  <a:srgbClr val="EA7317"/>
                </a:solidFill>
                <a:latin typeface="Inter"/>
              </a:rPr>
              <a:t>o</a:t>
            </a:r>
          </a:p>
        </p:txBody>
      </p:sp>
      <p:sp>
        <p:nvSpPr>
          <p:cNvPr id="22" name="Rounded Rectangle 21"/>
          <p:cNvSpPr/>
          <p:nvPr/>
        </p:nvSpPr>
        <p:spPr>
          <a:xfrm>
            <a:off x="6217920" y="1554480"/>
            <a:ext cx="5486400" cy="1005840"/>
          </a:xfrm>
          <a:prstGeom prst="roundRect">
            <a:avLst>
              <a:gd name="adj" fmla="val 5500"/>
            </a:avLst>
          </a:prstGeom>
          <a:solidFill>
            <a:srgbClr val="EEE8F5"/>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554480"/>
            <a:ext cx="5120640" cy="10058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000" b="1" i="0">
                <a:solidFill>
                  <a:srgbClr val="2563EB"/>
                </a:solidFill>
                <a:latin typeface="Inter"/>
              </a:rPr>
              <a:t>la </a:t>
            </a:r>
            <a:r>
              <a:rPr sz="2000" b="1" i="0">
                <a:solidFill>
                  <a:srgbClr val="20242E"/>
                </a:solidFill>
                <a:latin typeface="Inter"/>
              </a:rPr>
              <a:t>chic</a:t>
            </a:r>
            <a:r>
              <a:rPr sz="2000" b="1" i="0">
                <a:solidFill>
                  <a:srgbClr val="DC2626"/>
                </a:solidFill>
                <a:latin typeface="Inter"/>
              </a:rPr>
              <a:t>a </a:t>
            </a:r>
            <a:r>
              <a:rPr sz="2000" b="1" i="0">
                <a:solidFill>
                  <a:srgbClr val="20242E"/>
                </a:solidFill>
                <a:latin typeface="Inter"/>
              </a:rPr>
              <a:t>alt</a:t>
            </a:r>
            <a:r>
              <a:rPr sz="2000" b="1" i="0">
                <a:solidFill>
                  <a:srgbClr val="DC2626"/>
                </a:solidFill>
                <a:latin typeface="Inter"/>
              </a:rPr>
              <a:t>a</a:t>
            </a:r>
          </a:p>
        </p:txBody>
      </p:sp>
      <p:sp>
        <p:nvSpPr>
          <p:cNvPr id="24" name="Rounded Rectangle 23"/>
          <p:cNvSpPr/>
          <p:nvPr/>
        </p:nvSpPr>
        <p:spPr>
          <a:xfrm>
            <a:off x="457200" y="2880360"/>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880360"/>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el / un</a:t>
            </a:r>
          </a:p>
        </p:txBody>
      </p:sp>
      <p:sp>
        <p:nvSpPr>
          <p:cNvPr id="26" name="TextBox 25"/>
          <p:cNvSpPr txBox="1"/>
          <p:nvPr/>
        </p:nvSpPr>
        <p:spPr>
          <a:xfrm>
            <a:off x="2331719" y="2880360"/>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masculino (-o)</a:t>
            </a:r>
          </a:p>
        </p:txBody>
      </p:sp>
      <p:sp>
        <p:nvSpPr>
          <p:cNvPr id="27" name="Rounded Rectangle 26"/>
          <p:cNvSpPr/>
          <p:nvPr/>
        </p:nvSpPr>
        <p:spPr>
          <a:xfrm>
            <a:off x="457200" y="3557016"/>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557016"/>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la / una</a:t>
            </a:r>
          </a:p>
        </p:txBody>
      </p:sp>
      <p:sp>
        <p:nvSpPr>
          <p:cNvPr id="29" name="TextBox 28"/>
          <p:cNvSpPr txBox="1"/>
          <p:nvPr/>
        </p:nvSpPr>
        <p:spPr>
          <a:xfrm>
            <a:off x="2331719" y="3557016"/>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femenino (-a)</a:t>
            </a:r>
          </a:p>
        </p:txBody>
      </p:sp>
      <p:sp>
        <p:nvSpPr>
          <p:cNvPr id="30" name="Rounded Rectangle 29"/>
          <p:cNvSpPr/>
          <p:nvPr/>
        </p:nvSpPr>
        <p:spPr>
          <a:xfrm>
            <a:off x="457200" y="4233672"/>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233672"/>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los / las</a:t>
            </a:r>
          </a:p>
        </p:txBody>
      </p:sp>
      <p:sp>
        <p:nvSpPr>
          <p:cNvPr id="32" name="TextBox 31"/>
          <p:cNvSpPr txBox="1"/>
          <p:nvPr/>
        </p:nvSpPr>
        <p:spPr>
          <a:xfrm>
            <a:off x="2331719" y="4233672"/>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plural (+ -s)</a:t>
            </a:r>
          </a:p>
        </p:txBody>
      </p:sp>
      <p:sp>
        <p:nvSpPr>
          <p:cNvPr id="33" name="Rounded Rectangle 32"/>
          <p:cNvSpPr/>
          <p:nvPr/>
        </p:nvSpPr>
        <p:spPr>
          <a:xfrm>
            <a:off x="4297680" y="2880360"/>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2880360"/>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-o → -a</a:t>
            </a:r>
          </a:p>
        </p:txBody>
      </p:sp>
      <p:sp>
        <p:nvSpPr>
          <p:cNvPr id="35" name="TextBox 34"/>
          <p:cNvSpPr txBox="1"/>
          <p:nvPr/>
        </p:nvSpPr>
        <p:spPr>
          <a:xfrm>
            <a:off x="6172199" y="2880360"/>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chico → chica</a:t>
            </a:r>
          </a:p>
        </p:txBody>
      </p:sp>
      <p:sp>
        <p:nvSpPr>
          <p:cNvPr id="36" name="Rounded Rectangle 35"/>
          <p:cNvSpPr/>
          <p:nvPr/>
        </p:nvSpPr>
        <p:spPr>
          <a:xfrm>
            <a:off x="4297680" y="3557016"/>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3557016"/>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 el problema</a:t>
            </a:r>
          </a:p>
        </p:txBody>
      </p:sp>
      <p:sp>
        <p:nvSpPr>
          <p:cNvPr id="38" name="TextBox 37"/>
          <p:cNvSpPr txBox="1"/>
          <p:nvPr/>
        </p:nvSpPr>
        <p:spPr>
          <a:xfrm>
            <a:off x="6172199" y="3557016"/>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-ma = m.</a:t>
            </a:r>
          </a:p>
        </p:txBody>
      </p:sp>
      <p:sp>
        <p:nvSpPr>
          <p:cNvPr id="39" name="Rounded Rectangle 38"/>
          <p:cNvSpPr/>
          <p:nvPr/>
        </p:nvSpPr>
        <p:spPr>
          <a:xfrm>
            <a:off x="4297680" y="4233672"/>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34840" y="4233672"/>
            <a:ext cx="17373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50" b="1" i="0">
                <a:solidFill>
                  <a:srgbClr val="5B3E83"/>
                </a:solidFill>
                <a:latin typeface="Inter"/>
              </a:rPr>
              <a:t>🔴 la mano</a:t>
            </a:r>
          </a:p>
        </p:txBody>
      </p:sp>
      <p:sp>
        <p:nvSpPr>
          <p:cNvPr id="41" name="TextBox 40"/>
          <p:cNvSpPr txBox="1"/>
          <p:nvPr/>
        </p:nvSpPr>
        <p:spPr>
          <a:xfrm>
            <a:off x="6172199" y="4233672"/>
            <a:ext cx="16459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-o = f.</a:t>
            </a:r>
          </a:p>
        </p:txBody>
      </p:sp>
      <p:sp>
        <p:nvSpPr>
          <p:cNvPr id="42" name="Rounded Rectangle 41"/>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43" name="Rounded Rectangle 42"/>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44" name="Rounded Rectangle 43">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45" name="TextBox 44"/>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46" name="Rounded Rectangle 45"/>
          <p:cNvSpPr/>
          <p:nvPr/>
        </p:nvSpPr>
        <p:spPr>
          <a:xfrm>
            <a:off x="457200" y="4892040"/>
            <a:ext cx="11247120" cy="68580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Regla: </a:t>
            </a:r>
            <a:r>
              <a:rPr sz="1200" b="0" i="0">
                <a:solidFill>
                  <a:srgbClr val="5B3E83"/>
                </a:solidFill>
                <a:latin typeface="Inter"/>
              </a:rPr>
              <a:t>lidwoord + adjectief komen overeen in geslacht én getal. Uitzonderingen: el día/mapa/problema (m), la mano/foto (f).</a:t>
            </a:r>
          </a:p>
        </p:txBody>
      </p:sp>
      <p:sp>
        <p:nvSpPr>
          <p:cNvPr id="47" name="Rounded Rectangle 46"/>
          <p:cNvSpPr/>
          <p:nvPr/>
        </p:nvSpPr>
        <p:spPr>
          <a:xfrm>
            <a:off x="594360" y="476402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48" name="Rectangle 47"/>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50" name="TextBox 49"/>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51" name="TextBox 50"/>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875995"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§3 · QUIZ</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o la?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woord → het juiste lidwoord. Let op de valstrikken.</a:t>
            </a:r>
          </a:p>
        </p:txBody>
      </p:sp>
      <p:sp>
        <p:nvSpPr>
          <p:cNvPr id="9" name="Rounded Rectangle 8"/>
          <p:cNvSpPr/>
          <p:nvPr/>
        </p:nvSpPr>
        <p:spPr>
          <a:xfrm>
            <a:off x="457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00200"/>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casa</a:t>
            </a:r>
          </a:p>
        </p:txBody>
      </p:sp>
      <p:sp>
        <p:nvSpPr>
          <p:cNvPr id="11" name="TextBox 10"/>
          <p:cNvSpPr txBox="1"/>
          <p:nvPr/>
        </p:nvSpPr>
        <p:spPr>
          <a:xfrm>
            <a:off x="3931920" y="1600200"/>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la</a:t>
            </a:r>
          </a:p>
        </p:txBody>
      </p:sp>
      <p:sp>
        <p:nvSpPr>
          <p:cNvPr id="12" name="Rounded Rectangle 11"/>
          <p:cNvSpPr/>
          <p:nvPr/>
        </p:nvSpPr>
        <p:spPr>
          <a:xfrm>
            <a:off x="457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78024"/>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problema</a:t>
            </a:r>
          </a:p>
        </p:txBody>
      </p:sp>
      <p:sp>
        <p:nvSpPr>
          <p:cNvPr id="14" name="TextBox 13"/>
          <p:cNvSpPr txBox="1"/>
          <p:nvPr/>
        </p:nvSpPr>
        <p:spPr>
          <a:xfrm>
            <a:off x="3931920" y="2478024"/>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el</a:t>
            </a:r>
          </a:p>
        </p:txBody>
      </p:sp>
      <p:sp>
        <p:nvSpPr>
          <p:cNvPr id="15" name="Rounded Rectangle 14"/>
          <p:cNvSpPr/>
          <p:nvPr/>
        </p:nvSpPr>
        <p:spPr>
          <a:xfrm>
            <a:off x="457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355848"/>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día</a:t>
            </a:r>
          </a:p>
        </p:txBody>
      </p:sp>
      <p:sp>
        <p:nvSpPr>
          <p:cNvPr id="17" name="TextBox 16"/>
          <p:cNvSpPr txBox="1"/>
          <p:nvPr/>
        </p:nvSpPr>
        <p:spPr>
          <a:xfrm>
            <a:off x="3931920" y="3355848"/>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el</a:t>
            </a:r>
          </a:p>
        </p:txBody>
      </p:sp>
      <p:sp>
        <p:nvSpPr>
          <p:cNvPr id="18" name="Rounded Rectangle 17"/>
          <p:cNvSpPr/>
          <p:nvPr/>
        </p:nvSpPr>
        <p:spPr>
          <a:xfrm>
            <a:off x="6172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600200"/>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mano</a:t>
            </a:r>
          </a:p>
        </p:txBody>
      </p:sp>
      <p:sp>
        <p:nvSpPr>
          <p:cNvPr id="20" name="TextBox 19"/>
          <p:cNvSpPr txBox="1"/>
          <p:nvPr/>
        </p:nvSpPr>
        <p:spPr>
          <a:xfrm>
            <a:off x="9646920" y="1600200"/>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la</a:t>
            </a:r>
          </a:p>
        </p:txBody>
      </p:sp>
      <p:sp>
        <p:nvSpPr>
          <p:cNvPr id="21" name="Rounded Rectangle 20"/>
          <p:cNvSpPr/>
          <p:nvPr/>
        </p:nvSpPr>
        <p:spPr>
          <a:xfrm>
            <a:off x="6172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478024"/>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ciudad</a:t>
            </a:r>
          </a:p>
        </p:txBody>
      </p:sp>
      <p:sp>
        <p:nvSpPr>
          <p:cNvPr id="23" name="TextBox 22"/>
          <p:cNvSpPr txBox="1"/>
          <p:nvPr/>
        </p:nvSpPr>
        <p:spPr>
          <a:xfrm>
            <a:off x="9646920" y="2478024"/>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la</a:t>
            </a:r>
          </a:p>
        </p:txBody>
      </p:sp>
      <p:sp>
        <p:nvSpPr>
          <p:cNvPr id="24" name="Rounded Rectangle 23"/>
          <p:cNvSpPr/>
          <p:nvPr/>
        </p:nvSpPr>
        <p:spPr>
          <a:xfrm>
            <a:off x="6172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355848"/>
            <a:ext cx="32918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___ mapa</a:t>
            </a:r>
          </a:p>
        </p:txBody>
      </p:sp>
      <p:sp>
        <p:nvSpPr>
          <p:cNvPr id="26" name="TextBox 25"/>
          <p:cNvSpPr txBox="1"/>
          <p:nvPr/>
        </p:nvSpPr>
        <p:spPr>
          <a:xfrm>
            <a:off x="9646920" y="3355848"/>
            <a:ext cx="19659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Inter"/>
              </a:rPr>
              <a:t>→ el</a:t>
            </a:r>
          </a:p>
        </p:txBody>
      </p:sp>
      <p:sp>
        <p:nvSpPr>
          <p:cNvPr id="27" name="Rounded Rectangle 26"/>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9" name="Rounded Rectangle 28">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1" name="Rounded Rectangle 30"/>
          <p:cNvSpPr/>
          <p:nvPr/>
        </p:nvSpPr>
        <p:spPr>
          <a:xfrm>
            <a:off x="457200" y="4709160"/>
            <a:ext cx="11247120" cy="5486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DC2626"/>
                </a:solidFill>
                <a:latin typeface="Inter"/>
              </a:rPr>
              <a:t>Valstrikken: </a:t>
            </a:r>
            <a:r>
              <a:rPr sz="1200" b="0" i="0">
                <a:solidFill>
                  <a:srgbClr val="5B3E83"/>
                </a:solidFill>
                <a:latin typeface="Inter"/>
              </a:rPr>
              <a:t>-ma → m (el problema, el idioma) · la mano, la foto (f ondanks -o) · -dad → f (la ciudad).</a:t>
            </a:r>
          </a:p>
        </p:txBody>
      </p:sp>
      <p:sp>
        <p:nvSpPr>
          <p:cNvPr id="32" name="Rounded Rectangle 31"/>
          <p:cNvSpPr/>
          <p:nvPr/>
        </p:nvSpPr>
        <p:spPr>
          <a:xfrm>
            <a:off x="594360" y="45811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05374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§5 · LEER · COMPRENSIÓN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5</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Dos perfiles — «De vuelta al insti»</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Lees en beantwoord. Klik een vraag → het antwoord verschijnt.</a:t>
            </a:r>
          </a:p>
        </p:txBody>
      </p:sp>
      <p:sp>
        <p:nvSpPr>
          <p:cNvPr id="9" name="Rounded Rectangle 8"/>
          <p:cNvSpPr/>
          <p:nvPr/>
        </p:nvSpPr>
        <p:spPr>
          <a:xfrm>
            <a:off x="457200" y="1508760"/>
            <a:ext cx="5120640" cy="3566160"/>
          </a:xfrm>
          <a:prstGeom prst="roundRect">
            <a:avLst>
              <a:gd name="adj" fmla="val 5500"/>
            </a:avLst>
          </a:prstGeom>
          <a:solidFill>
            <a:srgbClr val="EEE8F5"/>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iego.png"/>
          <p:cNvPicPr>
            <a:picLocks noChangeAspect="1"/>
          </p:cNvPicPr>
          <p:nvPr/>
        </p:nvPicPr>
        <p:blipFill>
          <a:blip r:embed="rId2"/>
          <a:stretch>
            <a:fillRect/>
          </a:stretch>
        </p:blipFill>
        <p:spPr>
          <a:xfrm>
            <a:off x="777240" y="1783080"/>
            <a:ext cx="914400" cy="914400"/>
          </a:xfrm>
          <a:prstGeom prst="rect">
            <a:avLst/>
          </a:prstGeom>
        </p:spPr>
      </p:pic>
      <p:sp>
        <p:nvSpPr>
          <p:cNvPr id="11" name="TextBox 10"/>
          <p:cNvSpPr txBox="1"/>
          <p:nvPr/>
        </p:nvSpPr>
        <p:spPr>
          <a:xfrm>
            <a:off x="1874519" y="1810512"/>
            <a:ext cx="3566160" cy="1371600"/>
          </a:xfrm>
          <a:prstGeom prst="rect">
            <a:avLst/>
          </a:prstGeom>
          <a:noFill/>
        </p:spPr>
        <p:txBody>
          <a:bodyPr wrap="square" anchor="t" lIns="38100" rIns="38100" tIns="25400" bIns="25400">
            <a:spAutoFit/>
          </a:bodyPr>
          <a:lstStyle/>
          <a:p>
            <a:pPr algn="l">
              <a:lnSpc>
                <a:spcPct val="118000"/>
              </a:lnSpc>
              <a:spcBef>
                <a:spcPts val="0"/>
              </a:spcBef>
              <a:spcAft>
                <a:spcPts val="200"/>
              </a:spcAft>
            </a:pPr>
            <a:r>
              <a:rPr sz="1150" b="0" i="1">
                <a:solidFill>
                  <a:srgbClr val="20242E"/>
                </a:solidFill>
                <a:latin typeface="Inter"/>
              </a:rPr>
              <a:t>«Me llamo Diego, soy de la Ciudad de México. Tengo 16 años. Vivo con mi madre y mi hermana. En clase soy alegre. Hablo español y estudio neerlandés.»</a:t>
            </a:r>
          </a:p>
        </p:txBody>
      </p:sp>
      <p:pic>
        <p:nvPicPr>
          <p:cNvPr id="12" name="Picture 11" descr="nina.png"/>
          <p:cNvPicPr>
            <a:picLocks noChangeAspect="1"/>
          </p:cNvPicPr>
          <p:nvPr/>
        </p:nvPicPr>
        <p:blipFill>
          <a:blip r:embed="rId3"/>
          <a:stretch>
            <a:fillRect/>
          </a:stretch>
        </p:blipFill>
        <p:spPr>
          <a:xfrm>
            <a:off x="777240" y="3337560"/>
            <a:ext cx="914400" cy="914400"/>
          </a:xfrm>
          <a:prstGeom prst="rect">
            <a:avLst/>
          </a:prstGeom>
        </p:spPr>
      </p:pic>
      <p:sp>
        <p:nvSpPr>
          <p:cNvPr id="13" name="TextBox 12"/>
          <p:cNvSpPr txBox="1"/>
          <p:nvPr/>
        </p:nvSpPr>
        <p:spPr>
          <a:xfrm>
            <a:off x="1874519" y="3364992"/>
            <a:ext cx="3566160" cy="1371600"/>
          </a:xfrm>
          <a:prstGeom prst="rect">
            <a:avLst/>
          </a:prstGeom>
          <a:noFill/>
        </p:spPr>
        <p:txBody>
          <a:bodyPr wrap="square" anchor="t" lIns="38100" rIns="38100" tIns="25400" bIns="25400">
            <a:spAutoFit/>
          </a:bodyPr>
          <a:lstStyle/>
          <a:p>
            <a:pPr algn="l">
              <a:lnSpc>
                <a:spcPct val="118000"/>
              </a:lnSpc>
              <a:spcBef>
                <a:spcPts val="0"/>
              </a:spcBef>
              <a:spcAft>
                <a:spcPts val="200"/>
              </a:spcAft>
            </a:pPr>
            <a:r>
              <a:rPr sz="1150" b="0" i="1">
                <a:solidFill>
                  <a:srgbClr val="20242E"/>
                </a:solidFill>
                <a:latin typeface="Inter"/>
              </a:rPr>
              <a:t>«Soy Nina, peruana, de Cusco. Tengo 16 años y un hermano pequeño. Soy tranquila. Hablo español y un poco de quechua.»</a:t>
            </a:r>
          </a:p>
        </p:txBody>
      </p:sp>
      <p:sp>
        <p:nvSpPr>
          <p:cNvPr id="14" name="Rounded Rectangle 13"/>
          <p:cNvSpPr/>
          <p:nvPr/>
        </p:nvSpPr>
        <p:spPr>
          <a:xfrm>
            <a:off x="5852160" y="1554480"/>
            <a:ext cx="5852160" cy="7772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609344"/>
            <a:ext cx="55778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1" i="0">
                <a:solidFill>
                  <a:srgbClr val="5B3E83"/>
                </a:solidFill>
                <a:latin typeface="Inter"/>
              </a:rPr>
              <a:t>¿De dónde es Diego?</a:t>
            </a:r>
          </a:p>
        </p:txBody>
      </p:sp>
      <p:sp>
        <p:nvSpPr>
          <p:cNvPr id="16" name="TextBox 15"/>
          <p:cNvSpPr txBox="1"/>
          <p:nvPr/>
        </p:nvSpPr>
        <p:spPr>
          <a:xfrm>
            <a:off x="5989320" y="1956816"/>
            <a:ext cx="557784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De México (CDMX)</a:t>
            </a:r>
          </a:p>
        </p:txBody>
      </p:sp>
      <p:sp>
        <p:nvSpPr>
          <p:cNvPr id="17" name="Rounded Rectangle 16"/>
          <p:cNvSpPr/>
          <p:nvPr/>
        </p:nvSpPr>
        <p:spPr>
          <a:xfrm>
            <a:off x="5852160" y="2450592"/>
            <a:ext cx="5852160" cy="7772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505456"/>
            <a:ext cx="55778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1" i="0">
                <a:solidFill>
                  <a:srgbClr val="5B3E83"/>
                </a:solidFill>
                <a:latin typeface="Inter"/>
              </a:rPr>
              <a:t>¿Qué lengua habla Nina además del español?</a:t>
            </a:r>
          </a:p>
        </p:txBody>
      </p:sp>
      <p:sp>
        <p:nvSpPr>
          <p:cNvPr id="19" name="TextBox 18"/>
          <p:cNvSpPr txBox="1"/>
          <p:nvPr/>
        </p:nvSpPr>
        <p:spPr>
          <a:xfrm>
            <a:off x="5989320" y="2852928"/>
            <a:ext cx="557784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Un poco de quechua</a:t>
            </a:r>
          </a:p>
        </p:txBody>
      </p:sp>
      <p:sp>
        <p:nvSpPr>
          <p:cNvPr id="20" name="Rounded Rectangle 19"/>
          <p:cNvSpPr/>
          <p:nvPr/>
        </p:nvSpPr>
        <p:spPr>
          <a:xfrm>
            <a:off x="5852160" y="3346704"/>
            <a:ext cx="5852160" cy="7772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401568"/>
            <a:ext cx="55778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1" i="0">
                <a:solidFill>
                  <a:srgbClr val="5B3E83"/>
                </a:solidFill>
                <a:latin typeface="Inter"/>
              </a:rPr>
              <a:t>¿Cuántos años tienen los dos?</a:t>
            </a:r>
          </a:p>
        </p:txBody>
      </p:sp>
      <p:sp>
        <p:nvSpPr>
          <p:cNvPr id="22" name="TextBox 21"/>
          <p:cNvSpPr txBox="1"/>
          <p:nvPr/>
        </p:nvSpPr>
        <p:spPr>
          <a:xfrm>
            <a:off x="5989320" y="3749040"/>
            <a:ext cx="557784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Dieciséis</a:t>
            </a:r>
          </a:p>
        </p:txBody>
      </p:sp>
      <p:sp>
        <p:nvSpPr>
          <p:cNvPr id="23" name="Rounded Rectangle 22"/>
          <p:cNvSpPr/>
          <p:nvPr/>
        </p:nvSpPr>
        <p:spPr>
          <a:xfrm>
            <a:off x="5852160" y="4242816"/>
            <a:ext cx="5852160" cy="7772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4297680"/>
            <a:ext cx="55778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1" i="0">
                <a:solidFill>
                  <a:srgbClr val="5B3E83"/>
                </a:solidFill>
                <a:latin typeface="Inter"/>
              </a:rPr>
              <a:t>¿Cómo es Nina?</a:t>
            </a:r>
          </a:p>
        </p:txBody>
      </p:sp>
      <p:sp>
        <p:nvSpPr>
          <p:cNvPr id="25" name="TextBox 24"/>
          <p:cNvSpPr txBox="1"/>
          <p:nvPr/>
        </p:nvSpPr>
        <p:spPr>
          <a:xfrm>
            <a:off x="5989320" y="4645152"/>
            <a:ext cx="557784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Tranquila</a:t>
            </a:r>
          </a:p>
        </p:txBody>
      </p:sp>
      <p:sp>
        <p:nvSpPr>
          <p:cNvPr id="26" name="Rounded Rectangle 25"/>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7" name="Rounded Rectangle 26"/>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8" name="Rounded Rectangle 27">
            <a:hlinkClick action="ppaction://hlinksldjump" r:id="rId4"/>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29" name="TextBox 28"/>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0" name="Rounded Rectangle 29"/>
          <p:cNvSpPr/>
          <p:nvPr/>
        </p:nvSpPr>
        <p:spPr>
          <a:xfrm>
            <a:off x="5852160" y="5166360"/>
            <a:ext cx="5852160" cy="5486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 Leesdoel: </a:t>
            </a:r>
            <a:r>
              <a:rPr sz="1200" b="0" i="0">
                <a:solidFill>
                  <a:srgbClr val="5B3E83"/>
                </a:solidFill>
                <a:latin typeface="Inter"/>
              </a:rPr>
              <a:t>scannen naar datos (país, edad, lengua, carácter) — niet élk woord.</a:t>
            </a:r>
          </a:p>
        </p:txBody>
      </p:sp>
      <p:sp>
        <p:nvSpPr>
          <p:cNvPr id="31" name="Rounded Rectangle 30"/>
          <p:cNvSpPr/>
          <p:nvPr/>
        </p:nvSpPr>
        <p:spPr>
          <a:xfrm>
            <a:off x="5989320" y="50383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2" name="Rectangle 31"/>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4" name="TextBox 33"/>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5" name="TextBox 34"/>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1249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§4 · ESCUCHAR</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4</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Escucha las presentaciones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Vier personas se presentan. Klik un nombre → país + dato. (audio op de digitale pagina)</a:t>
            </a:r>
          </a:p>
        </p:txBody>
      </p:sp>
      <p:sp>
        <p:nvSpPr>
          <p:cNvPr id="9" name="Rounded Rectangle 8"/>
          <p:cNvSpPr/>
          <p:nvPr/>
        </p:nvSpPr>
        <p:spPr>
          <a:xfrm>
            <a:off x="64008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37360"/>
            <a:ext cx="2697480" cy="45720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400" b="1" i="0">
                <a:solidFill>
                  <a:srgbClr val="5B3E83"/>
                </a:solidFill>
                <a:latin typeface="Bricolage Grotesque"/>
              </a:rPr>
              <a:t>🔊  Lucía</a:t>
            </a:r>
          </a:p>
        </p:txBody>
      </p:sp>
      <p:sp>
        <p:nvSpPr>
          <p:cNvPr id="12" name="TextBox 11"/>
          <p:cNvSpPr txBox="1"/>
          <p:nvPr/>
        </p:nvSpPr>
        <p:spPr>
          <a:xfrm>
            <a:off x="77724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Es de:</a:t>
            </a:r>
          </a:p>
        </p:txBody>
      </p:sp>
      <p:sp>
        <p:nvSpPr>
          <p:cNvPr id="13" name="TextBox 12"/>
          <p:cNvSpPr txBox="1"/>
          <p:nvPr/>
        </p:nvSpPr>
        <p:spPr>
          <a:xfrm>
            <a:off x="777240" y="2651760"/>
            <a:ext cx="2423160" cy="457200"/>
          </a:xfrm>
          <a:prstGeom prst="rect">
            <a:avLst/>
          </a:prstGeom>
          <a:noFill/>
        </p:spPr>
        <p:txBody>
          <a:bodyPr wrap="square" anchor="t" lIns="38100" rIns="38100" tIns="25400" bIns="25400">
            <a:spAutoFit/>
          </a:bodyPr>
          <a:lstStyle/>
          <a:p>
            <a:pPr algn="l">
              <a:lnSpc>
                <a:spcPct val="105000"/>
              </a:lnSpc>
              <a:spcBef>
                <a:spcPts val="0"/>
              </a:spcBef>
              <a:spcAft>
                <a:spcPts val="200"/>
              </a:spcAft>
            </a:pPr>
            <a:r>
              <a:rPr sz="1300" b="1" i="0">
                <a:solidFill>
                  <a:srgbClr val="20242E"/>
                </a:solidFill>
                <a:latin typeface="Inter"/>
              </a:rPr>
              <a:t>España 🇪🇸</a:t>
            </a:r>
          </a:p>
        </p:txBody>
      </p:sp>
      <p:sp>
        <p:nvSpPr>
          <p:cNvPr id="14" name="TextBox 13"/>
          <p:cNvSpPr txBox="1"/>
          <p:nvPr/>
        </p:nvSpPr>
        <p:spPr>
          <a:xfrm>
            <a:off x="777240" y="32004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100" b="0" i="0">
                <a:solidFill>
                  <a:srgbClr val="6A6E78"/>
                </a:solidFill>
                <a:latin typeface="Inter"/>
              </a:rPr>
              <a:t>Edad · carácter:</a:t>
            </a:r>
          </a:p>
        </p:txBody>
      </p:sp>
      <p:sp>
        <p:nvSpPr>
          <p:cNvPr id="15" name="TextBox 14"/>
          <p:cNvSpPr txBox="1"/>
          <p:nvPr/>
        </p:nvSpPr>
        <p:spPr>
          <a:xfrm>
            <a:off x="777240" y="352044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7C56A9"/>
                </a:solidFill>
                <a:latin typeface="Inter"/>
              </a:rPr>
              <a:t>16 · alegre</a:t>
            </a:r>
          </a:p>
        </p:txBody>
      </p:sp>
      <p:sp>
        <p:nvSpPr>
          <p:cNvPr id="16" name="Rounded Rectangle 15"/>
          <p:cNvSpPr/>
          <p:nvPr/>
        </p:nvSpPr>
        <p:spPr>
          <a:xfrm>
            <a:off x="342900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1737360"/>
            <a:ext cx="2697480" cy="45720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400" b="1" i="0">
                <a:solidFill>
                  <a:srgbClr val="5B3E83"/>
                </a:solidFill>
                <a:latin typeface="Bricolage Grotesque"/>
              </a:rPr>
              <a:t>🔊  Diego</a:t>
            </a:r>
          </a:p>
        </p:txBody>
      </p:sp>
      <p:sp>
        <p:nvSpPr>
          <p:cNvPr id="19" name="TextBox 18"/>
          <p:cNvSpPr txBox="1"/>
          <p:nvPr/>
        </p:nvSpPr>
        <p:spPr>
          <a:xfrm>
            <a:off x="356616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Es de:</a:t>
            </a:r>
          </a:p>
        </p:txBody>
      </p:sp>
      <p:sp>
        <p:nvSpPr>
          <p:cNvPr id="20" name="TextBox 19"/>
          <p:cNvSpPr txBox="1"/>
          <p:nvPr/>
        </p:nvSpPr>
        <p:spPr>
          <a:xfrm>
            <a:off x="3566160" y="2651760"/>
            <a:ext cx="2423160" cy="457200"/>
          </a:xfrm>
          <a:prstGeom prst="rect">
            <a:avLst/>
          </a:prstGeom>
          <a:noFill/>
        </p:spPr>
        <p:txBody>
          <a:bodyPr wrap="square" anchor="t" lIns="38100" rIns="38100" tIns="25400" bIns="25400">
            <a:spAutoFit/>
          </a:bodyPr>
          <a:lstStyle/>
          <a:p>
            <a:pPr algn="l">
              <a:lnSpc>
                <a:spcPct val="105000"/>
              </a:lnSpc>
              <a:spcBef>
                <a:spcPts val="0"/>
              </a:spcBef>
              <a:spcAft>
                <a:spcPts val="200"/>
              </a:spcAft>
            </a:pPr>
            <a:r>
              <a:rPr sz="1300" b="1" i="0">
                <a:solidFill>
                  <a:srgbClr val="20242E"/>
                </a:solidFill>
                <a:latin typeface="Inter"/>
              </a:rPr>
              <a:t>México 🇲🇽</a:t>
            </a:r>
          </a:p>
        </p:txBody>
      </p:sp>
      <p:sp>
        <p:nvSpPr>
          <p:cNvPr id="21" name="TextBox 20"/>
          <p:cNvSpPr txBox="1"/>
          <p:nvPr/>
        </p:nvSpPr>
        <p:spPr>
          <a:xfrm>
            <a:off x="3566160" y="32004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100" b="0" i="0">
                <a:solidFill>
                  <a:srgbClr val="6A6E78"/>
                </a:solidFill>
                <a:latin typeface="Inter"/>
              </a:rPr>
              <a:t>Edad · carácter:</a:t>
            </a:r>
          </a:p>
        </p:txBody>
      </p:sp>
      <p:sp>
        <p:nvSpPr>
          <p:cNvPr id="22" name="TextBox 21"/>
          <p:cNvSpPr txBox="1"/>
          <p:nvPr/>
        </p:nvSpPr>
        <p:spPr>
          <a:xfrm>
            <a:off x="3566160" y="352044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7C56A9"/>
                </a:solidFill>
                <a:latin typeface="Inter"/>
              </a:rPr>
              <a:t>16 · hablador</a:t>
            </a:r>
          </a:p>
        </p:txBody>
      </p:sp>
      <p:sp>
        <p:nvSpPr>
          <p:cNvPr id="23" name="Rounded Rectangle 22"/>
          <p:cNvSpPr/>
          <p:nvPr/>
        </p:nvSpPr>
        <p:spPr>
          <a:xfrm>
            <a:off x="621792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1737360"/>
            <a:ext cx="2697480" cy="45720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400" b="1" i="0">
                <a:solidFill>
                  <a:srgbClr val="5B3E83"/>
                </a:solidFill>
                <a:latin typeface="Bricolage Grotesque"/>
              </a:rPr>
              <a:t>🔊  Valen</a:t>
            </a:r>
          </a:p>
        </p:txBody>
      </p:sp>
      <p:sp>
        <p:nvSpPr>
          <p:cNvPr id="26" name="TextBox 25"/>
          <p:cNvSpPr txBox="1"/>
          <p:nvPr/>
        </p:nvSpPr>
        <p:spPr>
          <a:xfrm>
            <a:off x="635508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Es de:</a:t>
            </a:r>
          </a:p>
        </p:txBody>
      </p:sp>
      <p:sp>
        <p:nvSpPr>
          <p:cNvPr id="27" name="TextBox 26"/>
          <p:cNvSpPr txBox="1"/>
          <p:nvPr/>
        </p:nvSpPr>
        <p:spPr>
          <a:xfrm>
            <a:off x="6355080" y="2651760"/>
            <a:ext cx="2423160" cy="457200"/>
          </a:xfrm>
          <a:prstGeom prst="rect">
            <a:avLst/>
          </a:prstGeom>
          <a:noFill/>
        </p:spPr>
        <p:txBody>
          <a:bodyPr wrap="square" anchor="t" lIns="38100" rIns="38100" tIns="25400" bIns="25400">
            <a:spAutoFit/>
          </a:bodyPr>
          <a:lstStyle/>
          <a:p>
            <a:pPr algn="l">
              <a:lnSpc>
                <a:spcPct val="105000"/>
              </a:lnSpc>
              <a:spcBef>
                <a:spcPts val="0"/>
              </a:spcBef>
              <a:spcAft>
                <a:spcPts val="200"/>
              </a:spcAft>
            </a:pPr>
            <a:r>
              <a:rPr sz="1300" b="1" i="0">
                <a:solidFill>
                  <a:srgbClr val="20242E"/>
                </a:solidFill>
                <a:latin typeface="Inter"/>
              </a:rPr>
              <a:t>Colombia 🇨🇴</a:t>
            </a:r>
          </a:p>
        </p:txBody>
      </p:sp>
      <p:sp>
        <p:nvSpPr>
          <p:cNvPr id="28" name="TextBox 27"/>
          <p:cNvSpPr txBox="1"/>
          <p:nvPr/>
        </p:nvSpPr>
        <p:spPr>
          <a:xfrm>
            <a:off x="6355080" y="32004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100" b="0" i="0">
                <a:solidFill>
                  <a:srgbClr val="6A6E78"/>
                </a:solidFill>
                <a:latin typeface="Inter"/>
              </a:rPr>
              <a:t>Edad · carácter:</a:t>
            </a:r>
          </a:p>
        </p:txBody>
      </p:sp>
      <p:sp>
        <p:nvSpPr>
          <p:cNvPr id="29" name="TextBox 28"/>
          <p:cNvSpPr txBox="1"/>
          <p:nvPr/>
        </p:nvSpPr>
        <p:spPr>
          <a:xfrm>
            <a:off x="6355080" y="352044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7C56A9"/>
                </a:solidFill>
                <a:latin typeface="Inter"/>
              </a:rPr>
              <a:t>15 · costeña</a:t>
            </a:r>
          </a:p>
        </p:txBody>
      </p:sp>
      <p:sp>
        <p:nvSpPr>
          <p:cNvPr id="30" name="Rounded Rectangle 29"/>
          <p:cNvSpPr/>
          <p:nvPr/>
        </p:nvSpPr>
        <p:spPr>
          <a:xfrm>
            <a:off x="900684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06840" y="1737360"/>
            <a:ext cx="2697480" cy="45720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400" b="1" i="0">
                <a:solidFill>
                  <a:srgbClr val="5B3E83"/>
                </a:solidFill>
                <a:latin typeface="Bricolage Grotesque"/>
              </a:rPr>
              <a:t>🔊  Mateo</a:t>
            </a:r>
          </a:p>
        </p:txBody>
      </p:sp>
      <p:sp>
        <p:nvSpPr>
          <p:cNvPr id="33" name="TextBox 32"/>
          <p:cNvSpPr txBox="1"/>
          <p:nvPr/>
        </p:nvSpPr>
        <p:spPr>
          <a:xfrm>
            <a:off x="914400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Es de:</a:t>
            </a:r>
          </a:p>
        </p:txBody>
      </p:sp>
      <p:sp>
        <p:nvSpPr>
          <p:cNvPr id="34" name="TextBox 33"/>
          <p:cNvSpPr txBox="1"/>
          <p:nvPr/>
        </p:nvSpPr>
        <p:spPr>
          <a:xfrm>
            <a:off x="9144000" y="2651760"/>
            <a:ext cx="2423160" cy="457200"/>
          </a:xfrm>
          <a:prstGeom prst="rect">
            <a:avLst/>
          </a:prstGeom>
          <a:noFill/>
        </p:spPr>
        <p:txBody>
          <a:bodyPr wrap="square" anchor="t" lIns="38100" rIns="38100" tIns="25400" bIns="25400">
            <a:spAutoFit/>
          </a:bodyPr>
          <a:lstStyle/>
          <a:p>
            <a:pPr algn="l">
              <a:lnSpc>
                <a:spcPct val="105000"/>
              </a:lnSpc>
              <a:spcBef>
                <a:spcPts val="0"/>
              </a:spcBef>
              <a:spcAft>
                <a:spcPts val="200"/>
              </a:spcAft>
            </a:pPr>
            <a:r>
              <a:rPr sz="1300" b="1" i="0">
                <a:solidFill>
                  <a:srgbClr val="20242E"/>
                </a:solidFill>
                <a:latin typeface="Inter"/>
              </a:rPr>
              <a:t>Argentina 🇦🇷</a:t>
            </a:r>
          </a:p>
        </p:txBody>
      </p:sp>
      <p:sp>
        <p:nvSpPr>
          <p:cNvPr id="35" name="TextBox 34"/>
          <p:cNvSpPr txBox="1"/>
          <p:nvPr/>
        </p:nvSpPr>
        <p:spPr>
          <a:xfrm>
            <a:off x="9144000" y="32004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100" b="0" i="0">
                <a:solidFill>
                  <a:srgbClr val="6A6E78"/>
                </a:solidFill>
                <a:latin typeface="Inter"/>
              </a:rPr>
              <a:t>Edad · carácter:</a:t>
            </a:r>
          </a:p>
        </p:txBody>
      </p:sp>
      <p:sp>
        <p:nvSpPr>
          <p:cNvPr id="36" name="TextBox 35"/>
          <p:cNvSpPr txBox="1"/>
          <p:nvPr/>
        </p:nvSpPr>
        <p:spPr>
          <a:xfrm>
            <a:off x="9144000" y="352044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7C56A9"/>
                </a:solidFill>
                <a:latin typeface="Inter"/>
              </a:rPr>
              <a:t>17 · voseo</a:t>
            </a:r>
          </a:p>
        </p:txBody>
      </p:sp>
      <p:sp>
        <p:nvSpPr>
          <p:cNvPr id="37" name="Rounded Rectangle 36"/>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8" name="Rounded Rectangle 3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9" name="Rounded Rectangle 38">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40" name="TextBox 3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41" name="Rounded Rectangle 40"/>
          <p:cNvSpPr/>
          <p:nvPr/>
        </p:nvSpPr>
        <p:spPr>
          <a:xfrm>
            <a:off x="457200" y="4480560"/>
            <a:ext cx="11247120" cy="7772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Modelo-audio (docent leest of TTS): </a:t>
            </a:r>
            <a:r>
              <a:rPr sz="1200" b="0" i="0">
                <a:solidFill>
                  <a:srgbClr val="5B3E83"/>
                </a:solidFill>
                <a:latin typeface="Inter"/>
              </a:rPr>
              <a:t>«Hola, me llamo Lucía, soy de España. Tengo dieciséis años y soy alegre.» …</a:t>
            </a:r>
          </a:p>
          <a:p>
            <a:pPr>
              <a:lnSpc>
                <a:spcPct val="102000"/>
              </a:lnSpc>
              <a:spcBef>
                <a:spcPts val="0"/>
              </a:spcBef>
              <a:spcAft>
                <a:spcPts val="300"/>
              </a:spcAft>
            </a:pPr>
            <a:r>
              <a:rPr sz="1200" b="0" i="0">
                <a:solidFill>
                  <a:srgbClr val="5B3E83"/>
                </a:solidFill>
                <a:latin typeface="Inter"/>
              </a:rPr>
              <a:t>Daarna spreken: elke leerling presenteert zich zoals het model.</a:t>
            </a:r>
          </a:p>
        </p:txBody>
      </p:sp>
      <p:sp>
        <p:nvSpPr>
          <p:cNvPr id="42" name="Rounded Rectangle 41"/>
          <p:cNvSpPr/>
          <p:nvPr/>
        </p:nvSpPr>
        <p:spPr>
          <a:xfrm>
            <a:off x="594360" y="43525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43" name="Rectangle 4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45" name="TextBox 4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46" name="TextBox 4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§2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¿soy o estoy?</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zin → de juiste vorm. ser = identiteit · estar = plaats/gevoel.</a:t>
            </a:r>
          </a:p>
        </p:txBody>
      </p:sp>
      <p:sp>
        <p:nvSpPr>
          <p:cNvPr id="9" name="Rounded Rectangle 8"/>
          <p:cNvSpPr/>
          <p:nvPr/>
        </p:nvSpPr>
        <p:spPr>
          <a:xfrm>
            <a:off x="457200" y="160020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70992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___ de Bélgica.</a:t>
            </a:r>
          </a:p>
        </p:txBody>
      </p:sp>
      <p:sp>
        <p:nvSpPr>
          <p:cNvPr id="11" name="TextBox 10"/>
          <p:cNvSpPr txBox="1"/>
          <p:nvPr/>
        </p:nvSpPr>
        <p:spPr>
          <a:xfrm>
            <a:off x="457200" y="205740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soy</a:t>
            </a:r>
          </a:p>
        </p:txBody>
      </p:sp>
      <p:sp>
        <p:nvSpPr>
          <p:cNvPr id="12" name="Rounded Rectangle 11"/>
          <p:cNvSpPr/>
          <p:nvPr/>
        </p:nvSpPr>
        <p:spPr>
          <a:xfrm>
            <a:off x="4251960" y="160020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170992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___ en clase.</a:t>
            </a:r>
          </a:p>
        </p:txBody>
      </p:sp>
      <p:sp>
        <p:nvSpPr>
          <p:cNvPr id="14" name="TextBox 13"/>
          <p:cNvSpPr txBox="1"/>
          <p:nvPr/>
        </p:nvSpPr>
        <p:spPr>
          <a:xfrm>
            <a:off x="4251960" y="205740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estoy</a:t>
            </a:r>
          </a:p>
        </p:txBody>
      </p:sp>
      <p:sp>
        <p:nvSpPr>
          <p:cNvPr id="15" name="Rounded Rectangle 14"/>
          <p:cNvSpPr/>
          <p:nvPr/>
        </p:nvSpPr>
        <p:spPr>
          <a:xfrm>
            <a:off x="8046720" y="160020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70992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___ estudiante.</a:t>
            </a:r>
          </a:p>
        </p:txBody>
      </p:sp>
      <p:sp>
        <p:nvSpPr>
          <p:cNvPr id="17" name="TextBox 16"/>
          <p:cNvSpPr txBox="1"/>
          <p:nvPr/>
        </p:nvSpPr>
        <p:spPr>
          <a:xfrm>
            <a:off x="8046720" y="205740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soy</a:t>
            </a:r>
          </a:p>
        </p:txBody>
      </p:sp>
      <p:sp>
        <p:nvSpPr>
          <p:cNvPr id="18" name="Rounded Rectangle 17"/>
          <p:cNvSpPr/>
          <p:nvPr/>
        </p:nvSpPr>
        <p:spPr>
          <a:xfrm>
            <a:off x="457200" y="283464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4436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Hoy ___ contento.</a:t>
            </a:r>
          </a:p>
        </p:txBody>
      </p:sp>
      <p:sp>
        <p:nvSpPr>
          <p:cNvPr id="20" name="TextBox 19"/>
          <p:cNvSpPr txBox="1"/>
          <p:nvPr/>
        </p:nvSpPr>
        <p:spPr>
          <a:xfrm>
            <a:off x="457200" y="329184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estoy</a:t>
            </a:r>
          </a:p>
        </p:txBody>
      </p:sp>
      <p:sp>
        <p:nvSpPr>
          <p:cNvPr id="21" name="Rounded Rectangle 20"/>
          <p:cNvSpPr/>
          <p:nvPr/>
        </p:nvSpPr>
        <p:spPr>
          <a:xfrm>
            <a:off x="4251960" y="283464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8" y="294436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___ belga.</a:t>
            </a:r>
          </a:p>
        </p:txBody>
      </p:sp>
      <p:sp>
        <p:nvSpPr>
          <p:cNvPr id="23" name="TextBox 22"/>
          <p:cNvSpPr txBox="1"/>
          <p:nvPr/>
        </p:nvSpPr>
        <p:spPr>
          <a:xfrm>
            <a:off x="4251960" y="329184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soy</a:t>
            </a:r>
          </a:p>
        </p:txBody>
      </p:sp>
      <p:sp>
        <p:nvSpPr>
          <p:cNvPr id="24" name="Rounded Rectangle 23"/>
          <p:cNvSpPr/>
          <p:nvPr/>
        </p:nvSpPr>
        <p:spPr>
          <a:xfrm>
            <a:off x="8046720" y="2834640"/>
            <a:ext cx="3611880" cy="105156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2944368"/>
            <a:ext cx="3392424"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250" b="0" i="0">
                <a:solidFill>
                  <a:srgbClr val="6A6E78"/>
                </a:solidFill>
                <a:latin typeface="Inter"/>
              </a:rPr>
              <a:t>___ muy bien, gracias.</a:t>
            </a:r>
          </a:p>
        </p:txBody>
      </p:sp>
      <p:sp>
        <p:nvSpPr>
          <p:cNvPr id="26" name="TextBox 25"/>
          <p:cNvSpPr txBox="1"/>
          <p:nvPr/>
        </p:nvSpPr>
        <p:spPr>
          <a:xfrm>
            <a:off x="8046720" y="3291840"/>
            <a:ext cx="3611880" cy="50292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400" b="1" i="0">
                <a:solidFill>
                  <a:srgbClr val="5B3E83"/>
                </a:solidFill>
                <a:latin typeface="Bricolage Grotesque"/>
              </a:rPr>
              <a:t>→ estoy</a:t>
            </a:r>
          </a:p>
        </p:txBody>
      </p:sp>
      <p:sp>
        <p:nvSpPr>
          <p:cNvPr id="27" name="Rounded Rectangle 26"/>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9" name="Rounded Rectangle 28">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1" name="Rounded Rectangle 30"/>
          <p:cNvSpPr/>
          <p:nvPr/>
        </p:nvSpPr>
        <p:spPr>
          <a:xfrm>
            <a:off x="457200" y="4709160"/>
            <a:ext cx="11247120" cy="59436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ser (soy): </a:t>
            </a:r>
            <a:r>
              <a:rPr sz="1200" b="0" i="0">
                <a:solidFill>
                  <a:srgbClr val="5B3E83"/>
                </a:solidFill>
                <a:latin typeface="Inter"/>
              </a:rPr>
              <a:t>herkomst · nationaliteit · beroep · karakter. </a:t>
            </a:r>
            <a:r>
              <a:rPr sz="1200" b="1" i="0">
                <a:solidFill>
                  <a:srgbClr val="5B3E83"/>
                </a:solidFill>
                <a:latin typeface="Inter"/>
              </a:rPr>
              <a:t>estar (estoy): </a:t>
            </a:r>
            <a:r>
              <a:rPr sz="1200" b="0" i="0">
                <a:solidFill>
                  <a:srgbClr val="5B3E83"/>
                </a:solidFill>
                <a:latin typeface="Inter"/>
              </a:rPr>
              <a:t>plaats · gevoel · toestand.</a:t>
            </a:r>
          </a:p>
        </p:txBody>
      </p:sp>
      <p:sp>
        <p:nvSpPr>
          <p:cNvPr id="32" name="Rounded Rectangle 31"/>
          <p:cNvSpPr/>
          <p:nvPr/>
        </p:nvSpPr>
        <p:spPr>
          <a:xfrm>
            <a:off x="594360" y="45811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390241"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§1 · SPEAKING · INTERACCIÓN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¡Preséntate!</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Speel de scène met de frames. Steun bouwt af: kaarten → beginwoorden → uit het hoofd.</a:t>
            </a:r>
          </a:p>
        </p:txBody>
      </p:sp>
      <p:pic>
        <p:nvPicPr>
          <p:cNvPr id="9" name="Picture 8" descr="tu.png"/>
          <p:cNvPicPr>
            <a:picLocks noChangeAspect="1"/>
          </p:cNvPicPr>
          <p:nvPr/>
        </p:nvPicPr>
        <p:blipFill>
          <a:blip r:embed="rId2"/>
          <a:stretch>
            <a:fillRect/>
          </a:stretch>
        </p:blipFill>
        <p:spPr>
          <a:xfrm>
            <a:off x="10424160" y="1554480"/>
            <a:ext cx="1188720" cy="1188720"/>
          </a:xfrm>
          <a:prstGeom prst="rect">
            <a:avLst/>
          </a:prstGeom>
        </p:spPr>
      </p:pic>
      <p:sp>
        <p:nvSpPr>
          <p:cNvPr id="10" name="Rounded Rectangle 9"/>
          <p:cNvSpPr/>
          <p:nvPr/>
        </p:nvSpPr>
        <p:spPr>
          <a:xfrm>
            <a:off x="457200" y="1645920"/>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91640"/>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Saludar</a:t>
            </a:r>
          </a:p>
        </p:txBody>
      </p:sp>
      <p:sp>
        <p:nvSpPr>
          <p:cNvPr id="12" name="TextBox 11"/>
          <p:cNvSpPr txBox="1"/>
          <p:nvPr/>
        </p:nvSpPr>
        <p:spPr>
          <a:xfrm>
            <a:off x="594360" y="1975104"/>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¡Hola! / Buenos días.</a:t>
            </a:r>
          </a:p>
        </p:txBody>
      </p:sp>
      <p:sp>
        <p:nvSpPr>
          <p:cNvPr id="13" name="Rounded Rectangle 12"/>
          <p:cNvSpPr/>
          <p:nvPr/>
        </p:nvSpPr>
        <p:spPr>
          <a:xfrm>
            <a:off x="457200" y="2542032"/>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587752"/>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Nombre</a:t>
            </a:r>
          </a:p>
        </p:txBody>
      </p:sp>
      <p:sp>
        <p:nvSpPr>
          <p:cNvPr id="15" name="TextBox 14"/>
          <p:cNvSpPr txBox="1"/>
          <p:nvPr/>
        </p:nvSpPr>
        <p:spPr>
          <a:xfrm>
            <a:off x="594360" y="2871216"/>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Me llamo …</a:t>
            </a:r>
          </a:p>
        </p:txBody>
      </p:sp>
      <p:sp>
        <p:nvSpPr>
          <p:cNvPr id="16" name="Rounded Rectangle 15"/>
          <p:cNvSpPr/>
          <p:nvPr/>
        </p:nvSpPr>
        <p:spPr>
          <a:xfrm>
            <a:off x="457200" y="3438144"/>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483864"/>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Origen</a:t>
            </a:r>
          </a:p>
        </p:txBody>
      </p:sp>
      <p:sp>
        <p:nvSpPr>
          <p:cNvPr id="18" name="TextBox 17"/>
          <p:cNvSpPr txBox="1"/>
          <p:nvPr/>
        </p:nvSpPr>
        <p:spPr>
          <a:xfrm>
            <a:off x="594360" y="3767328"/>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Soy de …</a:t>
            </a:r>
          </a:p>
        </p:txBody>
      </p:sp>
      <p:sp>
        <p:nvSpPr>
          <p:cNvPr id="19" name="Rounded Rectangle 18"/>
          <p:cNvSpPr/>
          <p:nvPr/>
        </p:nvSpPr>
        <p:spPr>
          <a:xfrm>
            <a:off x="3749040" y="1645920"/>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86200" y="1691640"/>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Edad</a:t>
            </a:r>
          </a:p>
        </p:txBody>
      </p:sp>
      <p:sp>
        <p:nvSpPr>
          <p:cNvPr id="21" name="TextBox 20"/>
          <p:cNvSpPr txBox="1"/>
          <p:nvPr/>
        </p:nvSpPr>
        <p:spPr>
          <a:xfrm>
            <a:off x="3886200" y="1975104"/>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Tengo … años.</a:t>
            </a:r>
          </a:p>
        </p:txBody>
      </p:sp>
      <p:sp>
        <p:nvSpPr>
          <p:cNvPr id="22" name="Rounded Rectangle 21"/>
          <p:cNvSpPr/>
          <p:nvPr/>
        </p:nvSpPr>
        <p:spPr>
          <a:xfrm>
            <a:off x="3749040" y="2542032"/>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2587752"/>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Dónde vives</a:t>
            </a:r>
          </a:p>
        </p:txBody>
      </p:sp>
      <p:sp>
        <p:nvSpPr>
          <p:cNvPr id="24" name="TextBox 23"/>
          <p:cNvSpPr txBox="1"/>
          <p:nvPr/>
        </p:nvSpPr>
        <p:spPr>
          <a:xfrm>
            <a:off x="3886200" y="2871216"/>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Vivo en …</a:t>
            </a:r>
          </a:p>
        </p:txBody>
      </p:sp>
      <p:sp>
        <p:nvSpPr>
          <p:cNvPr id="25" name="Rounded Rectangle 24"/>
          <p:cNvSpPr/>
          <p:nvPr/>
        </p:nvSpPr>
        <p:spPr>
          <a:xfrm>
            <a:off x="3749040" y="3438144"/>
            <a:ext cx="3108960" cy="731520"/>
          </a:xfrm>
          <a:prstGeom prst="roundRect">
            <a:avLst>
              <a:gd name="adj" fmla="val 5500"/>
            </a:avLst>
          </a:prstGeom>
          <a:solidFill>
            <a:srgbClr val="FFFFFF"/>
          </a:solidFill>
          <a:ln w="1524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86200" y="3483864"/>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Lengua</a:t>
            </a:r>
          </a:p>
        </p:txBody>
      </p:sp>
      <p:sp>
        <p:nvSpPr>
          <p:cNvPr id="27" name="TextBox 26"/>
          <p:cNvSpPr txBox="1"/>
          <p:nvPr/>
        </p:nvSpPr>
        <p:spPr>
          <a:xfrm>
            <a:off x="3886200" y="3767328"/>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Hablo …</a:t>
            </a:r>
          </a:p>
        </p:txBody>
      </p:sp>
      <p:sp>
        <p:nvSpPr>
          <p:cNvPr id="28" name="Rounded Rectangle 27"/>
          <p:cNvSpPr/>
          <p:nvPr/>
        </p:nvSpPr>
        <p:spPr>
          <a:xfrm>
            <a:off x="457200" y="4251960"/>
            <a:ext cx="4156862"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5B3E83"/>
                </a:solidFill>
                <a:latin typeface="Inter"/>
              </a:rPr>
              <a:t>🎙️ Grábate online · «Mensaje de voz: preséntate»</a:t>
            </a:r>
          </a:p>
        </p:txBody>
      </p:sp>
      <p:sp>
        <p:nvSpPr>
          <p:cNvPr id="29" name="TextBox 28"/>
          <p:cNvSpPr txBox="1"/>
          <p:nvPr/>
        </p:nvSpPr>
        <p:spPr>
          <a:xfrm>
            <a:off x="457200" y="4617720"/>
            <a:ext cx="9601200" cy="8229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Inter"/>
              </a:rPr>
              <a:t>Ronda 1: </a:t>
            </a:r>
            <a:r>
              <a:rPr sz="1200" b="0" i="0">
                <a:solidFill>
                  <a:srgbClr val="20242E"/>
                </a:solidFill>
                <a:latin typeface="Inter"/>
              </a:rPr>
              <a:t>met de kaarten. </a:t>
            </a:r>
            <a:r>
              <a:rPr sz="1200" b="1" i="0">
                <a:solidFill>
                  <a:srgbClr val="5B3E83"/>
                </a:solidFill>
                <a:latin typeface="Inter"/>
              </a:rPr>
              <a:t>Ronda 2: </a:t>
            </a:r>
            <a:r>
              <a:rPr sz="1200" b="0" i="0">
                <a:solidFill>
                  <a:srgbClr val="20242E"/>
                </a:solidFill>
                <a:latin typeface="Inter"/>
              </a:rPr>
              <a:t>alleen beginwoorden. </a:t>
            </a:r>
            <a:r>
              <a:rPr sz="1200" b="1" i="0">
                <a:solidFill>
                  <a:srgbClr val="5B3E83"/>
                </a:solidFill>
                <a:latin typeface="Inter"/>
              </a:rPr>
              <a:t>Ronda 3: </a:t>
            </a:r>
            <a:r>
              <a:rPr sz="1200" b="0" i="0">
                <a:solidFill>
                  <a:srgbClr val="20242E"/>
                </a:solidFill>
                <a:latin typeface="Inter"/>
              </a:rPr>
              <a:t>uit het hoofd. </a:t>
            </a:r>
            <a:r>
              <a:rPr sz="1200" b="1" i="0">
                <a:solidFill>
                  <a:srgbClr val="5B3E83"/>
                </a:solidFill>
                <a:latin typeface="Inter"/>
              </a:rPr>
              <a:t>Ronda 4: </a:t>
            </a:r>
            <a:r>
              <a:rPr sz="1200" b="0" i="0">
                <a:solidFill>
                  <a:srgbClr val="20242E"/>
                </a:solidFill>
                <a:latin typeface="Inter"/>
              </a:rPr>
              <a:t>grábate.</a:t>
            </a:r>
          </a:p>
        </p:txBody>
      </p:sp>
      <p:sp>
        <p:nvSpPr>
          <p:cNvPr id="30" name="Rounded Rectangle 29"/>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1" name="Rounded Rectangle 30"/>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2" name="Rounded Rectangle 31">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3" name="TextBox 32"/>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4" name="Rounded Rectangle 33"/>
          <p:cNvSpPr/>
          <p:nvPr/>
        </p:nvSpPr>
        <p:spPr>
          <a:xfrm>
            <a:off x="457200" y="5120640"/>
            <a:ext cx="11247120" cy="59436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Modelo: </a:t>
            </a:r>
            <a:r>
              <a:rPr sz="1200" b="0" i="0">
                <a:solidFill>
                  <a:srgbClr val="5B3E83"/>
                </a:solidFill>
                <a:latin typeface="Inter"/>
              </a:rPr>
              <a:t>«¡Hola! Me llamo … Soy de … Tengo … años. Vivo en … Hablo … ¡Mucho gusto!»</a:t>
            </a:r>
          </a:p>
        </p:txBody>
      </p:sp>
      <p:sp>
        <p:nvSpPr>
          <p:cNvPr id="35" name="Rounded Rectangle 34"/>
          <p:cNvSpPr/>
          <p:nvPr/>
        </p:nvSpPr>
        <p:spPr>
          <a:xfrm>
            <a:off x="594360" y="499262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6" name="Rectangle 35"/>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8" name="TextBox 37"/>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9" name="TextBox 38"/>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0136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WRITING · PRODUCCIÓN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Mi tarjeta de reencuentro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Schrijf je kaartje. Klik → een modeltekst verschijnt.</a:t>
            </a:r>
          </a:p>
        </p:txBody>
      </p:sp>
      <p:sp>
        <p:nvSpPr>
          <p:cNvPr id="9" name="Rounded Rectangle 8"/>
          <p:cNvSpPr/>
          <p:nvPr/>
        </p:nvSpPr>
        <p:spPr>
          <a:xfrm>
            <a:off x="457200" y="1554480"/>
            <a:ext cx="5486400" cy="35661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5120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Inter"/>
              </a:rPr>
              <a:t>✍️ Escribe aquí tu tarjeta:</a:t>
            </a:r>
          </a:p>
        </p:txBody>
      </p:sp>
      <p:sp>
        <p:nvSpPr>
          <p:cNvPr id="11" name="Rectangle 10"/>
          <p:cNvSpPr/>
          <p:nvPr/>
        </p:nvSpPr>
        <p:spPr>
          <a:xfrm>
            <a:off x="640080" y="21945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6517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1089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5661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0233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4805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5544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Checklist:</a:t>
            </a:r>
          </a:p>
        </p:txBody>
      </p:sp>
      <p:sp>
        <p:nvSpPr>
          <p:cNvPr id="18" name="TextBox 17"/>
          <p:cNvSpPr txBox="1"/>
          <p:nvPr/>
        </p:nvSpPr>
        <p:spPr>
          <a:xfrm>
            <a:off x="6309360" y="20116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nombre + edad</a:t>
            </a:r>
          </a:p>
        </p:txBody>
      </p:sp>
      <p:sp>
        <p:nvSpPr>
          <p:cNvPr id="19" name="TextBox 18"/>
          <p:cNvSpPr txBox="1"/>
          <p:nvPr/>
        </p:nvSpPr>
        <p:spPr>
          <a:xfrm>
            <a:off x="6309360" y="242316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de dónde eres (origen)</a:t>
            </a:r>
          </a:p>
        </p:txBody>
      </p:sp>
      <p:sp>
        <p:nvSpPr>
          <p:cNvPr id="20" name="TextBox 19"/>
          <p:cNvSpPr txBox="1"/>
          <p:nvPr/>
        </p:nvSpPr>
        <p:spPr>
          <a:xfrm>
            <a:off x="6309360" y="283464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dónde vives</a:t>
            </a:r>
          </a:p>
        </p:txBody>
      </p:sp>
      <p:sp>
        <p:nvSpPr>
          <p:cNvPr id="21" name="TextBox 20"/>
          <p:cNvSpPr txBox="1"/>
          <p:nvPr/>
        </p:nvSpPr>
        <p:spPr>
          <a:xfrm>
            <a:off x="6309360" y="324612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una lengua que hablas</a:t>
            </a:r>
          </a:p>
        </p:txBody>
      </p:sp>
      <p:sp>
        <p:nvSpPr>
          <p:cNvPr id="22" name="TextBox 21"/>
          <p:cNvSpPr txBox="1"/>
          <p:nvPr/>
        </p:nvSpPr>
        <p:spPr>
          <a:xfrm>
            <a:off x="6309360" y="365760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 adjetivo de carácter</a:t>
            </a:r>
          </a:p>
        </p:txBody>
      </p:sp>
      <p:sp>
        <p:nvSpPr>
          <p:cNvPr id="23" name="TextBox 22"/>
          <p:cNvSpPr txBox="1"/>
          <p:nvPr/>
        </p:nvSpPr>
        <p:spPr>
          <a:xfrm>
            <a:off x="6309360" y="40690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 conector (y/pero/porque)</a:t>
            </a:r>
          </a:p>
        </p:txBody>
      </p:sp>
      <p:sp>
        <p:nvSpPr>
          <p:cNvPr id="24" name="Rounded Rectangle 23"/>
          <p:cNvSpPr/>
          <p:nvPr/>
        </p:nvSpPr>
        <p:spPr>
          <a:xfrm>
            <a:off x="6309360" y="3977639"/>
            <a:ext cx="5486400" cy="1143000"/>
          </a:xfrm>
          <a:prstGeom prst="roundRect">
            <a:avLst>
              <a:gd name="adj" fmla="val 5500"/>
            </a:avLst>
          </a:prstGeom>
          <a:solidFill>
            <a:srgbClr val="EEE8F5"/>
          </a:solidFill>
          <a:ln w="1524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023360"/>
            <a:ext cx="5212080" cy="1097280"/>
          </a:xfrm>
          <a:prstGeom prst="rect">
            <a:avLst/>
          </a:prstGeom>
          <a:noFill/>
        </p:spPr>
        <p:txBody>
          <a:bodyPr wrap="square" anchor="t" lIns="38100" rIns="38100" tIns="25400" bIns="25400">
            <a:spAutoFit/>
          </a:bodyPr>
          <a:lstStyle/>
          <a:p>
            <a:pPr algn="l">
              <a:lnSpc>
                <a:spcPct val="115000"/>
              </a:lnSpc>
              <a:spcBef>
                <a:spcPts val="0"/>
              </a:spcBef>
              <a:spcAft>
                <a:spcPts val="200"/>
              </a:spcAft>
            </a:pPr>
            <a:r>
              <a:rPr sz="1200" b="1" i="0">
                <a:solidFill>
                  <a:srgbClr val="5B3E83"/>
                </a:solidFill>
                <a:latin typeface="Inter"/>
              </a:rPr>
              <a:t>Modelo: </a:t>
            </a:r>
            <a:r>
              <a:rPr sz="1200" b="0" i="1">
                <a:solidFill>
                  <a:srgbClr val="20242E"/>
                </a:solidFill>
                <a:latin typeface="Inter"/>
              </a:rPr>
              <a:t>«¡Hola! Me llamo Sara. Soy de Bélgica y tengo 16 años. Vivo en Gante. Soy alegre y trabajadora, y hablo neerlandés y español. ¡Mucho gusto!»</a:t>
            </a:r>
          </a:p>
        </p:txBody>
      </p:sp>
      <p:sp>
        <p:nvSpPr>
          <p:cNvPr id="26" name="Rounded Rectangle 25"/>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7" name="Rounded Rectangle 26"/>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8" name="Rounded Rectangle 27">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29" name="TextBox 28"/>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0" name="Rectangle 29"/>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2" name="TextBox 31"/>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3" name="TextBox 32"/>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§4 · VOCABULARIO</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4</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Países, nacionalidades y números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woord → de vertaling/vorm. Bouw je woordnetwerk.</a:t>
            </a:r>
          </a:p>
        </p:txBody>
      </p:sp>
      <p:sp>
        <p:nvSpPr>
          <p:cNvPr id="9" name="Rounded Rectangle 8"/>
          <p:cNvSpPr/>
          <p:nvPr/>
        </p:nvSpPr>
        <p:spPr>
          <a:xfrm>
            <a:off x="457200" y="1554480"/>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54480"/>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España</a:t>
            </a:r>
          </a:p>
        </p:txBody>
      </p:sp>
      <p:sp>
        <p:nvSpPr>
          <p:cNvPr id="11" name="TextBox 10"/>
          <p:cNvSpPr txBox="1"/>
          <p:nvPr/>
        </p:nvSpPr>
        <p:spPr>
          <a:xfrm>
            <a:off x="2103120" y="1554480"/>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español/a</a:t>
            </a:r>
          </a:p>
        </p:txBody>
      </p:sp>
      <p:sp>
        <p:nvSpPr>
          <p:cNvPr id="12" name="Rounded Rectangle 11"/>
          <p:cNvSpPr/>
          <p:nvPr/>
        </p:nvSpPr>
        <p:spPr>
          <a:xfrm>
            <a:off x="3291840" y="1554480"/>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554480"/>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México</a:t>
            </a:r>
          </a:p>
        </p:txBody>
      </p:sp>
      <p:sp>
        <p:nvSpPr>
          <p:cNvPr id="14" name="TextBox 13"/>
          <p:cNvSpPr txBox="1"/>
          <p:nvPr/>
        </p:nvSpPr>
        <p:spPr>
          <a:xfrm>
            <a:off x="4937760" y="1554480"/>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mexicano/a</a:t>
            </a:r>
          </a:p>
        </p:txBody>
      </p:sp>
      <p:sp>
        <p:nvSpPr>
          <p:cNvPr id="15" name="Rounded Rectangle 14"/>
          <p:cNvSpPr/>
          <p:nvPr/>
        </p:nvSpPr>
        <p:spPr>
          <a:xfrm>
            <a:off x="6126480" y="1554480"/>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1554480"/>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Colombia</a:t>
            </a:r>
          </a:p>
        </p:txBody>
      </p:sp>
      <p:sp>
        <p:nvSpPr>
          <p:cNvPr id="17" name="TextBox 16"/>
          <p:cNvSpPr txBox="1"/>
          <p:nvPr/>
        </p:nvSpPr>
        <p:spPr>
          <a:xfrm>
            <a:off x="7772400" y="1554480"/>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colombiano/a</a:t>
            </a:r>
          </a:p>
        </p:txBody>
      </p:sp>
      <p:sp>
        <p:nvSpPr>
          <p:cNvPr id="18" name="Rounded Rectangle 17"/>
          <p:cNvSpPr/>
          <p:nvPr/>
        </p:nvSpPr>
        <p:spPr>
          <a:xfrm>
            <a:off x="8961120" y="1554480"/>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1554480"/>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Perú</a:t>
            </a:r>
          </a:p>
        </p:txBody>
      </p:sp>
      <p:sp>
        <p:nvSpPr>
          <p:cNvPr id="20" name="TextBox 19"/>
          <p:cNvSpPr txBox="1"/>
          <p:nvPr/>
        </p:nvSpPr>
        <p:spPr>
          <a:xfrm>
            <a:off x="10607040" y="1554480"/>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peruano/a</a:t>
            </a:r>
          </a:p>
        </p:txBody>
      </p:sp>
      <p:sp>
        <p:nvSpPr>
          <p:cNvPr id="21" name="Rounded Rectangle 20"/>
          <p:cNvSpPr/>
          <p:nvPr/>
        </p:nvSpPr>
        <p:spPr>
          <a:xfrm>
            <a:off x="457200" y="2322576"/>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322576"/>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Argentina</a:t>
            </a:r>
          </a:p>
        </p:txBody>
      </p:sp>
      <p:sp>
        <p:nvSpPr>
          <p:cNvPr id="23" name="TextBox 22"/>
          <p:cNvSpPr txBox="1"/>
          <p:nvPr/>
        </p:nvSpPr>
        <p:spPr>
          <a:xfrm>
            <a:off x="2103120" y="2322576"/>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argentino/a</a:t>
            </a:r>
          </a:p>
        </p:txBody>
      </p:sp>
      <p:sp>
        <p:nvSpPr>
          <p:cNvPr id="24" name="Rounded Rectangle 23"/>
          <p:cNvSpPr/>
          <p:nvPr/>
        </p:nvSpPr>
        <p:spPr>
          <a:xfrm>
            <a:off x="3291840" y="2322576"/>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01568" y="2322576"/>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Bélgica</a:t>
            </a:r>
          </a:p>
        </p:txBody>
      </p:sp>
      <p:sp>
        <p:nvSpPr>
          <p:cNvPr id="26" name="TextBox 25"/>
          <p:cNvSpPr txBox="1"/>
          <p:nvPr/>
        </p:nvSpPr>
        <p:spPr>
          <a:xfrm>
            <a:off x="4937760" y="2322576"/>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belga</a:t>
            </a:r>
          </a:p>
        </p:txBody>
      </p:sp>
      <p:sp>
        <p:nvSpPr>
          <p:cNvPr id="27" name="Rounded Rectangle 26"/>
          <p:cNvSpPr/>
          <p:nvPr/>
        </p:nvSpPr>
        <p:spPr>
          <a:xfrm>
            <a:off x="6126480" y="2322576"/>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36208" y="2322576"/>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veinte</a:t>
            </a:r>
          </a:p>
        </p:txBody>
      </p:sp>
      <p:sp>
        <p:nvSpPr>
          <p:cNvPr id="29" name="TextBox 28"/>
          <p:cNvSpPr txBox="1"/>
          <p:nvPr/>
        </p:nvSpPr>
        <p:spPr>
          <a:xfrm>
            <a:off x="7772400" y="2322576"/>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20</a:t>
            </a:r>
          </a:p>
        </p:txBody>
      </p:sp>
      <p:sp>
        <p:nvSpPr>
          <p:cNvPr id="30" name="Rounded Rectangle 29"/>
          <p:cNvSpPr/>
          <p:nvPr/>
        </p:nvSpPr>
        <p:spPr>
          <a:xfrm>
            <a:off x="8961120" y="2322576"/>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70848" y="2322576"/>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cincuenta</a:t>
            </a:r>
          </a:p>
        </p:txBody>
      </p:sp>
      <p:sp>
        <p:nvSpPr>
          <p:cNvPr id="32" name="TextBox 31"/>
          <p:cNvSpPr txBox="1"/>
          <p:nvPr/>
        </p:nvSpPr>
        <p:spPr>
          <a:xfrm>
            <a:off x="10607040" y="2322576"/>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50</a:t>
            </a:r>
          </a:p>
        </p:txBody>
      </p:sp>
      <p:sp>
        <p:nvSpPr>
          <p:cNvPr id="33" name="Rounded Rectangle 32"/>
          <p:cNvSpPr/>
          <p:nvPr/>
        </p:nvSpPr>
        <p:spPr>
          <a:xfrm>
            <a:off x="457200" y="3090672"/>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3090672"/>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cien</a:t>
            </a:r>
          </a:p>
        </p:txBody>
      </p:sp>
      <p:sp>
        <p:nvSpPr>
          <p:cNvPr id="35" name="TextBox 34"/>
          <p:cNvSpPr txBox="1"/>
          <p:nvPr/>
        </p:nvSpPr>
        <p:spPr>
          <a:xfrm>
            <a:off x="2103120" y="3090672"/>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100</a:t>
            </a:r>
          </a:p>
        </p:txBody>
      </p:sp>
      <p:sp>
        <p:nvSpPr>
          <p:cNvPr id="36" name="Rounded Rectangle 35"/>
          <p:cNvSpPr/>
          <p:nvPr/>
        </p:nvSpPr>
        <p:spPr>
          <a:xfrm>
            <a:off x="3291840" y="3090672"/>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01568" y="3090672"/>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la lengua</a:t>
            </a:r>
          </a:p>
        </p:txBody>
      </p:sp>
      <p:sp>
        <p:nvSpPr>
          <p:cNvPr id="38" name="TextBox 37"/>
          <p:cNvSpPr txBox="1"/>
          <p:nvPr/>
        </p:nvSpPr>
        <p:spPr>
          <a:xfrm>
            <a:off x="4937760" y="3090672"/>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de taal</a:t>
            </a:r>
          </a:p>
        </p:txBody>
      </p:sp>
      <p:sp>
        <p:nvSpPr>
          <p:cNvPr id="39" name="Rounded Rectangle 38"/>
          <p:cNvSpPr/>
          <p:nvPr/>
        </p:nvSpPr>
        <p:spPr>
          <a:xfrm>
            <a:off x="6126480" y="3090672"/>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36208" y="3090672"/>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el idioma</a:t>
            </a:r>
          </a:p>
        </p:txBody>
      </p:sp>
      <p:sp>
        <p:nvSpPr>
          <p:cNvPr id="41" name="TextBox 40"/>
          <p:cNvSpPr txBox="1"/>
          <p:nvPr/>
        </p:nvSpPr>
        <p:spPr>
          <a:xfrm>
            <a:off x="7772400" y="3090672"/>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de taal (m!)</a:t>
            </a:r>
          </a:p>
        </p:txBody>
      </p:sp>
      <p:sp>
        <p:nvSpPr>
          <p:cNvPr id="42" name="Rounded Rectangle 41"/>
          <p:cNvSpPr/>
          <p:nvPr/>
        </p:nvSpPr>
        <p:spPr>
          <a:xfrm>
            <a:off x="8961120" y="3090672"/>
            <a:ext cx="2743200" cy="64008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0848" y="3090672"/>
            <a:ext cx="155448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20242E"/>
                </a:solidFill>
                <a:latin typeface="Inter"/>
              </a:rPr>
              <a:t>la nacionalidad</a:t>
            </a:r>
          </a:p>
        </p:txBody>
      </p:sp>
      <p:sp>
        <p:nvSpPr>
          <p:cNvPr id="44" name="TextBox 43"/>
          <p:cNvSpPr txBox="1"/>
          <p:nvPr/>
        </p:nvSpPr>
        <p:spPr>
          <a:xfrm>
            <a:off x="10607040" y="3090672"/>
            <a:ext cx="1005840" cy="6400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7C56A9"/>
                </a:solidFill>
                <a:latin typeface="Inter"/>
              </a:rPr>
              <a:t>→ nationaliteit</a:t>
            </a:r>
          </a:p>
        </p:txBody>
      </p:sp>
      <p:sp>
        <p:nvSpPr>
          <p:cNvPr id="45" name="Rounded Rectangle 44"/>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46" name="Rounded Rectangle 45"/>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47" name="Rounded Rectangle 46">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48" name="TextBox 47"/>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49" name="Rounded Rectangle 48"/>
          <p:cNvSpPr/>
          <p:nvPr/>
        </p:nvSpPr>
        <p:spPr>
          <a:xfrm>
            <a:off x="457200" y="4572000"/>
            <a:ext cx="11247120" cy="82296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Zin: </a:t>
            </a:r>
            <a:r>
              <a:rPr sz="1200" b="0" i="0">
                <a:solidFill>
                  <a:srgbClr val="5B3E83"/>
                </a:solidFill>
                <a:latin typeface="Inter"/>
              </a:rPr>
              <a:t>Soy de España, soy español/a y hablo español. </a:t>
            </a:r>
            <a:r>
              <a:rPr sz="1200" b="0" i="0">
                <a:solidFill>
                  <a:srgbClr val="DC2626"/>
                </a:solidFill>
                <a:latin typeface="Inter"/>
              </a:rPr>
              <a:t>🔴 nacionalidades met kleine letter; landen met hoofdletter.</a:t>
            </a:r>
          </a:p>
          <a:p>
            <a:pPr>
              <a:lnSpc>
                <a:spcPct val="102000"/>
              </a:lnSpc>
              <a:spcBef>
                <a:spcPts val="0"/>
              </a:spcBef>
              <a:spcAft>
                <a:spcPts val="300"/>
              </a:spcAft>
            </a:pPr>
            <a:r>
              <a:rPr sz="1200" b="0" i="0">
                <a:solidFill>
                  <a:srgbClr val="5B3E83"/>
                </a:solidFill>
                <a:latin typeface="Inter"/>
              </a:rPr>
              <a:t>Números: veinte (20) · cincuenta (50) · cien (100).</a:t>
            </a:r>
          </a:p>
        </p:txBody>
      </p:sp>
      <p:sp>
        <p:nvSpPr>
          <p:cNvPr id="50" name="Rounded Rectangle 49"/>
          <p:cNvSpPr/>
          <p:nvPr/>
        </p:nvSpPr>
        <p:spPr>
          <a:xfrm>
            <a:off x="594360" y="444398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51" name="Rectangle 50"/>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53" name="TextBox 52"/>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54" name="TextBox 53"/>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TALLER DE LENGUA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Acentuación + conectores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item → correcte vorm. Gereedschap voor uitspraak en verbinden.</a:t>
            </a:r>
          </a:p>
        </p:txBody>
      </p:sp>
      <p:sp>
        <p:nvSpPr>
          <p:cNvPr id="9" name="TextBox 8"/>
          <p:cNvSpPr txBox="1"/>
          <p:nvPr/>
        </p:nvSpPr>
        <p:spPr>
          <a:xfrm>
            <a:off x="457200" y="1371600"/>
            <a:ext cx="54864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A · acento: aguda / llana / esdrújula</a:t>
            </a:r>
          </a:p>
        </p:txBody>
      </p:sp>
      <p:sp>
        <p:nvSpPr>
          <p:cNvPr id="10" name="Rounded Rectangle 9"/>
          <p:cNvSpPr/>
          <p:nvPr/>
        </p:nvSpPr>
        <p:spPr>
          <a:xfrm>
            <a:off x="457200" y="1783080"/>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83080"/>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Ma-drid</a:t>
            </a:r>
          </a:p>
        </p:txBody>
      </p:sp>
      <p:sp>
        <p:nvSpPr>
          <p:cNvPr id="12" name="TextBox 11"/>
          <p:cNvSpPr txBox="1"/>
          <p:nvPr/>
        </p:nvSpPr>
        <p:spPr>
          <a:xfrm>
            <a:off x="3017520" y="1783080"/>
            <a:ext cx="28346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aguda (laatste)</a:t>
            </a:r>
          </a:p>
        </p:txBody>
      </p:sp>
      <p:sp>
        <p:nvSpPr>
          <p:cNvPr id="13" name="Rounded Rectangle 12"/>
          <p:cNvSpPr/>
          <p:nvPr/>
        </p:nvSpPr>
        <p:spPr>
          <a:xfrm>
            <a:off x="457200" y="2441448"/>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441448"/>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ca-sa</a:t>
            </a:r>
          </a:p>
        </p:txBody>
      </p:sp>
      <p:sp>
        <p:nvSpPr>
          <p:cNvPr id="15" name="TextBox 14"/>
          <p:cNvSpPr txBox="1"/>
          <p:nvPr/>
        </p:nvSpPr>
        <p:spPr>
          <a:xfrm>
            <a:off x="3017520" y="2441448"/>
            <a:ext cx="28346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llana (voorlaatste)</a:t>
            </a:r>
          </a:p>
        </p:txBody>
      </p:sp>
      <p:sp>
        <p:nvSpPr>
          <p:cNvPr id="16" name="Rounded Rectangle 15"/>
          <p:cNvSpPr/>
          <p:nvPr/>
        </p:nvSpPr>
        <p:spPr>
          <a:xfrm>
            <a:off x="457200" y="3099816"/>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99816"/>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mú-si-ca</a:t>
            </a:r>
          </a:p>
        </p:txBody>
      </p:sp>
      <p:sp>
        <p:nvSpPr>
          <p:cNvPr id="18" name="TextBox 17"/>
          <p:cNvSpPr txBox="1"/>
          <p:nvPr/>
        </p:nvSpPr>
        <p:spPr>
          <a:xfrm>
            <a:off x="3017520" y="3099816"/>
            <a:ext cx="28346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esdrújula (tilde!)</a:t>
            </a:r>
          </a:p>
        </p:txBody>
      </p:sp>
      <p:sp>
        <p:nvSpPr>
          <p:cNvPr id="19" name="Rounded Rectangle 18"/>
          <p:cNvSpPr/>
          <p:nvPr/>
        </p:nvSpPr>
        <p:spPr>
          <a:xfrm>
            <a:off x="457200" y="3758184"/>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58184"/>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es-pa-ñol</a:t>
            </a:r>
          </a:p>
        </p:txBody>
      </p:sp>
      <p:sp>
        <p:nvSpPr>
          <p:cNvPr id="21" name="TextBox 20"/>
          <p:cNvSpPr txBox="1"/>
          <p:nvPr/>
        </p:nvSpPr>
        <p:spPr>
          <a:xfrm>
            <a:off x="3017520" y="3758184"/>
            <a:ext cx="28346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aguda</a:t>
            </a:r>
          </a:p>
        </p:txBody>
      </p:sp>
      <p:sp>
        <p:nvSpPr>
          <p:cNvPr id="22" name="TextBox 21"/>
          <p:cNvSpPr txBox="1"/>
          <p:nvPr/>
        </p:nvSpPr>
        <p:spPr>
          <a:xfrm>
            <a:off x="6309360" y="1371600"/>
            <a:ext cx="54864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B · conectores: y · pero · porque · también</a:t>
            </a:r>
          </a:p>
        </p:txBody>
      </p:sp>
      <p:sp>
        <p:nvSpPr>
          <p:cNvPr id="23" name="Rounded Rectangle 22"/>
          <p:cNvSpPr/>
          <p:nvPr/>
        </p:nvSpPr>
        <p:spPr>
          <a:xfrm>
            <a:off x="6309360" y="1783080"/>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1783080"/>
            <a:ext cx="39319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Soy de Bélgica ___ hablo NL.</a:t>
            </a:r>
          </a:p>
        </p:txBody>
      </p:sp>
      <p:sp>
        <p:nvSpPr>
          <p:cNvPr id="25" name="TextBox 24"/>
          <p:cNvSpPr txBox="1"/>
          <p:nvPr/>
        </p:nvSpPr>
        <p:spPr>
          <a:xfrm>
            <a:off x="10424160" y="1783080"/>
            <a:ext cx="11887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y</a:t>
            </a:r>
          </a:p>
        </p:txBody>
      </p:sp>
      <p:sp>
        <p:nvSpPr>
          <p:cNvPr id="26" name="Rounded Rectangle 25"/>
          <p:cNvSpPr/>
          <p:nvPr/>
        </p:nvSpPr>
        <p:spPr>
          <a:xfrm>
            <a:off x="6309360" y="2441448"/>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2441448"/>
            <a:ext cx="39319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Estudio español ___ me gusta.</a:t>
            </a:r>
          </a:p>
        </p:txBody>
      </p:sp>
      <p:sp>
        <p:nvSpPr>
          <p:cNvPr id="28" name="TextBox 27"/>
          <p:cNvSpPr txBox="1"/>
          <p:nvPr/>
        </p:nvSpPr>
        <p:spPr>
          <a:xfrm>
            <a:off x="10424160" y="2441448"/>
            <a:ext cx="11887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porque</a:t>
            </a:r>
          </a:p>
        </p:txBody>
      </p:sp>
      <p:sp>
        <p:nvSpPr>
          <p:cNvPr id="29" name="Rounded Rectangle 28"/>
          <p:cNvSpPr/>
          <p:nvPr/>
        </p:nvSpPr>
        <p:spPr>
          <a:xfrm>
            <a:off x="6309360" y="3099816"/>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3099816"/>
            <a:ext cx="39319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Nina es tranquila, ___ Diego habla mucho.</a:t>
            </a:r>
          </a:p>
        </p:txBody>
      </p:sp>
      <p:sp>
        <p:nvSpPr>
          <p:cNvPr id="31" name="TextBox 30"/>
          <p:cNvSpPr txBox="1"/>
          <p:nvPr/>
        </p:nvSpPr>
        <p:spPr>
          <a:xfrm>
            <a:off x="10424160" y="3099816"/>
            <a:ext cx="11887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pero</a:t>
            </a:r>
          </a:p>
        </p:txBody>
      </p:sp>
      <p:sp>
        <p:nvSpPr>
          <p:cNvPr id="32" name="Rounded Rectangle 31"/>
          <p:cNvSpPr/>
          <p:nvPr/>
        </p:nvSpPr>
        <p:spPr>
          <a:xfrm>
            <a:off x="6309360" y="3758184"/>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9088" y="3758184"/>
            <a:ext cx="39319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Tengo un hermano ___ una hermana.</a:t>
            </a:r>
          </a:p>
        </p:txBody>
      </p:sp>
      <p:sp>
        <p:nvSpPr>
          <p:cNvPr id="34" name="TextBox 33"/>
          <p:cNvSpPr txBox="1"/>
          <p:nvPr/>
        </p:nvSpPr>
        <p:spPr>
          <a:xfrm>
            <a:off x="10424160" y="3758184"/>
            <a:ext cx="118872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y</a:t>
            </a:r>
          </a:p>
        </p:txBody>
      </p:sp>
      <p:sp>
        <p:nvSpPr>
          <p:cNvPr id="35" name="Rounded Rectangle 34"/>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6" name="Rounded Rectangle 35"/>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7" name="Rounded Rectangle 36">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8" name="TextBox 37"/>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9" name="Rounded Rectangle 38"/>
          <p:cNvSpPr/>
          <p:nvPr/>
        </p:nvSpPr>
        <p:spPr>
          <a:xfrm>
            <a:off x="457200" y="4572000"/>
            <a:ext cx="11247120" cy="7772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A: </a:t>
            </a:r>
            <a:r>
              <a:rPr sz="1200" b="0" i="0">
                <a:solidFill>
                  <a:srgbClr val="5B3E83"/>
                </a:solidFill>
                <a:latin typeface="Inter"/>
              </a:rPr>
              <a:t>de meeste woorden zijn llana; draagt het een tilde, volg de tilde (mú-si-ca).</a:t>
            </a:r>
          </a:p>
          <a:p>
            <a:pPr>
              <a:lnSpc>
                <a:spcPct val="102000"/>
              </a:lnSpc>
              <a:spcBef>
                <a:spcPts val="0"/>
              </a:spcBef>
              <a:spcAft>
                <a:spcPts val="300"/>
              </a:spcAft>
            </a:pPr>
            <a:r>
              <a:rPr sz="1200" b="1" i="0">
                <a:solidFill>
                  <a:srgbClr val="DC2626"/>
                </a:solidFill>
                <a:latin typeface="Inter"/>
              </a:rPr>
              <a:t>🔴 B: </a:t>
            </a:r>
            <a:r>
              <a:rPr sz="1200" b="0" i="0">
                <a:solidFill>
                  <a:srgbClr val="5B3E83"/>
                </a:solidFill>
                <a:latin typeface="Inter"/>
              </a:rPr>
              <a:t>«want» én «omdat» = porque · «maar» = pero · «dus» = así que/por eso (niet luego).</a:t>
            </a:r>
          </a:p>
        </p:txBody>
      </p:sp>
      <p:sp>
        <p:nvSpPr>
          <p:cNvPr id="40" name="Rounded Rectangle 39"/>
          <p:cNvSpPr/>
          <p:nvPr/>
        </p:nvSpPr>
        <p:spPr>
          <a:xfrm>
            <a:off x="594360" y="444398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41" name="Rectangle 40"/>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43" name="TextBox 42"/>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44" name="TextBox 43"/>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13786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CULTURA · EL REENCUENTRO</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mundo hispano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Klik een kaart → het weetje verschijnt. 21 países, 500+ miljoen sprekers.</a:t>
            </a:r>
          </a:p>
        </p:txBody>
      </p:sp>
      <p:sp>
        <p:nvSpPr>
          <p:cNvPr id="9" name="Rounded Rectangle 8"/>
          <p:cNvSpPr/>
          <p:nvPr/>
        </p:nvSpPr>
        <p:spPr>
          <a:xfrm>
            <a:off x="457200" y="1554480"/>
            <a:ext cx="3703320" cy="3108960"/>
          </a:xfrm>
          <a:prstGeom prst="roundRect">
            <a:avLst>
              <a:gd name="adj" fmla="val 5500"/>
            </a:avLst>
          </a:prstGeom>
          <a:solidFill>
            <a:srgbClr val="FFFFFF"/>
          </a:solidFill>
          <a:ln w="1651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3703320" cy="54864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 Europa</a:t>
            </a:r>
          </a:p>
        </p:txBody>
      </p:sp>
      <p:sp>
        <p:nvSpPr>
          <p:cNvPr id="12" name="TextBox 11"/>
          <p:cNvSpPr txBox="1"/>
          <p:nvPr/>
        </p:nvSpPr>
        <p:spPr>
          <a:xfrm>
            <a:off x="640080" y="2286000"/>
            <a:ext cx="3337560" cy="173736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España is het enige Spaanstalige land in Europa. Ook catalán, gallego y euskera. Madrid = hoofdstad.</a:t>
            </a:r>
          </a:p>
        </p:txBody>
      </p:sp>
      <p:sp>
        <p:nvSpPr>
          <p:cNvPr id="13" name="TextBox 12"/>
          <p:cNvSpPr txBox="1"/>
          <p:nvPr/>
        </p:nvSpPr>
        <p:spPr>
          <a:xfrm>
            <a:off x="640080" y="406908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castellano = español</a:t>
            </a:r>
          </a:p>
        </p:txBody>
      </p:sp>
      <p:sp>
        <p:nvSpPr>
          <p:cNvPr id="14" name="Rounded Rectangle 13"/>
          <p:cNvSpPr/>
          <p:nvPr/>
        </p:nvSpPr>
        <p:spPr>
          <a:xfrm>
            <a:off x="4279392" y="1554480"/>
            <a:ext cx="3703320" cy="3108960"/>
          </a:xfrm>
          <a:prstGeom prst="roundRect">
            <a:avLst>
              <a:gd name="adj" fmla="val 5500"/>
            </a:avLst>
          </a:prstGeom>
          <a:solidFill>
            <a:srgbClr val="FFFFFF"/>
          </a:solidFill>
          <a:ln w="1651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1554480"/>
            <a:ext cx="3703320" cy="54864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 América</a:t>
            </a:r>
          </a:p>
        </p:txBody>
      </p:sp>
      <p:sp>
        <p:nvSpPr>
          <p:cNvPr id="17" name="TextBox 16"/>
          <p:cNvSpPr txBox="1"/>
          <p:nvPr/>
        </p:nvSpPr>
        <p:spPr>
          <a:xfrm>
            <a:off x="4462272" y="2286000"/>
            <a:ext cx="3337560" cy="173736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De meeste hispanohablantes wonen in Latijns-Amerika: van México (~130 mln) tot Argentina (voseo).</a:t>
            </a:r>
          </a:p>
        </p:txBody>
      </p:sp>
      <p:sp>
        <p:nvSpPr>
          <p:cNvPr id="18" name="TextBox 17"/>
          <p:cNvSpPr txBox="1"/>
          <p:nvPr/>
        </p:nvSpPr>
        <p:spPr>
          <a:xfrm>
            <a:off x="4462272" y="406908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19 landen, veel accenten</a:t>
            </a:r>
          </a:p>
        </p:txBody>
      </p:sp>
      <p:sp>
        <p:nvSpPr>
          <p:cNvPr id="19" name="Rounded Rectangle 18"/>
          <p:cNvSpPr/>
          <p:nvPr/>
        </p:nvSpPr>
        <p:spPr>
          <a:xfrm>
            <a:off x="8101584" y="1554480"/>
            <a:ext cx="3703320" cy="3108960"/>
          </a:xfrm>
          <a:prstGeom prst="roundRect">
            <a:avLst>
              <a:gd name="adj" fmla="val 5500"/>
            </a:avLst>
          </a:prstGeom>
          <a:solidFill>
            <a:srgbClr val="FFFFFF"/>
          </a:solidFill>
          <a:ln w="1651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4" y="1554480"/>
            <a:ext cx="3703320" cy="548640"/>
          </a:xfrm>
          <a:prstGeom prst="rect">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 ¿Sabías que…?</a:t>
            </a:r>
          </a:p>
        </p:txBody>
      </p:sp>
      <p:sp>
        <p:nvSpPr>
          <p:cNvPr id="22" name="TextBox 21"/>
          <p:cNvSpPr txBox="1"/>
          <p:nvPr/>
        </p:nvSpPr>
        <p:spPr>
          <a:xfrm>
            <a:off x="8284464" y="2286000"/>
            <a:ext cx="3337560" cy="173736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Ook in Guinea Ecuatorial (Afrika) is Spaans officieel. En in de VS ~40 mln hispanohablantes.</a:t>
            </a:r>
          </a:p>
        </p:txBody>
      </p:sp>
      <p:sp>
        <p:nvSpPr>
          <p:cNvPr id="23" name="TextBox 22"/>
          <p:cNvSpPr txBox="1"/>
          <p:nvPr/>
        </p:nvSpPr>
        <p:spPr>
          <a:xfrm>
            <a:off x="8284464" y="406908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2ª lengua materna del mundo</a:t>
            </a:r>
          </a:p>
        </p:txBody>
      </p:sp>
      <p:sp>
        <p:nvSpPr>
          <p:cNvPr id="24" name="Rounded Rectangle 23"/>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5" name="Rounded Rectangle 24"/>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6" name="Rounded Rectangle 25">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27" name="TextBox 26"/>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28" name="Rounded Rectangle 27"/>
          <p:cNvSpPr/>
          <p:nvPr/>
        </p:nvSpPr>
        <p:spPr>
          <a:xfrm>
            <a:off x="457200" y="4892040"/>
            <a:ext cx="11247120" cy="5486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Actividad: </a:t>
            </a:r>
            <a:r>
              <a:rPr sz="1200" b="0" i="0">
                <a:solidFill>
                  <a:srgbClr val="5B3E83"/>
                </a:solidFill>
                <a:latin typeface="Inter"/>
              </a:rPr>
              <a:t>¿Qué país quieres visitar y por qué? Schrijf één zin met «Quiero visitar … porque …».</a:t>
            </a:r>
          </a:p>
        </p:txBody>
      </p:sp>
      <p:sp>
        <p:nvSpPr>
          <p:cNvPr id="29" name="Rounded Rectangle 28"/>
          <p:cNvSpPr/>
          <p:nvPr/>
        </p:nvSpPr>
        <p:spPr>
          <a:xfrm>
            <a:off x="594360" y="476402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0" name="Rectangle 29"/>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2" name="TextBox 31"/>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3" name="TextBox 32"/>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05374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§1 · QUIZ · INTERACCIÓN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Completa la presentación</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Wat past? Klik → het antwoord verschijnt.</a:t>
            </a:r>
          </a:p>
        </p:txBody>
      </p:sp>
      <p:sp>
        <p:nvSpPr>
          <p:cNvPr id="9" name="Rounded Rectangle 8"/>
          <p:cNvSpPr/>
          <p:nvPr/>
        </p:nvSpPr>
        <p:spPr>
          <a:xfrm>
            <a:off x="457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00200"/>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¿Cómo te ___? (heten)</a:t>
            </a:r>
          </a:p>
        </p:txBody>
      </p:sp>
      <p:sp>
        <p:nvSpPr>
          <p:cNvPr id="11" name="TextBox 10"/>
          <p:cNvSpPr txBox="1"/>
          <p:nvPr/>
        </p:nvSpPr>
        <p:spPr>
          <a:xfrm>
            <a:off x="4206239" y="1600200"/>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llamas</a:t>
            </a:r>
          </a:p>
        </p:txBody>
      </p:sp>
      <p:sp>
        <p:nvSpPr>
          <p:cNvPr id="12" name="Rounded Rectangle 11"/>
          <p:cNvSpPr/>
          <p:nvPr/>
        </p:nvSpPr>
        <p:spPr>
          <a:xfrm>
            <a:off x="457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78024"/>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___ de Bélgica. (ik kom uit)</a:t>
            </a:r>
          </a:p>
        </p:txBody>
      </p:sp>
      <p:sp>
        <p:nvSpPr>
          <p:cNvPr id="14" name="TextBox 13"/>
          <p:cNvSpPr txBox="1"/>
          <p:nvPr/>
        </p:nvSpPr>
        <p:spPr>
          <a:xfrm>
            <a:off x="4206239" y="2478024"/>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Soy</a:t>
            </a:r>
          </a:p>
        </p:txBody>
      </p:sp>
      <p:sp>
        <p:nvSpPr>
          <p:cNvPr id="15" name="Rounded Rectangle 14"/>
          <p:cNvSpPr/>
          <p:nvPr/>
        </p:nvSpPr>
        <p:spPr>
          <a:xfrm>
            <a:off x="457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355848"/>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Tengo dieciséis ___.</a:t>
            </a:r>
          </a:p>
        </p:txBody>
      </p:sp>
      <p:sp>
        <p:nvSpPr>
          <p:cNvPr id="17" name="TextBox 16"/>
          <p:cNvSpPr txBox="1"/>
          <p:nvPr/>
        </p:nvSpPr>
        <p:spPr>
          <a:xfrm>
            <a:off x="4206239" y="3355848"/>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años</a:t>
            </a:r>
          </a:p>
        </p:txBody>
      </p:sp>
      <p:sp>
        <p:nvSpPr>
          <p:cNvPr id="18" name="Rounded Rectangle 17"/>
          <p:cNvSpPr/>
          <p:nvPr/>
        </p:nvSpPr>
        <p:spPr>
          <a:xfrm>
            <a:off x="6172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600200"/>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¿De ___ eres? (waar)</a:t>
            </a:r>
          </a:p>
        </p:txBody>
      </p:sp>
      <p:sp>
        <p:nvSpPr>
          <p:cNvPr id="20" name="TextBox 19"/>
          <p:cNvSpPr txBox="1"/>
          <p:nvPr/>
        </p:nvSpPr>
        <p:spPr>
          <a:xfrm>
            <a:off x="9921239" y="1600200"/>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dónde</a:t>
            </a:r>
          </a:p>
        </p:txBody>
      </p:sp>
      <p:sp>
        <p:nvSpPr>
          <p:cNvPr id="21" name="Rounded Rectangle 20"/>
          <p:cNvSpPr/>
          <p:nvPr/>
        </p:nvSpPr>
        <p:spPr>
          <a:xfrm>
            <a:off x="6172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478024"/>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___ en Gante. (wonen)</a:t>
            </a:r>
          </a:p>
        </p:txBody>
      </p:sp>
      <p:sp>
        <p:nvSpPr>
          <p:cNvPr id="23" name="TextBox 22"/>
          <p:cNvSpPr txBox="1"/>
          <p:nvPr/>
        </p:nvSpPr>
        <p:spPr>
          <a:xfrm>
            <a:off x="9921239" y="2478024"/>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vivo</a:t>
            </a:r>
          </a:p>
        </p:txBody>
      </p:sp>
      <p:sp>
        <p:nvSpPr>
          <p:cNvPr id="24" name="Rounded Rectangle 23"/>
          <p:cNvSpPr/>
          <p:nvPr/>
        </p:nvSpPr>
        <p:spPr>
          <a:xfrm>
            <a:off x="6172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355848"/>
            <a:ext cx="356616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Mucho ___. (aangenaam)</a:t>
            </a:r>
          </a:p>
        </p:txBody>
      </p:sp>
      <p:sp>
        <p:nvSpPr>
          <p:cNvPr id="26" name="TextBox 25"/>
          <p:cNvSpPr txBox="1"/>
          <p:nvPr/>
        </p:nvSpPr>
        <p:spPr>
          <a:xfrm>
            <a:off x="9921239" y="3355848"/>
            <a:ext cx="16459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gusto</a:t>
            </a:r>
          </a:p>
        </p:txBody>
      </p:sp>
      <p:sp>
        <p:nvSpPr>
          <p:cNvPr id="27" name="Rounded Rectangle 26"/>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29" name="Rounded Rectangle 28">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1" name="Rounded Rectangle 30"/>
          <p:cNvSpPr/>
          <p:nvPr/>
        </p:nvSpPr>
        <p:spPr>
          <a:xfrm>
            <a:off x="457200" y="4709160"/>
            <a:ext cx="11247120" cy="54864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Presentarse: </a:t>
            </a:r>
            <a:r>
              <a:rPr sz="1200" b="0" i="0">
                <a:solidFill>
                  <a:srgbClr val="5B3E83"/>
                </a:solidFill>
                <a:latin typeface="Inter"/>
              </a:rPr>
              <a:t>¿Cómo te llamas? · Soy de … · Tengo … años · ¿De dónde eres? · Vivo en … · Mucho gusto.</a:t>
            </a:r>
          </a:p>
        </p:txBody>
      </p:sp>
      <p:sp>
        <p:nvSpPr>
          <p:cNvPr id="32" name="Rounded Rectangle 31"/>
          <p:cNvSpPr/>
          <p:nvPr/>
        </p:nvSpPr>
        <p:spPr>
          <a:xfrm>
            <a:off x="594360" y="458114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12836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§5 · LECTURA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5</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tablón de anuncios»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Een echte tekst. Je hoeft niet alles te begrijpen om de informatie eruit te halen.</a:t>
            </a:r>
          </a:p>
        </p:txBody>
      </p:sp>
      <p:sp>
        <p:nvSpPr>
          <p:cNvPr id="9" name="Rounded Rectangle 8"/>
          <p:cNvSpPr/>
          <p:nvPr/>
        </p:nvSpPr>
        <p:spPr>
          <a:xfrm>
            <a:off x="457200" y="1325880"/>
            <a:ext cx="5577840" cy="4160520"/>
          </a:xfrm>
          <a:prstGeom prst="roundRect">
            <a:avLst>
              <a:gd name="adj" fmla="val 5500"/>
            </a:avLst>
          </a:prstGeom>
          <a:solidFill>
            <a:srgbClr val="FFFFFF"/>
          </a:solidFill>
          <a:ln w="1778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577840" cy="384048"/>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44168"/>
            <a:ext cx="53035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1" i="0">
                <a:solidFill>
                  <a:srgbClr val="FFFFFF"/>
                </a:solidFill>
                <a:latin typeface="Bricolage Grotesque"/>
              </a:rPr>
              <a:t>tablón de anuncios (drie korte berichten)</a:t>
            </a:r>
          </a:p>
        </p:txBody>
      </p:sp>
      <p:sp>
        <p:nvSpPr>
          <p:cNvPr id="12" name="TextBox 11"/>
          <p:cNvSpPr txBox="1"/>
          <p:nvPr/>
        </p:nvSpPr>
        <p:spPr>
          <a:xfrm>
            <a:off x="640080" y="1810512"/>
            <a:ext cx="5212080" cy="3566160"/>
          </a:xfrm>
          <a:prstGeom prst="rect">
            <a:avLst/>
          </a:prstGeom>
          <a:noFill/>
        </p:spPr>
        <p:txBody>
          <a:bodyPr wrap="square" anchor="t" lIns="38100" rIns="38100" tIns="25400" bIns="25400">
            <a:spAutoFit/>
          </a:bodyPr>
          <a:lstStyle/>
          <a:p>
            <a:pPr algn="l">
              <a:lnSpc>
                <a:spcPct val="118000"/>
              </a:lnSpc>
              <a:spcBef>
                <a:spcPts val="0"/>
              </a:spcBef>
              <a:spcAft>
                <a:spcPts val="200"/>
              </a:spcAft>
            </a:pPr>
            <a:r>
              <a:rPr sz="1250" b="1" i="0">
                <a:solidFill>
                  <a:srgbClr val="5B3E83"/>
                </a:solidFill>
                <a:latin typeface="Bricolage Grotesque"/>
              </a:rPr>
              <a:t>TABLÓN DE ANUNCIOS · Instituto Santa Clara</a:t>
            </a:r>
          </a:p>
          <a:p>
            <a:pPr algn="l">
              <a:lnSpc>
                <a:spcPct val="118000"/>
              </a:lnSpc>
              <a:spcBef>
                <a:spcPts val="0"/>
              </a:spcBef>
              <a:spcAft>
                <a:spcPts val="200"/>
              </a:spcAft>
            </a:pPr>
            <a:r>
              <a:rPr sz="1100" b="1" i="0">
                <a:solidFill>
                  <a:srgbClr val="5B3E83"/>
                </a:solidFill>
                <a:latin typeface="Inter"/>
              </a:rPr>
              <a:t>🎸 BUSCO GRUPO DE MÚSICA</a:t>
            </a:r>
          </a:p>
          <a:p>
            <a:pPr algn="l">
              <a:lnSpc>
                <a:spcPct val="118000"/>
              </a:lnSpc>
              <a:spcBef>
                <a:spcPts val="0"/>
              </a:spcBef>
              <a:spcAft>
                <a:spcPts val="200"/>
              </a:spcAft>
            </a:pPr>
            <a:r>
              <a:rPr sz="1000" b="0" i="0">
                <a:solidFill>
                  <a:srgbClr val="20242E"/>
                </a:solidFill>
                <a:latin typeface="Inter"/>
              </a:rPr>
              <a:t>Me llamo Mateo, soy argentino y soy nuevo en el instituto. Toco la guitarra desde los ocho años. Busco compañeros para tocar los viernes. No soy profesional, pero soy constante. ¿Te animas?</a:t>
            </a:r>
          </a:p>
          <a:p>
            <a:pPr algn="l">
              <a:lnSpc>
                <a:spcPct val="118000"/>
              </a:lnSpc>
              <a:spcBef>
                <a:spcPts val="0"/>
              </a:spcBef>
              <a:spcAft>
                <a:spcPts val="200"/>
              </a:spcAft>
            </a:pPr>
            <a:r>
              <a:rPr sz="1100" b="1" i="0">
                <a:solidFill>
                  <a:srgbClr val="5B3E83"/>
                </a:solidFill>
                <a:latin typeface="Inter"/>
              </a:rPr>
              <a:t>📚 VENDO LIBROS DE SEGUNDA MANO</a:t>
            </a:r>
          </a:p>
          <a:p>
            <a:pPr algn="l">
              <a:lnSpc>
                <a:spcPct val="118000"/>
              </a:lnSpc>
              <a:spcBef>
                <a:spcPts val="0"/>
              </a:spcBef>
              <a:spcAft>
                <a:spcPts val="200"/>
              </a:spcAft>
            </a:pPr>
            <a:r>
              <a:rPr sz="1000" b="0" i="0">
                <a:solidFill>
                  <a:srgbClr val="20242E"/>
                </a:solidFill>
                <a:latin typeface="Inter"/>
              </a:rPr>
              <a:t>Los libros están en muy buen estado. Son de cuarto curso. Cuestan diez euros cada uno, o quince los dos. Estoy en el patio a la hora del recreo. Pregunta por Valen.</a:t>
            </a:r>
          </a:p>
          <a:p>
            <a:pPr algn="l">
              <a:lnSpc>
                <a:spcPct val="118000"/>
              </a:lnSpc>
              <a:spcBef>
                <a:spcPts val="0"/>
              </a:spcBef>
              <a:spcAft>
                <a:spcPts val="200"/>
              </a:spcAft>
            </a:pPr>
            <a:r>
              <a:rPr sz="1100" b="1" i="0">
                <a:solidFill>
                  <a:srgbClr val="5B3E83"/>
                </a:solidFill>
                <a:latin typeface="Inter"/>
              </a:rPr>
              <a:t>🌎 INTERCAMBIO DE LENGUAS</a:t>
            </a:r>
          </a:p>
          <a:p>
            <a:pPr algn="l">
              <a:lnSpc>
                <a:spcPct val="118000"/>
              </a:lnSpc>
              <a:spcBef>
                <a:spcPts val="0"/>
              </a:spcBef>
              <a:spcAft>
                <a:spcPts val="200"/>
              </a:spcAft>
            </a:pPr>
            <a:r>
              <a:rPr sz="1000" b="0" i="0">
                <a:solidFill>
                  <a:srgbClr val="20242E"/>
                </a:solidFill>
                <a:latin typeface="Inter"/>
              </a:rPr>
              <a:t>Somos cinco alumnos de México, Colombia y Perú. Queremos hablar neerlandés y vosotros queréis hablar español. Nos reunimos los miércoles en la biblioteca. Es gratis y es divertido. ¡Todos sois bienvenidos!</a:t>
            </a:r>
          </a:p>
        </p:txBody>
      </p:sp>
      <p:sp>
        <p:nvSpPr>
          <p:cNvPr id="13" name="Rounded Rectangle 12"/>
          <p:cNvSpPr/>
          <p:nvPr/>
        </p:nvSpPr>
        <p:spPr>
          <a:xfrm>
            <a:off x="6263640" y="1325880"/>
            <a:ext cx="5468112" cy="1965960"/>
          </a:xfrm>
          <a:prstGeom prst="roundRect">
            <a:avLst>
              <a:gd name="adj" fmla="val 5500"/>
            </a:avLst>
          </a:prstGeom>
          <a:solidFill>
            <a:srgbClr val="F3EEE4"/>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417320"/>
            <a:ext cx="5120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Bricolage Grotesque"/>
              </a:rPr>
              <a:t>Escanea — busca el dato</a:t>
            </a:r>
          </a:p>
        </p:txBody>
      </p:sp>
      <p:sp>
        <p:nvSpPr>
          <p:cNvPr id="15" name="TextBox 14"/>
          <p:cNvSpPr txBox="1"/>
          <p:nvPr/>
        </p:nvSpPr>
        <p:spPr>
          <a:xfrm>
            <a:off x="6446520" y="1755648"/>
            <a:ext cx="5120640" cy="1463040"/>
          </a:xfrm>
          <a:prstGeom prst="rect">
            <a:avLst/>
          </a:prstGeom>
          <a:noFill/>
        </p:spPr>
        <p:txBody>
          <a:bodyPr wrap="square" anchor="t" lIns="38100" rIns="38100" tIns="25400" bIns="25400">
            <a:spAutoFit/>
          </a:bodyPr>
          <a:lstStyle/>
          <a:p>
            <a:pPr algn="l">
              <a:lnSpc>
                <a:spcPct val="125000"/>
              </a:lnSpc>
              <a:spcBef>
                <a:spcPts val="0"/>
              </a:spcBef>
              <a:spcAft>
                <a:spcPts val="200"/>
              </a:spcAft>
            </a:pPr>
            <a:r>
              <a:rPr sz="1050" b="0" i="0">
                <a:solidFill>
                  <a:srgbClr val="20242E"/>
                </a:solidFill>
                <a:latin typeface="Inter"/>
              </a:rPr>
              <a:t>1. ¿Cuánto cuestan dos libros? (en cifras)</a:t>
            </a:r>
          </a:p>
          <a:p>
            <a:pPr algn="l">
              <a:lnSpc>
                <a:spcPct val="125000"/>
              </a:lnSpc>
              <a:spcBef>
                <a:spcPts val="0"/>
              </a:spcBef>
              <a:spcAft>
                <a:spcPts val="200"/>
              </a:spcAft>
            </a:pPr>
            <a:r>
              <a:rPr sz="1050" b="0" i="0">
                <a:solidFill>
                  <a:srgbClr val="20242E"/>
                </a:solidFill>
                <a:latin typeface="Inter"/>
              </a:rPr>
              <a:t>2. ¿Qué día se reúne el intercambio de lenguas?</a:t>
            </a:r>
          </a:p>
          <a:p>
            <a:pPr algn="l">
              <a:lnSpc>
                <a:spcPct val="125000"/>
              </a:lnSpc>
              <a:spcBef>
                <a:spcPts val="0"/>
              </a:spcBef>
              <a:spcAft>
                <a:spcPts val="200"/>
              </a:spcAft>
            </a:pPr>
            <a:r>
              <a:rPr sz="1050" b="0" i="0">
                <a:solidFill>
                  <a:srgbClr val="20242E"/>
                </a:solidFill>
                <a:latin typeface="Inter"/>
              </a:rPr>
              <a:t>3. ¿Desde qué edad toca Mateo la guitarra? (en cifras)</a:t>
            </a:r>
          </a:p>
          <a:p>
            <a:pPr algn="l">
              <a:lnSpc>
                <a:spcPct val="125000"/>
              </a:lnSpc>
              <a:spcBef>
                <a:spcPts val="0"/>
              </a:spcBef>
              <a:spcAft>
                <a:spcPts val="200"/>
              </a:spcAft>
            </a:pPr>
            <a:r>
              <a:rPr sz="1050" b="0" i="0">
                <a:solidFill>
                  <a:srgbClr val="20242E"/>
                </a:solidFill>
                <a:latin typeface="Inter"/>
              </a:rPr>
              <a:t>4. ¿Cuántos alumnos organizan el intercambio?</a:t>
            </a:r>
          </a:p>
        </p:txBody>
      </p:sp>
      <p:sp>
        <p:nvSpPr>
          <p:cNvPr id="16" name="Rounded Rectangle 15"/>
          <p:cNvSpPr/>
          <p:nvPr/>
        </p:nvSpPr>
        <p:spPr>
          <a:xfrm>
            <a:off x="6263640" y="3429000"/>
            <a:ext cx="5468112" cy="205740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520440"/>
            <a:ext cx="5120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Bricolage Grotesque"/>
              </a:rPr>
              <a:t>¿Verdadero o falso? — y la prueba</a:t>
            </a:r>
          </a:p>
        </p:txBody>
      </p:sp>
      <p:sp>
        <p:nvSpPr>
          <p:cNvPr id="18" name="TextBox 17"/>
          <p:cNvSpPr txBox="1"/>
          <p:nvPr/>
        </p:nvSpPr>
        <p:spPr>
          <a:xfrm>
            <a:off x="6446520" y="3858768"/>
            <a:ext cx="5120640" cy="1554480"/>
          </a:xfrm>
          <a:prstGeom prst="rect">
            <a:avLst/>
          </a:prstGeom>
          <a:noFill/>
        </p:spPr>
        <p:txBody>
          <a:bodyPr wrap="square" anchor="t" lIns="38100" rIns="38100" tIns="25400" bIns="25400">
            <a:spAutoFit/>
          </a:bodyPr>
          <a:lstStyle/>
          <a:p>
            <a:pPr algn="l">
              <a:lnSpc>
                <a:spcPct val="125000"/>
              </a:lnSpc>
              <a:spcBef>
                <a:spcPts val="0"/>
              </a:spcBef>
              <a:spcAft>
                <a:spcPts val="200"/>
              </a:spcAft>
            </a:pPr>
            <a:r>
              <a:rPr sz="1050" b="0" i="0">
                <a:solidFill>
                  <a:srgbClr val="20242E"/>
                </a:solidFill>
                <a:latin typeface="Inter"/>
              </a:rPr>
              <a:t>1. Mateo es un guitarrista profesional.</a:t>
            </a:r>
          </a:p>
          <a:p>
            <a:pPr algn="l">
              <a:lnSpc>
                <a:spcPct val="125000"/>
              </a:lnSpc>
              <a:spcBef>
                <a:spcPts val="0"/>
              </a:spcBef>
              <a:spcAft>
                <a:spcPts val="200"/>
              </a:spcAft>
            </a:pPr>
            <a:r>
              <a:rPr sz="1050" b="0" i="0">
                <a:solidFill>
                  <a:srgbClr val="20242E"/>
                </a:solidFill>
                <a:latin typeface="Inter"/>
              </a:rPr>
              <a:t>2. Los libros de Valen están estropeados.</a:t>
            </a:r>
          </a:p>
          <a:p>
            <a:pPr algn="l">
              <a:lnSpc>
                <a:spcPct val="125000"/>
              </a:lnSpc>
              <a:spcBef>
                <a:spcPts val="0"/>
              </a:spcBef>
              <a:spcAft>
                <a:spcPts val="200"/>
              </a:spcAft>
            </a:pPr>
            <a:r>
              <a:rPr sz="1050" b="0" i="0">
                <a:solidFill>
                  <a:srgbClr val="20242E"/>
                </a:solidFill>
                <a:latin typeface="Inter"/>
              </a:rPr>
              <a:t>3. El intercambio de lenguas no cuesta nada.</a:t>
            </a:r>
          </a:p>
          <a:p>
            <a:pPr algn="l">
              <a:lnSpc>
                <a:spcPct val="125000"/>
              </a:lnSpc>
              <a:spcBef>
                <a:spcPts val="0"/>
              </a:spcBef>
              <a:spcAft>
                <a:spcPts val="200"/>
              </a:spcAft>
            </a:pPr>
            <a:r>
              <a:rPr sz="1050" b="0" i="0">
                <a:solidFill>
                  <a:srgbClr val="20242E"/>
                </a:solidFill>
                <a:latin typeface="Inter"/>
              </a:rPr>
              <a:t>4. Mateo lleva poco tiempo en el instituto.</a:t>
            </a:r>
          </a:p>
        </p:txBody>
      </p:sp>
      <p:sp>
        <p:nvSpPr>
          <p:cNvPr id="19" name="Rounded Rectangle 18"/>
          <p:cNvSpPr/>
          <p:nvPr/>
        </p:nvSpPr>
        <p:spPr>
          <a:xfrm>
            <a:off x="457200" y="5596128"/>
            <a:ext cx="11274552" cy="658368"/>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0" i="0">
                <a:solidFill>
                  <a:srgbClr val="5B3E83"/>
                </a:solidFill>
                <a:latin typeface="Inter"/>
              </a:rPr>
              <a:t>Escanear: 1) 15 · 2) miércoles · 3) 8 · 4) 5</a:t>
            </a:r>
          </a:p>
          <a:p>
            <a:pPr>
              <a:lnSpc>
                <a:spcPct val="102000"/>
              </a:lnSpc>
              <a:spcBef>
                <a:spcPts val="0"/>
              </a:spcBef>
              <a:spcAft>
                <a:spcPts val="300"/>
              </a:spcAft>
            </a:pPr>
            <a:r>
              <a:rPr sz="1200" b="0" i="0">
                <a:solidFill>
                  <a:srgbClr val="5B3E83"/>
                </a:solidFill>
                <a:latin typeface="Inter"/>
              </a:rPr>
              <a:t>1) F — «No soy profesional»</a:t>
            </a:r>
          </a:p>
          <a:p>
            <a:pPr>
              <a:lnSpc>
                <a:spcPct val="102000"/>
              </a:lnSpc>
              <a:spcBef>
                <a:spcPts val="0"/>
              </a:spcBef>
              <a:spcAft>
                <a:spcPts val="300"/>
              </a:spcAft>
            </a:pPr>
            <a:r>
              <a:rPr sz="1200" b="0" i="0">
                <a:solidFill>
                  <a:srgbClr val="5B3E83"/>
                </a:solidFill>
                <a:latin typeface="Inter"/>
              </a:rPr>
              <a:t>2) F — «Los libros están en muy buen estado»</a:t>
            </a:r>
          </a:p>
          <a:p>
            <a:pPr>
              <a:lnSpc>
                <a:spcPct val="102000"/>
              </a:lnSpc>
              <a:spcBef>
                <a:spcPts val="0"/>
              </a:spcBef>
              <a:spcAft>
                <a:spcPts val="300"/>
              </a:spcAft>
            </a:pPr>
            <a:r>
              <a:rPr sz="1200" b="0" i="0">
                <a:solidFill>
                  <a:srgbClr val="5B3E83"/>
                </a:solidFill>
                <a:latin typeface="Inter"/>
              </a:rPr>
              <a:t>3) V — «Es gratis»</a:t>
            </a:r>
          </a:p>
          <a:p>
            <a:pPr>
              <a:lnSpc>
                <a:spcPct val="102000"/>
              </a:lnSpc>
              <a:spcBef>
                <a:spcPts val="0"/>
              </a:spcBef>
              <a:spcAft>
                <a:spcPts val="300"/>
              </a:spcAft>
            </a:pPr>
            <a:r>
              <a:rPr sz="1200" b="0" i="0">
                <a:solidFill>
                  <a:srgbClr val="5B3E83"/>
                </a:solidFill>
                <a:latin typeface="Inter"/>
              </a:rPr>
              <a:t>4) V — «soy nuevo en el instituto»</a:t>
            </a:r>
          </a:p>
        </p:txBody>
      </p:sp>
      <p:sp>
        <p:nvSpPr>
          <p:cNvPr id="20" name="Rounded Rectangle 19"/>
          <p:cNvSpPr/>
          <p:nvPr/>
        </p:nvSpPr>
        <p:spPr>
          <a:xfrm>
            <a:off x="594360" y="5468112"/>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21" name="Rectangle 20"/>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¡EMPEZAMOS!   ·   C6+ · el reencuentro</a:t>
            </a:r>
          </a:p>
        </p:txBody>
      </p:sp>
      <p:sp>
        <p:nvSpPr>
          <p:cNvPr id="23" name="TextBox 22"/>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24" name="TextBox 23"/>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12836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§6 · ESCUCHA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6</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primer día de curso»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Eerst de situatie, dan luisteren. Het transcript komt pas ná de taken.</a:t>
            </a:r>
          </a:p>
        </p:txBody>
      </p:sp>
      <p:sp>
        <p:nvSpPr>
          <p:cNvPr id="9" name="Rounded Rectangle 8"/>
          <p:cNvSpPr/>
          <p:nvPr/>
        </p:nvSpPr>
        <p:spPr>
          <a:xfrm>
            <a:off x="457200" y="1325880"/>
            <a:ext cx="11274552" cy="1051560"/>
          </a:xfrm>
          <a:prstGeom prst="roundRect">
            <a:avLst>
              <a:gd name="adj" fmla="val 5500"/>
            </a:avLst>
          </a:prstGeom>
          <a:solidFill>
            <a:srgbClr val="EEE8F5"/>
          </a:solidFill>
          <a:ln w="15240">
            <a:solidFill>
              <a:srgbClr val="7C56A9"/>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17320"/>
            <a:ext cx="10881360" cy="86868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100" b="1" i="0">
                <a:solidFill>
                  <a:srgbClr val="5B3E83"/>
                </a:solidFill>
                <a:latin typeface="Inter"/>
              </a:rPr>
              <a:t>¿Dónde? </a:t>
            </a:r>
            <a:r>
              <a:rPr sz="1100" b="0" i="0">
                <a:solidFill>
                  <a:srgbClr val="20242E"/>
                </a:solidFill>
                <a:latin typeface="Inter"/>
              </a:rPr>
              <a:t>El patio del instituto, primera semana de septiembre</a:t>
            </a:r>
            <a:r>
              <a:rPr sz="1100" b="1" i="0">
                <a:solidFill>
                  <a:srgbClr val="5B3E83"/>
                </a:solidFill>
                <a:latin typeface="Inter"/>
              </a:rPr>
              <a:t>     ¿Quién? </a:t>
            </a:r>
            <a:r>
              <a:rPr sz="1100" b="0" i="0">
                <a:solidFill>
                  <a:srgbClr val="20242E"/>
                </a:solidFill>
                <a:latin typeface="Inter"/>
              </a:rPr>
              <a:t>Diego (de México) y Valen (de Cartagena, Colombia)</a:t>
            </a:r>
          </a:p>
          <a:p>
            <a:pPr algn="l">
              <a:lnSpc>
                <a:spcPct val="120000"/>
              </a:lnSpc>
              <a:spcBef>
                <a:spcPts val="0"/>
              </a:spcBef>
              <a:spcAft>
                <a:spcPts val="200"/>
              </a:spcAft>
            </a:pPr>
            <a:r>
              <a:rPr sz="1100" b="1" i="0">
                <a:solidFill>
                  <a:srgbClr val="5B3E83"/>
                </a:solidFill>
                <a:latin typeface="Inter"/>
              </a:rPr>
              <a:t>¿Qué pasa? </a:t>
            </a:r>
            <a:r>
              <a:rPr sz="1100" b="0" i="0">
                <a:solidFill>
                  <a:srgbClr val="20242E"/>
                </a:solidFill>
                <a:latin typeface="Inter"/>
              </a:rPr>
              <a:t>Se reencuentran y hablan de sus clases y de un compañero nuevo</a:t>
            </a:r>
          </a:p>
          <a:p>
            <a:pPr algn="l">
              <a:lnSpc>
                <a:spcPct val="120000"/>
              </a:lnSpc>
              <a:spcBef>
                <a:spcPts val="0"/>
              </a:spcBef>
              <a:spcAft>
                <a:spcPts val="200"/>
              </a:spcAft>
            </a:pPr>
            <a:r>
              <a:rPr sz="1050" b="1" i="0">
                <a:solidFill>
                  <a:srgbClr val="6A6E78"/>
                </a:solidFill>
                <a:latin typeface="Inter"/>
              </a:rPr>
              <a:t>Palabras clave: </a:t>
            </a:r>
            <a:r>
              <a:rPr sz="1050" b="0" i="1">
                <a:solidFill>
                  <a:srgbClr val="20242E"/>
                </a:solidFill>
                <a:latin typeface="Inter"/>
              </a:rPr>
              <a:t>¿Qué tal el verano? · somos / estamos · el compañero nuevo</a:t>
            </a:r>
          </a:p>
        </p:txBody>
      </p:sp>
      <p:sp>
        <p:nvSpPr>
          <p:cNvPr id="11" name="Rounded Rectangle 10"/>
          <p:cNvSpPr/>
          <p:nvPr/>
        </p:nvSpPr>
        <p:spPr>
          <a:xfrm>
            <a:off x="457200" y="2514600"/>
            <a:ext cx="5577840" cy="297180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06040"/>
            <a:ext cx="521208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Bricolage Grotesque"/>
              </a:rPr>
              <a:t>Escucha con detalle</a:t>
            </a:r>
          </a:p>
        </p:txBody>
      </p:sp>
      <p:sp>
        <p:nvSpPr>
          <p:cNvPr id="13" name="TextBox 12"/>
          <p:cNvSpPr txBox="1"/>
          <p:nvPr/>
        </p:nvSpPr>
        <p:spPr>
          <a:xfrm>
            <a:off x="640080" y="2944368"/>
            <a:ext cx="5212080" cy="2377440"/>
          </a:xfrm>
          <a:prstGeom prst="rect">
            <a:avLst/>
          </a:prstGeom>
          <a:noFill/>
        </p:spPr>
        <p:txBody>
          <a:bodyPr wrap="square" anchor="t" lIns="38100" rIns="38100" tIns="25400" bIns="25400">
            <a:spAutoFit/>
          </a:bodyPr>
          <a:lstStyle/>
          <a:p>
            <a:pPr algn="l">
              <a:lnSpc>
                <a:spcPct val="135000"/>
              </a:lnSpc>
              <a:spcBef>
                <a:spcPts val="0"/>
              </a:spcBef>
              <a:spcAft>
                <a:spcPts val="200"/>
              </a:spcAft>
            </a:pPr>
            <a:r>
              <a:rPr sz="1050" b="0" i="0">
                <a:solidFill>
                  <a:srgbClr val="20242E"/>
                </a:solidFill>
                <a:latin typeface="Inter"/>
              </a:rPr>
              <a:t>1. ¿Cómo se llama el compañero nuevo?</a:t>
            </a:r>
          </a:p>
          <a:p>
            <a:pPr algn="l">
              <a:lnSpc>
                <a:spcPct val="135000"/>
              </a:lnSpc>
              <a:spcBef>
                <a:spcPts val="0"/>
              </a:spcBef>
              <a:spcAft>
                <a:spcPts val="200"/>
              </a:spcAft>
            </a:pPr>
            <a:r>
              <a:rPr sz="1050" b="0" i="0">
                <a:solidFill>
                  <a:srgbClr val="20242E"/>
                </a:solidFill>
                <a:latin typeface="Inter"/>
              </a:rPr>
              <a:t>2. ¿De dónde es Mateo?</a:t>
            </a:r>
          </a:p>
          <a:p>
            <a:pPr algn="l">
              <a:lnSpc>
                <a:spcPct val="135000"/>
              </a:lnSpc>
              <a:spcBef>
                <a:spcPts val="0"/>
              </a:spcBef>
              <a:spcAft>
                <a:spcPts val="200"/>
              </a:spcAft>
            </a:pPr>
            <a:r>
              <a:rPr sz="1050" b="0" i="0">
                <a:solidFill>
                  <a:srgbClr val="20242E"/>
                </a:solidFill>
                <a:latin typeface="Inter"/>
              </a:rPr>
              <a:t>3. ¿Cuántos alumnos son este año?</a:t>
            </a:r>
          </a:p>
          <a:p>
            <a:pPr algn="l">
              <a:lnSpc>
                <a:spcPct val="135000"/>
              </a:lnSpc>
              <a:spcBef>
                <a:spcPts val="0"/>
              </a:spcBef>
              <a:spcAft>
                <a:spcPts val="200"/>
              </a:spcAft>
            </a:pPr>
            <a:r>
              <a:rPr sz="1050" b="0" i="0">
                <a:solidFill>
                  <a:srgbClr val="20242E"/>
                </a:solidFill>
                <a:latin typeface="Inter"/>
              </a:rPr>
              <a:t>4. ¿Cómo está Diego?</a:t>
            </a:r>
          </a:p>
          <a:p>
            <a:pPr algn="l">
              <a:lnSpc>
                <a:spcPct val="135000"/>
              </a:lnSpc>
              <a:spcBef>
                <a:spcPts val="0"/>
              </a:spcBef>
              <a:spcAft>
                <a:spcPts val="200"/>
              </a:spcAft>
            </a:pPr>
            <a:r>
              <a:rPr sz="1050" b="0" i="0">
                <a:solidFill>
                  <a:srgbClr val="20242E"/>
                </a:solidFill>
                <a:latin typeface="Inter"/>
              </a:rPr>
              <a:t>5. ¿Qué días hay clase de español?</a:t>
            </a:r>
          </a:p>
        </p:txBody>
      </p:sp>
      <p:sp>
        <p:nvSpPr>
          <p:cNvPr id="14" name="Rounded Rectangle 13"/>
          <p:cNvSpPr/>
          <p:nvPr/>
        </p:nvSpPr>
        <p:spPr>
          <a:xfrm>
            <a:off x="6263640" y="2514600"/>
            <a:ext cx="5468112" cy="2971800"/>
          </a:xfrm>
          <a:prstGeom prst="roundRect">
            <a:avLst>
              <a:gd name="adj" fmla="val 5500"/>
            </a:avLst>
          </a:prstGeom>
          <a:solidFill>
            <a:srgbClr val="F3EEE4"/>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606040"/>
            <a:ext cx="5120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5B3E83"/>
                </a:solidFill>
                <a:latin typeface="Bricolage Grotesque"/>
              </a:rPr>
              <a:t>¿Verdadero o falso? — y la prueba</a:t>
            </a:r>
          </a:p>
        </p:txBody>
      </p:sp>
      <p:sp>
        <p:nvSpPr>
          <p:cNvPr id="16" name="TextBox 15"/>
          <p:cNvSpPr txBox="1"/>
          <p:nvPr/>
        </p:nvSpPr>
        <p:spPr>
          <a:xfrm>
            <a:off x="6446520" y="2944368"/>
            <a:ext cx="5120640" cy="1463040"/>
          </a:xfrm>
          <a:prstGeom prst="rect">
            <a:avLst/>
          </a:prstGeom>
          <a:noFill/>
        </p:spPr>
        <p:txBody>
          <a:bodyPr wrap="square" anchor="t" lIns="38100" rIns="38100" tIns="25400" bIns="25400">
            <a:spAutoFit/>
          </a:bodyPr>
          <a:lstStyle/>
          <a:p>
            <a:pPr algn="l">
              <a:lnSpc>
                <a:spcPct val="135000"/>
              </a:lnSpc>
              <a:spcBef>
                <a:spcPts val="0"/>
              </a:spcBef>
              <a:spcAft>
                <a:spcPts val="200"/>
              </a:spcAft>
            </a:pPr>
            <a:r>
              <a:rPr sz="1050" b="0" i="0">
                <a:solidFill>
                  <a:srgbClr val="20242E"/>
                </a:solidFill>
                <a:latin typeface="Inter"/>
              </a:rPr>
              <a:t>1. Valen pasó el verano en Colombia.</a:t>
            </a:r>
          </a:p>
          <a:p>
            <a:pPr algn="l">
              <a:lnSpc>
                <a:spcPct val="135000"/>
              </a:lnSpc>
              <a:spcBef>
                <a:spcPts val="0"/>
              </a:spcBef>
              <a:spcAft>
                <a:spcPts val="200"/>
              </a:spcAft>
            </a:pPr>
            <a:r>
              <a:rPr sz="1050" b="0" i="0">
                <a:solidFill>
                  <a:srgbClr val="20242E"/>
                </a:solidFill>
                <a:latin typeface="Inter"/>
              </a:rPr>
              <a:t>2. Mateo está en otra clase.</a:t>
            </a:r>
          </a:p>
          <a:p>
            <a:pPr algn="l">
              <a:lnSpc>
                <a:spcPct val="135000"/>
              </a:lnSpc>
              <a:spcBef>
                <a:spcPts val="0"/>
              </a:spcBef>
              <a:spcAft>
                <a:spcPts val="200"/>
              </a:spcAft>
            </a:pPr>
            <a:r>
              <a:rPr sz="1050" b="0" i="0">
                <a:solidFill>
                  <a:srgbClr val="20242E"/>
                </a:solidFill>
                <a:latin typeface="Inter"/>
              </a:rPr>
              <a:t>3. La profesora de español es nueva.</a:t>
            </a:r>
          </a:p>
        </p:txBody>
      </p:sp>
      <p:sp>
        <p:nvSpPr>
          <p:cNvPr id="17" name="TextBox 16"/>
          <p:cNvSpPr txBox="1"/>
          <p:nvPr/>
        </p:nvSpPr>
        <p:spPr>
          <a:xfrm>
            <a:off x="6446520" y="4572000"/>
            <a:ext cx="5120640" cy="82296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050" b="1" i="0">
                <a:solidFill>
                  <a:srgbClr val="5B3E83"/>
                </a:solidFill>
                <a:latin typeface="Inter"/>
              </a:rPr>
              <a:t>Tu reacción: </a:t>
            </a:r>
            <a:r>
              <a:rPr sz="1000" b="0" i="0">
                <a:solidFill>
                  <a:srgbClr val="20242E"/>
                </a:solidFill>
                <a:latin typeface="Inter"/>
              </a:rPr>
              <a:t>Eres el compañero nuevo. Preséntate a Diego y a Valen en cuatro frases: nombre · origen · cómo estás hoy · una cosa que te gusta.</a:t>
            </a:r>
          </a:p>
        </p:txBody>
      </p:sp>
      <p:sp>
        <p:nvSpPr>
          <p:cNvPr id="18" name="Rounded Rectangle 17"/>
          <p:cNvSpPr/>
          <p:nvPr/>
        </p:nvSpPr>
        <p:spPr>
          <a:xfrm>
            <a:off x="457200" y="5596128"/>
            <a:ext cx="11274552" cy="658368"/>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0" i="0">
                <a:solidFill>
                  <a:srgbClr val="5B3E83"/>
                </a:solidFill>
                <a:latin typeface="Inter"/>
              </a:rPr>
              <a:t>Detalle: 1) Mateo · 2) De Buenos Aires · 3) 24 · 4) Cansado · 5) Martes y jueves</a:t>
            </a:r>
          </a:p>
          <a:p>
            <a:pPr>
              <a:lnSpc>
                <a:spcPct val="102000"/>
              </a:lnSpc>
              <a:spcBef>
                <a:spcPts val="0"/>
              </a:spcBef>
              <a:spcAft>
                <a:spcPts val="300"/>
              </a:spcAft>
            </a:pPr>
            <a:r>
              <a:rPr sz="1200" b="0" i="0">
                <a:solidFill>
                  <a:srgbClr val="5B3E83"/>
                </a:solidFill>
                <a:latin typeface="Inter"/>
              </a:rPr>
              <a:t>1) V — «Estuve en Cartagena»</a:t>
            </a:r>
          </a:p>
          <a:p>
            <a:pPr>
              <a:lnSpc>
                <a:spcPct val="102000"/>
              </a:lnSpc>
              <a:spcBef>
                <a:spcPts val="0"/>
              </a:spcBef>
              <a:spcAft>
                <a:spcPts val="300"/>
              </a:spcAft>
            </a:pPr>
            <a:r>
              <a:rPr sz="1200" b="0" i="0">
                <a:solidFill>
                  <a:srgbClr val="5B3E83"/>
                </a:solidFill>
                <a:latin typeface="Inter"/>
              </a:rPr>
              <a:t>2) F — «Está en nuestra clase»</a:t>
            </a:r>
          </a:p>
          <a:p>
            <a:pPr>
              <a:lnSpc>
                <a:spcPct val="102000"/>
              </a:lnSpc>
              <a:spcBef>
                <a:spcPts val="0"/>
              </a:spcBef>
              <a:spcAft>
                <a:spcPts val="300"/>
              </a:spcAft>
            </a:pPr>
            <a:r>
              <a:rPr sz="1200" b="0" i="0">
                <a:solidFill>
                  <a:srgbClr val="5B3E83"/>
                </a:solidFill>
                <a:latin typeface="Inter"/>
              </a:rPr>
              <a:t>3) F — «Es la misma»</a:t>
            </a:r>
          </a:p>
        </p:txBody>
      </p:sp>
      <p:sp>
        <p:nvSpPr>
          <p:cNvPr id="19" name="Rounded Rectangle 18"/>
          <p:cNvSpPr/>
          <p:nvPr/>
        </p:nvSpPr>
        <p:spPr>
          <a:xfrm>
            <a:off x="594360" y="5468112"/>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20" name="Rectangle 19"/>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¡EMPEZAMOS!   ·   C6+ · el reencuentro</a:t>
            </a:r>
          </a:p>
        </p:txBody>
      </p:sp>
      <p:sp>
        <p:nvSpPr>
          <p:cNvPr id="22" name="TextBox 21"/>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23" name="TextBox 22"/>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9144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2800" b="1" i="0">
                <a:solidFill>
                  <a:srgbClr val="FFFFFF"/>
                </a:solidFill>
                <a:latin typeface="Bricolage Grotesque"/>
              </a:rPr>
              <a:t>🪪 Tarea final · Tarjeta de reencuentro</a:t>
            </a:r>
          </a:p>
          <a:p>
            <a:pPr algn="l">
              <a:lnSpc>
                <a:spcPct val="106000"/>
              </a:lnSpc>
              <a:spcBef>
                <a:spcPts val="0"/>
              </a:spcBef>
              <a:spcAft>
                <a:spcPts val="200"/>
              </a:spcAft>
            </a:pPr>
            <a:r>
              <a:rPr sz="1300" b="0" i="1">
                <a:solidFill>
                  <a:srgbClr val="EEE8F5"/>
                </a:solidFill>
                <a:latin typeface="Inter"/>
              </a:rPr>
              <a:t>Maak je terugkeer-kaartje voor de klasmuur y preséntate en pareja.</a:t>
            </a:r>
          </a:p>
        </p:txBody>
      </p:sp>
      <p:pic>
        <p:nvPicPr>
          <p:cNvPr id="5" name="Picture 4" descr="mochila.png"/>
          <p:cNvPicPr>
            <a:picLocks noChangeAspect="1"/>
          </p:cNvPicPr>
          <p:nvPr/>
        </p:nvPicPr>
        <p:blipFill>
          <a:blip r:embed="rId2"/>
          <a:stretch>
            <a:fillRect/>
          </a:stretch>
        </p:blipFill>
        <p:spPr>
          <a:xfrm>
            <a:off x="10607040" y="182880"/>
            <a:ext cx="914400" cy="914400"/>
          </a:xfrm>
          <a:prstGeom prst="rect">
            <a:avLst/>
          </a:prstGeom>
        </p:spPr>
      </p:pic>
      <p:sp>
        <p:nvSpPr>
          <p:cNvPr id="6" name="Rounded Rectangle 5"/>
          <p:cNvSpPr/>
          <p:nvPr/>
        </p:nvSpPr>
        <p:spPr>
          <a:xfrm>
            <a:off x="457200" y="1554480"/>
            <a:ext cx="457200" cy="457200"/>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1</a:t>
            </a:r>
          </a:p>
        </p:txBody>
      </p:sp>
      <p:sp>
        <p:nvSpPr>
          <p:cNvPr id="7" name="TextBox 6"/>
          <p:cNvSpPr txBox="1"/>
          <p:nvPr/>
        </p:nvSpPr>
        <p:spPr>
          <a:xfrm>
            <a:off x="1097280" y="1554480"/>
            <a:ext cx="38404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Planifica tus datos</a:t>
            </a:r>
          </a:p>
        </p:txBody>
      </p:sp>
      <p:sp>
        <p:nvSpPr>
          <p:cNvPr id="8" name="TextBox 7"/>
          <p:cNvSpPr txBox="1"/>
          <p:nvPr/>
        </p:nvSpPr>
        <p:spPr>
          <a:xfrm>
            <a:off x="5029200" y="1554480"/>
            <a:ext cx="65836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nombre · edad · origen · lengua · carácter</a:t>
            </a:r>
          </a:p>
        </p:txBody>
      </p:sp>
      <p:sp>
        <p:nvSpPr>
          <p:cNvPr id="9" name="Rounded Rectangle 8"/>
          <p:cNvSpPr/>
          <p:nvPr/>
        </p:nvSpPr>
        <p:spPr>
          <a:xfrm>
            <a:off x="457200" y="2121408"/>
            <a:ext cx="457200" cy="457200"/>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2</a:t>
            </a:r>
          </a:p>
        </p:txBody>
      </p:sp>
      <p:sp>
        <p:nvSpPr>
          <p:cNvPr id="10" name="TextBox 9"/>
          <p:cNvSpPr txBox="1"/>
          <p:nvPr/>
        </p:nvSpPr>
        <p:spPr>
          <a:xfrm>
            <a:off x="1097280" y="2121408"/>
            <a:ext cx="38404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Escribe la tarjeta</a:t>
            </a:r>
          </a:p>
        </p:txBody>
      </p:sp>
      <p:sp>
        <p:nvSpPr>
          <p:cNvPr id="11" name="TextBox 10"/>
          <p:cNvSpPr txBox="1"/>
          <p:nvPr/>
        </p:nvSpPr>
        <p:spPr>
          <a:xfrm>
            <a:off x="5029200" y="2121408"/>
            <a:ext cx="65836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4–5 frases con me llamo / soy / tengo / vivo / hablo + conector</a:t>
            </a:r>
          </a:p>
        </p:txBody>
      </p:sp>
      <p:sp>
        <p:nvSpPr>
          <p:cNvPr id="12" name="Rounded Rectangle 11"/>
          <p:cNvSpPr/>
          <p:nvPr/>
        </p:nvSpPr>
        <p:spPr>
          <a:xfrm>
            <a:off x="457200" y="2688336"/>
            <a:ext cx="457200" cy="457200"/>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3</a:t>
            </a:r>
          </a:p>
        </p:txBody>
      </p:sp>
      <p:sp>
        <p:nvSpPr>
          <p:cNvPr id="13" name="TextBox 12"/>
          <p:cNvSpPr txBox="1"/>
          <p:nvPr/>
        </p:nvSpPr>
        <p:spPr>
          <a:xfrm>
            <a:off x="1097280" y="2688336"/>
            <a:ext cx="38404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Preséntate en pareja</a:t>
            </a:r>
          </a:p>
        </p:txBody>
      </p:sp>
      <p:sp>
        <p:nvSpPr>
          <p:cNvPr id="14" name="TextBox 13"/>
          <p:cNvSpPr txBox="1"/>
          <p:nvPr/>
        </p:nvSpPr>
        <p:spPr>
          <a:xfrm>
            <a:off x="5029200" y="2688336"/>
            <a:ext cx="65836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lee en voz alta; tu compañero/a anota un dato y pregunta</a:t>
            </a:r>
          </a:p>
        </p:txBody>
      </p:sp>
      <p:sp>
        <p:nvSpPr>
          <p:cNvPr id="15" name="Rounded Rectangle 14"/>
          <p:cNvSpPr/>
          <p:nvPr/>
        </p:nvSpPr>
        <p:spPr>
          <a:xfrm>
            <a:off x="457200" y="3255264"/>
            <a:ext cx="457200" cy="457200"/>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4</a:t>
            </a:r>
          </a:p>
        </p:txBody>
      </p:sp>
      <p:sp>
        <p:nvSpPr>
          <p:cNvPr id="16" name="TextBox 15"/>
          <p:cNvSpPr txBox="1"/>
          <p:nvPr/>
        </p:nvSpPr>
        <p:spPr>
          <a:xfrm>
            <a:off x="1097280" y="3255264"/>
            <a:ext cx="38404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Graba tu presentación</a:t>
            </a:r>
          </a:p>
        </p:txBody>
      </p:sp>
      <p:sp>
        <p:nvSpPr>
          <p:cNvPr id="17" name="TextBox 16"/>
          <p:cNvSpPr txBox="1"/>
          <p:nvPr/>
        </p:nvSpPr>
        <p:spPr>
          <a:xfrm>
            <a:off x="5029200" y="3255264"/>
            <a:ext cx="65836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en la web (recorder) — escúchate y mejora</a:t>
            </a:r>
          </a:p>
        </p:txBody>
      </p:sp>
      <p:sp>
        <p:nvSpPr>
          <p:cNvPr id="18" name="Rounded Rectangle 17"/>
          <p:cNvSpPr/>
          <p:nvPr/>
        </p:nvSpPr>
        <p:spPr>
          <a:xfrm>
            <a:off x="457200" y="3822192"/>
            <a:ext cx="457200" cy="457200"/>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5</a:t>
            </a:r>
          </a:p>
        </p:txBody>
      </p:sp>
      <p:sp>
        <p:nvSpPr>
          <p:cNvPr id="19" name="TextBox 18"/>
          <p:cNvSpPr txBox="1"/>
          <p:nvPr/>
        </p:nvSpPr>
        <p:spPr>
          <a:xfrm>
            <a:off x="1097280" y="3822192"/>
            <a:ext cx="38404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5B3E83"/>
                </a:solidFill>
                <a:latin typeface="Bricolage Grotesque"/>
              </a:rPr>
              <a:t>Cuelga la tarjeta</a:t>
            </a:r>
          </a:p>
        </p:txBody>
      </p:sp>
      <p:sp>
        <p:nvSpPr>
          <p:cNvPr id="20" name="TextBox 19"/>
          <p:cNvSpPr txBox="1"/>
          <p:nvPr/>
        </p:nvSpPr>
        <p:spPr>
          <a:xfrm>
            <a:off x="5029200" y="3822192"/>
            <a:ext cx="658368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en el muro de la clase</a:t>
            </a:r>
          </a:p>
        </p:txBody>
      </p:sp>
      <p:sp>
        <p:nvSpPr>
          <p:cNvPr id="21" name="TextBox 20"/>
          <p:cNvSpPr txBox="1"/>
          <p:nvPr/>
        </p:nvSpPr>
        <p:spPr>
          <a:xfrm>
            <a:off x="457200" y="4572000"/>
            <a:ext cx="109728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Rúbrica · ¿lo logré?</a:t>
            </a:r>
          </a:p>
        </p:txBody>
      </p:sp>
      <p:sp>
        <p:nvSpPr>
          <p:cNvPr id="22" name="Rounded Rectangle 21"/>
          <p:cNvSpPr/>
          <p:nvPr/>
        </p:nvSpPr>
        <p:spPr>
          <a:xfrm>
            <a:off x="457200" y="4983480"/>
            <a:ext cx="278892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000" b="1">
                <a:solidFill>
                  <a:srgbClr val="5B3E83"/>
                </a:solidFill>
                <a:latin typeface="Inter"/>
              </a:rPr>
              <a:t>☐ 5 datos (nombre·edad·origen·lengua·carácter)</a:t>
            </a:r>
          </a:p>
        </p:txBody>
      </p:sp>
      <p:sp>
        <p:nvSpPr>
          <p:cNvPr id="23" name="Rounded Rectangle 22"/>
          <p:cNvSpPr/>
          <p:nvPr/>
        </p:nvSpPr>
        <p:spPr>
          <a:xfrm>
            <a:off x="3337560" y="4983480"/>
            <a:ext cx="278892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000" b="1">
                <a:solidFill>
                  <a:srgbClr val="5B3E83"/>
                </a:solidFill>
                <a:latin typeface="Inter"/>
              </a:rPr>
              <a:t>☐ presente correcto (soy/tengo/vivo)</a:t>
            </a:r>
          </a:p>
        </p:txBody>
      </p:sp>
      <p:sp>
        <p:nvSpPr>
          <p:cNvPr id="24" name="Rounded Rectangle 23"/>
          <p:cNvSpPr/>
          <p:nvPr/>
        </p:nvSpPr>
        <p:spPr>
          <a:xfrm>
            <a:off x="6217920" y="4983480"/>
            <a:ext cx="278892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000" b="1">
                <a:solidFill>
                  <a:srgbClr val="5B3E83"/>
                </a:solidFill>
                <a:latin typeface="Inter"/>
              </a:rPr>
              <a:t>☐ un conector (y/pero/porque)</a:t>
            </a:r>
          </a:p>
        </p:txBody>
      </p:sp>
      <p:sp>
        <p:nvSpPr>
          <p:cNvPr id="25" name="Rounded Rectangle 24"/>
          <p:cNvSpPr/>
          <p:nvPr/>
        </p:nvSpPr>
        <p:spPr>
          <a:xfrm>
            <a:off x="9098280" y="4983480"/>
            <a:ext cx="2788920" cy="292608"/>
          </a:xfrm>
          <a:prstGeom prst="roundRect">
            <a:avLst>
              <a:gd name="adj" fmla="val 5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000" b="1">
                <a:solidFill>
                  <a:srgbClr val="5B3E83"/>
                </a:solidFill>
                <a:latin typeface="Inter"/>
              </a:rPr>
              <a:t>☐ presentar en pareja</a:t>
            </a:r>
          </a:p>
        </p:txBody>
      </p:sp>
      <p:sp>
        <p:nvSpPr>
          <p:cNvPr id="26" name="TextBox 25"/>
          <p:cNvSpPr txBox="1"/>
          <p:nvPr/>
        </p:nvSpPr>
        <p:spPr>
          <a:xfrm>
            <a:off x="457200" y="5532120"/>
            <a:ext cx="109728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t>
            </a:r>
            <a:r>
              <a:rPr sz="1150" b="0" i="1">
                <a:solidFill>
                  <a:srgbClr val="6A6E78"/>
                </a:solidFill>
                <a:latin typeface="Inter"/>
              </a:rPr>
              <a:t>Afzender jij · ontvanger de klas (el muro) · doel jezelf (opnieuw) voorstellen · situatie de eerste les · resultaat: tarjeta + presentación oral.</a:t>
            </a:r>
          </a:p>
        </p:txBody>
      </p:sp>
      <p:sp>
        <p:nvSpPr>
          <p:cNvPr id="27" name="Rectangle 26"/>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29" name="TextBox 28"/>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0" name="TextBox 29"/>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QUIZ · LA MEZCLA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Ophaal door elkaar</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Gemengde ophaal van de hele unit. Klik een vraag → het antwoord. (retrieval)</a:t>
            </a:r>
          </a:p>
        </p:txBody>
      </p:sp>
      <p:sp>
        <p:nvSpPr>
          <p:cNvPr id="9" name="Rounded Rectangle 8"/>
          <p:cNvSpPr/>
          <p:nvPr/>
        </p:nvSpPr>
        <p:spPr>
          <a:xfrm>
            <a:off x="457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00200"/>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(ser)</a:t>
            </a:r>
          </a:p>
        </p:txBody>
      </p:sp>
      <p:sp>
        <p:nvSpPr>
          <p:cNvPr id="11" name="TextBox 10"/>
          <p:cNvSpPr txBox="1"/>
          <p:nvPr/>
        </p:nvSpPr>
        <p:spPr>
          <a:xfrm>
            <a:off x="3703320" y="1600200"/>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soy</a:t>
            </a:r>
          </a:p>
        </p:txBody>
      </p:sp>
      <p:sp>
        <p:nvSpPr>
          <p:cNvPr id="12" name="Rounded Rectangle 11"/>
          <p:cNvSpPr/>
          <p:nvPr/>
        </p:nvSpPr>
        <p:spPr>
          <a:xfrm>
            <a:off x="457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13432"/>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tú (tener)</a:t>
            </a:r>
          </a:p>
        </p:txBody>
      </p:sp>
      <p:sp>
        <p:nvSpPr>
          <p:cNvPr id="14" name="TextBox 13"/>
          <p:cNvSpPr txBox="1"/>
          <p:nvPr/>
        </p:nvSpPr>
        <p:spPr>
          <a:xfrm>
            <a:off x="3703320" y="2313432"/>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tienes</a:t>
            </a:r>
          </a:p>
        </p:txBody>
      </p:sp>
      <p:sp>
        <p:nvSpPr>
          <p:cNvPr id="15" name="Rounded Rectangle 14"/>
          <p:cNvSpPr/>
          <p:nvPr/>
        </p:nvSpPr>
        <p:spPr>
          <a:xfrm>
            <a:off x="457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26664"/>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nosotros (vivir)</a:t>
            </a:r>
          </a:p>
        </p:txBody>
      </p:sp>
      <p:sp>
        <p:nvSpPr>
          <p:cNvPr id="17" name="TextBox 16"/>
          <p:cNvSpPr txBox="1"/>
          <p:nvPr/>
        </p:nvSpPr>
        <p:spPr>
          <a:xfrm>
            <a:off x="3703320" y="3026664"/>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vivimos</a:t>
            </a:r>
          </a:p>
        </p:txBody>
      </p:sp>
      <p:sp>
        <p:nvSpPr>
          <p:cNvPr id="18" name="Rounded Rectangle 17"/>
          <p:cNvSpPr/>
          <p:nvPr/>
        </p:nvSpPr>
        <p:spPr>
          <a:xfrm>
            <a:off x="457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739896"/>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España → nacionalidad</a:t>
            </a:r>
          </a:p>
        </p:txBody>
      </p:sp>
      <p:sp>
        <p:nvSpPr>
          <p:cNvPr id="20" name="TextBox 19"/>
          <p:cNvSpPr txBox="1"/>
          <p:nvPr/>
        </p:nvSpPr>
        <p:spPr>
          <a:xfrm>
            <a:off x="3703320" y="3739896"/>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español/a</a:t>
            </a:r>
          </a:p>
        </p:txBody>
      </p:sp>
      <p:sp>
        <p:nvSpPr>
          <p:cNvPr id="21" name="Rounded Rectangle 20"/>
          <p:cNvSpPr/>
          <p:nvPr/>
        </p:nvSpPr>
        <p:spPr>
          <a:xfrm>
            <a:off x="6172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00200"/>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la chica (alto)</a:t>
            </a:r>
          </a:p>
        </p:txBody>
      </p:sp>
      <p:sp>
        <p:nvSpPr>
          <p:cNvPr id="23" name="TextBox 22"/>
          <p:cNvSpPr txBox="1"/>
          <p:nvPr/>
        </p:nvSpPr>
        <p:spPr>
          <a:xfrm>
            <a:off x="9418320" y="1600200"/>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alta</a:t>
            </a:r>
          </a:p>
        </p:txBody>
      </p:sp>
      <p:sp>
        <p:nvSpPr>
          <p:cNvPr id="24" name="Rounded Rectangle 23"/>
          <p:cNvSpPr/>
          <p:nvPr/>
        </p:nvSpPr>
        <p:spPr>
          <a:xfrm>
            <a:off x="6172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313432"/>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el ___ problema</a:t>
            </a:r>
          </a:p>
        </p:txBody>
      </p:sp>
      <p:sp>
        <p:nvSpPr>
          <p:cNvPr id="26" name="TextBox 25"/>
          <p:cNvSpPr txBox="1"/>
          <p:nvPr/>
        </p:nvSpPr>
        <p:spPr>
          <a:xfrm>
            <a:off x="9418320" y="2313432"/>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el</a:t>
            </a:r>
          </a:p>
        </p:txBody>
      </p:sp>
      <p:sp>
        <p:nvSpPr>
          <p:cNvPr id="27" name="Rounded Rectangle 26"/>
          <p:cNvSpPr/>
          <p:nvPr/>
        </p:nvSpPr>
        <p:spPr>
          <a:xfrm>
            <a:off x="6172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026664"/>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«want/omdat» =</a:t>
            </a:r>
          </a:p>
        </p:txBody>
      </p:sp>
      <p:sp>
        <p:nvSpPr>
          <p:cNvPr id="29" name="TextBox 28"/>
          <p:cNvSpPr txBox="1"/>
          <p:nvPr/>
        </p:nvSpPr>
        <p:spPr>
          <a:xfrm>
            <a:off x="9418320" y="3026664"/>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porque</a:t>
            </a:r>
          </a:p>
        </p:txBody>
      </p:sp>
      <p:sp>
        <p:nvSpPr>
          <p:cNvPr id="30" name="Rounded Rectangle 29"/>
          <p:cNvSpPr/>
          <p:nvPr/>
        </p:nvSpPr>
        <p:spPr>
          <a:xfrm>
            <a:off x="6172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739896"/>
            <a:ext cx="310896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en clase → soy/estoy?</a:t>
            </a:r>
          </a:p>
        </p:txBody>
      </p:sp>
      <p:sp>
        <p:nvSpPr>
          <p:cNvPr id="32" name="TextBox 31"/>
          <p:cNvSpPr txBox="1"/>
          <p:nvPr/>
        </p:nvSpPr>
        <p:spPr>
          <a:xfrm>
            <a:off x="9418320" y="3739896"/>
            <a:ext cx="214884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5B3E83"/>
                </a:solidFill>
                <a:latin typeface="Inter"/>
              </a:rPr>
              <a:t>→ estoy</a:t>
            </a:r>
          </a:p>
        </p:txBody>
      </p:sp>
      <p:sp>
        <p:nvSpPr>
          <p:cNvPr id="33" name="Rounded Rectangle 32"/>
          <p:cNvSpPr/>
          <p:nvPr/>
        </p:nvSpPr>
        <p:spPr>
          <a:xfrm>
            <a:off x="457200" y="6053328"/>
            <a:ext cx="2093976" cy="365760"/>
          </a:xfrm>
          <a:prstGeom prst="roundRect">
            <a:avLst>
              <a:gd name="adj" fmla="val 50000"/>
            </a:avLst>
          </a:prstGeom>
          <a:solidFill>
            <a:srgbClr val="7C56A9"/>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4" name="Rounded Rectangle 33"/>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Saltar</a:t>
            </a:r>
          </a:p>
        </p:txBody>
      </p:sp>
      <p:sp>
        <p:nvSpPr>
          <p:cNvPr id="35" name="Rounded Rectangle 34">
            <a:hlinkClick action="ppaction://hlinksldjump" r:id="rId2"/>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5B3E83"/>
                </a:solidFill>
                <a:latin typeface="Inter"/>
              </a:rPr>
              <a:t>⌂  Menú (dia 2)</a:t>
            </a:r>
          </a:p>
        </p:txBody>
      </p:sp>
      <p:sp>
        <p:nvSpPr>
          <p:cNvPr id="36" name="TextBox 35"/>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Klik ▶ om de solución te tonen · ⌂ terug naar het menu</a:t>
            </a:r>
          </a:p>
        </p:txBody>
      </p:sp>
      <p:sp>
        <p:nvSpPr>
          <p:cNvPr id="37" name="Rounded Rectangle 36"/>
          <p:cNvSpPr/>
          <p:nvPr/>
        </p:nvSpPr>
        <p:spPr>
          <a:xfrm>
            <a:off x="457200" y="4617720"/>
            <a:ext cx="11247120" cy="502920"/>
          </a:xfrm>
          <a:prstGeom prst="roundRect">
            <a:avLst>
              <a:gd name="adj" fmla="val 6000"/>
            </a:avLst>
          </a:prstGeom>
          <a:solidFill>
            <a:srgbClr val="EEE8F5"/>
          </a:solidFill>
          <a:ln w="19050">
            <a:solidFill>
              <a:srgbClr val="7C56A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5B3E83"/>
                </a:solidFill>
                <a:latin typeface="Inter"/>
              </a:rPr>
              <a:t>Alles komt terug: </a:t>
            </a:r>
            <a:r>
              <a:rPr sz="1200" b="0" i="0">
                <a:solidFill>
                  <a:srgbClr val="5B3E83"/>
                </a:solidFill>
                <a:latin typeface="Inter"/>
              </a:rPr>
              <a:t>el presente · género/concordancia · ser/estar · países/nacionalidades · conectores.</a:t>
            </a:r>
          </a:p>
        </p:txBody>
      </p:sp>
      <p:sp>
        <p:nvSpPr>
          <p:cNvPr id="38" name="Rounded Rectangle 37"/>
          <p:cNvSpPr/>
          <p:nvPr/>
        </p:nvSpPr>
        <p:spPr>
          <a:xfrm>
            <a:off x="594360" y="4489704"/>
            <a:ext cx="791870" cy="292608"/>
          </a:xfrm>
          <a:prstGeom prst="roundRect">
            <a:avLst>
              <a:gd name="adj" fmla="val 50000"/>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a:t>
            </a:r>
          </a:p>
        </p:txBody>
      </p:sp>
      <p:sp>
        <p:nvSpPr>
          <p:cNvPr id="39" name="Rectangle 38"/>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41" name="TextBox 40"/>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42" name="TextBox 41"/>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5B3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0136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7C56A9"/>
                </a:solidFill>
                <a:latin typeface="Inter"/>
              </a:rPr>
              <a:t>REPASO · LO ESENCIAL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Lo esencial de un vistazo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EE8F5"/>
                </a:solidFill>
                <a:latin typeface="Inter"/>
              </a:rPr>
              <a:t>De volledige herhaling (13 spellen, drills) staat online. Hier: de kern + semáforo.</a:t>
            </a:r>
          </a:p>
        </p:txBody>
      </p:sp>
      <p:sp>
        <p:nvSpPr>
          <p:cNvPr id="9" name="Rounded Rectangle 8"/>
          <p:cNvSpPr/>
          <p:nvPr/>
        </p:nvSpPr>
        <p:spPr>
          <a:xfrm>
            <a:off x="457200" y="1463040"/>
            <a:ext cx="11247120" cy="2286000"/>
          </a:xfrm>
          <a:prstGeom prst="roundRect">
            <a:avLst>
              <a:gd name="adj" fmla="val 5500"/>
            </a:avLst>
          </a:prstGeom>
          <a:solidFill>
            <a:srgbClr val="F3EEE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 </a:t>
            </a:r>
            <a:r>
              <a:rPr sz="1200" b="0" i="0">
                <a:solidFill>
                  <a:srgbClr val="20242E"/>
                </a:solidFill>
                <a:latin typeface="Inter"/>
              </a:rPr>
              <a:t>Presentarte: me llamo · soy (de) · tengo … años · vivo en · hablo …</a:t>
            </a:r>
          </a:p>
        </p:txBody>
      </p:sp>
      <p:sp>
        <p:nvSpPr>
          <p:cNvPr id="11" name="TextBox 10"/>
          <p:cNvSpPr txBox="1"/>
          <p:nvPr/>
        </p:nvSpPr>
        <p:spPr>
          <a:xfrm>
            <a:off x="731520" y="2066544"/>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 </a:t>
            </a:r>
            <a:r>
              <a:rPr sz="1200" b="0" i="0">
                <a:solidFill>
                  <a:srgbClr val="20242E"/>
                </a:solidFill>
                <a:latin typeface="Inter"/>
              </a:rPr>
              <a:t>El presente: -ar → o/as/a/amos/áis/an · -er/-ir gelijkaardig · 7 onreg. (soy·estoy·tengo·voy·hago·vengo·doy).</a:t>
            </a:r>
          </a:p>
        </p:txBody>
      </p:sp>
      <p:sp>
        <p:nvSpPr>
          <p:cNvPr id="12" name="TextBox 11"/>
          <p:cNvSpPr txBox="1"/>
          <p:nvPr/>
        </p:nvSpPr>
        <p:spPr>
          <a:xfrm>
            <a:off x="731520" y="2487168"/>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 </a:t>
            </a:r>
            <a:r>
              <a:rPr sz="1200" b="0" i="0">
                <a:solidFill>
                  <a:srgbClr val="20242E"/>
                </a:solidFill>
                <a:latin typeface="Inter"/>
              </a:rPr>
              <a:t>Concordancia: el chico alto / la chica alta · los/las + -os/-as.</a:t>
            </a:r>
          </a:p>
        </p:txBody>
      </p:sp>
      <p:sp>
        <p:nvSpPr>
          <p:cNvPr id="13" name="TextBox 12"/>
          <p:cNvSpPr txBox="1"/>
          <p:nvPr/>
        </p:nvSpPr>
        <p:spPr>
          <a:xfrm>
            <a:off x="731520" y="2907792"/>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 </a:t>
            </a:r>
            <a:r>
              <a:rPr sz="1200" b="0" i="0">
                <a:solidFill>
                  <a:srgbClr val="20242E"/>
                </a:solidFill>
                <a:latin typeface="Inter"/>
              </a:rPr>
              <a:t>Países/nacionalidades: soy de España, soy español/a (kleine letter), hablo español.</a:t>
            </a:r>
          </a:p>
        </p:txBody>
      </p:sp>
      <p:sp>
        <p:nvSpPr>
          <p:cNvPr id="14" name="TextBox 13"/>
          <p:cNvSpPr txBox="1"/>
          <p:nvPr/>
        </p:nvSpPr>
        <p:spPr>
          <a:xfrm>
            <a:off x="731520" y="3328416"/>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Inter"/>
              </a:rPr>
              <a:t>• </a:t>
            </a:r>
            <a:r>
              <a:rPr sz="1200" b="0" i="0">
                <a:solidFill>
                  <a:srgbClr val="20242E"/>
                </a:solidFill>
                <a:latin typeface="Inter"/>
              </a:rPr>
              <a:t>🔴 Trampas: soy ≠ estoy · porque = want én omdat · nacionalidad = kleine letter · belga = m/v gelijk.</a:t>
            </a:r>
          </a:p>
        </p:txBody>
      </p:sp>
      <p:sp>
        <p:nvSpPr>
          <p:cNvPr id="15" name="TextBox 14"/>
          <p:cNvSpPr txBox="1"/>
          <p:nvPr/>
        </p:nvSpPr>
        <p:spPr>
          <a:xfrm>
            <a:off x="457200" y="3931920"/>
            <a:ext cx="109728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5B3E83"/>
                </a:solidFill>
                <a:latin typeface="Bricolage Grotesque"/>
              </a:rPr>
              <a:t>Semáforo — ¿cómo lo llevas?</a:t>
            </a:r>
          </a:p>
        </p:txBody>
      </p:sp>
      <p:sp>
        <p:nvSpPr>
          <p:cNvPr id="16" name="TextBox 15"/>
          <p:cNvSpPr txBox="1"/>
          <p:nvPr/>
        </p:nvSpPr>
        <p:spPr>
          <a:xfrm>
            <a:off x="731520" y="4343400"/>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saludar + presentarse</a:t>
            </a:r>
          </a:p>
        </p:txBody>
      </p:sp>
      <p:sp>
        <p:nvSpPr>
          <p:cNvPr id="17" name="Rounded Rectangle 16"/>
          <p:cNvSpPr/>
          <p:nvPr/>
        </p:nvSpPr>
        <p:spPr>
          <a:xfrm>
            <a:off x="73152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18" name="Rounded Rectangle 17"/>
          <p:cNvSpPr/>
          <p:nvPr/>
        </p:nvSpPr>
        <p:spPr>
          <a:xfrm>
            <a:off x="86868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19" name="Rounded Rectangle 18"/>
          <p:cNvSpPr/>
          <p:nvPr/>
        </p:nvSpPr>
        <p:spPr>
          <a:xfrm>
            <a:off x="100584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7C56A9"/>
                </a:solidFill>
                <a:latin typeface="Inter"/>
              </a:rPr>
              <a:t>🟢 </a:t>
            </a:r>
          </a:p>
        </p:txBody>
      </p:sp>
      <p:sp>
        <p:nvSpPr>
          <p:cNvPr id="20" name="TextBox 19"/>
          <p:cNvSpPr txBox="1"/>
          <p:nvPr/>
        </p:nvSpPr>
        <p:spPr>
          <a:xfrm>
            <a:off x="731520" y="4727448"/>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el presente (regular + ser/estar/tener/ir)</a:t>
            </a:r>
          </a:p>
        </p:txBody>
      </p:sp>
      <p:sp>
        <p:nvSpPr>
          <p:cNvPr id="21" name="Rounded Rectangle 20"/>
          <p:cNvSpPr/>
          <p:nvPr/>
        </p:nvSpPr>
        <p:spPr>
          <a:xfrm>
            <a:off x="73152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22" name="Rounded Rectangle 21"/>
          <p:cNvSpPr/>
          <p:nvPr/>
        </p:nvSpPr>
        <p:spPr>
          <a:xfrm>
            <a:off x="86868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23" name="Rounded Rectangle 22"/>
          <p:cNvSpPr/>
          <p:nvPr/>
        </p:nvSpPr>
        <p:spPr>
          <a:xfrm>
            <a:off x="100584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7C56A9"/>
                </a:solidFill>
                <a:latin typeface="Inter"/>
              </a:rPr>
              <a:t>🟢 </a:t>
            </a:r>
          </a:p>
        </p:txBody>
      </p:sp>
      <p:sp>
        <p:nvSpPr>
          <p:cNvPr id="24" name="TextBox 23"/>
          <p:cNvSpPr txBox="1"/>
          <p:nvPr/>
        </p:nvSpPr>
        <p:spPr>
          <a:xfrm>
            <a:off x="731520" y="5111496"/>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género + concordancia</a:t>
            </a:r>
          </a:p>
        </p:txBody>
      </p:sp>
      <p:sp>
        <p:nvSpPr>
          <p:cNvPr id="25" name="Rounded Rectangle 24"/>
          <p:cNvSpPr/>
          <p:nvPr/>
        </p:nvSpPr>
        <p:spPr>
          <a:xfrm>
            <a:off x="73152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26" name="Rounded Rectangle 25"/>
          <p:cNvSpPr/>
          <p:nvPr/>
        </p:nvSpPr>
        <p:spPr>
          <a:xfrm>
            <a:off x="86868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27" name="Rounded Rectangle 26"/>
          <p:cNvSpPr/>
          <p:nvPr/>
        </p:nvSpPr>
        <p:spPr>
          <a:xfrm>
            <a:off x="100584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7C56A9"/>
                </a:solidFill>
                <a:latin typeface="Inter"/>
              </a:rPr>
              <a:t>🟢 </a:t>
            </a:r>
          </a:p>
        </p:txBody>
      </p:sp>
      <p:sp>
        <p:nvSpPr>
          <p:cNvPr id="28" name="TextBox 27"/>
          <p:cNvSpPr txBox="1"/>
          <p:nvPr/>
        </p:nvSpPr>
        <p:spPr>
          <a:xfrm>
            <a:off x="731520" y="5495544"/>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país/nacionalidad/lengua</a:t>
            </a:r>
          </a:p>
        </p:txBody>
      </p:sp>
      <p:sp>
        <p:nvSpPr>
          <p:cNvPr id="29" name="Rounded Rectangle 28"/>
          <p:cNvSpPr/>
          <p:nvPr/>
        </p:nvSpPr>
        <p:spPr>
          <a:xfrm>
            <a:off x="73152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30" name="Rounded Rectangle 29"/>
          <p:cNvSpPr/>
          <p:nvPr/>
        </p:nvSpPr>
        <p:spPr>
          <a:xfrm>
            <a:off x="86868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31" name="Rounded Rectangle 30"/>
          <p:cNvSpPr/>
          <p:nvPr/>
        </p:nvSpPr>
        <p:spPr>
          <a:xfrm>
            <a:off x="100584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7C56A9"/>
                </a:solidFill>
                <a:latin typeface="Inter"/>
              </a:rPr>
              <a:t>🟢 </a:t>
            </a:r>
          </a:p>
        </p:txBody>
      </p:sp>
      <p:sp>
        <p:nvSpPr>
          <p:cNvPr id="32" name="TextBox 31"/>
          <p:cNvSpPr txBox="1"/>
          <p:nvPr/>
        </p:nvSpPr>
        <p:spPr>
          <a:xfrm>
            <a:off x="731520" y="5879592"/>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leer un perfil + escribir una tarjeta</a:t>
            </a:r>
          </a:p>
        </p:txBody>
      </p:sp>
      <p:sp>
        <p:nvSpPr>
          <p:cNvPr id="33" name="Rounded Rectangle 32"/>
          <p:cNvSpPr/>
          <p:nvPr/>
        </p:nvSpPr>
        <p:spPr>
          <a:xfrm>
            <a:off x="73152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34" name="Rounded Rectangle 33"/>
          <p:cNvSpPr/>
          <p:nvPr/>
        </p:nvSpPr>
        <p:spPr>
          <a:xfrm>
            <a:off x="86868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35" name="Rounded Rectangle 34"/>
          <p:cNvSpPr/>
          <p:nvPr/>
        </p:nvSpPr>
        <p:spPr>
          <a:xfrm>
            <a:off x="100584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7C56A9"/>
                </a:solidFill>
                <a:latin typeface="Inter"/>
              </a:rPr>
              <a:t>🟢 </a:t>
            </a:r>
          </a:p>
        </p:txBody>
      </p:sp>
      <p:sp>
        <p:nvSpPr>
          <p:cNvPr id="36" name="Rectangle 35"/>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7C56A9"/>
                </a:solidFill>
                <a:latin typeface="Inter"/>
              </a:rPr>
              <a:t>● </a:t>
            </a:r>
            <a:r>
              <a:rPr sz="950" b="0" i="0">
                <a:solidFill>
                  <a:srgbClr val="6A6E78"/>
                </a:solidFill>
                <a:latin typeface="Inter"/>
              </a:rPr>
              <a:t>U0 · ¡VOLVEMOS!   ·   C6+ · el reencuentro</a:t>
            </a:r>
          </a:p>
        </p:txBody>
      </p:sp>
      <p:sp>
        <p:nvSpPr>
          <p:cNvPr id="38" name="TextBox 37"/>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Leerlingenversie — klik onthult</a:t>
            </a:r>
          </a:p>
        </p:txBody>
      </p:sp>
      <p:sp>
        <p:nvSpPr>
          <p:cNvPr id="39" name="TextBox 38"/>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5B3E83"/>
                </a:solidFill>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5B3E83"/>
                </a:solidFill>
                <a:latin typeface="Inter"/>
              </a:rPr>
              <a:t>RETO 3 · SIMULATIE MET BEPERKING</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La entrevista de trabajo absurda</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EE8F5"/>
                </a:solidFill>
                <a:latin typeface="Inter"/>
              </a:rPr>
              <a:t>👥 En parejas</a:t>
            </a:r>
          </a:p>
          <a:p>
            <a:pPr algn="r"/>
            <a:r>
              <a:rPr sz="1000">
                <a:solidFill>
                  <a:srgbClr val="EEE8F5"/>
                </a:solidFill>
                <a:latin typeface="Inter"/>
              </a:rPr>
              <a:t>± 15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5B3E83"/>
                </a:solidFill>
                <a:latin typeface="Bricolage Grotesque"/>
              </a:rPr>
              <a:t>Probador de camas. Cuidador de pandas. Catador de helados. Y hay que convencer.</a:t>
            </a:r>
          </a:p>
          <a:p>
            <a:pPr algn="l"/>
            <a:r>
              <a:rPr sz="1100" i="1">
                <a:solidFill>
                  <a:srgbClr val="6A6E78"/>
                </a:solidFill>
                <a:latin typeface="Inter"/>
              </a:rPr>
              <a:t>Beroepsslaper. Pandaverzorger. IJsproever. En je moet overtuigen.</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Alles in het presente — geen verleden, geen toekomst. En op elke vraag antwoord je met een reden («porque…»), nooit met alleen «sí».</a:t>
            </a:r>
          </a:p>
        </p:txBody>
      </p:sp>
      <p:sp>
        <p:nvSpPr>
          <p:cNvPr id="11" name="Tarjeta 0"/>
          <p:cNvSpPr/>
          <p:nvPr/>
        </p:nvSpPr>
        <p:spPr>
          <a:xfrm>
            <a:off x="457200"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probador/-a de camas</a:t>
            </a:r>
          </a:p>
          <a:p>
            <a:pPr algn="l"/>
            <a:r>
              <a:rPr sz="1000">
                <a:solidFill>
                  <a:srgbClr val="20242E"/>
                </a:solidFill>
                <a:latin typeface="Inter"/>
              </a:rPr>
              <a:t>duermes ocho horas al día, por trabajo</a:t>
            </a:r>
          </a:p>
        </p:txBody>
      </p:sp>
      <p:sp>
        <p:nvSpPr>
          <p:cNvPr id="13" name="Tarjeta 1"/>
          <p:cNvSpPr/>
          <p:nvPr/>
        </p:nvSpPr>
        <p:spPr>
          <a:xfrm>
            <a:off x="3312414"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rjetaTxt 1"/>
          <p:cNvSpPr txBox="1"/>
          <p:nvPr/>
        </p:nvSpPr>
        <p:spPr>
          <a:xfrm>
            <a:off x="3403854"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cuidador/-a de pandas</a:t>
            </a:r>
          </a:p>
          <a:p>
            <a:pPr algn="l"/>
            <a:r>
              <a:rPr sz="1000">
                <a:solidFill>
                  <a:srgbClr val="20242E"/>
                </a:solidFill>
                <a:latin typeface="Inter"/>
              </a:rPr>
              <a:t>en China, con dos pandas de un año</a:t>
            </a:r>
          </a:p>
        </p:txBody>
      </p:sp>
      <p:sp>
        <p:nvSpPr>
          <p:cNvPr id="15" name="Tarjeta 2"/>
          <p:cNvSpPr/>
          <p:nvPr/>
        </p:nvSpPr>
        <p:spPr>
          <a:xfrm>
            <a:off x="6167628"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2"/>
          <p:cNvSpPr txBox="1"/>
          <p:nvPr/>
        </p:nvSpPr>
        <p:spPr>
          <a:xfrm>
            <a:off x="6259068"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catador/-a de helados</a:t>
            </a:r>
          </a:p>
          <a:p>
            <a:pPr algn="l"/>
            <a:r>
              <a:rPr sz="1000">
                <a:solidFill>
                  <a:srgbClr val="20242E"/>
                </a:solidFill>
                <a:latin typeface="Inter"/>
              </a:rPr>
              <a:t>veinte sabores al día, todo el año</a:t>
            </a:r>
          </a:p>
        </p:txBody>
      </p:sp>
      <p:sp>
        <p:nvSpPr>
          <p:cNvPr id="17" name="Tarjeta 3"/>
          <p:cNvSpPr/>
          <p:nvPr/>
        </p:nvSpPr>
        <p:spPr>
          <a:xfrm>
            <a:off x="9022842"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arjetaTxt 3"/>
          <p:cNvSpPr txBox="1"/>
          <p:nvPr/>
        </p:nvSpPr>
        <p:spPr>
          <a:xfrm>
            <a:off x="9114282"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paseador/-a de perros</a:t>
            </a:r>
          </a:p>
          <a:p>
            <a:pPr algn="l"/>
            <a:r>
              <a:rPr sz="1000">
                <a:solidFill>
                  <a:srgbClr val="20242E"/>
                </a:solidFill>
                <a:latin typeface="Inter"/>
              </a:rPr>
              <a:t>quince perros a la vez, en el centro</a:t>
            </a:r>
          </a:p>
        </p:txBody>
      </p:sp>
      <p:sp>
        <p:nvSpPr>
          <p:cNvPr id="19" name="Tarjeta 4"/>
          <p:cNvSpPr/>
          <p:nvPr/>
        </p:nvSpPr>
        <p:spPr>
          <a:xfrm>
            <a:off x="457200"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4"/>
          <p:cNvSpPr txBox="1"/>
          <p:nvPr/>
        </p:nvSpPr>
        <p:spPr>
          <a:xfrm>
            <a:off x="548640"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probador/-a de toboganes</a:t>
            </a:r>
          </a:p>
          <a:p>
            <a:pPr algn="l"/>
            <a:r>
              <a:rPr sz="1000">
                <a:solidFill>
                  <a:srgbClr val="20242E"/>
                </a:solidFill>
                <a:latin typeface="Inter"/>
              </a:rPr>
              <a:t>en parques acuáticos de todo el mundo</a:t>
            </a:r>
          </a:p>
        </p:txBody>
      </p:sp>
      <p:sp>
        <p:nvSpPr>
          <p:cNvPr id="21" name="Tarjeta 5"/>
          <p:cNvSpPr/>
          <p:nvPr/>
        </p:nvSpPr>
        <p:spPr>
          <a:xfrm>
            <a:off x="3312414"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arjetaTxt 5"/>
          <p:cNvSpPr txBox="1"/>
          <p:nvPr/>
        </p:nvSpPr>
        <p:spPr>
          <a:xfrm>
            <a:off x="3403854"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oledor/-a de perfumes</a:t>
            </a:r>
          </a:p>
          <a:p>
            <a:pPr algn="l"/>
            <a:r>
              <a:rPr sz="1000">
                <a:solidFill>
                  <a:srgbClr val="20242E"/>
                </a:solidFill>
                <a:latin typeface="Inter"/>
              </a:rPr>
              <a:t>y no puedes resfriarte nunca</a:t>
            </a:r>
          </a:p>
        </p:txBody>
      </p:sp>
      <p:sp>
        <p:nvSpPr>
          <p:cNvPr id="23" name="Tarjeta 6"/>
          <p:cNvSpPr/>
          <p:nvPr/>
        </p:nvSpPr>
        <p:spPr>
          <a:xfrm>
            <a:off x="6167628"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jetaTxt 6"/>
          <p:cNvSpPr txBox="1"/>
          <p:nvPr/>
        </p:nvSpPr>
        <p:spPr>
          <a:xfrm>
            <a:off x="6259068"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Preguntas</a:t>
            </a:r>
          </a:p>
          <a:p>
            <a:pPr algn="l"/>
            <a:r>
              <a:rPr sz="1000">
                <a:solidFill>
                  <a:srgbClr val="20242E"/>
                </a:solidFill>
                <a:latin typeface="Inter"/>
              </a:rPr>
              <a:t>¿Por qué quiere este trabajo? · ¿Qué hace usted un día normal? · ¿Cuál es su mayor defecto?</a:t>
            </a:r>
          </a:p>
        </p:txBody>
      </p:sp>
      <p:sp>
        <p:nvSpPr>
          <p:cNvPr id="25" name="Tarjeta 7"/>
          <p:cNvSpPr/>
          <p:nvPr/>
        </p:nvSpPr>
        <p:spPr>
          <a:xfrm>
            <a:off x="9022842"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rjetaTxt 7"/>
          <p:cNvSpPr txBox="1"/>
          <p:nvPr/>
        </p:nvSpPr>
        <p:spPr>
          <a:xfrm>
            <a:off x="9114282"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Preguntas</a:t>
            </a:r>
          </a:p>
          <a:p>
            <a:pPr algn="l"/>
            <a:r>
              <a:rPr sz="1000">
                <a:solidFill>
                  <a:srgbClr val="20242E"/>
                </a:solidFill>
                <a:latin typeface="Inter"/>
              </a:rPr>
              <a:t>¿Trabaja mejor solo o en equipo? · ¿Qué hace si algo sale mal? · ¿Cuántas horas duerme?</a:t>
            </a:r>
          </a:p>
        </p:txBody>
      </p:sp>
      <p:sp>
        <p:nvSpPr>
          <p:cNvPr id="27" name="Tarjeta 8"/>
          <p:cNvSpPr/>
          <p:nvPr/>
        </p:nvSpPr>
        <p:spPr>
          <a:xfrm>
            <a:off x="457200"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rjetaTxt 8"/>
          <p:cNvSpPr txBox="1"/>
          <p:nvPr/>
        </p:nvSpPr>
        <p:spPr>
          <a:xfrm>
            <a:off x="548640"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Preguntas</a:t>
            </a:r>
          </a:p>
          <a:p>
            <a:pPr algn="l"/>
            <a:r>
              <a:rPr sz="1000">
                <a:solidFill>
                  <a:srgbClr val="20242E"/>
                </a:solidFill>
                <a:latin typeface="Inter"/>
              </a:rPr>
              <a:t>¿Habla otras lenguas? · ¿Por qué usted y no otro?</a:t>
            </a:r>
          </a:p>
        </p:txBody>
      </p:sp>
      <p:sp>
        <p:nvSpPr>
          <p:cNvPr id="29" name="Tarjeta 9"/>
          <p:cNvSpPr/>
          <p:nvPr/>
        </p:nvSpPr>
        <p:spPr>
          <a:xfrm>
            <a:off x="3312414"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arjetaTxt 9"/>
          <p:cNvSpPr txBox="1"/>
          <p:nvPr/>
        </p:nvSpPr>
        <p:spPr>
          <a:xfrm>
            <a:off x="3403854"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Quiero este trabajo porque …</a:t>
            </a:r>
          </a:p>
        </p:txBody>
      </p:sp>
      <p:sp>
        <p:nvSpPr>
          <p:cNvPr id="31" name="Tarjeta 10"/>
          <p:cNvSpPr/>
          <p:nvPr/>
        </p:nvSpPr>
        <p:spPr>
          <a:xfrm>
            <a:off x="6167628"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arjetaTxt 10"/>
          <p:cNvSpPr txBox="1"/>
          <p:nvPr/>
        </p:nvSpPr>
        <p:spPr>
          <a:xfrm>
            <a:off x="6259068"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Normalmente … y después …</a:t>
            </a:r>
          </a:p>
        </p:txBody>
      </p:sp>
      <p:sp>
        <p:nvSpPr>
          <p:cNvPr id="33" name="Tarjeta 11"/>
          <p:cNvSpPr/>
          <p:nvPr/>
        </p:nvSpPr>
        <p:spPr>
          <a:xfrm>
            <a:off x="9022842"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arjetaTxt 11"/>
          <p:cNvSpPr txBox="1"/>
          <p:nvPr/>
        </p:nvSpPr>
        <p:spPr>
          <a:xfrm>
            <a:off x="9114282"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Mi defecto es que … , pero …</a:t>
            </a:r>
          </a:p>
        </p:txBody>
      </p:sp>
      <p:sp>
        <p:nvSpPr>
          <p:cNvPr id="35" name="Tarjeta 12"/>
          <p:cNvSpPr/>
          <p:nvPr/>
        </p:nvSpPr>
        <p:spPr>
          <a:xfrm>
            <a:off x="457200" y="5749290"/>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arjetaTxt 12"/>
          <p:cNvSpPr txBox="1"/>
          <p:nvPr/>
        </p:nvSpPr>
        <p:spPr>
          <a:xfrm>
            <a:off x="548640" y="5804154"/>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Si algo sale mal, …</a:t>
            </a:r>
          </a:p>
        </p:txBody>
      </p:sp>
      <p:sp>
        <p:nvSpPr>
          <p:cNvPr id="37" name="Tarjeta 13"/>
          <p:cNvSpPr/>
          <p:nvPr/>
        </p:nvSpPr>
        <p:spPr>
          <a:xfrm>
            <a:off x="3312414" y="5749290"/>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arjetaTxt 13"/>
          <p:cNvSpPr txBox="1"/>
          <p:nvPr/>
        </p:nvSpPr>
        <p:spPr>
          <a:xfrm>
            <a:off x="3403854" y="5804154"/>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Soy la persona ideal porque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5B3E83"/>
                </a:solidFill>
                <a:latin typeface="Inter"/>
              </a:rPr>
              <a:t>RETO 9 · ONDERZOEK &amp; DATA</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Un país en cinco datos</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EE8F5"/>
                </a:solidFill>
                <a:latin typeface="Inter"/>
              </a:rPr>
              <a:t>👤 Solo</a:t>
            </a:r>
          </a:p>
          <a:p>
            <a:pPr algn="r"/>
            <a:r>
              <a:rPr sz="1000">
                <a:solidFill>
                  <a:srgbClr val="EEE8F5"/>
                </a:solidFill>
                <a:latin typeface="Inter"/>
              </a:rPr>
              <a:t>± 15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5B3E83"/>
                </a:solidFill>
                <a:latin typeface="Bricolage Grotesque"/>
              </a:rPr>
              <a:t>Cinco cifras y ni una vez el nombre del país.</a:t>
            </a:r>
          </a:p>
          <a:p>
            <a:pPr algn="l"/>
            <a:r>
              <a:rPr sz="1100" i="1">
                <a:solidFill>
                  <a:srgbClr val="6A6E78"/>
                </a:solidFill>
                <a:latin typeface="Inter"/>
              </a:rPr>
              <a:t>Vijf cijfers en geen enkele keer de naam van het land.</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De landnaam, de hoofdstad en de vlag zijn verboden. Alleen cijfers, en elk cijfer krijgt een zin met een werkwoord — een lijstje getallen is geen presentatie.</a:t>
            </a:r>
          </a:p>
        </p:txBody>
      </p:sp>
      <p:sp>
        <p:nvSpPr>
          <p:cNvPr id="11" name="Tarjeta 0"/>
          <p:cNvSpPr/>
          <p:nvPr/>
        </p:nvSpPr>
        <p:spPr>
          <a:xfrm>
            <a:off x="457200"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Tipos de dato</a:t>
            </a:r>
          </a:p>
          <a:p>
            <a:pPr algn="l"/>
            <a:r>
              <a:rPr sz="1000">
                <a:solidFill>
                  <a:srgbClr val="20242E"/>
                </a:solidFill>
                <a:latin typeface="Inter"/>
              </a:rPr>
              <a:t>habitantes · kilómetros de costa · número de lenguas oficiales</a:t>
            </a:r>
          </a:p>
        </p:txBody>
      </p:sp>
      <p:sp>
        <p:nvSpPr>
          <p:cNvPr id="13" name="Tarjeta 1"/>
          <p:cNvSpPr/>
          <p:nvPr/>
        </p:nvSpPr>
        <p:spPr>
          <a:xfrm>
            <a:off x="3312414"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rjetaTxt 1"/>
          <p:cNvSpPr txBox="1"/>
          <p:nvPr/>
        </p:nvSpPr>
        <p:spPr>
          <a:xfrm>
            <a:off x="3403854"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Tipos de dato</a:t>
            </a:r>
          </a:p>
          <a:p>
            <a:pPr algn="l"/>
            <a:r>
              <a:rPr sz="1000">
                <a:solidFill>
                  <a:srgbClr val="20242E"/>
                </a:solidFill>
                <a:latin typeface="Inter"/>
              </a:rPr>
              <a:t>altura de la capital · años de independencia · temperatura media en enero</a:t>
            </a:r>
          </a:p>
        </p:txBody>
      </p:sp>
      <p:sp>
        <p:nvSpPr>
          <p:cNvPr id="15" name="Tarjeta 2"/>
          <p:cNvSpPr/>
          <p:nvPr/>
        </p:nvSpPr>
        <p:spPr>
          <a:xfrm>
            <a:off x="6167628"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2"/>
          <p:cNvSpPr txBox="1"/>
          <p:nvPr/>
        </p:nvSpPr>
        <p:spPr>
          <a:xfrm>
            <a:off x="6259068"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Tipos de dato</a:t>
            </a:r>
          </a:p>
          <a:p>
            <a:pPr algn="l"/>
            <a:r>
              <a:rPr sz="1000">
                <a:solidFill>
                  <a:srgbClr val="20242E"/>
                </a:solidFill>
                <a:latin typeface="Inter"/>
              </a:rPr>
              <a:t>número de países vecinos · porcentaje del país que es selva o montaña</a:t>
            </a:r>
          </a:p>
        </p:txBody>
      </p:sp>
      <p:sp>
        <p:nvSpPr>
          <p:cNvPr id="17" name="Tarjeta 3"/>
          <p:cNvSpPr/>
          <p:nvPr/>
        </p:nvSpPr>
        <p:spPr>
          <a:xfrm>
            <a:off x="9022842"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arjetaTxt 3"/>
          <p:cNvSpPr txBox="1"/>
          <p:nvPr/>
        </p:nvSpPr>
        <p:spPr>
          <a:xfrm>
            <a:off x="9114282" y="2724912"/>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En mi país viven … millones de personas.</a:t>
            </a:r>
          </a:p>
        </p:txBody>
      </p:sp>
      <p:sp>
        <p:nvSpPr>
          <p:cNvPr id="19" name="Tarjeta 4"/>
          <p:cNvSpPr/>
          <p:nvPr/>
        </p:nvSpPr>
        <p:spPr>
          <a:xfrm>
            <a:off x="457200"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4"/>
          <p:cNvSpPr txBox="1"/>
          <p:nvPr/>
        </p:nvSpPr>
        <p:spPr>
          <a:xfrm>
            <a:off x="548640"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Tiene … kilómetros de costa.</a:t>
            </a:r>
          </a:p>
        </p:txBody>
      </p:sp>
      <p:sp>
        <p:nvSpPr>
          <p:cNvPr id="21" name="Tarjeta 5"/>
          <p:cNvSpPr/>
          <p:nvPr/>
        </p:nvSpPr>
        <p:spPr>
          <a:xfrm>
            <a:off x="3312414"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arjetaTxt 5"/>
          <p:cNvSpPr txBox="1"/>
          <p:nvPr/>
        </p:nvSpPr>
        <p:spPr>
          <a:xfrm>
            <a:off x="3403854"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Se hablan … lenguas oficiales.</a:t>
            </a:r>
          </a:p>
        </p:txBody>
      </p:sp>
      <p:sp>
        <p:nvSpPr>
          <p:cNvPr id="23" name="Tarjeta 6"/>
          <p:cNvSpPr/>
          <p:nvPr/>
        </p:nvSpPr>
        <p:spPr>
          <a:xfrm>
            <a:off x="6167628"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jetaTxt 6"/>
          <p:cNvSpPr txBox="1"/>
          <p:nvPr/>
        </p:nvSpPr>
        <p:spPr>
          <a:xfrm>
            <a:off x="6259068"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La capital está a … metros.</a:t>
            </a:r>
          </a:p>
        </p:txBody>
      </p:sp>
      <p:sp>
        <p:nvSpPr>
          <p:cNvPr id="25" name="Tarjeta 7"/>
          <p:cNvSpPr/>
          <p:nvPr/>
        </p:nvSpPr>
        <p:spPr>
          <a:xfrm>
            <a:off x="9022842"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rjetaTxt 7"/>
          <p:cNvSpPr txBox="1"/>
          <p:nvPr/>
        </p:nvSpPr>
        <p:spPr>
          <a:xfrm>
            <a:off x="9114282"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Limita con … países.</a:t>
            </a:r>
          </a:p>
        </p:txBody>
      </p:sp>
      <p:sp>
        <p:nvSpPr>
          <p:cNvPr id="27" name="Tarjeta 8"/>
          <p:cNvSpPr/>
          <p:nvPr/>
        </p:nvSpPr>
        <p:spPr>
          <a:xfrm>
            <a:off x="457200"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rjetaTxt 8"/>
          <p:cNvSpPr txBox="1"/>
          <p:nvPr/>
        </p:nvSpPr>
        <p:spPr>
          <a:xfrm>
            <a:off x="548640"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dato 1</a:t>
            </a:r>
          </a:p>
          <a:p>
            <a:pPr algn="l"/>
            <a:r>
              <a:rPr sz="1000">
                <a:solidFill>
                  <a:srgbClr val="20242E"/>
                </a:solidFill>
                <a:latin typeface="Inter"/>
              </a:rPr>
              <a:t>Viven unos 6,5 millones de personas.</a:t>
            </a:r>
          </a:p>
        </p:txBody>
      </p:sp>
      <p:sp>
        <p:nvSpPr>
          <p:cNvPr id="29" name="Tarjeta 9"/>
          <p:cNvSpPr/>
          <p:nvPr/>
        </p:nvSpPr>
        <p:spPr>
          <a:xfrm>
            <a:off x="3312414"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arjetaTxt 9"/>
          <p:cNvSpPr txBox="1"/>
          <p:nvPr/>
        </p:nvSpPr>
        <p:spPr>
          <a:xfrm>
            <a:off x="3403854"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dato 2</a:t>
            </a:r>
          </a:p>
          <a:p>
            <a:pPr algn="l"/>
            <a:r>
              <a:rPr sz="1000">
                <a:solidFill>
                  <a:srgbClr val="20242E"/>
                </a:solidFill>
                <a:latin typeface="Inter"/>
              </a:rPr>
              <a:t>Se hablan dos lenguas oficiales.</a:t>
            </a:r>
          </a:p>
        </p:txBody>
      </p:sp>
      <p:sp>
        <p:nvSpPr>
          <p:cNvPr id="31" name="Tarjeta 10"/>
          <p:cNvSpPr/>
          <p:nvPr/>
        </p:nvSpPr>
        <p:spPr>
          <a:xfrm>
            <a:off x="6167628"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arjetaTxt 10"/>
          <p:cNvSpPr txBox="1"/>
          <p:nvPr/>
        </p:nvSpPr>
        <p:spPr>
          <a:xfrm>
            <a:off x="6259068"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dato 3</a:t>
            </a:r>
          </a:p>
          <a:p>
            <a:pPr algn="l"/>
            <a:r>
              <a:rPr sz="1000">
                <a:solidFill>
                  <a:srgbClr val="20242E"/>
                </a:solidFill>
                <a:latin typeface="Inter"/>
              </a:rPr>
              <a:t>No tiene costa.</a:t>
            </a:r>
          </a:p>
        </p:txBody>
      </p:sp>
      <p:sp>
        <p:nvSpPr>
          <p:cNvPr id="33" name="Tarjeta 11"/>
          <p:cNvSpPr/>
          <p:nvPr/>
        </p:nvSpPr>
        <p:spPr>
          <a:xfrm>
            <a:off x="9022842"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arjetaTxt 11"/>
          <p:cNvSpPr txBox="1"/>
          <p:nvPr/>
        </p:nvSpPr>
        <p:spPr>
          <a:xfrm>
            <a:off x="9114282"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dato 4</a:t>
            </a:r>
          </a:p>
          <a:p>
            <a:pPr algn="l"/>
            <a:r>
              <a:rPr sz="1000">
                <a:solidFill>
                  <a:srgbClr val="20242E"/>
                </a:solidFill>
                <a:latin typeface="Inter"/>
              </a:rPr>
              <a:t>Limita con cinco países.</a:t>
            </a:r>
          </a:p>
        </p:txBody>
      </p:sp>
      <p:sp>
        <p:nvSpPr>
          <p:cNvPr id="35" name="Tarjeta 12"/>
          <p:cNvSpPr/>
          <p:nvPr/>
        </p:nvSpPr>
        <p:spPr>
          <a:xfrm>
            <a:off x="457200" y="5749290"/>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arjetaTxt 12"/>
          <p:cNvSpPr txBox="1"/>
          <p:nvPr/>
        </p:nvSpPr>
        <p:spPr>
          <a:xfrm>
            <a:off x="548640" y="5804154"/>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dato 5</a:t>
            </a:r>
          </a:p>
          <a:p>
            <a:pPr algn="l"/>
            <a:r>
              <a:rPr sz="1000">
                <a:solidFill>
                  <a:srgbClr val="20242E"/>
                </a:solidFill>
                <a:latin typeface="Inter"/>
              </a:rPr>
              <a:t>El 90 % habla una lengua indígena.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7C5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5B3E83"/>
                </a:solidFill>
                <a:latin typeface="Inter"/>
              </a:rPr>
              <a:t>RETO 10 · ONDERHANDELING &amp; DILEMMA</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La clase perfecta</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EE8F5"/>
                </a:solidFill>
                <a:latin typeface="Inter"/>
              </a:rPr>
              <a:t>🏫 Toda la clase</a:t>
            </a:r>
          </a:p>
          <a:p>
            <a:pPr algn="r"/>
            <a:r>
              <a:rPr sz="1000">
                <a:solidFill>
                  <a:srgbClr val="EEE8F5"/>
                </a:solidFill>
                <a:latin typeface="Inter"/>
              </a:rPr>
              <a:t>± 18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5B3E83"/>
                </a:solidFill>
                <a:latin typeface="Bricolage Grotesque"/>
              </a:rPr>
              <a:t>Vosotros escribís las reglas de este curso. Pero en español.</a:t>
            </a:r>
          </a:p>
          <a:p>
            <a:pPr algn="l"/>
            <a:r>
              <a:rPr sz="1100" i="1">
                <a:solidFill>
                  <a:srgbClr val="6A6E78"/>
                </a:solidFill>
                <a:latin typeface="Inter"/>
              </a:rPr>
              <a:t>Jullie schrijven de afspraken van dit schooljaar. Maar in het Spaans.</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Elk voorstel bevat een zin met «es» of «está» — «es importante que hablemos español» mag niet, want dat is subjuntivo; «es importante hablar español» wel. Een voorstel zonder ser of estar komt niet op het bord.</a:t>
            </a:r>
          </a:p>
        </p:txBody>
      </p:sp>
      <p:sp>
        <p:nvSpPr>
          <p:cNvPr id="11" name="Tarjeta 0"/>
          <p:cNvSpPr/>
          <p:nvPr/>
        </p:nvSpPr>
        <p:spPr>
          <a:xfrm>
            <a:off x="457200"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2526030" cy="587502"/>
          </a:xfrm>
          <a:prstGeom prst="rect">
            <a:avLst/>
          </a:prstGeom>
          <a:noFill/>
        </p:spPr>
        <p:txBody>
          <a:bodyPr wrap="square" anchor="t" lIns="45720" rIns="45720" tIns="27432" bIns="27432">
            <a:normAutofit/>
          </a:bodyPr>
          <a:lstStyle/>
          <a:p>
            <a:pPr algn="l"/>
            <a:r>
              <a:rPr sz="1100" b="1">
                <a:solidFill>
                  <a:srgbClr val="5B3E83"/>
                </a:solidFill>
                <a:latin typeface="Bricolage Grotesque"/>
              </a:rPr>
              <a:t>ejemplo</a:t>
            </a:r>
          </a:p>
          <a:p>
            <a:pPr algn="l"/>
            <a:r>
              <a:rPr sz="1000">
                <a:solidFill>
                  <a:srgbClr val="20242E"/>
                </a:solidFill>
                <a:latin typeface="Inter"/>
              </a:rPr>
              <a:t>Es importante llegar a tiempo.</a:t>
            </a:r>
          </a:p>
        </p:txBody>
      </p:sp>
      <p:sp>
        <p:nvSpPr>
          <p:cNvPr id="13" name="Onthul 0"/>
          <p:cNvSpPr/>
          <p:nvPr/>
        </p:nvSpPr>
        <p:spPr>
          <a:xfrm>
            <a:off x="548640" y="3275838"/>
            <a:ext cx="2526030" cy="237744"/>
          </a:xfrm>
          <a:prstGeom prst="roundRect">
            <a:avLst>
              <a:gd name="adj" fmla="val 2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nthulTxt 0"/>
          <p:cNvSpPr txBox="1"/>
          <p:nvPr/>
        </p:nvSpPr>
        <p:spPr>
          <a:xfrm>
            <a:off x="566928" y="3275838"/>
            <a:ext cx="2489454" cy="237744"/>
          </a:xfrm>
          <a:prstGeom prst="rect">
            <a:avLst/>
          </a:prstGeom>
          <a:noFill/>
        </p:spPr>
        <p:txBody>
          <a:bodyPr wrap="square" anchor="ctr" lIns="45720" rIns="45720" tIns="27432" bIns="27432">
            <a:normAutofit/>
          </a:bodyPr>
          <a:lstStyle/>
          <a:p>
            <a:pPr algn="l"/>
            <a:r>
              <a:rPr sz="850" b="1">
                <a:solidFill>
                  <a:srgbClr val="5B3E83"/>
                </a:solidFill>
                <a:latin typeface="Inter"/>
              </a:rPr>
              <a:t>una regla de todos</a:t>
            </a:r>
          </a:p>
        </p:txBody>
      </p:sp>
      <p:sp>
        <p:nvSpPr>
          <p:cNvPr id="15" name="Tarjeta 1"/>
          <p:cNvSpPr/>
          <p:nvPr/>
        </p:nvSpPr>
        <p:spPr>
          <a:xfrm>
            <a:off x="3312414"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1"/>
          <p:cNvSpPr txBox="1"/>
          <p:nvPr/>
        </p:nvSpPr>
        <p:spPr>
          <a:xfrm>
            <a:off x="3403854" y="2724912"/>
            <a:ext cx="2526030" cy="587502"/>
          </a:xfrm>
          <a:prstGeom prst="rect">
            <a:avLst/>
          </a:prstGeom>
          <a:noFill/>
        </p:spPr>
        <p:txBody>
          <a:bodyPr wrap="square" anchor="t" lIns="45720" rIns="45720" tIns="27432" bIns="27432">
            <a:normAutofit/>
          </a:bodyPr>
          <a:lstStyle/>
          <a:p>
            <a:pPr algn="l"/>
            <a:r>
              <a:rPr sz="1100" b="1">
                <a:solidFill>
                  <a:srgbClr val="5B3E83"/>
                </a:solidFill>
                <a:latin typeface="Bricolage Grotesque"/>
              </a:rPr>
              <a:t>ejemplo</a:t>
            </a:r>
          </a:p>
          <a:p>
            <a:pPr algn="l"/>
            <a:r>
              <a:rPr sz="1000">
                <a:solidFill>
                  <a:srgbClr val="20242E"/>
                </a:solidFill>
                <a:latin typeface="Inter"/>
              </a:rPr>
              <a:t>Está prohibido usar el móvil en los ejercicios orales.</a:t>
            </a:r>
          </a:p>
        </p:txBody>
      </p:sp>
      <p:sp>
        <p:nvSpPr>
          <p:cNvPr id="17" name="Onthul 1"/>
          <p:cNvSpPr/>
          <p:nvPr/>
        </p:nvSpPr>
        <p:spPr>
          <a:xfrm>
            <a:off x="3403854" y="3275838"/>
            <a:ext cx="2526030" cy="237744"/>
          </a:xfrm>
          <a:prstGeom prst="roundRect">
            <a:avLst>
              <a:gd name="adj" fmla="val 2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nthulTxt 1"/>
          <p:cNvSpPr txBox="1"/>
          <p:nvPr/>
        </p:nvSpPr>
        <p:spPr>
          <a:xfrm>
            <a:off x="3422142" y="3275838"/>
            <a:ext cx="2489454" cy="237744"/>
          </a:xfrm>
          <a:prstGeom prst="rect">
            <a:avLst/>
          </a:prstGeom>
          <a:noFill/>
        </p:spPr>
        <p:txBody>
          <a:bodyPr wrap="square" anchor="ctr" lIns="45720" rIns="45720" tIns="27432" bIns="27432">
            <a:normAutofit/>
          </a:bodyPr>
          <a:lstStyle/>
          <a:p>
            <a:pPr algn="l"/>
            <a:r>
              <a:rPr sz="850" b="1">
                <a:solidFill>
                  <a:srgbClr val="5B3E83"/>
                </a:solidFill>
                <a:latin typeface="Inter"/>
              </a:rPr>
              <a:t>una prohibición</a:t>
            </a:r>
          </a:p>
        </p:txBody>
      </p:sp>
      <p:sp>
        <p:nvSpPr>
          <p:cNvPr id="19" name="Tarjeta 2"/>
          <p:cNvSpPr/>
          <p:nvPr/>
        </p:nvSpPr>
        <p:spPr>
          <a:xfrm>
            <a:off x="6167628"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2"/>
          <p:cNvSpPr txBox="1"/>
          <p:nvPr/>
        </p:nvSpPr>
        <p:spPr>
          <a:xfrm>
            <a:off x="6259068" y="2724912"/>
            <a:ext cx="2526030" cy="587502"/>
          </a:xfrm>
          <a:prstGeom prst="rect">
            <a:avLst/>
          </a:prstGeom>
          <a:noFill/>
        </p:spPr>
        <p:txBody>
          <a:bodyPr wrap="square" anchor="t" lIns="45720" rIns="45720" tIns="27432" bIns="27432">
            <a:normAutofit/>
          </a:bodyPr>
          <a:lstStyle/>
          <a:p>
            <a:pPr algn="l"/>
            <a:r>
              <a:rPr sz="1100" b="1">
                <a:solidFill>
                  <a:srgbClr val="5B3E83"/>
                </a:solidFill>
                <a:latin typeface="Bricolage Grotesque"/>
              </a:rPr>
              <a:t>ejemplo</a:t>
            </a:r>
          </a:p>
          <a:p>
            <a:pPr algn="l"/>
            <a:r>
              <a:rPr sz="1000">
                <a:solidFill>
                  <a:srgbClr val="20242E"/>
                </a:solidFill>
                <a:latin typeface="Inter"/>
              </a:rPr>
              <a:t>Es normal equivocarse: así se aprende.</a:t>
            </a:r>
          </a:p>
        </p:txBody>
      </p:sp>
      <p:sp>
        <p:nvSpPr>
          <p:cNvPr id="21" name="Onthul 2"/>
          <p:cNvSpPr/>
          <p:nvPr/>
        </p:nvSpPr>
        <p:spPr>
          <a:xfrm>
            <a:off x="6259068" y="3275838"/>
            <a:ext cx="2526030" cy="237744"/>
          </a:xfrm>
          <a:prstGeom prst="roundRect">
            <a:avLst>
              <a:gd name="adj" fmla="val 2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nthulTxt 2"/>
          <p:cNvSpPr txBox="1"/>
          <p:nvPr/>
        </p:nvSpPr>
        <p:spPr>
          <a:xfrm>
            <a:off x="6277356" y="3275838"/>
            <a:ext cx="2489454" cy="237744"/>
          </a:xfrm>
          <a:prstGeom prst="rect">
            <a:avLst/>
          </a:prstGeom>
          <a:noFill/>
        </p:spPr>
        <p:txBody>
          <a:bodyPr wrap="square" anchor="ctr" lIns="45720" rIns="45720" tIns="27432" bIns="27432">
            <a:normAutofit/>
          </a:bodyPr>
          <a:lstStyle/>
          <a:p>
            <a:pPr algn="l"/>
            <a:r>
              <a:rPr sz="850" b="1">
                <a:solidFill>
                  <a:srgbClr val="5B3E83"/>
                </a:solidFill>
                <a:latin typeface="Inter"/>
              </a:rPr>
              <a:t>el clima de la clase</a:t>
            </a:r>
          </a:p>
        </p:txBody>
      </p:sp>
      <p:sp>
        <p:nvSpPr>
          <p:cNvPr id="23" name="Tarjeta 3"/>
          <p:cNvSpPr/>
          <p:nvPr/>
        </p:nvSpPr>
        <p:spPr>
          <a:xfrm>
            <a:off x="9022842" y="2670048"/>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jetaTxt 3"/>
          <p:cNvSpPr txBox="1"/>
          <p:nvPr/>
        </p:nvSpPr>
        <p:spPr>
          <a:xfrm>
            <a:off x="9114282" y="2724912"/>
            <a:ext cx="2526030" cy="587502"/>
          </a:xfrm>
          <a:prstGeom prst="rect">
            <a:avLst/>
          </a:prstGeom>
          <a:noFill/>
        </p:spPr>
        <p:txBody>
          <a:bodyPr wrap="square" anchor="t" lIns="45720" rIns="45720" tIns="27432" bIns="27432">
            <a:normAutofit/>
          </a:bodyPr>
          <a:lstStyle/>
          <a:p>
            <a:pPr algn="l"/>
            <a:r>
              <a:rPr sz="1100" b="1">
                <a:solidFill>
                  <a:srgbClr val="5B3E83"/>
                </a:solidFill>
                <a:latin typeface="Bricolage Grotesque"/>
              </a:rPr>
              <a:t>ejemplo</a:t>
            </a:r>
          </a:p>
          <a:p>
            <a:pPr algn="l"/>
            <a:r>
              <a:rPr sz="1000">
                <a:solidFill>
                  <a:srgbClr val="20242E"/>
                </a:solidFill>
                <a:latin typeface="Inter"/>
              </a:rPr>
              <a:t>Estamos aquí para hablar, no solo para escribir.</a:t>
            </a:r>
          </a:p>
        </p:txBody>
      </p:sp>
      <p:sp>
        <p:nvSpPr>
          <p:cNvPr id="25" name="Onthul 3"/>
          <p:cNvSpPr/>
          <p:nvPr/>
        </p:nvSpPr>
        <p:spPr>
          <a:xfrm>
            <a:off x="9114282" y="3275838"/>
            <a:ext cx="2526030" cy="237744"/>
          </a:xfrm>
          <a:prstGeom prst="roundRect">
            <a:avLst>
              <a:gd name="adj" fmla="val 2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nthulTxt 3"/>
          <p:cNvSpPr txBox="1"/>
          <p:nvPr/>
        </p:nvSpPr>
        <p:spPr>
          <a:xfrm>
            <a:off x="9132570" y="3275838"/>
            <a:ext cx="2489454" cy="237744"/>
          </a:xfrm>
          <a:prstGeom prst="rect">
            <a:avLst/>
          </a:prstGeom>
          <a:noFill/>
        </p:spPr>
        <p:txBody>
          <a:bodyPr wrap="square" anchor="ctr" lIns="45720" rIns="45720" tIns="27432" bIns="27432">
            <a:normAutofit/>
          </a:bodyPr>
          <a:lstStyle/>
          <a:p>
            <a:pPr algn="l"/>
            <a:r>
              <a:rPr sz="850" b="1">
                <a:solidFill>
                  <a:srgbClr val="5B3E83"/>
                </a:solidFill>
                <a:latin typeface="Inter"/>
              </a:rPr>
              <a:t>la prioridad</a:t>
            </a:r>
          </a:p>
        </p:txBody>
      </p:sp>
      <p:sp>
        <p:nvSpPr>
          <p:cNvPr id="27" name="Tarjeta 4"/>
          <p:cNvSpPr/>
          <p:nvPr/>
        </p:nvSpPr>
        <p:spPr>
          <a:xfrm>
            <a:off x="457200"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rjetaTxt 4"/>
          <p:cNvSpPr txBox="1"/>
          <p:nvPr/>
        </p:nvSpPr>
        <p:spPr>
          <a:xfrm>
            <a:off x="548640" y="3751326"/>
            <a:ext cx="2526030" cy="587502"/>
          </a:xfrm>
          <a:prstGeom prst="rect">
            <a:avLst/>
          </a:prstGeom>
          <a:noFill/>
        </p:spPr>
        <p:txBody>
          <a:bodyPr wrap="square" anchor="t" lIns="45720" rIns="45720" tIns="27432" bIns="27432">
            <a:normAutofit/>
          </a:bodyPr>
          <a:lstStyle/>
          <a:p>
            <a:pPr algn="l"/>
            <a:r>
              <a:rPr sz="1100" b="1">
                <a:solidFill>
                  <a:srgbClr val="5B3E83"/>
                </a:solidFill>
                <a:latin typeface="Bricolage Grotesque"/>
              </a:rPr>
              <a:t>ejemplo</a:t>
            </a:r>
          </a:p>
          <a:p>
            <a:pPr algn="l"/>
            <a:r>
              <a:rPr sz="1000">
                <a:solidFill>
                  <a:srgbClr val="20242E"/>
                </a:solidFill>
                <a:latin typeface="Inter"/>
              </a:rPr>
              <a:t>Es mejor preguntar que quedarse callado.</a:t>
            </a:r>
          </a:p>
        </p:txBody>
      </p:sp>
      <p:sp>
        <p:nvSpPr>
          <p:cNvPr id="29" name="Onthul 4"/>
          <p:cNvSpPr/>
          <p:nvPr/>
        </p:nvSpPr>
        <p:spPr>
          <a:xfrm>
            <a:off x="548640" y="4302252"/>
            <a:ext cx="2526030" cy="237744"/>
          </a:xfrm>
          <a:prstGeom prst="roundRect">
            <a:avLst>
              <a:gd name="adj" fmla="val 20000"/>
            </a:avLst>
          </a:prstGeom>
          <a:solidFill>
            <a:srgbClr val="EE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nthulTxt 4"/>
          <p:cNvSpPr txBox="1"/>
          <p:nvPr/>
        </p:nvSpPr>
        <p:spPr>
          <a:xfrm>
            <a:off x="566928" y="4302252"/>
            <a:ext cx="2489454" cy="237744"/>
          </a:xfrm>
          <a:prstGeom prst="rect">
            <a:avLst/>
          </a:prstGeom>
          <a:noFill/>
        </p:spPr>
        <p:txBody>
          <a:bodyPr wrap="square" anchor="ctr" lIns="45720" rIns="45720" tIns="27432" bIns="27432">
            <a:normAutofit/>
          </a:bodyPr>
          <a:lstStyle/>
          <a:p>
            <a:pPr algn="l"/>
            <a:r>
              <a:rPr sz="850" b="1">
                <a:solidFill>
                  <a:srgbClr val="5B3E83"/>
                </a:solidFill>
                <a:latin typeface="Inter"/>
              </a:rPr>
              <a:t>una invitación</a:t>
            </a:r>
          </a:p>
        </p:txBody>
      </p:sp>
      <p:sp>
        <p:nvSpPr>
          <p:cNvPr id="31" name="Tarjeta 5"/>
          <p:cNvSpPr/>
          <p:nvPr/>
        </p:nvSpPr>
        <p:spPr>
          <a:xfrm>
            <a:off x="3312414"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arjetaTxt 5"/>
          <p:cNvSpPr txBox="1"/>
          <p:nvPr/>
        </p:nvSpPr>
        <p:spPr>
          <a:xfrm>
            <a:off x="3403854"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Es importante …</a:t>
            </a:r>
          </a:p>
        </p:txBody>
      </p:sp>
      <p:sp>
        <p:nvSpPr>
          <p:cNvPr id="33" name="Tarjeta 6"/>
          <p:cNvSpPr/>
          <p:nvPr/>
        </p:nvSpPr>
        <p:spPr>
          <a:xfrm>
            <a:off x="6167628"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arjetaTxt 6"/>
          <p:cNvSpPr txBox="1"/>
          <p:nvPr/>
        </p:nvSpPr>
        <p:spPr>
          <a:xfrm>
            <a:off x="6259068"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Está prohibido …</a:t>
            </a:r>
          </a:p>
        </p:txBody>
      </p:sp>
      <p:sp>
        <p:nvSpPr>
          <p:cNvPr id="35" name="Tarjeta 7"/>
          <p:cNvSpPr/>
          <p:nvPr/>
        </p:nvSpPr>
        <p:spPr>
          <a:xfrm>
            <a:off x="9022842" y="3696462"/>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arjetaTxt 7"/>
          <p:cNvSpPr txBox="1"/>
          <p:nvPr/>
        </p:nvSpPr>
        <p:spPr>
          <a:xfrm>
            <a:off x="9114282" y="3751326"/>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Es mejor … que …</a:t>
            </a:r>
          </a:p>
        </p:txBody>
      </p:sp>
      <p:sp>
        <p:nvSpPr>
          <p:cNvPr id="37" name="Tarjeta 8"/>
          <p:cNvSpPr/>
          <p:nvPr/>
        </p:nvSpPr>
        <p:spPr>
          <a:xfrm>
            <a:off x="457200"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arjetaTxt 8"/>
          <p:cNvSpPr txBox="1"/>
          <p:nvPr/>
        </p:nvSpPr>
        <p:spPr>
          <a:xfrm>
            <a:off x="548640"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Estamos aquí para …</a:t>
            </a:r>
          </a:p>
        </p:txBody>
      </p:sp>
      <p:sp>
        <p:nvSpPr>
          <p:cNvPr id="39" name="Tarjeta 9"/>
          <p:cNvSpPr/>
          <p:nvPr/>
        </p:nvSpPr>
        <p:spPr>
          <a:xfrm>
            <a:off x="3312414"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arjetaTxt 9"/>
          <p:cNvSpPr txBox="1"/>
          <p:nvPr/>
        </p:nvSpPr>
        <p:spPr>
          <a:xfrm>
            <a:off x="3403854"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marco</a:t>
            </a:r>
          </a:p>
          <a:p>
            <a:pPr algn="l"/>
            <a:r>
              <a:rPr sz="1000">
                <a:solidFill>
                  <a:srgbClr val="20242E"/>
                </a:solidFill>
                <a:latin typeface="Inter"/>
              </a:rPr>
              <a:t>No es justo que …</a:t>
            </a:r>
          </a:p>
        </p:txBody>
      </p:sp>
      <p:sp>
        <p:nvSpPr>
          <p:cNvPr id="41" name="Tarjeta 10"/>
          <p:cNvSpPr/>
          <p:nvPr/>
        </p:nvSpPr>
        <p:spPr>
          <a:xfrm>
            <a:off x="6167628"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arjetaTxt 10"/>
          <p:cNvSpPr txBox="1"/>
          <p:nvPr/>
        </p:nvSpPr>
        <p:spPr>
          <a:xfrm>
            <a:off x="6259068"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El dilema</a:t>
            </a:r>
          </a:p>
          <a:p>
            <a:pPr algn="l"/>
            <a:r>
              <a:rPr sz="1000">
                <a:solidFill>
                  <a:srgbClr val="20242E"/>
                </a:solidFill>
                <a:latin typeface="Inter"/>
              </a:rPr>
              <a:t>¿Se corrige delante de toda la clase o no?</a:t>
            </a:r>
          </a:p>
        </p:txBody>
      </p:sp>
      <p:sp>
        <p:nvSpPr>
          <p:cNvPr id="43" name="Tarjeta 11"/>
          <p:cNvSpPr/>
          <p:nvPr/>
        </p:nvSpPr>
        <p:spPr>
          <a:xfrm>
            <a:off x="9022842" y="4722876"/>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arjetaTxt 11"/>
          <p:cNvSpPr txBox="1"/>
          <p:nvPr/>
        </p:nvSpPr>
        <p:spPr>
          <a:xfrm>
            <a:off x="9114282" y="4777740"/>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El dilema</a:t>
            </a:r>
          </a:p>
          <a:p>
            <a:pPr algn="l"/>
            <a:r>
              <a:rPr sz="1000">
                <a:solidFill>
                  <a:srgbClr val="20242E"/>
                </a:solidFill>
                <a:latin typeface="Inter"/>
              </a:rPr>
              <a:t>¿Se puede usar el traductor?</a:t>
            </a:r>
          </a:p>
        </p:txBody>
      </p:sp>
      <p:sp>
        <p:nvSpPr>
          <p:cNvPr id="45" name="Tarjeta 12"/>
          <p:cNvSpPr/>
          <p:nvPr/>
        </p:nvSpPr>
        <p:spPr>
          <a:xfrm>
            <a:off x="457200" y="5749290"/>
            <a:ext cx="2708910" cy="898398"/>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arjetaTxt 12"/>
          <p:cNvSpPr txBox="1"/>
          <p:nvPr/>
        </p:nvSpPr>
        <p:spPr>
          <a:xfrm>
            <a:off x="548640" y="5804154"/>
            <a:ext cx="2526030" cy="788670"/>
          </a:xfrm>
          <a:prstGeom prst="rect">
            <a:avLst/>
          </a:prstGeom>
          <a:noFill/>
        </p:spPr>
        <p:txBody>
          <a:bodyPr wrap="square" anchor="t" lIns="45720" rIns="45720" tIns="27432" bIns="27432">
            <a:normAutofit/>
          </a:bodyPr>
          <a:lstStyle/>
          <a:p>
            <a:pPr algn="l"/>
            <a:r>
              <a:rPr sz="1100" b="1">
                <a:solidFill>
                  <a:srgbClr val="5B3E83"/>
                </a:solidFill>
                <a:latin typeface="Bricolage Grotesque"/>
              </a:rPr>
              <a:t>El dilema</a:t>
            </a:r>
          </a:p>
          <a:p>
            <a:pPr algn="l"/>
            <a:r>
              <a:rPr sz="1000">
                <a:solidFill>
                  <a:srgbClr val="20242E"/>
                </a:solidFill>
                <a:latin typeface="Inter"/>
              </a:rPr>
              <a:t>¿Qué pasa si alguien no ha estudiado nunca español?</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