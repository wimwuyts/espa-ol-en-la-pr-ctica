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 video van aflevering 8 komt uit GOOGLE DRIVE (er is voor deze aflevering géén YouTube-link): «Spanish Sitcom 8_1080p.mp4», file-id 1zS4KXwLAnG9XrDxH2toHqlNHrGyd9Qv_, deelrechten reader/anyone → INTERNET VEREIST. Klik op de poster om in PowerPoint af te spelen; lukt dat niet, klik dan de knop «▶ Abrir en Drive» (of open de Drive-link zelf in een browser: https://drive.google.com/file/d/1zS4KXwLAnG9XrDxH2toHqlNHrGyd9Qv_/view) — dan speelt de video in het browsertabblad. Aanpak: eerst één keer kijken zónder transcript (globaal begrijpen: Julio doet alsof hij telefoneert om María jaloers te maken), daarna met het transcript en de uren laten noteren. Focus: álle tijdaanduidingen (paars) — «¿qué hora es?», «las ocho y media», «a las once», «a las doce», «esta noche», «más tarde», «ahora mismo», «en veinte minutos». Doelcodes: C4-LU-1 · C4-STR-1 · C4-WS-1.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Werkvorm: wijs een klok aan, de klas zegt de tijd in koor (choral drill), daarna individueel. Laat de klok van 8.30 apart terugkeren — dat is DE valstrik («half negen» = las ocho y media). Wijzerhoeken identiek aan de print/HTML-versie: uurwijzer (h%12)*30 + m*0.5 graden, minuutwijzer m*6 graden. Grijswaarden-veilig: naast de klok staat altijd ook de digitale tijd. Oplossing: 2.30 = son las dos y media · 5.45 = son las seis menos cuarto · 1.15 = es la una y cuarto · 9.00 = son las nueve en punto. Doelcodes: C4-WS-1 · C4-SP-1 · C4-MEC-2.</a:t>
            </a:r>
          </a:p>
          <a:p/>
          <a:p>
            <a:r>
              <a:t>— SOLUCIÓN (docent · presenter view) —</a:t>
            </a:r>
          </a:p>
          <a:p>
            <a:r>
              <a:t>son las dos y media · son las seis menos cuarto · es la una y cuarto · son las nueve en punto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Functioneel: één uur = enkelvoud (es la una · es la una y media), álle andere uren = meervoud (son las dos/ocho/doce). Tot :30 gebruik je «y» (erbij), vanaf :31 «menos» mét het VOLGENDE uur (3.45 = son las cuatro menos cuarto). DE KERNVALSTRIK voor Nederlandstaligen: «half negen» = las ocho y media — het Spaans kijkt terug naar het vórige uur (8 + 30), het Nederlands vooruit (negen). Laat leerlingen dit hardop oefenen met de klokjes-dia. Kleurcode: tijd = paars (§13). Doelcodes: C4-WS-1 · C4-TS-3 · C4-SP-1.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Functioneel contrast: «son las ocho» = het IS 8 u (hoe laat het nú is) ↔ «a las ocho» = OM 8 u (wanneer iets gebeurt, dus bij een afspraak). Enkelvoud blijft ook hier: a LA una. Dagen: el lunes = op (deze) maandag ↔ los lunes = elke maandag; NOOIT «en lunes» (typische NL-transfer) en dagen krijgen in het Spaans een kleine letter. «quedamos» en «quieres» blijven CHUNKS — géén vervoegingsparadigma van quedar/querer aanleren; het werkwoordsysteem komt in het 5de jaar (C5). Oplossing: Es la · Son las · a las.</a:t>
            </a:r>
          </a:p>
          <a:p/>
          <a:p>
            <a:r>
              <a:t>— SOLUCIÓN (docent · presenter view) —</a:t>
            </a:r>
          </a:p>
          <a:p>
            <a:r>
              <a:t>Es la · Son las · a las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Laat leerlingen eerst zelf proberen (in duo, hardop). Klik daarna de oplossing open. Let op: «¿quieres quedar?» = de vaste uitnodiging (chunk); «¿a qué hora?» = hoe laat (afspraak); «a las nueve» mét a; «y media» = +30 (9.30 = las nueve y media, NIET «half tien» vertalen als «nueve y media» denken vanuit het NL — het cijfer blijft 9); «hasta ahora» = tot straks. Oplossing: quedar · hora · las · media · ahora.</a:t>
            </a:r>
          </a:p>
          <a:p/>
          <a:p>
            <a:r>
              <a:t>— SOLUCIÓN (docent · presenter view) —</a:t>
            </a:r>
          </a:p>
          <a:p>
            <a:r>
              <a:t>1. quedar</a:t>
            </a:r>
          </a:p>
          <a:p>
            <a:r>
              <a:t>2. hora</a:t>
            </a:r>
          </a:p>
          <a:p>
            <a:r>
              <a:t>3. las</a:t>
            </a:r>
          </a:p>
          <a:p>
            <a:r>
              <a:t>4. media</a:t>
            </a:r>
          </a:p>
          <a:p>
            <a:r>
              <a:t>5. ahora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8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Relationship Id="rId11" Type="http://schemas.openxmlformats.org/officeDocument/2006/relationships/slide" Target="slide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ve.google.com/file/d/1zS4KXwLAnG9XrDxH2toHqlNHrGyd9Qv_/view" TargetMode="External"/><Relationship Id="rId3" Type="http://schemas.openxmlformats.org/officeDocument/2006/relationships/image" Target="../media/image2.png"/><Relationship Id="rId4" Type="http://schemas.openxmlformats.org/officeDocument/2006/relationships/video" Target="https://drive.google.com/file/d/1zS4KXwLAnG9XrDxH2toHqlNHrGyd9Qv_/preview" TargetMode="External"/><Relationship Id="rId5" Type="http://schemas.microsoft.com/office/2007/relationships/media" Target="https://drive.google.com/file/d/1zS4KXwLAnG9XrDxH2toHqlNHrGyd9Qv_/preview" TargetMode="External"/><Relationship Id="rId6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 hora y los días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¿Qué hora es?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Son las ocho y media.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Zeggen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hoe laat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het is 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afspreken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(es la una · son las ocho · a las doce · el lunes · quedar).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Julio telefoneert met «Laura»… en noemt álle uren.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la hora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es la una · son las ocho · y cuarto · y media · menos cuarto · en punto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Preguntar ¿a qué hora?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a la una · a las doce = «om…»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Los días de la semana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el lunes (op maandag) · los lunes (elke maandag) — kleine letter!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Quedar con alguien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¿quieres quedar? · quedamos a las… · ¿dónde quedamos?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d suave · los números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Los relojes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¿qué hora es? · de klokjes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hora · los días · quedar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es la/son las · a las · el lunes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queda con un compañero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Cultura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los horarios en el mundo hispano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Mi horario</a:t>
            </a:r>
          </a:p>
        </p:txBody>
      </p:sp>
      <p:sp>
        <p:nvSpPr>
          <p:cNvPr id="35" name="Rounded Rectangle 34">
            <a:hlinkClick action="ppaction://hlinksldjump" r:id="rId11"/>
          </p:cNvPr>
          <p:cNvSpPr/>
          <p:nvPr/>
        </p:nvSpPr>
        <p:spPr>
          <a:xfrm>
            <a:off x="3410712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93592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93592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Eén uur is enkelvoud («es la una»), álle andere uren meervoud («son las ocho»). En «half negen» = las ocho y media!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Julio doet alsof hij met «Laura» telefoneert… en noemt álle uren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2763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609344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¿Sí? Laura, ¿cómo estás? ¿Qué? No te oigo nada.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796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961388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¿Esta noche? ¿Quieres quedar esta noche?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3317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313432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Estoy en una fiesta. ¿Puedes hablar más despacio?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8376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665476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Más tarde sí, más tarde puede ser.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03580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017520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Entonces, quedamos en mi casa. ¿A qué hora?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8785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369564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No, a las once no, mejor a las doce.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3989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3721608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¿Qué hora es ahora? ¿Las ocho y media?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09194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4073652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Ahora mismo no puedo quedar.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44398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4425696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Pues no sé, un cine, un restaurante. Es un poco pronto.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960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777740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Te veo en veinte minutos. Hasta ahora. Un beso.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480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129784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Bueno, me voy, es un poco tarde.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50011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María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5481828"/>
            <a:ext cx="53035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Venga, vámonos… A tomar una cerveza.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¿Qué hora es? · las ocho y media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¿A qué hora? · a las once · a las doce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¿Quieres quedar? · quedamos en mi casa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esta noche · más tarde · ahora mismo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 te oigo nada · hasta ahora · un beso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3767328"/>
            <a:ext cx="269748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Episodio 8 — klik om af te spelen</a:t>
            </a:r>
          </a:p>
        </p:txBody>
      </p:sp>
      <p:sp>
        <p:nvSpPr>
          <p:cNvPr id="37" name="Rounded Rectangle 36">
            <a:hlinkClick r:id="rId2"/>
          </p:cNvPr>
          <p:cNvSpPr/>
          <p:nvPr/>
        </p:nvSpPr>
        <p:spPr>
          <a:xfrm>
            <a:off x="10241280" y="3739896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▶ Abrir en Drive</a:t>
            </a:r>
          </a:p>
        </p:txBody>
      </p:sp>
      <p:pic>
        <p:nvPicPr>
          <p:cNvPr id="38" name="Picture 37" descr="video_poster_U8.png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d suave ↔ la d inicial · el acento en los números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zachte d tussen klinkers &amp; waar de klemtoon valt bij getallen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① La d suave · tussen klinkers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242E"/>
                </a:solidFill>
                <a:latin typeface="Inter"/>
              </a:rPr>
              <a:t>na·da · ca·da · me·dia · sá·ba·do · que·dar · adiós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Tussen klinkers is de d héél zacht — bijna als de Engelse «th» in this.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② La d inicial · steviger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0242E"/>
                </a:solidFill>
                <a:latin typeface="Inter"/>
              </a:rPr>
              <a:t>día · dos · doce · domingo · después · despacio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Aan het begin van een woord is de d stevig (zoals in het Nederlands).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Zeg «me</a:t>
            </a:r>
            <a:r>
              <a:rPr sz="1300" b="1" i="0">
                <a:solidFill>
                  <a:srgbClr val="A8323B"/>
                </a:solidFill>
                <a:latin typeface="Inter"/>
              </a:rPr>
              <a:t>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ia» héél zacht — niet als de harde NL «d» in «medisch». Vergelijk: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oce (stevig)  ↔  na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d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 (zacht).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③ El acento en los números · mét of zónder tilde? (helpt je de uren correct zeggen)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die·ci·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SÉIS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vein·ti·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DÓS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↔      ca·</a:t>
            </a:r>
            <a:r>
              <a:rPr sz="2000" b="1" i="0">
                <a:solidFill>
                  <a:srgbClr val="7C3AED"/>
                </a:solidFill>
                <a:latin typeface="Bricolage Grotesque"/>
              </a:rPr>
              <a:t>TOR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·ce      cua·</a:t>
            </a:r>
            <a:r>
              <a:rPr sz="2000" b="1" i="0">
                <a:solidFill>
                  <a:srgbClr val="7C3AED"/>
                </a:solidFill>
                <a:latin typeface="Bricolage Grotesque"/>
              </a:rPr>
              <a:t>REN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42432"/>
            <a:ext cx="111556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Klemtoon op de láátste lettergreep → tilde (dieciséis, veintidós, veintitrés) · klemtoon op de voorlaatste → géén tilde (catorce, cuarenta, treinta).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LOS RELOJES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hora es? — mira los relojes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Lees de klok in het Spaans — let goed op «y media»!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53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39446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4800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9446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86154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394460" y="1884762"/>
            <a:ext cx="0" cy="419526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94460" y="2048982"/>
            <a:ext cx="147401" cy="255306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35331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1.00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Es la una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70205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326898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2252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26898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73606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268980" y="2304288"/>
            <a:ext cx="419526" cy="0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68980" y="2304288"/>
            <a:ext cx="292280" cy="38479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22783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3.15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059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Son las tres y cuarto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2794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76572" y="1737360"/>
            <a:ext cx="1133856" cy="11338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514350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9704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4350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61058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43500" y="2304288"/>
            <a:ext cx="0" cy="419526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4858743" y="2304288"/>
            <a:ext cx="284757" cy="76300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510235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8.30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C2626"/>
                </a:solidFill>
                <a:latin typeface="Bricolage Grotesque"/>
              </a:rPr>
              <a:t>Son las ocho y media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61688" y="1380744"/>
            <a:ext cx="1563624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850" b="1">
                <a:solidFill>
                  <a:srgbClr val="FFFFFF"/>
                </a:solidFill>
                <a:latin typeface="Inter"/>
              </a:rPr>
              <a:t>¡OJO! half negen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2648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5109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701802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747156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01802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648510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598494" y="2304288"/>
            <a:ext cx="419526" cy="0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6905204" y="2304288"/>
            <a:ext cx="112816" cy="272362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97687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6.45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963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Son las siete menos cuarto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0100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2561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889254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4608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89254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835962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892540" y="1884762"/>
            <a:ext cx="0" cy="419526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892540" y="2009486"/>
            <a:ext cx="0" cy="294802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85139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0100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12.00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Son las doce en punto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875520" y="1517904"/>
            <a:ext cx="17830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200132" y="1737360"/>
            <a:ext cx="1133856" cy="1133856"/>
          </a:xfrm>
          <a:prstGeom prst="ellipse">
            <a:avLst/>
          </a:prstGeom>
          <a:solidFill>
            <a:srgbClr val="FFFFFF"/>
          </a:solidFill>
          <a:ln w="2032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 flipV="1">
            <a:off x="10767060" y="1771376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1220602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0767060" y="2757830"/>
            <a:ext cx="0" cy="7937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10234148" y="2304288"/>
            <a:ext cx="79370" cy="0"/>
          </a:xfrm>
          <a:prstGeom prst="line">
            <a:avLst/>
          </a:prstGeom>
          <a:ln w="17780">
            <a:solidFill>
              <a:srgbClr val="E4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10767060" y="2094525"/>
            <a:ext cx="363320" cy="209763"/>
          </a:xfrm>
          <a:prstGeom prst="line">
            <a:avLst/>
          </a:prstGeom>
          <a:ln w="30480">
            <a:solidFill>
              <a:srgbClr val="D645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 flipV="1">
            <a:off x="10473380" y="2278595"/>
            <a:ext cx="293680" cy="25693"/>
          </a:xfrm>
          <a:prstGeom prst="line">
            <a:avLst/>
          </a:prstGeom>
          <a:ln w="45720">
            <a:solidFill>
              <a:srgbClr val="2024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0725912" y="2263140"/>
            <a:ext cx="82296" cy="82296"/>
          </a:xfrm>
          <a:prstGeom prst="ellipse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875520" y="2999232"/>
            <a:ext cx="17830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9.10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48672" y="3328416"/>
            <a:ext cx="1636776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3AED"/>
                </a:solidFill>
                <a:latin typeface="Bricolage Grotesque"/>
              </a:rPr>
              <a:t>Son las nueve y diez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02920" y="4343400"/>
            <a:ext cx="11201400" cy="658368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7240" y="4434840"/>
            <a:ext cx="1069848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A8323B"/>
                </a:solidFill>
                <a:latin typeface="Bricolage Grotesque"/>
              </a:rPr>
              <a:t>Cómo funciona ·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tot :30 →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y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cuarto / media (erbij)   ·   vanaf :31 →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menos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cuarto mét het VÓLGENDE uur (6.45 = son las siete menos cuarto)   ·   exact op het uur →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en punto</a:t>
            </a:r>
            <a:r>
              <a:rPr sz="125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5138928"/>
            <a:ext cx="11155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Di la hora · zeg hardop (klik voor de oplossing): </a:t>
            </a:r>
            <a:r>
              <a:rPr sz="1500" b="1" i="0">
                <a:solidFill>
                  <a:srgbClr val="20242E"/>
                </a:solidFill>
                <a:latin typeface="Inter"/>
              </a:rPr>
              <a:t>2.30  ·  5.45  ·  1.15  ·  9.00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31520" y="5532120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A8323B"/>
                </a:solidFill>
                <a:latin typeface="Inter"/>
              </a:rPr>
              <a:t>son las dos y media · son las seis menos cuarto · es la una y cuarto · son las nueve en punto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68680" y="54041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83" name="Rounded Rectangle 82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hora · los días · los momentos del día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tijd zeggen, de dagen van de week &amp; wanneer op de dag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¿Qué hora es? 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Es la una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één uur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Son las ocho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is acht uur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y cuarto · y media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kwart over · half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menos cuarto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kwart voor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en punto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precies (op het uur)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¿A qué hora?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hoe laat? (afspraak)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Los días de la semana 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lunes · martes · miércoles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ma · di · wo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jueves · viernes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do · 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sábado · domingo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za · zo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el fin de semana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het weekend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hoy · mañana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vandaag · morgen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el lunes · los lunes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op maandag · elke maandag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Los momentos del día 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por la mañana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's ochtends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83464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por la tarde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's middags/'s avonds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42900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por la noche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's nachts/laat op de avond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02336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esta noche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vanavond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61772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más tarde · ahora mismo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later · nu meteen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2120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pronto · tarde</a:t>
            </a:r>
            <a:r>
              <a:rPr sz="1000" b="0" i="1">
                <a:solidFill>
                  <a:srgbClr val="6A6E78"/>
                </a:solidFill>
                <a:latin typeface="Inter"/>
              </a:rPr>
              <a:t>   vroeg · laat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Quedar &amp; por teléfono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Afspreken maken &amp; je redden aan de telefoon (zoals Julio)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Quedar · afspreken 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¿Quieres quedar?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wil je afspreken?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¿A qué hora?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hoe laat?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Quedamos a las siete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we spreken af om zeven uur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¿Dónde quedamos?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spreken we af?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Vale · perfecto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oké · perfect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Por teléfono 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¿Sí?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ja? (de telefoon opnemen)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No te oigo (nada)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ik hoor je (helemaal) niet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¿Puedes hablar más despacio?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kan je langzamer spreken?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Hasta ahora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tot straks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Un beso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kusje (afscheid)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108813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Hasta ahora = «tot straks» (niet «tot nu»!) · quedar = afspreken, niet «blijven» · quedamos a las… mét 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hora es? — es la una ↔ son las 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Eén uur = enkelvoud, alle andere uren = meervoud + y cuarto/y media/menos cuarto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es la una  ↔  son las ocho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331720"/>
            <a:ext cx="3108960" cy="914400"/>
          </a:xfrm>
          <a:prstGeom prst="roundRect">
            <a:avLst>
              <a:gd name="adj" fmla="val 9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395728"/>
            <a:ext cx="28346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21B6"/>
                </a:solidFill>
                <a:latin typeface="Inter"/>
              </a:rPr>
              <a:t>🕐 alleen 1 uur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3AED"/>
                </a:solidFill>
                <a:latin typeface="Inter"/>
              </a:rPr>
              <a:t>Es la </a:t>
            </a:r>
            <a:r>
              <a:rPr sz="1500" b="0" i="0">
                <a:solidFill>
                  <a:srgbClr val="20242E"/>
                </a:solidFill>
                <a:latin typeface="Inter"/>
              </a:rPr>
              <a:t>una.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Es la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una y media.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2331720"/>
            <a:ext cx="3200400" cy="914400"/>
          </a:xfrm>
          <a:prstGeom prst="roundRect">
            <a:avLst>
              <a:gd name="adj" fmla="val 9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60" y="2395728"/>
            <a:ext cx="29260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B7A73"/>
                </a:solidFill>
                <a:latin typeface="Inter"/>
              </a:rPr>
              <a:t>🕑 alle andere uren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C3AED"/>
                </a:solidFill>
                <a:latin typeface="Inter"/>
              </a:rPr>
              <a:t>Son las </a:t>
            </a:r>
            <a:r>
              <a:rPr sz="1500" b="0" i="0">
                <a:solidFill>
                  <a:srgbClr val="20242E"/>
                </a:solidFill>
                <a:latin typeface="Inter"/>
              </a:rPr>
              <a:t>dos · tres · ocho…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doce en punto.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2900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tres y cuarto  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3.15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kwart over drie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831336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tres y media  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3.30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half vier (!)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33672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cuatro menos cuarto  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3.45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kwart voor vier — het vólgende uur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636008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3AED"/>
                </a:solidFill>
                <a:latin typeface="Inter"/>
              </a:rPr>
              <a:t>Son las tres en punto  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3.00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precies drie uur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2064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💡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Tot :30 →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y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(erbij). Daarna →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menos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(eraf) mét het vólgende uur.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3048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6384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¡OJO! · LA TRAMPA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057400"/>
            <a:ext cx="35661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C2626"/>
                </a:solidFill>
                <a:latin typeface="Bricolage Grotesque"/>
              </a:rPr>
              <a:t>«half negen»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606040"/>
            <a:ext cx="35661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1" i="0">
                <a:solidFill>
                  <a:srgbClr val="7C3AED"/>
                </a:solidFill>
                <a:latin typeface="Bricolage Grotesque"/>
              </a:rPr>
              <a:t>= las ocho y media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(8 + 30)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520440"/>
            <a:ext cx="356616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🇪🇸 Spaans kijkt </a:t>
            </a:r>
            <a:r>
              <a:rPr sz="1250" b="1" i="0">
                <a:solidFill>
                  <a:srgbClr val="7C3AED"/>
                </a:solidFill>
                <a:latin typeface="Inter"/>
              </a:rPr>
              <a:t>TERUG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naar het vórige uur.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🇳🇱 Nederlands kijkt </a:t>
            </a:r>
            <a:r>
              <a:rPr sz="1250" b="1" i="0">
                <a:solidFill>
                  <a:srgbClr val="DC2626"/>
                </a:solidFill>
                <a:latin typeface="Inter"/>
              </a:rPr>
              <a:t>VOORUIT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naar het vólgende.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4526280"/>
            <a:ext cx="356616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Dus: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half tien =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las nueve y media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half zeven =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las seis y media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¿A qué hora? · el lunes ↔ los lunes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«Om…» met a las + de dagen met een lidwoord (géén «en», kleine letter)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694944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¿A qué hora? — a la una · a las doce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3AED"/>
                </a:solidFill>
                <a:latin typeface="Inter"/>
              </a:rPr>
              <a:t>Son las ocho.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Het IS 8 u.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(hoe laat het nú 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24328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3AED"/>
                </a:solidFill>
                <a:latin typeface="Inter"/>
              </a:rPr>
              <a:t>A las ocho.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OM 8 u.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(wanneer iets gebeurt)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3AED"/>
                </a:solidFill>
                <a:latin typeface="Inter"/>
              </a:rPr>
              <a:t>¿A qué hora quedamos?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Hoe laat spreken we af?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— A la una y media.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6492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7C3AED"/>
                </a:solidFill>
                <a:latin typeface="Inter"/>
              </a:rPr>
              <a:t>a la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una  · 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a las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dos · a las doce  →  «om…»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508760"/>
            <a:ext cx="4023360" cy="22860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164592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el lunes ↔ los lunes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121408"/>
            <a:ext cx="356616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el </a:t>
            </a:r>
            <a:r>
              <a:rPr sz="1400" b="1" i="0">
                <a:solidFill>
                  <a:srgbClr val="20242E"/>
                </a:solidFill>
                <a:latin typeface="Inter"/>
              </a:rPr>
              <a:t>lunes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op maandag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los </a:t>
            </a:r>
            <a:r>
              <a:rPr sz="1400" b="1" i="0">
                <a:solidFill>
                  <a:srgbClr val="20242E"/>
                </a:solidFill>
                <a:latin typeface="Inter"/>
              </a:rPr>
              <a:t>lunes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elke maandag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6A6E78"/>
                </a:solidFill>
                <a:latin typeface="Inter"/>
              </a:rPr>
              <a:t>El lunes quedamos a las seis.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310128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géén «en lunes» · kleine letter: lunes, martes…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___ una y cuarto.   ___ siete.   Quedamos ___ nueve.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 la · Son las · a las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5" name="Rounded Rectangle 2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¿Quieres ___ esta noche?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146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Sí, vale. ¿A qué ___?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461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¿A ___ nueve?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Mejor a las nueve y ___.  (9.30)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Perfecto. ¡Hasta ___!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quedar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hora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las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media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5. ahora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609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9" name="Rounded Rectangle 1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Queda con un compañero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Maak samen een afspraak: dag + uur + plaats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0242E"/>
                </a:solidFill>
                <a:latin typeface="Inter"/>
              </a:rPr>
              <a:t>«— ¿Quieres quedar el sábado?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0242E"/>
                </a:solidFill>
                <a:latin typeface="Inter"/>
              </a:rPr>
              <a:t>— ¿A qué hora?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0242E"/>
                </a:solidFill>
                <a:latin typeface="Inter"/>
              </a:rPr>
              <a:t>— Quedamos a las once y media en el centro.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0242E"/>
                </a:solidFill>
                <a:latin typeface="Inter"/>
              </a:rPr>
              <a:t>— ¡Vale, hasta el sábado!»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dag: el lunes… el sábado.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Stel een uur voor: «¿a las siete?».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Onderhandel: «mejor a las ocho y media».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Spreek de plaats af: «en el centro».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5. Bevestig: «vale · perfecto · hasta…».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voorstellen, onderhandelen en bevestigen. Hoor je het uur niet? Zeg: «¿Cómo? / ¿Puedes hablar más despacio?»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horarios en 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klok tikt anders in de Spaanstalige wereld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Quevedo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Bzrp #52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Despechá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Manuel Turizo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Bachata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Marc Anthony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Vivir Mi Vida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Álvaro Soler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Sofía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Camilo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Vida de Rico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38928"/>
            <a:ext cx="1069848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🕐 Los horarios en el mundo hispano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In España eet men warm rond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las dos (14 u)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en avondmaal pas om </a:t>
            </a:r>
            <a:r>
              <a:rPr sz="1200" b="1" i="0">
                <a:solidFill>
                  <a:srgbClr val="7C3AED"/>
                </a:solidFill>
                <a:latin typeface="Inter"/>
              </a:rPr>
              <a:t>las nueve o las diez (21–22 u)</a:t>
            </a:r>
            <a:r>
              <a:rPr sz="1200" b="0" i="0">
                <a:solidFill>
                  <a:srgbClr val="20242E"/>
                </a:solidFill>
                <a:latin typeface="Inter"/>
              </a:rPr>
              <a:t>. In México is de lunch (14–15 u) de hoofdmaaltijd. De </a:t>
            </a:r>
            <a:r>
              <a:rPr sz="1200" b="1" i="0">
                <a:solidFill>
                  <a:srgbClr val="A8323B"/>
                </a:solidFill>
                <a:latin typeface="Inter"/>
              </a:rPr>
              <a:t>tarde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duurt tot 20–21 u — daarom zeg je om 19 u nog «buenas tardes».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de dagen? Altijd met een </a:t>
            </a:r>
            <a:r>
              <a:rPr sz="1200" b="1" i="0">
                <a:solidFill>
                  <a:srgbClr val="DC2626"/>
                </a:solidFill>
                <a:latin typeface="Inter"/>
              </a:rPr>
              <a:t>kleine letter</a:t>
            </a:r>
            <a:r>
              <a:rPr sz="1200" b="0" i="0">
                <a:solidFill>
                  <a:srgbClr val="20242E"/>
                </a:solidFill>
                <a:latin typeface="Inter"/>
              </a:rPr>
              <a:t>: lunes, martes, sábado…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horario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je weekschema in (4 dagen) en maak samen een afspraak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03504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603504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669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MI HORARIO · Academia «Welcome to Spanish»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212848"/>
            <a:ext cx="1417320" cy="347472"/>
          </a:xfrm>
          <a:prstGeom prst="roundRect">
            <a:avLst>
              <a:gd name="adj" fmla="val 14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231136"/>
            <a:ext cx="141732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el lunes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633472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289304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a las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57984" y="2212848"/>
            <a:ext cx="1417320" cy="347472"/>
          </a:xfrm>
          <a:prstGeom prst="roundRect">
            <a:avLst>
              <a:gd name="adj" fmla="val 14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57984" y="2231136"/>
            <a:ext cx="141732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el miércoles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57984" y="2633472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21992" y="2697480"/>
            <a:ext cx="1289304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a las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94176" y="2212848"/>
            <a:ext cx="1417320" cy="347472"/>
          </a:xfrm>
          <a:prstGeom prst="roundRect">
            <a:avLst>
              <a:gd name="adj" fmla="val 14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231136"/>
            <a:ext cx="141732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el viernes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94176" y="2633472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58184" y="2697480"/>
            <a:ext cx="1289304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a las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0368" y="2212848"/>
            <a:ext cx="1417320" cy="347472"/>
          </a:xfrm>
          <a:prstGeom prst="roundRect">
            <a:avLst>
              <a:gd name="adj" fmla="val 14000"/>
            </a:avLst>
          </a:prstGeom>
          <a:solidFill>
            <a:srgbClr val="FBEAEC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0368" y="2231136"/>
            <a:ext cx="1417320" cy="310896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el sábado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0368" y="2633472"/>
            <a:ext cx="1417320" cy="1234440"/>
          </a:xfrm>
          <a:prstGeom prst="roundRect">
            <a:avLst>
              <a:gd name="adj" fmla="val 6000"/>
            </a:avLst>
          </a:prstGeom>
          <a:solidFill>
            <a:srgbClr val="FCFBF8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94376" y="2697480"/>
            <a:ext cx="1289304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A6E78"/>
                </a:solidFill>
                <a:latin typeface="Inter"/>
              </a:rPr>
              <a:t>a las 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E4E3DE"/>
                </a:solidFill>
                <a:latin typeface="Inter"/>
              </a:rPr>
              <a:t>_____________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66928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0242E"/>
                </a:solidFill>
                <a:latin typeface="Inter"/>
              </a:rPr>
              <a:t>🤝 Mi cita: ¿Quieres quedar </a:t>
            </a:r>
            <a:r>
              <a:rPr sz="1250" b="0" i="0">
                <a:solidFill>
                  <a:srgbClr val="E4E3DE"/>
                </a:solidFill>
                <a:latin typeface="Inter"/>
              </a:rPr>
              <a:t>el ______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? Quedamos </a:t>
            </a:r>
            <a:r>
              <a:rPr sz="1250" b="0" i="0">
                <a:solidFill>
                  <a:srgbClr val="E4E3DE"/>
                </a:solidFill>
                <a:latin typeface="Inter"/>
              </a:rPr>
              <a:t>a las ______ </a:t>
            </a:r>
            <a:r>
              <a:rPr sz="1250" b="1" i="0">
                <a:solidFill>
                  <a:srgbClr val="20242E"/>
                </a:solidFill>
                <a:latin typeface="Inter"/>
              </a:rPr>
              <a:t>en </a:t>
            </a:r>
            <a:r>
              <a:rPr sz="1250" b="0" i="0">
                <a:solidFill>
                  <a:srgbClr val="E4E3DE"/>
                </a:solidFill>
                <a:latin typeface="Inter"/>
              </a:rPr>
              <a:t>__________ 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Zeg elk uur hardop — let op «es la una» ↔ «son las…».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1554480"/>
            <a:ext cx="4937760" cy="32918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1737360"/>
            <a:ext cx="4480560" cy="2926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1. Rellena tu horario: 4 dagen, per dag één activiteit met «el + dag» + «a las + uur».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2. Di la hora en voz alta: zeg elk uur hardop (es la una ↔ son las…).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3. Queda con un compañero: zoek een moment waarop jullie béíden vrij zijn.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4. Presenta: vertel je week + jullie afspraak aan de klas — sin leer.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983480"/>
            <a:ext cx="694944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je 4 momenten zegt met «el + dag» én «a las + uur» (juiste es la/son las), en samen een afspraak maakt met «¿quieres quedar?» — zónder af te lezen.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4956048"/>
            <a:ext cx="4023360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5029200"/>
            <a:ext cx="36576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A8323B"/>
                </a:solidFill>
                <a:latin typeface="Bricolage Grotesque"/>
              </a:rPr>
              <a:t>Evaluatie · 🟢🟡🔴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la hora correct (es la/son las · y media)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el + día en a las + hora correct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· quedar (afspraak maken) &amp; durf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18 / 18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691640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874276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691640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874276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90496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217928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400564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90496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217928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400564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716784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2744216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2926852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 · Estamos todos bien / tranquilos · ¿Estáis bien? · estar = toestand · ser = wie/wat je bent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716784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2744216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926852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43072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270504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3453140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uno · dos · tres · cinco · diez · veinte · las horas: la una · las doce · y media · y cuarto · menos cuarto · en veinte minutos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243072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270504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▲ nivel+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3453140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 · ¿Sí? · No te oigo (nada) · ¿Puedes hablar más despacio?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769359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3796791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3979427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69359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3796791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3979427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295648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4323080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4505716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295648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4323080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4505716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4821936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4849368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5032004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4821936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4849368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5032004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348223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" y="5375655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Hablar del trabajo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5558291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¿A qué te dedicas? · ¿En qué trabajas? · Soy profesor/a · escritor/a · actriz · Trabajo en una tienda · una oficina · ser + profesión (zonder un/una)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5348223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64808" y="5375655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Especular y adivinar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64808" y="5558291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Puede ser… (escritora) · ¿Trabaja en una tienda? · Creo que es… · ¡Ya lo sé! · ¿O algo parecido?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874512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" y="5901944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Decir y preguntar la hora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" y="6084580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¿Qué hora es? · Es la una · Son las ocho · y media · y cuarto · menos cuarto · en punto · ¿A qué hora? · a las doce · el lunes · los lunes · el fin de semana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5874512"/>
            <a:ext cx="5394960" cy="434847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64808" y="5901944"/>
            <a:ext cx="4992624" cy="217423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Bricolage Grotesque"/>
              </a:rPr>
              <a:t>Quedar con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64808" y="6084580"/>
            <a:ext cx="4992624" cy="234817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30" b="0" i="0">
                <a:solidFill>
                  <a:srgbClr val="6A6E78"/>
                </a:solidFill>
                <a:latin typeface="Inter"/>
              </a:rPr>
              <a:t>¿Quieres quedar (esta noche)? · Quedamos a las… · en mi casa · Más tarde · ahora mismo no puedo · Es un poco pronto · un poco tarde · Hasta ahora · te veo en veinte minutos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649224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hoe laat het 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¿Qué hora es? — Es la una · Son las ocho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y cuarto · y media · menos cuarto · en punto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alleen 1 uur = enkelvoud · tot :30 «y», daarna «menos» + volgend uur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maak je een afspraak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¿Quieres quedar el sábado? — ¿A qué hora? — Quedamos a las siete.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a las + uur = «om…» · el lunes (op maandag) · los lunes (elke maandag)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A6E78"/>
                </a:solidFill>
                <a:latin typeface="Inter"/>
              </a:rPr>
              <a:t>géén «en lunes» · dagen met een kleine letter · hasta ahora = tot straks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6949440" cy="914400"/>
          </a:xfrm>
          <a:prstGeom prst="roundRect">
            <a:avLst>
              <a:gd name="adj" fmla="val 5500"/>
            </a:avLst>
          </a:prstGeom>
          <a:solidFill>
            <a:srgbClr val="FDE8E8"/>
          </a:solidFill>
          <a:ln w="25400">
            <a:solidFill>
              <a:srgbClr val="DC2626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6492240" cy="7772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C2626"/>
                </a:solidFill>
                <a:latin typeface="Bricolage Grotesque"/>
              </a:rPr>
              <a:t>¡Ojo! · de valstrik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«half negen» = </a:t>
            </a:r>
            <a:r>
              <a:rPr sz="1300" b="1" i="0">
                <a:solidFill>
                  <a:srgbClr val="7C3AED"/>
                </a:solidFill>
                <a:latin typeface="Inter"/>
              </a:rPr>
              <a:t>las ocho y media</a:t>
            </a:r>
            <a:r>
              <a:rPr sz="1250" b="0" i="0">
                <a:solidFill>
                  <a:srgbClr val="20242E"/>
                </a:solidFill>
                <a:latin typeface="Inter"/>
              </a:rPr>
              <a:t> (8 + 30).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20242E"/>
                </a:solidFill>
                <a:latin typeface="Inter"/>
              </a:rPr>
              <a:t>Spaans kijkt TERUG naar het vórige uur, Nederlands VOORUIT → half tien = las nueve y media.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554480"/>
            <a:ext cx="4023360" cy="40690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de tijd zeggen (es la una · son las ocho)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78892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y cuarto · y media · menos cuarto gebruiken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2918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«half negen» juist zeggen (las ocho y media)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7947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¿a qué hora? · a las doce gebruiken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29768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de dagen zeggen (el lunes · los lunes)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48006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een afspraak maken (¿quieres quedar?)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51663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los relojes · quedar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Docentendossier · Unidad 8 «La hora y los días»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Timing (2 lesuren van 50 min).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Les 1: Escucha (sitcom ep. 8 «Las horas» — Julio doet op een feestje alsof hij met «Laura» telefoneert om María jaloers te maken en noemt daarbij álle uren: a las once, a las doce, las ocho y media…) + Suena bien (la d suave tussen klinkers ↔ la d inicial + de klemtoon in getallen) + Los relojes + Kit (la hora · los días · los momentos del día · quedar · por teléfono). Les 2: gramática functioneel (es la una ↔ son las… + y cuarto/y media/menos cuarto/en punto · ¿a qué hora? · el lunes ↔ los lunes), práctica, hablar «Queda con un compañero», tarea «Mi horario» + cultura.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VIDEO = GOOGLE DRIVE (geen YouTube voor deze aflevering).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«Spanish Sitcom 8_1080p.mp4», file-id 1zS4KXwLAnG9XrDxH2toHqlNHrGyd9Qv_ (deelrechten reader/anyone). INTERNET VEREIST. In de escucha-dia klik je op de poster om in PowerPoint af te spelen; lukt dat niet, gebruik de knop «▶ Abrir en Drive» of open https://drive.google.com/file/d/1zS4KXwLAnG9XrDxH2toHqlNHrGyd9Qv_/view zelf in een browser. Test de verbinding vóór de les.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Aanpak C4 (survival).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Chunks komen auditief binnen (luisteren → naspreken). «quedamos», «quieres quedar», «puedes hablar» presenteren als CHUNKS uit de scène — géén vervoegingsparadigma van quedar/querer/poder; het volledige werkwoordsysteem komt in het 5de jaar (C5). DE KERNVALSTRIK: «half negen» = las ocho y media (8 + 30) — het Spaans kijkt terug naar het vórige uur, het Nederlands vooruit; laat leerlingen dit hardop drillen met de klokjes. Andere valstrikken: alleen 1 uur is enkelvoud (es la una · a la una); tot :30 «y», daarna «menos» mét het VOLGENDE uur; «son las ocho» (het IS 8 u) ↔ «a las ocho» (OM 8 u); el lunes / los lunes zonder «en» en met een kleine letter; hasta ahora = tot straks. Uitspraak: d suave tussen klinkers (na-da, me-dia, sá-ba-do ≈ Engelse «th» in this) ↔ d inicial steviger (día, doce, domingo); accent in getallen: dieciSÉIS · veintiDÓS (mét tilde) ↔ caTORce · cuaRENta (zonder). Doelcodes: C4-WS-1 · C4-TS-3 · C4-SP-1 · C4-LU-1 · C4-GE-3 · C4-STR-1 · C4-MEC-1/2 · C4-CU-1.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BEAEC"/>
                </a:solidFill>
                <a:latin typeface="Bricolage Grotesque"/>
              </a:rPr>
              <a:t>Evaluatie.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CEAE3"/>
                </a:solidFill>
                <a:latin typeface="Inter"/>
              </a:rPr>
              <a:t>Mondelinge mini-taak «Mi horario»: weekschema van 4 dagen (el + dag + a las + uur) presenteren en samen één afspraak maken. Geen leerplan → focus op «kunnen gebruiken in de praktijk». Rubric: la hora correct (es la/son las · y media) · el + día en a las + hora correct · quedar (afspraak maken) &amp; durf.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A6A29A"/>
                </a:solidFill>
                <a:latin typeface="Inter"/>
              </a:rPr>
              <a:t>Oplossingen staan bij elke oefendia in de presenter-notities; antwoorden verschijnen bij klik.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U8 · LA HORA   ·   C4 · La Ruta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