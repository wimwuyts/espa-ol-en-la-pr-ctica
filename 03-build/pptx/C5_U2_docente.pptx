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80" r:id="rId32"/>
    <p:sldId id="281" r:id="rId33"/>
    <p:sldId id="282" r:id="rId3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2 = Sevilla, met gastvrouw Lucía (dit is HAAR thuisstad → zij stelt haar familie voor). Doel: familieleden benoemen + tener · beschrijven (física + carácter) met congruentie van adjetivos · posesivos (mi/tu/su/nuestro) · DÉ valstrik ser vs. estar (beide = «zijn») · demostrativos (este/ese) bij foto's. Instructietaal Spaans-eerst met NL-steun. Docentdeck = vrije navigatie + oplossing; leerlingdeck = elke klik onthult (geen kiosk). Tarea = «Álbum de familia».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 naar de sectie; op elke oefendia staat ⌂ Menú terug. Richttijd 50 min. Zij-instromers: begin bij §1 (familia + tener) — daar zit de communicatieve kern. Alles start vanaf nul.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familia (reveal). Bouw een árbol genealógico op het bord terwijl je onthult. Wijs op de -o/-a-paren. Zie het boek §1.1 → el árbol genealógico de ROSALÍA (parel) + het ¡Ojo!-kader: primo/prima (kind van tío/tía) vs. sobrino/sobrina (kind van hermano/hermana). Online: «familia-memoria» + flip cards ES↔NL.</a:t>
            </a:r>
          </a:p>
          <a:p/>
          <a:p>
            <a:r>
              <a:t>— SOLUCIÓN (docent · presenter view) —</a:t>
            </a:r>
          </a:p>
          <a:p>
            <a:r>
              <a:t>La familia hispana: mannelijk meervoud omvat beide: los padres = vader én moeder · los abuelos = opa én oma · los hermanos = broer(s) én zus(sen).</a:t>
            </a:r>
          </a:p>
          <a:p>
            <a:r>
              <a:t>mayor (ouder/oudste) · menor (jonger/jongste) · casado/a (getrouwd) · soltero/a (vrijgezel) · la mascota (huisdier).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tener (reveal per kaart). Coro: klas zegt de vorm vóór de klik. tener voor bezit, familie én leeftijd (tener … años). Zie het boek §1.2 (verbo-machine/tabel). Online: «tener-cloze» + «tener-persona» (classify).</a:t>
            </a:r>
          </a:p>
          <a:p/>
          <a:p>
            <a:r>
              <a:t>— SOLUCIÓN (docent · presenter view) —</a:t>
            </a:r>
          </a:p>
          <a:p>
            <a:r>
              <a:t>🟡 tener = onregelmatig: teng-o · tien-es · tien-e · ten-emos · ten-éis · tien-en. </a:t>
            </a:r>
          </a:p>
          <a:p>
            <a:r>
              <a:t>Gebruik: «Tengo dos hermanos» · «¿Cuántos primos tienes?» · leeftijd: «Tengo catorce años».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 met tener/ser). Circuleer: leerlingen vragen elkaar. Let op tener (bezit/leeftijd) vs. somos (aantal). Online: «carrusel-familia» (recorder).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Ronda: vraag 3 klasgenoten en presenteer daarna één familie in de 3ª persona (tiene / son).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posesivos (color + reveal). Grote NL-valstrik: getalscongruentie (mis hermanas). su is ambigu → context. Zie het boek §2. Online: «posesivo-cloze» + «posesivo-numero» (classify sing/plur).</a:t>
            </a:r>
          </a:p>
          <a:p/>
          <a:p>
            <a:r>
              <a:t>— SOLUCIÓN (docent · presenter view) —</a:t>
            </a:r>
          </a:p>
          <a:p>
            <a:r>
              <a:t>🔴 Overeenkomst in GETAL (niet in geslacht, behalve nuestro): mi hermana → mis hermanas · tu primo → tus primos.</a:t>
            </a:r>
          </a:p>
          <a:p>
            <a:r>
              <a:t>su = zijn/haar/hun/uw (context beslist) · nuestro/nuestra/nuestros/nuestras past óók in geslacht.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posesivo número (retrieval). Laat de klas eerst kiezen (hand/stem). Focus: getalscongruentie, niet geslacht (behalve nuestro).</a:t>
            </a:r>
          </a:p>
          <a:p/>
          <a:p>
            <a:r>
              <a:t>— SOLUCIÓN (docent · presenter view) —</a:t>
            </a:r>
          </a:p>
          <a:p>
            <a:r>
              <a:t>Enkelvoud zn. → mi/tu/su · meervoud zn. → mis/tus/sus. nuestro/-a/-os/-as past in geslacht én getal.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física (reveal). Bouw tegenstellingsparen (alto↔bajo). ser voor eigenschap, tener/llevar voor haar/ogen/bril. Zie het boek §3.1. Online: «fisico-caracter» (classify) + «colores-match».</a:t>
            </a:r>
          </a:p>
          <a:p/>
          <a:p>
            <a:r>
              <a:t>— SOLUCIÓN (docent · presenter view) —</a:t>
            </a:r>
          </a:p>
          <a:p>
            <a:r>
              <a:t>Constructies: es alto (ser + eigenschap) · tiene el pelo largo / los ojos verdes (tener + kenmerk) · lleva gafas (llevar).</a:t>
            </a:r>
          </a:p>
          <a:p>
            <a:r>
              <a:t>colores: marrón · negro · castaño · azul · verde · gris. «Tiene los ojos marrones» (congruentie in getal).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congruencia (agree-kaart/röntgen). Kernvalstrik NL: bijv.nw. staat ná het zn. + moet mee-verbuigen. Zie het boek §3.2. Online: «masculino-femenino» + «adjetivo-concuerda» (cloze).</a:t>
            </a:r>
          </a:p>
          <a:p/>
          <a:p>
            <a:r>
              <a:t>— SOLUCIÓN (docent · presenter view) —</a:t>
            </a:r>
          </a:p>
          <a:p>
            <a:r>
              <a:t>🔴 Het adjetivo staat NÁ het zn. en past mee: una chica alta, unos ojos verdes. -e/-ista/-consonant zijn vaak onveranderlijk in geslacht.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carácter (reveal). Combineer física + carácter met conectores (y/pero/también). muy / un poco als versterkers. Zie het boek §3.3. Online: «describe-persona» (speak) + «fisico-caracter» (classify).</a:t>
            </a:r>
          </a:p>
          <a:p/>
          <a:p>
            <a:r>
              <a:t>— SOLUCIÓN (docent · presenter view) —</a:t>
            </a:r>
          </a:p>
          <a:p>
            <a:r>
              <a:t>Modelo (docent): «Mi hermana es simpática, un poco tímida pero muy graciosa. Mi padre es tranquilo y trabajador.»</a:t>
            </a:r>
          </a:p>
          <a:p>
            <a:r>
              <a:t>«muy» (heel) + «un poco» (een beetje) + «pero» (maar) nuanceren de beschrijving.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ser/estar contrast (mirror). DÉ valstrik voor Nederlandstaligen: beide = «zijn». SER = identiteit/beschrijving (blijvend) · ESTAR = toestand/plaats (tijdelijk/locatie). Zie het boek §4.1. Online: «ser-estar» (classify).</a:t>
            </a:r>
          </a:p>
          <a:p/>
          <a:p>
            <a:r>
              <a:t>— SOLUCIÓN (docent · presenter view) —</a:t>
            </a:r>
          </a:p>
          <a:p>
            <a:r>
              <a:t>🔴 Nederlands heeft één «zijn», Spaans twee: SER = wie/hoe iemand IS (blijvend: naam, herkomst, uiterlijk, karakter) · </a:t>
            </a:r>
          </a:p>
          <a:p>
            <a:r>
              <a:t>ESTAR = toestand nú of PLAATS (cansada, en casa). «Es simpática» (altijd) ↔ «Está cansada» (nu).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ser/estar formas (reveal per cel). Coro vóór de klik. Let op tildes: estás, está, estáis. Vormen exact volgens U2_bron.md §3. Werkwoordsvervoeging verder = aparte Conjugador-tool.</a:t>
            </a:r>
          </a:p>
          <a:p/>
          <a:p>
            <a:r>
              <a:t>— SOLUCIÓN (docent · presenter view) —</a:t>
            </a:r>
          </a:p>
          <a:p>
            <a:r>
              <a:t>ser: soy·eres·es·somos·sois·son · estar: estoy·estás·está·estamos·estáis·están (klemtoon estás/está!).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CLOZE (verplichte klassieke gap-fill · retrieval). Klas geeft de vorm vóór de klik. Alle vormen nagerekend (U2_bron §4). Zie het boek §4-cloze. Online: «ser-estar-cloze» + «tener-cloze».</a:t>
            </a:r>
          </a:p>
          <a:p/>
          <a:p>
            <a:r>
              <a:t>— SOLUCIÓN (docent · presenter view) —</a:t>
            </a:r>
          </a:p>
          <a:p>
            <a:r>
              <a:t>Sleutel: 1 es·está · 2 tengo · 3 son · 4 estamos · 5 tienes · 6 tiene·es · 7 está · 8 sois. </a:t>
            </a:r>
          </a:p>
          <a:p>
            <a:r>
              <a:t>SER = eigenschap/herkomst (simpática, de Andalucía, morena, majos) · ESTAR = toestand/plaats (en Sevilla, en casa, cansado).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demostrativos (reveal). Gebruik echte foto's of het árbol: leerling wijst en zegt «Este es mi…». Zie het boek §5. Online: «este-ese» (classify/point). Voedt de Tarea (fotobijschriften).</a:t>
            </a:r>
          </a:p>
          <a:p/>
          <a:p>
            <a:r>
              <a:t>— SOLUCIÓN (docent · presenter view) —</a:t>
            </a:r>
          </a:p>
          <a:p>
            <a:r>
              <a:t>🔴 Ze passen in geslacht én getal bij het zn.: este/esta/estos/estas (dichtbij) · ese/esa/esos/esas (verder). Bij foto's: «Este es… / Esta es…».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Voorspellen (waarover?) → globaal → scannen (uren/aantal) → juist/fout + bewijs (evidence) → betekenis uit context (majo/mayor) → productieve reactie (eigen familie). Zie het boek §6. Online: audio «La familia de Lucía» + V/F-taak.</a:t>
            </a:r>
          </a:p>
          <a:p/>
          <a:p>
            <a:r>
              <a:t>— SOLUCIÓN (docent · presenter view) —</a:t>
            </a:r>
          </a:p>
          <a:p>
            <a:r>
              <a:t>Betekenis uit context: majo ≈ simpático · mayor/menor = ouder/jonger. Daarna: beschrijf je EIGEN familie.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elke descripción voor (of TTS). Klas raadt wie. Keten: luisteren→spreken (eigen beschrijving). Online: recorder «shadowing-lucia» + «quien-es».</a:t>
            </a:r>
          </a:p>
          <a:p/>
          <a:p>
            <a:r>
              <a:t>— SOLUCIÓN (docent · presenter view) —</a:t>
            </a:r>
          </a:p>
          <a:p>
            <a:r>
              <a:t>Docent leest de descripciones (of TTS); klas raadt. Let op: ser (uiterlijk/karakter) + tener/llevar (haar/gafas). Daarna zelf een familielid beschrijven → de klas raadt.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(descriptie → interactie/raadspel). 3 rondes met afbouwende steun. Recycle ser/estar + tener/llevar + adjetivos. Online: SubstitutionCarousel + recorder. Print blijft bruikbaar zonder opname. Voedt de Tarea «Álbum de familia».</a:t>
            </a:r>
          </a:p>
          <a:p/>
          <a:p>
            <a:r>
              <a:t>— SOLUCIÓN (docent · presenter view) —</a:t>
            </a:r>
          </a:p>
          <a:p>
            <a:r>
              <a:t>Modelo: «Es mi hermana. Es baja y delgada, tiene el pelo largo y los ojos verdes. Es muy graciosa. Está en casa. ¿Quién es?»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(lezen→schrijven-keten). Checklist = zichtbare steun; onthul het model pas na het schrijven (retrieval vóór herlezen). Nakijkfocus: demostrativos, congruentie adjetivos, ser/estar, posesivos, conectores. Voedt de Tarea «Álbum de familia».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Onthul per klik. Valstrik NL: «want» én «omdat» = porque. Hoofdletters bij eigennamen/steden, tildes op vraagwoorden. Zie het boek Taller de lengua. Meteen toepassen in de Tarea.</a:t>
            </a:r>
          </a:p>
          <a:p/>
          <a:p>
            <a:r>
              <a:t>— SOLUCIÓN (docent · presenter view) —</a:t>
            </a:r>
          </a:p>
          <a:p>
            <a:r>
              <a:t>A: y (en) · pero (maar) · también (ook) · 🔴 porque = want ÉN omdat (één woord!).</a:t>
            </a:r>
          </a:p>
          <a:p>
            <a:r>
              <a:t>B: nombres/apellidos/steden met hoofdletter (Antonio, Sevilla); vraagwoorden met tilde (¿cómo? ¿cuántos?); tía/años dragen tilde.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La familia hispana (unida + apodos) · la quinceañera · Frida Kahlo (árbol als kunst). Verbind met de klas: hoe groot is jullie familie? Zie het boek Cultura.</a:t>
            </a:r>
          </a:p>
          <a:p/>
          <a:p>
            <a:r>
              <a:t>— SOLUCIÓN (docent · presenter view) —</a:t>
            </a:r>
          </a:p>
          <a:p>
            <a:r>
              <a:t>Actividad: ¿cómo es tu familia? ¿grande o pequeña? ¿tenéis apodos? Beschrijf je familie en vergelijk met «la familia hispana».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 («mensaje-familia»). LPD 3·4·7·8 + 5 (cultura) + 1·2 (receptief).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 of tussentijdse check. Online: «la mezcla» + Tetris.</a:t>
            </a:r>
          </a:p>
          <a:p/>
          <a:p>
            <a:r>
              <a:t>— SOLUCIÓN (docent · presenter view) —</a:t>
            </a:r>
          </a:p>
          <a:p>
            <a:r>
              <a:t>Alles komt terug: familia + tener · congruentie adjetivos · ser/estar · posesivos · demostrativos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(spellen + zelfcorrectie). Bruggetje: U3 «El tiempo vuela» (Barcelona) — la hora, rutina &amp; presente irregular.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(U2_bron.md). Vormen (tener/ser/estar) nagerekend volgens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2 · La familia de la telenovela — 🎭 simulatie met beperking</a:t>
            </a:r>
          </a:p>
          <a:p>
            <a:r>
              <a:t>OPDRACHT: Samen verzinnen jullie de familie. Elk personage wordt met een bezittelijk voornaamwoord aan een ander gekoppeld.</a:t>
            </a:r>
          </a:p>
          <a:p>
            <a:r>
              <a:t>DE REGEL: Elk nieuw personage moet met minstens twee bezittelijke voornaamwoorden aan de bestaande familie hangen. Een personage dat aan niemand hangt, komt er niet in.</a:t>
            </a:r>
          </a:p>
          <a:p>
            <a:r>
              <a:t>VERLOOP: Empezamos con Rosalía, la abuela. Todo cuelga de ella. | Cada alumno/a añade un personaje y lo conecta. | El/la profe dibuja el árbol en la pizarra mientras tanto. | Al final: una frase de escándalo con «su» o «sus».</a:t>
            </a:r>
          </a:p>
          <a:p>
            <a:r>
              <a:t>SLEUTEL: De regel te bewaken: «su» hoort bij het bezeten ding, niet bij de bezitter — «sus hijos» is meervoud omdat er meer kinderen zijn, niet omdat er meer ouders zijn.  ||  «Nuestro/-a» beweegt wél mee in geslacht: nuestra abuela, nuestro abuelo.  ||  Laat de stamboom op het bord staan: bij de eindtaak «Álbum de familia» is hij het model.</a:t>
            </a:r>
          </a:p>
          <a:p>
            <a:r>
              <a:t>NOTA: Werkt het best als de leerkracht meetekent. Zonder zichtbare stamboom verliest de klas na zes personages het overzicht.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3 · Herencia con condiciones — ⚖️ onderhandeling &amp; dilemma</a:t>
            </a:r>
          </a:p>
          <a:p>
            <a:r>
              <a:t>OPDRACHT: Beslis wie wat krijgt. Elke beslissing verdedig je alleen met een familierelatie.</a:t>
            </a:r>
          </a:p>
          <a:p>
            <a:r>
              <a:t>DE REGEL: Alleen familieargumenten tellen. «Ik wil het» of «het past bij mij» is geen argument; «es de su hermana, no de la mía» wel.</a:t>
            </a:r>
          </a:p>
          <a:p>
            <a:r>
              <a:t>VERLOOP: Leed la nota de la tía. No decide nada. | Cada uno elige un objeto y prepara su argumento. | Negociad. Solo argumentos de parentesco. | ¿No hay acuerdo? El objeto va al museo del pueblo.</a:t>
            </a:r>
          </a:p>
          <a:p>
            <a:r>
              <a:t>SLEUTEL: Er is geen juiste verdeling. Beoordeel of élke toewijzing met een familierelatie verdedigd is en of de bezittelijke voornaamwoorden kloppen.  ||  De ring is de scherpste casus: «de madre a hija» sluit de zonen uit — laat de klas dat zelf ontdekken en betwisten.  ||  De kat is bewust de minst begeerde: daar hoor je «no lo quiero» en dus de ontkenning met pronomen.</a:t>
            </a:r>
          </a:p>
          <a:p>
            <a:r>
              <a:t>NOTA: Zet een klok van acht minuten. Zonder tijdsdruk blijft de klas bij het eerste voorwerp hangen.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8 · La foto sin pie — 🕵️ forensisch</a:t>
            </a:r>
          </a:p>
          <a:p>
            <a:r>
              <a:t>OPDRACHT: Kies het juiste onderschrift en zeg welk woord het verraadt. Bijna altijd is dat «ser» of «estar».</a:t>
            </a:r>
          </a:p>
          <a:p>
            <a:r>
              <a:t>DE REGEL: Je moet het verraderlijke wóórd aanwijzen, niet het onderschrift. Wie het juiste kiest maar het woord niet vindt, heeft geraden.</a:t>
            </a:r>
          </a:p>
          <a:p>
            <a:r>
              <a:t>VERLOOP: Mira la escena. ¿Qué ves exactamente? | Lee los tres pies. Dos chocan con la foto. | Señala la palabra que decide.</a:t>
            </a:r>
          </a:p>
          <a:p>
            <a:r>
              <a:t>SLEUTEL: Casus 1: het eerste. Beslissend woord: «está» (gevoel van dit moment).  ||  Casus 2: het eerste. Beslissend woord: «es cocinero» (beroep gaat met ser).  ||  Casus 3: het tweede. Beslissend woord: «lleva» — een bril draag je, die ben of sta je niet.  ||  Casus 3 is de moeilijkste omdat geen van de drie fout is op ser/estar alleen: je moet zien dat het werkwoord zelf verkeerd gekozen is.</a:t>
            </a:r>
          </a:p>
          <a:p>
            <a:r>
              <a:t>NOTA: De scènes worden op de dia beschreven, niet getoond: de leerling moet ze zich voorstellen en dan pas de zinnen toetsen. Dat maakt het een taaloefening en geen zoekplaatje.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8.xml"/><Relationship Id="rId6" Type="http://schemas.openxmlformats.org/officeDocument/2006/relationships/slide" Target="slide11.xml"/><Relationship Id="rId7" Type="http://schemas.openxmlformats.org/officeDocument/2006/relationships/slide" Target="slide14.xml"/><Relationship Id="rId8" Type="http://schemas.openxmlformats.org/officeDocument/2006/relationships/slide" Target="slide16.xml"/><Relationship Id="rId9" Type="http://schemas.openxmlformats.org/officeDocument/2006/relationships/slide" Target="slide21.xml"/><Relationship Id="rId10" Type="http://schemas.openxmlformats.org/officeDocument/2006/relationships/slide" Target="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Relationship Id="rId4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Relationship Id="rId4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Relationship Id="rId4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slide" Target="slide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7267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2 · SEVILLA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Mi 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37744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familia · describir a las personas · ser y estar — en Sevilla,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97180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¿Quién es tu gente… y cómo 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Wie zijn jouw mensen… en hoe zijn ze?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Tu anfitriona en Sevilla — Lucía te presenta a su familia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46320"/>
            <a:ext cx="1234440" cy="1234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6126480"/>
            <a:ext cx="1554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Lucía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 · anfitriona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402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59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147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78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893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997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638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16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383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«Álbum de familia»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familia + tener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padre/madre/hermano · tengo/tienes/tiene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Los posesivos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mi/tu/su/nuestro · getal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Los adjetivos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física + carácter · congruencia o/a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8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Ser / estar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beide = «zijn» — de valstrik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Demostrativos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este/ese — señala en el álbum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14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«La familia de Lucía» · ¿quién es?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Álbum de familia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árbol + fotos + «¿Quién es?»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+ Repaso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mezcla · lo esencial · semáforo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— el árbol genealógico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Mannelijk el / vrouwelijk la; -o/-a-paren.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padre / la madre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554480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vader / de moeder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40864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los padres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340864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ouders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27248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hermano / la hermana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127248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broer / de zus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13632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abuelo / la abuela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3913632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opa / de oma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54480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tío / la tía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1554480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oom / de tante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340864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primo / la prima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2340864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neef / de nicht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3127248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hijo / la hija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127248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zoon / de dochter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913632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nieto / la nieta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3913632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kleinzoon / kleindochter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La familia hispana: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mannelijk meervoud omvat beide: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padres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vader én moeder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abuelos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opa én oma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hermanos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broer(s) én zus(sen).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mayor (ouder/oudste) · menor (jonger/jongste) · casado/a (getrouwd) · soltero/a (vrijgezel) · la mascota (huisdier).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tener (hebben)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kaart. Onregelmatig: tengo, tienes, tiene…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tenemos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tenéis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92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🟡 tener = onregelmatig: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teng-o · tien-es · tien-e · ten-emos · ten-éis · tien-en.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Gebruik: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«Tengo dos hermanos» · «¿Cuántos primos tienes?» · leeftijd: «Tengo catorce años».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9011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¿Cuántos… tienes? — cuenta tu familia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Vraag &amp; antwoord met tener. Klik een kaart → een modelantwoord.</a:t>
            </a:r>
          </a:p>
        </p:txBody>
      </p:sp>
      <p:pic>
        <p:nvPicPr>
          <p:cNvPr id="9" name="Picture 8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46304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00200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¿Cuántos hermanos tienes?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84248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Tengo dos hermanos. / No tengo hermanos.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87168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¿Tienes primos?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25496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Sí, tengo tres primos. / No, no tengo primos.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82696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28416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¿Cuántos años tiene tu hermano?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666744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Tiene diecinueve años.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23944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¿Tienes mascota?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07992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Sí, tengo un perro. / No tengo mascota.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65192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010912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¿Cuántas personas sois en tu familia?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349240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Somos cinco: mis padres, mis hermanos y yo.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7" name="Rounded Rectangle 26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806440"/>
            <a:ext cx="1124712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vraag 3 klasgenoten en presenteer daarna één familie in de 3ª persona (tiene / son).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6784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posesivos — mi / tu / su / nuestro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Het bezit past in GETAL bij het zelfstandig naamwoord.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0876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0876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2563EB"/>
                </a:solidFill>
                <a:latin typeface="Bricolage Grotesque"/>
              </a:rPr>
              <a:t>Mi </a:t>
            </a:r>
            <a:r>
              <a:rPr sz="2300" b="1" i="0">
                <a:solidFill>
                  <a:srgbClr val="1E9E74"/>
                </a:solidFill>
                <a:latin typeface="Bricolage Grotesque"/>
              </a:rPr>
              <a:t>hermana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es alta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300" b="1" i="0">
                <a:solidFill>
                  <a:srgbClr val="2563EB"/>
                </a:solidFill>
                <a:latin typeface="Bricolage Grotesque"/>
              </a:rPr>
              <a:t>mis </a:t>
            </a:r>
            <a:r>
              <a:rPr sz="2300" b="1" i="0">
                <a:solidFill>
                  <a:srgbClr val="1E9E74"/>
                </a:solidFill>
                <a:latin typeface="Bricolage Grotesque"/>
              </a:rPr>
              <a:t>hermanos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son morenos.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mecanismo — klik een cel → de vorm: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004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mi / mis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00400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mijn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2004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200400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tu / tus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3200400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jouw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059936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059936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su / sus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059936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zijn/haar/hun/uw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059936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059936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nuestro/-a/-os/-as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4059936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onze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120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Overeenkomst in GETAL (niet in geslacht, behalve nuestro):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mi hermana → mis hermanas · tu primo → tus primos.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su = zijn/haar/hun/uw (context beslist) · nuestro/nuestra/nuestros/nuestras past óók in geslacht.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0840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Singular o plural — mi o mis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vorm. Tel het zelfstandig naamwoord.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hermano 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hermanas (2)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13432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primos (varios)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026664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abuela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739896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¿Cómo se llama ___ padre?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1600200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tu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¿Dónde viven ___ abuelos?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13432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tus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familia es grande. (onze)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3026664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nuestra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tíos son majos. (haar)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3739896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sus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Enkelvoud zn. → mi/tu/su · meervoud zn. → mis/tus/sus.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nuestro/-a/-os/-as past in geslacht én getal.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es? — descripción física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Descripción met ser + tener/llevar.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54480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alto/a ↔ bajo/a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554480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lang/groot ↔ klein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5144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295144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delgado/a ↔ gordito/a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295144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slank ↔ mollig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35808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035808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guapo/a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35808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knap / mooi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764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776472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moreno/a ↔ rubio/a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76472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donker ↔ blond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1713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517136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pelirrojo/a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4517136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roodharig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1554480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el pelo largo/corto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554480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lang/kort haar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2295144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2295144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liso ↔ rizado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295144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steil ↔ krullend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035808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3035808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los ojos + color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035808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de ogen + kleur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7764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3776472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la barba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3776472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de baard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451713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4517136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llevar gafas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517136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een bril dragen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1" name="Rounded Rectangle 4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377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Constructies: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 alto (ser + eigenschap) · tiene el pelo largo / los ojos verdes (tener + kenmerk) · lleva gafas (llevar).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colores: marrón · negro · castaño · azul · verde · gris. «Tiene los ojos marrones» (congruentie in getal).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48097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adjetivo concuerda — género y número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Röntgen: het bijv. nw. past bij het zn. in geslacht én getal, en staat ERNA.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64208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el chico alt-o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57400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m. enkelvoud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la chica alt-a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57400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v. enkelvoud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587752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97480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los chicos alt-os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0672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m. meervoud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587752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697480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las chicas alt-as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90672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v. meervoud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Klik → de speciale gevallen: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148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11480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inteligente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114800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blijft gelijk (m/v): chico/chica inteligente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1148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11480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joven → jóvenes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114800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enkel meervoud verandert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0974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09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hablador → habladora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809744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-or krijgt wél -a in het vrouwelijk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480974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809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los ojos verdes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809744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kleur past in getal (verde → verdes)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5321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Het adjetivo staat NÁ het zn. en past mee: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una chica alta, unos ojos verdes. -e/-ista/-consonant zijn vaak onveranderlijk in geslacht.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4041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es su carácter?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ser + carácter (es simpático).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simpático/a ↔ antipático/a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aardig ↔ onaardig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majo/a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leuk/vriendelijk (Sp.)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tímido/a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verlegen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9392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6552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gracioso/a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grappig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trabajador/a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hardwerkend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6552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inteligente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slim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4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hablador/a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1864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praatgraag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4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8744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tranquilo/a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41864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rustig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1584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8744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alegre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41864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vrolijk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8" name="Rounded Rectangle 3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 (docent):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«Mi hermana es simpática, un poco tímida pero muy graciosa. Mi padre es tranquilo y trabajador.»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«muy» (heel) + «un poco» (een beetje) + «pero» (maar) nuanceren de beschrijving.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35254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y estar — 🔴 la trampa (beide = «zijn»)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Twee-kolom-spiegel: SER = wie/hoe iemand is · ESTAR = toestand/plaats.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486400" cy="3291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2563E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63EB"/>
                </a:solidFill>
                <a:latin typeface="Bricolage Grotesque"/>
              </a:rPr>
              <a:t>SER — identidad / descripción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945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Soy Lucía. (identiteit)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517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Es de Sevilla. (herkomst)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089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padre es alto y moreno. (uiterlijk)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tía es muy simpática. (karakter)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0233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Somos cinco. (aantal)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08760"/>
            <a:ext cx="5486400" cy="329184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20320">
            <a:solidFill>
              <a:srgbClr val="14B8A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4B8A6"/>
                </a:solidFill>
                <a:latin typeface="Bricolage Grotesque"/>
              </a:rPr>
              <a:t>ESTAR — estado / lugar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1945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Estoy bien / cansada. (toestand)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6517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abuela está en casa. (plaats)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1089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¿Dónde estás? (plaats)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Mis tíos están casados. (burg. staat)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0233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Hoy estamos contentos. (stemming nu)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5" name="Rounded Rectangle 2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834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Nederlands heeft één «zijn», Spaans twee: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= wie/hoe iemand IS (blijvend: naam, herkomst, uiterlijk, karakter) ·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ESTAR = toestand nú of PLAATS (cansada, en casa). «Es simpática» (altijd) ↔ «Está cansada» (nu).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8554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formas — ser ·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Beide onregelmatig; let op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600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2563EB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600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ser (identidad)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00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14B8A6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600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estar (estado/lugar)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94560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19456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219456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19456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19456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761488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40" y="2761488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2761488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eres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2761488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761488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328416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3328416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3328416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328416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328416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895344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3895344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3895344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somos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895344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895344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estamos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4462272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1840" y="4462272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0" y="4462272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462272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4462272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5029200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1840" y="5029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1840" y="5029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5029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0" y="5029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5" name="Rounded Rectangle 4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21208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ser: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soy·eres·es·somos·sois·son · </a:t>
            </a:r>
            <a:r>
              <a:rPr sz="1200" b="1" i="0">
                <a:solidFill>
                  <a:srgbClr val="14B8A6"/>
                </a:solidFill>
                <a:latin typeface="Inter"/>
              </a:rPr>
              <a:t>estar: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estoy·estás·está·estamos·estáis·están (klemtoon estás/está!).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50840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CONJUGA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Cloze — tener · ser ·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vorm(en). Kies tussen ser/estar en vervoeg tener.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91056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 abuela ___ (ser) simpática y hoy ___ (estar) en Sevilla.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938528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· está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77440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Yo ___ (tener) dos primos.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24912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Mis padres ___ (ser) de Andalucía.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11296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0208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Nosotros ___ (estar) en casa.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297680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591056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¿Cuántos hermanos ___ (tener) tú?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938528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tienes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77440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Lucía ___ (tener) el pelo largo y ___ (ser) morena.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724912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tiene · 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63824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 hermano ___ (estar) cansado.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511296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0208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Vosotros ___ (ser) muy majos.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297680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Sleutel: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1 es·está · 2 tengo · 3 son · 4 estamos · 5 tienes · 6 tiene·es · 7 está · 8 sois.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SER = eigenschap/herkomst (simpática, de Andalucía, morena, majos) · ESTAR = toestand/plaats (en Sevilla, en casa, cansado).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Demostrativos — este / ese (señala en el álbum)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Zoom: dit (dichtbij) = este · dat (verder) = ese. Klik → de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este (m. sg.)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Este es mi hermano.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esta (v. sg.)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Esta es mi abuela.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estos (m. pl.)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Estos son mis primos.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estas (v. pl.)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Estas son mis tías.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ese/esa (sg.)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 — verder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2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Ese es mi tío.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1584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esos/esas (pl.)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 — verder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Esas son mis hermanas.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07492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Ze passen in geslacht én getal bij het zn.: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este/esta/estos/estas (dichtbij) · ese/esa/esos/esas (verder). Bij foto's: «Este es… / Esta es…».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9469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het album en beantwoord. Klik een vraag → het antwoord + bewijs.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48640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83080" y="1783080"/>
            <a:ext cx="3977639" cy="374903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«¡Hola! Soy Lucía y esta es mi familia de Sevilla. Somos cinco: mis padres, mi hermano mayor Marco, mi hermana menor Ana y yo. Mi padre se llama Antonio; es alto, moreno y muy tranquilo. Mi madre, Rosa, es baja, rubia y muy habladora. Marco tiene diecinueve años; es delgado y lleva gafas. Ana solo tiene ocho años: es pequeña, graciosa y un poco tímida. También tengo dos abuelos, Pepe y Carmen, y una prima, Julia, que es pelirroja y muy simpática. Hoy todos estamos en casa de los abuelos. ¡Es una familia grande y muy alegre!»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55448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60020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¿Cuántos son en la familia?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93852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Somos cinco (bewijs: «Somos cinco»)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237744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42316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¿Cómo es el padre, Antonio?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76148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Alto, moreno y tranquilo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20040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324612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¿Cuántos años tiene Marco?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58444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Diecinueve (y lleva gafas)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402336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406908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¿Quién es pelirroja?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40740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 prima Julia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484632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489204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¿Dónde están hoy todos?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23036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En casa de los abuelos (estar = plaats)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80760" y="5715000"/>
            <a:ext cx="562356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Betekenis uit context: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majo ≈ simpático · mayor/menor = ouder/jonger. Daarna: beschrijf je EIGEN familie.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5586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ESCUCHAR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adivina — ¿quién 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beschrijvingen. Klik een kaart → wie het is.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373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alta, rubia y muy habladora.»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786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la madre, Rosa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7373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7373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402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alto, moreno y tranquilo.»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5786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el padre, Antonio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89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1089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1089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118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«Tiene 19 años, es delgado y lleva gafas.»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502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el hermano, Marco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089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1089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1089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6118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pequeña, graciosa y un poco tímida.»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9502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la hermana, 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Docent leest de descripciones (of TTS); klas raadt.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Let op: ser (uiterlijk/karakter) + tener/llevar (haar/gafas). Daarna zelf een familielid beschrijven → de klas raadt.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Juego «¿Quién es?» — describe y adivina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Beschrijf een familielid → de klas raadt. Steun bouwt af: marco → sleutelwoorden → vrij.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0876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916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Relación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208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mi ___ (hermano/tía…)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060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517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Física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352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alto/a, delgado/a…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04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661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Pelo / ojos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8496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Tiene el pelo ___ y los ojos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916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7373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Carácter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0208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simpático/a, gracioso/a…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6060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6517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Estado/lugar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9352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Está en ___ / está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5204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5661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Adivina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8496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¿Quién es? → adivinan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63440"/>
            <a:ext cx="9601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het marco.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sleutelwoorden.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vrij → grábate online.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97680"/>
            <a:ext cx="449336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«describe-familiar» / «quien-es»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«Es mi hermana. Es baja y delgada, tiene el pelo largo y los ojos verdes. Es muy graciosa. Está en casa. ¿Quién es?»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Escribe tu álbum de familia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6 bijschriften (este es… + descripción). Klik → een modeltekst.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(pie de foto):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demostrativo (este/esta es…)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relación (mi hermano, mi tía…)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descripción física (es alto, tiene…)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el carácter (es simpático/a)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posesivo (mi/mis/nuestro)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(y, pero, también, 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114800"/>
            <a:ext cx="5486400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160520"/>
            <a:ext cx="5212080" cy="9601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«Esta es mi familia. Este es mi padre; es alto, moreno y tranquilo. Esta es mi hermana Ana: es pequeña y muy graciosa, pero un poco tímida. También tengo dos abuelos muy majos.»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y ortografía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gereedschappen om je familie te beschrijven.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conectores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alto ___ delgado.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bajo ___ muy fuerte.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44144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maar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___ es morena.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09981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también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simpática ___ es alegre.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75818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mayúsculas y tildes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antonio y rosa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Antonio y Rosa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sevilla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Sevilla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mi tia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 tía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¿como 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¿cómo es?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y (en) · pero (maar) · también (ook) · 🔴 porque = want ÉN omdat (één woord!).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nombres/apellidos/steden met hoofdletter (Antonio, Sevilla); vraagwoorden met tilde (¿cómo? ¿cuántos?); tía/años dragen tilde.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hispana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weetje. Grote, hechte families in de Spaanstalige wereld.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👪 La familia unida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Grote, hechte families: abuelos, tíos en primos wonen vaak dichtbij en komen vaak samen. «Apodos» (bijnamen): Pepe=José, Paco=Francisco, Lola=Dolores.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Vergelijk met je eigen familie in België.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🎉 La quinceañera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Het 15e-verjaardagsfeest van een meisje (vooral Latijns-Amerika): een groot familiefeest met jurk, dans en misa. Overgang naar de volwassenheid.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Bestaat er zoiets bij jou? Een lentefeest?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🎨 Frida Kahlo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Mexicaanse schilderes maakte «Mi familia / árbol genealógico»: familie als thema in de kunst. Een geschilderde stamboom.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Maak je eigen árbol genealógico als kunstwerk.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98348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¿cómo es tu familia? ¿grande o pequeña? ¿tenéis apodos? Beschrijf je familie en vergelijk met «la familia hispana».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8554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✈ Tarea final · Álbum de familia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familiealbum met árbol genealógico + het raadspel «¿Quién es?».</a:t>
            </a:r>
          </a:p>
        </p:txBody>
      </p:sp>
      <p:pic>
        <p:nvPicPr>
          <p:cNvPr id="5" name="Picture 4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64592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Haz tu árbol genealógico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554480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teken je stamboom met de namen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los pies de foto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121408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«Este es mi… / Esta es mi…» + descripción física + carácter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Usa ser y estar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688336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simpático (ser) · está en casa (estar)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255264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 la clase of vlog/audio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Juega «¿Quién es?»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22192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beschrijf één familielid → de klas raadt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familia + tener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adjetivos (congruentie)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/ estar correct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posesivos + demostrativos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Afzender jij · ontvanger de klas/Lucía · doel je familie voorstellen · situatie Lucía deelt haar album, jij het jouwe · resultaat: álbum + árbol + «¿Quién es?».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· tener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→ mis ___ (2)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hermanas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 simpática»: ser o estar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ser (karakter)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«está en casa»: ser o 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estar (plaats)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padres = 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vader + moeder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una chica alt__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alta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«want/omdat» = 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 es mi… / Esta es mi… → wijzen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demostrativos (dichtbij)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familia + tener · congruentie adjetivos · ser/estar · posesivos · demostrativos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Familia + tener: tengo·tienes·tiene·tenemos·tenéis·tienen. «Tengo dos hermanos» · leeftijd: «Tengo 14 años».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7568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Posesivos: mi/tu/su + mis/tus/sus (getal) · nuestro/-a/-os/-as. «mi hermana → mis hermanas».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0545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Adjetivos: NÁ het zn. + congruentie o/a/os/as. «una chica alta», «los ojos verdes».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🔴 SER (identiteit/beschrijving: es alta, es de Sevilla) ↔ ESTAR (toestand/plaats: está cansada, está en casa).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649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Demostrativos: este/esta/estos/estas (dichtbij) · ese/esa/esos/esas (verder). Conectores: y·pero·también·porque.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77639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familieleden + tener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7316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posesivos (mi/mis…)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5721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adjetivos met congruentie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54126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vs. estar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92531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demostrativos (este/ese)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U2 «Mi gente»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familia+tener 8' · posesivos 6' · adjetivos+congruencia 10' · ser/estar 12' · demostrativos 4' · lectura/tarea-briefing 8'.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ser ↔ estar (beide = «zijn») · adjetivo NÁ het zn. + congruentie o/a · posesivo in getal (mis hermanas) · porque = want ÉN omdat · días/nombres met hoofdletter.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física + carácter + ser/estar combineren in het album. Zwakker: familia + tener eerst automatiseren, marco/tabel langer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~20 spellen + flip cards ES↔NL + klikbare kaart + recorder («shadowing-lucia», «describe-familiar», «mensaje-familia») op de página digital. QR's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«Álbum de familia» met rúbrica (4 criteria). LPD 3·4·7·8·9 + 5 (cultura: familia hispana/quinceañera/Frida) + 1·2 (receptief: «La familia de Lucía»).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2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La familia de la telenovela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La clase escribe una telenovela. Pero primero hay que saber quién es de quién.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De klas schrijft een telenovela. Maar eerst moet je weten wie van wie is.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Elk nieuw personage moet met minstens twee bezittelijke voornaamwoorden aan de bestaande familie hangen. Een personage dat aan niemand hangt, komt er niet in.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Rosalía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abuela · 78 años · vive en Triana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Curro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su marido · toca la guitarra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… es mi/tu/su …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Sus hijos se llaman …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Nuestra abuela vive en …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Su perro se llama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¡Escándalo!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¡Su marido no es su marido!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¡Escándalo!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¡Sus hijos no saben que …!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¡Escándalo!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¡Nuestra abuela tiene un secreto!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3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Herencia con condiciones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👨‍👩‍👧 En grupos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La tía Amparo deja cinco cosas. Y una nota que no aclara nada.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Tante Amparo laat vijf dingen na. En een briefje dat niets verduidelijkt.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Alleen familieargumenten tellen. «Ik wil het» of «het past bij mij» is geen argument; «es de su hermana, no de la mía» wel.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guitarra de Curro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su marido la tocaba cada domingo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anillo de la bisabuela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pasa de madre a hija desde 1890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las fotos del pueblo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las hizo su hermano Paco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casa de Triana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vale mucho dinero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gato Manolo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tiene catorce años y muerde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de mi …, no de la tuya.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Su … la tocaba, entonces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Nuestros … la usaban.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estoy de acuerdo: sus … 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8 · FORENSISCH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La foto sin pie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10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Una foto, tres pies de foto. Solo uno dice la verdad.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Eén foto, drie onderschriften. Maar één ervan klopt.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Je moet het verraderlijke wóórd aanwijzen, niet het onderschrift. Wie het juiste kiest maar het woord niet vindt, heeft geraden.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Foto 1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Una chica sonríe en una fiesta, rodeada de gente.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Está contenta porque es su cumpleaños.</a:t>
            </a:r>
          </a:p>
        </p:txBody>
      </p:sp>
      <p:sp>
        <p:nvSpPr>
          <p:cNvPr id="15" name="Onthul 1"/>
          <p:cNvSpPr/>
          <p:nvPr/>
        </p:nvSpPr>
        <p:spPr>
          <a:xfrm>
            <a:off x="3403854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nthulTxt 1"/>
          <p:cNvSpPr txBox="1"/>
          <p:nvPr/>
        </p:nvSpPr>
        <p:spPr>
          <a:xfrm>
            <a:off x="3422142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✓ está = hoe ze zich nu voelt</a:t>
            </a:r>
          </a:p>
        </p:txBody>
      </p:sp>
      <p:sp>
        <p:nvSpPr>
          <p:cNvPr id="17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2"/>
          <p:cNvSpPr txBox="1"/>
          <p:nvPr/>
        </p:nvSpPr>
        <p:spPr>
          <a:xfrm>
            <a:off x="6259068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contenta porque está su cumpleaños.</a:t>
            </a:r>
          </a:p>
        </p:txBody>
      </p:sp>
      <p:sp>
        <p:nvSpPr>
          <p:cNvPr id="19" name="Onthul 2"/>
          <p:cNvSpPr/>
          <p:nvPr/>
        </p:nvSpPr>
        <p:spPr>
          <a:xfrm>
            <a:off x="6259068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nthulTxt 2"/>
          <p:cNvSpPr txBox="1"/>
          <p:nvPr/>
        </p:nvSpPr>
        <p:spPr>
          <a:xfrm>
            <a:off x="6277356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✗ ser/estar omgewisseld</a:t>
            </a:r>
          </a:p>
        </p:txBody>
      </p:sp>
      <p:sp>
        <p:nvSpPr>
          <p:cNvPr id="21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3"/>
          <p:cNvSpPr txBox="1"/>
          <p:nvPr/>
        </p:nvSpPr>
        <p:spPr>
          <a:xfrm>
            <a:off x="9114282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Está simpática y es cansada.</a:t>
            </a:r>
          </a:p>
        </p:txBody>
      </p:sp>
      <p:sp>
        <p:nvSpPr>
          <p:cNvPr id="23" name="Onthul 3"/>
          <p:cNvSpPr/>
          <p:nvPr/>
        </p:nvSpPr>
        <p:spPr>
          <a:xfrm>
            <a:off x="9114282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nthulTxt 3"/>
          <p:cNvSpPr txBox="1"/>
          <p:nvPr/>
        </p:nvSpPr>
        <p:spPr>
          <a:xfrm>
            <a:off x="9132570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✗ eigenschap met estar, toestand…</a:t>
            </a:r>
          </a:p>
        </p:txBody>
      </p:sp>
      <p:sp>
        <p:nvSpPr>
          <p:cNvPr id="25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Foto 2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abuelo con delantal, en la cocina, cortando cebolla.</a:t>
            </a:r>
          </a:p>
        </p:txBody>
      </p:sp>
      <p:sp>
        <p:nvSpPr>
          <p:cNvPr id="27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5"/>
          <p:cNvSpPr txBox="1"/>
          <p:nvPr/>
        </p:nvSpPr>
        <p:spPr>
          <a:xfrm>
            <a:off x="3403854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cocinero y está en la cocina.</a:t>
            </a:r>
          </a:p>
        </p:txBody>
      </p:sp>
      <p:sp>
        <p:nvSpPr>
          <p:cNvPr id="29" name="Onthul 5"/>
          <p:cNvSpPr/>
          <p:nvPr/>
        </p:nvSpPr>
        <p:spPr>
          <a:xfrm>
            <a:off x="3403854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nthulTxt 5"/>
          <p:cNvSpPr txBox="1"/>
          <p:nvPr/>
        </p:nvSpPr>
        <p:spPr>
          <a:xfrm>
            <a:off x="3422142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✓ beroep = ser, plaats = estar</a:t>
            </a:r>
          </a:p>
        </p:txBody>
      </p:sp>
      <p:sp>
        <p:nvSpPr>
          <p:cNvPr id="31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6"/>
          <p:cNvSpPr txBox="1"/>
          <p:nvPr/>
        </p:nvSpPr>
        <p:spPr>
          <a:xfrm>
            <a:off x="6259068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Está cocinero y es en la cocina.</a:t>
            </a:r>
          </a:p>
        </p:txBody>
      </p:sp>
      <p:sp>
        <p:nvSpPr>
          <p:cNvPr id="33" name="Onthul 6"/>
          <p:cNvSpPr/>
          <p:nvPr/>
        </p:nvSpPr>
        <p:spPr>
          <a:xfrm>
            <a:off x="6259068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nthulTxt 6"/>
          <p:cNvSpPr txBox="1"/>
          <p:nvPr/>
        </p:nvSpPr>
        <p:spPr>
          <a:xfrm>
            <a:off x="6277356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✗ allebei omgewisseld</a:t>
            </a:r>
          </a:p>
        </p:txBody>
      </p:sp>
      <p:sp>
        <p:nvSpPr>
          <p:cNvPr id="3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7"/>
          <p:cNvSpPr txBox="1"/>
          <p:nvPr/>
        </p:nvSpPr>
        <p:spPr>
          <a:xfrm>
            <a:off x="9114282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en la cocina y está cocinero.</a:t>
            </a:r>
          </a:p>
        </p:txBody>
      </p:sp>
      <p:sp>
        <p:nvSpPr>
          <p:cNvPr id="37" name="Onthul 7"/>
          <p:cNvSpPr/>
          <p:nvPr/>
        </p:nvSpPr>
        <p:spPr>
          <a:xfrm>
            <a:off x="9114282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nthulTxt 7"/>
          <p:cNvSpPr txBox="1"/>
          <p:nvPr/>
        </p:nvSpPr>
        <p:spPr>
          <a:xfrm>
            <a:off x="9132570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✗ idem, andere volgorde</a:t>
            </a:r>
          </a:p>
        </p:txBody>
      </p:sp>
      <p:sp>
        <p:nvSpPr>
          <p:cNvPr id="39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Foto 3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Dos hermanos idénticos, uno con gafas.</a:t>
            </a:r>
          </a:p>
        </p:txBody>
      </p:sp>
      <p:sp>
        <p:nvSpPr>
          <p:cNvPr id="41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arjetaTxt 9"/>
          <p:cNvSpPr txBox="1"/>
          <p:nvPr/>
        </p:nvSpPr>
        <p:spPr>
          <a:xfrm>
            <a:off x="3403854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Son gemelos, pero uno está con gafas.</a:t>
            </a:r>
          </a:p>
        </p:txBody>
      </p:sp>
      <p:sp>
        <p:nvSpPr>
          <p:cNvPr id="43" name="Onthul 9"/>
          <p:cNvSpPr/>
          <p:nvPr/>
        </p:nvSpPr>
        <p:spPr>
          <a:xfrm>
            <a:off x="3403854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nthulTxt 9"/>
          <p:cNvSpPr txBox="1"/>
          <p:nvPr/>
        </p:nvSpPr>
        <p:spPr>
          <a:xfrm>
            <a:off x="3422142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✗ bril dragen = llevar, niet estar</a:t>
            </a:r>
          </a:p>
        </p:txBody>
      </p:sp>
      <p:sp>
        <p:nvSpPr>
          <p:cNvPr id="45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arjetaTxt 10"/>
          <p:cNvSpPr txBox="1"/>
          <p:nvPr/>
        </p:nvSpPr>
        <p:spPr>
          <a:xfrm>
            <a:off x="6259068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Son gemelos y uno lleva gafas.</a:t>
            </a:r>
          </a:p>
        </p:txBody>
      </p:sp>
      <p:sp>
        <p:nvSpPr>
          <p:cNvPr id="47" name="Onthul 10"/>
          <p:cNvSpPr/>
          <p:nvPr/>
        </p:nvSpPr>
        <p:spPr>
          <a:xfrm>
            <a:off x="6259068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nthulTxt 10"/>
          <p:cNvSpPr txBox="1"/>
          <p:nvPr/>
        </p:nvSpPr>
        <p:spPr>
          <a:xfrm>
            <a:off x="6277356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✓ llevar voor kleding en bril</a:t>
            </a:r>
          </a:p>
        </p:txBody>
      </p:sp>
      <p:sp>
        <p:nvSpPr>
          <p:cNvPr id="49" name="Tarjeta 11"/>
          <p:cNvSpPr/>
          <p:nvPr/>
        </p:nvSpPr>
        <p:spPr>
          <a:xfrm>
            <a:off x="9022842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arjetaTxt 11"/>
          <p:cNvSpPr txBox="1"/>
          <p:nvPr/>
        </p:nvSpPr>
        <p:spPr>
          <a:xfrm>
            <a:off x="9114282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Están gemelos y uno es gafas.</a:t>
            </a:r>
          </a:p>
        </p:txBody>
      </p:sp>
      <p:sp>
        <p:nvSpPr>
          <p:cNvPr id="51" name="Onthul 11"/>
          <p:cNvSpPr/>
          <p:nvPr/>
        </p:nvSpPr>
        <p:spPr>
          <a:xfrm>
            <a:off x="9114282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nthulTxt 11"/>
          <p:cNvSpPr txBox="1"/>
          <p:nvPr/>
        </p:nvSpPr>
        <p:spPr>
          <a:xfrm>
            <a:off x="9132570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✗ familieband is ser, en «es gafa…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