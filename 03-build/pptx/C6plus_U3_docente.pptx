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  <p:sldId id="266" r:id="rId18"/>
    <p:sldId id="267" r:id="rId19"/>
    <p:sldId id="268" r:id="rId20"/>
    <p:sldId id="269" r:id="rId21"/>
    <p:sldId id="270" r:id="rId22"/>
    <p:sldId id="271" r:id="rId23"/>
    <p:sldId id="272" r:id="rId24"/>
    <p:sldId id="273" r:id="rId25"/>
    <p:sldId id="274" r:id="rId26"/>
    <p:sldId id="275" r:id="rId27"/>
    <p:sldId id="276" r:id="rId28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Relationship Id="rId19" Type="http://schemas.openxmlformats.org/officeDocument/2006/relationships/slide" Target="slides/slide12.xml"/><Relationship Id="rId20" Type="http://schemas.openxmlformats.org/officeDocument/2006/relationships/slide" Target="slides/slide13.xml"/><Relationship Id="rId21" Type="http://schemas.openxmlformats.org/officeDocument/2006/relationships/slide" Target="slides/slide14.xml"/><Relationship Id="rId22" Type="http://schemas.openxmlformats.org/officeDocument/2006/relationships/slide" Target="slides/slide15.xml"/><Relationship Id="rId23" Type="http://schemas.openxmlformats.org/officeDocument/2006/relationships/slide" Target="slides/slide16.xml"/><Relationship Id="rId24" Type="http://schemas.openxmlformats.org/officeDocument/2006/relationships/slide" Target="slides/slide17.xml"/><Relationship Id="rId25" Type="http://schemas.openxmlformats.org/officeDocument/2006/relationships/slide" Target="slides/slide18.xml"/><Relationship Id="rId26" Type="http://schemas.openxmlformats.org/officeDocument/2006/relationships/slide" Target="slides/slide19.xml"/><Relationship Id="rId27" Type="http://schemas.openxmlformats.org/officeDocument/2006/relationships/slide" Target="slides/slide20.xml"/><Relationship Id="rId28" Type="http://schemas.openxmlformats.org/officeDocument/2006/relationships/slide" Target="slides/slide21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_rels/notesSlide1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.xml"/></Relationships>
</file>

<file path=ppt/notesSlides/_rels/notesSlide1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6.xml"/></Relationships>
</file>

<file path=ppt/notesSlides/_rels/notesSlide1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7.xml"/></Relationships>
</file>

<file path=ppt/notesSlides/_rels/notesSlide1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8.xml"/></Relationships>
</file>

<file path=ppt/notesSlides/_rels/notesSlide1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9.xml"/></Relationships>
</file>

<file path=ppt/notesSlides/_rels/notesSlide2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0.xml"/></Relationships>
</file>

<file path=ppt/notesSlides/_rels/notesSlide2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1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TEACHER · TITLE. U3 = media, redes y planes. Kerngrammatica: ir a + infinitivo (futuro próximo) + acabar de, OI-pronomina le/les, creo que + indicativo. Parada 3 = CDMX (Diego). Kernvalstrikken: voy A subir (vergeet de a niet) · creo que + INDICATIVO (nooit subjuntivo) · le (1 persoon) ≠ les (meer). Docentdeck = oplossing; leerlingdeck (.pptx, F5) = klik onthult.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TEACHER · LESSON_MENU. Elke tegel = hyperlink; ⌂ Menú terug op elke oefendia. Richttijd 50 min. Kern = §2 ir a + infinitivo + §3 le/les + §4 creo que. Kruisverwijzing: «oefen online — 13 juegos + 100+ oefeningen».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TEACHER · VOCABULARY. Laat de media-woorden raden zónder gloss. Koppel verbo → objeto (subir un vídeo). Online: memoria digital (memory) + verbo↔objeto (match).</a:t>
            </a:r>
          </a:p>
          <a:p/>
          <a:p>
            <a:r>
              <a:t>— SOLUCIÓN (docent · presenter view) —</a:t>
            </a:r>
          </a:p>
          <a:p>
            <a:r>
              <a:t>Las acciones: subir un vídeo · descargar una app · chatear con un amigo · seguir a un artista · compartir una foto.</a:t>
            </a:r>
          </a:p>
          <a:p>
            <a:r>
              <a:t>🔴 los auriculares = altijd meervoud (de oortjes).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TEACHER · GRAMMAR ir a. Toon de bouw ir + a + infinitivo. Benadruk de a. Online: ir a + infinitivo (cloze) + ir a Tetris.</a:t>
            </a:r>
          </a:p>
          <a:p/>
          <a:p>
            <a:r>
              <a:t>— SOLUCIÓN (docent · presenter view) —</a:t>
            </a:r>
          </a:p>
          <a:p>
            <a:r>
              <a:t>Regla: enkel ir verandert (voy/vas/va…); daarna altijd a + infinitivo. 🔴 vergeet de a niet: «voy subir» → voy a subir.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TEACHER · QUIZ ir a (retrieval). Klas roept de vorm vóór de klik. Online: ir a + infinitivo (cloze).</a:t>
            </a:r>
          </a:p>
          <a:p/>
          <a:p>
            <a:r>
              <a:t>— SOLUCIÓN (docent · presenter view) —</a:t>
            </a:r>
          </a:p>
          <a:p>
            <a:r>
              <a:t>Truc: ir vervoegd + a + infinitivo. voy/vas/va/vamos/vais/van a + hele werkwoord.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TEACHER · GRAMMAR acabar de + tijd. Contrast ir a (straks) ↔ acabar de (net). Online: ¿ahora o después? (classify) + cloze.</a:t>
            </a:r>
          </a:p>
          <a:p/>
          <a:p>
            <a:r>
              <a:t>— SOLUCIÓN (docent · presenter view) —</a:t>
            </a:r>
          </a:p>
          <a:p>
            <a:r>
              <a:t>Acabar de: acabo/acabas/acaba… + de + infinitivo = «net … gedaan». Acabo de mandar un mensaje.</a:t>
            </a:r>
          </a:p>
          <a:p>
            <a:r>
              <a:t>🔴 futuro (ir a) vs recién (acabar de): «Mañana voy a…» tegenover «Acabo de…».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TEACHER · GRAMMAR le/les. Koppel gustar (le gusta, U1) → le/les. Online: ¿le o les? (classify) + le/les (cloze).</a:t>
            </a:r>
          </a:p>
          <a:p/>
          <a:p>
            <a:r>
              <a:t>— SOLUCIÓN (docent · presenter view) —</a:t>
            </a:r>
          </a:p>
          <a:p>
            <a:r>
              <a:t>Regla: le = aan één persoon · les = aan meerdere. Staat vóór het vervoegde werkwoord. </a:t>
            </a:r>
          </a:p>
          <a:p>
            <a:r>
              <a:t>In het Spaans zeg je vaak le én a Diego samen: «Le escribo a Diego» — dat is normaal.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TEACHER · QUIZ le/les (reveal). Coro vóór de klik. Online: le/les (cloze) + le/les (classify).</a:t>
            </a:r>
          </a:p>
          <a:p/>
          <a:p>
            <a:r>
              <a:t>— SOLUCIÓN (docent · presenter view) —</a:t>
            </a:r>
          </a:p>
          <a:p>
            <a:r>
              <a:t>Regla: a + één persoon → le · a + meer personen → les.</a:t>
            </a:r>
          </a:p>
          <a:p>
            <a:r>
              <a:t>Plaats: vóór het vervoegde werkwoord (of achter de infinitivo: voy a escribirle).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TEACHER · READING (lezen→schrijven). Eerst globaal, dan scannen. Daarna: leerlingen geven hun eigen mening (creo que + porque) + een plan (voy a).</a:t>
            </a:r>
          </a:p>
          <a:p/>
          <a:p>
            <a:r>
              <a:t>— SOLUCIÓN (docent · presenter view) —</a:t>
            </a:r>
          </a:p>
          <a:p>
            <a:r>
              <a:t>🎯 Leesdoel: scannen naar de mening (creo que…) + het plan (voy a…).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TEACHER · LISTENING (luisteren→spreken). Lees het gesprek voor (of TTS); klas noteert qué/cuándo/dónde. Daarna info-gap in parejas. Online: ¿qué vas a hacer el finde? (audio + script).</a:t>
            </a:r>
          </a:p>
          <a:p/>
          <a:p>
            <a:r>
              <a:t>— SOLUCIÓN (docent · presenter view) —</a:t>
            </a:r>
          </a:p>
          <a:p>
            <a:r>
              <a:t>Modelo-audio (docent/TTS): «— ¿Qué vas a hacer el finde? — El sábado voy a quedar con Diego. Vamos a ver una peli.» </a:t>
            </a:r>
          </a:p>
          <a:p>
            <a:r>
              <a:t>Daarna: A vraagt B naar zijn plannen (info-gap).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TEACHER · GRAMMAR creo que. Benadruk: creo que + INDICATIVO (buiten scope: subjuntivo). Online: creo que + indicativo (cloze).</a:t>
            </a:r>
          </a:p>
          <a:p/>
          <a:p>
            <a:r>
              <a:t>— SOLUCIÓN (docent · presenter view) —</a:t>
            </a:r>
          </a:p>
          <a:p>
            <a:r>
              <a:t>Regla: creo que + indicativo (de gewone tijd): «creo que es útil». 🔴 nooit subjuntivo. Bouw af met porque.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TEACHER · QUIZ creo que (retrieval). Klas roept de indicativo vóór de klik. Online: creo que + indicativo (cloze).</a:t>
            </a:r>
          </a:p>
          <a:p/>
          <a:p>
            <a:r>
              <a:t>— SOLUCIÓN (docent · presenter view) —</a:t>
            </a:r>
          </a:p>
          <a:p>
            <a:r>
              <a:t>Indicativo: son · tiene · pasamos · ayuda · pueden · es. Dezelfde gewone tijd die je al kent.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TEACHER · SPEAKING (interactie). Rondes met afbouwende steun. Online: recorder (mi finde + mi opinión). Print blijft bruikbaar zonder opname.</a:t>
            </a:r>
          </a:p>
          <a:p/>
          <a:p>
            <a:r>
              <a:t>— SOLUCIÓN (docent · presenter view) —</a:t>
            </a:r>
          </a:p>
          <a:p>
            <a:r>
              <a:t>Modelo: «Este finde voy a quedar con Diego. Le escribo para invitarlo. Acabo de crear el grupo. Creo que va a ser genial porque hace tiempo que no nos vemos.»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TEACHER · WRITING (lezen→schrijven). Checklist = zichtbare steun; onthul het model pas na het schrijven. Nakijkfocus: ir a + a, le/les, acabar de, creo que + indicativo. Voedt de Tarea «Mi plan de fin de semana».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TEACHER · VOCAB comunicar/planes. Klik onthult; koppel verbo → le/les. Online: verbo↔objeto (match) + memoria de acciones.</a:t>
            </a:r>
          </a:p>
          <a:p/>
          <a:p>
            <a:r>
              <a:t>— SOLUCIÓN (docent · presenter view) —</a:t>
            </a:r>
          </a:p>
          <a:p>
            <a:r>
              <a:t>Chunks para quedar: ¿Quedamos el sábado? · ¿A qué hora? · ¿Dónde? · Vale, nos vemos.</a:t>
            </a:r>
          </a:p>
          <a:p>
            <a:r>
              <a:t>Verbos + le/les: escribir/mandar/decir/contar/preguntar/regalar a alguien.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TEACHER · TALLER. c/z/qu-spelling + tijdsconnectoren. Online: drills in de hub.</a:t>
            </a:r>
          </a:p>
          <a:p/>
          <a:p>
            <a:r>
              <a:t>— SOLUCIÓN (docent · presenter view) —</a:t>
            </a:r>
          </a:p>
          <a:p>
            <a:r>
              <a:t>A: /k/ = c (a/o/u) of qu (e/i): contraseña, quedar · /θ/ = z (a/o/u) of c (e/i): zumo, música.</a:t>
            </a:r>
          </a:p>
          <a:p>
            <a:r>
              <a:t>B: primero → después/luego → más tarde → al final. Zo orden je je weekendplan.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TEACHER · CULTURE (identiteit in diversiteit, LPD 5). Onthul per kaart. Bruggetje: La Ruta parada 3 = CDMX (★, música). Online: klik op México op de kaart.</a:t>
            </a:r>
          </a:p>
          <a:p/>
          <a:p>
            <a:r>
              <a:t>— SOLUCIÓN (docent · presenter view) —</a:t>
            </a:r>
          </a:p>
          <a:p>
            <a:r>
              <a:t>Actividad: ¿qué redes/música hispana conoces? Da tu opinión: «Creo que… porque…».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TEACHER · FINAL_MISSION (communicatieve eindtaak). Afzender/ontvanger/doel/situatie/resultaat expliciet. Beoordeel met de rúbrica; opname op de web.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TEACHER · QUIZ mezcla (retrieval vóór herlezen). Zonder waarschuwing door elkaar. Exit-ticket. Zwakke punten → terug via menu.</a:t>
            </a:r>
          </a:p>
          <a:p/>
          <a:p>
            <a:r>
              <a:t>— SOLUCIÓN (docent · presenter view) —</a:t>
            </a:r>
          </a:p>
          <a:p>
            <a:r>
              <a:t>Alles komt terug: ir a + infinitivo · acabar de · le/les · creo que + indicativo · expresiones de tiempo.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TEACHER · FEEDBACK/REPASO. Semáforo = zelfevaluatie. Repaso-drills online (13 spellen). Bruggetje: U4 «De viaje» — reizen, transport, alojamiento.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Alleen in het docentdeck. Volledige LPD-dekking en didactische route staan in het cursusdossier (cocktail + outline).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2.png"/><Relationship Id="rId4" Type="http://schemas.openxmlformats.org/officeDocument/2006/relationships/image" Target="../media/image3.png"/><Relationship Id="rId5" Type="http://schemas.openxmlformats.org/officeDocument/2006/relationships/image" Target="../media/image4.png"/><Relationship Id="rId6" Type="http://schemas.openxmlformats.org/officeDocument/2006/relationships/image" Target="../media/image5.png"/><Relationship Id="rId7" Type="http://schemas.openxmlformats.org/officeDocument/2006/relationships/image" Target="../media/image6.png"/><Relationship Id="rId8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Relationship Id="rId3" Type="http://schemas.openxmlformats.org/officeDocument/2006/relationships/slide" Target="slide3.xml"/><Relationship Id="rId4" Type="http://schemas.openxmlformats.org/officeDocument/2006/relationships/slide" Target="slide4.xml"/><Relationship Id="rId5" Type="http://schemas.openxmlformats.org/officeDocument/2006/relationships/slide" Target="slide7.xml"/><Relationship Id="rId6" Type="http://schemas.openxmlformats.org/officeDocument/2006/relationships/slide" Target="slide11.xml"/><Relationship Id="rId7" Type="http://schemas.openxmlformats.org/officeDocument/2006/relationships/slide" Target="slide15.xml"/><Relationship Id="rId8" Type="http://schemas.openxmlformats.org/officeDocument/2006/relationships/slide" Target="slide9.xml"/><Relationship Id="rId9" Type="http://schemas.openxmlformats.org/officeDocument/2006/relationships/slide" Target="slide17.xml"/><Relationship Id="rId10" Type="http://schemas.openxmlformats.org/officeDocument/2006/relationships/slide" Target="slide18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.xml"/><Relationship Id="rId3" Type="http://schemas.openxmlformats.org/officeDocument/2006/relationships/slide" Target="slide2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.xml"/><Relationship Id="rId3" Type="http://schemas.openxmlformats.org/officeDocument/2006/relationships/slide" Target="slide2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.xml"/><Relationship Id="rId3" Type="http://schemas.openxmlformats.org/officeDocument/2006/relationships/slide" Target="slide2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.xml"/><Relationship Id="rId3" Type="http://schemas.openxmlformats.org/officeDocument/2006/relationships/slide" Target="slide2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.xml"/><Relationship Id="rId3" Type="http://schemas.openxmlformats.org/officeDocument/2006/relationships/slide" Target="slide2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.xml"/><Relationship Id="rId3" Type="http://schemas.openxmlformats.org/officeDocument/2006/relationships/slide" Target="slide2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image" Target="../media/image1.png"/><Relationship Id="rId4" Type="http://schemas.openxmlformats.org/officeDocument/2006/relationships/notesSlide" Target="../notesSlides/notesSlide9.xml"/><Relationship Id="rId5" Type="http://schemas.openxmlformats.org/officeDocument/2006/relationships/slide" Target="slide2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0.xml"/><Relationship Id="rId3" Type="http://schemas.openxmlformats.org/officeDocument/2006/relationships/slide" Target="slide2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1.xml"/><Relationship Id="rId3" Type="http://schemas.openxmlformats.org/officeDocument/2006/relationships/slide" Target="slide2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2.xml"/><Relationship Id="rId3" Type="http://schemas.openxmlformats.org/officeDocument/2006/relationships/slide" Target="slide2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Relationship Id="rId3" Type="http://schemas.openxmlformats.org/officeDocument/2006/relationships/notesSlide" Target="../notesSlides/notesSlide13.xml"/><Relationship Id="rId4" Type="http://schemas.openxmlformats.org/officeDocument/2006/relationships/slide" Target="slide2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4.xml"/><Relationship Id="rId3" Type="http://schemas.openxmlformats.org/officeDocument/2006/relationships/slide" Target="slide2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5.xml"/><Relationship Id="rId3" Type="http://schemas.openxmlformats.org/officeDocument/2006/relationships/slide" Target="slide2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6.xml"/><Relationship Id="rId3" Type="http://schemas.openxmlformats.org/officeDocument/2006/relationships/slide" Target="slide2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7.xml"/><Relationship Id="rId3" Type="http://schemas.openxmlformats.org/officeDocument/2006/relationships/slide" Target="slide2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.png"/><Relationship Id="rId3" Type="http://schemas.openxmlformats.org/officeDocument/2006/relationships/notesSlide" Target="../notesSlides/notesSlide18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9.xml"/><Relationship Id="rId3" Type="http://schemas.openxmlformats.org/officeDocument/2006/relationships/slide" Target="slide2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0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1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CFB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4297680"/>
          </a:xfrm>
          <a:prstGeom prst="rect">
            <a:avLst/>
          </a:prstGeom>
          <a:solidFill>
            <a:srgbClr val="7C56A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4297680"/>
            <a:ext cx="12191695" cy="82296"/>
          </a:xfrm>
          <a:prstGeom prst="rect">
            <a:avLst/>
          </a:prstGeom>
          <a:solidFill>
            <a:srgbClr val="5B3E8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48640" y="320040"/>
            <a:ext cx="3108960" cy="329184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26000" b="1" i="0">
                <a:solidFill>
                  <a:srgbClr val="9374C2"/>
                </a:solidFill>
                <a:latin typeface="Bricolage Grotesque"/>
              </a:rPr>
              <a:t>3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3977639" y="777240"/>
            <a:ext cx="2810865" cy="292608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88900" rIns="88900" tIns="12700" bIns="12700"/>
          <a:lstStyle/>
          <a:p>
            <a:pPr algn="ctr"/>
            <a:r>
              <a:rPr sz="1200" b="1">
                <a:solidFill>
                  <a:srgbClr val="5B3E83"/>
                </a:solidFill>
                <a:latin typeface="Inter"/>
              </a:rPr>
              <a:t>LA RUTA · CDMX 🇲🇽 · CONECTADOS 📱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931920" y="1234440"/>
            <a:ext cx="7863840" cy="137160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6200" b="1" i="0">
                <a:solidFill>
                  <a:srgbClr val="FFFFFF"/>
                </a:solidFill>
                <a:latin typeface="Bricolage Grotesque"/>
              </a:rPr>
              <a:t>Conectados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977639" y="2468880"/>
            <a:ext cx="7680960" cy="54864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500" b="0" i="1">
                <a:solidFill>
                  <a:srgbClr val="EEE8F5"/>
                </a:solidFill>
                <a:latin typeface="Inter"/>
              </a:rPr>
              <a:t>Media y planes: ir a + infinitivo · le/les · creo que + indicativo.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977639" y="3063240"/>
            <a:ext cx="7680960" cy="82296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2400" b="1" i="0">
                <a:solidFill>
                  <a:srgbClr val="FFFFFF"/>
                </a:solidFill>
                <a:latin typeface="Bricolage Grotesque"/>
              </a:rPr>
              <a:t>¿Qué vas a hacer este finde?</a:t>
            </a:r>
          </a:p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0" i="1">
                <a:solidFill>
                  <a:srgbClr val="EEE8F5"/>
                </a:solidFill>
                <a:latin typeface="Inter"/>
              </a:rPr>
              <a:t>Wat ga je dit weekend doen?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48640" y="4526280"/>
            <a:ext cx="5486400" cy="36576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1" i="0">
                <a:solidFill>
                  <a:srgbClr val="5B3E83"/>
                </a:solidFill>
                <a:latin typeface="Bricolage Grotesque"/>
              </a:rPr>
              <a:t>La gente de la ruta — parada 3: CDMX (Diego)</a:t>
            </a:r>
          </a:p>
        </p:txBody>
      </p:sp>
      <p:pic>
        <p:nvPicPr>
          <p:cNvPr id="11" name="Picture 10" descr="lucia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8640" y="4937760"/>
            <a:ext cx="914400" cy="914400"/>
          </a:xfrm>
          <a:prstGeom prst="rect">
            <a:avLst/>
          </a:prstGeom>
        </p:spPr>
      </p:pic>
      <p:sp>
        <p:nvSpPr>
          <p:cNvPr id="12" name="TextBox 11"/>
          <p:cNvSpPr txBox="1"/>
          <p:nvPr/>
        </p:nvSpPr>
        <p:spPr>
          <a:xfrm>
            <a:off x="411480" y="5870448"/>
            <a:ext cx="1188720" cy="45720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050" b="1" i="0">
                <a:solidFill>
                  <a:srgbClr val="20242E"/>
                </a:solidFill>
                <a:latin typeface="Inter"/>
              </a:rPr>
              <a:t>Lucia</a:t>
            </a:r>
          </a:p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850" b="0" i="0">
                <a:solidFill>
                  <a:srgbClr val="6A6E78"/>
                </a:solidFill>
                <a:latin typeface="Inter"/>
              </a:rPr>
              <a:t>Sevilla 🇪🇸</a:t>
            </a:r>
          </a:p>
        </p:txBody>
      </p:sp>
      <p:pic>
        <p:nvPicPr>
          <p:cNvPr id="13" name="Picture 12" descr="diego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423159" y="4937760"/>
            <a:ext cx="914400" cy="914400"/>
          </a:xfrm>
          <a:prstGeom prst="rect">
            <a:avLst/>
          </a:prstGeom>
        </p:spPr>
      </p:pic>
      <p:sp>
        <p:nvSpPr>
          <p:cNvPr id="14" name="TextBox 13"/>
          <p:cNvSpPr txBox="1"/>
          <p:nvPr/>
        </p:nvSpPr>
        <p:spPr>
          <a:xfrm>
            <a:off x="2285999" y="5870448"/>
            <a:ext cx="1188720" cy="45720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050" b="1" i="0">
                <a:solidFill>
                  <a:srgbClr val="20242E"/>
                </a:solidFill>
                <a:latin typeface="Inter"/>
              </a:rPr>
              <a:t>Diego</a:t>
            </a:r>
          </a:p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850" b="0" i="0">
                <a:solidFill>
                  <a:srgbClr val="6A6E78"/>
                </a:solidFill>
                <a:latin typeface="Inter"/>
              </a:rPr>
              <a:t>CDMX 🇲🇽</a:t>
            </a:r>
          </a:p>
        </p:txBody>
      </p:sp>
      <p:pic>
        <p:nvPicPr>
          <p:cNvPr id="15" name="Picture 14" descr="valen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297678" y="4937760"/>
            <a:ext cx="914400" cy="914400"/>
          </a:xfrm>
          <a:prstGeom prst="rect">
            <a:avLst/>
          </a:prstGeom>
        </p:spPr>
      </p:pic>
      <p:sp>
        <p:nvSpPr>
          <p:cNvPr id="16" name="TextBox 15"/>
          <p:cNvSpPr txBox="1"/>
          <p:nvPr/>
        </p:nvSpPr>
        <p:spPr>
          <a:xfrm>
            <a:off x="4160518" y="5870448"/>
            <a:ext cx="1188720" cy="45720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050" b="1" i="0">
                <a:solidFill>
                  <a:srgbClr val="20242E"/>
                </a:solidFill>
                <a:latin typeface="Inter"/>
              </a:rPr>
              <a:t>Valen</a:t>
            </a:r>
          </a:p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850" b="0" i="0">
                <a:solidFill>
                  <a:srgbClr val="6A6E78"/>
                </a:solidFill>
                <a:latin typeface="Inter"/>
              </a:rPr>
              <a:t>Cartagena 🇨🇴</a:t>
            </a:r>
          </a:p>
        </p:txBody>
      </p:sp>
      <p:pic>
        <p:nvPicPr>
          <p:cNvPr id="17" name="Picture 16" descr="nina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172197" y="4937760"/>
            <a:ext cx="914400" cy="914400"/>
          </a:xfrm>
          <a:prstGeom prst="rect">
            <a:avLst/>
          </a:prstGeom>
        </p:spPr>
      </p:pic>
      <p:sp>
        <p:nvSpPr>
          <p:cNvPr id="18" name="TextBox 17"/>
          <p:cNvSpPr txBox="1"/>
          <p:nvPr/>
        </p:nvSpPr>
        <p:spPr>
          <a:xfrm>
            <a:off x="6035037" y="5870448"/>
            <a:ext cx="1188720" cy="45720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050" b="1" i="0">
                <a:solidFill>
                  <a:srgbClr val="20242E"/>
                </a:solidFill>
                <a:latin typeface="Inter"/>
              </a:rPr>
              <a:t>Nina</a:t>
            </a:r>
          </a:p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850" b="0" i="0">
                <a:solidFill>
                  <a:srgbClr val="6A6E78"/>
                </a:solidFill>
                <a:latin typeface="Inter"/>
              </a:rPr>
              <a:t>Cusco 🇵🇪</a:t>
            </a:r>
          </a:p>
        </p:txBody>
      </p:sp>
      <p:pic>
        <p:nvPicPr>
          <p:cNvPr id="19" name="Picture 18" descr="tu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8046716" y="4937760"/>
            <a:ext cx="914400" cy="914400"/>
          </a:xfrm>
          <a:prstGeom prst="rect">
            <a:avLst/>
          </a:prstGeom>
        </p:spPr>
      </p:pic>
      <p:sp>
        <p:nvSpPr>
          <p:cNvPr id="20" name="TextBox 19"/>
          <p:cNvSpPr txBox="1"/>
          <p:nvPr/>
        </p:nvSpPr>
        <p:spPr>
          <a:xfrm>
            <a:off x="7909556" y="5870448"/>
            <a:ext cx="1188720" cy="45720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050" b="1" i="0">
                <a:solidFill>
                  <a:srgbClr val="20242E"/>
                </a:solidFill>
                <a:latin typeface="Inter"/>
              </a:rPr>
              <a:t>Tú</a:t>
            </a:r>
          </a:p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850" b="0" i="0">
                <a:solidFill>
                  <a:srgbClr val="6A6E78"/>
                </a:solidFill>
                <a:latin typeface="Inter"/>
              </a:rPr>
              <a:t>de reiziger = jij</a:t>
            </a:r>
          </a:p>
        </p:txBody>
      </p:sp>
      <p:pic>
        <p:nvPicPr>
          <p:cNvPr id="21" name="Picture 20" descr="mochila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9921235" y="4937760"/>
            <a:ext cx="914400" cy="914400"/>
          </a:xfrm>
          <a:prstGeom prst="rect">
            <a:avLst/>
          </a:prstGeom>
        </p:spPr>
      </p:pic>
      <p:sp>
        <p:nvSpPr>
          <p:cNvPr id="22" name="TextBox 21"/>
          <p:cNvSpPr txBox="1"/>
          <p:nvPr/>
        </p:nvSpPr>
        <p:spPr>
          <a:xfrm>
            <a:off x="9784075" y="5870448"/>
            <a:ext cx="1188720" cy="45720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050" b="1" i="0">
                <a:solidFill>
                  <a:srgbClr val="20242E"/>
                </a:solidFill>
                <a:latin typeface="Inter"/>
              </a:rPr>
              <a:t>Mochila</a:t>
            </a:r>
          </a:p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850" b="0" i="0">
                <a:solidFill>
                  <a:srgbClr val="6A6E78"/>
                </a:solidFill>
                <a:latin typeface="Inter"/>
              </a:rPr>
              <a:t>La mochila</a:t>
            </a:r>
          </a:p>
        </p:txBody>
      </p:sp>
      <p:sp>
        <p:nvSpPr>
          <p:cNvPr id="23" name="Rectangle 22"/>
          <p:cNvSpPr/>
          <p:nvPr/>
        </p:nvSpPr>
        <p:spPr>
          <a:xfrm>
            <a:off x="0" y="6547104"/>
            <a:ext cx="12191695" cy="310896"/>
          </a:xfrm>
          <a:prstGeom prst="rect">
            <a:avLst/>
          </a:prstGeom>
          <a:solidFill>
            <a:srgbClr val="F3EE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411480" y="6565392"/>
            <a:ext cx="548640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1" i="0">
                <a:solidFill>
                  <a:srgbClr val="7C56A9"/>
                </a:solidFill>
                <a:latin typeface="Inter"/>
              </a:rPr>
              <a:t>● </a:t>
            </a:r>
            <a:r>
              <a:rPr sz="950" b="0" i="0">
                <a:solidFill>
                  <a:srgbClr val="6A6E78"/>
                </a:solidFill>
                <a:latin typeface="Inter"/>
              </a:rPr>
              <a:t>U3 · CONECTADOS   ·   C6+ · conectados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8686800" y="6565392"/>
            <a:ext cx="306324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900" b="0" i="1">
                <a:solidFill>
                  <a:srgbClr val="6A6E78"/>
                </a:solidFill>
                <a:latin typeface="Inter"/>
              </a:rPr>
              <a:t>Docentenversie — met oplossingen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1475720" y="6565392"/>
            <a:ext cx="45720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950" b="1" i="0">
                <a:solidFill>
                  <a:srgbClr val="5B3E83"/>
                </a:solidFill>
                <a:latin typeface="Inter"/>
              </a:rPr>
              <a:t>1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CFB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78992"/>
          </a:xfrm>
          <a:prstGeom prst="rect">
            <a:avLst/>
          </a:prstGeom>
          <a:solidFill>
            <a:srgbClr val="7C56A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78992"/>
            <a:ext cx="12191695" cy="54864"/>
          </a:xfrm>
          <a:prstGeom prst="rect">
            <a:avLst/>
          </a:prstGeom>
          <a:solidFill>
            <a:srgbClr val="5B3E8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502920" y="182880"/>
            <a:ext cx="1633118" cy="292608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88900" rIns="88900" tIns="12700" bIns="12700"/>
          <a:lstStyle/>
          <a:p>
            <a:pPr algn="ctr"/>
            <a:r>
              <a:rPr sz="1100" b="1">
                <a:solidFill>
                  <a:srgbClr val="7C56A9"/>
                </a:solidFill>
                <a:latin typeface="Inter"/>
              </a:rPr>
              <a:t>MENÚ DE LA LECCIÓN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424160" y="-137160"/>
            <a:ext cx="1737360" cy="137160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8800" b="1" i="0">
                <a:solidFill>
                  <a:srgbClr val="FFFFFF"/>
                </a:solidFill>
                <a:latin typeface="Bricolage Grotesque"/>
              </a:rPr>
              <a:t>3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457200"/>
            <a:ext cx="9692640" cy="5029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2700" b="1" i="0">
                <a:solidFill>
                  <a:srgbClr val="FFFFFF"/>
                </a:solidFill>
                <a:latin typeface="Bricolage Grotesque"/>
              </a:rPr>
              <a:t>El mapa de la Unidad 3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02920" y="932688"/>
            <a:ext cx="9692640" cy="27432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50" b="0" i="1">
                <a:solidFill>
                  <a:srgbClr val="EEE8F5"/>
                </a:solidFill>
                <a:latin typeface="Inter"/>
              </a:rPr>
              <a:t>Kies je route — klik een tegel. Alles oefent naar de Tarea «Mi plan de fin de semana» toe.</a:t>
            </a:r>
          </a:p>
        </p:txBody>
      </p:sp>
      <p:sp>
        <p:nvSpPr>
          <p:cNvPr id="9" name="Rounded Rectangle 8">
            <a:hlinkClick action="ppaction://hlinksldjump" r:id="rId3"/>
          </p:cNvPr>
          <p:cNvSpPr/>
          <p:nvPr/>
        </p:nvSpPr>
        <p:spPr>
          <a:xfrm>
            <a:off x="457200" y="1417320"/>
            <a:ext cx="2743200" cy="224028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20320">
            <a:solidFill>
              <a:srgbClr val="7C56A9"/>
            </a:solidFill>
          </a:ln>
          <a:effectLst>
            <a:outerShdw blurRad="90000" dist="38000" dir="5400000" rotWithShape="0">
              <a:srgbClr val="20242E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>
            <a:hlinkClick action="ppaction://hlinksldjump" r:id="rId3"/>
          </p:cNvPr>
          <p:cNvSpPr/>
          <p:nvPr/>
        </p:nvSpPr>
        <p:spPr>
          <a:xfrm>
            <a:off x="457200" y="1417320"/>
            <a:ext cx="2743200" cy="457200"/>
          </a:xfrm>
          <a:prstGeom prst="rect">
            <a:avLst/>
          </a:prstGeom>
          <a:solidFill>
            <a:srgbClr val="7C56A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ounded Rectangle 10"/>
          <p:cNvSpPr/>
          <p:nvPr/>
        </p:nvSpPr>
        <p:spPr>
          <a:xfrm>
            <a:off x="566928" y="1490472"/>
            <a:ext cx="310896" cy="310896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200" b="1">
                <a:solidFill>
                  <a:srgbClr val="7C56A9"/>
                </a:solidFill>
                <a:latin typeface="Bricolage Grotesque"/>
              </a:rPr>
              <a:t>§1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87552" y="1472184"/>
            <a:ext cx="2103120" cy="36576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450" b="1" i="0">
                <a:solidFill>
                  <a:srgbClr val="FFFFFF"/>
                </a:solidFill>
                <a:latin typeface="Bricolage Grotesque"/>
              </a:rPr>
              <a:t>El móvil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21792" y="2039112"/>
            <a:ext cx="2414016" cy="109728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0" i="0">
                <a:solidFill>
                  <a:srgbClr val="20242E"/>
                </a:solidFill>
                <a:latin typeface="Inter"/>
              </a:rPr>
              <a:t>medios · redes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21792" y="3246120"/>
            <a:ext cx="707745" cy="292608"/>
          </a:xfrm>
          <a:prstGeom prst="roundRect">
            <a:avLst>
              <a:gd name="adj" fmla="val 50000"/>
            </a:avLst>
          </a:prstGeom>
          <a:solidFill>
            <a:srgbClr val="EEE8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88900" rIns="88900" tIns="12700" bIns="12700"/>
          <a:lstStyle/>
          <a:p>
            <a:pPr algn="ctr"/>
            <a:r>
              <a:rPr sz="950" b="1">
                <a:solidFill>
                  <a:srgbClr val="5B3E83"/>
                </a:solidFill>
                <a:latin typeface="Inter"/>
              </a:rPr>
              <a:t>→ dia 3</a:t>
            </a:r>
          </a:p>
        </p:txBody>
      </p:sp>
      <p:sp>
        <p:nvSpPr>
          <p:cNvPr id="15" name="Rounded Rectangle 14">
            <a:hlinkClick action="ppaction://hlinksldjump" r:id="rId4"/>
          </p:cNvPr>
          <p:cNvSpPr/>
          <p:nvPr/>
        </p:nvSpPr>
        <p:spPr>
          <a:xfrm>
            <a:off x="3328416" y="1417320"/>
            <a:ext cx="2743200" cy="224028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20320">
            <a:solidFill>
              <a:srgbClr val="7C56A9"/>
            </a:solidFill>
          </a:ln>
          <a:effectLst>
            <a:outerShdw blurRad="90000" dist="38000" dir="5400000" rotWithShape="0">
              <a:srgbClr val="20242E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>
            <a:hlinkClick action="ppaction://hlinksldjump" r:id="rId4"/>
          </p:cNvPr>
          <p:cNvSpPr/>
          <p:nvPr/>
        </p:nvSpPr>
        <p:spPr>
          <a:xfrm>
            <a:off x="3328416" y="1417320"/>
            <a:ext cx="2743200" cy="457200"/>
          </a:xfrm>
          <a:prstGeom prst="rect">
            <a:avLst/>
          </a:prstGeom>
          <a:solidFill>
            <a:srgbClr val="7C56A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ounded Rectangle 16"/>
          <p:cNvSpPr/>
          <p:nvPr/>
        </p:nvSpPr>
        <p:spPr>
          <a:xfrm>
            <a:off x="3438144" y="1490472"/>
            <a:ext cx="310896" cy="310896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200" b="1">
                <a:solidFill>
                  <a:srgbClr val="7C56A9"/>
                </a:solidFill>
                <a:latin typeface="Bricolage Grotesque"/>
              </a:rPr>
              <a:t>§2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3858768" y="1472184"/>
            <a:ext cx="2103120" cy="36576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450" b="1" i="0">
                <a:solidFill>
                  <a:srgbClr val="FFFFFF"/>
                </a:solidFill>
                <a:latin typeface="Bricolage Grotesque"/>
              </a:rPr>
              <a:t>Ir a + inf.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3493008" y="2039112"/>
            <a:ext cx="2414016" cy="109728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0" i="0">
                <a:solidFill>
                  <a:srgbClr val="20242E"/>
                </a:solidFill>
                <a:latin typeface="Inter"/>
              </a:rPr>
              <a:t>futuro próximo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3493008" y="3246120"/>
            <a:ext cx="707745" cy="292608"/>
          </a:xfrm>
          <a:prstGeom prst="roundRect">
            <a:avLst>
              <a:gd name="adj" fmla="val 50000"/>
            </a:avLst>
          </a:prstGeom>
          <a:solidFill>
            <a:srgbClr val="EEE8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88900" rIns="88900" tIns="12700" bIns="12700"/>
          <a:lstStyle/>
          <a:p>
            <a:pPr algn="ctr"/>
            <a:r>
              <a:rPr sz="950" b="1">
                <a:solidFill>
                  <a:srgbClr val="5B3E83"/>
                </a:solidFill>
                <a:latin typeface="Inter"/>
              </a:rPr>
              <a:t>→ dia 4</a:t>
            </a:r>
          </a:p>
        </p:txBody>
      </p:sp>
      <p:sp>
        <p:nvSpPr>
          <p:cNvPr id="21" name="Rounded Rectangle 20">
            <a:hlinkClick action="ppaction://hlinksldjump" r:id="rId5"/>
          </p:cNvPr>
          <p:cNvSpPr/>
          <p:nvPr/>
        </p:nvSpPr>
        <p:spPr>
          <a:xfrm>
            <a:off x="6199632" y="1417320"/>
            <a:ext cx="2743200" cy="224028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20320">
            <a:solidFill>
              <a:srgbClr val="7C56A9"/>
            </a:solidFill>
          </a:ln>
          <a:effectLst>
            <a:outerShdw blurRad="90000" dist="38000" dir="5400000" rotWithShape="0">
              <a:srgbClr val="20242E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>
            <a:hlinkClick action="ppaction://hlinksldjump" r:id="rId5"/>
          </p:cNvPr>
          <p:cNvSpPr/>
          <p:nvPr/>
        </p:nvSpPr>
        <p:spPr>
          <a:xfrm>
            <a:off x="6199632" y="1417320"/>
            <a:ext cx="2743200" cy="457200"/>
          </a:xfrm>
          <a:prstGeom prst="rect">
            <a:avLst/>
          </a:prstGeom>
          <a:solidFill>
            <a:srgbClr val="7C56A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ounded Rectangle 22"/>
          <p:cNvSpPr/>
          <p:nvPr/>
        </p:nvSpPr>
        <p:spPr>
          <a:xfrm>
            <a:off x="6309360" y="1490472"/>
            <a:ext cx="310896" cy="310896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200" b="1">
                <a:solidFill>
                  <a:srgbClr val="7C56A9"/>
                </a:solidFill>
                <a:latin typeface="Bricolage Grotesque"/>
              </a:rPr>
              <a:t>§3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729984" y="1472184"/>
            <a:ext cx="2103120" cy="36576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450" b="1" i="0">
                <a:solidFill>
                  <a:srgbClr val="FFFFFF"/>
                </a:solidFill>
                <a:latin typeface="Bricolage Grotesque"/>
              </a:rPr>
              <a:t>Le / les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364224" y="2039112"/>
            <a:ext cx="2414016" cy="109728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0" i="0">
                <a:solidFill>
                  <a:srgbClr val="20242E"/>
                </a:solidFill>
                <a:latin typeface="Inter"/>
              </a:rPr>
              <a:t>¿a quién? (OI)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6364224" y="3246120"/>
            <a:ext cx="707745" cy="292608"/>
          </a:xfrm>
          <a:prstGeom prst="roundRect">
            <a:avLst>
              <a:gd name="adj" fmla="val 50000"/>
            </a:avLst>
          </a:prstGeom>
          <a:solidFill>
            <a:srgbClr val="EEE8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88900" rIns="88900" tIns="12700" bIns="12700"/>
          <a:lstStyle/>
          <a:p>
            <a:pPr algn="ctr"/>
            <a:r>
              <a:rPr sz="950" b="1">
                <a:solidFill>
                  <a:srgbClr val="5B3E83"/>
                </a:solidFill>
                <a:latin typeface="Inter"/>
              </a:rPr>
              <a:t>→ dia 7</a:t>
            </a:r>
          </a:p>
        </p:txBody>
      </p:sp>
      <p:sp>
        <p:nvSpPr>
          <p:cNvPr id="27" name="Rounded Rectangle 26">
            <a:hlinkClick action="ppaction://hlinksldjump" r:id="rId6"/>
          </p:cNvPr>
          <p:cNvSpPr/>
          <p:nvPr/>
        </p:nvSpPr>
        <p:spPr>
          <a:xfrm>
            <a:off x="9070848" y="1417320"/>
            <a:ext cx="2743200" cy="224028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20320">
            <a:solidFill>
              <a:srgbClr val="7C56A9"/>
            </a:solidFill>
          </a:ln>
          <a:effectLst>
            <a:outerShdw blurRad="90000" dist="38000" dir="5400000" rotWithShape="0">
              <a:srgbClr val="20242E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ectangle 27">
            <a:hlinkClick action="ppaction://hlinksldjump" r:id="rId6"/>
          </p:cNvPr>
          <p:cNvSpPr/>
          <p:nvPr/>
        </p:nvSpPr>
        <p:spPr>
          <a:xfrm>
            <a:off x="9070848" y="1417320"/>
            <a:ext cx="2743200" cy="457200"/>
          </a:xfrm>
          <a:prstGeom prst="rect">
            <a:avLst/>
          </a:prstGeom>
          <a:solidFill>
            <a:srgbClr val="7C56A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Rounded Rectangle 28"/>
          <p:cNvSpPr/>
          <p:nvPr/>
        </p:nvSpPr>
        <p:spPr>
          <a:xfrm>
            <a:off x="9180576" y="1490472"/>
            <a:ext cx="310896" cy="310896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200" b="1">
                <a:solidFill>
                  <a:srgbClr val="7C56A9"/>
                </a:solidFill>
                <a:latin typeface="Bricolage Grotesque"/>
              </a:rPr>
              <a:t>§4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9601200" y="1472184"/>
            <a:ext cx="2103120" cy="36576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450" b="1" i="0">
                <a:solidFill>
                  <a:srgbClr val="FFFFFF"/>
                </a:solidFill>
                <a:latin typeface="Bricolage Grotesque"/>
              </a:rPr>
              <a:t>Creo que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9235440" y="2039112"/>
            <a:ext cx="2414016" cy="109728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0" i="0">
                <a:solidFill>
                  <a:srgbClr val="20242E"/>
                </a:solidFill>
                <a:latin typeface="Inter"/>
              </a:rPr>
              <a:t>+ indicativo · acabar de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9235440" y="3246120"/>
            <a:ext cx="791870" cy="292608"/>
          </a:xfrm>
          <a:prstGeom prst="roundRect">
            <a:avLst>
              <a:gd name="adj" fmla="val 50000"/>
            </a:avLst>
          </a:prstGeom>
          <a:solidFill>
            <a:srgbClr val="EEE8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88900" rIns="88900" tIns="12700" bIns="12700"/>
          <a:lstStyle/>
          <a:p>
            <a:pPr algn="ctr"/>
            <a:r>
              <a:rPr sz="950" b="1">
                <a:solidFill>
                  <a:srgbClr val="5B3E83"/>
                </a:solidFill>
                <a:latin typeface="Inter"/>
              </a:rPr>
              <a:t>→ dia 11</a:t>
            </a:r>
          </a:p>
        </p:txBody>
      </p:sp>
      <p:sp>
        <p:nvSpPr>
          <p:cNvPr id="33" name="Rounded Rectangle 32">
            <a:hlinkClick action="ppaction://hlinksldjump" r:id="rId7"/>
          </p:cNvPr>
          <p:cNvSpPr/>
          <p:nvPr/>
        </p:nvSpPr>
        <p:spPr>
          <a:xfrm>
            <a:off x="457200" y="3840480"/>
            <a:ext cx="2743200" cy="224028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20320">
            <a:solidFill>
              <a:srgbClr val="7C56A9"/>
            </a:solidFill>
          </a:ln>
          <a:effectLst>
            <a:outerShdw blurRad="90000" dist="38000" dir="5400000" rotWithShape="0">
              <a:srgbClr val="20242E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Rectangle 33">
            <a:hlinkClick action="ppaction://hlinksldjump" r:id="rId7"/>
          </p:cNvPr>
          <p:cNvSpPr/>
          <p:nvPr/>
        </p:nvSpPr>
        <p:spPr>
          <a:xfrm>
            <a:off x="457200" y="3840480"/>
            <a:ext cx="2743200" cy="457200"/>
          </a:xfrm>
          <a:prstGeom prst="rect">
            <a:avLst/>
          </a:prstGeom>
          <a:solidFill>
            <a:srgbClr val="7C56A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Rounded Rectangle 34"/>
          <p:cNvSpPr/>
          <p:nvPr/>
        </p:nvSpPr>
        <p:spPr>
          <a:xfrm>
            <a:off x="566928" y="3913632"/>
            <a:ext cx="310896" cy="310896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200" b="1">
                <a:solidFill>
                  <a:srgbClr val="7C56A9"/>
                </a:solidFill>
                <a:latin typeface="Bricolage Grotesque"/>
              </a:rPr>
              <a:t>§5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987552" y="3895344"/>
            <a:ext cx="2103120" cy="36576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450" b="1" i="0">
                <a:solidFill>
                  <a:srgbClr val="FFFFFF"/>
                </a:solidFill>
                <a:latin typeface="Bricolage Grotesque"/>
              </a:rPr>
              <a:t>Comunicar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621792" y="4462272"/>
            <a:ext cx="2414016" cy="109728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0" i="0">
                <a:solidFill>
                  <a:srgbClr val="20242E"/>
                </a:solidFill>
                <a:latin typeface="Inter"/>
              </a:rPr>
              <a:t>y hacer planes</a:t>
            </a:r>
          </a:p>
        </p:txBody>
      </p:sp>
      <p:sp>
        <p:nvSpPr>
          <p:cNvPr id="38" name="Rounded Rectangle 37"/>
          <p:cNvSpPr/>
          <p:nvPr/>
        </p:nvSpPr>
        <p:spPr>
          <a:xfrm>
            <a:off x="621792" y="5669280"/>
            <a:ext cx="791870" cy="292608"/>
          </a:xfrm>
          <a:prstGeom prst="roundRect">
            <a:avLst>
              <a:gd name="adj" fmla="val 50000"/>
            </a:avLst>
          </a:prstGeom>
          <a:solidFill>
            <a:srgbClr val="EEE8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88900" rIns="88900" tIns="12700" bIns="12700"/>
          <a:lstStyle/>
          <a:p>
            <a:pPr algn="ctr"/>
            <a:r>
              <a:rPr sz="950" b="1">
                <a:solidFill>
                  <a:srgbClr val="5B3E83"/>
                </a:solidFill>
                <a:latin typeface="Inter"/>
              </a:rPr>
              <a:t>→ dia 15</a:t>
            </a:r>
          </a:p>
        </p:txBody>
      </p:sp>
      <p:sp>
        <p:nvSpPr>
          <p:cNvPr id="39" name="Rounded Rectangle 38">
            <a:hlinkClick action="ppaction://hlinksldjump" r:id="rId8"/>
          </p:cNvPr>
          <p:cNvSpPr/>
          <p:nvPr/>
        </p:nvSpPr>
        <p:spPr>
          <a:xfrm>
            <a:off x="3328416" y="3840480"/>
            <a:ext cx="2743200" cy="224028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20320">
            <a:solidFill>
              <a:srgbClr val="5B3E83"/>
            </a:solidFill>
          </a:ln>
          <a:effectLst>
            <a:outerShdw blurRad="90000" dist="38000" dir="5400000" rotWithShape="0">
              <a:srgbClr val="20242E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Rectangle 39">
            <a:hlinkClick action="ppaction://hlinksldjump" r:id="rId8"/>
          </p:cNvPr>
          <p:cNvSpPr/>
          <p:nvPr/>
        </p:nvSpPr>
        <p:spPr>
          <a:xfrm>
            <a:off x="3328416" y="3840480"/>
            <a:ext cx="2743200" cy="457200"/>
          </a:xfrm>
          <a:prstGeom prst="rect">
            <a:avLst/>
          </a:prstGeom>
          <a:solidFill>
            <a:srgbClr val="5B3E8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Rounded Rectangle 40"/>
          <p:cNvSpPr/>
          <p:nvPr/>
        </p:nvSpPr>
        <p:spPr>
          <a:xfrm>
            <a:off x="3438144" y="3913632"/>
            <a:ext cx="310896" cy="310896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200" b="1">
                <a:solidFill>
                  <a:srgbClr val="5B3E83"/>
                </a:solidFill>
                <a:latin typeface="Bricolage Grotesque"/>
              </a:rPr>
              <a:t>★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3858768" y="3895344"/>
            <a:ext cx="2103120" cy="36576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450" b="1" i="0">
                <a:solidFill>
                  <a:srgbClr val="FFFFFF"/>
                </a:solidFill>
                <a:latin typeface="Bricolage Grotesque"/>
              </a:rPr>
              <a:t>Lectura + escucha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3493008" y="4462272"/>
            <a:ext cx="2414016" cy="109728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0" i="0">
                <a:solidFill>
                  <a:srgbClr val="20242E"/>
                </a:solidFill>
                <a:latin typeface="Inter"/>
              </a:rPr>
              <a:t>¿adicto al móvil?</a:t>
            </a:r>
          </a:p>
        </p:txBody>
      </p:sp>
      <p:sp>
        <p:nvSpPr>
          <p:cNvPr id="44" name="Rounded Rectangle 43"/>
          <p:cNvSpPr/>
          <p:nvPr/>
        </p:nvSpPr>
        <p:spPr>
          <a:xfrm>
            <a:off x="3493008" y="5669280"/>
            <a:ext cx="707745" cy="292608"/>
          </a:xfrm>
          <a:prstGeom prst="roundRect">
            <a:avLst>
              <a:gd name="adj" fmla="val 50000"/>
            </a:avLst>
          </a:prstGeom>
          <a:solidFill>
            <a:srgbClr val="EEE8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88900" rIns="88900" tIns="12700" bIns="12700"/>
          <a:lstStyle/>
          <a:p>
            <a:pPr algn="ctr"/>
            <a:r>
              <a:rPr sz="950" b="1">
                <a:solidFill>
                  <a:srgbClr val="5B3E83"/>
                </a:solidFill>
                <a:latin typeface="Inter"/>
              </a:rPr>
              <a:t>→ dia 9</a:t>
            </a:r>
          </a:p>
        </p:txBody>
      </p:sp>
      <p:sp>
        <p:nvSpPr>
          <p:cNvPr id="45" name="Rounded Rectangle 44">
            <a:hlinkClick action="ppaction://hlinksldjump" r:id="rId9"/>
          </p:cNvPr>
          <p:cNvSpPr/>
          <p:nvPr/>
        </p:nvSpPr>
        <p:spPr>
          <a:xfrm>
            <a:off x="6199632" y="3840480"/>
            <a:ext cx="2743200" cy="224028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20320">
            <a:solidFill>
              <a:srgbClr val="5B3E83"/>
            </a:solidFill>
          </a:ln>
          <a:effectLst>
            <a:outerShdw blurRad="90000" dist="38000" dir="5400000" rotWithShape="0">
              <a:srgbClr val="20242E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Rectangle 45">
            <a:hlinkClick action="ppaction://hlinksldjump" r:id="rId9"/>
          </p:cNvPr>
          <p:cNvSpPr/>
          <p:nvPr/>
        </p:nvSpPr>
        <p:spPr>
          <a:xfrm>
            <a:off x="6199632" y="3840480"/>
            <a:ext cx="2743200" cy="457200"/>
          </a:xfrm>
          <a:prstGeom prst="rect">
            <a:avLst/>
          </a:prstGeom>
          <a:solidFill>
            <a:srgbClr val="5B3E8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Rounded Rectangle 46"/>
          <p:cNvSpPr/>
          <p:nvPr/>
        </p:nvSpPr>
        <p:spPr>
          <a:xfrm>
            <a:off x="6309360" y="3913632"/>
            <a:ext cx="310896" cy="310896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200" b="1">
                <a:solidFill>
                  <a:srgbClr val="5B3E83"/>
                </a:solidFill>
                <a:latin typeface="Bricolage Grotesque"/>
              </a:rPr>
              <a:t>🎵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6729984" y="3895344"/>
            <a:ext cx="2103120" cy="36576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450" b="1" i="0">
                <a:solidFill>
                  <a:srgbClr val="FFFFFF"/>
                </a:solidFill>
                <a:latin typeface="Bricolage Grotesque"/>
              </a:rPr>
              <a:t>Cultura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6364224" y="4462272"/>
            <a:ext cx="2414016" cy="109728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0" i="0">
                <a:solidFill>
                  <a:srgbClr val="20242E"/>
                </a:solidFill>
                <a:latin typeface="Inter"/>
              </a:rPr>
              <a:t>el mundo digital</a:t>
            </a:r>
          </a:p>
        </p:txBody>
      </p:sp>
      <p:sp>
        <p:nvSpPr>
          <p:cNvPr id="50" name="Rounded Rectangle 49"/>
          <p:cNvSpPr/>
          <p:nvPr/>
        </p:nvSpPr>
        <p:spPr>
          <a:xfrm>
            <a:off x="6364224" y="5669280"/>
            <a:ext cx="791870" cy="292608"/>
          </a:xfrm>
          <a:prstGeom prst="roundRect">
            <a:avLst>
              <a:gd name="adj" fmla="val 50000"/>
            </a:avLst>
          </a:prstGeom>
          <a:solidFill>
            <a:srgbClr val="EEE8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88900" rIns="88900" tIns="12700" bIns="12700"/>
          <a:lstStyle/>
          <a:p>
            <a:pPr algn="ctr"/>
            <a:r>
              <a:rPr sz="950" b="1">
                <a:solidFill>
                  <a:srgbClr val="5B3E83"/>
                </a:solidFill>
                <a:latin typeface="Inter"/>
              </a:rPr>
              <a:t>→ dia 17</a:t>
            </a:r>
          </a:p>
        </p:txBody>
      </p:sp>
      <p:sp>
        <p:nvSpPr>
          <p:cNvPr id="51" name="Rounded Rectangle 50">
            <a:hlinkClick action="ppaction://hlinksldjump" r:id="rId10"/>
          </p:cNvPr>
          <p:cNvSpPr/>
          <p:nvPr/>
        </p:nvSpPr>
        <p:spPr>
          <a:xfrm>
            <a:off x="9070848" y="3840480"/>
            <a:ext cx="2743200" cy="224028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20320">
            <a:solidFill>
              <a:srgbClr val="5B3E83"/>
            </a:solidFill>
          </a:ln>
          <a:effectLst>
            <a:outerShdw blurRad="90000" dist="38000" dir="5400000" rotWithShape="0">
              <a:srgbClr val="20242E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" name="Rectangle 51">
            <a:hlinkClick action="ppaction://hlinksldjump" r:id="rId10"/>
          </p:cNvPr>
          <p:cNvSpPr/>
          <p:nvPr/>
        </p:nvSpPr>
        <p:spPr>
          <a:xfrm>
            <a:off x="9070848" y="3840480"/>
            <a:ext cx="2743200" cy="457200"/>
          </a:xfrm>
          <a:prstGeom prst="rect">
            <a:avLst/>
          </a:prstGeom>
          <a:solidFill>
            <a:srgbClr val="5B3E8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" name="Rounded Rectangle 52"/>
          <p:cNvSpPr/>
          <p:nvPr/>
        </p:nvSpPr>
        <p:spPr>
          <a:xfrm>
            <a:off x="9180576" y="3913632"/>
            <a:ext cx="310896" cy="310896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200" b="1">
                <a:solidFill>
                  <a:srgbClr val="5B3E83"/>
                </a:solidFill>
                <a:latin typeface="Bricolage Grotesque"/>
              </a:rPr>
              <a:t>📱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9601200" y="3895344"/>
            <a:ext cx="2103120" cy="36576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450" b="1" i="0">
                <a:solidFill>
                  <a:srgbClr val="FFFFFF"/>
                </a:solidFill>
                <a:latin typeface="Bricolage Grotesque"/>
              </a:rPr>
              <a:t>Tarea · Mi finde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9235440" y="4462272"/>
            <a:ext cx="2414016" cy="109728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0" i="0">
                <a:solidFill>
                  <a:srgbClr val="20242E"/>
                </a:solidFill>
                <a:latin typeface="Inter"/>
              </a:rPr>
              <a:t>chat + opinión</a:t>
            </a:r>
          </a:p>
        </p:txBody>
      </p:sp>
      <p:sp>
        <p:nvSpPr>
          <p:cNvPr id="56" name="Rounded Rectangle 55"/>
          <p:cNvSpPr/>
          <p:nvPr/>
        </p:nvSpPr>
        <p:spPr>
          <a:xfrm>
            <a:off x="9235440" y="5669280"/>
            <a:ext cx="791870" cy="292608"/>
          </a:xfrm>
          <a:prstGeom prst="roundRect">
            <a:avLst>
              <a:gd name="adj" fmla="val 50000"/>
            </a:avLst>
          </a:prstGeom>
          <a:solidFill>
            <a:srgbClr val="EEE8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88900" rIns="88900" tIns="12700" bIns="12700"/>
          <a:lstStyle/>
          <a:p>
            <a:pPr algn="ctr"/>
            <a:r>
              <a:rPr sz="950" b="1">
                <a:solidFill>
                  <a:srgbClr val="5B3E83"/>
                </a:solidFill>
                <a:latin typeface="Inter"/>
              </a:rPr>
              <a:t>→ dia 18</a:t>
            </a:r>
          </a:p>
        </p:txBody>
      </p:sp>
      <p:sp>
        <p:nvSpPr>
          <p:cNvPr id="57" name="Rectangle 56"/>
          <p:cNvSpPr/>
          <p:nvPr/>
        </p:nvSpPr>
        <p:spPr>
          <a:xfrm>
            <a:off x="0" y="6547104"/>
            <a:ext cx="12191695" cy="310896"/>
          </a:xfrm>
          <a:prstGeom prst="rect">
            <a:avLst/>
          </a:prstGeom>
          <a:solidFill>
            <a:srgbClr val="F3EE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8" name="TextBox 57"/>
          <p:cNvSpPr txBox="1"/>
          <p:nvPr/>
        </p:nvSpPr>
        <p:spPr>
          <a:xfrm>
            <a:off x="411480" y="6565392"/>
            <a:ext cx="548640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1" i="0">
                <a:solidFill>
                  <a:srgbClr val="7C56A9"/>
                </a:solidFill>
                <a:latin typeface="Inter"/>
              </a:rPr>
              <a:t>● </a:t>
            </a:r>
            <a:r>
              <a:rPr sz="950" b="0" i="0">
                <a:solidFill>
                  <a:srgbClr val="6A6E78"/>
                </a:solidFill>
                <a:latin typeface="Inter"/>
              </a:rPr>
              <a:t>U3 · CONECTADOS   ·   C6+ · conectados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8686800" y="6565392"/>
            <a:ext cx="306324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900" b="0" i="1">
                <a:solidFill>
                  <a:srgbClr val="6A6E78"/>
                </a:solidFill>
                <a:latin typeface="Inter"/>
              </a:rPr>
              <a:t>Docentenversie — met oplossingen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11475720" y="6565392"/>
            <a:ext cx="45720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950" b="1" i="0">
                <a:solidFill>
                  <a:srgbClr val="5B3E83"/>
                </a:solidFill>
                <a:latin typeface="Inter"/>
              </a:rPr>
              <a:t>2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CFB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78992"/>
          </a:xfrm>
          <a:prstGeom prst="rect">
            <a:avLst/>
          </a:prstGeom>
          <a:solidFill>
            <a:srgbClr val="7C56A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78992"/>
            <a:ext cx="12191695" cy="54864"/>
          </a:xfrm>
          <a:prstGeom prst="rect">
            <a:avLst/>
          </a:prstGeom>
          <a:solidFill>
            <a:srgbClr val="5B3E8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502920" y="182880"/>
            <a:ext cx="1464868" cy="292608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88900" rIns="88900" tIns="12700" bIns="12700"/>
          <a:lstStyle/>
          <a:p>
            <a:pPr algn="ctr"/>
            <a:r>
              <a:rPr sz="1100" b="1">
                <a:solidFill>
                  <a:srgbClr val="7C56A9"/>
                </a:solidFill>
                <a:latin typeface="Inter"/>
              </a:rPr>
              <a:t>§1 · VOCABULARIO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424160" y="-137160"/>
            <a:ext cx="1737360" cy="137160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8800" b="1" i="0">
                <a:solidFill>
                  <a:srgbClr val="FFFFFF"/>
                </a:solidFill>
                <a:latin typeface="Bricolage Grotesque"/>
              </a:rPr>
              <a:t>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457200"/>
            <a:ext cx="9692640" cy="5029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2700" b="1" i="0">
                <a:solidFill>
                  <a:srgbClr val="FFFFFF"/>
                </a:solidFill>
                <a:latin typeface="Bricolage Grotesque"/>
              </a:rPr>
              <a:t>El móvil y las redes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02920" y="932688"/>
            <a:ext cx="9692640" cy="27432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50" b="0" i="1">
                <a:solidFill>
                  <a:srgbClr val="EEE8F5"/>
                </a:solidFill>
                <a:latin typeface="Inter"/>
              </a:rPr>
              <a:t>De woorden van de digitale wereld — observa. Herken ze, dan gebruik je ze.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869680" y="484632"/>
            <a:ext cx="1188720" cy="27432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900" b="1" i="0">
                <a:solidFill>
                  <a:srgbClr val="6A6E78"/>
                </a:solidFill>
                <a:latin typeface="Inter"/>
              </a:rPr>
              <a:t>Kleurcode: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9921240" y="521208"/>
            <a:ext cx="128016" cy="128016"/>
          </a:xfrm>
          <a:prstGeom prst="roundRect">
            <a:avLst>
              <a:gd name="adj" fmla="val 50000"/>
            </a:avLst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0085832" y="475488"/>
            <a:ext cx="914400" cy="27432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900" b="0" i="0">
                <a:solidFill>
                  <a:srgbClr val="20242E"/>
                </a:solidFill>
                <a:latin typeface="Inter"/>
              </a:rPr>
              <a:t>persoon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10574121" y="521208"/>
            <a:ext cx="128016" cy="128016"/>
          </a:xfrm>
          <a:prstGeom prst="roundRect">
            <a:avLst>
              <a:gd name="adj" fmla="val 50000"/>
            </a:avLst>
          </a:prstGeom>
          <a:solidFill>
            <a:srgbClr val="EA731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0738713" y="475488"/>
            <a:ext cx="914400" cy="27432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900" b="0" i="0">
                <a:solidFill>
                  <a:srgbClr val="20242E"/>
                </a:solidFill>
                <a:latin typeface="Inter"/>
              </a:rPr>
              <a:t>werkw.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11170309" y="521208"/>
            <a:ext cx="128016" cy="128016"/>
          </a:xfrm>
          <a:prstGeom prst="roundRect">
            <a:avLst>
              <a:gd name="adj" fmla="val 50000"/>
            </a:avLst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1334901" y="475488"/>
            <a:ext cx="914400" cy="27432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900" b="0" i="0">
                <a:solidFill>
                  <a:srgbClr val="20242E"/>
                </a:solidFill>
                <a:latin typeface="Inter"/>
              </a:rPr>
              <a:t>tijd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11653112" y="521208"/>
            <a:ext cx="128016" cy="128016"/>
          </a:xfrm>
          <a:prstGeom prst="roundRect">
            <a:avLst>
              <a:gd name="adj" fmla="val 50000"/>
            </a:avLst>
          </a:prstGeom>
          <a:solidFill>
            <a:srgbClr val="64748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11817704" y="475488"/>
            <a:ext cx="914400" cy="27432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900" b="0" i="0">
                <a:solidFill>
                  <a:srgbClr val="20242E"/>
                </a:solidFill>
                <a:latin typeface="Inter"/>
              </a:rPr>
              <a:t>plaats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12249300" y="521208"/>
            <a:ext cx="128016" cy="128016"/>
          </a:xfrm>
          <a:prstGeom prst="roundRect">
            <a:avLst>
              <a:gd name="adj" fmla="val 50000"/>
            </a:avLst>
          </a:prstGeom>
          <a:solidFill>
            <a:srgbClr val="DC262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12413892" y="475488"/>
            <a:ext cx="914400" cy="27432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900" b="0" i="0">
                <a:solidFill>
                  <a:srgbClr val="20242E"/>
                </a:solidFill>
                <a:latin typeface="Inter"/>
              </a:rPr>
              <a:t>valstrik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457200" y="1463040"/>
            <a:ext cx="5577840" cy="54864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594360" y="1463040"/>
            <a:ext cx="2194560" cy="54864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1" i="0">
                <a:solidFill>
                  <a:srgbClr val="5B3E83"/>
                </a:solidFill>
                <a:latin typeface="Inter"/>
              </a:rPr>
              <a:t>el móvil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743200" y="1463040"/>
            <a:ext cx="1920240" cy="54864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0" i="0">
                <a:solidFill>
                  <a:srgbClr val="20242E"/>
                </a:solidFill>
                <a:latin typeface="Inter"/>
              </a:rPr>
              <a:t>de gsm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4572000" y="1463040"/>
            <a:ext cx="1371600" cy="54864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900" b="0" i="1">
                <a:solidFill>
                  <a:srgbClr val="6A6E78"/>
                </a:solidFill>
                <a:latin typeface="Inter"/>
              </a:rPr>
              <a:t>cargar, apagar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457200" y="2121408"/>
            <a:ext cx="5577840" cy="54864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594360" y="2121408"/>
            <a:ext cx="2194560" cy="54864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1" i="0">
                <a:solidFill>
                  <a:srgbClr val="5B3E83"/>
                </a:solidFill>
                <a:latin typeface="Inter"/>
              </a:rPr>
              <a:t>el ordenador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2743200" y="2121408"/>
            <a:ext cx="1920240" cy="54864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0" i="0">
                <a:solidFill>
                  <a:srgbClr val="20242E"/>
                </a:solidFill>
                <a:latin typeface="Inter"/>
              </a:rPr>
              <a:t>de computer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4572000" y="2121408"/>
            <a:ext cx="1371600" cy="54864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900" b="0" i="1">
                <a:solidFill>
                  <a:srgbClr val="6A6E78"/>
                </a:solidFill>
                <a:latin typeface="Inter"/>
              </a:rPr>
              <a:t>encender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457200" y="2779776"/>
            <a:ext cx="5577840" cy="54864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594360" y="2779776"/>
            <a:ext cx="2194560" cy="54864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1" i="0">
                <a:solidFill>
                  <a:srgbClr val="5B3E83"/>
                </a:solidFill>
                <a:latin typeface="Inter"/>
              </a:rPr>
              <a:t>la pantalla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2743200" y="2779776"/>
            <a:ext cx="1920240" cy="54864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0" i="0">
                <a:solidFill>
                  <a:srgbClr val="20242E"/>
                </a:solidFill>
                <a:latin typeface="Inter"/>
              </a:rPr>
              <a:t>het scherm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572000" y="2779776"/>
            <a:ext cx="1371600" cy="54864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900" b="0" i="1">
                <a:solidFill>
                  <a:srgbClr val="6A6E78"/>
                </a:solidFill>
                <a:latin typeface="Inter"/>
              </a:rPr>
              <a:t>mirar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457200" y="3438144"/>
            <a:ext cx="5577840" cy="54864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594360" y="3438144"/>
            <a:ext cx="2194560" cy="54864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1" i="0">
                <a:solidFill>
                  <a:srgbClr val="5B3E83"/>
                </a:solidFill>
                <a:latin typeface="Inter"/>
              </a:rPr>
              <a:t>los auriculares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2743200" y="3438144"/>
            <a:ext cx="1920240" cy="54864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0" i="0">
                <a:solidFill>
                  <a:srgbClr val="20242E"/>
                </a:solidFill>
                <a:latin typeface="Inter"/>
              </a:rPr>
              <a:t>de oortjes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4572000" y="3438144"/>
            <a:ext cx="1371600" cy="54864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900" b="0" i="1">
                <a:solidFill>
                  <a:srgbClr val="6A6E78"/>
                </a:solidFill>
                <a:latin typeface="Inter"/>
              </a:rPr>
              <a:t>escuchar</a:t>
            </a:r>
          </a:p>
        </p:txBody>
      </p:sp>
      <p:sp>
        <p:nvSpPr>
          <p:cNvPr id="36" name="Rounded Rectangle 35"/>
          <p:cNvSpPr/>
          <p:nvPr/>
        </p:nvSpPr>
        <p:spPr>
          <a:xfrm>
            <a:off x="6172200" y="1463040"/>
            <a:ext cx="5577840" cy="54864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6309360" y="1463040"/>
            <a:ext cx="2194560" cy="54864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1" i="0">
                <a:solidFill>
                  <a:srgbClr val="5B3E83"/>
                </a:solidFill>
                <a:latin typeface="Inter"/>
              </a:rPr>
              <a:t>el perfil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8458200" y="1463040"/>
            <a:ext cx="1920240" cy="54864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0" i="0">
                <a:solidFill>
                  <a:srgbClr val="20242E"/>
                </a:solidFill>
                <a:latin typeface="Inter"/>
              </a:rPr>
              <a:t>het profiel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10287000" y="1463040"/>
            <a:ext cx="1371600" cy="54864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900" b="0" i="1">
                <a:solidFill>
                  <a:srgbClr val="6A6E78"/>
                </a:solidFill>
                <a:latin typeface="Inter"/>
              </a:rPr>
              <a:t>las redes</a:t>
            </a:r>
          </a:p>
        </p:txBody>
      </p:sp>
      <p:sp>
        <p:nvSpPr>
          <p:cNvPr id="40" name="Rounded Rectangle 39"/>
          <p:cNvSpPr/>
          <p:nvPr/>
        </p:nvSpPr>
        <p:spPr>
          <a:xfrm>
            <a:off x="6172200" y="2121408"/>
            <a:ext cx="5577840" cy="54864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6309360" y="2121408"/>
            <a:ext cx="2194560" cy="54864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1" i="0">
                <a:solidFill>
                  <a:srgbClr val="5B3E83"/>
                </a:solidFill>
                <a:latin typeface="Inter"/>
              </a:rPr>
              <a:t>el mensaje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8458200" y="2121408"/>
            <a:ext cx="1920240" cy="54864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0" i="0">
                <a:solidFill>
                  <a:srgbClr val="20242E"/>
                </a:solidFill>
                <a:latin typeface="Inter"/>
              </a:rPr>
              <a:t>het bericht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10287000" y="2121408"/>
            <a:ext cx="1371600" cy="54864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900" b="0" i="1">
                <a:solidFill>
                  <a:srgbClr val="6A6E78"/>
                </a:solidFill>
                <a:latin typeface="Inter"/>
              </a:rPr>
              <a:t>mandar</a:t>
            </a:r>
          </a:p>
        </p:txBody>
      </p:sp>
      <p:sp>
        <p:nvSpPr>
          <p:cNvPr id="44" name="Rounded Rectangle 43"/>
          <p:cNvSpPr/>
          <p:nvPr/>
        </p:nvSpPr>
        <p:spPr>
          <a:xfrm>
            <a:off x="6172200" y="2779776"/>
            <a:ext cx="5577840" cy="54864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TextBox 44"/>
          <p:cNvSpPr txBox="1"/>
          <p:nvPr/>
        </p:nvSpPr>
        <p:spPr>
          <a:xfrm>
            <a:off x="6309360" y="2779776"/>
            <a:ext cx="2194560" cy="54864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1" i="0">
                <a:solidFill>
                  <a:srgbClr val="5B3E83"/>
                </a:solidFill>
                <a:latin typeface="Inter"/>
              </a:rPr>
              <a:t>la contraseña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8458200" y="2779776"/>
            <a:ext cx="1920240" cy="54864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0" i="0">
                <a:solidFill>
                  <a:srgbClr val="20242E"/>
                </a:solidFill>
                <a:latin typeface="Inter"/>
              </a:rPr>
              <a:t>het wachtwoord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10287000" y="2779776"/>
            <a:ext cx="1371600" cy="54864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900" b="0" i="1">
                <a:solidFill>
                  <a:srgbClr val="6A6E78"/>
                </a:solidFill>
                <a:latin typeface="Inter"/>
              </a:rPr>
              <a:t>el usuario</a:t>
            </a:r>
          </a:p>
        </p:txBody>
      </p:sp>
      <p:sp>
        <p:nvSpPr>
          <p:cNvPr id="48" name="Rounded Rectangle 47"/>
          <p:cNvSpPr/>
          <p:nvPr/>
        </p:nvSpPr>
        <p:spPr>
          <a:xfrm>
            <a:off x="6172200" y="3438144"/>
            <a:ext cx="5577840" cy="54864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TextBox 48"/>
          <p:cNvSpPr txBox="1"/>
          <p:nvPr/>
        </p:nvSpPr>
        <p:spPr>
          <a:xfrm>
            <a:off x="6309360" y="3438144"/>
            <a:ext cx="2194560" cy="54864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1" i="0">
                <a:solidFill>
                  <a:srgbClr val="5B3E83"/>
                </a:solidFill>
                <a:latin typeface="Inter"/>
              </a:rPr>
              <a:t>el vídeo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8458200" y="3438144"/>
            <a:ext cx="1920240" cy="54864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0" i="0">
                <a:solidFill>
                  <a:srgbClr val="20242E"/>
                </a:solidFill>
                <a:latin typeface="Inter"/>
              </a:rPr>
              <a:t>de video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10287000" y="3438144"/>
            <a:ext cx="1371600" cy="54864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900" b="0" i="1">
                <a:solidFill>
                  <a:srgbClr val="6A6E78"/>
                </a:solidFill>
                <a:latin typeface="Inter"/>
              </a:rPr>
              <a:t>subir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457200" y="4343400"/>
            <a:ext cx="11247120" cy="45720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1" i="0">
                <a:solidFill>
                  <a:srgbClr val="5B3E83"/>
                </a:solidFill>
                <a:latin typeface="Bricolage Grotesque"/>
              </a:rPr>
              <a:t>¡Ojo! el/la: </a:t>
            </a:r>
            <a:r>
              <a:rPr sz="1300" b="0" i="0">
                <a:solidFill>
                  <a:srgbClr val="20242E"/>
                </a:solidFill>
                <a:latin typeface="Inter"/>
              </a:rPr>
              <a:t>el móvil, el mensaje, el perfil, el vídeo (m) · la tableta, la pantalla, la app, la contraseña (v)</a:t>
            </a:r>
          </a:p>
        </p:txBody>
      </p:sp>
      <p:sp>
        <p:nvSpPr>
          <p:cNvPr id="53" name="Rounded Rectangle 52"/>
          <p:cNvSpPr/>
          <p:nvPr/>
        </p:nvSpPr>
        <p:spPr>
          <a:xfrm>
            <a:off x="457200" y="6053328"/>
            <a:ext cx="2093976" cy="365760"/>
          </a:xfrm>
          <a:prstGeom prst="roundRect">
            <a:avLst>
              <a:gd name="adj" fmla="val 50000"/>
            </a:avLst>
          </a:prstGeom>
          <a:solidFill>
            <a:srgbClr val="7C56A9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12700" bIns="12700"/>
          <a:lstStyle/>
          <a:p>
            <a:pPr algn="ctr"/>
            <a:r>
              <a:rPr sz="1050" b="1">
                <a:solidFill>
                  <a:srgbClr val="FFFFFF"/>
                </a:solidFill>
                <a:latin typeface="Inter"/>
              </a:rPr>
              <a:t>▶  Mostrar solución</a:t>
            </a:r>
          </a:p>
        </p:txBody>
      </p:sp>
      <p:sp>
        <p:nvSpPr>
          <p:cNvPr id="54" name="Rounded Rectangle 53"/>
          <p:cNvSpPr/>
          <p:nvPr/>
        </p:nvSpPr>
        <p:spPr>
          <a:xfrm>
            <a:off x="2697480" y="6053328"/>
            <a:ext cx="1088136" cy="36576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12700" bIns="12700"/>
          <a:lstStyle/>
          <a:p>
            <a:pPr algn="ctr"/>
            <a:r>
              <a:rPr sz="1050" b="1">
                <a:solidFill>
                  <a:srgbClr val="5B3E83"/>
                </a:solidFill>
                <a:latin typeface="Inter"/>
              </a:rPr>
              <a:t>⏭  Saltar</a:t>
            </a:r>
          </a:p>
        </p:txBody>
      </p:sp>
      <p:sp>
        <p:nvSpPr>
          <p:cNvPr id="55" name="Rounded Rectangle 54">
            <a:hlinkClick action="ppaction://hlinksldjump" r:id="rId3"/>
          </p:cNvPr>
          <p:cNvSpPr/>
          <p:nvPr/>
        </p:nvSpPr>
        <p:spPr>
          <a:xfrm>
            <a:off x="3931920" y="6053328"/>
            <a:ext cx="1691639" cy="36576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12700" bIns="12700"/>
          <a:lstStyle/>
          <a:p>
            <a:pPr algn="ctr"/>
            <a:r>
              <a:rPr sz="1050" b="1">
                <a:solidFill>
                  <a:srgbClr val="5B3E83"/>
                </a:solidFill>
                <a:latin typeface="Inter"/>
              </a:rPr>
              <a:t>⌂  Menú (dia 2)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8321040" y="6053328"/>
            <a:ext cx="3383280" cy="36576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850" b="0" i="1">
                <a:solidFill>
                  <a:srgbClr val="6A6E78"/>
                </a:solidFill>
                <a:latin typeface="Inter"/>
              </a:rPr>
              <a:t>Noodroute (§5): werkt zonder audio/internet</a:t>
            </a:r>
          </a:p>
        </p:txBody>
      </p:sp>
      <p:sp>
        <p:nvSpPr>
          <p:cNvPr id="57" name="Rounded Rectangle 56"/>
          <p:cNvSpPr/>
          <p:nvPr/>
        </p:nvSpPr>
        <p:spPr>
          <a:xfrm>
            <a:off x="457200" y="4892040"/>
            <a:ext cx="11247120" cy="868680"/>
          </a:xfrm>
          <a:prstGeom prst="roundRect">
            <a:avLst>
              <a:gd name="adj" fmla="val 6000"/>
            </a:avLst>
          </a:prstGeom>
          <a:solidFill>
            <a:srgbClr val="EEE8F5"/>
          </a:solidFill>
          <a:ln w="19050">
            <a:solidFill>
              <a:srgbClr val="7C56A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27000" rIns="127000" tIns="139700" bIns="76200"/>
          <a:lstStyle/>
          <a:p>
            <a:pPr algn="ctr">
              <a:lnSpc>
                <a:spcPct val="102000"/>
              </a:lnSpc>
              <a:spcBef>
                <a:spcPts val="0"/>
              </a:spcBef>
              <a:spcAft>
                <a:spcPts val="300"/>
              </a:spcAft>
            </a:pPr>
            <a:r>
              <a:rPr sz="1200" b="1" i="0">
                <a:solidFill>
                  <a:srgbClr val="5B3E83"/>
                </a:solidFill>
                <a:latin typeface="Inter"/>
              </a:rPr>
              <a:t>Las acciones: </a:t>
            </a:r>
            <a:r>
              <a:rPr sz="1200" b="0" i="0">
                <a:solidFill>
                  <a:srgbClr val="5B3E83"/>
                </a:solidFill>
                <a:latin typeface="Inter"/>
              </a:rPr>
              <a:t>subir un vídeo · descargar una app · chatear con un amigo · seguir a un artista · compartir una foto.</a:t>
            </a:r>
          </a:p>
          <a:p>
            <a:pPr>
              <a:lnSpc>
                <a:spcPct val="102000"/>
              </a:lnSpc>
              <a:spcBef>
                <a:spcPts val="0"/>
              </a:spcBef>
              <a:spcAft>
                <a:spcPts val="300"/>
              </a:spcAft>
            </a:pPr>
            <a:r>
              <a:rPr sz="1200" b="0" i="0">
                <a:solidFill>
                  <a:srgbClr val="DC2626"/>
                </a:solidFill>
                <a:latin typeface="Inter"/>
              </a:rPr>
              <a:t>🔴 los auriculares = altijd meervoud (de oortjes).</a:t>
            </a:r>
          </a:p>
        </p:txBody>
      </p:sp>
      <p:sp>
        <p:nvSpPr>
          <p:cNvPr id="58" name="Rounded Rectangle 57"/>
          <p:cNvSpPr/>
          <p:nvPr/>
        </p:nvSpPr>
        <p:spPr>
          <a:xfrm>
            <a:off x="594360" y="4764024"/>
            <a:ext cx="1548993" cy="292608"/>
          </a:xfrm>
          <a:prstGeom prst="roundRect">
            <a:avLst>
              <a:gd name="adj" fmla="val 50000"/>
            </a:avLst>
          </a:prstGeom>
          <a:solidFill>
            <a:srgbClr val="7C56A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88900" rIns="88900" tIns="12700" bIns="12700"/>
          <a:lstStyle/>
          <a:p>
            <a:pPr algn="ctr"/>
            <a:r>
              <a:rPr sz="950" b="1">
                <a:solidFill>
                  <a:srgbClr val="FFFFFF"/>
                </a:solidFill>
                <a:latin typeface="Inter"/>
              </a:rPr>
              <a:t>SOLUCIÓN · docent</a:t>
            </a:r>
          </a:p>
        </p:txBody>
      </p:sp>
      <p:sp>
        <p:nvSpPr>
          <p:cNvPr id="59" name="Rectangle 58"/>
          <p:cNvSpPr/>
          <p:nvPr/>
        </p:nvSpPr>
        <p:spPr>
          <a:xfrm>
            <a:off x="0" y="6547104"/>
            <a:ext cx="12191695" cy="310896"/>
          </a:xfrm>
          <a:prstGeom prst="rect">
            <a:avLst/>
          </a:prstGeom>
          <a:solidFill>
            <a:srgbClr val="F3EE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0" name="TextBox 59"/>
          <p:cNvSpPr txBox="1"/>
          <p:nvPr/>
        </p:nvSpPr>
        <p:spPr>
          <a:xfrm>
            <a:off x="411480" y="6565392"/>
            <a:ext cx="548640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1" i="0">
                <a:solidFill>
                  <a:srgbClr val="7C56A9"/>
                </a:solidFill>
                <a:latin typeface="Inter"/>
              </a:rPr>
              <a:t>● </a:t>
            </a:r>
            <a:r>
              <a:rPr sz="950" b="0" i="0">
                <a:solidFill>
                  <a:srgbClr val="6A6E78"/>
                </a:solidFill>
                <a:latin typeface="Inter"/>
              </a:rPr>
              <a:t>U3 · CONECTADOS   ·   C6+ · conectados</a:t>
            </a:r>
          </a:p>
        </p:txBody>
      </p:sp>
      <p:sp>
        <p:nvSpPr>
          <p:cNvPr id="61" name="TextBox 60"/>
          <p:cNvSpPr txBox="1"/>
          <p:nvPr/>
        </p:nvSpPr>
        <p:spPr>
          <a:xfrm>
            <a:off x="8686800" y="6565392"/>
            <a:ext cx="306324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900" b="0" i="1">
                <a:solidFill>
                  <a:srgbClr val="6A6E78"/>
                </a:solidFill>
                <a:latin typeface="Inter"/>
              </a:rPr>
              <a:t>Docentenversie — met oplossingen</a:t>
            </a:r>
          </a:p>
        </p:txBody>
      </p:sp>
      <p:sp>
        <p:nvSpPr>
          <p:cNvPr id="62" name="TextBox 61"/>
          <p:cNvSpPr txBox="1"/>
          <p:nvPr/>
        </p:nvSpPr>
        <p:spPr>
          <a:xfrm>
            <a:off x="11475720" y="6565392"/>
            <a:ext cx="45720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950" b="1" i="0">
                <a:solidFill>
                  <a:srgbClr val="5B3E83"/>
                </a:solidFill>
                <a:latin typeface="Inter"/>
              </a:rPr>
              <a:t>3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5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500"/>
                                        <p:tgtEl>
                                          <p:spTgt spid="5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CFB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78992"/>
          </a:xfrm>
          <a:prstGeom prst="rect">
            <a:avLst/>
          </a:prstGeom>
          <a:solidFill>
            <a:srgbClr val="7C56A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78992"/>
            <a:ext cx="12191695" cy="54864"/>
          </a:xfrm>
          <a:prstGeom prst="rect">
            <a:avLst/>
          </a:prstGeom>
          <a:solidFill>
            <a:srgbClr val="5B3E8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502920" y="182880"/>
            <a:ext cx="1885492" cy="292608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88900" rIns="88900" tIns="12700" bIns="12700"/>
          <a:lstStyle/>
          <a:p>
            <a:pPr algn="ctr"/>
            <a:r>
              <a:rPr sz="1100" b="1">
                <a:solidFill>
                  <a:srgbClr val="7C56A9"/>
                </a:solidFill>
                <a:latin typeface="Inter"/>
              </a:rPr>
              <a:t>§2 · GRAMÁTICA VISUAL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424160" y="-137160"/>
            <a:ext cx="1737360" cy="137160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8800" b="1" i="0">
                <a:solidFill>
                  <a:srgbClr val="FFFFFF"/>
                </a:solidFill>
                <a:latin typeface="Bricolage Grotesque"/>
              </a:rPr>
              <a:t>2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457200"/>
            <a:ext cx="9692640" cy="5029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2700" b="1" i="0">
                <a:solidFill>
                  <a:srgbClr val="FFFFFF"/>
                </a:solidFill>
                <a:latin typeface="Bricolage Grotesque"/>
              </a:rPr>
              <a:t>Ir a + infinitivo — el futuro próximo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02920" y="932688"/>
            <a:ext cx="9692640" cy="27432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50" b="0" i="1">
                <a:solidFill>
                  <a:srgbClr val="EEE8F5"/>
                </a:solidFill>
                <a:latin typeface="Inter"/>
              </a:rPr>
              <a:t>ir (voy/vas/va…) + a + infinitivo. Kleur = de functie.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869680" y="484632"/>
            <a:ext cx="1188720" cy="27432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900" b="1" i="0">
                <a:solidFill>
                  <a:srgbClr val="6A6E78"/>
                </a:solidFill>
                <a:latin typeface="Inter"/>
              </a:rPr>
              <a:t>Kleurcode: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9921240" y="521208"/>
            <a:ext cx="128016" cy="128016"/>
          </a:xfrm>
          <a:prstGeom prst="roundRect">
            <a:avLst>
              <a:gd name="adj" fmla="val 50000"/>
            </a:avLst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0085832" y="475488"/>
            <a:ext cx="914400" cy="27432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900" b="0" i="0">
                <a:solidFill>
                  <a:srgbClr val="20242E"/>
                </a:solidFill>
                <a:latin typeface="Inter"/>
              </a:rPr>
              <a:t>persoon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10574121" y="521208"/>
            <a:ext cx="128016" cy="128016"/>
          </a:xfrm>
          <a:prstGeom prst="roundRect">
            <a:avLst>
              <a:gd name="adj" fmla="val 50000"/>
            </a:avLst>
          </a:prstGeom>
          <a:solidFill>
            <a:srgbClr val="EA731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0738713" y="475488"/>
            <a:ext cx="914400" cy="27432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900" b="0" i="0">
                <a:solidFill>
                  <a:srgbClr val="20242E"/>
                </a:solidFill>
                <a:latin typeface="Inter"/>
              </a:rPr>
              <a:t>werkw.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11170309" y="521208"/>
            <a:ext cx="128016" cy="128016"/>
          </a:xfrm>
          <a:prstGeom prst="roundRect">
            <a:avLst>
              <a:gd name="adj" fmla="val 50000"/>
            </a:avLst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1334901" y="475488"/>
            <a:ext cx="914400" cy="27432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900" b="0" i="0">
                <a:solidFill>
                  <a:srgbClr val="20242E"/>
                </a:solidFill>
                <a:latin typeface="Inter"/>
              </a:rPr>
              <a:t>tijd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11653112" y="521208"/>
            <a:ext cx="128016" cy="128016"/>
          </a:xfrm>
          <a:prstGeom prst="roundRect">
            <a:avLst>
              <a:gd name="adj" fmla="val 50000"/>
            </a:avLst>
          </a:prstGeom>
          <a:solidFill>
            <a:srgbClr val="64748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11817704" y="475488"/>
            <a:ext cx="914400" cy="27432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900" b="0" i="0">
                <a:solidFill>
                  <a:srgbClr val="20242E"/>
                </a:solidFill>
                <a:latin typeface="Inter"/>
              </a:rPr>
              <a:t>plaats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12249300" y="521208"/>
            <a:ext cx="128016" cy="128016"/>
          </a:xfrm>
          <a:prstGeom prst="roundRect">
            <a:avLst>
              <a:gd name="adj" fmla="val 50000"/>
            </a:avLst>
          </a:prstGeom>
          <a:solidFill>
            <a:srgbClr val="DC262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12413892" y="475488"/>
            <a:ext cx="914400" cy="27432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900" b="0" i="0">
                <a:solidFill>
                  <a:srgbClr val="20242E"/>
                </a:solidFill>
                <a:latin typeface="Inter"/>
              </a:rPr>
              <a:t>valstrik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457200" y="1554480"/>
            <a:ext cx="11247120" cy="1097280"/>
          </a:xfrm>
          <a:prstGeom prst="roundRect">
            <a:avLst>
              <a:gd name="adj" fmla="val 5500"/>
            </a:avLst>
          </a:prstGeom>
          <a:solidFill>
            <a:srgbClr val="EEE8F5"/>
          </a:solidFill>
          <a:ln>
            <a:noFill/>
          </a:ln>
          <a:effectLst>
            <a:outerShdw blurRad="90000" dist="38000" dir="5400000" rotWithShape="0">
              <a:srgbClr val="20242E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731520" y="1554480"/>
            <a:ext cx="10698480" cy="109728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2200" b="1" i="0">
                <a:solidFill>
                  <a:srgbClr val="7C3AED"/>
                </a:solidFill>
                <a:latin typeface="Bricolage Grotesque"/>
              </a:rPr>
              <a:t>Este finde </a:t>
            </a:r>
            <a:r>
              <a:rPr sz="2200" b="1" i="0">
                <a:solidFill>
                  <a:srgbClr val="EA7317"/>
                </a:solidFill>
                <a:latin typeface="Bricolage Grotesque"/>
              </a:rPr>
              <a:t>voy a </a:t>
            </a:r>
            <a:r>
              <a:rPr sz="2200" b="1" i="0">
                <a:solidFill>
                  <a:srgbClr val="B4309A"/>
                </a:solidFill>
                <a:latin typeface="Bricolage Grotesque"/>
              </a:rPr>
              <a:t>subir </a:t>
            </a:r>
            <a:r>
              <a:rPr sz="2200" b="1" i="0">
                <a:solidFill>
                  <a:srgbClr val="64748B"/>
                </a:solidFill>
                <a:latin typeface="Bricolage Grotesque"/>
              </a:rPr>
              <a:t>un vídeo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457200" y="2880360"/>
            <a:ext cx="10972800" cy="36576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1" i="0">
                <a:solidFill>
                  <a:srgbClr val="5B3E83"/>
                </a:solidFill>
                <a:latin typeface="Bricolage Grotesque"/>
              </a:rPr>
              <a:t>La conjugación de ir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457200" y="3291840"/>
            <a:ext cx="3657600" cy="566928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594360" y="3291840"/>
            <a:ext cx="1828800" cy="566928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1" i="0">
                <a:solidFill>
                  <a:srgbClr val="5B3E83"/>
                </a:solidFill>
                <a:latin typeface="Inter"/>
              </a:rPr>
              <a:t>yo voy a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2423160" y="3291840"/>
            <a:ext cx="1554480" cy="566928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050" b="1" i="0">
                <a:solidFill>
                  <a:srgbClr val="EA7317"/>
                </a:solidFill>
                <a:latin typeface="Inter"/>
              </a:rPr>
              <a:t>voy a subir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457200" y="3968496"/>
            <a:ext cx="3657600" cy="566928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594360" y="3968496"/>
            <a:ext cx="1828800" cy="566928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1" i="0">
                <a:solidFill>
                  <a:srgbClr val="5B3E83"/>
                </a:solidFill>
                <a:latin typeface="Inter"/>
              </a:rPr>
              <a:t>tú vas a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2423160" y="3968496"/>
            <a:ext cx="1554480" cy="566928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050" b="1" i="0">
                <a:solidFill>
                  <a:srgbClr val="EA7317"/>
                </a:solidFill>
                <a:latin typeface="Inter"/>
              </a:rPr>
              <a:t>vas a salir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457200" y="4645152"/>
            <a:ext cx="3657600" cy="566928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594360" y="4645152"/>
            <a:ext cx="1828800" cy="566928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1" i="0">
                <a:solidFill>
                  <a:srgbClr val="5B3E83"/>
                </a:solidFill>
                <a:latin typeface="Inter"/>
              </a:rPr>
              <a:t>él/ella va a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2423160" y="4645152"/>
            <a:ext cx="1554480" cy="566928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050" b="1" i="0">
                <a:solidFill>
                  <a:srgbClr val="EA7317"/>
                </a:solidFill>
                <a:latin typeface="Inter"/>
              </a:rPr>
              <a:t>va a chatear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4297680" y="3291840"/>
            <a:ext cx="3657600" cy="566928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4434840" y="3291840"/>
            <a:ext cx="1828800" cy="566928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1" i="0">
                <a:solidFill>
                  <a:srgbClr val="5B3E83"/>
                </a:solidFill>
                <a:latin typeface="Inter"/>
              </a:rPr>
              <a:t>nosotros vamos a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6263640" y="3291840"/>
            <a:ext cx="1554480" cy="566928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050" b="1" i="0">
                <a:solidFill>
                  <a:srgbClr val="EA7317"/>
                </a:solidFill>
                <a:latin typeface="Inter"/>
              </a:rPr>
              <a:t>vamos a quedar</a:t>
            </a:r>
          </a:p>
        </p:txBody>
      </p:sp>
      <p:sp>
        <p:nvSpPr>
          <p:cNvPr id="35" name="Rounded Rectangle 34"/>
          <p:cNvSpPr/>
          <p:nvPr/>
        </p:nvSpPr>
        <p:spPr>
          <a:xfrm>
            <a:off x="4297680" y="3968496"/>
            <a:ext cx="3657600" cy="566928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4434840" y="3968496"/>
            <a:ext cx="1828800" cy="566928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1" i="0">
                <a:solidFill>
                  <a:srgbClr val="5B3E83"/>
                </a:solidFill>
                <a:latin typeface="Inter"/>
              </a:rPr>
              <a:t>vosotros vais a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6263640" y="3968496"/>
            <a:ext cx="1554480" cy="566928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050" b="1" i="0">
                <a:solidFill>
                  <a:srgbClr val="EA7317"/>
                </a:solidFill>
                <a:latin typeface="Inter"/>
              </a:rPr>
              <a:t>vais a estudiar</a:t>
            </a:r>
          </a:p>
        </p:txBody>
      </p:sp>
      <p:sp>
        <p:nvSpPr>
          <p:cNvPr id="38" name="Rounded Rectangle 37"/>
          <p:cNvSpPr/>
          <p:nvPr/>
        </p:nvSpPr>
        <p:spPr>
          <a:xfrm>
            <a:off x="4297680" y="4645152"/>
            <a:ext cx="3657600" cy="566928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4434840" y="4645152"/>
            <a:ext cx="1828800" cy="566928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1" i="0">
                <a:solidFill>
                  <a:srgbClr val="5B3E83"/>
                </a:solidFill>
                <a:latin typeface="Inter"/>
              </a:rPr>
              <a:t>ellos van a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6263640" y="4645152"/>
            <a:ext cx="1554480" cy="566928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050" b="1" i="0">
                <a:solidFill>
                  <a:srgbClr val="EA7317"/>
                </a:solidFill>
                <a:latin typeface="Inter"/>
              </a:rPr>
              <a:t>van a ver</a:t>
            </a:r>
          </a:p>
        </p:txBody>
      </p:sp>
      <p:sp>
        <p:nvSpPr>
          <p:cNvPr id="41" name="Rounded Rectangle 40"/>
          <p:cNvSpPr/>
          <p:nvPr/>
        </p:nvSpPr>
        <p:spPr>
          <a:xfrm>
            <a:off x="457200" y="6053328"/>
            <a:ext cx="2093976" cy="365760"/>
          </a:xfrm>
          <a:prstGeom prst="roundRect">
            <a:avLst>
              <a:gd name="adj" fmla="val 50000"/>
            </a:avLst>
          </a:prstGeom>
          <a:solidFill>
            <a:srgbClr val="7C56A9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12700" bIns="12700"/>
          <a:lstStyle/>
          <a:p>
            <a:pPr algn="ctr"/>
            <a:r>
              <a:rPr sz="1050" b="1">
                <a:solidFill>
                  <a:srgbClr val="FFFFFF"/>
                </a:solidFill>
                <a:latin typeface="Inter"/>
              </a:rPr>
              <a:t>▶  Mostrar solución</a:t>
            </a:r>
          </a:p>
        </p:txBody>
      </p:sp>
      <p:sp>
        <p:nvSpPr>
          <p:cNvPr id="42" name="Rounded Rectangle 41"/>
          <p:cNvSpPr/>
          <p:nvPr/>
        </p:nvSpPr>
        <p:spPr>
          <a:xfrm>
            <a:off x="2697480" y="6053328"/>
            <a:ext cx="1088136" cy="36576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12700" bIns="12700"/>
          <a:lstStyle/>
          <a:p>
            <a:pPr algn="ctr"/>
            <a:r>
              <a:rPr sz="1050" b="1">
                <a:solidFill>
                  <a:srgbClr val="5B3E83"/>
                </a:solidFill>
                <a:latin typeface="Inter"/>
              </a:rPr>
              <a:t>⏭  Saltar</a:t>
            </a:r>
          </a:p>
        </p:txBody>
      </p:sp>
      <p:sp>
        <p:nvSpPr>
          <p:cNvPr id="43" name="Rounded Rectangle 42">
            <a:hlinkClick action="ppaction://hlinksldjump" r:id="rId3"/>
          </p:cNvPr>
          <p:cNvSpPr/>
          <p:nvPr/>
        </p:nvSpPr>
        <p:spPr>
          <a:xfrm>
            <a:off x="3931920" y="6053328"/>
            <a:ext cx="1691639" cy="36576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12700" bIns="12700"/>
          <a:lstStyle/>
          <a:p>
            <a:pPr algn="ctr"/>
            <a:r>
              <a:rPr sz="1050" b="1">
                <a:solidFill>
                  <a:srgbClr val="5B3E83"/>
                </a:solidFill>
                <a:latin typeface="Inter"/>
              </a:rPr>
              <a:t>⌂  Menú (dia 2)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8321040" y="6053328"/>
            <a:ext cx="3383280" cy="36576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850" b="0" i="1">
                <a:solidFill>
                  <a:srgbClr val="6A6E78"/>
                </a:solidFill>
                <a:latin typeface="Inter"/>
              </a:rPr>
              <a:t>Noodroute (§5): werkt zonder audio/internet</a:t>
            </a:r>
          </a:p>
        </p:txBody>
      </p:sp>
      <p:sp>
        <p:nvSpPr>
          <p:cNvPr id="45" name="Rounded Rectangle 44"/>
          <p:cNvSpPr/>
          <p:nvPr/>
        </p:nvSpPr>
        <p:spPr>
          <a:xfrm>
            <a:off x="457200" y="5257800"/>
            <a:ext cx="11247120" cy="548640"/>
          </a:xfrm>
          <a:prstGeom prst="roundRect">
            <a:avLst>
              <a:gd name="adj" fmla="val 6000"/>
            </a:avLst>
          </a:prstGeom>
          <a:solidFill>
            <a:srgbClr val="EEE8F5"/>
          </a:solidFill>
          <a:ln w="19050">
            <a:solidFill>
              <a:srgbClr val="7C56A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27000" rIns="127000" tIns="139700" bIns="76200"/>
          <a:lstStyle/>
          <a:p>
            <a:pPr algn="ctr">
              <a:lnSpc>
                <a:spcPct val="102000"/>
              </a:lnSpc>
              <a:spcBef>
                <a:spcPts val="0"/>
              </a:spcBef>
              <a:spcAft>
                <a:spcPts val="300"/>
              </a:spcAft>
            </a:pPr>
            <a:r>
              <a:rPr sz="1200" b="1" i="0">
                <a:solidFill>
                  <a:srgbClr val="5B3E83"/>
                </a:solidFill>
                <a:latin typeface="Inter"/>
              </a:rPr>
              <a:t>Regla: </a:t>
            </a:r>
            <a:r>
              <a:rPr sz="1200" b="0" i="0">
                <a:solidFill>
                  <a:srgbClr val="5B3E83"/>
                </a:solidFill>
                <a:latin typeface="Inter"/>
              </a:rPr>
              <a:t>enkel ir verandert (voy/vas/va…); daarna altijd a + infinitivo. 🔴 vergeet de a niet: «voy subir» → voy a subir.</a:t>
            </a:r>
          </a:p>
        </p:txBody>
      </p:sp>
      <p:sp>
        <p:nvSpPr>
          <p:cNvPr id="46" name="Rounded Rectangle 45"/>
          <p:cNvSpPr/>
          <p:nvPr/>
        </p:nvSpPr>
        <p:spPr>
          <a:xfrm>
            <a:off x="594360" y="5129784"/>
            <a:ext cx="1296619" cy="292608"/>
          </a:xfrm>
          <a:prstGeom prst="roundRect">
            <a:avLst>
              <a:gd name="adj" fmla="val 50000"/>
            </a:avLst>
          </a:prstGeom>
          <a:solidFill>
            <a:srgbClr val="7C56A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88900" rIns="88900" tIns="12700" bIns="12700"/>
          <a:lstStyle/>
          <a:p>
            <a:pPr algn="ctr"/>
            <a:r>
              <a:rPr sz="950" b="1">
                <a:solidFill>
                  <a:srgbClr val="FFFFFF"/>
                </a:solidFill>
                <a:latin typeface="Inter"/>
              </a:rPr>
              <a:t>REGLA · docent</a:t>
            </a:r>
          </a:p>
        </p:txBody>
      </p:sp>
      <p:sp>
        <p:nvSpPr>
          <p:cNvPr id="47" name="Rectangle 46"/>
          <p:cNvSpPr/>
          <p:nvPr/>
        </p:nvSpPr>
        <p:spPr>
          <a:xfrm>
            <a:off x="0" y="6547104"/>
            <a:ext cx="12191695" cy="310896"/>
          </a:xfrm>
          <a:prstGeom prst="rect">
            <a:avLst/>
          </a:prstGeom>
          <a:solidFill>
            <a:srgbClr val="F3EE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411480" y="6565392"/>
            <a:ext cx="548640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1" i="0">
                <a:solidFill>
                  <a:srgbClr val="7C56A9"/>
                </a:solidFill>
                <a:latin typeface="Inter"/>
              </a:rPr>
              <a:t>● </a:t>
            </a:r>
            <a:r>
              <a:rPr sz="950" b="0" i="0">
                <a:solidFill>
                  <a:srgbClr val="6A6E78"/>
                </a:solidFill>
                <a:latin typeface="Inter"/>
              </a:rPr>
              <a:t>U3 · CONECTADOS   ·   C6+ · conectados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8686800" y="6565392"/>
            <a:ext cx="306324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900" b="0" i="1">
                <a:solidFill>
                  <a:srgbClr val="6A6E78"/>
                </a:solidFill>
                <a:latin typeface="Inter"/>
              </a:rPr>
              <a:t>Docentenversie — met oplossingen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11475720" y="6565392"/>
            <a:ext cx="45720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950" b="1" i="0">
                <a:solidFill>
                  <a:srgbClr val="5B3E83"/>
                </a:solidFill>
                <a:latin typeface="Inter"/>
              </a:rPr>
              <a:t>4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4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500"/>
                                        <p:tgtEl>
                                          <p:spTgt spid="4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CFB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78992"/>
          </a:xfrm>
          <a:prstGeom prst="rect">
            <a:avLst/>
          </a:prstGeom>
          <a:solidFill>
            <a:srgbClr val="7C56A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78992"/>
            <a:ext cx="12191695" cy="54864"/>
          </a:xfrm>
          <a:prstGeom prst="rect">
            <a:avLst/>
          </a:prstGeom>
          <a:solidFill>
            <a:srgbClr val="5B3E8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502920" y="182880"/>
            <a:ext cx="875995" cy="292608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88900" rIns="88900" tIns="12700" bIns="12700"/>
          <a:lstStyle/>
          <a:p>
            <a:pPr algn="ctr"/>
            <a:r>
              <a:rPr sz="1100" b="1">
                <a:solidFill>
                  <a:srgbClr val="7C56A9"/>
                </a:solidFill>
                <a:latin typeface="Inter"/>
              </a:rPr>
              <a:t>§2 · QUIZ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424160" y="-137160"/>
            <a:ext cx="1737360" cy="137160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8800" b="1" i="0">
                <a:solidFill>
                  <a:srgbClr val="FFFFFF"/>
                </a:solidFill>
                <a:latin typeface="Bricolage Grotesque"/>
              </a:rPr>
              <a:t>2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457200"/>
            <a:ext cx="9692640" cy="5029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2700" b="1" i="0">
                <a:solidFill>
                  <a:srgbClr val="FFFFFF"/>
                </a:solidFill>
                <a:latin typeface="Bricolage Grotesque"/>
              </a:rPr>
              <a:t>¿Qué forma de ir?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02920" y="932688"/>
            <a:ext cx="9692640" cy="27432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50" b="0" i="1">
                <a:solidFill>
                  <a:srgbClr val="EEE8F5"/>
                </a:solidFill>
                <a:latin typeface="Inter"/>
              </a:rPr>
              <a:t>Klik een zin → de juiste vorm. Kijk naar de persoon.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57200" y="1600200"/>
            <a:ext cx="5532120" cy="713232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594360" y="1600200"/>
            <a:ext cx="3931920" cy="713232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50" b="0" i="0">
                <a:solidFill>
                  <a:srgbClr val="20242E"/>
                </a:solidFill>
                <a:latin typeface="Inter"/>
              </a:rPr>
              <a:t>Yo ___ subir un vídeo.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572000" y="1600200"/>
            <a:ext cx="1325880" cy="713232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400" b="1" i="0">
                <a:solidFill>
                  <a:srgbClr val="5B3E83"/>
                </a:solidFill>
                <a:latin typeface="Inter"/>
              </a:rPr>
              <a:t>→ voy a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457200" y="2478024"/>
            <a:ext cx="5532120" cy="713232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594360" y="2478024"/>
            <a:ext cx="3931920" cy="713232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50" b="0" i="0">
                <a:solidFill>
                  <a:srgbClr val="20242E"/>
                </a:solidFill>
                <a:latin typeface="Inter"/>
              </a:rPr>
              <a:t>¿Tú ___ salir el sábado?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572000" y="2478024"/>
            <a:ext cx="1325880" cy="713232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400" b="1" i="0">
                <a:solidFill>
                  <a:srgbClr val="5B3E83"/>
                </a:solidFill>
                <a:latin typeface="Inter"/>
              </a:rPr>
              <a:t>→ vas a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457200" y="3355848"/>
            <a:ext cx="5532120" cy="713232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594360" y="3355848"/>
            <a:ext cx="3931920" cy="713232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50" b="0" i="0">
                <a:solidFill>
                  <a:srgbClr val="20242E"/>
                </a:solidFill>
                <a:latin typeface="Inter"/>
              </a:rPr>
              <a:t>Diego ___ chatear.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572000" y="3355848"/>
            <a:ext cx="1325880" cy="713232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400" b="1" i="0">
                <a:solidFill>
                  <a:srgbClr val="5B3E83"/>
                </a:solidFill>
                <a:latin typeface="Inter"/>
              </a:rPr>
              <a:t>→ va a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6172200" y="1600200"/>
            <a:ext cx="5532120" cy="713232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309360" y="1600200"/>
            <a:ext cx="3931920" cy="713232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50" b="0" i="0">
                <a:solidFill>
                  <a:srgbClr val="20242E"/>
                </a:solidFill>
                <a:latin typeface="Inter"/>
              </a:rPr>
              <a:t>Nosotros ___ quedar.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0287000" y="1600200"/>
            <a:ext cx="1325880" cy="713232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400" b="1" i="0">
                <a:solidFill>
                  <a:srgbClr val="5B3E83"/>
                </a:solidFill>
                <a:latin typeface="Inter"/>
              </a:rPr>
              <a:t>→ vamos a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6172200" y="2478024"/>
            <a:ext cx="5532120" cy="713232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309360" y="2478024"/>
            <a:ext cx="3931920" cy="713232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50" b="0" i="0">
                <a:solidFill>
                  <a:srgbClr val="20242E"/>
                </a:solidFill>
                <a:latin typeface="Inter"/>
              </a:rPr>
              <a:t>Mis amigos ___ ver una peli.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0287000" y="2478024"/>
            <a:ext cx="1325880" cy="713232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400" b="1" i="0">
                <a:solidFill>
                  <a:srgbClr val="5B3E83"/>
                </a:solidFill>
                <a:latin typeface="Inter"/>
              </a:rPr>
              <a:t>→ van a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6172200" y="3355848"/>
            <a:ext cx="5532120" cy="713232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6309360" y="3355848"/>
            <a:ext cx="3931920" cy="713232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50" b="0" i="0">
                <a:solidFill>
                  <a:srgbClr val="20242E"/>
                </a:solidFill>
                <a:latin typeface="Inter"/>
              </a:rPr>
              <a:t>¿Vosotros ___ estudiar?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0287000" y="3355848"/>
            <a:ext cx="1325880" cy="713232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400" b="1" i="0">
                <a:solidFill>
                  <a:srgbClr val="5B3E83"/>
                </a:solidFill>
                <a:latin typeface="Inter"/>
              </a:rPr>
              <a:t>→ vais a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457200" y="6053328"/>
            <a:ext cx="2093976" cy="365760"/>
          </a:xfrm>
          <a:prstGeom prst="roundRect">
            <a:avLst>
              <a:gd name="adj" fmla="val 50000"/>
            </a:avLst>
          </a:prstGeom>
          <a:solidFill>
            <a:srgbClr val="7C56A9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12700" bIns="12700"/>
          <a:lstStyle/>
          <a:p>
            <a:pPr algn="ctr"/>
            <a:r>
              <a:rPr sz="1050" b="1">
                <a:solidFill>
                  <a:srgbClr val="FFFFFF"/>
                </a:solidFill>
                <a:latin typeface="Inter"/>
              </a:rPr>
              <a:t>▶  Mostrar solución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2697480" y="6053328"/>
            <a:ext cx="1088136" cy="36576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12700" bIns="12700"/>
          <a:lstStyle/>
          <a:p>
            <a:pPr algn="ctr"/>
            <a:r>
              <a:rPr sz="1050" b="1">
                <a:solidFill>
                  <a:srgbClr val="5B3E83"/>
                </a:solidFill>
                <a:latin typeface="Inter"/>
              </a:rPr>
              <a:t>⏭  Saltar</a:t>
            </a:r>
          </a:p>
        </p:txBody>
      </p:sp>
      <p:sp>
        <p:nvSpPr>
          <p:cNvPr id="29" name="Rounded Rectangle 28">
            <a:hlinkClick action="ppaction://hlinksldjump" r:id="rId3"/>
          </p:cNvPr>
          <p:cNvSpPr/>
          <p:nvPr/>
        </p:nvSpPr>
        <p:spPr>
          <a:xfrm>
            <a:off x="3931920" y="6053328"/>
            <a:ext cx="1691639" cy="36576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12700" bIns="12700"/>
          <a:lstStyle/>
          <a:p>
            <a:pPr algn="ctr"/>
            <a:r>
              <a:rPr sz="1050" b="1">
                <a:solidFill>
                  <a:srgbClr val="5B3E83"/>
                </a:solidFill>
                <a:latin typeface="Inter"/>
              </a:rPr>
              <a:t>⌂  Menú (dia 2)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8321040" y="6053328"/>
            <a:ext cx="3383280" cy="36576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850" b="0" i="1">
                <a:solidFill>
                  <a:srgbClr val="6A6E78"/>
                </a:solidFill>
                <a:latin typeface="Inter"/>
              </a:rPr>
              <a:t>Noodroute (§5): werkt zonder audio/internet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457200" y="4709160"/>
            <a:ext cx="11247120" cy="548640"/>
          </a:xfrm>
          <a:prstGeom prst="roundRect">
            <a:avLst>
              <a:gd name="adj" fmla="val 6000"/>
            </a:avLst>
          </a:prstGeom>
          <a:solidFill>
            <a:srgbClr val="EEE8F5"/>
          </a:solidFill>
          <a:ln w="19050">
            <a:solidFill>
              <a:srgbClr val="7C56A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27000" rIns="127000" tIns="139700" bIns="76200"/>
          <a:lstStyle/>
          <a:p>
            <a:pPr algn="ctr">
              <a:lnSpc>
                <a:spcPct val="102000"/>
              </a:lnSpc>
              <a:spcBef>
                <a:spcPts val="0"/>
              </a:spcBef>
              <a:spcAft>
                <a:spcPts val="300"/>
              </a:spcAft>
            </a:pPr>
            <a:r>
              <a:rPr sz="1200" b="1" i="0">
                <a:solidFill>
                  <a:srgbClr val="DC2626"/>
                </a:solidFill>
                <a:latin typeface="Inter"/>
              </a:rPr>
              <a:t>Truc: </a:t>
            </a:r>
            <a:r>
              <a:rPr sz="1200" b="0" i="0">
                <a:solidFill>
                  <a:srgbClr val="5B3E83"/>
                </a:solidFill>
                <a:latin typeface="Inter"/>
              </a:rPr>
              <a:t>ir vervoegd + a + infinitivo. voy/vas/va/vamos/vais/van a + hele werkwoord.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594360" y="4581144"/>
            <a:ext cx="1548993" cy="292608"/>
          </a:xfrm>
          <a:prstGeom prst="roundRect">
            <a:avLst>
              <a:gd name="adj" fmla="val 50000"/>
            </a:avLst>
          </a:prstGeom>
          <a:solidFill>
            <a:srgbClr val="7C56A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88900" rIns="88900" tIns="12700" bIns="12700"/>
          <a:lstStyle/>
          <a:p>
            <a:pPr algn="ctr"/>
            <a:r>
              <a:rPr sz="950" b="1">
                <a:solidFill>
                  <a:srgbClr val="FFFFFF"/>
                </a:solidFill>
                <a:latin typeface="Inter"/>
              </a:rPr>
              <a:t>SOLUCIÓN · docent</a:t>
            </a:r>
          </a:p>
        </p:txBody>
      </p:sp>
      <p:sp>
        <p:nvSpPr>
          <p:cNvPr id="33" name="Rectangle 32"/>
          <p:cNvSpPr/>
          <p:nvPr/>
        </p:nvSpPr>
        <p:spPr>
          <a:xfrm>
            <a:off x="0" y="6547104"/>
            <a:ext cx="12191695" cy="310896"/>
          </a:xfrm>
          <a:prstGeom prst="rect">
            <a:avLst/>
          </a:prstGeom>
          <a:solidFill>
            <a:srgbClr val="F3EE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411480" y="6565392"/>
            <a:ext cx="548640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1" i="0">
                <a:solidFill>
                  <a:srgbClr val="7C56A9"/>
                </a:solidFill>
                <a:latin typeface="Inter"/>
              </a:rPr>
              <a:t>● </a:t>
            </a:r>
            <a:r>
              <a:rPr sz="950" b="0" i="0">
                <a:solidFill>
                  <a:srgbClr val="6A6E78"/>
                </a:solidFill>
                <a:latin typeface="Inter"/>
              </a:rPr>
              <a:t>U3 · CONECTADOS   ·   C6+ · conectados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8686800" y="6565392"/>
            <a:ext cx="306324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900" b="0" i="1">
                <a:solidFill>
                  <a:srgbClr val="6A6E78"/>
                </a:solidFill>
                <a:latin typeface="Inter"/>
              </a:rPr>
              <a:t>Docentenversie — met oplossingen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11475720" y="6565392"/>
            <a:ext cx="45720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950" b="1" i="0">
                <a:solidFill>
                  <a:srgbClr val="5B3E83"/>
                </a:solidFill>
                <a:latin typeface="Inter"/>
              </a:rPr>
              <a:t>5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5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5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5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5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50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50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50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CFB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78992"/>
          </a:xfrm>
          <a:prstGeom prst="rect">
            <a:avLst/>
          </a:prstGeom>
          <a:solidFill>
            <a:srgbClr val="7C56A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78992"/>
            <a:ext cx="12191695" cy="54864"/>
          </a:xfrm>
          <a:prstGeom prst="rect">
            <a:avLst/>
          </a:prstGeom>
          <a:solidFill>
            <a:srgbClr val="5B3E8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502920" y="182880"/>
            <a:ext cx="1296619" cy="292608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88900" rIns="88900" tIns="12700" bIns="12700"/>
          <a:lstStyle/>
          <a:p>
            <a:pPr algn="ctr"/>
            <a:r>
              <a:rPr sz="1100" b="1">
                <a:solidFill>
                  <a:srgbClr val="7C56A9"/>
                </a:solidFill>
                <a:latin typeface="Inter"/>
              </a:rPr>
              <a:t>§2 · GRAMÁTICA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424160" y="-137160"/>
            <a:ext cx="1737360" cy="137160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8800" b="1" i="0">
                <a:solidFill>
                  <a:srgbClr val="FFFFFF"/>
                </a:solidFill>
                <a:latin typeface="Bricolage Grotesque"/>
              </a:rPr>
              <a:t>2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457200"/>
            <a:ext cx="9692640" cy="5029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2700" b="1" i="0">
                <a:solidFill>
                  <a:srgbClr val="FFFFFF"/>
                </a:solidFill>
                <a:latin typeface="Bricolage Grotesque"/>
              </a:rPr>
              <a:t>Acabar de + tijd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02920" y="932688"/>
            <a:ext cx="9692640" cy="27432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50" b="0" i="1">
                <a:solidFill>
                  <a:srgbClr val="EEE8F5"/>
                </a:solidFill>
                <a:latin typeface="Inter"/>
              </a:rPr>
              <a:t>Klik een cue → de vorm. acabar de = «net gedaan». + expresiones de tiempo.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57200" y="1600200"/>
            <a:ext cx="5532120" cy="658368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594360" y="1600200"/>
            <a:ext cx="2377440" cy="658368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0" i="0">
                <a:solidFill>
                  <a:srgbClr val="6A6E78"/>
                </a:solidFill>
                <a:latin typeface="Inter"/>
              </a:rPr>
              <a:t>net gedaan (yo)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017520" y="1600200"/>
            <a:ext cx="2880360" cy="658368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1" i="0">
                <a:solidFill>
                  <a:srgbClr val="5B3E83"/>
                </a:solidFill>
                <a:latin typeface="Inter"/>
              </a:rPr>
              <a:t>→ acabo de comer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457200" y="2386584"/>
            <a:ext cx="5532120" cy="658368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594360" y="2386584"/>
            <a:ext cx="2377440" cy="658368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0" i="0">
                <a:solidFill>
                  <a:srgbClr val="6A6E78"/>
                </a:solidFill>
                <a:latin typeface="Inter"/>
              </a:rPr>
              <a:t>net gedaan (él)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017520" y="2386584"/>
            <a:ext cx="2880360" cy="658368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1" i="0">
                <a:solidFill>
                  <a:srgbClr val="5B3E83"/>
                </a:solidFill>
                <a:latin typeface="Inter"/>
              </a:rPr>
              <a:t>→ acaba de subir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457200" y="3172968"/>
            <a:ext cx="5532120" cy="658368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594360" y="3172968"/>
            <a:ext cx="2377440" cy="658368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0" i="0">
                <a:solidFill>
                  <a:srgbClr val="6A6E78"/>
                </a:solidFill>
                <a:latin typeface="Inter"/>
              </a:rPr>
              <a:t>straks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3017520" y="3172968"/>
            <a:ext cx="2880360" cy="658368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1" i="0">
                <a:solidFill>
                  <a:srgbClr val="5B3E83"/>
                </a:solidFill>
                <a:latin typeface="Inter"/>
              </a:rPr>
              <a:t>→ luego / más tarde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457200" y="3959352"/>
            <a:ext cx="5532120" cy="658368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594360" y="3959352"/>
            <a:ext cx="2377440" cy="658368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0" i="0">
                <a:solidFill>
                  <a:srgbClr val="6A6E78"/>
                </a:solidFill>
                <a:latin typeface="Inter"/>
              </a:rPr>
              <a:t>morgen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017520" y="3959352"/>
            <a:ext cx="2880360" cy="658368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1" i="0">
                <a:solidFill>
                  <a:srgbClr val="5B3E83"/>
                </a:solidFill>
                <a:latin typeface="Inter"/>
              </a:rPr>
              <a:t>→ mañana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6172200" y="1600200"/>
            <a:ext cx="5532120" cy="658368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309360" y="1600200"/>
            <a:ext cx="2377440" cy="658368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0" i="0">
                <a:solidFill>
                  <a:srgbClr val="6A6E78"/>
                </a:solidFill>
                <a:latin typeface="Inter"/>
              </a:rPr>
              <a:t>dit weekend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732520" y="1600200"/>
            <a:ext cx="2880360" cy="658368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1" i="0">
                <a:solidFill>
                  <a:srgbClr val="5B3E83"/>
                </a:solidFill>
                <a:latin typeface="Inter"/>
              </a:rPr>
              <a:t>→ este fin de semana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6172200" y="2386584"/>
            <a:ext cx="5532120" cy="658368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6309360" y="2386584"/>
            <a:ext cx="2377440" cy="658368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0" i="0">
                <a:solidFill>
                  <a:srgbClr val="6A6E78"/>
                </a:solidFill>
                <a:latin typeface="Inter"/>
              </a:rPr>
              <a:t>binnenkort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8732520" y="2386584"/>
            <a:ext cx="2880360" cy="658368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1" i="0">
                <a:solidFill>
                  <a:srgbClr val="5B3E83"/>
                </a:solidFill>
                <a:latin typeface="Inter"/>
              </a:rPr>
              <a:t>→ pronto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6172200" y="3172968"/>
            <a:ext cx="5532120" cy="658368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6309360" y="3172968"/>
            <a:ext cx="2377440" cy="658368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0" i="0">
                <a:solidFill>
                  <a:srgbClr val="6A6E78"/>
                </a:solidFill>
                <a:latin typeface="Inter"/>
              </a:rPr>
              <a:t>later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8732520" y="3172968"/>
            <a:ext cx="2880360" cy="658368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1" i="0">
                <a:solidFill>
                  <a:srgbClr val="5B3E83"/>
                </a:solidFill>
                <a:latin typeface="Inter"/>
              </a:rPr>
              <a:t>→ más tarde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6172200" y="3959352"/>
            <a:ext cx="5532120" cy="658368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6309360" y="3959352"/>
            <a:ext cx="2377440" cy="658368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0" i="0">
                <a:solidFill>
                  <a:srgbClr val="6A6E78"/>
                </a:solidFill>
                <a:latin typeface="Inter"/>
              </a:rPr>
              <a:t>volgend jaar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8732520" y="3959352"/>
            <a:ext cx="2880360" cy="658368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1" i="0">
                <a:solidFill>
                  <a:srgbClr val="5B3E83"/>
                </a:solidFill>
                <a:latin typeface="Inter"/>
              </a:rPr>
              <a:t>→ el próximo año</a:t>
            </a:r>
          </a:p>
        </p:txBody>
      </p:sp>
      <p:sp>
        <p:nvSpPr>
          <p:cNvPr id="33" name="Rounded Rectangle 32"/>
          <p:cNvSpPr/>
          <p:nvPr/>
        </p:nvSpPr>
        <p:spPr>
          <a:xfrm>
            <a:off x="457200" y="6053328"/>
            <a:ext cx="2093976" cy="365760"/>
          </a:xfrm>
          <a:prstGeom prst="roundRect">
            <a:avLst>
              <a:gd name="adj" fmla="val 50000"/>
            </a:avLst>
          </a:prstGeom>
          <a:solidFill>
            <a:srgbClr val="7C56A9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12700" bIns="12700"/>
          <a:lstStyle/>
          <a:p>
            <a:pPr algn="ctr"/>
            <a:r>
              <a:rPr sz="1050" b="1">
                <a:solidFill>
                  <a:srgbClr val="FFFFFF"/>
                </a:solidFill>
                <a:latin typeface="Inter"/>
              </a:rPr>
              <a:t>▶  Mostrar solución</a:t>
            </a:r>
          </a:p>
        </p:txBody>
      </p:sp>
      <p:sp>
        <p:nvSpPr>
          <p:cNvPr id="34" name="Rounded Rectangle 33"/>
          <p:cNvSpPr/>
          <p:nvPr/>
        </p:nvSpPr>
        <p:spPr>
          <a:xfrm>
            <a:off x="2697480" y="6053328"/>
            <a:ext cx="1088136" cy="36576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12700" bIns="12700"/>
          <a:lstStyle/>
          <a:p>
            <a:pPr algn="ctr"/>
            <a:r>
              <a:rPr sz="1050" b="1">
                <a:solidFill>
                  <a:srgbClr val="5B3E83"/>
                </a:solidFill>
                <a:latin typeface="Inter"/>
              </a:rPr>
              <a:t>⏭  Saltar</a:t>
            </a:r>
          </a:p>
        </p:txBody>
      </p:sp>
      <p:sp>
        <p:nvSpPr>
          <p:cNvPr id="35" name="Rounded Rectangle 34">
            <a:hlinkClick action="ppaction://hlinksldjump" r:id="rId3"/>
          </p:cNvPr>
          <p:cNvSpPr/>
          <p:nvPr/>
        </p:nvSpPr>
        <p:spPr>
          <a:xfrm>
            <a:off x="3931920" y="6053328"/>
            <a:ext cx="1691639" cy="36576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12700" bIns="12700"/>
          <a:lstStyle/>
          <a:p>
            <a:pPr algn="ctr"/>
            <a:r>
              <a:rPr sz="1050" b="1">
                <a:solidFill>
                  <a:srgbClr val="5B3E83"/>
                </a:solidFill>
                <a:latin typeface="Inter"/>
              </a:rPr>
              <a:t>⌂  Menú (dia 2)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8321040" y="6053328"/>
            <a:ext cx="3383280" cy="36576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850" b="0" i="1">
                <a:solidFill>
                  <a:srgbClr val="6A6E78"/>
                </a:solidFill>
                <a:latin typeface="Inter"/>
              </a:rPr>
              <a:t>Noodroute (§5): werkt zonder audio/internet</a:t>
            </a:r>
          </a:p>
        </p:txBody>
      </p:sp>
      <p:sp>
        <p:nvSpPr>
          <p:cNvPr id="37" name="Rounded Rectangle 36"/>
          <p:cNvSpPr/>
          <p:nvPr/>
        </p:nvSpPr>
        <p:spPr>
          <a:xfrm>
            <a:off x="457200" y="4434840"/>
            <a:ext cx="11247120" cy="777240"/>
          </a:xfrm>
          <a:prstGeom prst="roundRect">
            <a:avLst>
              <a:gd name="adj" fmla="val 6000"/>
            </a:avLst>
          </a:prstGeom>
          <a:solidFill>
            <a:srgbClr val="EEE8F5"/>
          </a:solidFill>
          <a:ln w="19050">
            <a:solidFill>
              <a:srgbClr val="7C56A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27000" rIns="127000" tIns="139700" bIns="76200"/>
          <a:lstStyle/>
          <a:p>
            <a:pPr algn="ctr">
              <a:lnSpc>
                <a:spcPct val="102000"/>
              </a:lnSpc>
              <a:spcBef>
                <a:spcPts val="0"/>
              </a:spcBef>
              <a:spcAft>
                <a:spcPts val="300"/>
              </a:spcAft>
            </a:pPr>
            <a:r>
              <a:rPr sz="1200" b="1" i="0">
                <a:solidFill>
                  <a:srgbClr val="5B3E83"/>
                </a:solidFill>
                <a:latin typeface="Inter"/>
              </a:rPr>
              <a:t>Acabar de: </a:t>
            </a:r>
            <a:r>
              <a:rPr sz="1200" b="0" i="0">
                <a:solidFill>
                  <a:srgbClr val="5B3E83"/>
                </a:solidFill>
                <a:latin typeface="Inter"/>
              </a:rPr>
              <a:t>acabo/acabas/acaba… + de + infinitivo = «net … gedaan». Acabo de mandar un mensaje.</a:t>
            </a:r>
          </a:p>
          <a:p>
            <a:pPr>
              <a:lnSpc>
                <a:spcPct val="102000"/>
              </a:lnSpc>
              <a:spcBef>
                <a:spcPts val="0"/>
              </a:spcBef>
              <a:spcAft>
                <a:spcPts val="300"/>
              </a:spcAft>
            </a:pPr>
            <a:r>
              <a:rPr sz="1200" b="0" i="0">
                <a:solidFill>
                  <a:srgbClr val="DC2626"/>
                </a:solidFill>
                <a:latin typeface="Inter"/>
              </a:rPr>
              <a:t>🔴 futuro (ir a) vs recién (acabar de): «Mañana voy a…» tegenover «Acabo de…».</a:t>
            </a:r>
          </a:p>
        </p:txBody>
      </p:sp>
      <p:sp>
        <p:nvSpPr>
          <p:cNvPr id="38" name="Rounded Rectangle 37"/>
          <p:cNvSpPr/>
          <p:nvPr/>
        </p:nvSpPr>
        <p:spPr>
          <a:xfrm>
            <a:off x="594360" y="4306824"/>
            <a:ext cx="1296619" cy="292608"/>
          </a:xfrm>
          <a:prstGeom prst="roundRect">
            <a:avLst>
              <a:gd name="adj" fmla="val 50000"/>
            </a:avLst>
          </a:prstGeom>
          <a:solidFill>
            <a:srgbClr val="7C56A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88900" rIns="88900" tIns="12700" bIns="12700"/>
          <a:lstStyle/>
          <a:p>
            <a:pPr algn="ctr"/>
            <a:r>
              <a:rPr sz="950" b="1">
                <a:solidFill>
                  <a:srgbClr val="FFFFFF"/>
                </a:solidFill>
                <a:latin typeface="Inter"/>
              </a:rPr>
              <a:t>REGLA · docent</a:t>
            </a:r>
          </a:p>
        </p:txBody>
      </p:sp>
      <p:sp>
        <p:nvSpPr>
          <p:cNvPr id="39" name="Rectangle 38"/>
          <p:cNvSpPr/>
          <p:nvPr/>
        </p:nvSpPr>
        <p:spPr>
          <a:xfrm>
            <a:off x="0" y="6547104"/>
            <a:ext cx="12191695" cy="310896"/>
          </a:xfrm>
          <a:prstGeom prst="rect">
            <a:avLst/>
          </a:prstGeom>
          <a:solidFill>
            <a:srgbClr val="F3EE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411480" y="6565392"/>
            <a:ext cx="548640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1" i="0">
                <a:solidFill>
                  <a:srgbClr val="7C56A9"/>
                </a:solidFill>
                <a:latin typeface="Inter"/>
              </a:rPr>
              <a:t>● </a:t>
            </a:r>
            <a:r>
              <a:rPr sz="950" b="0" i="0">
                <a:solidFill>
                  <a:srgbClr val="6A6E78"/>
                </a:solidFill>
                <a:latin typeface="Inter"/>
              </a:rPr>
              <a:t>U3 · CONECTADOS   ·   C6+ · conectados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8686800" y="6565392"/>
            <a:ext cx="306324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900" b="0" i="1">
                <a:solidFill>
                  <a:srgbClr val="6A6E78"/>
                </a:solidFill>
                <a:latin typeface="Inter"/>
              </a:rPr>
              <a:t>Docentenversie — met oplossingen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1475720" y="6565392"/>
            <a:ext cx="45720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950" b="1" i="0">
                <a:solidFill>
                  <a:srgbClr val="5B3E83"/>
                </a:solidFill>
                <a:latin typeface="Inter"/>
              </a:rPr>
              <a:t>6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5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5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5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5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50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50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50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500"/>
                                        <p:tgtEl>
                                          <p:spTgt spid="3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500"/>
                                        <p:tgtEl>
                                          <p:spTgt spid="3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CFB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78992"/>
          </a:xfrm>
          <a:prstGeom prst="rect">
            <a:avLst/>
          </a:prstGeom>
          <a:solidFill>
            <a:srgbClr val="7C56A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78992"/>
            <a:ext cx="12191695" cy="54864"/>
          </a:xfrm>
          <a:prstGeom prst="rect">
            <a:avLst/>
          </a:prstGeom>
          <a:solidFill>
            <a:srgbClr val="5B3E8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502920" y="182880"/>
            <a:ext cx="1885492" cy="292608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88900" rIns="88900" tIns="12700" bIns="12700"/>
          <a:lstStyle/>
          <a:p>
            <a:pPr algn="ctr"/>
            <a:r>
              <a:rPr sz="1100" b="1">
                <a:solidFill>
                  <a:srgbClr val="7C56A9"/>
                </a:solidFill>
                <a:latin typeface="Inter"/>
              </a:rPr>
              <a:t>§3 · GRAMÁTICA VISUAL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424160" y="-137160"/>
            <a:ext cx="1737360" cy="137160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8800" b="1" i="0">
                <a:solidFill>
                  <a:srgbClr val="FFFFFF"/>
                </a:solidFill>
                <a:latin typeface="Bricolage Grotesque"/>
              </a:rPr>
              <a:t>3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457200"/>
            <a:ext cx="9692640" cy="5029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2700" b="1" i="0">
                <a:solidFill>
                  <a:srgbClr val="FFFFFF"/>
                </a:solidFill>
                <a:latin typeface="Bricolage Grotesque"/>
              </a:rPr>
              <a:t>Los pronombres le/les — ¿a quién?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02920" y="932688"/>
            <a:ext cx="9692640" cy="27432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50" b="0" i="1">
                <a:solidFill>
                  <a:srgbClr val="EEE8F5"/>
                </a:solidFill>
                <a:latin typeface="Inter"/>
              </a:rPr>
              <a:t>Het meewerkend voorwerp: aan/voor wie? Kleur = de functie.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869680" y="484632"/>
            <a:ext cx="1188720" cy="27432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900" b="1" i="0">
                <a:solidFill>
                  <a:srgbClr val="6A6E78"/>
                </a:solidFill>
                <a:latin typeface="Inter"/>
              </a:rPr>
              <a:t>Kleurcode: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9921240" y="521208"/>
            <a:ext cx="128016" cy="128016"/>
          </a:xfrm>
          <a:prstGeom prst="roundRect">
            <a:avLst>
              <a:gd name="adj" fmla="val 50000"/>
            </a:avLst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0085832" y="475488"/>
            <a:ext cx="914400" cy="27432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900" b="0" i="0">
                <a:solidFill>
                  <a:srgbClr val="20242E"/>
                </a:solidFill>
                <a:latin typeface="Inter"/>
              </a:rPr>
              <a:t>persoon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10574121" y="521208"/>
            <a:ext cx="128016" cy="128016"/>
          </a:xfrm>
          <a:prstGeom prst="roundRect">
            <a:avLst>
              <a:gd name="adj" fmla="val 50000"/>
            </a:avLst>
          </a:prstGeom>
          <a:solidFill>
            <a:srgbClr val="EA731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0738713" y="475488"/>
            <a:ext cx="914400" cy="27432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900" b="0" i="0">
                <a:solidFill>
                  <a:srgbClr val="20242E"/>
                </a:solidFill>
                <a:latin typeface="Inter"/>
              </a:rPr>
              <a:t>werkw.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11170309" y="521208"/>
            <a:ext cx="128016" cy="128016"/>
          </a:xfrm>
          <a:prstGeom prst="roundRect">
            <a:avLst>
              <a:gd name="adj" fmla="val 50000"/>
            </a:avLst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1334901" y="475488"/>
            <a:ext cx="914400" cy="27432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900" b="0" i="0">
                <a:solidFill>
                  <a:srgbClr val="20242E"/>
                </a:solidFill>
                <a:latin typeface="Inter"/>
              </a:rPr>
              <a:t>tijd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11653112" y="521208"/>
            <a:ext cx="128016" cy="128016"/>
          </a:xfrm>
          <a:prstGeom prst="roundRect">
            <a:avLst>
              <a:gd name="adj" fmla="val 50000"/>
            </a:avLst>
          </a:prstGeom>
          <a:solidFill>
            <a:srgbClr val="64748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11817704" y="475488"/>
            <a:ext cx="914400" cy="27432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900" b="0" i="0">
                <a:solidFill>
                  <a:srgbClr val="20242E"/>
                </a:solidFill>
                <a:latin typeface="Inter"/>
              </a:rPr>
              <a:t>plaats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12249300" y="521208"/>
            <a:ext cx="128016" cy="128016"/>
          </a:xfrm>
          <a:prstGeom prst="roundRect">
            <a:avLst>
              <a:gd name="adj" fmla="val 50000"/>
            </a:avLst>
          </a:prstGeom>
          <a:solidFill>
            <a:srgbClr val="DC262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12413892" y="475488"/>
            <a:ext cx="914400" cy="27432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900" b="0" i="0">
                <a:solidFill>
                  <a:srgbClr val="20242E"/>
                </a:solidFill>
                <a:latin typeface="Inter"/>
              </a:rPr>
              <a:t>valstrik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457200" y="1554480"/>
            <a:ext cx="5486400" cy="1005840"/>
          </a:xfrm>
          <a:prstGeom prst="roundRect">
            <a:avLst>
              <a:gd name="adj" fmla="val 5500"/>
            </a:avLst>
          </a:prstGeom>
          <a:solidFill>
            <a:srgbClr val="EEE8F5"/>
          </a:solidFill>
          <a:ln>
            <a:noFill/>
          </a:ln>
          <a:effectLst>
            <a:outerShdw blurRad="90000" dist="38000" dir="5400000" rotWithShape="0">
              <a:srgbClr val="20242E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640080" y="1554480"/>
            <a:ext cx="5120640" cy="100584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500" b="0" i="0">
                <a:solidFill>
                  <a:srgbClr val="20242E"/>
                </a:solidFill>
                <a:latin typeface="Inter"/>
              </a:rPr>
              <a:t>Escribo </a:t>
            </a:r>
            <a:r>
              <a:rPr sz="1500" b="1" i="0">
                <a:solidFill>
                  <a:srgbClr val="64748B"/>
                </a:solidFill>
                <a:latin typeface="Inter"/>
              </a:rPr>
              <a:t>a Diego</a:t>
            </a:r>
            <a:r>
              <a:rPr sz="1500" b="0" i="0">
                <a:solidFill>
                  <a:srgbClr val="6A6E78"/>
                </a:solidFill>
                <a:latin typeface="Inter"/>
              </a:rPr>
              <a:t> → </a:t>
            </a:r>
            <a:r>
              <a:rPr sz="1800" b="1" i="0">
                <a:solidFill>
                  <a:srgbClr val="64748B"/>
                </a:solidFill>
                <a:latin typeface="Inter"/>
              </a:rPr>
              <a:t>Le</a:t>
            </a:r>
            <a:r>
              <a:rPr sz="1500" b="0" i="0">
                <a:solidFill>
                  <a:srgbClr val="20242E"/>
                </a:solidFill>
                <a:latin typeface="Inter"/>
              </a:rPr>
              <a:t> escribo.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6217920" y="1554480"/>
            <a:ext cx="5486400" cy="1005840"/>
          </a:xfrm>
          <a:prstGeom prst="roundRect">
            <a:avLst>
              <a:gd name="adj" fmla="val 5500"/>
            </a:avLst>
          </a:prstGeom>
          <a:solidFill>
            <a:srgbClr val="EEE8F5"/>
          </a:solidFill>
          <a:ln>
            <a:noFill/>
          </a:ln>
          <a:effectLst>
            <a:outerShdw blurRad="90000" dist="38000" dir="5400000" rotWithShape="0">
              <a:srgbClr val="20242E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6400800" y="1554480"/>
            <a:ext cx="5120640" cy="100584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500" b="0" i="0">
                <a:solidFill>
                  <a:srgbClr val="20242E"/>
                </a:solidFill>
                <a:latin typeface="Inter"/>
              </a:rPr>
              <a:t>Mando fotos </a:t>
            </a:r>
            <a:r>
              <a:rPr sz="1500" b="1" i="0">
                <a:solidFill>
                  <a:srgbClr val="64748B"/>
                </a:solidFill>
                <a:latin typeface="Inter"/>
              </a:rPr>
              <a:t>a mis amigos</a:t>
            </a:r>
            <a:r>
              <a:rPr sz="1500" b="0" i="0">
                <a:solidFill>
                  <a:srgbClr val="6A6E78"/>
                </a:solidFill>
                <a:latin typeface="Inter"/>
              </a:rPr>
              <a:t> → </a:t>
            </a:r>
            <a:r>
              <a:rPr sz="1800" b="1" i="0">
                <a:solidFill>
                  <a:srgbClr val="64748B"/>
                </a:solidFill>
                <a:latin typeface="Inter"/>
              </a:rPr>
              <a:t>Les</a:t>
            </a:r>
            <a:r>
              <a:rPr sz="1500" b="0" i="0">
                <a:solidFill>
                  <a:srgbClr val="20242E"/>
                </a:solidFill>
                <a:latin typeface="Inter"/>
              </a:rPr>
              <a:t> mando.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457200" y="2880360"/>
            <a:ext cx="3657600" cy="566928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594360" y="2880360"/>
            <a:ext cx="1005840" cy="566928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500" b="1" i="0">
                <a:solidFill>
                  <a:srgbClr val="64748B"/>
                </a:solidFill>
                <a:latin typeface="Bricolage Grotesque"/>
              </a:rPr>
              <a:t>me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645920" y="2880360"/>
            <a:ext cx="2377440" cy="566928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0" i="0">
                <a:solidFill>
                  <a:srgbClr val="20242E"/>
                </a:solidFill>
                <a:latin typeface="Inter"/>
              </a:rPr>
              <a:t>a mí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457200" y="3557016"/>
            <a:ext cx="3657600" cy="566928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594360" y="3557016"/>
            <a:ext cx="1005840" cy="566928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500" b="1" i="0">
                <a:solidFill>
                  <a:srgbClr val="64748B"/>
                </a:solidFill>
                <a:latin typeface="Bricolage Grotesque"/>
              </a:rPr>
              <a:t>te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645920" y="3557016"/>
            <a:ext cx="2377440" cy="566928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0" i="0">
                <a:solidFill>
                  <a:srgbClr val="20242E"/>
                </a:solidFill>
                <a:latin typeface="Inter"/>
              </a:rPr>
              <a:t>a ti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457200" y="4233672"/>
            <a:ext cx="3657600" cy="566928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594360" y="4233672"/>
            <a:ext cx="1005840" cy="566928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500" b="1" i="0">
                <a:solidFill>
                  <a:srgbClr val="64748B"/>
                </a:solidFill>
                <a:latin typeface="Bricolage Grotesque"/>
              </a:rPr>
              <a:t>le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1645920" y="4233672"/>
            <a:ext cx="2377440" cy="566928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0" i="0">
                <a:solidFill>
                  <a:srgbClr val="20242E"/>
                </a:solidFill>
                <a:latin typeface="Inter"/>
              </a:rPr>
              <a:t>a él/ella/usted</a:t>
            </a:r>
          </a:p>
        </p:txBody>
      </p:sp>
      <p:sp>
        <p:nvSpPr>
          <p:cNvPr id="33" name="Rounded Rectangle 32"/>
          <p:cNvSpPr/>
          <p:nvPr/>
        </p:nvSpPr>
        <p:spPr>
          <a:xfrm>
            <a:off x="4297680" y="2880360"/>
            <a:ext cx="3657600" cy="566928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4434840" y="2880360"/>
            <a:ext cx="1005840" cy="566928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500" b="1" i="0">
                <a:solidFill>
                  <a:srgbClr val="64748B"/>
                </a:solidFill>
                <a:latin typeface="Bricolage Grotesque"/>
              </a:rPr>
              <a:t>nos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5486400" y="2880360"/>
            <a:ext cx="2377440" cy="566928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0" i="0">
                <a:solidFill>
                  <a:srgbClr val="20242E"/>
                </a:solidFill>
                <a:latin typeface="Inter"/>
              </a:rPr>
              <a:t>a nosotros</a:t>
            </a:r>
          </a:p>
        </p:txBody>
      </p:sp>
      <p:sp>
        <p:nvSpPr>
          <p:cNvPr id="36" name="Rounded Rectangle 35"/>
          <p:cNvSpPr/>
          <p:nvPr/>
        </p:nvSpPr>
        <p:spPr>
          <a:xfrm>
            <a:off x="4297680" y="3557016"/>
            <a:ext cx="3657600" cy="566928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4434840" y="3557016"/>
            <a:ext cx="1005840" cy="566928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500" b="1" i="0">
                <a:solidFill>
                  <a:srgbClr val="64748B"/>
                </a:solidFill>
                <a:latin typeface="Bricolage Grotesque"/>
              </a:rPr>
              <a:t>os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5486400" y="3557016"/>
            <a:ext cx="2377440" cy="566928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0" i="0">
                <a:solidFill>
                  <a:srgbClr val="20242E"/>
                </a:solidFill>
                <a:latin typeface="Inter"/>
              </a:rPr>
              <a:t>a vosotros</a:t>
            </a:r>
          </a:p>
        </p:txBody>
      </p:sp>
      <p:sp>
        <p:nvSpPr>
          <p:cNvPr id="39" name="Rounded Rectangle 38"/>
          <p:cNvSpPr/>
          <p:nvPr/>
        </p:nvSpPr>
        <p:spPr>
          <a:xfrm>
            <a:off x="4297680" y="4233672"/>
            <a:ext cx="3657600" cy="566928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4434840" y="4233672"/>
            <a:ext cx="1005840" cy="566928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500" b="1" i="0">
                <a:solidFill>
                  <a:srgbClr val="64748B"/>
                </a:solidFill>
                <a:latin typeface="Bricolage Grotesque"/>
              </a:rPr>
              <a:t>les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5486400" y="4233672"/>
            <a:ext cx="2377440" cy="566928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0" i="0">
                <a:solidFill>
                  <a:srgbClr val="20242E"/>
                </a:solidFill>
                <a:latin typeface="Inter"/>
              </a:rPr>
              <a:t>a ellos/ellas</a:t>
            </a:r>
          </a:p>
        </p:txBody>
      </p:sp>
      <p:sp>
        <p:nvSpPr>
          <p:cNvPr id="42" name="Rounded Rectangle 41"/>
          <p:cNvSpPr/>
          <p:nvPr/>
        </p:nvSpPr>
        <p:spPr>
          <a:xfrm>
            <a:off x="457200" y="6053328"/>
            <a:ext cx="2093976" cy="365760"/>
          </a:xfrm>
          <a:prstGeom prst="roundRect">
            <a:avLst>
              <a:gd name="adj" fmla="val 50000"/>
            </a:avLst>
          </a:prstGeom>
          <a:solidFill>
            <a:srgbClr val="7C56A9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12700" bIns="12700"/>
          <a:lstStyle/>
          <a:p>
            <a:pPr algn="ctr"/>
            <a:r>
              <a:rPr sz="1050" b="1">
                <a:solidFill>
                  <a:srgbClr val="FFFFFF"/>
                </a:solidFill>
                <a:latin typeface="Inter"/>
              </a:rPr>
              <a:t>▶  Mostrar solución</a:t>
            </a:r>
          </a:p>
        </p:txBody>
      </p:sp>
      <p:sp>
        <p:nvSpPr>
          <p:cNvPr id="43" name="Rounded Rectangle 42"/>
          <p:cNvSpPr/>
          <p:nvPr/>
        </p:nvSpPr>
        <p:spPr>
          <a:xfrm>
            <a:off x="2697480" y="6053328"/>
            <a:ext cx="1088136" cy="36576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12700" bIns="12700"/>
          <a:lstStyle/>
          <a:p>
            <a:pPr algn="ctr"/>
            <a:r>
              <a:rPr sz="1050" b="1">
                <a:solidFill>
                  <a:srgbClr val="5B3E83"/>
                </a:solidFill>
                <a:latin typeface="Inter"/>
              </a:rPr>
              <a:t>⏭  Saltar</a:t>
            </a:r>
          </a:p>
        </p:txBody>
      </p:sp>
      <p:sp>
        <p:nvSpPr>
          <p:cNvPr id="44" name="Rounded Rectangle 43">
            <a:hlinkClick action="ppaction://hlinksldjump" r:id="rId3"/>
          </p:cNvPr>
          <p:cNvSpPr/>
          <p:nvPr/>
        </p:nvSpPr>
        <p:spPr>
          <a:xfrm>
            <a:off x="3931920" y="6053328"/>
            <a:ext cx="1691639" cy="36576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12700" bIns="12700"/>
          <a:lstStyle/>
          <a:p>
            <a:pPr algn="ctr"/>
            <a:r>
              <a:rPr sz="1050" b="1">
                <a:solidFill>
                  <a:srgbClr val="5B3E83"/>
                </a:solidFill>
                <a:latin typeface="Inter"/>
              </a:rPr>
              <a:t>⌂  Menú (dia 2)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8321040" y="6053328"/>
            <a:ext cx="3383280" cy="36576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850" b="0" i="1">
                <a:solidFill>
                  <a:srgbClr val="6A6E78"/>
                </a:solidFill>
                <a:latin typeface="Inter"/>
              </a:rPr>
              <a:t>Noodroute (§5): werkt zonder audio/internet</a:t>
            </a:r>
          </a:p>
        </p:txBody>
      </p:sp>
      <p:sp>
        <p:nvSpPr>
          <p:cNvPr id="46" name="Rounded Rectangle 45"/>
          <p:cNvSpPr/>
          <p:nvPr/>
        </p:nvSpPr>
        <p:spPr>
          <a:xfrm>
            <a:off x="457200" y="4709160"/>
            <a:ext cx="11247120" cy="822960"/>
          </a:xfrm>
          <a:prstGeom prst="roundRect">
            <a:avLst>
              <a:gd name="adj" fmla="val 6000"/>
            </a:avLst>
          </a:prstGeom>
          <a:solidFill>
            <a:srgbClr val="EEE8F5"/>
          </a:solidFill>
          <a:ln w="19050">
            <a:solidFill>
              <a:srgbClr val="7C56A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27000" rIns="127000" tIns="139700" bIns="76200"/>
          <a:lstStyle/>
          <a:p>
            <a:pPr algn="ctr">
              <a:lnSpc>
                <a:spcPct val="102000"/>
              </a:lnSpc>
              <a:spcBef>
                <a:spcPts val="0"/>
              </a:spcBef>
              <a:spcAft>
                <a:spcPts val="300"/>
              </a:spcAft>
            </a:pPr>
            <a:r>
              <a:rPr sz="1200" b="1" i="0">
                <a:solidFill>
                  <a:srgbClr val="5B3E83"/>
                </a:solidFill>
                <a:latin typeface="Inter"/>
              </a:rPr>
              <a:t>Regla: </a:t>
            </a:r>
            <a:r>
              <a:rPr sz="1200" b="0" i="0">
                <a:solidFill>
                  <a:srgbClr val="5B3E83"/>
                </a:solidFill>
                <a:latin typeface="Inter"/>
              </a:rPr>
              <a:t>le = aan één persoon · les = aan meerdere. Staat vóór het vervoegde werkwoord. </a:t>
            </a:r>
          </a:p>
          <a:p>
            <a:pPr>
              <a:lnSpc>
                <a:spcPct val="102000"/>
              </a:lnSpc>
              <a:spcBef>
                <a:spcPts val="0"/>
              </a:spcBef>
              <a:spcAft>
                <a:spcPts val="300"/>
              </a:spcAft>
            </a:pPr>
            <a:r>
              <a:rPr sz="1200" b="0" i="0">
                <a:solidFill>
                  <a:srgbClr val="5B3E83"/>
                </a:solidFill>
                <a:latin typeface="Inter"/>
              </a:rPr>
              <a:t>In het Spaans zeg je vaak le én a Diego samen: «Le escribo a Diego» — dat is normaal.</a:t>
            </a:r>
          </a:p>
        </p:txBody>
      </p:sp>
      <p:sp>
        <p:nvSpPr>
          <p:cNvPr id="47" name="Rounded Rectangle 46"/>
          <p:cNvSpPr/>
          <p:nvPr/>
        </p:nvSpPr>
        <p:spPr>
          <a:xfrm>
            <a:off x="594360" y="4581144"/>
            <a:ext cx="1296619" cy="292608"/>
          </a:xfrm>
          <a:prstGeom prst="roundRect">
            <a:avLst>
              <a:gd name="adj" fmla="val 50000"/>
            </a:avLst>
          </a:prstGeom>
          <a:solidFill>
            <a:srgbClr val="7C56A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88900" rIns="88900" tIns="12700" bIns="12700"/>
          <a:lstStyle/>
          <a:p>
            <a:pPr algn="ctr"/>
            <a:r>
              <a:rPr sz="950" b="1">
                <a:solidFill>
                  <a:srgbClr val="FFFFFF"/>
                </a:solidFill>
                <a:latin typeface="Inter"/>
              </a:rPr>
              <a:t>REGLA · docent</a:t>
            </a:r>
          </a:p>
        </p:txBody>
      </p:sp>
      <p:sp>
        <p:nvSpPr>
          <p:cNvPr id="48" name="Rectangle 47"/>
          <p:cNvSpPr/>
          <p:nvPr/>
        </p:nvSpPr>
        <p:spPr>
          <a:xfrm>
            <a:off x="0" y="6547104"/>
            <a:ext cx="12191695" cy="310896"/>
          </a:xfrm>
          <a:prstGeom prst="rect">
            <a:avLst/>
          </a:prstGeom>
          <a:solidFill>
            <a:srgbClr val="F3EE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TextBox 48"/>
          <p:cNvSpPr txBox="1"/>
          <p:nvPr/>
        </p:nvSpPr>
        <p:spPr>
          <a:xfrm>
            <a:off x="411480" y="6565392"/>
            <a:ext cx="548640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1" i="0">
                <a:solidFill>
                  <a:srgbClr val="7C56A9"/>
                </a:solidFill>
                <a:latin typeface="Inter"/>
              </a:rPr>
              <a:t>● </a:t>
            </a:r>
            <a:r>
              <a:rPr sz="950" b="0" i="0">
                <a:solidFill>
                  <a:srgbClr val="6A6E78"/>
                </a:solidFill>
                <a:latin typeface="Inter"/>
              </a:rPr>
              <a:t>U3 · CONECTADOS   ·   C6+ · conectados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8686800" y="6565392"/>
            <a:ext cx="306324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900" b="0" i="1">
                <a:solidFill>
                  <a:srgbClr val="6A6E78"/>
                </a:solidFill>
                <a:latin typeface="Inter"/>
              </a:rPr>
              <a:t>Docentenversie — met oplossingen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11475720" y="6565392"/>
            <a:ext cx="45720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950" b="1" i="0">
                <a:solidFill>
                  <a:srgbClr val="5B3E83"/>
                </a:solidFill>
                <a:latin typeface="Inter"/>
              </a:rPr>
              <a:t>7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4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500"/>
                                        <p:tgtEl>
                                          <p:spTgt spid="4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CFB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78992"/>
          </a:xfrm>
          <a:prstGeom prst="rect">
            <a:avLst/>
          </a:prstGeom>
          <a:solidFill>
            <a:srgbClr val="7C56A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78992"/>
            <a:ext cx="12191695" cy="54864"/>
          </a:xfrm>
          <a:prstGeom prst="rect">
            <a:avLst/>
          </a:prstGeom>
          <a:solidFill>
            <a:srgbClr val="5B3E8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502920" y="182880"/>
            <a:ext cx="875995" cy="292608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88900" rIns="88900" tIns="12700" bIns="12700"/>
          <a:lstStyle/>
          <a:p>
            <a:pPr algn="ctr"/>
            <a:r>
              <a:rPr sz="1100" b="1">
                <a:solidFill>
                  <a:srgbClr val="7C56A9"/>
                </a:solidFill>
                <a:latin typeface="Inter"/>
              </a:rPr>
              <a:t>§3 · QUIZ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424160" y="-137160"/>
            <a:ext cx="1737360" cy="137160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8800" b="1" i="0">
                <a:solidFill>
                  <a:srgbClr val="FFFFFF"/>
                </a:solidFill>
                <a:latin typeface="Bricolage Grotesque"/>
              </a:rPr>
              <a:t>3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457200"/>
            <a:ext cx="9692640" cy="5029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2700" b="1" i="0">
                <a:solidFill>
                  <a:srgbClr val="FFFFFF"/>
                </a:solidFill>
                <a:latin typeface="Bricolage Grotesque"/>
              </a:rPr>
              <a:t>¿le o les?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02920" y="932688"/>
            <a:ext cx="9692640" cy="27432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50" b="0" i="1">
                <a:solidFill>
                  <a:srgbClr val="EEE8F5"/>
                </a:solidFill>
                <a:latin typeface="Inter"/>
              </a:rPr>
              <a:t>Klik een zin → het juiste pronomen. ¿Una persona o varias?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57200" y="1554480"/>
            <a:ext cx="5532120" cy="64008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594360" y="1554480"/>
            <a:ext cx="3931920" cy="64008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0" i="0">
                <a:solidFill>
                  <a:srgbClr val="20242E"/>
                </a:solidFill>
                <a:latin typeface="Inter"/>
              </a:rPr>
              <a:t>___ escribo a mi amiga.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572000" y="1554480"/>
            <a:ext cx="1325880" cy="64008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350" b="1" i="0">
                <a:solidFill>
                  <a:srgbClr val="5B3E83"/>
                </a:solidFill>
                <a:latin typeface="Inter"/>
              </a:rPr>
              <a:t>→ Le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457200" y="2359152"/>
            <a:ext cx="5532120" cy="64008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594360" y="2359152"/>
            <a:ext cx="3931920" cy="64008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0" i="0">
                <a:solidFill>
                  <a:srgbClr val="20242E"/>
                </a:solidFill>
                <a:latin typeface="Inter"/>
              </a:rPr>
              <a:t>___ mando fotos a mis padres.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572000" y="2359152"/>
            <a:ext cx="1325880" cy="64008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350" b="1" i="0">
                <a:solidFill>
                  <a:srgbClr val="5B3E83"/>
                </a:solidFill>
                <a:latin typeface="Inter"/>
              </a:rPr>
              <a:t>→ Les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457200" y="3163824"/>
            <a:ext cx="5532120" cy="64008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594360" y="3163824"/>
            <a:ext cx="3931920" cy="64008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0" i="0">
                <a:solidFill>
                  <a:srgbClr val="20242E"/>
                </a:solidFill>
                <a:latin typeface="Inter"/>
              </a:rPr>
              <a:t>___ cuento un secreto a Diego.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572000" y="3163824"/>
            <a:ext cx="1325880" cy="64008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350" b="1" i="0">
                <a:solidFill>
                  <a:srgbClr val="5B3E83"/>
                </a:solidFill>
                <a:latin typeface="Inter"/>
              </a:rPr>
              <a:t>→ Le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6172200" y="1554480"/>
            <a:ext cx="5532120" cy="64008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309360" y="1554480"/>
            <a:ext cx="3931920" cy="64008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0" i="0">
                <a:solidFill>
                  <a:srgbClr val="20242E"/>
                </a:solidFill>
                <a:latin typeface="Inter"/>
              </a:rPr>
              <a:t>___ regalo algo a mis hermanos.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0287000" y="1554480"/>
            <a:ext cx="1325880" cy="64008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350" b="1" i="0">
                <a:solidFill>
                  <a:srgbClr val="5B3E83"/>
                </a:solidFill>
                <a:latin typeface="Inter"/>
              </a:rPr>
              <a:t>→ Les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6172200" y="2359152"/>
            <a:ext cx="5532120" cy="64008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309360" y="2359152"/>
            <a:ext cx="3931920" cy="64008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0" i="0">
                <a:solidFill>
                  <a:srgbClr val="20242E"/>
                </a:solidFill>
                <a:latin typeface="Inter"/>
              </a:rPr>
              <a:t>___ pregunto la hora a Valen.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0287000" y="2359152"/>
            <a:ext cx="1325880" cy="64008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350" b="1" i="0">
                <a:solidFill>
                  <a:srgbClr val="5B3E83"/>
                </a:solidFill>
                <a:latin typeface="Inter"/>
              </a:rPr>
              <a:t>→ Le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6172200" y="3163824"/>
            <a:ext cx="5532120" cy="64008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6309360" y="3163824"/>
            <a:ext cx="3931920" cy="64008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0" i="0">
                <a:solidFill>
                  <a:srgbClr val="20242E"/>
                </a:solidFill>
                <a:latin typeface="Inter"/>
              </a:rPr>
              <a:t>___ enseño el perfil a mis amigos.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0287000" y="3163824"/>
            <a:ext cx="1325880" cy="64008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350" b="1" i="0">
                <a:solidFill>
                  <a:srgbClr val="5B3E83"/>
                </a:solidFill>
                <a:latin typeface="Inter"/>
              </a:rPr>
              <a:t>→ Les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457200" y="6053328"/>
            <a:ext cx="2093976" cy="365760"/>
          </a:xfrm>
          <a:prstGeom prst="roundRect">
            <a:avLst>
              <a:gd name="adj" fmla="val 50000"/>
            </a:avLst>
          </a:prstGeom>
          <a:solidFill>
            <a:srgbClr val="7C56A9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12700" bIns="12700"/>
          <a:lstStyle/>
          <a:p>
            <a:pPr algn="ctr"/>
            <a:r>
              <a:rPr sz="1050" b="1">
                <a:solidFill>
                  <a:srgbClr val="FFFFFF"/>
                </a:solidFill>
                <a:latin typeface="Inter"/>
              </a:rPr>
              <a:t>▶  Mostrar solución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2697480" y="6053328"/>
            <a:ext cx="1088136" cy="36576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12700" bIns="12700"/>
          <a:lstStyle/>
          <a:p>
            <a:pPr algn="ctr"/>
            <a:r>
              <a:rPr sz="1050" b="1">
                <a:solidFill>
                  <a:srgbClr val="5B3E83"/>
                </a:solidFill>
                <a:latin typeface="Inter"/>
              </a:rPr>
              <a:t>⏭  Saltar</a:t>
            </a:r>
          </a:p>
        </p:txBody>
      </p:sp>
      <p:sp>
        <p:nvSpPr>
          <p:cNvPr id="29" name="Rounded Rectangle 28">
            <a:hlinkClick action="ppaction://hlinksldjump" r:id="rId3"/>
          </p:cNvPr>
          <p:cNvSpPr/>
          <p:nvPr/>
        </p:nvSpPr>
        <p:spPr>
          <a:xfrm>
            <a:off x="3931920" y="6053328"/>
            <a:ext cx="1691639" cy="36576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12700" bIns="12700"/>
          <a:lstStyle/>
          <a:p>
            <a:pPr algn="ctr"/>
            <a:r>
              <a:rPr sz="1050" b="1">
                <a:solidFill>
                  <a:srgbClr val="5B3E83"/>
                </a:solidFill>
                <a:latin typeface="Inter"/>
              </a:rPr>
              <a:t>⌂  Menú (dia 2)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8321040" y="6053328"/>
            <a:ext cx="3383280" cy="36576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850" b="0" i="1">
                <a:solidFill>
                  <a:srgbClr val="6A6E78"/>
                </a:solidFill>
                <a:latin typeface="Inter"/>
              </a:rPr>
              <a:t>Noodroute (§5): werkt zonder audio/internet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457200" y="4480560"/>
            <a:ext cx="11247120" cy="822960"/>
          </a:xfrm>
          <a:prstGeom prst="roundRect">
            <a:avLst>
              <a:gd name="adj" fmla="val 6000"/>
            </a:avLst>
          </a:prstGeom>
          <a:solidFill>
            <a:srgbClr val="EEE8F5"/>
          </a:solidFill>
          <a:ln w="19050">
            <a:solidFill>
              <a:srgbClr val="7C56A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27000" rIns="127000" tIns="139700" bIns="76200"/>
          <a:lstStyle/>
          <a:p>
            <a:pPr algn="ctr">
              <a:lnSpc>
                <a:spcPct val="102000"/>
              </a:lnSpc>
              <a:spcBef>
                <a:spcPts val="0"/>
              </a:spcBef>
              <a:spcAft>
                <a:spcPts val="300"/>
              </a:spcAft>
            </a:pPr>
            <a:r>
              <a:rPr sz="1200" b="1" i="0">
                <a:solidFill>
                  <a:srgbClr val="7C56A9"/>
                </a:solidFill>
                <a:latin typeface="Inter"/>
              </a:rPr>
              <a:t>Regla: </a:t>
            </a:r>
            <a:r>
              <a:rPr sz="1200" b="0" i="0">
                <a:solidFill>
                  <a:srgbClr val="5B3E83"/>
                </a:solidFill>
                <a:latin typeface="Inter"/>
              </a:rPr>
              <a:t>a + één persoon → le · a + meer personen → les.</a:t>
            </a:r>
          </a:p>
          <a:p>
            <a:pPr>
              <a:lnSpc>
                <a:spcPct val="102000"/>
              </a:lnSpc>
              <a:spcBef>
                <a:spcPts val="0"/>
              </a:spcBef>
              <a:spcAft>
                <a:spcPts val="300"/>
              </a:spcAft>
            </a:pPr>
            <a:r>
              <a:rPr sz="1200" b="0" i="0">
                <a:solidFill>
                  <a:srgbClr val="5B3E83"/>
                </a:solidFill>
                <a:latin typeface="Inter"/>
              </a:rPr>
              <a:t>Plaats: vóór het vervoegde werkwoord (of achter de infinitivo: voy a escribirle).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594360" y="4352544"/>
            <a:ext cx="1548993" cy="292608"/>
          </a:xfrm>
          <a:prstGeom prst="roundRect">
            <a:avLst>
              <a:gd name="adj" fmla="val 50000"/>
            </a:avLst>
          </a:prstGeom>
          <a:solidFill>
            <a:srgbClr val="7C56A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88900" rIns="88900" tIns="12700" bIns="12700"/>
          <a:lstStyle/>
          <a:p>
            <a:pPr algn="ctr"/>
            <a:r>
              <a:rPr sz="950" b="1">
                <a:solidFill>
                  <a:srgbClr val="FFFFFF"/>
                </a:solidFill>
                <a:latin typeface="Inter"/>
              </a:rPr>
              <a:t>SOLUCIÓN · docent</a:t>
            </a:r>
          </a:p>
        </p:txBody>
      </p:sp>
      <p:sp>
        <p:nvSpPr>
          <p:cNvPr id="33" name="Rectangle 32"/>
          <p:cNvSpPr/>
          <p:nvPr/>
        </p:nvSpPr>
        <p:spPr>
          <a:xfrm>
            <a:off x="0" y="6547104"/>
            <a:ext cx="12191695" cy="310896"/>
          </a:xfrm>
          <a:prstGeom prst="rect">
            <a:avLst/>
          </a:prstGeom>
          <a:solidFill>
            <a:srgbClr val="F3EE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411480" y="6565392"/>
            <a:ext cx="548640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1" i="0">
                <a:solidFill>
                  <a:srgbClr val="7C56A9"/>
                </a:solidFill>
                <a:latin typeface="Inter"/>
              </a:rPr>
              <a:t>● </a:t>
            </a:r>
            <a:r>
              <a:rPr sz="950" b="0" i="0">
                <a:solidFill>
                  <a:srgbClr val="6A6E78"/>
                </a:solidFill>
                <a:latin typeface="Inter"/>
              </a:rPr>
              <a:t>U3 · CONECTADOS   ·   C6+ · conectados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8686800" y="6565392"/>
            <a:ext cx="306324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900" b="0" i="1">
                <a:solidFill>
                  <a:srgbClr val="6A6E78"/>
                </a:solidFill>
                <a:latin typeface="Inter"/>
              </a:rPr>
              <a:t>Docentenversie — met oplossingen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11475720" y="6565392"/>
            <a:ext cx="45720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950" b="1" i="0">
                <a:solidFill>
                  <a:srgbClr val="5B3E83"/>
                </a:solidFill>
                <a:latin typeface="Inter"/>
              </a:rPr>
              <a:t>8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5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5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5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5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50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50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50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CFB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78992"/>
          </a:xfrm>
          <a:prstGeom prst="rect">
            <a:avLst/>
          </a:prstGeom>
          <a:solidFill>
            <a:srgbClr val="7C56A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78992"/>
            <a:ext cx="12191695" cy="54864"/>
          </a:xfrm>
          <a:prstGeom prst="rect">
            <a:avLst/>
          </a:prstGeom>
          <a:solidFill>
            <a:srgbClr val="5B3E8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502920" y="182880"/>
            <a:ext cx="2053742" cy="292608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88900" rIns="88900" tIns="12700" bIns="12700"/>
          <a:lstStyle/>
          <a:p>
            <a:pPr algn="ctr"/>
            <a:r>
              <a:rPr sz="1100" b="1">
                <a:solidFill>
                  <a:srgbClr val="7C56A9"/>
                </a:solidFill>
                <a:latin typeface="Inter"/>
              </a:rPr>
              <a:t>§6 · LEER · COMPRENSIÓN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424160" y="-137160"/>
            <a:ext cx="1737360" cy="137160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8800" b="1" i="0">
                <a:solidFill>
                  <a:srgbClr val="FFFFFF"/>
                </a:solidFill>
                <a:latin typeface="Bricolage Grotesque"/>
              </a:rPr>
              <a:t>6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457200"/>
            <a:ext cx="9692640" cy="5029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2700" b="1" i="0">
                <a:solidFill>
                  <a:srgbClr val="FFFFFF"/>
                </a:solidFill>
                <a:latin typeface="Bricolage Grotesque"/>
              </a:rPr>
              <a:t>Dos opiniones — «¿Adicto al móvil?»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02920" y="932688"/>
            <a:ext cx="9692640" cy="27432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50" b="0" i="1">
                <a:solidFill>
                  <a:srgbClr val="EEE8F5"/>
                </a:solidFill>
                <a:latin typeface="Inter"/>
              </a:rPr>
              <a:t>Lees. Klik een vraag → het antwoord verschijnt.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57200" y="1508760"/>
            <a:ext cx="5120640" cy="3566160"/>
          </a:xfrm>
          <a:prstGeom prst="roundRect">
            <a:avLst>
              <a:gd name="adj" fmla="val 5500"/>
            </a:avLst>
          </a:prstGeom>
          <a:solidFill>
            <a:srgbClr val="EEE8F5"/>
          </a:solidFill>
          <a:ln w="17780">
            <a:solidFill>
              <a:srgbClr val="7C56A9"/>
            </a:solidFill>
          </a:ln>
          <a:effectLst>
            <a:outerShdw blurRad="90000" dist="38000" dir="5400000" rotWithShape="0">
              <a:srgbClr val="20242E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0" name="Picture 9" descr="die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77240" y="1783080"/>
            <a:ext cx="914400" cy="914400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1874519" y="1810512"/>
            <a:ext cx="3566160" cy="137160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16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0" i="1">
                <a:solidFill>
                  <a:srgbClr val="20242E"/>
                </a:solidFill>
                <a:latin typeface="Inter"/>
              </a:rPr>
              <a:t>«Paso muchas horas con el móvil: subo vídeos y chateo. Creo que es útil para estudiar, pero también es adictivo. Este finde voy a apagar el móvil dos horas al día.»</a:t>
            </a:r>
          </a:p>
        </p:txBody>
      </p:sp>
      <p:pic>
        <p:nvPicPr>
          <p:cNvPr id="12" name="Picture 11" descr="lucia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77240" y="3337560"/>
            <a:ext cx="914400" cy="914400"/>
          </a:xfrm>
          <a:prstGeom prst="rect">
            <a:avLst/>
          </a:prstGeom>
        </p:spPr>
      </p:pic>
      <p:sp>
        <p:nvSpPr>
          <p:cNvPr id="13" name="TextBox 12"/>
          <p:cNvSpPr txBox="1"/>
          <p:nvPr/>
        </p:nvSpPr>
        <p:spPr>
          <a:xfrm>
            <a:off x="1874519" y="3364992"/>
            <a:ext cx="3566160" cy="137160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16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0" i="1">
                <a:solidFill>
                  <a:srgbClr val="20242E"/>
                </a:solidFill>
                <a:latin typeface="Inter"/>
              </a:rPr>
              <a:t>«Me gustan las redes, pero no paso tanto tiempo. Creo que conectan a la gente, pero pueden ser peligrosas. Lo importante es el equilibrio.»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5852160" y="1554480"/>
            <a:ext cx="5852160" cy="77724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5989320" y="1609344"/>
            <a:ext cx="5577840" cy="36576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50" b="1" i="0">
                <a:solidFill>
                  <a:srgbClr val="5B3E83"/>
                </a:solidFill>
                <a:latin typeface="Inter"/>
              </a:rPr>
              <a:t>¿Qué cree Diego del móvil?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989320" y="1956816"/>
            <a:ext cx="5577840" cy="32004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0" i="0">
                <a:solidFill>
                  <a:srgbClr val="20242E"/>
                </a:solidFill>
                <a:latin typeface="Inter"/>
              </a:rPr>
              <a:t>→ Es útil pero adictivo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5852160" y="2450592"/>
            <a:ext cx="5852160" cy="77724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5989320" y="2505456"/>
            <a:ext cx="5577840" cy="36576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50" b="1" i="0">
                <a:solidFill>
                  <a:srgbClr val="5B3E83"/>
                </a:solidFill>
                <a:latin typeface="Inter"/>
              </a:rPr>
              <a:t>¿Qué va a hacer Diego el finde?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5989320" y="2852928"/>
            <a:ext cx="5577840" cy="32004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0" i="0">
                <a:solidFill>
                  <a:srgbClr val="20242E"/>
                </a:solidFill>
                <a:latin typeface="Inter"/>
              </a:rPr>
              <a:t>→ Apagar el móvil 2 h/día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5852160" y="3346704"/>
            <a:ext cx="5852160" cy="77724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5989320" y="3401568"/>
            <a:ext cx="5577840" cy="36576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50" b="1" i="0">
                <a:solidFill>
                  <a:srgbClr val="5B3E83"/>
                </a:solidFill>
                <a:latin typeface="Inter"/>
              </a:rPr>
              <a:t>¿Qué piensa Lucía de las redes?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5989320" y="3749040"/>
            <a:ext cx="5577840" cy="32004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0" i="0">
                <a:solidFill>
                  <a:srgbClr val="20242E"/>
                </a:solidFill>
                <a:latin typeface="Inter"/>
              </a:rPr>
              <a:t>→ Conectan, pero peligrosas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5852160" y="4242816"/>
            <a:ext cx="5852160" cy="77724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5989320" y="4297680"/>
            <a:ext cx="5577840" cy="36576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50" b="1" i="0">
                <a:solidFill>
                  <a:srgbClr val="5B3E83"/>
                </a:solidFill>
                <a:latin typeface="Inter"/>
              </a:rPr>
              <a:t>Para Lucía, lo importante es…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989320" y="4645152"/>
            <a:ext cx="5577840" cy="32004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0" i="0">
                <a:solidFill>
                  <a:srgbClr val="20242E"/>
                </a:solidFill>
                <a:latin typeface="Inter"/>
              </a:rPr>
              <a:t>→ El equilibrio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457200" y="6053328"/>
            <a:ext cx="2093976" cy="365760"/>
          </a:xfrm>
          <a:prstGeom prst="roundRect">
            <a:avLst>
              <a:gd name="adj" fmla="val 50000"/>
            </a:avLst>
          </a:prstGeom>
          <a:solidFill>
            <a:srgbClr val="7C56A9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12700" bIns="12700"/>
          <a:lstStyle/>
          <a:p>
            <a:pPr algn="ctr"/>
            <a:r>
              <a:rPr sz="1050" b="1">
                <a:solidFill>
                  <a:srgbClr val="FFFFFF"/>
                </a:solidFill>
                <a:latin typeface="Inter"/>
              </a:rPr>
              <a:t>▶  Mostrar solución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2697480" y="6053328"/>
            <a:ext cx="1088136" cy="36576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12700" bIns="12700"/>
          <a:lstStyle/>
          <a:p>
            <a:pPr algn="ctr"/>
            <a:r>
              <a:rPr sz="1050" b="1">
                <a:solidFill>
                  <a:srgbClr val="5B3E83"/>
                </a:solidFill>
                <a:latin typeface="Inter"/>
              </a:rPr>
              <a:t>⏭  Saltar</a:t>
            </a:r>
          </a:p>
        </p:txBody>
      </p:sp>
      <p:sp>
        <p:nvSpPr>
          <p:cNvPr id="28" name="Rounded Rectangle 27">
            <a:hlinkClick action="ppaction://hlinksldjump" r:id="rId5"/>
          </p:cNvPr>
          <p:cNvSpPr/>
          <p:nvPr/>
        </p:nvSpPr>
        <p:spPr>
          <a:xfrm>
            <a:off x="3931920" y="6053328"/>
            <a:ext cx="1691639" cy="36576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12700" bIns="12700"/>
          <a:lstStyle/>
          <a:p>
            <a:pPr algn="ctr"/>
            <a:r>
              <a:rPr sz="1050" b="1">
                <a:solidFill>
                  <a:srgbClr val="5B3E83"/>
                </a:solidFill>
                <a:latin typeface="Inter"/>
              </a:rPr>
              <a:t>⌂  Menú (dia 2)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8321040" y="6053328"/>
            <a:ext cx="3383280" cy="36576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850" b="0" i="1">
                <a:solidFill>
                  <a:srgbClr val="6A6E78"/>
                </a:solidFill>
                <a:latin typeface="Inter"/>
              </a:rPr>
              <a:t>Noodroute (§5): werkt zonder audio/internet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5852160" y="5166360"/>
            <a:ext cx="5852160" cy="548640"/>
          </a:xfrm>
          <a:prstGeom prst="roundRect">
            <a:avLst>
              <a:gd name="adj" fmla="val 6000"/>
            </a:avLst>
          </a:prstGeom>
          <a:solidFill>
            <a:srgbClr val="EEE8F5"/>
          </a:solidFill>
          <a:ln w="19050">
            <a:solidFill>
              <a:srgbClr val="7C56A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27000" rIns="127000" tIns="139700" bIns="76200"/>
          <a:lstStyle/>
          <a:p>
            <a:pPr algn="ctr">
              <a:lnSpc>
                <a:spcPct val="102000"/>
              </a:lnSpc>
              <a:spcBef>
                <a:spcPts val="0"/>
              </a:spcBef>
              <a:spcAft>
                <a:spcPts val="300"/>
              </a:spcAft>
            </a:pPr>
            <a:r>
              <a:rPr sz="1200" b="1" i="0">
                <a:solidFill>
                  <a:srgbClr val="5B3E83"/>
                </a:solidFill>
                <a:latin typeface="Inter"/>
              </a:rPr>
              <a:t>🎯 Leesdoel: </a:t>
            </a:r>
            <a:r>
              <a:rPr sz="1200" b="0" i="0">
                <a:solidFill>
                  <a:srgbClr val="5B3E83"/>
                </a:solidFill>
                <a:latin typeface="Inter"/>
              </a:rPr>
              <a:t>scannen naar de mening (creo que…) + het plan (voy a…).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5989320" y="5038344"/>
            <a:ext cx="1548993" cy="292608"/>
          </a:xfrm>
          <a:prstGeom prst="roundRect">
            <a:avLst>
              <a:gd name="adj" fmla="val 50000"/>
            </a:avLst>
          </a:prstGeom>
          <a:solidFill>
            <a:srgbClr val="7C56A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88900" rIns="88900" tIns="12700" bIns="12700"/>
          <a:lstStyle/>
          <a:p>
            <a:pPr algn="ctr"/>
            <a:r>
              <a:rPr sz="950" b="1">
                <a:solidFill>
                  <a:srgbClr val="FFFFFF"/>
                </a:solidFill>
                <a:latin typeface="Inter"/>
              </a:rPr>
              <a:t>SOLUCIÓN · docent</a:t>
            </a:r>
          </a:p>
        </p:txBody>
      </p:sp>
      <p:sp>
        <p:nvSpPr>
          <p:cNvPr id="32" name="Rectangle 31"/>
          <p:cNvSpPr/>
          <p:nvPr/>
        </p:nvSpPr>
        <p:spPr>
          <a:xfrm>
            <a:off x="0" y="6547104"/>
            <a:ext cx="12191695" cy="310896"/>
          </a:xfrm>
          <a:prstGeom prst="rect">
            <a:avLst/>
          </a:prstGeom>
          <a:solidFill>
            <a:srgbClr val="F3EE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411480" y="6565392"/>
            <a:ext cx="548640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1" i="0">
                <a:solidFill>
                  <a:srgbClr val="7C56A9"/>
                </a:solidFill>
                <a:latin typeface="Inter"/>
              </a:rPr>
              <a:t>● </a:t>
            </a:r>
            <a:r>
              <a:rPr sz="950" b="0" i="0">
                <a:solidFill>
                  <a:srgbClr val="6A6E78"/>
                </a:solidFill>
                <a:latin typeface="Inter"/>
              </a:rPr>
              <a:t>U3 · CONECTADOS   ·   C6+ · conectados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8686800" y="6565392"/>
            <a:ext cx="306324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900" b="0" i="1">
                <a:solidFill>
                  <a:srgbClr val="6A6E78"/>
                </a:solidFill>
                <a:latin typeface="Inter"/>
              </a:rPr>
              <a:t>Docentenversie — met oplossingen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1475720" y="6565392"/>
            <a:ext cx="45720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950" b="1" i="0">
                <a:solidFill>
                  <a:srgbClr val="5B3E83"/>
                </a:solidFill>
                <a:latin typeface="Inter"/>
              </a:rPr>
              <a:t>9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5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5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5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50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50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CFB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78992"/>
          </a:xfrm>
          <a:prstGeom prst="rect">
            <a:avLst/>
          </a:prstGeom>
          <a:solidFill>
            <a:srgbClr val="7C56A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78992"/>
            <a:ext cx="12191695" cy="54864"/>
          </a:xfrm>
          <a:prstGeom prst="rect">
            <a:avLst/>
          </a:prstGeom>
          <a:solidFill>
            <a:srgbClr val="5B3E8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502920" y="182880"/>
            <a:ext cx="2390241" cy="292608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88900" rIns="88900" tIns="12700" bIns="12700"/>
          <a:lstStyle/>
          <a:p>
            <a:pPr algn="ctr"/>
            <a:r>
              <a:rPr sz="1100" b="1">
                <a:solidFill>
                  <a:srgbClr val="7C56A9"/>
                </a:solidFill>
                <a:latin typeface="Inter"/>
              </a:rPr>
              <a:t>§2 · ESCUCHAR · INTERACCIÓN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424160" y="-137160"/>
            <a:ext cx="1737360" cy="137160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8800" b="1" i="0">
                <a:solidFill>
                  <a:srgbClr val="FFFFFF"/>
                </a:solidFill>
                <a:latin typeface="Bricolage Grotesque"/>
              </a:rPr>
              <a:t>2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457200"/>
            <a:ext cx="9692640" cy="5029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2700" b="1" i="0">
                <a:solidFill>
                  <a:srgbClr val="FFFFFF"/>
                </a:solidFill>
                <a:latin typeface="Bricolage Grotesque"/>
              </a:rPr>
              <a:t>¿Qué vas a hacer el finde?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02920" y="932688"/>
            <a:ext cx="9692640" cy="27432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50" b="0" i="1">
                <a:solidFill>
                  <a:srgbClr val="EEE8F5"/>
                </a:solidFill>
                <a:latin typeface="Inter"/>
              </a:rPr>
              <a:t>Volg het gesprek. Klik un dato → de info. (audio + script op de web)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40080" y="1737360"/>
            <a:ext cx="2697480" cy="219456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5240">
            <a:solidFill>
              <a:srgbClr val="E4E3DE"/>
            </a:solidFill>
          </a:ln>
          <a:effectLst>
            <a:outerShdw blurRad="90000" dist="38000" dir="5400000" rotWithShape="0">
              <a:srgbClr val="20242E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640080" y="1737360"/>
            <a:ext cx="2697480" cy="457200"/>
          </a:xfrm>
          <a:prstGeom prst="rect">
            <a:avLst/>
          </a:prstGeom>
          <a:solidFill>
            <a:srgbClr val="EEE8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40080" y="1737360"/>
            <a:ext cx="2697480" cy="45720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1" i="0">
                <a:solidFill>
                  <a:srgbClr val="5B3E83"/>
                </a:solidFill>
                <a:latin typeface="Bricolage Grotesque"/>
              </a:rPr>
              <a:t>dato 1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77240" y="2377440"/>
            <a:ext cx="2423160" cy="64008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1400" b="1" i="0">
                <a:solidFill>
                  <a:srgbClr val="20242E"/>
                </a:solidFill>
                <a:latin typeface="Bricolage Grotesque"/>
              </a:rPr>
              <a:t>🔊 ¿Qué?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77240" y="3108960"/>
            <a:ext cx="2423160" cy="64008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0" i="0">
                <a:solidFill>
                  <a:srgbClr val="7C56A9"/>
                </a:solidFill>
                <a:latin typeface="Inter"/>
              </a:rPr>
              <a:t>Van a quedar y ver una peli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3429000" y="1737360"/>
            <a:ext cx="2697480" cy="219456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5240">
            <a:solidFill>
              <a:srgbClr val="E4E3DE"/>
            </a:solidFill>
          </a:ln>
          <a:effectLst>
            <a:outerShdw blurRad="90000" dist="38000" dir="5400000" rotWithShape="0">
              <a:srgbClr val="20242E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3429000" y="1737360"/>
            <a:ext cx="2697480" cy="457200"/>
          </a:xfrm>
          <a:prstGeom prst="rect">
            <a:avLst/>
          </a:prstGeom>
          <a:solidFill>
            <a:srgbClr val="EEE8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3429000" y="1737360"/>
            <a:ext cx="2697480" cy="45720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1" i="0">
                <a:solidFill>
                  <a:srgbClr val="5B3E83"/>
                </a:solidFill>
                <a:latin typeface="Bricolage Grotesque"/>
              </a:rPr>
              <a:t>dato 2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3566160" y="2377440"/>
            <a:ext cx="2423160" cy="64008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1400" b="1" i="0">
                <a:solidFill>
                  <a:srgbClr val="20242E"/>
                </a:solidFill>
                <a:latin typeface="Bricolage Grotesque"/>
              </a:rPr>
              <a:t>🔊 ¿Cuándo?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3566160" y="3108960"/>
            <a:ext cx="2423160" cy="64008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0" i="0">
                <a:solidFill>
                  <a:srgbClr val="7C56A9"/>
                </a:solidFill>
                <a:latin typeface="Inter"/>
              </a:rPr>
              <a:t>El sábado por la tarde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6217920" y="1737360"/>
            <a:ext cx="2697480" cy="219456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5240">
            <a:solidFill>
              <a:srgbClr val="E4E3DE"/>
            </a:solidFill>
          </a:ln>
          <a:effectLst>
            <a:outerShdw blurRad="90000" dist="38000" dir="5400000" rotWithShape="0">
              <a:srgbClr val="20242E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6217920" y="1737360"/>
            <a:ext cx="2697480" cy="457200"/>
          </a:xfrm>
          <a:prstGeom prst="rect">
            <a:avLst/>
          </a:prstGeom>
          <a:solidFill>
            <a:srgbClr val="EEE8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6217920" y="1737360"/>
            <a:ext cx="2697480" cy="45720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1" i="0">
                <a:solidFill>
                  <a:srgbClr val="5B3E83"/>
                </a:solidFill>
                <a:latin typeface="Bricolage Grotesque"/>
              </a:rPr>
              <a:t>dato 3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355080" y="2377440"/>
            <a:ext cx="2423160" cy="64008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1400" b="1" i="0">
                <a:solidFill>
                  <a:srgbClr val="20242E"/>
                </a:solidFill>
                <a:latin typeface="Bricolage Grotesque"/>
              </a:rPr>
              <a:t>🔊 ¿Dónde?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355080" y="3108960"/>
            <a:ext cx="2423160" cy="64008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0" i="0">
                <a:solidFill>
                  <a:srgbClr val="7C56A9"/>
                </a:solidFill>
                <a:latin typeface="Inter"/>
              </a:rPr>
              <a:t>En la plaza, luego en casa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9006840" y="1737360"/>
            <a:ext cx="2697480" cy="219456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5240">
            <a:solidFill>
              <a:srgbClr val="E4E3DE"/>
            </a:solidFill>
          </a:ln>
          <a:effectLst>
            <a:outerShdw blurRad="90000" dist="38000" dir="5400000" rotWithShape="0">
              <a:srgbClr val="20242E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>
            <a:off x="9006840" y="1737360"/>
            <a:ext cx="2697480" cy="457200"/>
          </a:xfrm>
          <a:prstGeom prst="rect">
            <a:avLst/>
          </a:prstGeom>
          <a:solidFill>
            <a:srgbClr val="EEE8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9006840" y="1737360"/>
            <a:ext cx="2697480" cy="45720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1" i="0">
                <a:solidFill>
                  <a:srgbClr val="5B3E83"/>
                </a:solidFill>
                <a:latin typeface="Bricolage Grotesque"/>
              </a:rPr>
              <a:t>dato 4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9144000" y="2377440"/>
            <a:ext cx="2423160" cy="64008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1400" b="1" i="0">
                <a:solidFill>
                  <a:srgbClr val="20242E"/>
                </a:solidFill>
                <a:latin typeface="Bricolage Grotesque"/>
              </a:rPr>
              <a:t>🔊 ¿Y antes?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9144000" y="3108960"/>
            <a:ext cx="2423160" cy="64008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0" i="0">
                <a:solidFill>
                  <a:srgbClr val="7C56A9"/>
                </a:solidFill>
                <a:latin typeface="Inter"/>
              </a:rPr>
              <a:t>Diego va a subir un vídeo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457200" y="6053328"/>
            <a:ext cx="2093976" cy="365760"/>
          </a:xfrm>
          <a:prstGeom prst="roundRect">
            <a:avLst>
              <a:gd name="adj" fmla="val 50000"/>
            </a:avLst>
          </a:prstGeom>
          <a:solidFill>
            <a:srgbClr val="7C56A9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12700" bIns="12700"/>
          <a:lstStyle/>
          <a:p>
            <a:pPr algn="ctr"/>
            <a:r>
              <a:rPr sz="1050" b="1">
                <a:solidFill>
                  <a:srgbClr val="FFFFFF"/>
                </a:solidFill>
                <a:latin typeface="Inter"/>
              </a:rPr>
              <a:t>▶  Mostrar solución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2697480" y="6053328"/>
            <a:ext cx="1088136" cy="36576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12700" bIns="12700"/>
          <a:lstStyle/>
          <a:p>
            <a:pPr algn="ctr"/>
            <a:r>
              <a:rPr sz="1050" b="1">
                <a:solidFill>
                  <a:srgbClr val="5B3E83"/>
                </a:solidFill>
                <a:latin typeface="Inter"/>
              </a:rPr>
              <a:t>⏭  Saltar</a:t>
            </a:r>
          </a:p>
        </p:txBody>
      </p:sp>
      <p:sp>
        <p:nvSpPr>
          <p:cNvPr id="31" name="Rounded Rectangle 30">
            <a:hlinkClick action="ppaction://hlinksldjump" r:id="rId3"/>
          </p:cNvPr>
          <p:cNvSpPr/>
          <p:nvPr/>
        </p:nvSpPr>
        <p:spPr>
          <a:xfrm>
            <a:off x="3931920" y="6053328"/>
            <a:ext cx="1691639" cy="36576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12700" bIns="12700"/>
          <a:lstStyle/>
          <a:p>
            <a:pPr algn="ctr"/>
            <a:r>
              <a:rPr sz="1050" b="1">
                <a:solidFill>
                  <a:srgbClr val="5B3E83"/>
                </a:solidFill>
                <a:latin typeface="Inter"/>
              </a:rPr>
              <a:t>⌂  Menú (dia 2)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8321040" y="6053328"/>
            <a:ext cx="3383280" cy="36576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850" b="0" i="1">
                <a:solidFill>
                  <a:srgbClr val="6A6E78"/>
                </a:solidFill>
                <a:latin typeface="Inter"/>
              </a:rPr>
              <a:t>Noodroute (§5): werkt zonder audio/internet</a:t>
            </a:r>
          </a:p>
        </p:txBody>
      </p:sp>
      <p:sp>
        <p:nvSpPr>
          <p:cNvPr id="33" name="Rounded Rectangle 32"/>
          <p:cNvSpPr/>
          <p:nvPr/>
        </p:nvSpPr>
        <p:spPr>
          <a:xfrm>
            <a:off x="457200" y="4480560"/>
            <a:ext cx="11247120" cy="777240"/>
          </a:xfrm>
          <a:prstGeom prst="roundRect">
            <a:avLst>
              <a:gd name="adj" fmla="val 6000"/>
            </a:avLst>
          </a:prstGeom>
          <a:solidFill>
            <a:srgbClr val="EEE8F5"/>
          </a:solidFill>
          <a:ln w="19050">
            <a:solidFill>
              <a:srgbClr val="7C56A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27000" rIns="127000" tIns="139700" bIns="76200"/>
          <a:lstStyle/>
          <a:p>
            <a:pPr algn="ctr">
              <a:lnSpc>
                <a:spcPct val="102000"/>
              </a:lnSpc>
              <a:spcBef>
                <a:spcPts val="0"/>
              </a:spcBef>
              <a:spcAft>
                <a:spcPts val="300"/>
              </a:spcAft>
            </a:pPr>
            <a:r>
              <a:rPr sz="1200" b="1" i="0">
                <a:solidFill>
                  <a:srgbClr val="5B3E83"/>
                </a:solidFill>
                <a:latin typeface="Inter"/>
              </a:rPr>
              <a:t>Modelo-audio (docent/TTS): </a:t>
            </a:r>
            <a:r>
              <a:rPr sz="1200" b="0" i="0">
                <a:solidFill>
                  <a:srgbClr val="5B3E83"/>
                </a:solidFill>
                <a:latin typeface="Inter"/>
              </a:rPr>
              <a:t>«— ¿Qué vas a hacer el finde? — El sábado voy a quedar con Diego. Vamos a ver una peli.» </a:t>
            </a:r>
          </a:p>
          <a:p>
            <a:pPr>
              <a:lnSpc>
                <a:spcPct val="102000"/>
              </a:lnSpc>
              <a:spcBef>
                <a:spcPts val="0"/>
              </a:spcBef>
              <a:spcAft>
                <a:spcPts val="300"/>
              </a:spcAft>
            </a:pPr>
            <a:r>
              <a:rPr sz="1200" b="0" i="0">
                <a:solidFill>
                  <a:srgbClr val="5B3E83"/>
                </a:solidFill>
                <a:latin typeface="Inter"/>
              </a:rPr>
              <a:t>Daarna: A vraagt B naar zijn plannen (info-gap).</a:t>
            </a:r>
          </a:p>
        </p:txBody>
      </p:sp>
      <p:sp>
        <p:nvSpPr>
          <p:cNvPr id="34" name="Rounded Rectangle 33"/>
          <p:cNvSpPr/>
          <p:nvPr/>
        </p:nvSpPr>
        <p:spPr>
          <a:xfrm>
            <a:off x="594360" y="4352544"/>
            <a:ext cx="1548993" cy="292608"/>
          </a:xfrm>
          <a:prstGeom prst="roundRect">
            <a:avLst>
              <a:gd name="adj" fmla="val 50000"/>
            </a:avLst>
          </a:prstGeom>
          <a:solidFill>
            <a:srgbClr val="7C56A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88900" rIns="88900" tIns="12700" bIns="12700"/>
          <a:lstStyle/>
          <a:p>
            <a:pPr algn="ctr"/>
            <a:r>
              <a:rPr sz="950" b="1">
                <a:solidFill>
                  <a:srgbClr val="FFFFFF"/>
                </a:solidFill>
                <a:latin typeface="Inter"/>
              </a:rPr>
              <a:t>SOLUCIÓN · docent</a:t>
            </a:r>
          </a:p>
        </p:txBody>
      </p:sp>
      <p:sp>
        <p:nvSpPr>
          <p:cNvPr id="35" name="Rectangle 34"/>
          <p:cNvSpPr/>
          <p:nvPr/>
        </p:nvSpPr>
        <p:spPr>
          <a:xfrm>
            <a:off x="0" y="6547104"/>
            <a:ext cx="12191695" cy="310896"/>
          </a:xfrm>
          <a:prstGeom prst="rect">
            <a:avLst/>
          </a:prstGeom>
          <a:solidFill>
            <a:srgbClr val="F3EE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411480" y="6565392"/>
            <a:ext cx="548640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1" i="0">
                <a:solidFill>
                  <a:srgbClr val="7C56A9"/>
                </a:solidFill>
                <a:latin typeface="Inter"/>
              </a:rPr>
              <a:t>● </a:t>
            </a:r>
            <a:r>
              <a:rPr sz="950" b="0" i="0">
                <a:solidFill>
                  <a:srgbClr val="6A6E78"/>
                </a:solidFill>
                <a:latin typeface="Inter"/>
              </a:rPr>
              <a:t>U3 · CONECTADOS   ·   C6+ · conectados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8686800" y="6565392"/>
            <a:ext cx="306324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900" b="0" i="1">
                <a:solidFill>
                  <a:srgbClr val="6A6E78"/>
                </a:solidFill>
                <a:latin typeface="Inter"/>
              </a:rPr>
              <a:t>Docentenversie — met oplossingen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11475720" y="6565392"/>
            <a:ext cx="45720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950" b="1" i="0">
                <a:solidFill>
                  <a:srgbClr val="5B3E83"/>
                </a:solidFill>
                <a:latin typeface="Inter"/>
              </a:rPr>
              <a:t>10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5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5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50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500"/>
                                        <p:tgtEl>
                                          <p:spTgt spid="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500"/>
                                        <p:tgtEl>
                                          <p:spTgt spid="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CFB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78992"/>
          </a:xfrm>
          <a:prstGeom prst="rect">
            <a:avLst/>
          </a:prstGeom>
          <a:solidFill>
            <a:srgbClr val="7C56A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78992"/>
            <a:ext cx="12191695" cy="54864"/>
          </a:xfrm>
          <a:prstGeom prst="rect">
            <a:avLst/>
          </a:prstGeom>
          <a:solidFill>
            <a:srgbClr val="5B3E8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502920" y="182880"/>
            <a:ext cx="1885492" cy="292608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88900" rIns="88900" tIns="12700" bIns="12700"/>
          <a:lstStyle/>
          <a:p>
            <a:pPr algn="ctr"/>
            <a:r>
              <a:rPr sz="1100" b="1">
                <a:solidFill>
                  <a:srgbClr val="7C56A9"/>
                </a:solidFill>
                <a:latin typeface="Inter"/>
              </a:rPr>
              <a:t>§4 · GRAMÁTICA VISUAL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424160" y="-137160"/>
            <a:ext cx="1737360" cy="137160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8800" b="1" i="0">
                <a:solidFill>
                  <a:srgbClr val="FFFFFF"/>
                </a:solidFill>
                <a:latin typeface="Bricolage Grotesque"/>
              </a:rPr>
              <a:t>4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457200"/>
            <a:ext cx="9692640" cy="5029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2700" b="1" i="0">
                <a:solidFill>
                  <a:srgbClr val="FFFFFF"/>
                </a:solidFill>
                <a:latin typeface="Bricolage Grotesque"/>
              </a:rPr>
              <a:t>Creo que + indicativo — tu opinión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02920" y="932688"/>
            <a:ext cx="9692640" cy="27432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50" b="0" i="1">
                <a:solidFill>
                  <a:srgbClr val="EEE8F5"/>
                </a:solidFill>
                <a:latin typeface="Inter"/>
              </a:rPr>
              <a:t>creo que / pienso que / me parece que + de gewone tijd. Nooit subjuntivo.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869680" y="484632"/>
            <a:ext cx="1188720" cy="27432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900" b="1" i="0">
                <a:solidFill>
                  <a:srgbClr val="6A6E78"/>
                </a:solidFill>
                <a:latin typeface="Inter"/>
              </a:rPr>
              <a:t>Kleurcode: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9921240" y="521208"/>
            <a:ext cx="128016" cy="128016"/>
          </a:xfrm>
          <a:prstGeom prst="roundRect">
            <a:avLst>
              <a:gd name="adj" fmla="val 50000"/>
            </a:avLst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0085832" y="475488"/>
            <a:ext cx="914400" cy="27432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900" b="0" i="0">
                <a:solidFill>
                  <a:srgbClr val="20242E"/>
                </a:solidFill>
                <a:latin typeface="Inter"/>
              </a:rPr>
              <a:t>persoon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10574121" y="521208"/>
            <a:ext cx="128016" cy="128016"/>
          </a:xfrm>
          <a:prstGeom prst="roundRect">
            <a:avLst>
              <a:gd name="adj" fmla="val 50000"/>
            </a:avLst>
          </a:prstGeom>
          <a:solidFill>
            <a:srgbClr val="EA731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0738713" y="475488"/>
            <a:ext cx="914400" cy="27432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900" b="0" i="0">
                <a:solidFill>
                  <a:srgbClr val="20242E"/>
                </a:solidFill>
                <a:latin typeface="Inter"/>
              </a:rPr>
              <a:t>werkw.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11170309" y="521208"/>
            <a:ext cx="128016" cy="128016"/>
          </a:xfrm>
          <a:prstGeom prst="roundRect">
            <a:avLst>
              <a:gd name="adj" fmla="val 50000"/>
            </a:avLst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1334901" y="475488"/>
            <a:ext cx="914400" cy="27432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900" b="0" i="0">
                <a:solidFill>
                  <a:srgbClr val="20242E"/>
                </a:solidFill>
                <a:latin typeface="Inter"/>
              </a:rPr>
              <a:t>tijd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11653112" y="521208"/>
            <a:ext cx="128016" cy="128016"/>
          </a:xfrm>
          <a:prstGeom prst="roundRect">
            <a:avLst>
              <a:gd name="adj" fmla="val 50000"/>
            </a:avLst>
          </a:prstGeom>
          <a:solidFill>
            <a:srgbClr val="64748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11817704" y="475488"/>
            <a:ext cx="914400" cy="27432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900" b="0" i="0">
                <a:solidFill>
                  <a:srgbClr val="20242E"/>
                </a:solidFill>
                <a:latin typeface="Inter"/>
              </a:rPr>
              <a:t>plaats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12249300" y="521208"/>
            <a:ext cx="128016" cy="128016"/>
          </a:xfrm>
          <a:prstGeom prst="roundRect">
            <a:avLst>
              <a:gd name="adj" fmla="val 50000"/>
            </a:avLst>
          </a:prstGeom>
          <a:solidFill>
            <a:srgbClr val="DC262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12413892" y="475488"/>
            <a:ext cx="914400" cy="27432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900" b="0" i="0">
                <a:solidFill>
                  <a:srgbClr val="20242E"/>
                </a:solidFill>
                <a:latin typeface="Inter"/>
              </a:rPr>
              <a:t>valstrik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457200" y="1554480"/>
            <a:ext cx="11247120" cy="1097280"/>
          </a:xfrm>
          <a:prstGeom prst="roundRect">
            <a:avLst>
              <a:gd name="adj" fmla="val 5500"/>
            </a:avLst>
          </a:prstGeom>
          <a:solidFill>
            <a:srgbClr val="EEE8F5"/>
          </a:solidFill>
          <a:ln>
            <a:noFill/>
          </a:ln>
          <a:effectLst>
            <a:outerShdw blurRad="90000" dist="38000" dir="5400000" rotWithShape="0">
              <a:srgbClr val="20242E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731520" y="1554480"/>
            <a:ext cx="10698480" cy="109728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2200" b="1" i="0">
                <a:solidFill>
                  <a:srgbClr val="EAB308"/>
                </a:solidFill>
                <a:latin typeface="Bricolage Grotesque"/>
              </a:rPr>
              <a:t>Creo que </a:t>
            </a:r>
            <a:r>
              <a:rPr sz="2200" b="1" i="0">
                <a:solidFill>
                  <a:srgbClr val="2563EB"/>
                </a:solidFill>
                <a:latin typeface="Bricolage Grotesque"/>
              </a:rPr>
              <a:t>las redes </a:t>
            </a:r>
            <a:r>
              <a:rPr sz="2200" b="1" i="0">
                <a:solidFill>
                  <a:srgbClr val="EA7317"/>
                </a:solidFill>
                <a:latin typeface="Bricolage Grotesque"/>
              </a:rPr>
              <a:t>son </a:t>
            </a:r>
            <a:r>
              <a:rPr sz="2200" b="1" i="0">
                <a:solidFill>
                  <a:srgbClr val="B4309A"/>
                </a:solidFill>
                <a:latin typeface="Bricolage Grotesque"/>
              </a:rPr>
              <a:t>útiles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457200" y="2880360"/>
            <a:ext cx="10972800" cy="36576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1" i="0">
                <a:solidFill>
                  <a:srgbClr val="5B3E83"/>
                </a:solidFill>
                <a:latin typeface="Bricolage Grotesque"/>
              </a:rPr>
              <a:t>Para opinar y reaccionar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457200" y="3291840"/>
            <a:ext cx="3657600" cy="566928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594360" y="3291840"/>
            <a:ext cx="1920240" cy="566928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1" i="0">
                <a:solidFill>
                  <a:srgbClr val="5B3E83"/>
                </a:solidFill>
                <a:latin typeface="Inter"/>
              </a:rPr>
              <a:t>creo que…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2514600" y="3291840"/>
            <a:ext cx="1463040" cy="566928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000" b="0" i="0">
                <a:solidFill>
                  <a:srgbClr val="20242E"/>
                </a:solidFill>
                <a:latin typeface="Inter"/>
              </a:rPr>
              <a:t>ik vind/denk dat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457200" y="3968496"/>
            <a:ext cx="3657600" cy="566928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594360" y="3968496"/>
            <a:ext cx="1920240" cy="566928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1" i="0">
                <a:solidFill>
                  <a:srgbClr val="5B3E83"/>
                </a:solidFill>
                <a:latin typeface="Inter"/>
              </a:rPr>
              <a:t>pienso que…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2514600" y="3968496"/>
            <a:ext cx="1463040" cy="566928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000" b="0" i="0">
                <a:solidFill>
                  <a:srgbClr val="20242E"/>
                </a:solidFill>
                <a:latin typeface="Inter"/>
              </a:rPr>
              <a:t>ik denk dat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457200" y="4645152"/>
            <a:ext cx="3657600" cy="566928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594360" y="4645152"/>
            <a:ext cx="1920240" cy="566928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1" i="0">
                <a:solidFill>
                  <a:srgbClr val="5B3E83"/>
                </a:solidFill>
                <a:latin typeface="Inter"/>
              </a:rPr>
              <a:t>me parece que…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2514600" y="4645152"/>
            <a:ext cx="1463040" cy="566928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000" b="0" i="0">
                <a:solidFill>
                  <a:srgbClr val="20242E"/>
                </a:solidFill>
                <a:latin typeface="Inter"/>
              </a:rPr>
              <a:t>het lijkt me dat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4297680" y="3291840"/>
            <a:ext cx="3657600" cy="566928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4434840" y="3291840"/>
            <a:ext cx="1920240" cy="566928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1" i="0">
                <a:solidFill>
                  <a:srgbClr val="5B3E83"/>
                </a:solidFill>
                <a:latin typeface="Inter"/>
              </a:rPr>
              <a:t>(no) estoy de acuerdo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6355080" y="3291840"/>
            <a:ext cx="1463040" cy="566928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000" b="0" i="0">
                <a:solidFill>
                  <a:srgbClr val="20242E"/>
                </a:solidFill>
                <a:latin typeface="Inter"/>
              </a:rPr>
              <a:t>ik ben het (niet) eens</a:t>
            </a:r>
          </a:p>
        </p:txBody>
      </p:sp>
      <p:sp>
        <p:nvSpPr>
          <p:cNvPr id="35" name="Rounded Rectangle 34"/>
          <p:cNvSpPr/>
          <p:nvPr/>
        </p:nvSpPr>
        <p:spPr>
          <a:xfrm>
            <a:off x="4297680" y="3968496"/>
            <a:ext cx="3657600" cy="566928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4434840" y="3968496"/>
            <a:ext cx="1920240" cy="566928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1" i="0">
                <a:solidFill>
                  <a:srgbClr val="5B3E83"/>
                </a:solidFill>
                <a:latin typeface="Inter"/>
              </a:rPr>
              <a:t>tienes razón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6355080" y="3968496"/>
            <a:ext cx="1463040" cy="566928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000" b="0" i="0">
                <a:solidFill>
                  <a:srgbClr val="20242E"/>
                </a:solidFill>
                <a:latin typeface="Inter"/>
              </a:rPr>
              <a:t>je hebt gelijk</a:t>
            </a:r>
          </a:p>
        </p:txBody>
      </p:sp>
      <p:sp>
        <p:nvSpPr>
          <p:cNvPr id="38" name="Rounded Rectangle 37"/>
          <p:cNvSpPr/>
          <p:nvPr/>
        </p:nvSpPr>
        <p:spPr>
          <a:xfrm>
            <a:off x="4297680" y="4645152"/>
            <a:ext cx="3657600" cy="566928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4434840" y="4645152"/>
            <a:ext cx="1920240" cy="566928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1" i="0">
                <a:solidFill>
                  <a:srgbClr val="5B3E83"/>
                </a:solidFill>
                <a:latin typeface="Inter"/>
              </a:rPr>
              <a:t>por un lado… por otro…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6355080" y="4645152"/>
            <a:ext cx="1463040" cy="566928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000" b="0" i="0">
                <a:solidFill>
                  <a:srgbClr val="20242E"/>
                </a:solidFill>
                <a:latin typeface="Inter"/>
              </a:rPr>
              <a:t>enerzijds… anderzijds…</a:t>
            </a:r>
          </a:p>
        </p:txBody>
      </p:sp>
      <p:sp>
        <p:nvSpPr>
          <p:cNvPr id="41" name="Rounded Rectangle 40"/>
          <p:cNvSpPr/>
          <p:nvPr/>
        </p:nvSpPr>
        <p:spPr>
          <a:xfrm>
            <a:off x="457200" y="6053328"/>
            <a:ext cx="2093976" cy="365760"/>
          </a:xfrm>
          <a:prstGeom prst="roundRect">
            <a:avLst>
              <a:gd name="adj" fmla="val 50000"/>
            </a:avLst>
          </a:prstGeom>
          <a:solidFill>
            <a:srgbClr val="7C56A9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12700" bIns="12700"/>
          <a:lstStyle/>
          <a:p>
            <a:pPr algn="ctr"/>
            <a:r>
              <a:rPr sz="1050" b="1">
                <a:solidFill>
                  <a:srgbClr val="FFFFFF"/>
                </a:solidFill>
                <a:latin typeface="Inter"/>
              </a:rPr>
              <a:t>▶  Mostrar solución</a:t>
            </a:r>
          </a:p>
        </p:txBody>
      </p:sp>
      <p:sp>
        <p:nvSpPr>
          <p:cNvPr id="42" name="Rounded Rectangle 41"/>
          <p:cNvSpPr/>
          <p:nvPr/>
        </p:nvSpPr>
        <p:spPr>
          <a:xfrm>
            <a:off x="2697480" y="6053328"/>
            <a:ext cx="1088136" cy="36576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12700" bIns="12700"/>
          <a:lstStyle/>
          <a:p>
            <a:pPr algn="ctr"/>
            <a:r>
              <a:rPr sz="1050" b="1">
                <a:solidFill>
                  <a:srgbClr val="5B3E83"/>
                </a:solidFill>
                <a:latin typeface="Inter"/>
              </a:rPr>
              <a:t>⏭  Saltar</a:t>
            </a:r>
          </a:p>
        </p:txBody>
      </p:sp>
      <p:sp>
        <p:nvSpPr>
          <p:cNvPr id="43" name="Rounded Rectangle 42">
            <a:hlinkClick action="ppaction://hlinksldjump" r:id="rId3"/>
          </p:cNvPr>
          <p:cNvSpPr/>
          <p:nvPr/>
        </p:nvSpPr>
        <p:spPr>
          <a:xfrm>
            <a:off x="3931920" y="6053328"/>
            <a:ext cx="1691639" cy="36576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12700" bIns="12700"/>
          <a:lstStyle/>
          <a:p>
            <a:pPr algn="ctr"/>
            <a:r>
              <a:rPr sz="1050" b="1">
                <a:solidFill>
                  <a:srgbClr val="5B3E83"/>
                </a:solidFill>
                <a:latin typeface="Inter"/>
              </a:rPr>
              <a:t>⌂  Menú (dia 2)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8321040" y="6053328"/>
            <a:ext cx="3383280" cy="36576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850" b="0" i="1">
                <a:solidFill>
                  <a:srgbClr val="6A6E78"/>
                </a:solidFill>
                <a:latin typeface="Inter"/>
              </a:rPr>
              <a:t>Noodroute (§5): werkt zonder audio/internet</a:t>
            </a:r>
          </a:p>
        </p:txBody>
      </p:sp>
      <p:sp>
        <p:nvSpPr>
          <p:cNvPr id="45" name="Rounded Rectangle 44"/>
          <p:cNvSpPr/>
          <p:nvPr/>
        </p:nvSpPr>
        <p:spPr>
          <a:xfrm>
            <a:off x="457200" y="5257800"/>
            <a:ext cx="11247120" cy="548640"/>
          </a:xfrm>
          <a:prstGeom prst="roundRect">
            <a:avLst>
              <a:gd name="adj" fmla="val 6000"/>
            </a:avLst>
          </a:prstGeom>
          <a:solidFill>
            <a:srgbClr val="EEE8F5"/>
          </a:solidFill>
          <a:ln w="19050">
            <a:solidFill>
              <a:srgbClr val="7C56A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27000" rIns="127000" tIns="139700" bIns="76200"/>
          <a:lstStyle/>
          <a:p>
            <a:pPr algn="ctr">
              <a:lnSpc>
                <a:spcPct val="102000"/>
              </a:lnSpc>
              <a:spcBef>
                <a:spcPts val="0"/>
              </a:spcBef>
              <a:spcAft>
                <a:spcPts val="300"/>
              </a:spcAft>
            </a:pPr>
            <a:r>
              <a:rPr sz="1200" b="1" i="0">
                <a:solidFill>
                  <a:srgbClr val="5B3E83"/>
                </a:solidFill>
                <a:latin typeface="Inter"/>
              </a:rPr>
              <a:t>Regla: </a:t>
            </a:r>
            <a:r>
              <a:rPr sz="1200" b="0" i="0">
                <a:solidFill>
                  <a:srgbClr val="5B3E83"/>
                </a:solidFill>
                <a:latin typeface="Inter"/>
              </a:rPr>
              <a:t>creo que + indicativo (de gewone tijd): «creo que es útil». 🔴 nooit subjuntivo. Bouw af met porque.</a:t>
            </a:r>
          </a:p>
        </p:txBody>
      </p:sp>
      <p:sp>
        <p:nvSpPr>
          <p:cNvPr id="46" name="Rounded Rectangle 45"/>
          <p:cNvSpPr/>
          <p:nvPr/>
        </p:nvSpPr>
        <p:spPr>
          <a:xfrm>
            <a:off x="594360" y="5129784"/>
            <a:ext cx="1296619" cy="292608"/>
          </a:xfrm>
          <a:prstGeom prst="roundRect">
            <a:avLst>
              <a:gd name="adj" fmla="val 50000"/>
            </a:avLst>
          </a:prstGeom>
          <a:solidFill>
            <a:srgbClr val="7C56A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88900" rIns="88900" tIns="12700" bIns="12700"/>
          <a:lstStyle/>
          <a:p>
            <a:pPr algn="ctr"/>
            <a:r>
              <a:rPr sz="950" b="1">
                <a:solidFill>
                  <a:srgbClr val="FFFFFF"/>
                </a:solidFill>
                <a:latin typeface="Inter"/>
              </a:rPr>
              <a:t>REGLA · docent</a:t>
            </a:r>
          </a:p>
        </p:txBody>
      </p:sp>
      <p:sp>
        <p:nvSpPr>
          <p:cNvPr id="47" name="Rectangle 46"/>
          <p:cNvSpPr/>
          <p:nvPr/>
        </p:nvSpPr>
        <p:spPr>
          <a:xfrm>
            <a:off x="0" y="6547104"/>
            <a:ext cx="12191695" cy="310896"/>
          </a:xfrm>
          <a:prstGeom prst="rect">
            <a:avLst/>
          </a:prstGeom>
          <a:solidFill>
            <a:srgbClr val="F3EE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411480" y="6565392"/>
            <a:ext cx="548640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1" i="0">
                <a:solidFill>
                  <a:srgbClr val="7C56A9"/>
                </a:solidFill>
                <a:latin typeface="Inter"/>
              </a:rPr>
              <a:t>● </a:t>
            </a:r>
            <a:r>
              <a:rPr sz="950" b="0" i="0">
                <a:solidFill>
                  <a:srgbClr val="6A6E78"/>
                </a:solidFill>
                <a:latin typeface="Inter"/>
              </a:rPr>
              <a:t>U3 · CONECTADOS   ·   C6+ · conectados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8686800" y="6565392"/>
            <a:ext cx="306324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900" b="0" i="1">
                <a:solidFill>
                  <a:srgbClr val="6A6E78"/>
                </a:solidFill>
                <a:latin typeface="Inter"/>
              </a:rPr>
              <a:t>Docentenversie — met oplossingen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11475720" y="6565392"/>
            <a:ext cx="45720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950" b="1" i="0">
                <a:solidFill>
                  <a:srgbClr val="5B3E83"/>
                </a:solidFill>
                <a:latin typeface="Inter"/>
              </a:rPr>
              <a:t>11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4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500"/>
                                        <p:tgtEl>
                                          <p:spTgt spid="4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CFB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78992"/>
          </a:xfrm>
          <a:prstGeom prst="rect">
            <a:avLst/>
          </a:prstGeom>
          <a:solidFill>
            <a:srgbClr val="7C56A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78992"/>
            <a:ext cx="12191695" cy="54864"/>
          </a:xfrm>
          <a:prstGeom prst="rect">
            <a:avLst/>
          </a:prstGeom>
          <a:solidFill>
            <a:srgbClr val="5B3E8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502920" y="182880"/>
            <a:ext cx="875995" cy="292608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88900" rIns="88900" tIns="12700" bIns="12700"/>
          <a:lstStyle/>
          <a:p>
            <a:pPr algn="ctr"/>
            <a:r>
              <a:rPr sz="1100" b="1">
                <a:solidFill>
                  <a:srgbClr val="7C56A9"/>
                </a:solidFill>
                <a:latin typeface="Inter"/>
              </a:rPr>
              <a:t>§4 · QUIZ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424160" y="-137160"/>
            <a:ext cx="1737360" cy="137160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8800" b="1" i="0">
                <a:solidFill>
                  <a:srgbClr val="FFFFFF"/>
                </a:solidFill>
                <a:latin typeface="Bricolage Grotesque"/>
              </a:rPr>
              <a:t>4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457200"/>
            <a:ext cx="9692640" cy="5029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2700" b="1" i="0">
                <a:solidFill>
                  <a:srgbClr val="FFFFFF"/>
                </a:solidFill>
                <a:latin typeface="Bricolage Grotesque"/>
              </a:rPr>
              <a:t>Creo que + indicativo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02920" y="932688"/>
            <a:ext cx="9692640" cy="27432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50" b="0" i="1">
                <a:solidFill>
                  <a:srgbClr val="EEE8F5"/>
                </a:solidFill>
                <a:latin typeface="Inter"/>
              </a:rPr>
              <a:t>Klik → de gewone vorm. (nooit subjuntivo!)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57200" y="1600200"/>
            <a:ext cx="5532120" cy="713232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594360" y="1600200"/>
            <a:ext cx="4206240" cy="713232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0" i="0">
                <a:solidFill>
                  <a:srgbClr val="20242E"/>
                </a:solidFill>
                <a:latin typeface="Inter"/>
              </a:rPr>
              <a:t>Creo que las redes ___ (ser) útiles.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846320" y="1600200"/>
            <a:ext cx="1051560" cy="713232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400" b="1" i="0">
                <a:solidFill>
                  <a:srgbClr val="5B3E83"/>
                </a:solidFill>
                <a:latin typeface="Inter"/>
              </a:rPr>
              <a:t>→ son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457200" y="2478024"/>
            <a:ext cx="5532120" cy="713232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594360" y="2478024"/>
            <a:ext cx="4206240" cy="713232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0" i="0">
                <a:solidFill>
                  <a:srgbClr val="20242E"/>
                </a:solidFill>
                <a:latin typeface="Inter"/>
              </a:rPr>
              <a:t>Pienso que Diego ___ (tener) razón.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846320" y="2478024"/>
            <a:ext cx="1051560" cy="713232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400" b="1" i="0">
                <a:solidFill>
                  <a:srgbClr val="5B3E83"/>
                </a:solidFill>
                <a:latin typeface="Inter"/>
              </a:rPr>
              <a:t>→ tiene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457200" y="3355848"/>
            <a:ext cx="5532120" cy="713232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594360" y="3355848"/>
            <a:ext cx="4206240" cy="713232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0" i="0">
                <a:solidFill>
                  <a:srgbClr val="20242E"/>
                </a:solidFill>
                <a:latin typeface="Inter"/>
              </a:rPr>
              <a:t>Me parece que (nosotros) ___ (pasar) mucho tiempo.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846320" y="3355848"/>
            <a:ext cx="1051560" cy="713232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400" b="1" i="0">
                <a:solidFill>
                  <a:srgbClr val="5B3E83"/>
                </a:solidFill>
                <a:latin typeface="Inter"/>
              </a:rPr>
              <a:t>→ pasamos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6172200" y="1600200"/>
            <a:ext cx="5532120" cy="713232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309360" y="1600200"/>
            <a:ext cx="4206240" cy="713232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0" i="0">
                <a:solidFill>
                  <a:srgbClr val="20242E"/>
                </a:solidFill>
                <a:latin typeface="Inter"/>
              </a:rPr>
              <a:t>Creo que el móvil ___ (ayudar).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0561320" y="1600200"/>
            <a:ext cx="1051560" cy="713232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400" b="1" i="0">
                <a:solidFill>
                  <a:srgbClr val="5B3E83"/>
                </a:solidFill>
                <a:latin typeface="Inter"/>
              </a:rPr>
              <a:t>→ ayuda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6172200" y="2478024"/>
            <a:ext cx="5532120" cy="713232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309360" y="2478024"/>
            <a:ext cx="4206240" cy="713232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0" i="0">
                <a:solidFill>
                  <a:srgbClr val="20242E"/>
                </a:solidFill>
                <a:latin typeface="Inter"/>
              </a:rPr>
              <a:t>Pienso que los juegos ___ (poder) ser adictivos.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0561320" y="2478024"/>
            <a:ext cx="1051560" cy="713232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400" b="1" i="0">
                <a:solidFill>
                  <a:srgbClr val="5B3E83"/>
                </a:solidFill>
                <a:latin typeface="Inter"/>
              </a:rPr>
              <a:t>→ pueden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6172200" y="3355848"/>
            <a:ext cx="5532120" cy="713232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6309360" y="3355848"/>
            <a:ext cx="4206240" cy="713232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0" i="0">
                <a:solidFill>
                  <a:srgbClr val="20242E"/>
                </a:solidFill>
                <a:latin typeface="Inter"/>
              </a:rPr>
              <a:t>Creo que la wifi ___ (ser) rápida.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0561320" y="3355848"/>
            <a:ext cx="1051560" cy="713232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400" b="1" i="0">
                <a:solidFill>
                  <a:srgbClr val="5B3E83"/>
                </a:solidFill>
                <a:latin typeface="Inter"/>
              </a:rPr>
              <a:t>→ es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457200" y="6053328"/>
            <a:ext cx="2093976" cy="365760"/>
          </a:xfrm>
          <a:prstGeom prst="roundRect">
            <a:avLst>
              <a:gd name="adj" fmla="val 50000"/>
            </a:avLst>
          </a:prstGeom>
          <a:solidFill>
            <a:srgbClr val="7C56A9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12700" bIns="12700"/>
          <a:lstStyle/>
          <a:p>
            <a:pPr algn="ctr"/>
            <a:r>
              <a:rPr sz="1050" b="1">
                <a:solidFill>
                  <a:srgbClr val="FFFFFF"/>
                </a:solidFill>
                <a:latin typeface="Inter"/>
              </a:rPr>
              <a:t>▶  Mostrar solución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2697480" y="6053328"/>
            <a:ext cx="1088136" cy="36576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12700" bIns="12700"/>
          <a:lstStyle/>
          <a:p>
            <a:pPr algn="ctr"/>
            <a:r>
              <a:rPr sz="1050" b="1">
                <a:solidFill>
                  <a:srgbClr val="5B3E83"/>
                </a:solidFill>
                <a:latin typeface="Inter"/>
              </a:rPr>
              <a:t>⏭  Saltar</a:t>
            </a:r>
          </a:p>
        </p:txBody>
      </p:sp>
      <p:sp>
        <p:nvSpPr>
          <p:cNvPr id="29" name="Rounded Rectangle 28">
            <a:hlinkClick action="ppaction://hlinksldjump" r:id="rId3"/>
          </p:cNvPr>
          <p:cNvSpPr/>
          <p:nvPr/>
        </p:nvSpPr>
        <p:spPr>
          <a:xfrm>
            <a:off x="3931920" y="6053328"/>
            <a:ext cx="1691639" cy="36576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12700" bIns="12700"/>
          <a:lstStyle/>
          <a:p>
            <a:pPr algn="ctr"/>
            <a:r>
              <a:rPr sz="1050" b="1">
                <a:solidFill>
                  <a:srgbClr val="5B3E83"/>
                </a:solidFill>
                <a:latin typeface="Inter"/>
              </a:rPr>
              <a:t>⌂  Menú (dia 2)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8321040" y="6053328"/>
            <a:ext cx="3383280" cy="36576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850" b="0" i="1">
                <a:solidFill>
                  <a:srgbClr val="6A6E78"/>
                </a:solidFill>
                <a:latin typeface="Inter"/>
              </a:rPr>
              <a:t>Noodroute (§5): werkt zonder audio/internet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457200" y="4709160"/>
            <a:ext cx="11247120" cy="548640"/>
          </a:xfrm>
          <a:prstGeom prst="roundRect">
            <a:avLst>
              <a:gd name="adj" fmla="val 6000"/>
            </a:avLst>
          </a:prstGeom>
          <a:solidFill>
            <a:srgbClr val="EEE8F5"/>
          </a:solidFill>
          <a:ln w="19050">
            <a:solidFill>
              <a:srgbClr val="7C56A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27000" rIns="127000" tIns="139700" bIns="76200"/>
          <a:lstStyle/>
          <a:p>
            <a:pPr algn="ctr">
              <a:lnSpc>
                <a:spcPct val="102000"/>
              </a:lnSpc>
              <a:spcBef>
                <a:spcPts val="0"/>
              </a:spcBef>
              <a:spcAft>
                <a:spcPts val="300"/>
              </a:spcAft>
            </a:pPr>
            <a:r>
              <a:rPr sz="1200" b="1" i="0">
                <a:solidFill>
                  <a:srgbClr val="5B3E83"/>
                </a:solidFill>
                <a:latin typeface="Inter"/>
              </a:rPr>
              <a:t>Indicativo: </a:t>
            </a:r>
            <a:r>
              <a:rPr sz="1200" b="0" i="0">
                <a:solidFill>
                  <a:srgbClr val="5B3E83"/>
                </a:solidFill>
                <a:latin typeface="Inter"/>
              </a:rPr>
              <a:t>son · tiene · pasamos · ayuda · pueden · es. Dezelfde gewone tijd die je al kent.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594360" y="4581144"/>
            <a:ext cx="1548993" cy="292608"/>
          </a:xfrm>
          <a:prstGeom prst="roundRect">
            <a:avLst>
              <a:gd name="adj" fmla="val 50000"/>
            </a:avLst>
          </a:prstGeom>
          <a:solidFill>
            <a:srgbClr val="7C56A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88900" rIns="88900" tIns="12700" bIns="12700"/>
          <a:lstStyle/>
          <a:p>
            <a:pPr algn="ctr"/>
            <a:r>
              <a:rPr sz="950" b="1">
                <a:solidFill>
                  <a:srgbClr val="FFFFFF"/>
                </a:solidFill>
                <a:latin typeface="Inter"/>
              </a:rPr>
              <a:t>SOLUCIÓN · docent</a:t>
            </a:r>
          </a:p>
        </p:txBody>
      </p:sp>
      <p:sp>
        <p:nvSpPr>
          <p:cNvPr id="33" name="Rectangle 32"/>
          <p:cNvSpPr/>
          <p:nvPr/>
        </p:nvSpPr>
        <p:spPr>
          <a:xfrm>
            <a:off x="0" y="6547104"/>
            <a:ext cx="12191695" cy="310896"/>
          </a:xfrm>
          <a:prstGeom prst="rect">
            <a:avLst/>
          </a:prstGeom>
          <a:solidFill>
            <a:srgbClr val="F3EE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411480" y="6565392"/>
            <a:ext cx="548640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1" i="0">
                <a:solidFill>
                  <a:srgbClr val="7C56A9"/>
                </a:solidFill>
                <a:latin typeface="Inter"/>
              </a:rPr>
              <a:t>● </a:t>
            </a:r>
            <a:r>
              <a:rPr sz="950" b="0" i="0">
                <a:solidFill>
                  <a:srgbClr val="6A6E78"/>
                </a:solidFill>
                <a:latin typeface="Inter"/>
              </a:rPr>
              <a:t>U3 · CONECTADOS   ·   C6+ · conectados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8686800" y="6565392"/>
            <a:ext cx="306324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900" b="0" i="1">
                <a:solidFill>
                  <a:srgbClr val="6A6E78"/>
                </a:solidFill>
                <a:latin typeface="Inter"/>
              </a:rPr>
              <a:t>Docentenversie — met oplossingen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11475720" y="6565392"/>
            <a:ext cx="45720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950" b="1" i="0">
                <a:solidFill>
                  <a:srgbClr val="5B3E83"/>
                </a:solidFill>
                <a:latin typeface="Inter"/>
              </a:rPr>
              <a:t>12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5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5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5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5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50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50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50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CFB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78992"/>
          </a:xfrm>
          <a:prstGeom prst="rect">
            <a:avLst/>
          </a:prstGeom>
          <a:solidFill>
            <a:srgbClr val="7C56A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78992"/>
            <a:ext cx="12191695" cy="54864"/>
          </a:xfrm>
          <a:prstGeom prst="rect">
            <a:avLst/>
          </a:prstGeom>
          <a:solidFill>
            <a:srgbClr val="5B3E8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502920" y="182880"/>
            <a:ext cx="2390241" cy="292608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88900" rIns="88900" tIns="12700" bIns="12700"/>
          <a:lstStyle/>
          <a:p>
            <a:pPr algn="ctr"/>
            <a:r>
              <a:rPr sz="1100" b="1">
                <a:solidFill>
                  <a:srgbClr val="7C56A9"/>
                </a:solidFill>
                <a:latin typeface="Inter"/>
              </a:rPr>
              <a:t>§2 · SPEAKING · INTERACCIÓN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424160" y="-137160"/>
            <a:ext cx="1737360" cy="137160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8800" b="1" i="0">
                <a:solidFill>
                  <a:srgbClr val="FFFFFF"/>
                </a:solidFill>
                <a:latin typeface="Bricolage Grotesque"/>
              </a:rPr>
              <a:t>2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457200"/>
            <a:ext cx="9692640" cy="5029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2700" b="1" i="0">
                <a:solidFill>
                  <a:srgbClr val="FFFFFF"/>
                </a:solidFill>
                <a:latin typeface="Bricolage Grotesque"/>
              </a:rPr>
              <a:t>Habla de tus planes y tu opinión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02920" y="932688"/>
            <a:ext cx="9692640" cy="27432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50" b="0" i="1">
                <a:solidFill>
                  <a:srgbClr val="EEE8F5"/>
                </a:solidFill>
                <a:latin typeface="Inter"/>
              </a:rPr>
              <a:t>Speel de scène met de frames. Steun bouwt af: kaarten → beginwoorden → uit het hoofd.</a:t>
            </a:r>
          </a:p>
        </p:txBody>
      </p:sp>
      <p:pic>
        <p:nvPicPr>
          <p:cNvPr id="9" name="Picture 8" descr="tu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424160" y="1554480"/>
            <a:ext cx="1188720" cy="1188720"/>
          </a:xfrm>
          <a:prstGeom prst="rect">
            <a:avLst/>
          </a:prstGeom>
        </p:spPr>
      </p:pic>
      <p:sp>
        <p:nvSpPr>
          <p:cNvPr id="10" name="Rounded Rectangle 9"/>
          <p:cNvSpPr/>
          <p:nvPr/>
        </p:nvSpPr>
        <p:spPr>
          <a:xfrm>
            <a:off x="457200" y="1645920"/>
            <a:ext cx="3108960" cy="73152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5240">
            <a:solidFill>
              <a:srgbClr val="7C56A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94360" y="1691640"/>
            <a:ext cx="2834640" cy="292608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000" b="0" i="0">
                <a:solidFill>
                  <a:srgbClr val="6A6E78"/>
                </a:solidFill>
                <a:latin typeface="Inter"/>
              </a:rPr>
              <a:t>Un plan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94360" y="1975104"/>
            <a:ext cx="2834640" cy="36576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50" b="1" i="0">
                <a:solidFill>
                  <a:srgbClr val="5B3E83"/>
                </a:solidFill>
                <a:latin typeface="Bricolage Grotesque"/>
              </a:rPr>
              <a:t>Voy a…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57200" y="2542032"/>
            <a:ext cx="3108960" cy="73152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5240">
            <a:solidFill>
              <a:srgbClr val="7C56A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594360" y="2587752"/>
            <a:ext cx="2834640" cy="292608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000" b="0" i="0">
                <a:solidFill>
                  <a:srgbClr val="6A6E78"/>
                </a:solidFill>
                <a:latin typeface="Inter"/>
              </a:rPr>
              <a:t>¿Cuándo?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94360" y="2871216"/>
            <a:ext cx="2834640" cy="36576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50" b="1" i="0">
                <a:solidFill>
                  <a:srgbClr val="5B3E83"/>
                </a:solidFill>
                <a:latin typeface="Bricolage Grotesque"/>
              </a:rPr>
              <a:t>Este finde / mañana…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457200" y="3438144"/>
            <a:ext cx="3108960" cy="73152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5240">
            <a:solidFill>
              <a:srgbClr val="7C56A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594360" y="3483864"/>
            <a:ext cx="2834640" cy="292608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000" b="0" i="0">
                <a:solidFill>
                  <a:srgbClr val="6A6E78"/>
                </a:solidFill>
                <a:latin typeface="Inter"/>
              </a:rPr>
              <a:t>¿Con quién?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94360" y="3767328"/>
            <a:ext cx="2834640" cy="36576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50" b="1" i="0">
                <a:solidFill>
                  <a:srgbClr val="5B3E83"/>
                </a:solidFill>
                <a:latin typeface="Bricolage Grotesque"/>
              </a:rPr>
              <a:t>Le escribo a…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3749040" y="1645920"/>
            <a:ext cx="3108960" cy="73152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5240">
            <a:solidFill>
              <a:srgbClr val="7C56A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3886200" y="1691640"/>
            <a:ext cx="2834640" cy="292608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000" b="0" i="0">
                <a:solidFill>
                  <a:srgbClr val="6A6E78"/>
                </a:solidFill>
                <a:latin typeface="Inter"/>
              </a:rPr>
              <a:t>Acabas de…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3886200" y="1975104"/>
            <a:ext cx="2834640" cy="36576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50" b="1" i="0">
                <a:solidFill>
                  <a:srgbClr val="5B3E83"/>
                </a:solidFill>
                <a:latin typeface="Bricolage Grotesque"/>
              </a:rPr>
              <a:t>Acabo de…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3749040" y="2542032"/>
            <a:ext cx="3108960" cy="73152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5240">
            <a:solidFill>
              <a:srgbClr val="7C56A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3886200" y="2587752"/>
            <a:ext cx="2834640" cy="292608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000" b="0" i="0">
                <a:solidFill>
                  <a:srgbClr val="6A6E78"/>
                </a:solidFill>
                <a:latin typeface="Inter"/>
              </a:rPr>
              <a:t>Tu opinión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3886200" y="2871216"/>
            <a:ext cx="2834640" cy="36576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50" b="1" i="0">
                <a:solidFill>
                  <a:srgbClr val="5B3E83"/>
                </a:solidFill>
                <a:latin typeface="Bricolage Grotesque"/>
              </a:rPr>
              <a:t>Creo que…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3749040" y="3438144"/>
            <a:ext cx="3108960" cy="73152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5240">
            <a:solidFill>
              <a:srgbClr val="7C56A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3886200" y="3483864"/>
            <a:ext cx="2834640" cy="292608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000" b="0" i="0">
                <a:solidFill>
                  <a:srgbClr val="6A6E78"/>
                </a:solidFill>
                <a:latin typeface="Inter"/>
              </a:rPr>
              <a:t>Argumento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3886200" y="3767328"/>
            <a:ext cx="2834640" cy="36576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50" b="1" i="0">
                <a:solidFill>
                  <a:srgbClr val="5B3E83"/>
                </a:solidFill>
                <a:latin typeface="Bricolage Grotesque"/>
              </a:rPr>
              <a:t>…porque…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457200" y="4251960"/>
            <a:ext cx="5082235" cy="292608"/>
          </a:xfrm>
          <a:prstGeom prst="roundRect">
            <a:avLst>
              <a:gd name="adj" fmla="val 50000"/>
            </a:avLst>
          </a:prstGeom>
          <a:solidFill>
            <a:srgbClr val="EEE8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88900" rIns="88900" tIns="12700" bIns="12700"/>
          <a:lstStyle/>
          <a:p>
            <a:pPr algn="ctr"/>
            <a:r>
              <a:rPr sz="1100" b="1">
                <a:solidFill>
                  <a:srgbClr val="5B3E83"/>
                </a:solidFill>
                <a:latin typeface="Inter"/>
              </a:rPr>
              <a:t>🎙️ Grábate online · «Mensaje de voz: mi finde / mi opinión»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457200" y="4617720"/>
            <a:ext cx="9601200" cy="82296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1" i="0">
                <a:solidFill>
                  <a:srgbClr val="5B3E83"/>
                </a:solidFill>
                <a:latin typeface="Inter"/>
              </a:rPr>
              <a:t>Ronda 1: </a:t>
            </a:r>
            <a:r>
              <a:rPr sz="1200" b="0" i="0">
                <a:solidFill>
                  <a:srgbClr val="20242E"/>
                </a:solidFill>
                <a:latin typeface="Inter"/>
              </a:rPr>
              <a:t>met de kaarten. </a:t>
            </a:r>
            <a:r>
              <a:rPr sz="1200" b="1" i="0">
                <a:solidFill>
                  <a:srgbClr val="5B3E83"/>
                </a:solidFill>
                <a:latin typeface="Inter"/>
              </a:rPr>
              <a:t>Ronda 2: </a:t>
            </a:r>
            <a:r>
              <a:rPr sz="1200" b="0" i="0">
                <a:solidFill>
                  <a:srgbClr val="20242E"/>
                </a:solidFill>
                <a:latin typeface="Inter"/>
              </a:rPr>
              <a:t>beginwoorden. </a:t>
            </a:r>
            <a:r>
              <a:rPr sz="1200" b="1" i="0">
                <a:solidFill>
                  <a:srgbClr val="5B3E83"/>
                </a:solidFill>
                <a:latin typeface="Inter"/>
              </a:rPr>
              <a:t>Ronda 3: </a:t>
            </a:r>
            <a:r>
              <a:rPr sz="1200" b="0" i="0">
                <a:solidFill>
                  <a:srgbClr val="20242E"/>
                </a:solidFill>
                <a:latin typeface="Inter"/>
              </a:rPr>
              <a:t>uit het hoofd. </a:t>
            </a:r>
            <a:r>
              <a:rPr sz="1200" b="1" i="0">
                <a:solidFill>
                  <a:srgbClr val="5B3E83"/>
                </a:solidFill>
                <a:latin typeface="Inter"/>
              </a:rPr>
              <a:t>Ronda 4: </a:t>
            </a:r>
            <a:r>
              <a:rPr sz="1200" b="0" i="0">
                <a:solidFill>
                  <a:srgbClr val="20242E"/>
                </a:solidFill>
                <a:latin typeface="Inter"/>
              </a:rPr>
              <a:t>grábate.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457200" y="6053328"/>
            <a:ext cx="2093976" cy="365760"/>
          </a:xfrm>
          <a:prstGeom prst="roundRect">
            <a:avLst>
              <a:gd name="adj" fmla="val 50000"/>
            </a:avLst>
          </a:prstGeom>
          <a:solidFill>
            <a:srgbClr val="7C56A9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12700" bIns="12700"/>
          <a:lstStyle/>
          <a:p>
            <a:pPr algn="ctr"/>
            <a:r>
              <a:rPr sz="1050" b="1">
                <a:solidFill>
                  <a:srgbClr val="FFFFFF"/>
                </a:solidFill>
                <a:latin typeface="Inter"/>
              </a:rPr>
              <a:t>▶  Mostrar solución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2697480" y="6053328"/>
            <a:ext cx="1088136" cy="36576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12700" bIns="12700"/>
          <a:lstStyle/>
          <a:p>
            <a:pPr algn="ctr"/>
            <a:r>
              <a:rPr sz="1050" b="1">
                <a:solidFill>
                  <a:srgbClr val="5B3E83"/>
                </a:solidFill>
                <a:latin typeface="Inter"/>
              </a:rPr>
              <a:t>⏭  Saltar</a:t>
            </a:r>
          </a:p>
        </p:txBody>
      </p:sp>
      <p:sp>
        <p:nvSpPr>
          <p:cNvPr id="32" name="Rounded Rectangle 31">
            <a:hlinkClick action="ppaction://hlinksldjump" r:id="rId4"/>
          </p:cNvPr>
          <p:cNvSpPr/>
          <p:nvPr/>
        </p:nvSpPr>
        <p:spPr>
          <a:xfrm>
            <a:off x="3931920" y="6053328"/>
            <a:ext cx="1691639" cy="36576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12700" bIns="12700"/>
          <a:lstStyle/>
          <a:p>
            <a:pPr algn="ctr"/>
            <a:r>
              <a:rPr sz="1050" b="1">
                <a:solidFill>
                  <a:srgbClr val="5B3E83"/>
                </a:solidFill>
                <a:latin typeface="Inter"/>
              </a:rPr>
              <a:t>⌂  Menú (dia 2)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8321040" y="6053328"/>
            <a:ext cx="3383280" cy="36576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850" b="0" i="1">
                <a:solidFill>
                  <a:srgbClr val="6A6E78"/>
                </a:solidFill>
                <a:latin typeface="Inter"/>
              </a:rPr>
              <a:t>Noodroute (§5): werkt zonder audio/internet</a:t>
            </a:r>
          </a:p>
        </p:txBody>
      </p:sp>
      <p:sp>
        <p:nvSpPr>
          <p:cNvPr id="34" name="Rounded Rectangle 33"/>
          <p:cNvSpPr/>
          <p:nvPr/>
        </p:nvSpPr>
        <p:spPr>
          <a:xfrm>
            <a:off x="457200" y="5120640"/>
            <a:ext cx="11247120" cy="594360"/>
          </a:xfrm>
          <a:prstGeom prst="roundRect">
            <a:avLst>
              <a:gd name="adj" fmla="val 6000"/>
            </a:avLst>
          </a:prstGeom>
          <a:solidFill>
            <a:srgbClr val="EEE8F5"/>
          </a:solidFill>
          <a:ln w="19050">
            <a:solidFill>
              <a:srgbClr val="7C56A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27000" rIns="127000" tIns="139700" bIns="76200"/>
          <a:lstStyle/>
          <a:p>
            <a:pPr algn="ctr">
              <a:lnSpc>
                <a:spcPct val="102000"/>
              </a:lnSpc>
              <a:spcBef>
                <a:spcPts val="0"/>
              </a:spcBef>
              <a:spcAft>
                <a:spcPts val="300"/>
              </a:spcAft>
            </a:pPr>
            <a:r>
              <a:rPr sz="1200" b="1" i="0">
                <a:solidFill>
                  <a:srgbClr val="5B3E83"/>
                </a:solidFill>
                <a:latin typeface="Inter"/>
              </a:rPr>
              <a:t>Modelo: </a:t>
            </a:r>
            <a:r>
              <a:rPr sz="1200" b="0" i="0">
                <a:solidFill>
                  <a:srgbClr val="5B3E83"/>
                </a:solidFill>
                <a:latin typeface="Inter"/>
              </a:rPr>
              <a:t>«Este finde voy a quedar con Diego. Le escribo para invitarlo. Acabo de crear el grupo. Creo que va a ser genial porque hace tiempo que no nos vemos.»</a:t>
            </a:r>
          </a:p>
        </p:txBody>
      </p:sp>
      <p:sp>
        <p:nvSpPr>
          <p:cNvPr id="35" name="Rounded Rectangle 34"/>
          <p:cNvSpPr/>
          <p:nvPr/>
        </p:nvSpPr>
        <p:spPr>
          <a:xfrm>
            <a:off x="594360" y="4992624"/>
            <a:ext cx="1380743" cy="292608"/>
          </a:xfrm>
          <a:prstGeom prst="roundRect">
            <a:avLst>
              <a:gd name="adj" fmla="val 50000"/>
            </a:avLst>
          </a:prstGeom>
          <a:solidFill>
            <a:srgbClr val="7C56A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88900" rIns="88900" tIns="12700" bIns="12700"/>
          <a:lstStyle/>
          <a:p>
            <a:pPr algn="ctr"/>
            <a:r>
              <a:rPr sz="950" b="1">
                <a:solidFill>
                  <a:srgbClr val="FFFFFF"/>
                </a:solidFill>
                <a:latin typeface="Inter"/>
              </a:rPr>
              <a:t>MODELO · docent</a:t>
            </a:r>
          </a:p>
        </p:txBody>
      </p:sp>
      <p:sp>
        <p:nvSpPr>
          <p:cNvPr id="36" name="Rectangle 35"/>
          <p:cNvSpPr/>
          <p:nvPr/>
        </p:nvSpPr>
        <p:spPr>
          <a:xfrm>
            <a:off x="0" y="6547104"/>
            <a:ext cx="12191695" cy="310896"/>
          </a:xfrm>
          <a:prstGeom prst="rect">
            <a:avLst/>
          </a:prstGeom>
          <a:solidFill>
            <a:srgbClr val="F3EE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411480" y="6565392"/>
            <a:ext cx="548640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1" i="0">
                <a:solidFill>
                  <a:srgbClr val="7C56A9"/>
                </a:solidFill>
                <a:latin typeface="Inter"/>
              </a:rPr>
              <a:t>● </a:t>
            </a:r>
            <a:r>
              <a:rPr sz="950" b="0" i="0">
                <a:solidFill>
                  <a:srgbClr val="6A6E78"/>
                </a:solidFill>
                <a:latin typeface="Inter"/>
              </a:rPr>
              <a:t>U3 · CONECTADOS   ·   C6+ · conectados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8686800" y="6565392"/>
            <a:ext cx="306324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900" b="0" i="1">
                <a:solidFill>
                  <a:srgbClr val="6A6E78"/>
                </a:solidFill>
                <a:latin typeface="Inter"/>
              </a:rPr>
              <a:t>Docentenversie — met oplossingen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11475720" y="6565392"/>
            <a:ext cx="45720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950" b="1" i="0">
                <a:solidFill>
                  <a:srgbClr val="5B3E83"/>
                </a:solidFill>
                <a:latin typeface="Inter"/>
              </a:rPr>
              <a:t>13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500"/>
                                        <p:tgtEl>
                                          <p:spTgt spid="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CFB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78992"/>
          </a:xfrm>
          <a:prstGeom prst="rect">
            <a:avLst/>
          </a:prstGeom>
          <a:solidFill>
            <a:srgbClr val="7C56A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78992"/>
            <a:ext cx="12191695" cy="54864"/>
          </a:xfrm>
          <a:prstGeom prst="rect">
            <a:avLst/>
          </a:prstGeom>
          <a:solidFill>
            <a:srgbClr val="5B3E8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502920" y="182880"/>
            <a:ext cx="1801367" cy="292608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88900" rIns="88900" tIns="12700" bIns="12700"/>
          <a:lstStyle/>
          <a:p>
            <a:pPr algn="ctr"/>
            <a:r>
              <a:rPr sz="1100" b="1">
                <a:solidFill>
                  <a:srgbClr val="7C56A9"/>
                </a:solidFill>
                <a:latin typeface="Inter"/>
              </a:rPr>
              <a:t>WRITING · PRODUCCIÓN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424160" y="-137160"/>
            <a:ext cx="1737360" cy="137160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8800" b="1" i="0">
                <a:solidFill>
                  <a:srgbClr val="FFFFFF"/>
                </a:solidFill>
                <a:latin typeface="Bricolage Grotesque"/>
              </a:rPr>
              <a:t>2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457200"/>
            <a:ext cx="9692640" cy="5029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2700" b="1" i="0">
                <a:solidFill>
                  <a:srgbClr val="FFFFFF"/>
                </a:solidFill>
                <a:latin typeface="Bricolage Grotesque"/>
              </a:rPr>
              <a:t>Mi plan de fin de semana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02920" y="932688"/>
            <a:ext cx="9692640" cy="27432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50" b="0" i="1">
                <a:solidFill>
                  <a:srgbClr val="EEE8F5"/>
                </a:solidFill>
                <a:latin typeface="Inter"/>
              </a:rPr>
              <a:t>Schrijf je weekendplan-chat. Klik → een modeltekst verschijnt.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57200" y="1554480"/>
            <a:ext cx="5486400" cy="356616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5240">
            <a:solidFill>
              <a:srgbClr val="E4E3DE"/>
            </a:solidFill>
          </a:ln>
          <a:effectLst>
            <a:outerShdw blurRad="90000" dist="38000" dir="5400000" rotWithShape="0">
              <a:srgbClr val="20242E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40080" y="1691640"/>
            <a:ext cx="5120640" cy="36576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1" i="0">
                <a:solidFill>
                  <a:srgbClr val="5B3E83"/>
                </a:solidFill>
                <a:latin typeface="Inter"/>
              </a:rPr>
              <a:t>✍️ Escribe tu chat de planes:</a:t>
            </a:r>
          </a:p>
        </p:txBody>
      </p:sp>
      <p:sp>
        <p:nvSpPr>
          <p:cNvPr id="11" name="Rectangle 10"/>
          <p:cNvSpPr/>
          <p:nvPr/>
        </p:nvSpPr>
        <p:spPr>
          <a:xfrm>
            <a:off x="640080" y="2194560"/>
            <a:ext cx="5120640" cy="9144"/>
          </a:xfrm>
          <a:prstGeom prst="rect">
            <a:avLst/>
          </a:prstGeom>
          <a:solidFill>
            <a:srgbClr val="E4E3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640080" y="2651760"/>
            <a:ext cx="5120640" cy="9144"/>
          </a:xfrm>
          <a:prstGeom prst="rect">
            <a:avLst/>
          </a:prstGeom>
          <a:solidFill>
            <a:srgbClr val="E4E3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640080" y="3108960"/>
            <a:ext cx="5120640" cy="9144"/>
          </a:xfrm>
          <a:prstGeom prst="rect">
            <a:avLst/>
          </a:prstGeom>
          <a:solidFill>
            <a:srgbClr val="E4E3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640080" y="3566160"/>
            <a:ext cx="5120640" cy="9144"/>
          </a:xfrm>
          <a:prstGeom prst="rect">
            <a:avLst/>
          </a:prstGeom>
          <a:solidFill>
            <a:srgbClr val="E4E3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640080" y="4023360"/>
            <a:ext cx="5120640" cy="9144"/>
          </a:xfrm>
          <a:prstGeom prst="rect">
            <a:avLst/>
          </a:prstGeom>
          <a:solidFill>
            <a:srgbClr val="E4E3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640080" y="4480560"/>
            <a:ext cx="5120640" cy="9144"/>
          </a:xfrm>
          <a:prstGeom prst="rect">
            <a:avLst/>
          </a:prstGeom>
          <a:solidFill>
            <a:srgbClr val="E4E3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309360" y="1554480"/>
            <a:ext cx="5486400" cy="36576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1" i="0">
                <a:solidFill>
                  <a:srgbClr val="5B3E83"/>
                </a:solidFill>
                <a:latin typeface="Bricolage Grotesque"/>
              </a:rPr>
              <a:t>Checklist: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309360" y="2011680"/>
            <a:ext cx="5486400" cy="36576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0" i="0">
                <a:solidFill>
                  <a:srgbClr val="20242E"/>
                </a:solidFill>
                <a:latin typeface="Inter"/>
              </a:rPr>
              <a:t>☐  3–4 planes (ir a + infinitivo + a)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309360" y="2423160"/>
            <a:ext cx="5486400" cy="36576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0" i="0">
                <a:solidFill>
                  <a:srgbClr val="20242E"/>
                </a:solidFill>
                <a:latin typeface="Inter"/>
              </a:rPr>
              <a:t>☐  una expresión de tiempo (este finde…)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309360" y="2834640"/>
            <a:ext cx="5486400" cy="36576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0" i="0">
                <a:solidFill>
                  <a:srgbClr val="20242E"/>
                </a:solidFill>
                <a:latin typeface="Inter"/>
              </a:rPr>
              <a:t>☐  a quién escribes (le/les)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309360" y="3246120"/>
            <a:ext cx="5486400" cy="36576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0" i="0">
                <a:solidFill>
                  <a:srgbClr val="20242E"/>
                </a:solidFill>
                <a:latin typeface="Inter"/>
              </a:rPr>
              <a:t>☐  algo que acabas de hacer (acabar de)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309360" y="3657600"/>
            <a:ext cx="5486400" cy="36576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0" i="0">
                <a:solidFill>
                  <a:srgbClr val="20242E"/>
                </a:solidFill>
                <a:latin typeface="Inter"/>
              </a:rPr>
              <a:t>☐  una opinión (creo que… porque)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309360" y="4069080"/>
            <a:ext cx="5486400" cy="36576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0" i="0">
                <a:solidFill>
                  <a:srgbClr val="20242E"/>
                </a:solidFill>
                <a:latin typeface="Inter"/>
              </a:rPr>
              <a:t>☐  6–8 mensajes de chat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6309360" y="3977639"/>
            <a:ext cx="5486400" cy="1143000"/>
          </a:xfrm>
          <a:prstGeom prst="roundRect">
            <a:avLst>
              <a:gd name="adj" fmla="val 5500"/>
            </a:avLst>
          </a:prstGeom>
          <a:solidFill>
            <a:srgbClr val="EEE8F5"/>
          </a:solidFill>
          <a:ln w="15240">
            <a:solidFill>
              <a:srgbClr val="7C56A9"/>
            </a:solidFill>
          </a:ln>
          <a:effectLst>
            <a:outerShdw blurRad="90000" dist="38000" dir="5400000" rotWithShape="0">
              <a:srgbClr val="20242E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6446520" y="4023360"/>
            <a:ext cx="5212080" cy="109728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13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1" i="0">
                <a:solidFill>
                  <a:srgbClr val="5B3E83"/>
                </a:solidFill>
                <a:latin typeface="Inter"/>
              </a:rPr>
              <a:t>Modelo: </a:t>
            </a:r>
            <a:r>
              <a:rPr sz="1100" b="0" i="1">
                <a:solidFill>
                  <a:srgbClr val="20242E"/>
                </a:solidFill>
                <a:latin typeface="Inter"/>
              </a:rPr>
              <a:t>«¡Hola! Este finde voy a quedar con Diego. Le escribo para invitarlo y les mando la hora a los demás. Acabo de crear el grupo. Creo que va a ser un finde genial porque vamos a ver la final.»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457200" y="6053328"/>
            <a:ext cx="2093976" cy="365760"/>
          </a:xfrm>
          <a:prstGeom prst="roundRect">
            <a:avLst>
              <a:gd name="adj" fmla="val 50000"/>
            </a:avLst>
          </a:prstGeom>
          <a:solidFill>
            <a:srgbClr val="7C56A9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12700" bIns="12700"/>
          <a:lstStyle/>
          <a:p>
            <a:pPr algn="ctr"/>
            <a:r>
              <a:rPr sz="1050" b="1">
                <a:solidFill>
                  <a:srgbClr val="FFFFFF"/>
                </a:solidFill>
                <a:latin typeface="Inter"/>
              </a:rPr>
              <a:t>▶  Mostrar solución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2697480" y="6053328"/>
            <a:ext cx="1088136" cy="36576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12700" bIns="12700"/>
          <a:lstStyle/>
          <a:p>
            <a:pPr algn="ctr"/>
            <a:r>
              <a:rPr sz="1050" b="1">
                <a:solidFill>
                  <a:srgbClr val="5B3E83"/>
                </a:solidFill>
                <a:latin typeface="Inter"/>
              </a:rPr>
              <a:t>⏭  Saltar</a:t>
            </a:r>
          </a:p>
        </p:txBody>
      </p:sp>
      <p:sp>
        <p:nvSpPr>
          <p:cNvPr id="28" name="Rounded Rectangle 27">
            <a:hlinkClick action="ppaction://hlinksldjump" r:id="rId3"/>
          </p:cNvPr>
          <p:cNvSpPr/>
          <p:nvPr/>
        </p:nvSpPr>
        <p:spPr>
          <a:xfrm>
            <a:off x="3931920" y="6053328"/>
            <a:ext cx="1691639" cy="36576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12700" bIns="12700"/>
          <a:lstStyle/>
          <a:p>
            <a:pPr algn="ctr"/>
            <a:r>
              <a:rPr sz="1050" b="1">
                <a:solidFill>
                  <a:srgbClr val="5B3E83"/>
                </a:solidFill>
                <a:latin typeface="Inter"/>
              </a:rPr>
              <a:t>⌂  Menú (dia 2)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8321040" y="6053328"/>
            <a:ext cx="3383280" cy="36576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850" b="0" i="1">
                <a:solidFill>
                  <a:srgbClr val="6A6E78"/>
                </a:solidFill>
                <a:latin typeface="Inter"/>
              </a:rPr>
              <a:t>Noodroute (§5): werkt zonder audio/internet</a:t>
            </a:r>
          </a:p>
        </p:txBody>
      </p:sp>
      <p:sp>
        <p:nvSpPr>
          <p:cNvPr id="30" name="Rectangle 29"/>
          <p:cNvSpPr/>
          <p:nvPr/>
        </p:nvSpPr>
        <p:spPr>
          <a:xfrm>
            <a:off x="0" y="6547104"/>
            <a:ext cx="12191695" cy="310896"/>
          </a:xfrm>
          <a:prstGeom prst="rect">
            <a:avLst/>
          </a:prstGeom>
          <a:solidFill>
            <a:srgbClr val="F3EE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411480" y="6565392"/>
            <a:ext cx="548640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1" i="0">
                <a:solidFill>
                  <a:srgbClr val="7C56A9"/>
                </a:solidFill>
                <a:latin typeface="Inter"/>
              </a:rPr>
              <a:t>● </a:t>
            </a:r>
            <a:r>
              <a:rPr sz="950" b="0" i="0">
                <a:solidFill>
                  <a:srgbClr val="6A6E78"/>
                </a:solidFill>
                <a:latin typeface="Inter"/>
              </a:rPr>
              <a:t>U3 · CONECTADOS   ·   C6+ · conectados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8686800" y="6565392"/>
            <a:ext cx="306324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900" b="0" i="1">
                <a:solidFill>
                  <a:srgbClr val="6A6E78"/>
                </a:solidFill>
                <a:latin typeface="Inter"/>
              </a:rPr>
              <a:t>Docentenversie — met oplossingen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11475720" y="6565392"/>
            <a:ext cx="45720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950" b="1" i="0">
                <a:solidFill>
                  <a:srgbClr val="5B3E83"/>
                </a:solidFill>
                <a:latin typeface="Inter"/>
              </a:rPr>
              <a:t>14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CFB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78992"/>
          </a:xfrm>
          <a:prstGeom prst="rect">
            <a:avLst/>
          </a:prstGeom>
          <a:solidFill>
            <a:srgbClr val="7C56A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78992"/>
            <a:ext cx="12191695" cy="54864"/>
          </a:xfrm>
          <a:prstGeom prst="rect">
            <a:avLst/>
          </a:prstGeom>
          <a:solidFill>
            <a:srgbClr val="5B3E8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502920" y="182880"/>
            <a:ext cx="1464868" cy="292608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88900" rIns="88900" tIns="12700" bIns="12700"/>
          <a:lstStyle/>
          <a:p>
            <a:pPr algn="ctr"/>
            <a:r>
              <a:rPr sz="1100" b="1">
                <a:solidFill>
                  <a:srgbClr val="7C56A9"/>
                </a:solidFill>
                <a:latin typeface="Inter"/>
              </a:rPr>
              <a:t>§5 · VOCABULARIO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424160" y="-137160"/>
            <a:ext cx="1737360" cy="137160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8800" b="1" i="0">
                <a:solidFill>
                  <a:srgbClr val="FFFFFF"/>
                </a:solidFill>
                <a:latin typeface="Bricolage Grotesque"/>
              </a:rPr>
              <a:t>5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457200"/>
            <a:ext cx="9692640" cy="5029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2700" b="1" i="0">
                <a:solidFill>
                  <a:srgbClr val="FFFFFF"/>
                </a:solidFill>
                <a:latin typeface="Bricolage Grotesque"/>
              </a:rPr>
              <a:t>Comunicar y hacer planes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02920" y="932688"/>
            <a:ext cx="9692640" cy="27432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50" b="0" i="1">
                <a:solidFill>
                  <a:srgbClr val="EEE8F5"/>
                </a:solidFill>
                <a:latin typeface="Inter"/>
              </a:rPr>
              <a:t>Klik een kaart → la respuesta. Bouw je woordnetwerk.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57200" y="1554480"/>
            <a:ext cx="2743200" cy="64008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566928" y="1554480"/>
            <a:ext cx="1645920" cy="64008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1" i="0">
                <a:solidFill>
                  <a:srgbClr val="20242E"/>
                </a:solidFill>
                <a:latin typeface="Inter"/>
              </a:rPr>
              <a:t>escribir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2148840" y="1554480"/>
            <a:ext cx="960120" cy="64008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0" i="0">
                <a:solidFill>
                  <a:srgbClr val="7C56A9"/>
                </a:solidFill>
                <a:latin typeface="Inter"/>
              </a:rPr>
              <a:t>→ schrijven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291840" y="1554480"/>
            <a:ext cx="2743200" cy="64008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3401568" y="1554480"/>
            <a:ext cx="1645920" cy="64008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1" i="0">
                <a:solidFill>
                  <a:srgbClr val="20242E"/>
                </a:solidFill>
                <a:latin typeface="Inter"/>
              </a:rPr>
              <a:t>mandar / enviar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983480" y="1554480"/>
            <a:ext cx="960120" cy="64008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0" i="0">
                <a:solidFill>
                  <a:srgbClr val="7C56A9"/>
                </a:solidFill>
                <a:latin typeface="Inter"/>
              </a:rPr>
              <a:t>→ sturen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126480" y="1554480"/>
            <a:ext cx="2743200" cy="64008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236208" y="1554480"/>
            <a:ext cx="1645920" cy="64008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1" i="0">
                <a:solidFill>
                  <a:srgbClr val="20242E"/>
                </a:solidFill>
                <a:latin typeface="Inter"/>
              </a:rPr>
              <a:t>llamar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818120" y="1554480"/>
            <a:ext cx="960120" cy="64008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0" i="0">
                <a:solidFill>
                  <a:srgbClr val="7C56A9"/>
                </a:solidFill>
                <a:latin typeface="Inter"/>
              </a:rPr>
              <a:t>→ bellen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8961120" y="1554480"/>
            <a:ext cx="2743200" cy="64008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9070848" y="1554480"/>
            <a:ext cx="1645920" cy="64008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1" i="0">
                <a:solidFill>
                  <a:srgbClr val="20242E"/>
                </a:solidFill>
                <a:latin typeface="Inter"/>
              </a:rPr>
              <a:t>contestar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0652760" y="1554480"/>
            <a:ext cx="960120" cy="64008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0" i="0">
                <a:solidFill>
                  <a:srgbClr val="7C56A9"/>
                </a:solidFill>
                <a:latin typeface="Inter"/>
              </a:rPr>
              <a:t>→ antwoorden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457200" y="2322576"/>
            <a:ext cx="2743200" cy="64008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566928" y="2322576"/>
            <a:ext cx="1645920" cy="64008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1" i="0">
                <a:solidFill>
                  <a:srgbClr val="20242E"/>
                </a:solidFill>
                <a:latin typeface="Inter"/>
              </a:rPr>
              <a:t>contar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2148840" y="2322576"/>
            <a:ext cx="960120" cy="64008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0" i="0">
                <a:solidFill>
                  <a:srgbClr val="7C56A9"/>
                </a:solidFill>
                <a:latin typeface="Inter"/>
              </a:rPr>
              <a:t>→ vertellen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3291840" y="2322576"/>
            <a:ext cx="2743200" cy="64008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3401568" y="2322576"/>
            <a:ext cx="1645920" cy="64008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1" i="0">
                <a:solidFill>
                  <a:srgbClr val="20242E"/>
                </a:solidFill>
                <a:latin typeface="Inter"/>
              </a:rPr>
              <a:t>preguntar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4983480" y="2322576"/>
            <a:ext cx="960120" cy="64008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0" i="0">
                <a:solidFill>
                  <a:srgbClr val="7C56A9"/>
                </a:solidFill>
                <a:latin typeface="Inter"/>
              </a:rPr>
              <a:t>→ vragen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6126480" y="2322576"/>
            <a:ext cx="2743200" cy="64008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6236208" y="2322576"/>
            <a:ext cx="1645920" cy="64008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1" i="0">
                <a:solidFill>
                  <a:srgbClr val="20242E"/>
                </a:solidFill>
                <a:latin typeface="Inter"/>
              </a:rPr>
              <a:t>quedar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7818120" y="2322576"/>
            <a:ext cx="960120" cy="64008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0" i="0">
                <a:solidFill>
                  <a:srgbClr val="7C56A9"/>
                </a:solidFill>
                <a:latin typeface="Inter"/>
              </a:rPr>
              <a:t>→ afspreken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8961120" y="2322576"/>
            <a:ext cx="2743200" cy="64008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9070848" y="2322576"/>
            <a:ext cx="1645920" cy="64008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1" i="0">
                <a:solidFill>
                  <a:srgbClr val="20242E"/>
                </a:solidFill>
                <a:latin typeface="Inter"/>
              </a:rPr>
              <a:t>salir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10652760" y="2322576"/>
            <a:ext cx="960120" cy="64008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0" i="0">
                <a:solidFill>
                  <a:srgbClr val="7C56A9"/>
                </a:solidFill>
                <a:latin typeface="Inter"/>
              </a:rPr>
              <a:t>→ uitgaan</a:t>
            </a:r>
          </a:p>
        </p:txBody>
      </p:sp>
      <p:sp>
        <p:nvSpPr>
          <p:cNvPr id="33" name="Rounded Rectangle 32"/>
          <p:cNvSpPr/>
          <p:nvPr/>
        </p:nvSpPr>
        <p:spPr>
          <a:xfrm>
            <a:off x="457200" y="3090672"/>
            <a:ext cx="2743200" cy="64008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566928" y="3090672"/>
            <a:ext cx="1645920" cy="64008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1" i="0">
                <a:solidFill>
                  <a:srgbClr val="20242E"/>
                </a:solidFill>
                <a:latin typeface="Inter"/>
              </a:rPr>
              <a:t>hacer planes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2148840" y="3090672"/>
            <a:ext cx="960120" cy="64008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0" i="0">
                <a:solidFill>
                  <a:srgbClr val="7C56A9"/>
                </a:solidFill>
                <a:latin typeface="Inter"/>
              </a:rPr>
              <a:t>→ plannen maken</a:t>
            </a:r>
          </a:p>
        </p:txBody>
      </p:sp>
      <p:sp>
        <p:nvSpPr>
          <p:cNvPr id="36" name="Rounded Rectangle 35"/>
          <p:cNvSpPr/>
          <p:nvPr/>
        </p:nvSpPr>
        <p:spPr>
          <a:xfrm>
            <a:off x="3291840" y="3090672"/>
            <a:ext cx="2743200" cy="64008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3401568" y="3090672"/>
            <a:ext cx="1645920" cy="64008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1" i="0">
                <a:solidFill>
                  <a:srgbClr val="20242E"/>
                </a:solidFill>
                <a:latin typeface="Inter"/>
              </a:rPr>
              <a:t>¿quedamos?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983480" y="3090672"/>
            <a:ext cx="960120" cy="64008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0" i="0">
                <a:solidFill>
                  <a:srgbClr val="7C56A9"/>
                </a:solidFill>
                <a:latin typeface="Inter"/>
              </a:rPr>
              <a:t>→ spreken we af?</a:t>
            </a:r>
          </a:p>
        </p:txBody>
      </p:sp>
      <p:sp>
        <p:nvSpPr>
          <p:cNvPr id="39" name="Rounded Rectangle 38"/>
          <p:cNvSpPr/>
          <p:nvPr/>
        </p:nvSpPr>
        <p:spPr>
          <a:xfrm>
            <a:off x="6126480" y="3090672"/>
            <a:ext cx="2743200" cy="64008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6236208" y="3090672"/>
            <a:ext cx="1645920" cy="64008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1" i="0">
                <a:solidFill>
                  <a:srgbClr val="20242E"/>
                </a:solidFill>
                <a:latin typeface="Inter"/>
              </a:rPr>
              <a:t>¿a qué hora?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7818120" y="3090672"/>
            <a:ext cx="960120" cy="64008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0" i="0">
                <a:solidFill>
                  <a:srgbClr val="7C56A9"/>
                </a:solidFill>
                <a:latin typeface="Inter"/>
              </a:rPr>
              <a:t>→ hoe laat?</a:t>
            </a:r>
          </a:p>
        </p:txBody>
      </p:sp>
      <p:sp>
        <p:nvSpPr>
          <p:cNvPr id="42" name="Rounded Rectangle 41"/>
          <p:cNvSpPr/>
          <p:nvPr/>
        </p:nvSpPr>
        <p:spPr>
          <a:xfrm>
            <a:off x="8961120" y="3090672"/>
            <a:ext cx="2743200" cy="64008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9070848" y="3090672"/>
            <a:ext cx="1645920" cy="64008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1" i="0">
                <a:solidFill>
                  <a:srgbClr val="20242E"/>
                </a:solidFill>
                <a:latin typeface="Inter"/>
              </a:rPr>
              <a:t>nos vemos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10652760" y="3090672"/>
            <a:ext cx="960120" cy="64008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0" i="0">
                <a:solidFill>
                  <a:srgbClr val="7C56A9"/>
                </a:solidFill>
                <a:latin typeface="Inter"/>
              </a:rPr>
              <a:t>→ tot dan</a:t>
            </a:r>
          </a:p>
        </p:txBody>
      </p:sp>
      <p:sp>
        <p:nvSpPr>
          <p:cNvPr id="45" name="Rounded Rectangle 44"/>
          <p:cNvSpPr/>
          <p:nvPr/>
        </p:nvSpPr>
        <p:spPr>
          <a:xfrm>
            <a:off x="457200" y="6053328"/>
            <a:ext cx="2093976" cy="365760"/>
          </a:xfrm>
          <a:prstGeom prst="roundRect">
            <a:avLst>
              <a:gd name="adj" fmla="val 50000"/>
            </a:avLst>
          </a:prstGeom>
          <a:solidFill>
            <a:srgbClr val="7C56A9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12700" bIns="12700"/>
          <a:lstStyle/>
          <a:p>
            <a:pPr algn="ctr"/>
            <a:r>
              <a:rPr sz="1050" b="1">
                <a:solidFill>
                  <a:srgbClr val="FFFFFF"/>
                </a:solidFill>
                <a:latin typeface="Inter"/>
              </a:rPr>
              <a:t>▶  Mostrar solución</a:t>
            </a:r>
          </a:p>
        </p:txBody>
      </p:sp>
      <p:sp>
        <p:nvSpPr>
          <p:cNvPr id="46" name="Rounded Rectangle 45"/>
          <p:cNvSpPr/>
          <p:nvPr/>
        </p:nvSpPr>
        <p:spPr>
          <a:xfrm>
            <a:off x="2697480" y="6053328"/>
            <a:ext cx="1088136" cy="36576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12700" bIns="12700"/>
          <a:lstStyle/>
          <a:p>
            <a:pPr algn="ctr"/>
            <a:r>
              <a:rPr sz="1050" b="1">
                <a:solidFill>
                  <a:srgbClr val="5B3E83"/>
                </a:solidFill>
                <a:latin typeface="Inter"/>
              </a:rPr>
              <a:t>⏭  Saltar</a:t>
            </a:r>
          </a:p>
        </p:txBody>
      </p:sp>
      <p:sp>
        <p:nvSpPr>
          <p:cNvPr id="47" name="Rounded Rectangle 46">
            <a:hlinkClick action="ppaction://hlinksldjump" r:id="rId3"/>
          </p:cNvPr>
          <p:cNvSpPr/>
          <p:nvPr/>
        </p:nvSpPr>
        <p:spPr>
          <a:xfrm>
            <a:off x="3931920" y="6053328"/>
            <a:ext cx="1691639" cy="36576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12700" bIns="12700"/>
          <a:lstStyle/>
          <a:p>
            <a:pPr algn="ctr"/>
            <a:r>
              <a:rPr sz="1050" b="1">
                <a:solidFill>
                  <a:srgbClr val="5B3E83"/>
                </a:solidFill>
                <a:latin typeface="Inter"/>
              </a:rPr>
              <a:t>⌂  Menú (dia 2)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8321040" y="6053328"/>
            <a:ext cx="3383280" cy="36576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850" b="0" i="1">
                <a:solidFill>
                  <a:srgbClr val="6A6E78"/>
                </a:solidFill>
                <a:latin typeface="Inter"/>
              </a:rPr>
              <a:t>Noodroute (§5): werkt zonder audio/internet</a:t>
            </a:r>
          </a:p>
        </p:txBody>
      </p:sp>
      <p:sp>
        <p:nvSpPr>
          <p:cNvPr id="49" name="Rounded Rectangle 48"/>
          <p:cNvSpPr/>
          <p:nvPr/>
        </p:nvSpPr>
        <p:spPr>
          <a:xfrm>
            <a:off x="457200" y="4572000"/>
            <a:ext cx="11247120" cy="822960"/>
          </a:xfrm>
          <a:prstGeom prst="roundRect">
            <a:avLst>
              <a:gd name="adj" fmla="val 6000"/>
            </a:avLst>
          </a:prstGeom>
          <a:solidFill>
            <a:srgbClr val="EEE8F5"/>
          </a:solidFill>
          <a:ln w="19050">
            <a:solidFill>
              <a:srgbClr val="7C56A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27000" rIns="127000" tIns="139700" bIns="76200"/>
          <a:lstStyle/>
          <a:p>
            <a:pPr algn="ctr">
              <a:lnSpc>
                <a:spcPct val="102000"/>
              </a:lnSpc>
              <a:spcBef>
                <a:spcPts val="0"/>
              </a:spcBef>
              <a:spcAft>
                <a:spcPts val="300"/>
              </a:spcAft>
            </a:pPr>
            <a:r>
              <a:rPr sz="1200" b="1" i="0">
                <a:solidFill>
                  <a:srgbClr val="5B3E83"/>
                </a:solidFill>
                <a:latin typeface="Inter"/>
              </a:rPr>
              <a:t>Chunks para quedar: </a:t>
            </a:r>
            <a:r>
              <a:rPr sz="1200" b="0" i="0">
                <a:solidFill>
                  <a:srgbClr val="5B3E83"/>
                </a:solidFill>
                <a:latin typeface="Inter"/>
              </a:rPr>
              <a:t>¿Quedamos el sábado? · ¿A qué hora? · ¿Dónde? · Vale, nos vemos.</a:t>
            </a:r>
          </a:p>
          <a:p>
            <a:pPr>
              <a:lnSpc>
                <a:spcPct val="102000"/>
              </a:lnSpc>
              <a:spcBef>
                <a:spcPts val="0"/>
              </a:spcBef>
              <a:spcAft>
                <a:spcPts val="300"/>
              </a:spcAft>
            </a:pPr>
            <a:r>
              <a:rPr sz="1200" b="0" i="0">
                <a:solidFill>
                  <a:srgbClr val="5B3E83"/>
                </a:solidFill>
                <a:latin typeface="Inter"/>
              </a:rPr>
              <a:t>Verbos + le/les: escribir/mandar/decir/contar/preguntar/regalar a alguien.</a:t>
            </a:r>
          </a:p>
        </p:txBody>
      </p:sp>
      <p:sp>
        <p:nvSpPr>
          <p:cNvPr id="50" name="Rounded Rectangle 49"/>
          <p:cNvSpPr/>
          <p:nvPr/>
        </p:nvSpPr>
        <p:spPr>
          <a:xfrm>
            <a:off x="594360" y="4443984"/>
            <a:ext cx="1548993" cy="292608"/>
          </a:xfrm>
          <a:prstGeom prst="roundRect">
            <a:avLst>
              <a:gd name="adj" fmla="val 50000"/>
            </a:avLst>
          </a:prstGeom>
          <a:solidFill>
            <a:srgbClr val="7C56A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88900" rIns="88900" tIns="12700" bIns="12700"/>
          <a:lstStyle/>
          <a:p>
            <a:pPr algn="ctr"/>
            <a:r>
              <a:rPr sz="950" b="1">
                <a:solidFill>
                  <a:srgbClr val="FFFFFF"/>
                </a:solidFill>
                <a:latin typeface="Inter"/>
              </a:rPr>
              <a:t>SOLUCIÓN · docent</a:t>
            </a:r>
          </a:p>
        </p:txBody>
      </p:sp>
      <p:sp>
        <p:nvSpPr>
          <p:cNvPr id="51" name="Rectangle 50"/>
          <p:cNvSpPr/>
          <p:nvPr/>
        </p:nvSpPr>
        <p:spPr>
          <a:xfrm>
            <a:off x="0" y="6547104"/>
            <a:ext cx="12191695" cy="310896"/>
          </a:xfrm>
          <a:prstGeom prst="rect">
            <a:avLst/>
          </a:prstGeom>
          <a:solidFill>
            <a:srgbClr val="F3EE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" name="TextBox 51"/>
          <p:cNvSpPr txBox="1"/>
          <p:nvPr/>
        </p:nvSpPr>
        <p:spPr>
          <a:xfrm>
            <a:off x="411480" y="6565392"/>
            <a:ext cx="548640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1" i="0">
                <a:solidFill>
                  <a:srgbClr val="7C56A9"/>
                </a:solidFill>
                <a:latin typeface="Inter"/>
              </a:rPr>
              <a:t>● </a:t>
            </a:r>
            <a:r>
              <a:rPr sz="950" b="0" i="0">
                <a:solidFill>
                  <a:srgbClr val="6A6E78"/>
                </a:solidFill>
                <a:latin typeface="Inter"/>
              </a:rPr>
              <a:t>U3 · CONECTADOS   ·   C6+ · conectados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8686800" y="6565392"/>
            <a:ext cx="306324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900" b="0" i="1">
                <a:solidFill>
                  <a:srgbClr val="6A6E78"/>
                </a:solidFill>
                <a:latin typeface="Inter"/>
              </a:rPr>
              <a:t>Docentenversie — met oplossingen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11475720" y="6565392"/>
            <a:ext cx="45720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950" b="1" i="0">
                <a:solidFill>
                  <a:srgbClr val="5B3E83"/>
                </a:solidFill>
                <a:latin typeface="Inter"/>
              </a:rPr>
              <a:t>15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5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5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5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5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50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50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50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500"/>
                                        <p:tgtEl>
                                          <p:spTgt spid="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500"/>
                                        <p:tgtEl>
                                          <p:spTgt spid="3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500"/>
                                        <p:tgtEl>
                                          <p:spTgt spid="4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8" fill="hold">
                      <p:stCondLst>
                        <p:cond delay="indefinite"/>
                      </p:stCondLst>
                      <p:childTnLst>
                        <p:par>
                          <p:cTn id="59" fill="hold">
                            <p:stCondLst>
                              <p:cond delay="0"/>
                            </p:stCondLst>
                            <p:childTnLst>
                              <p:par>
                                <p:cTn id="6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2" dur="500"/>
                                        <p:tgtEl>
                                          <p:spTgt spid="4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3" fill="hold">
                      <p:stCondLst>
                        <p:cond delay="indefinite"/>
                      </p:stCondLst>
                      <p:childTnLst>
                        <p:par>
                          <p:cTn id="64" fill="hold">
                            <p:stCondLst>
                              <p:cond delay="0"/>
                            </p:stCondLst>
                            <p:childTnLst>
                              <p:par>
                                <p:cTn id="6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7" dur="500"/>
                                        <p:tgtEl>
                                          <p:spTgt spid="4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8" fill="hold">
                      <p:stCondLst>
                        <p:cond delay="indefinite"/>
                      </p:stCondLst>
                      <p:childTnLst>
                        <p:par>
                          <p:cTn id="69" fill="hold">
                            <p:stCondLst>
                              <p:cond delay="0"/>
                            </p:stCondLst>
                            <p:childTnLst>
                              <p:par>
                                <p:cTn id="7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2" dur="500"/>
                                        <p:tgtEl>
                                          <p:spTgt spid="5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CFB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78992"/>
          </a:xfrm>
          <a:prstGeom prst="rect">
            <a:avLst/>
          </a:prstGeom>
          <a:solidFill>
            <a:srgbClr val="7C56A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78992"/>
            <a:ext cx="12191695" cy="54864"/>
          </a:xfrm>
          <a:prstGeom prst="rect">
            <a:avLst/>
          </a:prstGeom>
          <a:solidFill>
            <a:srgbClr val="5B3E8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502920" y="182880"/>
            <a:ext cx="1464868" cy="292608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88900" rIns="88900" tIns="12700" bIns="12700"/>
          <a:lstStyle/>
          <a:p>
            <a:pPr algn="ctr"/>
            <a:r>
              <a:rPr sz="1100" b="1">
                <a:solidFill>
                  <a:srgbClr val="7C56A9"/>
                </a:solidFill>
                <a:latin typeface="Inter"/>
              </a:rPr>
              <a:t>TALLER DE LENGUA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424160" y="-137160"/>
            <a:ext cx="1737360" cy="137160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8800" b="1" i="0">
                <a:solidFill>
                  <a:srgbClr val="FFFFFF"/>
                </a:solidFill>
                <a:latin typeface="Bricolage Grotesque"/>
              </a:rPr>
              <a:t>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457200"/>
            <a:ext cx="9692640" cy="5029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2700" b="1" i="0">
                <a:solidFill>
                  <a:srgbClr val="FFFFFF"/>
                </a:solidFill>
                <a:latin typeface="Bricolage Grotesque"/>
              </a:rPr>
              <a:t>c/z/qu + conectores de tiempo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02920" y="932688"/>
            <a:ext cx="9692640" cy="27432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50" b="0" i="1">
                <a:solidFill>
                  <a:srgbClr val="EEE8F5"/>
                </a:solidFill>
                <a:latin typeface="Inter"/>
              </a:rPr>
              <a:t>Klik een item → correcte vorm. Gereedschap voor spelling en volgorde.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1371600"/>
            <a:ext cx="5486400" cy="32004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1" i="0">
                <a:solidFill>
                  <a:srgbClr val="5B3E83"/>
                </a:solidFill>
                <a:latin typeface="Bricolage Grotesque"/>
              </a:rPr>
              <a:t>A · ortografía: c / z / qu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57200" y="1783080"/>
            <a:ext cx="5486400" cy="54864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66928" y="1783080"/>
            <a:ext cx="2377440" cy="54864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0" i="0">
                <a:solidFill>
                  <a:srgbClr val="20242E"/>
                </a:solidFill>
                <a:latin typeface="Inter"/>
              </a:rPr>
              <a:t>la _ontraseña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017520" y="1783080"/>
            <a:ext cx="2834640" cy="54864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1" i="0">
                <a:solidFill>
                  <a:srgbClr val="5B3E83"/>
                </a:solidFill>
                <a:latin typeface="Inter"/>
              </a:rPr>
              <a:t>→ contraseña (c)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57200" y="2441448"/>
            <a:ext cx="5486400" cy="54864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566928" y="2441448"/>
            <a:ext cx="2377440" cy="54864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0" i="0">
                <a:solidFill>
                  <a:srgbClr val="20242E"/>
                </a:solidFill>
                <a:latin typeface="Inter"/>
              </a:rPr>
              <a:t>_edar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017520" y="2441448"/>
            <a:ext cx="2834640" cy="54864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1" i="0">
                <a:solidFill>
                  <a:srgbClr val="5B3E83"/>
                </a:solidFill>
                <a:latin typeface="Inter"/>
              </a:rPr>
              <a:t>→ quedar (qu)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457200" y="3099816"/>
            <a:ext cx="5486400" cy="54864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566928" y="3099816"/>
            <a:ext cx="2377440" cy="54864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0" i="0">
                <a:solidFill>
                  <a:srgbClr val="20242E"/>
                </a:solidFill>
                <a:latin typeface="Inter"/>
              </a:rPr>
              <a:t>el _umo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3017520" y="3099816"/>
            <a:ext cx="2834640" cy="54864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1" i="0">
                <a:solidFill>
                  <a:srgbClr val="5B3E83"/>
                </a:solidFill>
                <a:latin typeface="Inter"/>
              </a:rPr>
              <a:t>→ zumo (z)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457200" y="3758184"/>
            <a:ext cx="5486400" cy="54864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566928" y="3758184"/>
            <a:ext cx="2377440" cy="54864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0" i="0">
                <a:solidFill>
                  <a:srgbClr val="20242E"/>
                </a:solidFill>
                <a:latin typeface="Inter"/>
              </a:rPr>
              <a:t>la músi_a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3017520" y="3758184"/>
            <a:ext cx="2834640" cy="54864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1" i="0">
                <a:solidFill>
                  <a:srgbClr val="5B3E83"/>
                </a:solidFill>
                <a:latin typeface="Inter"/>
              </a:rPr>
              <a:t>→ música (c)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309360" y="1371600"/>
            <a:ext cx="5486400" cy="32004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1" i="0">
                <a:solidFill>
                  <a:srgbClr val="5B3E83"/>
                </a:solidFill>
                <a:latin typeface="Bricolage Grotesque"/>
              </a:rPr>
              <a:t>B · conectores: ordena tu plan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6309360" y="1783080"/>
            <a:ext cx="5394960" cy="54864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6419088" y="1783080"/>
            <a:ext cx="2377440" cy="54864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1" i="0">
                <a:solidFill>
                  <a:srgbClr val="20242E"/>
                </a:solidFill>
                <a:latin typeface="Inter"/>
              </a:rPr>
              <a:t>primero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8869680" y="1783080"/>
            <a:ext cx="2743200" cy="54864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0" i="0">
                <a:solidFill>
                  <a:srgbClr val="5B3E83"/>
                </a:solidFill>
                <a:latin typeface="Inter"/>
              </a:rPr>
              <a:t>→ eerst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6309360" y="2441448"/>
            <a:ext cx="5394960" cy="54864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6419088" y="2441448"/>
            <a:ext cx="2377440" cy="54864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1" i="0">
                <a:solidFill>
                  <a:srgbClr val="20242E"/>
                </a:solidFill>
                <a:latin typeface="Inter"/>
              </a:rPr>
              <a:t>después / luego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8869680" y="2441448"/>
            <a:ext cx="2743200" cy="54864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0" i="0">
                <a:solidFill>
                  <a:srgbClr val="5B3E83"/>
                </a:solidFill>
                <a:latin typeface="Inter"/>
              </a:rPr>
              <a:t>→ daarna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6309360" y="3099816"/>
            <a:ext cx="5394960" cy="54864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6419088" y="3099816"/>
            <a:ext cx="2377440" cy="54864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1" i="0">
                <a:solidFill>
                  <a:srgbClr val="20242E"/>
                </a:solidFill>
                <a:latin typeface="Inter"/>
              </a:rPr>
              <a:t>más tarde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8869680" y="3099816"/>
            <a:ext cx="2743200" cy="54864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0" i="0">
                <a:solidFill>
                  <a:srgbClr val="5B3E83"/>
                </a:solidFill>
                <a:latin typeface="Inter"/>
              </a:rPr>
              <a:t>→ later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6309360" y="3758184"/>
            <a:ext cx="5394960" cy="54864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6419088" y="3758184"/>
            <a:ext cx="2377440" cy="54864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1" i="0">
                <a:solidFill>
                  <a:srgbClr val="20242E"/>
                </a:solidFill>
                <a:latin typeface="Inter"/>
              </a:rPr>
              <a:t>al final / por último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8869680" y="3758184"/>
            <a:ext cx="2743200" cy="54864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0" i="0">
                <a:solidFill>
                  <a:srgbClr val="5B3E83"/>
                </a:solidFill>
                <a:latin typeface="Inter"/>
              </a:rPr>
              <a:t>→ ten slotte</a:t>
            </a:r>
          </a:p>
        </p:txBody>
      </p:sp>
      <p:sp>
        <p:nvSpPr>
          <p:cNvPr id="35" name="Rounded Rectangle 34"/>
          <p:cNvSpPr/>
          <p:nvPr/>
        </p:nvSpPr>
        <p:spPr>
          <a:xfrm>
            <a:off x="457200" y="6053328"/>
            <a:ext cx="2093976" cy="365760"/>
          </a:xfrm>
          <a:prstGeom prst="roundRect">
            <a:avLst>
              <a:gd name="adj" fmla="val 50000"/>
            </a:avLst>
          </a:prstGeom>
          <a:solidFill>
            <a:srgbClr val="7C56A9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12700" bIns="12700"/>
          <a:lstStyle/>
          <a:p>
            <a:pPr algn="ctr"/>
            <a:r>
              <a:rPr sz="1050" b="1">
                <a:solidFill>
                  <a:srgbClr val="FFFFFF"/>
                </a:solidFill>
                <a:latin typeface="Inter"/>
              </a:rPr>
              <a:t>▶  Mostrar solución</a:t>
            </a:r>
          </a:p>
        </p:txBody>
      </p:sp>
      <p:sp>
        <p:nvSpPr>
          <p:cNvPr id="36" name="Rounded Rectangle 35"/>
          <p:cNvSpPr/>
          <p:nvPr/>
        </p:nvSpPr>
        <p:spPr>
          <a:xfrm>
            <a:off x="2697480" y="6053328"/>
            <a:ext cx="1088136" cy="36576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12700" bIns="12700"/>
          <a:lstStyle/>
          <a:p>
            <a:pPr algn="ctr"/>
            <a:r>
              <a:rPr sz="1050" b="1">
                <a:solidFill>
                  <a:srgbClr val="5B3E83"/>
                </a:solidFill>
                <a:latin typeface="Inter"/>
              </a:rPr>
              <a:t>⏭  Saltar</a:t>
            </a:r>
          </a:p>
        </p:txBody>
      </p:sp>
      <p:sp>
        <p:nvSpPr>
          <p:cNvPr id="37" name="Rounded Rectangle 36">
            <a:hlinkClick action="ppaction://hlinksldjump" r:id="rId3"/>
          </p:cNvPr>
          <p:cNvSpPr/>
          <p:nvPr/>
        </p:nvSpPr>
        <p:spPr>
          <a:xfrm>
            <a:off x="3931920" y="6053328"/>
            <a:ext cx="1691639" cy="36576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12700" bIns="12700"/>
          <a:lstStyle/>
          <a:p>
            <a:pPr algn="ctr"/>
            <a:r>
              <a:rPr sz="1050" b="1">
                <a:solidFill>
                  <a:srgbClr val="5B3E83"/>
                </a:solidFill>
                <a:latin typeface="Inter"/>
              </a:rPr>
              <a:t>⌂  Menú (dia 2)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8321040" y="6053328"/>
            <a:ext cx="3383280" cy="36576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850" b="0" i="1">
                <a:solidFill>
                  <a:srgbClr val="6A6E78"/>
                </a:solidFill>
                <a:latin typeface="Inter"/>
              </a:rPr>
              <a:t>Noodroute (§5): werkt zonder audio/internet</a:t>
            </a:r>
          </a:p>
        </p:txBody>
      </p:sp>
      <p:sp>
        <p:nvSpPr>
          <p:cNvPr id="39" name="Rounded Rectangle 38"/>
          <p:cNvSpPr/>
          <p:nvPr/>
        </p:nvSpPr>
        <p:spPr>
          <a:xfrm>
            <a:off x="457200" y="4572000"/>
            <a:ext cx="11247120" cy="777240"/>
          </a:xfrm>
          <a:prstGeom prst="roundRect">
            <a:avLst>
              <a:gd name="adj" fmla="val 6000"/>
            </a:avLst>
          </a:prstGeom>
          <a:solidFill>
            <a:srgbClr val="EEE8F5"/>
          </a:solidFill>
          <a:ln w="19050">
            <a:solidFill>
              <a:srgbClr val="7C56A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27000" rIns="127000" tIns="139700" bIns="76200"/>
          <a:lstStyle/>
          <a:p>
            <a:pPr algn="ctr">
              <a:lnSpc>
                <a:spcPct val="102000"/>
              </a:lnSpc>
              <a:spcBef>
                <a:spcPts val="0"/>
              </a:spcBef>
              <a:spcAft>
                <a:spcPts val="300"/>
              </a:spcAft>
            </a:pPr>
            <a:r>
              <a:rPr sz="1200" b="1" i="0">
                <a:solidFill>
                  <a:srgbClr val="5B3E83"/>
                </a:solidFill>
                <a:latin typeface="Inter"/>
              </a:rPr>
              <a:t>A: </a:t>
            </a:r>
            <a:r>
              <a:rPr sz="1200" b="0" i="0">
                <a:solidFill>
                  <a:srgbClr val="5B3E83"/>
                </a:solidFill>
                <a:latin typeface="Inter"/>
              </a:rPr>
              <a:t>/k/ = c (a/o/u) of qu (e/i): contraseña, quedar · /θ/ = z (a/o/u) of c (e/i): zumo, música.</a:t>
            </a:r>
          </a:p>
          <a:p>
            <a:pPr>
              <a:lnSpc>
                <a:spcPct val="102000"/>
              </a:lnSpc>
              <a:spcBef>
                <a:spcPts val="0"/>
              </a:spcBef>
              <a:spcAft>
                <a:spcPts val="300"/>
              </a:spcAft>
            </a:pPr>
            <a:r>
              <a:rPr sz="1200" b="0" i="0">
                <a:solidFill>
                  <a:srgbClr val="5B3E83"/>
                </a:solidFill>
                <a:latin typeface="Inter"/>
              </a:rPr>
              <a:t>B: primero → después/luego → más tarde → al final. Zo orden je je weekendplan.</a:t>
            </a:r>
          </a:p>
        </p:txBody>
      </p:sp>
      <p:sp>
        <p:nvSpPr>
          <p:cNvPr id="40" name="Rounded Rectangle 39"/>
          <p:cNvSpPr/>
          <p:nvPr/>
        </p:nvSpPr>
        <p:spPr>
          <a:xfrm>
            <a:off x="594360" y="4443984"/>
            <a:ext cx="1548993" cy="292608"/>
          </a:xfrm>
          <a:prstGeom prst="roundRect">
            <a:avLst>
              <a:gd name="adj" fmla="val 50000"/>
            </a:avLst>
          </a:prstGeom>
          <a:solidFill>
            <a:srgbClr val="7C56A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88900" rIns="88900" tIns="12700" bIns="12700"/>
          <a:lstStyle/>
          <a:p>
            <a:pPr algn="ctr"/>
            <a:r>
              <a:rPr sz="950" b="1">
                <a:solidFill>
                  <a:srgbClr val="FFFFFF"/>
                </a:solidFill>
                <a:latin typeface="Inter"/>
              </a:rPr>
              <a:t>SOLUCIÓN · docent</a:t>
            </a:r>
          </a:p>
        </p:txBody>
      </p:sp>
      <p:sp>
        <p:nvSpPr>
          <p:cNvPr id="41" name="Rectangle 40"/>
          <p:cNvSpPr/>
          <p:nvPr/>
        </p:nvSpPr>
        <p:spPr>
          <a:xfrm>
            <a:off x="0" y="6547104"/>
            <a:ext cx="12191695" cy="310896"/>
          </a:xfrm>
          <a:prstGeom prst="rect">
            <a:avLst/>
          </a:prstGeom>
          <a:solidFill>
            <a:srgbClr val="F3EE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411480" y="6565392"/>
            <a:ext cx="548640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1" i="0">
                <a:solidFill>
                  <a:srgbClr val="7C56A9"/>
                </a:solidFill>
                <a:latin typeface="Inter"/>
              </a:rPr>
              <a:t>● </a:t>
            </a:r>
            <a:r>
              <a:rPr sz="950" b="0" i="0">
                <a:solidFill>
                  <a:srgbClr val="6A6E78"/>
                </a:solidFill>
                <a:latin typeface="Inter"/>
              </a:rPr>
              <a:t>U3 · CONECTADOS   ·   C6+ · conectados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8686800" y="6565392"/>
            <a:ext cx="306324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900" b="0" i="1">
                <a:solidFill>
                  <a:srgbClr val="6A6E78"/>
                </a:solidFill>
                <a:latin typeface="Inter"/>
              </a:rPr>
              <a:t>Docentenversie — met oplossingen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11475720" y="6565392"/>
            <a:ext cx="45720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950" b="1" i="0">
                <a:solidFill>
                  <a:srgbClr val="5B3E83"/>
                </a:solidFill>
                <a:latin typeface="Inter"/>
              </a:rPr>
              <a:t>16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5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5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5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5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50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50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500"/>
                                        <p:tgtEl>
                                          <p:spTgt spid="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500"/>
                                        <p:tgtEl>
                                          <p:spTgt spid="3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500"/>
                                        <p:tgtEl>
                                          <p:spTgt spid="4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CFB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78992"/>
          </a:xfrm>
          <a:prstGeom prst="rect">
            <a:avLst/>
          </a:prstGeom>
          <a:solidFill>
            <a:srgbClr val="7C56A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78992"/>
            <a:ext cx="12191695" cy="54864"/>
          </a:xfrm>
          <a:prstGeom prst="rect">
            <a:avLst/>
          </a:prstGeom>
          <a:solidFill>
            <a:srgbClr val="5B3E8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502920" y="182880"/>
            <a:ext cx="2137867" cy="292608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88900" rIns="88900" tIns="12700" bIns="12700"/>
          <a:lstStyle/>
          <a:p>
            <a:pPr algn="ctr"/>
            <a:r>
              <a:rPr sz="1100" b="1">
                <a:solidFill>
                  <a:srgbClr val="7C56A9"/>
                </a:solidFill>
                <a:latin typeface="Inter"/>
              </a:rPr>
              <a:t>CULTURA · PARADA 3: CDMX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424160" y="-137160"/>
            <a:ext cx="1737360" cy="137160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8800" b="1" i="0">
                <a:solidFill>
                  <a:srgbClr val="FFFFFF"/>
                </a:solidFill>
                <a:latin typeface="Bricolage Grotesque"/>
              </a:rPr>
              <a:t>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457200"/>
            <a:ext cx="9692640" cy="5029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2700" b="1" i="0">
                <a:solidFill>
                  <a:srgbClr val="FFFFFF"/>
                </a:solidFill>
                <a:latin typeface="Bricolage Grotesque"/>
              </a:rPr>
              <a:t>El mundo digital hispano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02920" y="932688"/>
            <a:ext cx="9692640" cy="27432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50" b="0" i="1">
                <a:solidFill>
                  <a:srgbClr val="EEE8F5"/>
                </a:solidFill>
                <a:latin typeface="Inter"/>
              </a:rPr>
              <a:t>Klik een kaart → het weetje. Música, WhatsApp y el español online.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57200" y="1554480"/>
            <a:ext cx="3703320" cy="310896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6510">
            <a:solidFill>
              <a:srgbClr val="7C56A9"/>
            </a:solidFill>
          </a:ln>
          <a:effectLst>
            <a:outerShdw blurRad="90000" dist="38000" dir="5400000" rotWithShape="0">
              <a:srgbClr val="20242E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457200" y="1554480"/>
            <a:ext cx="3703320" cy="548640"/>
          </a:xfrm>
          <a:prstGeom prst="rect">
            <a:avLst/>
          </a:prstGeom>
          <a:solidFill>
            <a:srgbClr val="EEE8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94360" y="1554480"/>
            <a:ext cx="3429000" cy="54864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1" i="0">
                <a:solidFill>
                  <a:srgbClr val="5B3E83"/>
                </a:solidFill>
                <a:latin typeface="Bricolage Grotesque"/>
              </a:rPr>
              <a:t>🎵 El reguetón manda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40080" y="2286000"/>
            <a:ext cx="3337560" cy="173736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0" i="0">
                <a:solidFill>
                  <a:srgbClr val="20242E"/>
                </a:solidFill>
                <a:latin typeface="Inter"/>
              </a:rPr>
              <a:t>Artiesten als Bad Bunny (Puerto Rico) en Karol G (Colombia) breken streamingrecords op Spotify en YouTube. Het Spaans klinkt wereldwijd.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40080" y="4069080"/>
            <a:ext cx="3337560" cy="54864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200"/>
              </a:spcAft>
            </a:pPr>
            <a:r>
              <a:rPr sz="1050" b="0" i="1">
                <a:solidFill>
                  <a:srgbClr val="6A6E78"/>
                </a:solidFill>
                <a:latin typeface="Inter"/>
              </a:rPr>
              <a:t>Diego lo escucha cada día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4279392" y="1554480"/>
            <a:ext cx="3703320" cy="310896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6510">
            <a:solidFill>
              <a:srgbClr val="7C56A9"/>
            </a:solidFill>
          </a:ln>
          <a:effectLst>
            <a:outerShdw blurRad="90000" dist="38000" dir="5400000" rotWithShape="0">
              <a:srgbClr val="20242E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4279392" y="1554480"/>
            <a:ext cx="3703320" cy="548640"/>
          </a:xfrm>
          <a:prstGeom prst="rect">
            <a:avLst/>
          </a:prstGeom>
          <a:solidFill>
            <a:srgbClr val="EEE8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4416552" y="1554480"/>
            <a:ext cx="3429000" cy="54864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1" i="0">
                <a:solidFill>
                  <a:srgbClr val="5B3E83"/>
                </a:solidFill>
                <a:latin typeface="Bricolage Grotesque"/>
              </a:rPr>
              <a:t>💬 WhatsApp, la red nº 1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462272" y="2286000"/>
            <a:ext cx="3337560" cy="173736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0" i="0">
                <a:solidFill>
                  <a:srgbClr val="20242E"/>
                </a:solidFill>
                <a:latin typeface="Inter"/>
              </a:rPr>
              <a:t>In veel Latijns-Amerikaanse landen is WhatsApp dé manier om te communiceren — met familie, vrienden én winkels.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462272" y="4069080"/>
            <a:ext cx="3337560" cy="54864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200"/>
              </a:spcAft>
            </a:pPr>
            <a:r>
              <a:rPr sz="1050" b="0" i="1">
                <a:solidFill>
                  <a:srgbClr val="6A6E78"/>
                </a:solidFill>
                <a:latin typeface="Inter"/>
              </a:rPr>
              <a:t>«Te mando un audio»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8101584" y="1554480"/>
            <a:ext cx="3703320" cy="310896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6510">
            <a:solidFill>
              <a:srgbClr val="7C56A9"/>
            </a:solidFill>
          </a:ln>
          <a:effectLst>
            <a:outerShdw blurRad="90000" dist="38000" dir="5400000" rotWithShape="0">
              <a:srgbClr val="20242E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8101584" y="1554480"/>
            <a:ext cx="3703320" cy="548640"/>
          </a:xfrm>
          <a:prstGeom prst="rect">
            <a:avLst/>
          </a:prstGeom>
          <a:solidFill>
            <a:srgbClr val="EEE8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8238744" y="1554480"/>
            <a:ext cx="3429000" cy="54864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1" i="0">
                <a:solidFill>
                  <a:srgbClr val="5B3E83"/>
                </a:solidFill>
                <a:latin typeface="Bricolage Grotesque"/>
              </a:rPr>
              <a:t>🌐 El español en internet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284464" y="2286000"/>
            <a:ext cx="3337560" cy="173736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0" i="0">
                <a:solidFill>
                  <a:srgbClr val="20242E"/>
                </a:solidFill>
                <a:latin typeface="Inter"/>
              </a:rPr>
              <a:t>Het Spaans is de tweede taal op sociale media na het Engels. Meer dan 500 miljoen sprekers.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284464" y="4069080"/>
            <a:ext cx="3337560" cy="54864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200"/>
              </a:spcAft>
            </a:pPr>
            <a:r>
              <a:rPr sz="1050" b="0" i="1">
                <a:solidFill>
                  <a:srgbClr val="6A6E78"/>
                </a:solidFill>
                <a:latin typeface="Inter"/>
              </a:rPr>
              <a:t>tu feed habla español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457200" y="6053328"/>
            <a:ext cx="2093976" cy="365760"/>
          </a:xfrm>
          <a:prstGeom prst="roundRect">
            <a:avLst>
              <a:gd name="adj" fmla="val 50000"/>
            </a:avLst>
          </a:prstGeom>
          <a:solidFill>
            <a:srgbClr val="7C56A9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12700" bIns="12700"/>
          <a:lstStyle/>
          <a:p>
            <a:pPr algn="ctr"/>
            <a:r>
              <a:rPr sz="1050" b="1">
                <a:solidFill>
                  <a:srgbClr val="FFFFFF"/>
                </a:solidFill>
                <a:latin typeface="Inter"/>
              </a:rPr>
              <a:t>▶  Mostrar solución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2697480" y="6053328"/>
            <a:ext cx="1088136" cy="36576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12700" bIns="12700"/>
          <a:lstStyle/>
          <a:p>
            <a:pPr algn="ctr"/>
            <a:r>
              <a:rPr sz="1050" b="1">
                <a:solidFill>
                  <a:srgbClr val="5B3E83"/>
                </a:solidFill>
                <a:latin typeface="Inter"/>
              </a:rPr>
              <a:t>⏭  Saltar</a:t>
            </a:r>
          </a:p>
        </p:txBody>
      </p:sp>
      <p:sp>
        <p:nvSpPr>
          <p:cNvPr id="26" name="Rounded Rectangle 25">
            <a:hlinkClick action="ppaction://hlinksldjump" r:id="rId3"/>
          </p:cNvPr>
          <p:cNvSpPr/>
          <p:nvPr/>
        </p:nvSpPr>
        <p:spPr>
          <a:xfrm>
            <a:off x="3931920" y="6053328"/>
            <a:ext cx="1691639" cy="36576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12700" bIns="12700"/>
          <a:lstStyle/>
          <a:p>
            <a:pPr algn="ctr"/>
            <a:r>
              <a:rPr sz="1050" b="1">
                <a:solidFill>
                  <a:srgbClr val="5B3E83"/>
                </a:solidFill>
                <a:latin typeface="Inter"/>
              </a:rPr>
              <a:t>⌂  Menú (dia 2)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8321040" y="6053328"/>
            <a:ext cx="3383280" cy="36576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850" b="0" i="1">
                <a:solidFill>
                  <a:srgbClr val="6A6E78"/>
                </a:solidFill>
                <a:latin typeface="Inter"/>
              </a:rPr>
              <a:t>Noodroute (§5): werkt zonder audio/internet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457200" y="4892040"/>
            <a:ext cx="11247120" cy="548640"/>
          </a:xfrm>
          <a:prstGeom prst="roundRect">
            <a:avLst>
              <a:gd name="adj" fmla="val 6000"/>
            </a:avLst>
          </a:prstGeom>
          <a:solidFill>
            <a:srgbClr val="EEE8F5"/>
          </a:solidFill>
          <a:ln w="19050">
            <a:solidFill>
              <a:srgbClr val="7C56A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27000" rIns="127000" tIns="139700" bIns="76200"/>
          <a:lstStyle/>
          <a:p>
            <a:pPr algn="ctr">
              <a:lnSpc>
                <a:spcPct val="102000"/>
              </a:lnSpc>
              <a:spcBef>
                <a:spcPts val="0"/>
              </a:spcBef>
              <a:spcAft>
                <a:spcPts val="300"/>
              </a:spcAft>
            </a:pPr>
            <a:r>
              <a:rPr sz="1200" b="1" i="0">
                <a:solidFill>
                  <a:srgbClr val="5B3E83"/>
                </a:solidFill>
                <a:latin typeface="Inter"/>
              </a:rPr>
              <a:t>Actividad: </a:t>
            </a:r>
            <a:r>
              <a:rPr sz="1200" b="0" i="0">
                <a:solidFill>
                  <a:srgbClr val="5B3E83"/>
                </a:solidFill>
                <a:latin typeface="Inter"/>
              </a:rPr>
              <a:t>¿qué redes/música hispana conoces? Da tu opinión: «Creo que… porque…».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594360" y="4764024"/>
            <a:ext cx="1548993" cy="292608"/>
          </a:xfrm>
          <a:prstGeom prst="roundRect">
            <a:avLst>
              <a:gd name="adj" fmla="val 50000"/>
            </a:avLst>
          </a:prstGeom>
          <a:solidFill>
            <a:srgbClr val="7C56A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88900" rIns="88900" tIns="12700" bIns="12700"/>
          <a:lstStyle/>
          <a:p>
            <a:pPr algn="ctr"/>
            <a:r>
              <a:rPr sz="950" b="1">
                <a:solidFill>
                  <a:srgbClr val="FFFFFF"/>
                </a:solidFill>
                <a:latin typeface="Inter"/>
              </a:rPr>
              <a:t>SOLUCIÓN · docent</a:t>
            </a:r>
          </a:p>
        </p:txBody>
      </p:sp>
      <p:sp>
        <p:nvSpPr>
          <p:cNvPr id="30" name="Rectangle 29"/>
          <p:cNvSpPr/>
          <p:nvPr/>
        </p:nvSpPr>
        <p:spPr>
          <a:xfrm>
            <a:off x="0" y="6547104"/>
            <a:ext cx="12191695" cy="310896"/>
          </a:xfrm>
          <a:prstGeom prst="rect">
            <a:avLst/>
          </a:prstGeom>
          <a:solidFill>
            <a:srgbClr val="F3EE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411480" y="6565392"/>
            <a:ext cx="548640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1" i="0">
                <a:solidFill>
                  <a:srgbClr val="7C56A9"/>
                </a:solidFill>
                <a:latin typeface="Inter"/>
              </a:rPr>
              <a:t>● </a:t>
            </a:r>
            <a:r>
              <a:rPr sz="950" b="0" i="0">
                <a:solidFill>
                  <a:srgbClr val="6A6E78"/>
                </a:solidFill>
                <a:latin typeface="Inter"/>
              </a:rPr>
              <a:t>U3 · CONECTADOS   ·   C6+ · conectados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8686800" y="6565392"/>
            <a:ext cx="306324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900" b="0" i="1">
                <a:solidFill>
                  <a:srgbClr val="6A6E78"/>
                </a:solidFill>
                <a:latin typeface="Inter"/>
              </a:rPr>
              <a:t>Docentenversie — met oplossingen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11475720" y="6565392"/>
            <a:ext cx="45720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950" b="1" i="0">
                <a:solidFill>
                  <a:srgbClr val="5B3E83"/>
                </a:solidFill>
                <a:latin typeface="Inter"/>
              </a:rPr>
              <a:t>17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5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5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50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50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CFB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234440"/>
          </a:xfrm>
          <a:prstGeom prst="rect">
            <a:avLst/>
          </a:prstGeom>
          <a:solidFill>
            <a:srgbClr val="5B3E8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8229600" cy="91440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2700" b="1" i="0">
                <a:solidFill>
                  <a:srgbClr val="FFFFFF"/>
                </a:solidFill>
                <a:latin typeface="Bricolage Grotesque"/>
              </a:rPr>
              <a:t>📱 Tarea final · Mi plan de fin de semana</a:t>
            </a:r>
          </a:p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0" i="1">
                <a:solidFill>
                  <a:srgbClr val="EEE8F5"/>
                </a:solidFill>
                <a:latin typeface="Inter"/>
              </a:rPr>
              <a:t>Escribe un chat/post con tus planes, a quién escribes y tu opinión.</a:t>
            </a:r>
          </a:p>
        </p:txBody>
      </p:sp>
      <p:pic>
        <p:nvPicPr>
          <p:cNvPr id="5" name="Picture 4" descr="mochila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607040" y="182880"/>
            <a:ext cx="914400" cy="914400"/>
          </a:xfrm>
          <a:prstGeom prst="rect">
            <a:avLst/>
          </a:prstGeom>
        </p:spPr>
      </p:pic>
      <p:sp>
        <p:nvSpPr>
          <p:cNvPr id="6" name="Rounded Rectangle 5"/>
          <p:cNvSpPr/>
          <p:nvPr/>
        </p:nvSpPr>
        <p:spPr>
          <a:xfrm>
            <a:off x="457200" y="1554480"/>
            <a:ext cx="457200" cy="457200"/>
          </a:xfrm>
          <a:prstGeom prst="roundRect">
            <a:avLst>
              <a:gd name="adj" fmla="val 50000"/>
            </a:avLst>
          </a:prstGeom>
          <a:solidFill>
            <a:srgbClr val="7C56A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500" b="1">
                <a:solidFill>
                  <a:srgbClr val="FFFFFF"/>
                </a:solidFill>
                <a:latin typeface="Bricolage Grotesque"/>
              </a:rPr>
              <a:t>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97280" y="1554480"/>
            <a:ext cx="4023360" cy="5029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400" b="1" i="0">
                <a:solidFill>
                  <a:srgbClr val="5B3E83"/>
                </a:solidFill>
                <a:latin typeface="Bricolage Grotesque"/>
              </a:rPr>
              <a:t>Escribe 3–4 planes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212080" y="1554480"/>
            <a:ext cx="6400800" cy="5029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0" i="0">
                <a:solidFill>
                  <a:srgbClr val="20242E"/>
                </a:solidFill>
                <a:latin typeface="Inter"/>
              </a:rPr>
              <a:t>ir a + infinitivo + una expresión de tiempo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57200" y="2121408"/>
            <a:ext cx="457200" cy="457200"/>
          </a:xfrm>
          <a:prstGeom prst="roundRect">
            <a:avLst>
              <a:gd name="adj" fmla="val 50000"/>
            </a:avLst>
          </a:prstGeom>
          <a:solidFill>
            <a:srgbClr val="7C56A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500" b="1">
                <a:solidFill>
                  <a:srgbClr val="FFFFFF"/>
                </a:solidFill>
                <a:latin typeface="Bricolage Grotesque"/>
              </a:rPr>
              <a:t>2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97280" y="2121408"/>
            <a:ext cx="4023360" cy="5029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400" b="1" i="0">
                <a:solidFill>
                  <a:srgbClr val="5B3E83"/>
                </a:solidFill>
                <a:latin typeface="Bricolage Grotesque"/>
              </a:rPr>
              <a:t>Di a quién escribes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212080" y="2121408"/>
            <a:ext cx="6400800" cy="5029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0" i="0">
                <a:solidFill>
                  <a:srgbClr val="20242E"/>
                </a:solidFill>
                <a:latin typeface="Inter"/>
              </a:rPr>
              <a:t>«le escribo a Diego» · «les mando la hora»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457200" y="2688336"/>
            <a:ext cx="457200" cy="457200"/>
          </a:xfrm>
          <a:prstGeom prst="roundRect">
            <a:avLst>
              <a:gd name="adj" fmla="val 50000"/>
            </a:avLst>
          </a:prstGeom>
          <a:solidFill>
            <a:srgbClr val="7C56A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500" b="1">
                <a:solidFill>
                  <a:srgbClr val="FFFFFF"/>
                </a:solidFill>
                <a:latin typeface="Bricolage Grotesque"/>
              </a:rPr>
              <a:t>3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97280" y="2688336"/>
            <a:ext cx="4023360" cy="5029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400" b="1" i="0">
                <a:solidFill>
                  <a:srgbClr val="5B3E83"/>
                </a:solidFill>
                <a:latin typeface="Bricolage Grotesque"/>
              </a:rPr>
              <a:t>Añade algo reciente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212080" y="2688336"/>
            <a:ext cx="6400800" cy="5029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0" i="0">
                <a:solidFill>
                  <a:srgbClr val="20242E"/>
                </a:solidFill>
                <a:latin typeface="Inter"/>
              </a:rPr>
              <a:t>«acabo de crear el grupo»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457200" y="3255264"/>
            <a:ext cx="457200" cy="457200"/>
          </a:xfrm>
          <a:prstGeom prst="roundRect">
            <a:avLst>
              <a:gd name="adj" fmla="val 50000"/>
            </a:avLst>
          </a:prstGeom>
          <a:solidFill>
            <a:srgbClr val="7C56A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500" b="1">
                <a:solidFill>
                  <a:srgbClr val="FFFFFF"/>
                </a:solidFill>
                <a:latin typeface="Bricolage Grotesque"/>
              </a:rPr>
              <a:t>4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097280" y="3255264"/>
            <a:ext cx="4023360" cy="5029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400" b="1" i="0">
                <a:solidFill>
                  <a:srgbClr val="5B3E83"/>
                </a:solidFill>
                <a:latin typeface="Bricolage Grotesque"/>
              </a:rPr>
              <a:t>Da tu opinión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212080" y="3255264"/>
            <a:ext cx="6400800" cy="5029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0" i="0">
                <a:solidFill>
                  <a:srgbClr val="20242E"/>
                </a:solidFill>
                <a:latin typeface="Inter"/>
              </a:rPr>
              <a:t>«creo que va a ser genial porque…»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457200" y="3822192"/>
            <a:ext cx="457200" cy="457200"/>
          </a:xfrm>
          <a:prstGeom prst="roundRect">
            <a:avLst>
              <a:gd name="adj" fmla="val 50000"/>
            </a:avLst>
          </a:prstGeom>
          <a:solidFill>
            <a:srgbClr val="7C56A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500" b="1">
                <a:solidFill>
                  <a:srgbClr val="FFFFFF"/>
                </a:solidFill>
                <a:latin typeface="Bricolage Grotesque"/>
              </a:rPr>
              <a:t>5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097280" y="3822192"/>
            <a:ext cx="4023360" cy="5029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400" b="1" i="0">
                <a:solidFill>
                  <a:srgbClr val="5B3E83"/>
                </a:solidFill>
                <a:latin typeface="Bricolage Grotesque"/>
              </a:rPr>
              <a:t>Preséntalo y graba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5212080" y="3822192"/>
            <a:ext cx="6400800" cy="5029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0" i="0">
                <a:solidFill>
                  <a:srgbClr val="20242E"/>
                </a:solidFill>
                <a:latin typeface="Inter"/>
              </a:rPr>
              <a:t>en la web (recorder) — escúchate y mejora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57200" y="4572000"/>
            <a:ext cx="10972800" cy="32004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1" i="0">
                <a:solidFill>
                  <a:srgbClr val="5B3E83"/>
                </a:solidFill>
                <a:latin typeface="Bricolage Grotesque"/>
              </a:rPr>
              <a:t>Rúbrica · ¿lo logré?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457200" y="4983480"/>
            <a:ext cx="2788920" cy="292608"/>
          </a:xfrm>
          <a:prstGeom prst="roundRect">
            <a:avLst>
              <a:gd name="adj" fmla="val 50000"/>
            </a:avLst>
          </a:prstGeom>
          <a:solidFill>
            <a:srgbClr val="EEE8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88900" rIns="88900" tIns="12700" bIns="12700"/>
          <a:lstStyle/>
          <a:p>
            <a:pPr algn="ctr"/>
            <a:r>
              <a:rPr sz="1000" b="1">
                <a:solidFill>
                  <a:srgbClr val="5B3E83"/>
                </a:solidFill>
                <a:latin typeface="Inter"/>
              </a:rPr>
              <a:t>☐ ir a + inf. (+ a)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3337560" y="4983480"/>
            <a:ext cx="2788920" cy="292608"/>
          </a:xfrm>
          <a:prstGeom prst="roundRect">
            <a:avLst>
              <a:gd name="adj" fmla="val 50000"/>
            </a:avLst>
          </a:prstGeom>
          <a:solidFill>
            <a:srgbClr val="EEE8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88900" rIns="88900" tIns="12700" bIns="12700"/>
          <a:lstStyle/>
          <a:p>
            <a:pPr algn="ctr"/>
            <a:r>
              <a:rPr sz="1000" b="1">
                <a:solidFill>
                  <a:srgbClr val="5B3E83"/>
                </a:solidFill>
                <a:latin typeface="Inter"/>
              </a:rPr>
              <a:t>☐ le én les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6217920" y="4983480"/>
            <a:ext cx="2788920" cy="292608"/>
          </a:xfrm>
          <a:prstGeom prst="roundRect">
            <a:avLst>
              <a:gd name="adj" fmla="val 50000"/>
            </a:avLst>
          </a:prstGeom>
          <a:solidFill>
            <a:srgbClr val="EEE8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88900" rIns="88900" tIns="12700" bIns="12700"/>
          <a:lstStyle/>
          <a:p>
            <a:pPr algn="ctr"/>
            <a:r>
              <a:rPr sz="1000" b="1">
                <a:solidFill>
                  <a:srgbClr val="5B3E83"/>
                </a:solidFill>
                <a:latin typeface="Inter"/>
              </a:rPr>
              <a:t>☐ acabar de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9098280" y="4983480"/>
            <a:ext cx="2788920" cy="292608"/>
          </a:xfrm>
          <a:prstGeom prst="roundRect">
            <a:avLst>
              <a:gd name="adj" fmla="val 50000"/>
            </a:avLst>
          </a:prstGeom>
          <a:solidFill>
            <a:srgbClr val="EEE8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88900" rIns="88900" tIns="12700" bIns="12700"/>
          <a:lstStyle/>
          <a:p>
            <a:pPr algn="ctr"/>
            <a:r>
              <a:rPr sz="1000" b="1">
                <a:solidFill>
                  <a:srgbClr val="5B3E83"/>
                </a:solidFill>
                <a:latin typeface="Inter"/>
              </a:rPr>
              <a:t>☐ creo que + indicativo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457200" y="5532120"/>
            <a:ext cx="10972800" cy="36576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0" i="0">
                <a:solidFill>
                  <a:srgbClr val="20242E"/>
                </a:solidFill>
                <a:latin typeface="Inter"/>
              </a:rPr>
              <a:t>🎯 </a:t>
            </a:r>
            <a:r>
              <a:rPr sz="1150" b="0" i="1">
                <a:solidFill>
                  <a:srgbClr val="6A6E78"/>
                </a:solidFill>
                <a:latin typeface="Inter"/>
              </a:rPr>
              <a:t>Afzender jij · ontvanger de klasgroep · doel je plan delen · situatie een chat · resultaat: chat/post + presentación oral.</a:t>
            </a:r>
          </a:p>
        </p:txBody>
      </p:sp>
      <p:sp>
        <p:nvSpPr>
          <p:cNvPr id="27" name="Rectangle 26"/>
          <p:cNvSpPr/>
          <p:nvPr/>
        </p:nvSpPr>
        <p:spPr>
          <a:xfrm>
            <a:off x="0" y="6547104"/>
            <a:ext cx="12191695" cy="310896"/>
          </a:xfrm>
          <a:prstGeom prst="rect">
            <a:avLst/>
          </a:prstGeom>
          <a:solidFill>
            <a:srgbClr val="F3EE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411480" y="6565392"/>
            <a:ext cx="548640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1" i="0">
                <a:solidFill>
                  <a:srgbClr val="7C56A9"/>
                </a:solidFill>
                <a:latin typeface="Inter"/>
              </a:rPr>
              <a:t>● </a:t>
            </a:r>
            <a:r>
              <a:rPr sz="950" b="0" i="0">
                <a:solidFill>
                  <a:srgbClr val="6A6E78"/>
                </a:solidFill>
                <a:latin typeface="Inter"/>
              </a:rPr>
              <a:t>U3 · CONECTADOS   ·   C6+ · conectados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8686800" y="6565392"/>
            <a:ext cx="306324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900" b="0" i="1">
                <a:solidFill>
                  <a:srgbClr val="6A6E78"/>
                </a:solidFill>
                <a:latin typeface="Inter"/>
              </a:rPr>
              <a:t>Docentenversie — met oplossingen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11475720" y="6565392"/>
            <a:ext cx="45720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950" b="1" i="0">
                <a:solidFill>
                  <a:srgbClr val="5B3E83"/>
                </a:solidFill>
                <a:latin typeface="Inter"/>
              </a:rPr>
              <a:t>18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CFB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78992"/>
          </a:xfrm>
          <a:prstGeom prst="rect">
            <a:avLst/>
          </a:prstGeom>
          <a:solidFill>
            <a:srgbClr val="7C56A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78992"/>
            <a:ext cx="12191695" cy="54864"/>
          </a:xfrm>
          <a:prstGeom prst="rect">
            <a:avLst/>
          </a:prstGeom>
          <a:solidFill>
            <a:srgbClr val="5B3E8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502920" y="182880"/>
            <a:ext cx="1464868" cy="292608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88900" rIns="88900" tIns="12700" bIns="12700"/>
          <a:lstStyle/>
          <a:p>
            <a:pPr algn="ctr"/>
            <a:r>
              <a:rPr sz="1100" b="1">
                <a:solidFill>
                  <a:srgbClr val="7C56A9"/>
                </a:solidFill>
                <a:latin typeface="Inter"/>
              </a:rPr>
              <a:t>QUIZ · LA MEZCLA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424160" y="-137160"/>
            <a:ext cx="1737360" cy="137160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8800" b="1" i="0">
                <a:solidFill>
                  <a:srgbClr val="FFFFFF"/>
                </a:solidFill>
                <a:latin typeface="Bricolage Grotesque"/>
              </a:rPr>
              <a:t>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457200"/>
            <a:ext cx="9692640" cy="5029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2700" b="1" i="0">
                <a:solidFill>
                  <a:srgbClr val="FFFFFF"/>
                </a:solidFill>
                <a:latin typeface="Bricolage Grotesque"/>
              </a:rPr>
              <a:t>Ophaal door elkaar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02920" y="932688"/>
            <a:ext cx="9692640" cy="27432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50" b="0" i="1">
                <a:solidFill>
                  <a:srgbClr val="EEE8F5"/>
                </a:solidFill>
                <a:latin typeface="Inter"/>
              </a:rPr>
              <a:t>Gemengde ophaal van de hele unit. Klik → het antwoord. (retrieval)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57200" y="1600200"/>
            <a:ext cx="5532120" cy="566928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594360" y="1600200"/>
            <a:ext cx="3657600" cy="566928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0" i="0">
                <a:solidFill>
                  <a:srgbClr val="20242E"/>
                </a:solidFill>
                <a:latin typeface="Inter"/>
              </a:rPr>
              <a:t>Yo ___ subir un vídeo (ir a)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251960" y="1600200"/>
            <a:ext cx="1600200" cy="566928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1" i="0">
                <a:solidFill>
                  <a:srgbClr val="5B3E83"/>
                </a:solidFill>
                <a:latin typeface="Inter"/>
              </a:rPr>
              <a:t>→ voy a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457200" y="2313432"/>
            <a:ext cx="5532120" cy="566928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594360" y="2313432"/>
            <a:ext cx="3657600" cy="566928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0" i="0">
                <a:solidFill>
                  <a:srgbClr val="20242E"/>
                </a:solidFill>
                <a:latin typeface="Inter"/>
              </a:rPr>
              <a:t>«ik heb net gegeten» =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251960" y="2313432"/>
            <a:ext cx="1600200" cy="566928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1" i="0">
                <a:solidFill>
                  <a:srgbClr val="5B3E83"/>
                </a:solidFill>
                <a:latin typeface="Inter"/>
              </a:rPr>
              <a:t>→ acabo de comer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457200" y="3026664"/>
            <a:ext cx="5532120" cy="566928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594360" y="3026664"/>
            <a:ext cx="3657600" cy="566928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0" i="0">
                <a:solidFill>
                  <a:srgbClr val="20242E"/>
                </a:solidFill>
                <a:latin typeface="Inter"/>
              </a:rPr>
              <a:t>___ escribo a Diego (le/les)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251960" y="3026664"/>
            <a:ext cx="1600200" cy="566928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1" i="0">
                <a:solidFill>
                  <a:srgbClr val="5B3E83"/>
                </a:solidFill>
                <a:latin typeface="Inter"/>
              </a:rPr>
              <a:t>→ le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457200" y="3739896"/>
            <a:ext cx="5532120" cy="566928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594360" y="3739896"/>
            <a:ext cx="3657600" cy="566928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0" i="0">
                <a:solidFill>
                  <a:srgbClr val="20242E"/>
                </a:solidFill>
                <a:latin typeface="Inter"/>
              </a:rPr>
              <a:t>___ mando fotos a mis amigos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251960" y="3739896"/>
            <a:ext cx="1600200" cy="566928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1" i="0">
                <a:solidFill>
                  <a:srgbClr val="5B3E83"/>
                </a:solidFill>
                <a:latin typeface="Inter"/>
              </a:rPr>
              <a:t>→ les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6172200" y="1600200"/>
            <a:ext cx="5532120" cy="566928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309360" y="1600200"/>
            <a:ext cx="3657600" cy="566928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0" i="0">
                <a:solidFill>
                  <a:srgbClr val="20242E"/>
                </a:solidFill>
                <a:latin typeface="Inter"/>
              </a:rPr>
              <a:t>Creo que las redes ___ (ser) útiles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9966960" y="1600200"/>
            <a:ext cx="1600200" cy="566928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1" i="0">
                <a:solidFill>
                  <a:srgbClr val="5B3E83"/>
                </a:solidFill>
                <a:latin typeface="Inter"/>
              </a:rPr>
              <a:t>→ son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6172200" y="2313432"/>
            <a:ext cx="5532120" cy="566928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6309360" y="2313432"/>
            <a:ext cx="3657600" cy="566928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0" i="0">
                <a:solidFill>
                  <a:srgbClr val="20242E"/>
                </a:solidFill>
                <a:latin typeface="Inter"/>
              </a:rPr>
              <a:t>¿Tú ___ salir el sábado?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9966960" y="2313432"/>
            <a:ext cx="1600200" cy="566928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1" i="0">
                <a:solidFill>
                  <a:srgbClr val="5B3E83"/>
                </a:solidFill>
                <a:latin typeface="Inter"/>
              </a:rPr>
              <a:t>→ vas a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6172200" y="3026664"/>
            <a:ext cx="5532120" cy="566928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6309360" y="3026664"/>
            <a:ext cx="3657600" cy="566928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0" i="0">
                <a:solidFill>
                  <a:srgbClr val="20242E"/>
                </a:solidFill>
                <a:latin typeface="Inter"/>
              </a:rPr>
              <a:t>«dit weekend» =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9966960" y="3026664"/>
            <a:ext cx="1600200" cy="566928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1" i="0">
                <a:solidFill>
                  <a:srgbClr val="5B3E83"/>
                </a:solidFill>
                <a:latin typeface="Inter"/>
              </a:rPr>
              <a:t>→ este finde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6172200" y="3739896"/>
            <a:ext cx="5532120" cy="566928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6309360" y="3739896"/>
            <a:ext cx="3657600" cy="566928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0" i="0">
                <a:solidFill>
                  <a:srgbClr val="20242E"/>
                </a:solidFill>
                <a:latin typeface="Inter"/>
              </a:rPr>
              <a:t>Nosotros ___ quedar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9966960" y="3739896"/>
            <a:ext cx="1600200" cy="566928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1" i="0">
                <a:solidFill>
                  <a:srgbClr val="5B3E83"/>
                </a:solidFill>
                <a:latin typeface="Inter"/>
              </a:rPr>
              <a:t>→ vamos a</a:t>
            </a:r>
          </a:p>
        </p:txBody>
      </p:sp>
      <p:sp>
        <p:nvSpPr>
          <p:cNvPr id="33" name="Rounded Rectangle 32"/>
          <p:cNvSpPr/>
          <p:nvPr/>
        </p:nvSpPr>
        <p:spPr>
          <a:xfrm>
            <a:off x="457200" y="6053328"/>
            <a:ext cx="2093976" cy="365760"/>
          </a:xfrm>
          <a:prstGeom prst="roundRect">
            <a:avLst>
              <a:gd name="adj" fmla="val 50000"/>
            </a:avLst>
          </a:prstGeom>
          <a:solidFill>
            <a:srgbClr val="7C56A9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12700" bIns="12700"/>
          <a:lstStyle/>
          <a:p>
            <a:pPr algn="ctr"/>
            <a:r>
              <a:rPr sz="1050" b="1">
                <a:solidFill>
                  <a:srgbClr val="FFFFFF"/>
                </a:solidFill>
                <a:latin typeface="Inter"/>
              </a:rPr>
              <a:t>▶  Mostrar solución</a:t>
            </a:r>
          </a:p>
        </p:txBody>
      </p:sp>
      <p:sp>
        <p:nvSpPr>
          <p:cNvPr id="34" name="Rounded Rectangle 33"/>
          <p:cNvSpPr/>
          <p:nvPr/>
        </p:nvSpPr>
        <p:spPr>
          <a:xfrm>
            <a:off x="2697480" y="6053328"/>
            <a:ext cx="1088136" cy="36576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12700" bIns="12700"/>
          <a:lstStyle/>
          <a:p>
            <a:pPr algn="ctr"/>
            <a:r>
              <a:rPr sz="1050" b="1">
                <a:solidFill>
                  <a:srgbClr val="5B3E83"/>
                </a:solidFill>
                <a:latin typeface="Inter"/>
              </a:rPr>
              <a:t>⏭  Saltar</a:t>
            </a:r>
          </a:p>
        </p:txBody>
      </p:sp>
      <p:sp>
        <p:nvSpPr>
          <p:cNvPr id="35" name="Rounded Rectangle 34">
            <a:hlinkClick action="ppaction://hlinksldjump" r:id="rId3"/>
          </p:cNvPr>
          <p:cNvSpPr/>
          <p:nvPr/>
        </p:nvSpPr>
        <p:spPr>
          <a:xfrm>
            <a:off x="3931920" y="6053328"/>
            <a:ext cx="1691639" cy="36576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12700" bIns="12700"/>
          <a:lstStyle/>
          <a:p>
            <a:pPr algn="ctr"/>
            <a:r>
              <a:rPr sz="1050" b="1">
                <a:solidFill>
                  <a:srgbClr val="5B3E83"/>
                </a:solidFill>
                <a:latin typeface="Inter"/>
              </a:rPr>
              <a:t>⌂  Menú (dia 2)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8321040" y="6053328"/>
            <a:ext cx="3383280" cy="36576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850" b="0" i="1">
                <a:solidFill>
                  <a:srgbClr val="6A6E78"/>
                </a:solidFill>
                <a:latin typeface="Inter"/>
              </a:rPr>
              <a:t>Noodroute (§5): werkt zonder audio/internet</a:t>
            </a:r>
          </a:p>
        </p:txBody>
      </p:sp>
      <p:sp>
        <p:nvSpPr>
          <p:cNvPr id="37" name="Rounded Rectangle 36"/>
          <p:cNvSpPr/>
          <p:nvPr/>
        </p:nvSpPr>
        <p:spPr>
          <a:xfrm>
            <a:off x="457200" y="4617720"/>
            <a:ext cx="11247120" cy="502920"/>
          </a:xfrm>
          <a:prstGeom prst="roundRect">
            <a:avLst>
              <a:gd name="adj" fmla="val 6000"/>
            </a:avLst>
          </a:prstGeom>
          <a:solidFill>
            <a:srgbClr val="EEE8F5"/>
          </a:solidFill>
          <a:ln w="19050">
            <a:solidFill>
              <a:srgbClr val="7C56A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27000" rIns="127000" tIns="139700" bIns="76200"/>
          <a:lstStyle/>
          <a:p>
            <a:pPr algn="ctr">
              <a:lnSpc>
                <a:spcPct val="102000"/>
              </a:lnSpc>
              <a:spcBef>
                <a:spcPts val="0"/>
              </a:spcBef>
              <a:spcAft>
                <a:spcPts val="300"/>
              </a:spcAft>
            </a:pPr>
            <a:r>
              <a:rPr sz="1200" b="1" i="0">
                <a:solidFill>
                  <a:srgbClr val="5B3E83"/>
                </a:solidFill>
                <a:latin typeface="Inter"/>
              </a:rPr>
              <a:t>Alles komt terug: </a:t>
            </a:r>
            <a:r>
              <a:rPr sz="1200" b="0" i="0">
                <a:solidFill>
                  <a:srgbClr val="5B3E83"/>
                </a:solidFill>
                <a:latin typeface="Inter"/>
              </a:rPr>
              <a:t>ir a + infinitivo · acabar de · le/les · creo que + indicativo · expresiones de tiempo.</a:t>
            </a:r>
          </a:p>
        </p:txBody>
      </p:sp>
      <p:sp>
        <p:nvSpPr>
          <p:cNvPr id="38" name="Rounded Rectangle 37"/>
          <p:cNvSpPr/>
          <p:nvPr/>
        </p:nvSpPr>
        <p:spPr>
          <a:xfrm>
            <a:off x="594360" y="4489704"/>
            <a:ext cx="1548993" cy="292608"/>
          </a:xfrm>
          <a:prstGeom prst="roundRect">
            <a:avLst>
              <a:gd name="adj" fmla="val 50000"/>
            </a:avLst>
          </a:prstGeom>
          <a:solidFill>
            <a:srgbClr val="7C56A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88900" rIns="88900" tIns="12700" bIns="12700"/>
          <a:lstStyle/>
          <a:p>
            <a:pPr algn="ctr"/>
            <a:r>
              <a:rPr sz="950" b="1">
                <a:solidFill>
                  <a:srgbClr val="FFFFFF"/>
                </a:solidFill>
                <a:latin typeface="Inter"/>
              </a:rPr>
              <a:t>SOLUCIÓN · docent</a:t>
            </a:r>
          </a:p>
        </p:txBody>
      </p:sp>
      <p:sp>
        <p:nvSpPr>
          <p:cNvPr id="39" name="Rectangle 38"/>
          <p:cNvSpPr/>
          <p:nvPr/>
        </p:nvSpPr>
        <p:spPr>
          <a:xfrm>
            <a:off x="0" y="6547104"/>
            <a:ext cx="12191695" cy="310896"/>
          </a:xfrm>
          <a:prstGeom prst="rect">
            <a:avLst/>
          </a:prstGeom>
          <a:solidFill>
            <a:srgbClr val="F3EE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411480" y="6565392"/>
            <a:ext cx="548640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1" i="0">
                <a:solidFill>
                  <a:srgbClr val="7C56A9"/>
                </a:solidFill>
                <a:latin typeface="Inter"/>
              </a:rPr>
              <a:t>● </a:t>
            </a:r>
            <a:r>
              <a:rPr sz="950" b="0" i="0">
                <a:solidFill>
                  <a:srgbClr val="6A6E78"/>
                </a:solidFill>
                <a:latin typeface="Inter"/>
              </a:rPr>
              <a:t>U3 · CONECTADOS   ·   C6+ · conectados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8686800" y="6565392"/>
            <a:ext cx="306324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900" b="0" i="1">
                <a:solidFill>
                  <a:srgbClr val="6A6E78"/>
                </a:solidFill>
                <a:latin typeface="Inter"/>
              </a:rPr>
              <a:t>Docentenversie — met oplossingen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1475720" y="6565392"/>
            <a:ext cx="45720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950" b="1" i="0">
                <a:solidFill>
                  <a:srgbClr val="5B3E83"/>
                </a:solidFill>
                <a:latin typeface="Inter"/>
              </a:rPr>
              <a:t>19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5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5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5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5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50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50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50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500"/>
                                        <p:tgtEl>
                                          <p:spTgt spid="3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500"/>
                                        <p:tgtEl>
                                          <p:spTgt spid="3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CFB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78992"/>
          </a:xfrm>
          <a:prstGeom prst="rect">
            <a:avLst/>
          </a:prstGeom>
          <a:solidFill>
            <a:srgbClr val="7C56A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78992"/>
            <a:ext cx="12191695" cy="54864"/>
          </a:xfrm>
          <a:prstGeom prst="rect">
            <a:avLst/>
          </a:prstGeom>
          <a:solidFill>
            <a:srgbClr val="5B3E8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502920" y="182880"/>
            <a:ext cx="1801367" cy="292608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88900" rIns="88900" tIns="12700" bIns="12700"/>
          <a:lstStyle/>
          <a:p>
            <a:pPr algn="ctr"/>
            <a:r>
              <a:rPr sz="1100" b="1">
                <a:solidFill>
                  <a:srgbClr val="7C56A9"/>
                </a:solidFill>
                <a:latin typeface="Inter"/>
              </a:rPr>
              <a:t>REPASO · LO ESENCIAL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424160" y="-137160"/>
            <a:ext cx="1737360" cy="137160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8800" b="1" i="0">
                <a:solidFill>
                  <a:srgbClr val="FFFFFF"/>
                </a:solidFill>
                <a:latin typeface="Bricolage Grotesque"/>
              </a:rPr>
              <a:t>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457200"/>
            <a:ext cx="9692640" cy="5029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2700" b="1" i="0">
                <a:solidFill>
                  <a:srgbClr val="FFFFFF"/>
                </a:solidFill>
                <a:latin typeface="Bricolage Grotesque"/>
              </a:rPr>
              <a:t>Lo esencial de un vistazo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02920" y="932688"/>
            <a:ext cx="9692640" cy="27432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50" b="0" i="1">
                <a:solidFill>
                  <a:srgbClr val="EEE8F5"/>
                </a:solidFill>
                <a:latin typeface="Inter"/>
              </a:rPr>
              <a:t>De volledige herhaling (13 spellen, drills) staat online. Hier: de kern + semáforo.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57200" y="1463040"/>
            <a:ext cx="11247120" cy="2286000"/>
          </a:xfrm>
          <a:prstGeom prst="roundRect">
            <a:avLst>
              <a:gd name="adj" fmla="val 5500"/>
            </a:avLst>
          </a:prstGeom>
          <a:solidFill>
            <a:srgbClr val="F3EEE4"/>
          </a:solidFill>
          <a:ln>
            <a:noFill/>
          </a:ln>
          <a:effectLst>
            <a:outerShdw blurRad="90000" dist="38000" dir="5400000" rotWithShape="0">
              <a:srgbClr val="20242E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31520" y="1645920"/>
            <a:ext cx="10789920" cy="41148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1" i="0">
                <a:solidFill>
                  <a:srgbClr val="5B3E83"/>
                </a:solidFill>
                <a:latin typeface="Inter"/>
              </a:rPr>
              <a:t>• </a:t>
            </a:r>
            <a:r>
              <a:rPr sz="1200" b="0" i="0">
                <a:solidFill>
                  <a:srgbClr val="20242E"/>
                </a:solidFill>
                <a:latin typeface="Inter"/>
              </a:rPr>
              <a:t>Ir a + infinitivo: voy/vas/va/vamos/vais/van + a + infinitivo. Vergeet de a niet!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31520" y="2066544"/>
            <a:ext cx="10789920" cy="41148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1" i="0">
                <a:solidFill>
                  <a:srgbClr val="5B3E83"/>
                </a:solidFill>
                <a:latin typeface="Inter"/>
              </a:rPr>
              <a:t>• </a:t>
            </a:r>
            <a:r>
              <a:rPr sz="1200" b="0" i="0">
                <a:solidFill>
                  <a:srgbClr val="20242E"/>
                </a:solidFill>
                <a:latin typeface="Inter"/>
              </a:rPr>
              <a:t>Acabar de + infinitivo: acabo/acabas/acaba… + de + infinitivo = «net gedaan».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31520" y="2487168"/>
            <a:ext cx="10789920" cy="41148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1" i="0">
                <a:solidFill>
                  <a:srgbClr val="5B3E83"/>
                </a:solidFill>
                <a:latin typeface="Inter"/>
              </a:rPr>
              <a:t>• </a:t>
            </a:r>
            <a:r>
              <a:rPr sz="1200" b="0" i="0">
                <a:solidFill>
                  <a:srgbClr val="20242E"/>
                </a:solidFill>
                <a:latin typeface="Inter"/>
              </a:rPr>
              <a:t>Le/les (OI): le = één persoon · les = meerdere. Vóór het ww. of achter de infinitivo.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31520" y="2907792"/>
            <a:ext cx="10789920" cy="41148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1" i="0">
                <a:solidFill>
                  <a:srgbClr val="5B3E83"/>
                </a:solidFill>
                <a:latin typeface="Inter"/>
              </a:rPr>
              <a:t>• </a:t>
            </a:r>
            <a:r>
              <a:rPr sz="1200" b="0" i="0">
                <a:solidFill>
                  <a:srgbClr val="20242E"/>
                </a:solidFill>
                <a:latin typeface="Inter"/>
              </a:rPr>
              <a:t>Creo que + indicativo: mening met de gewone tijd (nooit subjuntivo). Creo que es útil.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31520" y="3328416"/>
            <a:ext cx="10789920" cy="41148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1" i="0">
                <a:solidFill>
                  <a:srgbClr val="5B3E83"/>
                </a:solidFill>
                <a:latin typeface="Inter"/>
              </a:rPr>
              <a:t>• </a:t>
            </a:r>
            <a:r>
              <a:rPr sz="1200" b="0" i="0">
                <a:solidFill>
                  <a:srgbClr val="20242E"/>
                </a:solidFill>
                <a:latin typeface="Inter"/>
              </a:rPr>
              <a:t>🔴 Trampas: voy A subir · le/les vóór het ww. · creo que + indicativo · los auriculares = mv.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57200" y="3931920"/>
            <a:ext cx="10972800" cy="32004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1" i="0">
                <a:solidFill>
                  <a:srgbClr val="5B3E83"/>
                </a:solidFill>
                <a:latin typeface="Bricolage Grotesque"/>
              </a:rPr>
              <a:t>Semáforo — ¿cómo lo llevas?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31520" y="4343400"/>
            <a:ext cx="6400800" cy="36576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0" i="0">
                <a:solidFill>
                  <a:srgbClr val="20242E"/>
                </a:solidFill>
                <a:latin typeface="Inter"/>
              </a:rPr>
              <a:t>over media en redes praten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7315200" y="4370832"/>
            <a:ext cx="1188720" cy="292608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88900" rIns="88900" tIns="12700" bIns="12700"/>
          <a:lstStyle/>
          <a:p>
            <a:pPr algn="ctr"/>
            <a:r>
              <a:rPr sz="1200" b="1">
                <a:solidFill>
                  <a:srgbClr val="DC2626"/>
                </a:solidFill>
                <a:latin typeface="Inter"/>
              </a:rPr>
              <a:t>🔴 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8686800" y="4370832"/>
            <a:ext cx="1188720" cy="292608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88900" rIns="88900" tIns="12700" bIns="12700"/>
          <a:lstStyle/>
          <a:p>
            <a:pPr algn="ctr"/>
            <a:r>
              <a:rPr sz="1200" b="1">
                <a:solidFill>
                  <a:srgbClr val="B7860B"/>
                </a:solidFill>
                <a:latin typeface="Inter"/>
              </a:rPr>
              <a:t>🟠 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10058400" y="4370832"/>
            <a:ext cx="1188720" cy="292608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88900" rIns="88900" tIns="12700" bIns="12700"/>
          <a:lstStyle/>
          <a:p>
            <a:pPr algn="ctr"/>
            <a:r>
              <a:rPr sz="1200" b="1">
                <a:solidFill>
                  <a:srgbClr val="7C56A9"/>
                </a:solidFill>
                <a:latin typeface="Inter"/>
              </a:rPr>
              <a:t>🟢 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731520" y="4727448"/>
            <a:ext cx="6400800" cy="36576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0" i="0">
                <a:solidFill>
                  <a:srgbClr val="20242E"/>
                </a:solidFill>
                <a:latin typeface="Inter"/>
              </a:rPr>
              <a:t>plannen maken (ir a + infinitivo)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7315200" y="4754880"/>
            <a:ext cx="1188720" cy="292608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88900" rIns="88900" tIns="12700" bIns="12700"/>
          <a:lstStyle/>
          <a:p>
            <a:pPr algn="ctr"/>
            <a:r>
              <a:rPr sz="1200" b="1">
                <a:solidFill>
                  <a:srgbClr val="DC2626"/>
                </a:solidFill>
                <a:latin typeface="Inter"/>
              </a:rPr>
              <a:t>🔴 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8686800" y="4754880"/>
            <a:ext cx="1188720" cy="292608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88900" rIns="88900" tIns="12700" bIns="12700"/>
          <a:lstStyle/>
          <a:p>
            <a:pPr algn="ctr"/>
            <a:r>
              <a:rPr sz="1200" b="1">
                <a:solidFill>
                  <a:srgbClr val="B7860B"/>
                </a:solidFill>
                <a:latin typeface="Inter"/>
              </a:rPr>
              <a:t>🟠 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10058400" y="4754880"/>
            <a:ext cx="1188720" cy="292608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88900" rIns="88900" tIns="12700" bIns="12700"/>
          <a:lstStyle/>
          <a:p>
            <a:pPr algn="ctr"/>
            <a:r>
              <a:rPr sz="1200" b="1">
                <a:solidFill>
                  <a:srgbClr val="7C56A9"/>
                </a:solidFill>
                <a:latin typeface="Inter"/>
              </a:rPr>
              <a:t>🟢 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731520" y="5111496"/>
            <a:ext cx="6400800" cy="36576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0" i="0">
                <a:solidFill>
                  <a:srgbClr val="20242E"/>
                </a:solidFill>
                <a:latin typeface="Inter"/>
              </a:rPr>
              <a:t>le/les gebruiken (¿a quién?)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7315200" y="5138928"/>
            <a:ext cx="1188720" cy="292608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88900" rIns="88900" tIns="12700" bIns="12700"/>
          <a:lstStyle/>
          <a:p>
            <a:pPr algn="ctr"/>
            <a:r>
              <a:rPr sz="1200" b="1">
                <a:solidFill>
                  <a:srgbClr val="DC2626"/>
                </a:solidFill>
                <a:latin typeface="Inter"/>
              </a:rPr>
              <a:t>🔴 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8686800" y="5138928"/>
            <a:ext cx="1188720" cy="292608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88900" rIns="88900" tIns="12700" bIns="12700"/>
          <a:lstStyle/>
          <a:p>
            <a:pPr algn="ctr"/>
            <a:r>
              <a:rPr sz="1200" b="1">
                <a:solidFill>
                  <a:srgbClr val="B7860B"/>
                </a:solidFill>
                <a:latin typeface="Inter"/>
              </a:rPr>
              <a:t>🟠 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10058400" y="5138928"/>
            <a:ext cx="1188720" cy="292608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88900" rIns="88900" tIns="12700" bIns="12700"/>
          <a:lstStyle/>
          <a:p>
            <a:pPr algn="ctr"/>
            <a:r>
              <a:rPr sz="1200" b="1">
                <a:solidFill>
                  <a:srgbClr val="7C56A9"/>
                </a:solidFill>
                <a:latin typeface="Inter"/>
              </a:rPr>
              <a:t>🟢 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731520" y="5495544"/>
            <a:ext cx="6400800" cy="36576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0" i="0">
                <a:solidFill>
                  <a:srgbClr val="20242E"/>
                </a:solidFill>
                <a:latin typeface="Inter"/>
              </a:rPr>
              <a:t>zeggen wat ik net deed (acabar de)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7315200" y="5522976"/>
            <a:ext cx="1188720" cy="292608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88900" rIns="88900" tIns="12700" bIns="12700"/>
          <a:lstStyle/>
          <a:p>
            <a:pPr algn="ctr"/>
            <a:r>
              <a:rPr sz="1200" b="1">
                <a:solidFill>
                  <a:srgbClr val="DC2626"/>
                </a:solidFill>
                <a:latin typeface="Inter"/>
              </a:rPr>
              <a:t>🔴 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8686800" y="5522976"/>
            <a:ext cx="1188720" cy="292608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88900" rIns="88900" tIns="12700" bIns="12700"/>
          <a:lstStyle/>
          <a:p>
            <a:pPr algn="ctr"/>
            <a:r>
              <a:rPr sz="1200" b="1">
                <a:solidFill>
                  <a:srgbClr val="B7860B"/>
                </a:solidFill>
                <a:latin typeface="Inter"/>
              </a:rPr>
              <a:t>🟠 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10058400" y="5522976"/>
            <a:ext cx="1188720" cy="292608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88900" rIns="88900" tIns="12700" bIns="12700"/>
          <a:lstStyle/>
          <a:p>
            <a:pPr algn="ctr"/>
            <a:r>
              <a:rPr sz="1200" b="1">
                <a:solidFill>
                  <a:srgbClr val="7C56A9"/>
                </a:solidFill>
                <a:latin typeface="Inter"/>
              </a:rPr>
              <a:t>🟢 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731520" y="5879592"/>
            <a:ext cx="6400800" cy="36576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0" i="0">
                <a:solidFill>
                  <a:srgbClr val="20242E"/>
                </a:solidFill>
                <a:latin typeface="Inter"/>
              </a:rPr>
              <a:t>mijn mening geven (creo que + porque)</a:t>
            </a:r>
          </a:p>
        </p:txBody>
      </p:sp>
      <p:sp>
        <p:nvSpPr>
          <p:cNvPr id="33" name="Rounded Rectangle 32"/>
          <p:cNvSpPr/>
          <p:nvPr/>
        </p:nvSpPr>
        <p:spPr>
          <a:xfrm>
            <a:off x="7315200" y="5907024"/>
            <a:ext cx="1188720" cy="292608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88900" rIns="88900" tIns="12700" bIns="12700"/>
          <a:lstStyle/>
          <a:p>
            <a:pPr algn="ctr"/>
            <a:r>
              <a:rPr sz="1200" b="1">
                <a:solidFill>
                  <a:srgbClr val="DC2626"/>
                </a:solidFill>
                <a:latin typeface="Inter"/>
              </a:rPr>
              <a:t>🔴 </a:t>
            </a:r>
          </a:p>
        </p:txBody>
      </p:sp>
      <p:sp>
        <p:nvSpPr>
          <p:cNvPr id="34" name="Rounded Rectangle 33"/>
          <p:cNvSpPr/>
          <p:nvPr/>
        </p:nvSpPr>
        <p:spPr>
          <a:xfrm>
            <a:off x="8686800" y="5907024"/>
            <a:ext cx="1188720" cy="292608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88900" rIns="88900" tIns="12700" bIns="12700"/>
          <a:lstStyle/>
          <a:p>
            <a:pPr algn="ctr"/>
            <a:r>
              <a:rPr sz="1200" b="1">
                <a:solidFill>
                  <a:srgbClr val="B7860B"/>
                </a:solidFill>
                <a:latin typeface="Inter"/>
              </a:rPr>
              <a:t>🟠 </a:t>
            </a:r>
          </a:p>
        </p:txBody>
      </p:sp>
      <p:sp>
        <p:nvSpPr>
          <p:cNvPr id="35" name="Rounded Rectangle 34"/>
          <p:cNvSpPr/>
          <p:nvPr/>
        </p:nvSpPr>
        <p:spPr>
          <a:xfrm>
            <a:off x="10058400" y="5907024"/>
            <a:ext cx="1188720" cy="292608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88900" rIns="88900" tIns="12700" bIns="12700"/>
          <a:lstStyle/>
          <a:p>
            <a:pPr algn="ctr"/>
            <a:r>
              <a:rPr sz="1200" b="1">
                <a:solidFill>
                  <a:srgbClr val="7C56A9"/>
                </a:solidFill>
                <a:latin typeface="Inter"/>
              </a:rPr>
              <a:t>🟢 </a:t>
            </a:r>
          </a:p>
        </p:txBody>
      </p:sp>
      <p:sp>
        <p:nvSpPr>
          <p:cNvPr id="36" name="Rectangle 35"/>
          <p:cNvSpPr/>
          <p:nvPr/>
        </p:nvSpPr>
        <p:spPr>
          <a:xfrm>
            <a:off x="0" y="6547104"/>
            <a:ext cx="12191695" cy="310896"/>
          </a:xfrm>
          <a:prstGeom prst="rect">
            <a:avLst/>
          </a:prstGeom>
          <a:solidFill>
            <a:srgbClr val="F3EE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411480" y="6565392"/>
            <a:ext cx="548640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1" i="0">
                <a:solidFill>
                  <a:srgbClr val="7C56A9"/>
                </a:solidFill>
                <a:latin typeface="Inter"/>
              </a:rPr>
              <a:t>● </a:t>
            </a:r>
            <a:r>
              <a:rPr sz="950" b="0" i="0">
                <a:solidFill>
                  <a:srgbClr val="6A6E78"/>
                </a:solidFill>
                <a:latin typeface="Inter"/>
              </a:rPr>
              <a:t>U3 · CONECTADOS   ·   C6+ · conectados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8686800" y="6565392"/>
            <a:ext cx="306324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900" b="0" i="1">
                <a:solidFill>
                  <a:srgbClr val="6A6E78"/>
                </a:solidFill>
                <a:latin typeface="Inter"/>
              </a:rPr>
              <a:t>Docentenversie — met oplossingen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11475720" y="6565392"/>
            <a:ext cx="45720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950" b="1" i="0">
                <a:solidFill>
                  <a:srgbClr val="5B3E83"/>
                </a:solidFill>
                <a:latin typeface="Inter"/>
              </a:rPr>
              <a:t>20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5B3E8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365760"/>
            <a:ext cx="10972800" cy="73152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2600" b="1" i="0">
                <a:solidFill>
                  <a:srgbClr val="FFFFFF"/>
                </a:solidFill>
                <a:latin typeface="Bricolage Grotesque"/>
              </a:rPr>
              <a:t>TEACHER_NOTES · U3 «Conectados»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457200" y="1280160"/>
            <a:ext cx="11247120" cy="914400"/>
          </a:xfrm>
          <a:prstGeom prst="roundRect">
            <a:avLst>
              <a:gd name="adj" fmla="val 5500"/>
            </a:avLst>
          </a:prstGeom>
          <a:solidFill>
            <a:srgbClr val="473069"/>
          </a:solidFill>
          <a:ln>
            <a:noFill/>
          </a:ln>
          <a:effectLst>
            <a:outerShdw blurRad="90000" dist="38000" dir="5400000" rotWithShape="0">
              <a:srgbClr val="20242E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85800" y="1353312"/>
            <a:ext cx="10789920" cy="36576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400" b="1" i="0">
                <a:solidFill>
                  <a:srgbClr val="FFFFFF"/>
                </a:solidFill>
                <a:latin typeface="Bricolage Grotesque"/>
              </a:rPr>
              <a:t>Timing (50 min)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85800" y="1719072"/>
            <a:ext cx="10789920" cy="45720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0" i="0">
                <a:solidFill>
                  <a:srgbClr val="EEE8F5"/>
                </a:solidFill>
                <a:latin typeface="Inter"/>
              </a:rPr>
              <a:t>Menu 2' · el móvil 6' · ir a + infinitivo 12' · le/les 10' · creo que 8' · comunicar/escucha 8' · Tarea-briefing 4'.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57200" y="2304288"/>
            <a:ext cx="11247120" cy="914400"/>
          </a:xfrm>
          <a:prstGeom prst="roundRect">
            <a:avLst>
              <a:gd name="adj" fmla="val 5500"/>
            </a:avLst>
          </a:prstGeom>
          <a:solidFill>
            <a:srgbClr val="473069"/>
          </a:solidFill>
          <a:ln>
            <a:noFill/>
          </a:ln>
          <a:effectLst>
            <a:outerShdw blurRad="90000" dist="38000" dir="5400000" rotWithShape="0">
              <a:srgbClr val="20242E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85800" y="2377440"/>
            <a:ext cx="10789920" cy="36576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400" b="1" i="0">
                <a:solidFill>
                  <a:srgbClr val="FFFFFF"/>
                </a:solidFill>
                <a:latin typeface="Bricolage Grotesque"/>
              </a:rPr>
              <a:t>Kernvalstrikken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85800" y="2743200"/>
            <a:ext cx="10789920" cy="45720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0" i="0">
                <a:solidFill>
                  <a:srgbClr val="EEE8F5"/>
                </a:solidFill>
                <a:latin typeface="Inter"/>
              </a:rPr>
              <a:t>ir a + infinitivo: vergeet de a niet (voy A subir) · le (1 persoon) ≠ les (meer) · le/les vóór het vervoegde werkwoord (of achter de infinitivo: voy a escribirle) · creo que + INDICATIVO (nooit subjuntivo — buiten scope).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57200" y="3328416"/>
            <a:ext cx="11247120" cy="914400"/>
          </a:xfrm>
          <a:prstGeom prst="roundRect">
            <a:avLst>
              <a:gd name="adj" fmla="val 5500"/>
            </a:avLst>
          </a:prstGeom>
          <a:solidFill>
            <a:srgbClr val="473069"/>
          </a:solidFill>
          <a:ln>
            <a:noFill/>
          </a:ln>
          <a:effectLst>
            <a:outerShdw blurRad="90000" dist="38000" dir="5400000" rotWithShape="0">
              <a:srgbClr val="20242E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85800" y="3401568"/>
            <a:ext cx="10789920" cy="36576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400" b="1" i="0">
                <a:solidFill>
                  <a:srgbClr val="FFFFFF"/>
                </a:solidFill>
                <a:latin typeface="Bricolage Grotesque"/>
              </a:rPr>
              <a:t>Differentiatie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85800" y="3767328"/>
            <a:ext cx="10789920" cy="45720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0" i="0">
                <a:solidFill>
                  <a:srgbClr val="EEE8F5"/>
                </a:solidFill>
                <a:latin typeface="Inter"/>
              </a:rPr>
              <a:t>Sterker: volledig weekendplan + le/les + acabar de + una opinión con porque. Zwakker: ir a-kaart + le/les-frame langer open, frames houden; creo que met vaste modelzinnen.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57200" y="4352544"/>
            <a:ext cx="11247120" cy="914400"/>
          </a:xfrm>
          <a:prstGeom prst="roundRect">
            <a:avLst>
              <a:gd name="adj" fmla="val 5500"/>
            </a:avLst>
          </a:prstGeom>
          <a:solidFill>
            <a:srgbClr val="473069"/>
          </a:solidFill>
          <a:ln>
            <a:noFill/>
          </a:ln>
          <a:effectLst>
            <a:outerShdw blurRad="90000" dist="38000" dir="5400000" rotWithShape="0">
              <a:srgbClr val="20242E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85800" y="4425696"/>
            <a:ext cx="10789920" cy="36576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400" b="1" i="0">
                <a:solidFill>
                  <a:srgbClr val="FFFFFF"/>
                </a:solidFill>
                <a:latin typeface="Bricolage Grotesque"/>
              </a:rPr>
              <a:t>Digitaal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85800" y="4791456"/>
            <a:ext cx="10789920" cy="45720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0" i="0">
                <a:solidFill>
                  <a:srgbClr val="EEE8F5"/>
                </a:solidFill>
                <a:latin typeface="Inter"/>
              </a:rPr>
              <a:t>13 spellen + flip cards + gramática interactiva (ir a · le/les · creo que) + recorder (mi finde · mi opinión) + Lectura (dos opiniones) + klikbare kaart (México ★, música) op de página digital. QR's → juiste anker.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457200" y="5376672"/>
            <a:ext cx="11247120" cy="914400"/>
          </a:xfrm>
          <a:prstGeom prst="roundRect">
            <a:avLst>
              <a:gd name="adj" fmla="val 5500"/>
            </a:avLst>
          </a:prstGeom>
          <a:solidFill>
            <a:srgbClr val="473069"/>
          </a:solidFill>
          <a:ln>
            <a:noFill/>
          </a:ln>
          <a:effectLst>
            <a:outerShdw blurRad="90000" dist="38000" dir="5400000" rotWithShape="0">
              <a:srgbClr val="20242E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85800" y="5449824"/>
            <a:ext cx="10789920" cy="36576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400" b="1" i="0">
                <a:solidFill>
                  <a:srgbClr val="FFFFFF"/>
                </a:solidFill>
                <a:latin typeface="Bricolage Grotesque"/>
              </a:rPr>
              <a:t>Evaluatie &amp; LPD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85800" y="5815584"/>
            <a:ext cx="10789920" cy="45720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0" i="0">
                <a:solidFill>
                  <a:srgbClr val="EEE8F5"/>
                </a:solidFill>
                <a:latin typeface="Inter"/>
              </a:rPr>
              <a:t>Tarea «Mi plan de fin de semana» met rúbrica (4 criteria). LPD (III-Spa-d): media/redes 7 · ir a + infinitivo 8·3 · le/les 8·4 · acabar de/creo que 8·3 · interactie 4 · lezen 1·2·5 · cultuur 5. Bron: EELP (comunicación/cognición) + reservoir.</a:t>
            </a:r>
          </a:p>
        </p:txBody>
      </p:sp>
      <p:sp>
        <p:nvSpPr>
          <p:cNvPr id="19" name="Rectangle 18"/>
          <p:cNvSpPr/>
          <p:nvPr/>
        </p:nvSpPr>
        <p:spPr>
          <a:xfrm>
            <a:off x="0" y="6547104"/>
            <a:ext cx="12191695" cy="310896"/>
          </a:xfrm>
          <a:prstGeom prst="rect">
            <a:avLst/>
          </a:prstGeom>
          <a:solidFill>
            <a:srgbClr val="F3EE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411480" y="6565392"/>
            <a:ext cx="548640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1" i="0">
                <a:solidFill>
                  <a:srgbClr val="7C56A9"/>
                </a:solidFill>
                <a:latin typeface="Inter"/>
              </a:rPr>
              <a:t>● </a:t>
            </a:r>
            <a:r>
              <a:rPr sz="950" b="0" i="0">
                <a:solidFill>
                  <a:srgbClr val="6A6E78"/>
                </a:solidFill>
                <a:latin typeface="Inter"/>
              </a:rPr>
              <a:t>U3 · CONECTADOS   ·   C6+ · conectados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686800" y="6565392"/>
            <a:ext cx="306324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900" b="0" i="1">
                <a:solidFill>
                  <a:srgbClr val="6A6E78"/>
                </a:solidFill>
                <a:latin typeface="Inter"/>
              </a:rPr>
              <a:t>Docentenversie — met oplossingen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1475720" y="6565392"/>
            <a:ext cx="45720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950" b="1" i="0">
                <a:solidFill>
                  <a:srgbClr val="5B3E83"/>
                </a:solidFill>
                <a:latin typeface="Inter"/>
              </a:rPr>
              <a:t>21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