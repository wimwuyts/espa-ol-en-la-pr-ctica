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 video van aflevering 9 komt uit GOOGLE DRIVE (er is voor deze aflevering géén YouTube-link): file-id 1YlBRdAs4L4fOvmXylmQLlRSJMoRto7Kb, deelrechten reader/anyone → INTERNET VEREIST. Klik op de poster om in PowerPoint af te spelen; lukt dat niet, klik dan de knop «▶ Abrir en Drive» (of open de Drive-link zelf in een browser: https://drive.google.com/file/d/1YlBRdAs4L4fOvmXylmQLlRSJMoRto7Kb/view) — dan speelt de video in het browsertabblad. Aanpak: eerst één keer kijken zónder transcript (globaal begrijpen: Julio blijft de hele week voorstellen doen, María heeft élke keer een excuus), daarna met het transcript. Laat de leerlingen twee kolommen maken: PLANES (voy a…) ↔ OBLIGACIONES (tengo que…). Focus op de contrasterende chunks: «voy a preparar café» / «vamos a dormir» / «voy a quedar con unas amigas» tegenover «tengo que pasear al perro» / «tengo que lavarme el pelo» / «tengo que trabajar» / «tengo cosas que hacer». Let ook op «tengo sueño» (= slaperig zijn) en het beleefde «no puedo». Doelcodes: C4-LU-1 · C4-STR-1 · C4-WS-1.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Werkvorm: bouw hardop in koor. Wijs blok 1 aan (voy a / tengo que), dan blok 3 (het infinitivo) en de klas zegt de volledige zin; klik daarna de zin open ter controle. Daarna variëren: laat leerlingen zelf een infinitivo roepen. Kernidee van de máquina: de eerste blok is een VASTE CHUNK (voy a · vamos a · tengo que · tienes que) en blok 2 dwingt het HELE werkwoord af — zo hoeven leerlingen niets te vervoegen (het paradigma van «ir» en «tener» komt in C5). Kleurcode: werkwoord = oranje (§13); de rode middenblok = de huisstijlkleur van C4. Oplossing: Voy a ir al cine. · Tengo que estudiar. · Vamos a tomar algo. Doelcodes: C4-WS-1 · C4-TS-3 · C4-SP-1 · C4-MEC-2.</a:t>
            </a:r>
          </a:p>
          <a:p/>
          <a:p>
            <a:r>
              <a:t>— SOLUCIÓN (docent · presenter view) —</a:t>
            </a:r>
          </a:p>
          <a:p>
            <a:r>
              <a:t>Voy a ir al cine. · Tengo que estudiar. · Vamos a tomar algo.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Functioneel: «ir a + infinitivo» is de A1-manier om over de toekomst te praten — géén futuro simple (dat blijft buiten C4 én C6). Presenteer «voy a / vas a / vamos a» als VASTE CHUNKS, niet als vervoegingsparadigma van «ir»: het werkwoordsysteem (en dus het volledige paradigma voy/vas/va/vamos/vais/van) hoort in het 5de jaar (C5). Kernpunt: de «a» mag nooit weg (voy A estudiar) en ná «voy a» komt áltijd het hele werkwoord. Sterke steun voor Nederlandstaligen: het parallel loopt met «ik ga + infinitief». Kleurcode: werkwoord = oranje (§13). Doelcodes: C4-WS-1 · C4-TS-3 · C4-SP-1 · C4-GE-3.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Twee contrasten op één dia. (1) «tener que + infinitivo» = moeten: tengo que / tienes que + het HELE werkwoord. De «que» is verplicht: tengo QUE trabajar, nooit «tengo trabajar». (2) «tener + sustantivo» = precies zónder que: tengo hambre / sed / sueño / prisa. DE KERNVALSTRIK voor Nederlandstaligen: «ik ben slaperig» = tengo sueño (letterlijk «ik héb slaap») — nooit «estoy sueño» of «soy sueño»; hetzelfde patroon geldt voor honger, dorst en haast. Rechazar = twee stappen: «no puedo» + de reden («tengo que…»), eventueel verzacht met «¡qué pena!» of «otro día, ¿vale?». C4-scope: «tengo que / tienes que» zijn VASTE CHUNKS — géén vervoegingsparadigma van «tener» (tengo/tienes/tiene/tenemos/tenéis/tienen); dat systeem komt in het 5de jaar (C5). Oplossing: voy a · que · hambre.</a:t>
            </a:r>
          </a:p>
          <a:p/>
          <a:p>
            <a:r>
              <a:t>— SOLUCIÓN (docent · presenter view) —</a:t>
            </a:r>
          </a:p>
          <a:p>
            <a:r>
              <a:t>voy a · que · hambre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Laat leerlingen eerst zelf proberen (in duo, hardop). Klik daarna de oplossing open. Let op: «Voy a estudiar» — de «a» staat er al, dus enkel «Voy» invullen; «Tengo que pasear» — hier zijn twee gaten (Tengo + que) omdat de «que» vóór een werkwoord verplicht is; «¿Vamos a tomar algo?» = een uitnodiging (wij); «no puedo» = de beleefde afwijzing, versterkt door «¡qué pena!». Oplossing: Voy · Tengo · que · vamos · puedo.</a:t>
            </a:r>
          </a:p>
          <a:p/>
          <a:p>
            <a:r>
              <a:t>— SOLUCIÓN (docent · presenter view) —</a:t>
            </a:r>
          </a:p>
          <a:p>
            <a:r>
              <a:t>1. Voy</a:t>
            </a:r>
          </a:p>
          <a:p>
            <a:r>
              <a:t>2. Tengo</a:t>
            </a:r>
          </a:p>
          <a:p>
            <a:r>
              <a:t>3. que</a:t>
            </a:r>
          </a:p>
          <a:p>
            <a:r>
              <a:t>4. vamos</a:t>
            </a:r>
          </a:p>
          <a:p>
            <a:r>
              <a:t>5. puedo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Relationship Id="rId11" Type="http://schemas.openxmlformats.org/officeDocument/2006/relationships/slide" Target="slide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rive.google.com/file/d/1YlBRdAs4L4fOvmXylmQLlRSJMoRto7Kb/view" TargetMode="External"/><Relationship Id="rId3" Type="http://schemas.openxmlformats.org/officeDocument/2006/relationships/image" Target="../media/image2.png"/><Relationship Id="rId4" Type="http://schemas.openxmlformats.org/officeDocument/2006/relationships/video" Target="https://drive.google.com/file/d/1YlBRdAs4L4fOvmXylmQLlRSJMoRto7Kb/preview" TargetMode="External"/><Relationship Id="rId5" Type="http://schemas.microsoft.com/office/2007/relationships/media" Target="https://drive.google.com/file/d/1YlBRdAs4L4fOvmXylmQLlRSJMoRto7Kb/preview" TargetMode="External"/><Relationship Id="rId6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73152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323148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64550"/>
                </a:solidFill>
                <a:latin typeface="Inter"/>
              </a:rPr>
              <a:t>C4 · LA RUTA · EL DESPEGUE · PARADA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Bricolage Grotesque"/>
              </a:rPr>
              <a:t>Planes y obligaciones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07899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Voy a preparar café. </a:t>
            </a:r>
            <a:r>
              <a:rPr sz="1700" b="0" i="1">
                <a:solidFill>
                  <a:srgbClr val="FBEAEC"/>
                </a:solidFill>
                <a:latin typeface="Inter"/>
              </a:rPr>
              <a:t>— Eh… tengo cosas que hacer.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51560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Inter"/>
              </a:rPr>
              <a:t>Zeggen wat je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gaat doen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en wat je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moet doen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— en beleefd «nee» zeggen (voy a · tengo que · no puedo).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FBEAEC"/>
                </a:solidFill>
                <a:latin typeface="Inter"/>
              </a:rPr>
              <a:t>Survival in Spanish — Julio stelt de hele week plannen voor… en María heeft élke keer «cosas que hacer».</a:t>
            </a:r>
          </a:p>
        </p:txBody>
      </p:sp>
      <p:pic>
        <p:nvPicPr>
          <p:cNvPr id="9" name="Picture 8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526280"/>
            <a:ext cx="1554480" cy="1554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800600"/>
            <a:ext cx="822960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En esta unidad vas a…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Hablar de planes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ir a + infinitivo: voy a estudiar · vamos a dormir · ¿qué vas a hacer?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Expresar obligación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tener que + infinitivo: tengo que trabajar · ¿tienes que hacer algo?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Usar tener + sustantivo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tengo hambre · tengo sueño · tengo sed · tengo prisa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Rechazar con educación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no puedo, tengo que… · ¡qué pena! · otro día, ¿vale?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MENÚ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vamos a hacer?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gaan we doen? — klik op een tegel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502920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¡Escucha!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escena + chunks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3410712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Suena bien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los diptongos ie &amp; ue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6318504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La máquina de frases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voy a / tengo que + infinitivo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9226296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Kit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planes · obligaciones</a:t>
            </a:r>
          </a:p>
        </p:txBody>
      </p:sp>
      <p:sp>
        <p:nvSpPr>
          <p:cNvPr id="20" name="Rounded Rectangle 19">
            <a:hlinkClick action="ppaction://hlinksldjump" r:id="rId6"/>
          </p:cNvPr>
          <p:cNvSpPr/>
          <p:nvPr/>
        </p:nvSpPr>
        <p:spPr>
          <a:xfrm>
            <a:off x="502920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Gramática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ir a · tener que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3410712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Práctica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oefenen samen</a:t>
            </a:r>
          </a:p>
        </p:txBody>
      </p:sp>
      <p:sp>
        <p:nvSpPr>
          <p:cNvPr id="26" name="Rounded Rectangle 25">
            <a:hlinkClick action="ppaction://hlinksldjump" r:id="rId8"/>
          </p:cNvPr>
          <p:cNvSpPr/>
          <p:nvPr/>
        </p:nvSpPr>
        <p:spPr>
          <a:xfrm>
            <a:off x="6318504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4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Hablar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invita y rechaza</a:t>
            </a:r>
          </a:p>
        </p:txBody>
      </p:sp>
      <p:sp>
        <p:nvSpPr>
          <p:cNvPr id="29" name="Rounded Rectangle 28">
            <a:hlinkClick action="ppaction://hlinksldjump" r:id="rId9"/>
          </p:cNvPr>
          <p:cNvSpPr/>
          <p:nvPr/>
        </p:nvSpPr>
        <p:spPr>
          <a:xfrm>
            <a:off x="9226296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9176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Cultura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el finde en el mundo hispano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02920" y="402336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13308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59028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Tarea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Mi finde</a:t>
            </a:r>
          </a:p>
        </p:txBody>
      </p:sp>
      <p:sp>
        <p:nvSpPr>
          <p:cNvPr id="35" name="Rounded Rectangle 34">
            <a:hlinkClick action="ppaction://hlinksldjump" r:id="rId11"/>
          </p:cNvPr>
          <p:cNvSpPr/>
          <p:nvPr/>
        </p:nvSpPr>
        <p:spPr>
          <a:xfrm>
            <a:off x="3410712" y="402336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93592" y="413308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3592" y="459028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Repaso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wat kun je nu?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Consejo · Tip.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Ná «voy a» en «tengo que» komt áltijd het hele werkwoord: voy a estudiar · tengo que trabajar. En «ik ben slaperig» = tengo sueño!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§1 · ¡ESCUCHA!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Bekijk la escena y escucha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Kijk &amp; luister — Julio stelt de hele week plannen voor; María heeft élke keer iets te doen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676656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554480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Buenos días. Voy a preparar café. ¿Quieres desayunar?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09597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791309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Ah… no tengo mucha hambre.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046426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028138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Pero es sábado. Tengo sueño. ¿No tienes sueño?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283255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264967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Vamos a dormir un poquito más.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52008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501796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Tengo cosas que hacer.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756913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738625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Y esta noche, ¿quedamos para ir al cine?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993742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975454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Eh… no puedo. Tengo que pasear al perro de mi madre.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230571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212283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¿Y esta tarde? ¿Vamos a pasear, a comprar cosas?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467400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449112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Mmm…, tengo que lavarme el pelo.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04229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685941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¿Y mañana? ¿Tienes que hacer algo?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4105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3922770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El domingo voy a quedar con unas amigas.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177887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159599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¿El lunes, el martes, el miércoles?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414716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4396428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Tengo que trabajar.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651545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633257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¿Por las noches?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88837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870086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Por las noches tengo que dormir.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125203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106915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El jueves voy a dar unas clases de baile flamenco.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362032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5343744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El próximo fin de semana. ¿Tienes que ir a la India en globo?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598861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5580573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No, estoy aquí, pero tengo cosas que hacer. Cosas. Adiós.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98079" y="1417320"/>
            <a:ext cx="4206240" cy="22402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26679" y="1572768"/>
            <a:ext cx="3749039" cy="2011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Chunks para llevar 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Voy a preparar café · vamos a dormir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Tengo que trabajar · ¿tienes que…?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Tengo sueño · no tengo mucha hambre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No puedo · tengo cosas que hacer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esta noche · esta tarde · el próximo finde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79" y="3767328"/>
            <a:ext cx="26974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323B"/>
                </a:solidFill>
                <a:latin typeface="Bricolage Grotesque"/>
              </a:rPr>
              <a:t>🎬 Episodio 9 — klik om af te spelen</a:t>
            </a:r>
          </a:p>
        </p:txBody>
      </p:sp>
      <p:sp>
        <p:nvSpPr>
          <p:cNvPr id="49" name="Rounded Rectangle 48">
            <a:hlinkClick r:id="rId2"/>
          </p:cNvPr>
          <p:cNvSpPr/>
          <p:nvPr/>
        </p:nvSpPr>
        <p:spPr>
          <a:xfrm>
            <a:off x="10241280" y="3739896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▶ Abrir en Drive</a:t>
            </a:r>
          </a:p>
        </p:txBody>
      </p:sp>
      <p:pic>
        <p:nvPicPr>
          <p:cNvPr id="50" name="Picture 49" descr="video_poster_U9.png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498079" y="4069080"/>
            <a:ext cx="4206240" cy="2331720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SUENA BIEN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diptongos ie &amp; ue · la tilde en el diptongo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Twee klinkers samen = één lettergreep — en waar het accent dan komt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① El diptongo ie · una sola sílaba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20242E"/>
                </a:solidFill>
                <a:latin typeface="Inter"/>
              </a:rPr>
              <a:t>qu</a:t>
            </a:r>
            <a:r>
              <a:rPr sz="1450" b="1" i="0">
                <a:solidFill>
                  <a:srgbClr val="D64550"/>
                </a:solidFill>
                <a:latin typeface="Inter"/>
              </a:rPr>
              <a:t>ie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·ro · t</a:t>
            </a:r>
            <a:r>
              <a:rPr sz="1450" b="1" i="0">
                <a:solidFill>
                  <a:srgbClr val="D64550"/>
                </a:solidFill>
                <a:latin typeface="Inter"/>
              </a:rPr>
              <a:t>ie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·nes · b</a:t>
            </a:r>
            <a:r>
              <a:rPr sz="1450" b="1" i="0">
                <a:solidFill>
                  <a:srgbClr val="D64550"/>
                </a:solidFill>
                <a:latin typeface="Inter"/>
              </a:rPr>
              <a:t>ie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n · s</a:t>
            </a:r>
            <a:r>
              <a:rPr sz="1450" b="1" i="0">
                <a:solidFill>
                  <a:srgbClr val="D64550"/>
                </a:solidFill>
                <a:latin typeface="Inter"/>
              </a:rPr>
              <a:t>ie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·te · f</a:t>
            </a:r>
            <a:r>
              <a:rPr sz="1450" b="1" i="0">
                <a:solidFill>
                  <a:srgbClr val="D64550"/>
                </a:solidFill>
                <a:latin typeface="Inter"/>
              </a:rPr>
              <a:t>ie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s·ta · v</a:t>
            </a:r>
            <a:r>
              <a:rPr sz="1450" b="1" i="0">
                <a:solidFill>
                  <a:srgbClr val="D64550"/>
                </a:solidFill>
                <a:latin typeface="Inter"/>
              </a:rPr>
              <a:t>ie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r·nes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«quiero» = 2 stukken (qu</a:t>
            </a:r>
            <a:r>
              <a:rPr sz="1100" b="1" i="0">
                <a:solidFill>
                  <a:srgbClr val="D64550"/>
                </a:solidFill>
                <a:latin typeface="Inter"/>
              </a:rPr>
              <a:t>ie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-ro), niet 3 (qui-e-ro).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② El diptongo ue · una sola sílaba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20242E"/>
                </a:solidFill>
                <a:latin typeface="Inter"/>
              </a:rPr>
              <a:t>p</a:t>
            </a:r>
            <a:r>
              <a:rPr sz="1450" b="1" i="0">
                <a:solidFill>
                  <a:srgbClr val="D64550"/>
                </a:solidFill>
                <a:latin typeface="Inter"/>
              </a:rPr>
              <a:t>ue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·do · b</a:t>
            </a:r>
            <a:r>
              <a:rPr sz="1450" b="1" i="0">
                <a:solidFill>
                  <a:srgbClr val="D64550"/>
                </a:solidFill>
                <a:latin typeface="Inter"/>
              </a:rPr>
              <a:t>ue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·no · l</a:t>
            </a:r>
            <a:r>
              <a:rPr sz="1450" b="1" i="0">
                <a:solidFill>
                  <a:srgbClr val="D64550"/>
                </a:solidFill>
                <a:latin typeface="Inter"/>
              </a:rPr>
              <a:t>ue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·go · f</a:t>
            </a:r>
            <a:r>
              <a:rPr sz="1450" b="1" i="0">
                <a:solidFill>
                  <a:srgbClr val="D64550"/>
                </a:solidFill>
                <a:latin typeface="Inter"/>
              </a:rPr>
              <a:t>ue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·ra · j</a:t>
            </a:r>
            <a:r>
              <a:rPr sz="1450" b="1" i="0">
                <a:solidFill>
                  <a:srgbClr val="D64550"/>
                </a:solidFill>
                <a:latin typeface="Inter"/>
              </a:rPr>
              <a:t>ue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·go · c</a:t>
            </a:r>
            <a:r>
              <a:rPr sz="1450" b="1" i="0">
                <a:solidFill>
                  <a:srgbClr val="D64550"/>
                </a:solidFill>
                <a:latin typeface="Inter"/>
              </a:rPr>
              <a:t>ue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n·ta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Glijd vloeiend van de u naar de e — in één beweging.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11201400" cy="77724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106984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Bricolage Grotesque"/>
              </a:rPr>
              <a:t>¡Ojo!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Splits ze niet: «pu-e-do» klinkt fout — zeg «</a:t>
            </a:r>
            <a:r>
              <a:rPr sz="1300" b="1" i="0">
                <a:solidFill>
                  <a:srgbClr val="A8323B"/>
                </a:solidFill>
                <a:latin typeface="Inter"/>
              </a:rPr>
              <a:t>pue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-do» in één beweging. En in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que / qui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is de u </a:t>
            </a:r>
            <a:r>
              <a:rPr sz="1300" b="1" i="0">
                <a:solidFill>
                  <a:srgbClr val="DC2626"/>
                </a:solidFill>
                <a:latin typeface="Inter"/>
              </a:rPr>
              <a:t>stil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(zoals in U7): daar is het géén diptongo.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③ La tilde en el diptongo · het accent komt op de tweede klinker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111556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0242E"/>
                </a:solidFill>
                <a:latin typeface="Bricolage Grotesque"/>
              </a:rPr>
              <a:t>a·di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ÓS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      des·p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UÉS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      tam·b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IÉN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      can·c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42432"/>
            <a:ext cx="111556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Valt de klemtoon op een diptongo aan het eind van het woord, dan staat de tilde op de TWEEDE klinker: adiós · después · también · canción.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🔊 Oefen de klanken online op de hub (tabblad Kit · Suena bien).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22199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LA MÁQUINA DE FRASES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Voy a / Tengo que + infinitivo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Twee bouwstenen, altijd in dezelfde volgorde — klik en de zin verschijnt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7361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1953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49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8141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6352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0944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254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713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69164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FEF1E7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1837944"/>
            <a:ext cx="25603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B4530E"/>
                </a:solidFill>
                <a:latin typeface="Bricolage Grotesque"/>
              </a:rPr>
              <a:t>Voy 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un plan · ik ga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1691640"/>
            <a:ext cx="2834640" cy="914400"/>
          </a:xfrm>
          <a:prstGeom prst="rect">
            <a:avLst/>
          </a:prstGeom>
          <a:solidFill>
            <a:srgbClr val="FBEAEC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1837944"/>
            <a:ext cx="25603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A8323B"/>
                </a:solidFill>
                <a:latin typeface="Bricolage Grotesque"/>
              </a:rPr>
              <a:t>+ infinitivo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het hele werkwoord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69164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837944"/>
            <a:ext cx="26517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estudiar · ir al cine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kies een werkwoord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947672"/>
            <a:ext cx="41148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64550"/>
                </a:solidFill>
                <a:latin typeface="Bricolage Grotesque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1691640"/>
            <a:ext cx="2194560" cy="914400"/>
          </a:xfrm>
          <a:prstGeom prst="roundRect">
            <a:avLst>
              <a:gd name="adj" fmla="val 9000"/>
            </a:avLst>
          </a:prstGeom>
          <a:solidFill>
            <a:srgbClr val="D64550"/>
          </a:solidFill>
          <a:ln w="17780">
            <a:solidFill>
              <a:srgbClr val="A8323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76200" bIns="508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Bricolage Grotesque"/>
              </a:rPr>
              <a:t>Voy a estudiar.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FBEAEC"/>
                </a:solidFill>
                <a:latin typeface="Inter"/>
              </a:rPr>
              <a:t>Ik ga studeren.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74320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FEF1E7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889504"/>
            <a:ext cx="25603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B4530E"/>
                </a:solidFill>
                <a:latin typeface="Bricolage Grotesque"/>
              </a:rPr>
              <a:t>Tengo que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obligación · ik moet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2743200"/>
            <a:ext cx="2834640" cy="914400"/>
          </a:xfrm>
          <a:prstGeom prst="rect">
            <a:avLst/>
          </a:prstGeom>
          <a:solidFill>
            <a:srgbClr val="FBEAEC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2889504"/>
            <a:ext cx="25603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A8323B"/>
                </a:solidFill>
                <a:latin typeface="Bricolage Grotesque"/>
              </a:rPr>
              <a:t>+ infinitivo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het hele werkwoord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274320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889504"/>
            <a:ext cx="26517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trabajar · dormir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kies een werkwoord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999232"/>
            <a:ext cx="41148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64550"/>
                </a:solidFill>
                <a:latin typeface="Bricolage Grotesque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2743200"/>
            <a:ext cx="2194560" cy="914400"/>
          </a:xfrm>
          <a:prstGeom prst="roundRect">
            <a:avLst>
              <a:gd name="adj" fmla="val 9000"/>
            </a:avLst>
          </a:prstGeom>
          <a:solidFill>
            <a:srgbClr val="D64550"/>
          </a:solidFill>
          <a:ln w="17780">
            <a:solidFill>
              <a:srgbClr val="A8323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76200" bIns="508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Bricolage Grotesque"/>
              </a:rPr>
              <a:t>Tengo que trabajar.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FBEAEC"/>
                </a:solidFill>
                <a:latin typeface="Inter"/>
              </a:rPr>
              <a:t>Ik moet werken.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3840480"/>
            <a:ext cx="11201400" cy="73152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3931920"/>
            <a:ext cx="10698480" cy="594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A8323B"/>
                </a:solidFill>
                <a:latin typeface="Bricolage Grotesque"/>
              </a:rPr>
              <a:t>Cómo funciona ·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blok 1 (</a:t>
            </a:r>
            <a:r>
              <a:rPr sz="1300" b="1" i="0">
                <a:solidFill>
                  <a:srgbClr val="EA7317"/>
                </a:solidFill>
                <a:latin typeface="Inter"/>
              </a:rPr>
              <a:t>voy a</a:t>
            </a:r>
            <a:r>
              <a:rPr sz="1250" b="0" i="0">
                <a:solidFill>
                  <a:srgbClr val="20242E"/>
                </a:solidFill>
                <a:latin typeface="Inter"/>
              </a:rPr>
              <a:t> of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tengo que</a:t>
            </a:r>
            <a:r>
              <a:rPr sz="1250" b="0" i="0">
                <a:solidFill>
                  <a:srgbClr val="20242E"/>
                </a:solidFill>
                <a:latin typeface="Inter"/>
              </a:rPr>
              <a:t>) + blok 2 = altijd het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hele werkwoord</a:t>
            </a:r>
            <a:r>
              <a:rPr sz="1250" b="0" i="0">
                <a:solidFill>
                  <a:srgbClr val="20242E"/>
                </a:solidFill>
                <a:latin typeface="Inter"/>
              </a:rPr>
              <a:t> (el infinitivo: -ar · -er · -ir). Nooit een vervoegde vorm!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Ook zo: </a:t>
            </a:r>
            <a:r>
              <a:rPr sz="1200" b="1" i="0">
                <a:solidFill>
                  <a:srgbClr val="EA7317"/>
                </a:solidFill>
                <a:latin typeface="Inter"/>
              </a:rPr>
              <a:t>vamos a pasear · ¿qué vas a hacer? · ¿tienes que trabajar?</a:t>
            </a:r>
            <a:r>
              <a:rPr sz="1150" b="0" i="0">
                <a:solidFill>
                  <a:srgbClr val="20242E"/>
                </a:solidFill>
                <a:latin typeface="Inter"/>
              </a:rPr>
              <a:t>   —   en de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a</a:t>
            </a:r>
            <a:r>
              <a:rPr sz="1150" b="0" i="0">
                <a:solidFill>
                  <a:srgbClr val="20242E"/>
                </a:solidFill>
                <a:latin typeface="Inter"/>
              </a:rPr>
              <a:t> en de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que</a:t>
            </a:r>
            <a:r>
              <a:rPr sz="1150" b="0" i="0">
                <a:solidFill>
                  <a:srgbClr val="20242E"/>
                </a:solidFill>
                <a:latin typeface="Inter"/>
              </a:rPr>
              <a:t> mogen nooit weg.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754880"/>
            <a:ext cx="11155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Construye · bouw zelf (klik voor de oplossing):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plan + ir al cine  ·  obligación + estudiar  ·  nosotros + plan + tomar algo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193792"/>
            <a:ext cx="10698480" cy="50292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8323B"/>
                </a:solidFill>
                <a:latin typeface="Inter"/>
              </a:rPr>
              <a:t>Voy a ir al cine. · Tengo que estudiar. · Vamos a tomar algo.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" y="5065776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planes · las obligaciones · el finde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Plannen maken, zeggen wat je moet doen &amp; wat je in het weekend doet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Los planes · voy a… 🗓️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Voy a + infinitivo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ik ga + werkwoord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Voy a preparar café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ik ga koffie zetten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Vamos a dormir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we gaan / laten we slapen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¿Vamos a pasear?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gaan we wandelen?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¿Qué vas a hacer?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wat ga je doen?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El domingo voy a quedar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zondag ga ik afspreken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Las obligaciones · tengo que… 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Tengo que + infinitivo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ik moet + werkwoord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83464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Tengo que trabajar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ik moet werken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42900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Tengo que estudiar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ik moet studeren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02336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¿Tienes que hacer algo?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moet je iets doen?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61772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Tengo cosas que hacer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ik heb dingen te doen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2120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Tengo que dormir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ik moet slapen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Actividades del finde 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ir al cine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naar de cinema gaan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83464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pasear al perro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de hond uitlaten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42900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quedar con amigos/as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afspreken met vrienden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02336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ver una película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een film kijken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61772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jugar al fútbol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voetballen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2120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tomar algo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iets gaan drinken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Con tener · aceptar o rechazar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«Tener» waar wij «zijn/hebben» zeggen &amp; ja of nee zeggen op een uitnodiging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Con tener · «geen ser/estar»! 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Tengo hambre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heb honger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Tengo sueño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ben slaperig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Tengo sed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heb dorst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Tengo prisa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heb haast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Tengo cosas que hacer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heb dingen te doen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Aceptar o rechazar 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¡Vale! · ¡Perfecto!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oké! · perfect!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Estoy libre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ben vrij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No puedo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kan niet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¡Qué pena!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wat jammer!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Otro día, ¿vale?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een andere dag, oké?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108813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Tengo sueño = «ik ben slaperig» (letterlijk «ik héb slaap») · rechazar = nee + reden: «No puedo. Tengo que…» + ¡Qué pena!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ir a + infinitivo — hablar de planes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Zeggen wat je gaat doen: voy a / vas a / vamos a + het hele werkwoord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7361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1953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49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8141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6352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0944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254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713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1737360"/>
            <a:ext cx="6949440" cy="37490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874519"/>
            <a:ext cx="64922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voy a  ·  vas a  ·  vamos a  +  infinitivo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377440"/>
            <a:ext cx="1600200" cy="384048"/>
          </a:xfrm>
          <a:prstGeom prst="roundRect">
            <a:avLst>
              <a:gd name="adj" fmla="val 20000"/>
            </a:avLst>
          </a:prstGeom>
          <a:solidFill>
            <a:srgbClr val="FE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395728"/>
            <a:ext cx="160020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Bricolage Grotesque"/>
              </a:rPr>
              <a:t>voy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0592" y="2395728"/>
            <a:ext cx="137160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ik 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58768" y="2395728"/>
            <a:ext cx="347472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A6E78"/>
                </a:solidFill>
                <a:latin typeface="Inter"/>
              </a:rPr>
              <a:t>Voy a preparar café.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2852928"/>
            <a:ext cx="1600200" cy="384048"/>
          </a:xfrm>
          <a:prstGeom prst="roundRect">
            <a:avLst>
              <a:gd name="adj" fmla="val 20000"/>
            </a:avLst>
          </a:prstGeom>
          <a:solidFill>
            <a:srgbClr val="FE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871216"/>
            <a:ext cx="160020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Bricolage Grotesque"/>
              </a:rPr>
              <a:t>vas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50592" y="2871216"/>
            <a:ext cx="137160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jij gaat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58768" y="2871216"/>
            <a:ext cx="347472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A6E78"/>
                </a:solidFill>
                <a:latin typeface="Inter"/>
              </a:rPr>
              <a:t>¿Qué vas a hacer?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328416"/>
            <a:ext cx="1600200" cy="384048"/>
          </a:xfrm>
          <a:prstGeom prst="roundRect">
            <a:avLst>
              <a:gd name="adj" fmla="val 20000"/>
            </a:avLst>
          </a:prstGeom>
          <a:solidFill>
            <a:srgbClr val="FE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346704"/>
            <a:ext cx="160020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Bricolage Grotesque"/>
              </a:rPr>
              <a:t>vamos 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50592" y="3346704"/>
            <a:ext cx="137160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we gaan / laten we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58768" y="3346704"/>
            <a:ext cx="347472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A6E78"/>
                </a:solidFill>
                <a:latin typeface="Inter"/>
              </a:rPr>
              <a:t>Vamos a dormir un poquito más.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931920"/>
            <a:ext cx="6492240" cy="566928"/>
          </a:xfrm>
          <a:prstGeom prst="roundRect">
            <a:avLst>
              <a:gd name="adj" fmla="val 10000"/>
            </a:avLst>
          </a:prstGeom>
          <a:solidFill>
            <a:srgbClr val="FBEAEC"/>
          </a:solidFill>
          <a:ln w="1778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005072"/>
            <a:ext cx="6217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A8323B"/>
                </a:solidFill>
                <a:latin typeface="Inter"/>
              </a:rPr>
              <a:t>Siempre con «a»: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voy </a:t>
            </a:r>
            <a:r>
              <a:rPr sz="1500" b="1" i="0">
                <a:solidFill>
                  <a:srgbClr val="EA7317"/>
                </a:solidFill>
                <a:latin typeface="Inter"/>
              </a:rPr>
              <a:t>a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estudiar  ·  vamos </a:t>
            </a:r>
            <a:r>
              <a:rPr sz="1500" b="1" i="0">
                <a:solidFill>
                  <a:srgbClr val="EA7317"/>
                </a:solidFill>
                <a:latin typeface="Inter"/>
              </a:rPr>
              <a:t>a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pasear  —  </a:t>
            </a:r>
            <a:r>
              <a:rPr sz="1200" b="0" i="1">
                <a:solidFill>
                  <a:srgbClr val="6A6E78"/>
                </a:solidFill>
                <a:latin typeface="Inter"/>
              </a:rPr>
              <a:t>de «a» mag nooit weg.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617720"/>
            <a:ext cx="6492240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💡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Net als in het Nederlands: «ik </a:t>
            </a:r>
            <a:r>
              <a:rPr sz="1200" b="1" i="0">
                <a:solidFill>
                  <a:srgbClr val="EA7317"/>
                </a:solidFill>
                <a:latin typeface="Inter"/>
              </a:rPr>
              <a:t>ga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koffie zetten». Dit is dé A1-manier om over de </a:t>
            </a:r>
            <a:r>
              <a:rPr sz="1200" b="1" i="0">
                <a:solidFill>
                  <a:srgbClr val="7C3AED"/>
                </a:solidFill>
                <a:latin typeface="Inter"/>
              </a:rPr>
              <a:t>toekomst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te praten.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Y para preguntar: </a:t>
            </a:r>
            <a:r>
              <a:rPr sz="1200" b="1" i="0">
                <a:solidFill>
                  <a:srgbClr val="EA7317"/>
                </a:solidFill>
                <a:latin typeface="Inter"/>
              </a:rPr>
              <a:t>¿Qué vas a hacer esta tarde? · ¿Vamos a tomar algo?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80960" y="1737360"/>
            <a:ext cx="4023360" cy="3749039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63840" y="1609344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🔎 FÍJATE · EN LA ESCENA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2103120"/>
            <a:ext cx="3566160" cy="21945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Je hoorde het al: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«</a:t>
            </a:r>
            <a:r>
              <a:rPr sz="1300" b="1" i="0">
                <a:solidFill>
                  <a:srgbClr val="EA7317"/>
                </a:solidFill>
                <a:latin typeface="Inter"/>
              </a:rPr>
              <a:t>Voy a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preparar café.»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«</a:t>
            </a:r>
            <a:r>
              <a:rPr sz="1300" b="1" i="0">
                <a:solidFill>
                  <a:srgbClr val="EA7317"/>
                </a:solidFill>
                <a:latin typeface="Inter"/>
              </a:rPr>
              <a:t>Vamos a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dormir un poquito más.»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«El domingo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voy a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quedar con unas amigas.»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«El jueves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voy a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dar unas clases de baile.»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4343400"/>
            <a:ext cx="356616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¿Y tú? · En jij?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¿Qué vas a hacer el finde?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Antwoord met «Voy a…» + het hele werkwoord.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tener que + infinitivo ↔ tener + sustantivo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«Moeten» met que + het hele werkwoord — maar géén «que» vóór een naamwoord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532120" cy="14813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08176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tener que + infinitivo · moeten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1051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Bricolage Grotesque"/>
              </a:rPr>
              <a:t>tengo que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ik moet 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Tengo que trabajar.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Bricolage Grotesque"/>
              </a:rPr>
              <a:t>tienes que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jij moet 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¿Tienes que hacer algo?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42032"/>
            <a:ext cx="5120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Letterlijk: «ik </a:t>
            </a:r>
            <a:r>
              <a:rPr sz="1100" b="1" i="0">
                <a:solidFill>
                  <a:srgbClr val="A8323B"/>
                </a:solidFill>
                <a:latin typeface="Inter"/>
              </a:rPr>
              <a:t>héb te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werken» → tengo que trabajar.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98448"/>
            <a:ext cx="5532120" cy="1481328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08176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tener + sustantivo · zonder «que»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792224"/>
            <a:ext cx="2606040" cy="841248"/>
          </a:xfrm>
          <a:prstGeom prst="roundRect">
            <a:avLst>
              <a:gd name="adj" fmla="val 10000"/>
            </a:avLst>
          </a:prstGeom>
          <a:solidFill>
            <a:srgbClr val="FE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847088"/>
            <a:ext cx="2423160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4530E"/>
                </a:solidFill>
                <a:latin typeface="Inter"/>
              </a:rPr>
              <a:t>✅ así lo dice el español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Tengo hambre · sed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Tengo sueño · prisa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792224"/>
            <a:ext cx="2606040" cy="841248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8008" y="1847088"/>
            <a:ext cx="2423160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40AF"/>
                </a:solidFill>
                <a:latin typeface="Inter"/>
              </a:rPr>
              <a:t>🇳🇱 wat wij zeggen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ik heb honger · dorst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ik ben slaperig · heb haast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889504"/>
            <a:ext cx="5532120" cy="1170432"/>
          </a:xfrm>
          <a:prstGeom prst="roundRect">
            <a:avLst>
              <a:gd name="adj" fmla="val 5500"/>
            </a:avLst>
          </a:prstGeom>
          <a:solidFill>
            <a:srgbClr val="FDE8E8"/>
          </a:solidFill>
          <a:ln w="30480">
            <a:solidFill>
              <a:srgbClr val="DC2626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2761488"/>
            <a:ext cx="1717243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¡OJO! · LA TRAMPA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127248"/>
            <a:ext cx="512064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«ik ben slaperig» = </a:t>
            </a:r>
            <a:r>
              <a:rPr sz="1700" b="1" i="0">
                <a:solidFill>
                  <a:srgbClr val="EA7317"/>
                </a:solidFill>
                <a:latin typeface="Bricolage Grotesque"/>
              </a:rPr>
              <a:t>tengo sueño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nooit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estoy sueño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of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soy sueño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— letterlijk: «ik héb slaap».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889504"/>
            <a:ext cx="5532120" cy="1170432"/>
          </a:xfrm>
          <a:prstGeom prst="roundRect">
            <a:avLst>
              <a:gd name="adj" fmla="val 5500"/>
            </a:avLst>
          </a:prstGeom>
          <a:solidFill>
            <a:srgbClr val="FDE8E8"/>
          </a:solidFill>
          <a:ln w="30480">
            <a:solidFill>
              <a:srgbClr val="DC2626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2761488"/>
            <a:ext cx="1717243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¡OJO! · LA TRAMPA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127248"/>
            <a:ext cx="512064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vóór een werkwoord → </a:t>
            </a:r>
            <a:r>
              <a:rPr sz="1300" b="1" i="0">
                <a:solidFill>
                  <a:srgbClr val="20242E"/>
                </a:solidFill>
                <a:latin typeface="Inter"/>
              </a:rPr>
              <a:t>tengo </a:t>
            </a:r>
            <a:r>
              <a:rPr sz="1500" b="1" i="0">
                <a:solidFill>
                  <a:srgbClr val="DC2626"/>
                </a:solidFill>
                <a:latin typeface="Inter"/>
              </a:rPr>
              <a:t>que</a:t>
            </a:r>
            <a:r>
              <a:rPr sz="1300" b="1" i="0">
                <a:solidFill>
                  <a:srgbClr val="20242E"/>
                </a:solidFill>
                <a:latin typeface="Inter"/>
              </a:rPr>
              <a:t> trabajar</a:t>
            </a:r>
            <a:r>
              <a:rPr sz="1150" b="0" i="0">
                <a:solidFill>
                  <a:srgbClr val="20242E"/>
                </a:solidFill>
                <a:latin typeface="Inter"/>
              </a:rPr>
              <a:t>  (niet </a:t>
            </a:r>
            <a:r>
              <a:rPr sz="1150" b="1" i="0">
                <a:solidFill>
                  <a:srgbClr val="DC2626"/>
                </a:solidFill>
                <a:latin typeface="Inter"/>
              </a:rPr>
              <a:t>tengo trabajar</a:t>
            </a:r>
            <a:r>
              <a:rPr sz="1150" b="0" i="0">
                <a:solidFill>
                  <a:srgbClr val="20242E"/>
                </a:solidFill>
                <a:latin typeface="Inter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vóór een naamwoord → </a:t>
            </a:r>
            <a:r>
              <a:rPr sz="1300" b="1" i="0">
                <a:solidFill>
                  <a:srgbClr val="20242E"/>
                </a:solidFill>
                <a:latin typeface="Inter"/>
              </a:rPr>
              <a:t>tengo hambre</a:t>
            </a:r>
            <a:r>
              <a:rPr sz="1150" b="0" i="1">
                <a:solidFill>
                  <a:srgbClr val="6A6E78"/>
                </a:solidFill>
                <a:latin typeface="Inter"/>
              </a:rPr>
              <a:t>  (géén «que»!)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169663"/>
            <a:ext cx="11201400" cy="713232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242816"/>
            <a:ext cx="10789920" cy="594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A8323B"/>
                </a:solidFill>
                <a:latin typeface="Bricolage Grotesque"/>
              </a:rPr>
              <a:t>Rechazar con educación ·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«— ¿Quedamos para ir al cine? —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No puedo</a:t>
            </a:r>
            <a:r>
              <a:rPr sz="1200" b="0" i="0">
                <a:solidFill>
                  <a:srgbClr val="20242E"/>
                </a:solidFill>
                <a:latin typeface="Inter"/>
              </a:rPr>
              <a:t>. </a:t>
            </a:r>
            <a:r>
              <a:rPr sz="1250" b="1" i="0">
                <a:solidFill>
                  <a:srgbClr val="EA7317"/>
                </a:solidFill>
                <a:latin typeface="Inter"/>
              </a:rPr>
              <a:t>Tengo que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pasear al perro. </a:t>
            </a:r>
            <a:r>
              <a:rPr sz="1250" b="1" i="0">
                <a:solidFill>
                  <a:srgbClr val="A8323B"/>
                </a:solidFill>
                <a:latin typeface="Inter"/>
              </a:rPr>
              <a:t>¡Qué pena!</a:t>
            </a:r>
            <a:r>
              <a:rPr sz="1200" b="0" i="0">
                <a:solidFill>
                  <a:srgbClr val="20242E"/>
                </a:solidFill>
                <a:latin typeface="Inter"/>
              </a:rPr>
              <a:t>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Dos pasos: </a:t>
            </a:r>
            <a:r>
              <a:rPr sz="1150" b="1" i="0">
                <a:solidFill>
                  <a:srgbClr val="DC2626"/>
                </a:solidFill>
                <a:latin typeface="Inter"/>
              </a:rPr>
              <a:t>no puedo</a:t>
            </a:r>
            <a:r>
              <a:rPr sz="1150" b="0" i="0">
                <a:solidFill>
                  <a:srgbClr val="20242E"/>
                </a:solidFill>
                <a:latin typeface="Inter"/>
              </a:rPr>
              <a:t> + </a:t>
            </a:r>
            <a:r>
              <a:rPr sz="1150" b="1" i="0">
                <a:solidFill>
                  <a:srgbClr val="EA7317"/>
                </a:solidFill>
                <a:latin typeface="Inter"/>
              </a:rPr>
              <a:t>la razón (tengo que…)</a:t>
            </a:r>
            <a:r>
              <a:rPr sz="1150" b="0" i="1">
                <a:solidFill>
                  <a:srgbClr val="6A6E78"/>
                </a:solidFill>
                <a:latin typeface="Inter"/>
              </a:rPr>
              <a:t> · verzachters: ¡Qué pena! · Otro día, ¿vale?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983480"/>
            <a:ext cx="11155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Completa · vul aan (klik voor de oplossing):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Yo ___ estudiar (plan).   Tengo ___ trabajar.   Tengo ___ (honger).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76672"/>
            <a:ext cx="10698480" cy="4572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8323B"/>
                </a:solidFill>
                <a:latin typeface="Inter"/>
              </a:rPr>
              <a:t>voy a · que · hambre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248656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33" name="Rounded Rectangle 32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el diálogo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Vul samen aan — klik voor de oplossing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¿Qué haces esta tarde?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___ a estudiar.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¿Y esta noche?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___ ___ pasear al perro.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¿Y el domingo? ¿___ a tomar algo?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8348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El domingo no ___. ¡Qué pena!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1737360"/>
            <a:ext cx="4023360" cy="36576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1. Voy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2. Tengo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3. que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4. vamos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5. puedo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1609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20" name="Rounded Rectangle 19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HABLAR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Invita y rechaza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Nodig uit, wijs beleefd af en zoek samen een moment dat past — sin leer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31089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649224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Modelo · zeg dit hardop: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«— ¿Vamos al cine el sábado?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No puedo. Tengo que cuidar a mi hermano. ¡Qué pena!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¿Y el domingo por la tarde?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Vale, el domingo estoy libre.»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554480"/>
            <a:ext cx="402336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783080"/>
            <a:ext cx="356616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¿Cómo? · Werkvorm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1. Invita: «¿Vamos a…?» · «¿Quedamos para…?».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2. Rechaza: «No puedo. Tengo que…».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3. Suaviza: «¡Qué pena! Otro día, ¿vale?».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4. Propón otro momento: «¿Y el domingo?».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5. Acepta: «Vale, estoy libre».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Interactie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= uitnodigen, afwijzen mét een echte reden, en tóch een moment vinden. Wijs 2× af en zeg 1× ja. Verstaan? Zeg: «¿Cómo? / ¿Puedes repetir?»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CULTURA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finde en el mundo hispano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Het weekend begint er later — en muziek die jullie kennen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Quevedo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Bzrp #52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Karol 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Provenza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Aitana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Las Babys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Manu Chao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Me Gustas Tú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🇪🇸/🇫🇷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Álvaro Soler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El Mismo Sol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Camilo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Vida de Rico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29200"/>
            <a:ext cx="11201400" cy="96012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38928"/>
            <a:ext cx="1069848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🎉 El «finde» en el mundo hispano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In España spreekt men om uit te gaan vaak pas om </a:t>
            </a:r>
            <a:r>
              <a:rPr sz="1200" b="1" i="0">
                <a:solidFill>
                  <a:srgbClr val="7C3AED"/>
                </a:solidFill>
                <a:latin typeface="Inter"/>
              </a:rPr>
              <a:t>las diez o las once (22–23 u)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af. Valt een feestdag op donderdag, dan «maakt men een brug» — </a:t>
            </a:r>
            <a:r>
              <a:rPr sz="1200" b="1" i="0">
                <a:solidFill>
                  <a:srgbClr val="A8323B"/>
                </a:solidFill>
                <a:latin typeface="Inter"/>
              </a:rPr>
              <a:t>hacer puente</a:t>
            </a:r>
            <a:r>
              <a:rPr sz="1200" b="0" i="0">
                <a:solidFill>
                  <a:srgbClr val="20242E"/>
                </a:solidFill>
                <a:latin typeface="Inter"/>
              </a:rPr>
              <a:t>: ook de vrijdag vrij.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Jongeren zeggen </a:t>
            </a:r>
            <a:r>
              <a:rPr sz="1200" b="1" i="0">
                <a:solidFill>
                  <a:srgbClr val="A8323B"/>
                </a:solidFill>
                <a:latin typeface="Inter"/>
              </a:rPr>
              <a:t>el finde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(spreektaal voor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el fin de semana</a:t>
            </a:r>
            <a:r>
              <a:rPr sz="1200" b="0" i="0">
                <a:solidFill>
                  <a:srgbClr val="20242E"/>
                </a:solidFill>
                <a:latin typeface="Inter"/>
              </a:rPr>
              <a:t>), en </a:t>
            </a:r>
            <a:r>
              <a:rPr sz="1200" b="1" i="0">
                <a:solidFill>
                  <a:srgbClr val="7C3AED"/>
                </a:solidFill>
                <a:latin typeface="Inter"/>
              </a:rPr>
              <a:t>el domingo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is bij veel families de dag van de familiemaaltijd. Playlist + LyricsTraining op de hub → tabblad Música.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§5 · TAREA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finde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Vul je weekend-agenda in: 3 planes + 2 obligaciones — en maak samen een afspraak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035040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6035040" cy="45720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56692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Bricolage Grotesque"/>
              </a:rPr>
              <a:t>MI FINDE · Academia «Welcome to Spanish»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121408"/>
            <a:ext cx="1828800" cy="292608"/>
          </a:xfrm>
          <a:prstGeom prst="roundRect">
            <a:avLst>
              <a:gd name="adj" fmla="val 16000"/>
            </a:avLst>
          </a:prstGeom>
          <a:solidFill>
            <a:srgbClr val="FBEAEC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139696"/>
            <a:ext cx="1828800" cy="2560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Bricolage Grotesque"/>
              </a:rPr>
              <a:t>¿Cuándo?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05456" y="2121408"/>
            <a:ext cx="2011680" cy="292608"/>
          </a:xfrm>
          <a:prstGeom prst="roundRect">
            <a:avLst>
              <a:gd name="adj" fmla="val 16000"/>
            </a:avLst>
          </a:prstGeom>
          <a:solidFill>
            <a:srgbClr val="FBEAEC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05456" y="2139696"/>
            <a:ext cx="2011680" cy="2560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Bricolage Grotesque"/>
              </a:rPr>
              <a:t>Voy a… (plan)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121408"/>
            <a:ext cx="2011680" cy="292608"/>
          </a:xfrm>
          <a:prstGeom prst="roundRect">
            <a:avLst>
              <a:gd name="adj" fmla="val 16000"/>
            </a:avLst>
          </a:prstGeom>
          <a:solidFill>
            <a:srgbClr val="FBEAEC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139696"/>
            <a:ext cx="2011680" cy="2560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Bricolage Grotesque"/>
              </a:rPr>
              <a:t>Tengo que… (obligación)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2468880"/>
            <a:ext cx="1828800" cy="438912"/>
          </a:xfrm>
          <a:prstGeom prst="roundRect">
            <a:avLst>
              <a:gd name="adj" fmla="val 8000"/>
            </a:avLst>
          </a:prstGeom>
          <a:solidFill>
            <a:srgbClr val="F3EEE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496312"/>
            <a:ext cx="17373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El sábado por la mañana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05456" y="2468880"/>
            <a:ext cx="201168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0" y="2468880"/>
            <a:ext cx="201168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" y="2944368"/>
            <a:ext cx="1828800" cy="438912"/>
          </a:xfrm>
          <a:prstGeom prst="roundRect">
            <a:avLst>
              <a:gd name="adj" fmla="val 8000"/>
            </a:avLst>
          </a:prstGeom>
          <a:solidFill>
            <a:srgbClr val="F3EEE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2971800"/>
            <a:ext cx="17373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El sábado por la tarde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05456" y="2944368"/>
            <a:ext cx="201168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0" y="2944368"/>
            <a:ext cx="201168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" y="3419856"/>
            <a:ext cx="1828800" cy="438912"/>
          </a:xfrm>
          <a:prstGeom prst="roundRect">
            <a:avLst>
              <a:gd name="adj" fmla="val 8000"/>
            </a:avLst>
          </a:prstGeom>
          <a:solidFill>
            <a:srgbClr val="F3EEE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447288"/>
            <a:ext cx="17373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El sábado por la noche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05456" y="3419856"/>
            <a:ext cx="201168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0" y="3419856"/>
            <a:ext cx="201168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1792" y="3895344"/>
            <a:ext cx="1828800" cy="438912"/>
          </a:xfrm>
          <a:prstGeom prst="roundRect">
            <a:avLst>
              <a:gd name="adj" fmla="val 8000"/>
            </a:avLst>
          </a:prstGeom>
          <a:solidFill>
            <a:srgbClr val="F3EEE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3922776"/>
            <a:ext cx="17373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El domingo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05456" y="3895344"/>
            <a:ext cx="201168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2000" y="3895344"/>
            <a:ext cx="201168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434840"/>
            <a:ext cx="566928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🤝 Nuestro plan: Quedamos el </a:t>
            </a:r>
            <a:r>
              <a:rPr sz="1150" b="0" i="0">
                <a:solidFill>
                  <a:srgbClr val="E4E3DE"/>
                </a:solidFill>
                <a:latin typeface="Inter"/>
              </a:rPr>
              <a:t>______ </a:t>
            </a:r>
            <a:r>
              <a:rPr sz="1150" b="1" i="0">
                <a:solidFill>
                  <a:srgbClr val="20242E"/>
                </a:solidFill>
                <a:latin typeface="Inter"/>
              </a:rPr>
              <a:t>a las </a:t>
            </a:r>
            <a:r>
              <a:rPr sz="1150" b="0" i="0">
                <a:solidFill>
                  <a:srgbClr val="E4E3DE"/>
                </a:solidFill>
                <a:latin typeface="Inter"/>
              </a:rPr>
              <a:t>______ </a:t>
            </a:r>
            <a:r>
              <a:rPr sz="1150" b="1" i="0">
                <a:solidFill>
                  <a:srgbClr val="20242E"/>
                </a:solidFill>
                <a:latin typeface="Inter"/>
              </a:rPr>
              <a:t>en </a:t>
            </a:r>
            <a:r>
              <a:rPr sz="1150" b="0" i="0">
                <a:solidFill>
                  <a:srgbClr val="E4E3DE"/>
                </a:solidFill>
                <a:latin typeface="Inter"/>
              </a:rPr>
              <a:t>__________ 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66560" y="1554480"/>
            <a:ext cx="4937760" cy="329184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60" y="1719072"/>
            <a:ext cx="4480560" cy="3017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Los pasos · stappen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1. Rellena tu finde: 3 planes met «voy a + infinitivo» + 2 obligaciones met «tengo que + infinitivo».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2. Invita a un compañero: «¿Vamos a…?» · «¿Quedamos para… el…?».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3. Rechaza una vez con educación: «No puedo. Tengo que… ¡Qué pena!».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4. Cerrad un plan: zoek tóch één moment dat past en spreek af (dag + uur).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5. Presenta: vertel je finde + jullie afspraak aan de klas — sin leer.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983480"/>
            <a:ext cx="694944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🏁 Klaar als…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je 3 plannen zegt met «voy a + infinitivo», 2 verplichtingen met «tengo que + infinitivo», één uitnodiging beleefd afwijst («no puedo, tengo que…») en samen één afspraak vastlegt — zónder af te lezen.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0" y="4956048"/>
            <a:ext cx="40233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5029200"/>
            <a:ext cx="36576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A8323B"/>
                </a:solidFill>
                <a:latin typeface="Bricolage Grotesque"/>
              </a:rPr>
              <a:t>Evaluatie · 🟢🟡🔴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· ir a + infinitivo correct (planes)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· tener que + infinitivo correct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· rechazar met excuus &amp; durf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FUNCIONES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Mis funciones comunicativas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Lo que ya sé hacer — crece cada unidad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1556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Mi repertorio: 20 / 20 funciones — </a:t>
            </a:r>
            <a:r>
              <a:rPr sz="1200" b="0" i="0">
                <a:solidFill>
                  <a:srgbClr val="6A6E78"/>
                </a:solidFill>
                <a:latin typeface="Inter"/>
              </a:rPr>
              <a:t>no solo palabras: lo que puedo HACER con el español.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64208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691640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Saludar y despedirse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852172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Hola · Adiós · Hasta luego · Buenos días / tardes / noches · ¡Buenas! · Hasta mañana · ¡Nos vemos!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64208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691640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Presentarse y presentar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852172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Me llamo… · (Yo) soy… · Encantado/a · Soy de… (país) · Soy español/a · mexicano/a · belga · Esta es mi madre · Este es mi padre · Es mi hermano/a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137867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165299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Pedir y dar información personal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325831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¿Cómo te llamas? · ¿Y tú? · ¿De dónde eres? · ¿De qué país? · ¿Qué idiomas hablas?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137867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165299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Reaccionar con cortesía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325831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Por favor · Gracias · Muchas gracias · De nada · Perdona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611526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2638958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Preguntar y decir cómo estoy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2799490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¿Qué tal? · ¿Cómo estás? · Estoy bien / cansado-a / ocupado-a · Regular · Estamos todos bien / tranquilos · ¿Estáis bien? · estar = toestand · ser = wie/wat je bent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611526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2638958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Pedir algo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2799490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…, por favor · ¿Me da…?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085185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3112617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Contar (números 0–20)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3273149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uno · dos · tres · cinco · diez · veinte · las horas: la una · las doce · y media · y cuarto · menos cuarto · en veinte minutos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085185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3112617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Gestionar la comprensión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3273149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¿Cómo? · Otra vez, por favor · ¿Puedes repetir? · Más despacio, por favor · No entiendo · ¿Sí? · No te oigo (nada) · ¿Puedes hablar más despacio?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558844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3586276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Hablar de la familia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3746808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mi madre · mi padre · mi hermano/a · mi abuelo/a · el tío / la tía · la hermana de María (de + nombre)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558844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8" y="3586276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Describir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3746808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es alto/a · bajo/a · guapo/a · es simpático/a · divertido/a · inteligente · es muy… · un poco…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032504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4059936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Identificar objetos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" y="4220468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¿Qué es esto? · Esto es un/una… · Esto son… (meervoud) · un libro · una mesa (el/la)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4032504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64808" y="4059936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Decir qué hay y para qué sirve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4808" y="4220468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¿Hay…? · (No) hay… · Sí que hay… · … que sirve para + infinitivo · sirve para abrir · beber · descansar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506163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" y="4533595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Ubicar cosas · decir dónde está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" y="4694127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¿Dónde está…? · está en… · encima de · debajo de · dentro de · al lado de · delante de · detrás de · Hay … en la cocina · del (de+el)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4506163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64808" y="4533595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Pedir y dar permiso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64808" y="4694127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¿Puedo…? · ¿Puedes…? · Sí, puedes… · Aquí no · puedes ir fuera · ¿Puedo fumar? · ¿Puedes venir?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4979822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8" y="5007254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Hablar del trabajo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" y="5167786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¿A qué te dedicas? · ¿En qué trabajas? · Soy profesor/a · escritor/a · actriz · Trabajo en una tienda · una oficina · ser + profesión (zonder un/una)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63640" y="4979822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64808" y="5007254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Especular y adivinar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64808" y="5167786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Puede ser… (escritora) · ¿Trabaja en una tienda? · Creo que es… · ¡Ya lo sé! · ¿O algo parecido?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" y="5453481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4088" y="5480913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Decir y preguntar la hora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088" y="5641445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¿Qué hora es? · Es la una · Son las ocho · y media · y cuarto · menos cuarto · en punto · ¿A qué hora? · a las doce · el lunes · los lunes · el fin de semana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63640" y="5453481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64808" y="5480913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Quedar con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▲ nivel+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64808" y="5641445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¿Quieres quedar (esta noche)? · Quedamos a las… · en mi casa · Más tarde · ahora mismo no puedo · Es un poco pronto · un poco tarde · Hasta ahora · te veo en veinte minutos · ¿Quedamos para ir al cine? …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2920" y="5927140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4088" y="5954572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Hablar de planes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088" y="6115104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Voy a + infinitivo (voy a preparar café) · Vamos a dormir un poquito más · El domingo voy a quedar con amigas · ¿Vamos a pasear?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63640" y="5927140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64808" y="5954572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Expresar obligación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64808" y="6115104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Tengo que + infinitivo (tengo que trabajar) · Tengo cosas que hacer · ¿Tienes que hacer algo? · tengo hambre · tengo sueño (tener + naamwoord)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6236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REPASO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je nu kunt — semáforo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6949440" cy="3017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6492240" cy="2834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maak je een plan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42E"/>
                </a:solidFill>
                <a:latin typeface="Inter"/>
              </a:rPr>
              <a:t>Voy a estudiar · Vamos a dormir · ¿Qué vas a hacer?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A6E78"/>
                </a:solidFill>
                <a:latin typeface="Inter"/>
              </a:rPr>
              <a:t>altijd «a» + het hele werkwoord — dé A1-manier voor de toekomst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zeg je wat je moet doen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Tengo que trabajar · ¿Tienes que hacer algo? · Tengo cosas que hacer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Tengo hambre · sueño · sed · prisa (zónder «que»)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wijs je beleefd af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No puedo. Tengo que… · ¡Qué pena! · Otro día, ¿vale? · Vale, estoy libre.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709160"/>
            <a:ext cx="6949440" cy="914400"/>
          </a:xfrm>
          <a:prstGeom prst="roundRect">
            <a:avLst>
              <a:gd name="adj" fmla="val 5500"/>
            </a:avLst>
          </a:prstGeom>
          <a:solidFill>
            <a:srgbClr val="FDE8E8"/>
          </a:solidFill>
          <a:ln w="25400">
            <a:solidFill>
              <a:srgbClr val="DC2626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782312"/>
            <a:ext cx="649224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C2626"/>
                </a:solidFill>
                <a:latin typeface="Bricolage Grotesque"/>
              </a:rPr>
              <a:t>¡Ojo! · las dos trampas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«ik ben slaperig» = </a:t>
            </a:r>
            <a:r>
              <a:rPr sz="1250" b="1" i="0">
                <a:solidFill>
                  <a:srgbClr val="EA7317"/>
                </a:solidFill>
                <a:latin typeface="Inter"/>
              </a:rPr>
              <a:t>tengo sueño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(nooit «estoy sueño»).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En de «que»: tengo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que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trabajar (werkwoord) ↔ tengo hambre (naamwoord, géén «que»).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554480"/>
            <a:ext cx="4023360" cy="40690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737360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Puedo… · Ik kan…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28600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plannen zeggen (voy a · vamos a + inf.)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78892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vragen «¿qué vas a hacer?»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29184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verplichtingen zeggen (tengo que + inf.)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79476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tener + naamwoord (hambre · sueño)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29768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een uitnodiging aannemen (¡vale!)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80060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beleefd afwijzen (no puedo, tengo que…)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516636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🎮 Repasa jugando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online op de hub · la máquina de frases · invita y rechaza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Bricolage Grotesque"/>
              </a:rPr>
              <a:t>Docentendossier · Unidad 9 «Planes y obligaciones»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Timing (2 lesuren van 50 min).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CEAE3"/>
                </a:solidFill>
                <a:latin typeface="Inter"/>
              </a:rPr>
              <a:t>Les 1: Escucha (sitcom ep. 9 — op een zaterdagmorgen stelt Julio de hele week plannen voor: café, samen slapen, cine, pasear… en María heeft élke keer «cosas que hacer»: tengo que pasear al perro, tengo que lavarme el pelo, tengo que trabajar) + Suena bien (los diptongos ie &amp; ue + la tilde en el diptongo) + La máquina de frases + Kit (planes · obligaciones · actividades del finde · con tener · aceptar o rechazar). Les 2: gramática functioneel (ir a + infinitivo · tener que + infinitivo ↔ tener + sustantivo · rechazar con educación), práctica, hablar «Invita y rechaza», tarea «Mi finde» + cultura.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VIDEO = GOOGLE DRIVE (geen YouTube voor deze aflevering).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CEAE3"/>
                </a:solidFill>
                <a:latin typeface="Inter"/>
              </a:rPr>
              <a:t>File-id 1YlBRdAs4L4fOvmXylmQLlRSJMoRto7Kb (deelrechten reader/anyone). INTERNET VEREIST. In de escucha-dia klik je op de poster om in PowerPoint af te spelen; lukt dat niet, gebruik de knop «▶ Abrir en Drive» of open https://drive.google.com/file/d/1YlBRdAs4L4fOvmXylmQLlRSJMoRto7Kb/view zelf in een browser. Test de verbinding vóór de les.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Aanpak C4 (survival).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CEAE3"/>
                </a:solidFill>
                <a:latin typeface="Inter"/>
              </a:rPr>
              <a:t>Chunks komen auditief binnen (luisteren → naspreken). «voy a / vas a / vamos a» en «tengo que / tienes que» presenteren als VASTE CHUNKS uit de scène — géén vervoegingsparadigma van «ir» of «tener»; het volledige werkwoordsysteem komt in het 5de jaar (C5). «ir a + infinitivo» is bovendien de A1-manier om over de toekomst te praten: géén futuro simple introduceren (dat blijft ook in het 6de buiten scope). TWEE KERNVALSTRIKKEN: (1) «ik ben slaperig» = tengo sueño (letterlijk «ik héb slaap») — nooit «estoy sueño»/«soy sueño»; idem tengo hambre/sed/prisa; (2) de «que» is verplicht vóór een werkwoord (tengo QUE trabajar, niet «tengo trabajar») maar valt weg vóór een naamwoord (tengo hambre). Verder: de «a» in «voy a estudiar» mag nooit weg; ná voy a / tengo que komt áltijd het hele werkwoord. Rechazar = twee stappen (no puedo + de reden), verzacht met «¡qué pena!» of «otro día, ¿vale?». Uitspraak: los diptongos ie &amp; ue = twee klinkers in ÉÉN lettergreep (qu-ie-ro in 2 stukken, pue-do niet «pu-e-do»); in que/qui is de u stil (recycling U7), dus daar géén diptongo; la tilde valt op de tweede klinker (adiós · después · también · canción). Doelcodes: C4-WS-1 · C4-TS-3 · C4-SP-1 · C4-LU-1 · C4-GE-3 · C4-STR-1 · C4-MEC-1/2 · C4-CU-1.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Evaluatie.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CEAE3"/>
                </a:solidFill>
                <a:latin typeface="Inter"/>
              </a:rPr>
              <a:t>Mondelinge mini-taak «Mi finde»: weekend-agenda met 3 planes (voy a…) + 2 obligaciones (tengo que…) presenteren, een klasgenoot uitnodigen, één keer beleefd afwijzen en samen één afspraak vastleggen. Geen leerplan → focus op «kunnen gebruiken in de praktijk». Rubric: ir a + infinitivo correct (planes) · tener que + infinitivo correct · rechazar met excuus &amp; durf.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A6A29A"/>
                </a:solidFill>
                <a:latin typeface="Inter"/>
              </a:rPr>
              <a:t>Oplossingen staan bij elke oefendia in de presenter-notities; antwoorden verschijnen bij klik.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