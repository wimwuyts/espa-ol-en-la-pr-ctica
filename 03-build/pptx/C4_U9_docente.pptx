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video van aflevering 9 komt uit GOOGLE DRIVE (er is voor deze aflevering géén YouTube-link): file-id 1YlBRdAs4L4fOvmXylmQLlRSJMoRto7Kb, deelrechten reader/anyone → INTERNET VEREIST. Klik op de poster om in PowerPoint af te spelen; lukt dat niet, klik dan de knop «▶ Abrir en Drive» (of open de Drive-link zelf in een browser: https://drive.google.com/file/d/1YlBRdAs4L4fOvmXylmQLlRSJMoRto7Kb/view) — dan speelt de video in het browsertabblad. Aanpak: eerst één keer kijken zónder transcript (globaal begrijpen: Julio blijft de hele week voorstellen doen, María heeft élke keer een excuus), daarna met het transcript. Laat de leerlingen twee kolommen maken: PLANES (voy a…) ↔ OBLIGACIONES (tengo que…). Focus op de contrasterende chunks: «voy a preparar café» / «vamos a dormir» / «voy a quedar con unas amigas» tegenover «tengo que pasear al perro» / «tengo que lavarme el pelo» / «tengo que trabajar» / «tengo cosas que hacer». Let ook op «tengo sueño» (= slaperig zijn) en het beleefde «no puedo». Doelcodes: C4-LU-1 · C4-STR-1 · C4-WS-1.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Werkvorm: bouw hardop in koor. Wijs blok 1 aan (voy a / tengo que), dan blok 3 (het infinitivo) en de klas zegt de volledige zin; klik daarna de zin open ter controle. Daarna variëren: laat leerlingen zelf een infinitivo roepen. Kernidee van de máquina: de eerste blok is een VASTE CHUNK (voy a · vamos a · tengo que · tienes que) en blok 2 dwingt het HELE werkwoord af — zo hoeven leerlingen niets te vervoegen (het paradigma van «ir» en «tener» komt in C5). Kleurcode: werkwoord = oranje (§13); de rode middenblok = de huisstijlkleur van C4. Oplossing: Voy a ir al cine. · Tengo que estudiar. · Vamos a tomar algo. Doelcodes: C4-WS-1 · C4-TS-3 · C4-SP-1 · C4-MEC-2.</a:t>
            </a:r>
          </a:p>
          <a:p/>
          <a:p>
            <a:r>
              <a:t>— SOLUCIÓN (docent · presenter view) —</a:t>
            </a:r>
          </a:p>
          <a:p>
            <a:r>
              <a:t>Voy a ir al cine. · Tengo que estudiar. · Vamos a tomar algo.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«ir a + infinitivo» is de A1-manier om over de toekomst te praten — géén futuro simple (dat blijft buiten C4 én C6). Presenteer «voy a / vas a / vamos a» als VASTE CHUNKS, niet als vervoegingsparadigma van «ir»: het werkwoordsysteem (en dus het volledige paradigma voy/vas/va/vamos/vais/van) hoort in het 5de jaar (C5). Kernpunt: de «a» mag nooit weg (voy A estudiar) en ná «voy a» komt áltijd het hele werkwoord. Sterke steun voor Nederlandstaligen: het parallel loopt met «ik ga + infinitief». Kleurcode: werkwoord = oranje (§13). Doelcodes: C4-WS-1 · C4-TS-3 · C4-SP-1 · C4-GE-3.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Twee contrasten op één dia. (1) «tener que + infinitivo» = moeten: tengo que / tienes que + het HELE werkwoord. De «que» is verplicht: tengo QUE trabajar, nooit «tengo trabajar». (2) «tener + sustantivo» = precies zónder que: tengo hambre / sed / sueño / prisa. DE KERNVALSTRIK voor Nederlandstaligen: «ik ben slaperig» = tengo sueño (letterlijk «ik héb slaap») — nooit «estoy sueño» of «soy sueño»; hetzelfde patroon geldt voor honger, dorst en haast. Rechazar = twee stappen: «no puedo» + de reden («tengo que…»), eventueel verzacht met «¡qué pena!» of «otro día, ¿vale?». C4-scope: «tengo que / tienes que» zijn VASTE CHUNKS — géén vervoegingsparadigma van «tener» (tengo/tienes/tiene/tenemos/tenéis/tienen); dat systeem komt in het 5de jaar (C5). Oplossing: voy a · que · hambre.</a:t>
            </a:r>
          </a:p>
          <a:p/>
          <a:p>
            <a:r>
              <a:t>— SOLUCIÓN (docent · presenter view) —</a:t>
            </a:r>
          </a:p>
          <a:p>
            <a:r>
              <a:t>voy a · que · hambre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duo, hardop). Klik daarna de oplossing open. Let op: «Voy a estudiar» — de «a» staat er al, dus enkel «Voy» invullen; «Tengo que pasear» — hier zijn twee gaten (Tengo + que) omdat de «que» vóór een werkwoord verplicht is; «¿Vamos a tomar algo?» = een uitnodiging (wij); «no puedo» = de beleefde afwijzing, versterkt door «¡qué pena!». Oplossing: Voy · Tengo · que · vamos · puedo.</a:t>
            </a:r>
          </a:p>
          <a:p/>
          <a:p>
            <a:r>
              <a:t>— SOLUCIÓN (docent · presenter view) —</a:t>
            </a:r>
          </a:p>
          <a:p>
            <a:r>
              <a:t>1. Voy</a:t>
            </a:r>
          </a:p>
          <a:p>
            <a:r>
              <a:t>2. Tengo</a:t>
            </a:r>
          </a:p>
          <a:p>
            <a:r>
              <a:t>3. que</a:t>
            </a:r>
          </a:p>
          <a:p>
            <a:r>
              <a:t>4. vamos</a:t>
            </a:r>
          </a:p>
          <a:p>
            <a:r>
              <a:t>5. puedo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YlBRdAs4L4fOvmXylmQLlRSJMoRto7Kb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YlBRdAs4L4fOvmXylmQLlRSJMoRto7Kb/preview" TargetMode="External"/><Relationship Id="rId5" Type="http://schemas.microsoft.com/office/2007/relationships/media" Target="https://drive.google.com/file/d/1YlBRdAs4L4fOvmXylmQLlRSJMoRto7Kb/preview" TargetMode="External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Planes y obligaciones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Voy a preparar café.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Eh… tengo cosas que hacer.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gaat doen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moet doen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— en beleefd «nee» zeggen (voy a · tengo que · no puedo).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Julio stelt de hele week plannen voor… en María heeft élke keer «cosas que hacer».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Hablar de planes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ir a + infinitivo: voy a estudiar · vamos a dormir · ¿qué vas a hacer?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Expresar obligación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tener que + infinitivo: tengo que trabajar · ¿tienes que hacer algo?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tener + sustantivo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tengo hambre · tengo sueño · tengo sed · tengo prisa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Rechazar con educación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no puedo, tengo que… · ¡qué pena! · otro día, ¿vale?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los diptongos ie &amp; ue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La máquina de frases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voy a / tengo que + infinitivo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planes · obligaciones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ir a · tener que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invita y rechaza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finde en el mundo hispano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finde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Ná «voy a» en «tengo que» komt áltijd het hele werkwoord: voy a estudiar · tengo que trabajar. En «ik ben slaperig» = tengo sueño!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stelt de hele week plannen voor; María heeft élke keer iets te doen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54480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Buenos días. Voy a preparar café. ¿Quieres desayunar?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09597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91309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Ah… no tengo mucha hambre.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04642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028138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Pero es sábado. Tengo sueño. ¿No tienes sueño?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83255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264967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Vamos a dormir un poquito más.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5200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501796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Tengo cosas que hacer.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56913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738625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 esta noche, ¿quedamos para ir al cine?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99374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975454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Eh… no puedo. Tengo que pasear al perro de mi madre.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30571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212283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¿Y esta tarde? ¿Vamos a pasear, a comprar cosas?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6740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449112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Mmm…, tengo que lavarme el pelo.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04229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685941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¿Y mañana? ¿Tienes que hacer algo?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4105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922770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 domingo voy a quedar con unas amigas.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177887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159599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¿El lunes, el martes, el miércoles?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41471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396428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Tengo que trabajar.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651545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633257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¿Por las noches?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88837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70086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Por las noches tengo que dormir.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125203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106915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 jueves voy a dar unas clases de baile flamenco.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62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43744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 próximo fin de semana. ¿Tienes que ir a la India en globo?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598861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5580573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No, estoy aquí, pero tengo cosas que hacer. Cosas. Adiós.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Voy a preparar café · vamos a dormir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Tengo que trabajar · ¿tienes que…?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Tengo sueño · no tengo mucha hambre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puedo · tengo cosas que hacer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 noche · esta tarde · el próximo finde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9 — klik om af te spelen</a:t>
            </a:r>
          </a:p>
        </p:txBody>
      </p:sp>
      <p:sp>
        <p:nvSpPr>
          <p:cNvPr id="49" name="Rounded Rectangle 48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50" name="Picture 49" descr="video_poster_U9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diptongos ie &amp; ue · la tilde en el diptongo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Twee klinkers samen = één lettergreep — en waar het accent dan komt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El diptongo ie · una sola sílaba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20242E"/>
                </a:solidFill>
                <a:latin typeface="Inter"/>
              </a:rPr>
              <a:t>qu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·ro · t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·nes · b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n · s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·te · f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s·ta · v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r·nes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«quiero» = 2 stukken (qu</a:t>
            </a:r>
            <a:r>
              <a:rPr sz="1100" b="1" i="0">
                <a:solidFill>
                  <a:srgbClr val="D64550"/>
                </a:solidFill>
                <a:latin typeface="Inter"/>
              </a:rPr>
              <a:t>ie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-ro), niet 3 (qui-e-ro).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El diptongo ue · una sola sílaba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20242E"/>
                </a:solidFill>
                <a:latin typeface="Inter"/>
              </a:rPr>
              <a:t>p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·do · b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·no · l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·go · f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·ra · j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·go · c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n·ta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Glijd vloeiend van de u naar de e — in één beweging.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Splits ze niet: «pu-e-do» klinkt fout — zeg «</a:t>
            </a:r>
            <a:r>
              <a:rPr sz="1300" b="1" i="0">
                <a:solidFill>
                  <a:srgbClr val="A8323B"/>
                </a:solidFill>
                <a:latin typeface="Inter"/>
              </a:rPr>
              <a:t>pue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-do» in één beweging. En in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que / qui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is de u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stil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(zoals in U7): daar is het géén diptongo.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La tilde en el diptongo · het accent komt op de tweede klinker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a·di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des·p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tam·b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IÉN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can·c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42432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Valt de klemtoon op een diptongo aan het eind van het woord, dan staat de tilde op de TWEEDE klinker: adiós · después · también · canción.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LA MÁQUINA DE FRASES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Voy a / Tengo que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Twee bouwstenen, altijd in dezelfde volgorde — klik en de zin verschijnt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69164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83794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Voy 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plan · ik 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1691640"/>
            <a:ext cx="2834640" cy="914400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83794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9164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837944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estudiar · ir al cine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1947672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691640"/>
            <a:ext cx="2194560" cy="914400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Voy a estudiar.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ga studeren.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74320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88950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Tengo que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obligación · ik moet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743200"/>
            <a:ext cx="2834640" cy="914400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88950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74320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889504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trabajar · dormir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999232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743200"/>
            <a:ext cx="2194560" cy="914400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Tengo que trabajar.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moet werken.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40480"/>
            <a:ext cx="11201400" cy="7315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3931920"/>
            <a:ext cx="1069848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blok 1 (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of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) + blok 2 = altijd het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hele werkwoord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(el infinitivo: -ar · -er · -ir). Nooit een vervoegde vorm!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Ook zo: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vamos a pasear · ¿qué vas a hacer? · ¿tienes que trabajar?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 —   en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a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en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mogen nooit weg.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7548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Construye · bouw zelf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plan + ir al cine  ·  obligación + estudiar  ·  nosotros + plan + tomar algo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193792"/>
            <a:ext cx="10698480" cy="50292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Voy a ir al cine. · Tengo que estudiar. · Vamos a tomar algo.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065776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planes · las obligaciones · el finde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Plannen maken, zeggen wat je moet doen &amp; wat je in het weekend doet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Los planes · voy a… 🗓️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Voy a + infinitivo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ga + werkwoord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Voy a preparar café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ga koffie zetten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Vamos a dormir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we gaan / laten we slapen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¿Vamos a pasear?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gaan we wandelen?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¿Qué vas a hacer?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wat ga je doen?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El domingo voy a quedar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zondag ga ik afspreken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Las obligaciones · tengo que… 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+ infinitivo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+ werkwoord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trabajar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werken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estudiar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studeren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¿Tienes que hacer algo?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moet je iets doen?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cosas que hacer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heb dingen te doen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dormir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slapen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Actividades del finde 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ir al cine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naar de cinema gaan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pasear al perro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hond uitlaten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quedar con amigos/as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afspreken met vrienden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ver una película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een film kijken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jugar al fútbol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voetballen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tomar algo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iets gaan drinken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 tener · aceptar o rechazar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«Tener» waar wij «zijn/hebben» zeggen &amp; ja of nee zeggen op een uitnodiging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Con tener · «geen ser/estar»! 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hambre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honger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sueño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slaperig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sed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dorst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prisa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haast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cosas que hacer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dingen te doen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Aceptar o rechazar 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¡Vale! · ¡Perfecto!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oké! · perfect!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libre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vrij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puedo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kan niet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pena!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jammer!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Otro día, ¿vale?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andere dag, oké?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Tengo sueño = «ik ben slaperig» (letterlijk «ik héb slaap») · rechazar = nee + reden: «No puedo. Tengo que…» + ¡Qué pena!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ir a + infinitivo — hablar de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wat je gaat doen: voy a / vas a / vamos a + het hele werkwoord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voy a  ·  vas a  ·  vamos a  +  infinitivo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77440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395728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voy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2395728"/>
            <a:ext cx="13716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2395728"/>
            <a:ext cx="347472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Voy a preparar café.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2852928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871216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vas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0592" y="2871216"/>
            <a:ext cx="13716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jij gaat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8768" y="2871216"/>
            <a:ext cx="347472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¿Qué vas a hacer?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28416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346704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vamos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0592" y="3346704"/>
            <a:ext cx="13716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we gaan / laten we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3346704"/>
            <a:ext cx="347472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Vamos a dormir un poquito más.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931920"/>
            <a:ext cx="6492240" cy="566928"/>
          </a:xfrm>
          <a:prstGeom prst="roundRect">
            <a:avLst>
              <a:gd name="adj" fmla="val 10000"/>
            </a:avLst>
          </a:prstGeom>
          <a:solidFill>
            <a:srgbClr val="FBEAEC"/>
          </a:solidFill>
          <a:ln w="1778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05072"/>
            <a:ext cx="6217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Siempre con «a»: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voy </a:t>
            </a:r>
            <a:r>
              <a:rPr sz="1500" b="1" i="0">
                <a:solidFill>
                  <a:srgbClr val="EA7317"/>
                </a:solidFill>
                <a:latin typeface="Inter"/>
              </a:rPr>
              <a:t>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estudiar  ·  vamos </a:t>
            </a:r>
            <a:r>
              <a:rPr sz="1500" b="1" i="0">
                <a:solidFill>
                  <a:srgbClr val="EA7317"/>
                </a:solidFill>
                <a:latin typeface="Inter"/>
              </a:rPr>
              <a:t>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pasear  —  </a:t>
            </a:r>
            <a:r>
              <a:rPr sz="1200" b="0" i="1">
                <a:solidFill>
                  <a:srgbClr val="6A6E78"/>
                </a:solidFill>
                <a:latin typeface="Inter"/>
              </a:rPr>
              <a:t>de «a» mag nooit weg.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617720"/>
            <a:ext cx="649224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💡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Net als in het Nederlands: «ik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ga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koffie zetten». Dit is dé A1-manier om over de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toekomst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te praten.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 para preguntar: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¿Qué vas a hacer esta tarde? · ¿Vamos a tomar algo?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63840" y="1609344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🔎 FÍJATE · EN LA ESCENA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210312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Je hoorde het al: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preparar café.»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Vamos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dormir un poquito más.»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«El domingo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quedar con unas amigas.»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«El jueves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dar unas clases de baile.»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343400"/>
            <a:ext cx="356616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¿Y tú? · En jij?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¿Qué vas a hacer el finde?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Antwoord met «Voy a…» + het hele werkwoord.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tener que + infinitivo ↔ tener + sustantivo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«Moeten» met que + het hele werkwoord — maar géén «que» vóór een naamwoord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tener que + infinitivo · moeten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tengo que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ik moet 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Tengo que trabajar.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tienes que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jij moet 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¿Tienes que hacer algo?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42032"/>
            <a:ext cx="5120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Letterlijk: «ik </a:t>
            </a:r>
            <a:r>
              <a:rPr sz="1100" b="1" i="0">
                <a:solidFill>
                  <a:srgbClr val="A8323B"/>
                </a:solidFill>
                <a:latin typeface="Inter"/>
              </a:rPr>
              <a:t>héb 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werken» → tengo que trabajar.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tener + sustantivo · zonder «que»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4530E"/>
                </a:solidFill>
                <a:latin typeface="Inter"/>
              </a:rPr>
              <a:t>✅ así lo dice el español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Tengo hambre · sed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Tengo sueño · prisa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Inter"/>
              </a:rPr>
              <a:t>🇳🇱 wat wij zeggen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heb honger · dorst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slaperig · heb haast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«ik ben slaperig» = </a:t>
            </a:r>
            <a:r>
              <a:rPr sz="1700" b="1" i="0">
                <a:solidFill>
                  <a:srgbClr val="EA7317"/>
                </a:solidFill>
                <a:latin typeface="Bricolage Grotesque"/>
              </a:rPr>
              <a:t>tengo sueño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nooit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estoy sueño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of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soy sueño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— letterlijk: «ik héb slaap».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vóór een werkwoord →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tengo </a:t>
            </a:r>
            <a:r>
              <a:rPr sz="150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300" b="1" i="0">
                <a:solidFill>
                  <a:srgbClr val="20242E"/>
                </a:solidFill>
                <a:latin typeface="Inter"/>
              </a:rPr>
              <a:t> trabajar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(niet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tengo trabajar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vóór een naamwoord →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tengo hambre</a:t>
            </a:r>
            <a:r>
              <a:rPr sz="1150" b="0" i="1">
                <a:solidFill>
                  <a:srgbClr val="6A6E78"/>
                </a:solidFill>
                <a:latin typeface="Inter"/>
              </a:rPr>
              <a:t>  (géén «que»!)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169663"/>
            <a:ext cx="11201400" cy="71323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42816"/>
            <a:ext cx="1078992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Rechazar con educación ·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«— ¿Quedamos para ir al cine? —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No puedo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pasear al perro. </a:t>
            </a:r>
            <a:r>
              <a:rPr sz="1250" b="1" i="0">
                <a:solidFill>
                  <a:srgbClr val="A8323B"/>
                </a:solidFill>
                <a:latin typeface="Inter"/>
              </a:rPr>
              <a:t>¡Qué pena!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pasos: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no puedo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150" b="1" i="0">
                <a:solidFill>
                  <a:srgbClr val="EA7317"/>
                </a:solidFill>
                <a:latin typeface="Inter"/>
              </a:rPr>
              <a:t>la razón (tengo que…)</a:t>
            </a:r>
            <a:r>
              <a:rPr sz="1150" b="0" i="1">
                <a:solidFill>
                  <a:srgbClr val="6A6E78"/>
                </a:solidFill>
                <a:latin typeface="Inter"/>
              </a:rPr>
              <a:t> · verzachters: ¡Qué pena! · Otro día, ¿vale?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estudiar (plan).   Tengo ___ trabajar.   Tengo ___ (honger).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376672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voy a · que · hambre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248656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haces esta tarde?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a estudiar.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esta noche?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___ pasear al perro.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el domingo? ¿___ a tomar algo?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El domingo no ___. ¡Qué pena!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Voy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Tengo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que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vamos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puedo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0" name="Rounded Rectangle 1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Invita y rechaza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Nodig uit, wijs beleefd af en zoek samen een moment dat past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«— ¿Vamos al cine el sábado?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No puedo. Tengo que cuidar a mi hermano. ¡Qué pena!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el domingo por la tarde?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Vale, el domingo estoy libre.»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Invita: «¿Vamos a…?» · «¿Quedamos para…?».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Rechaza: «No puedo. Tengo que…».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Suaviza: «¡Qué pena! Otro día, ¿vale?».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Propón otro momento: «¿Y el domingo?».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5. Acepta: «Vale, estoy libre».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uitnodigen, afwijzen mét een echte reden, en tóch een moment vinden. Wijs 2× af en zeg 1× ja. Verstaan? Zeg: «¿Cómo? / ¿Puedes repetir?»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finde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Het weekend begint er later — en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Provenza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El Mismo Sol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Camilo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Vida de Rico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🎉 El «finde» en 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 España spreekt men om uit te gaan vaak pas om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las diez o las once (22–23 u)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af. Valt een feestdag op donderdag, dan «maakt men een brug» —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hacer puente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ook de vrijdag vrij.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Jongeren zeggen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el finde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(spreektaal voor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el fin de semana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), en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el domingo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is bij veel families de dag van de familiemaaltijd. Playlist + LyricsTraining op de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finde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je weekend-agenda in: 3 planes + 2 obligaciones — en maak samen een afspraak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4572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9344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FINDE · Academia «Welcome to Spanish»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121408"/>
            <a:ext cx="182880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139696"/>
            <a:ext cx="182880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Bricolage Grotesque"/>
              </a:rPr>
              <a:t>¿Cuándo?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2121408"/>
            <a:ext cx="201168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5456" y="2139696"/>
            <a:ext cx="201168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Bricolage Grotesque"/>
              </a:rPr>
              <a:t>Voy a… (plan)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121408"/>
            <a:ext cx="201168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39696"/>
            <a:ext cx="201168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Bricolage Grotesque"/>
              </a:rPr>
              <a:t>Tengo que… (obligación)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2468880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496312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sábado por la mañana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2468880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468880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2944368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97180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sábado por la tarde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5456" y="2944368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0" y="2944368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3419856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3447288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sábado por la noche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5456" y="3419856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0" y="3419856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792" y="3895344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922776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domingo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5456" y="3895344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0" y="3895344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434840"/>
            <a:ext cx="56692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🤝 Nuestro plan: Quedamos el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a las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en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__________ 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1719072"/>
            <a:ext cx="4480560" cy="3017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1. Rellena tu finde: 3 planes met «voy a + infinitivo» + 2 obligaciones met «tengo que + infinitivo».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2. Invita a un compañero: «¿Vamos a…?» · «¿Quedamos para… el…?».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3. Rechaza una vez con educación: «No puedo. Tengo que… ¡Qué pena!».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4. Cerrad un plan: zoek tóch één moment dat past en spreek af (dag + uur).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5. Presenta: vertel je finde + jullie afspraak aan de klas — sin leer.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3 plannen zegt met «voy a + infinitivo», 2 verplichtingen met «tengo que + infinitivo», één uitnodiging beleefd afwijst («no puedo, tengo que…») en samen één afspraak vastlegt — zónder af te lezen.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ir a + infinitivo correct (planes)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tener que + infinitivo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rechazar met excuus &amp; durf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20 / 20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52172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91640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52172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37867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165299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325831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37867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165299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325831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611526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638958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799490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611526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638958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799490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85185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112617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273149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085185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112617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273149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55884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58627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374680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55884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358627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374680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03250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05993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422046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03250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405993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422046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506163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4533595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4694127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506163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533595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4694127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979822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5007254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5167786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979822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5007254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5167786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453481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5480913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" y="5641445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· el fin de semana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5453481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64808" y="5480913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8" y="5641445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· te veo en veinte minutos · ¿Quedamos para ir al cine? 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5927140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" y="5954572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 planes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115104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Voy a + infinitivo (voy a preparar café) · Vamos a dormir un poquito más · El domingo voy a quedar con amigas · ¿Vamos a pasear?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63640" y="5927140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64808" y="5954572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Expresar obligación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8" y="6115104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Tengo que + infinitivo (tengo que trabajar) · Tengo cosas que hacer · ¿Tienes que hacer algo? · tengo hambre · tengo sueño (tener + naamwoord)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maak je een plan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Voy a estudiar · Vamos a dormir · ¿Qué vas a hacer?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altijd «a» + het hele werkwoord — dé A1-manier voor de toekomst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je moet doen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que trabajar · ¿Tienes que hacer algo? · Tengo cosas que hacer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hambre · sueño · sed · prisa (zónder «que»)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wijs je beleefd af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puedo. Tengo que… · ¡Qué pena! · Otro día, ¿vale? · Vale, estoy libre.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82312"/>
            <a:ext cx="64922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las dos trampas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«ik ben slaperig» =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tengo sueño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(nooit «estoy sueño»).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de «que»: tengo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trabajar (werkwoord) ↔ tengo hambre (naamwoord, géén «que»).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plannen zeggen (voy a · vamos a + inf.)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vragen «¿qué vas a hacer?»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verplichtingen zeggen (tengo que + inf.)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tener + naamwoord (hambre · sueño)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een uitnodiging aannemen (¡vale!)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beleefd afwijzen (no puedo, tengo que…)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la máquina de frases · invita y rechaza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9 «Planes y obligaciones»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Les 1: Escucha (sitcom ep. 9 — op een zaterdagmorgen stelt Julio de hele week plannen voor: café, samen slapen, cine, pasear… en María heeft élke keer «cosas que hacer»: tengo que pasear al perro, tengo que lavarme el pelo, tengo que trabajar) + Suena bien (los diptongos ie &amp; ue + la tilde en el diptongo) + La máquina de frases + Kit (planes · obligaciones · actividades del finde · con tener · aceptar o rechazar). Les 2: gramática functioneel (ir a + infinitivo · tener que + infinitivo ↔ tener + sustantivo · rechazar con educación), práctica, hablar «Invita y rechaza», tarea «Mi finde» + cultura.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VIDEO = GOOGLE DRIVE (geen YouTube voor deze aflevering).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File-id 1YlBRdAs4L4fOvmXylmQLlRSJMoRto7Kb (deelrechten reader/anyone). INTERNET VEREIST. In de escucha-dia klik je op de poster om in PowerPoint af te spelen; lukt dat niet, gebruik de knop «▶ Abrir en Drive» of open https://drive.google.com/file/d/1YlBRdAs4L4fOvmXylmQLlRSJMoRto7Kb/view zelf in een browser. Test de verbinding vóór de les.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Chunks komen auditief binnen (luisteren → naspreken). «voy a / vas a / vamos a» en «tengo que / tienes que» presenteren als VASTE CHUNKS uit de scène — géén vervoegingsparadigma van «ir» of «tener»; het volledige werkwoordsysteem komt in het 5de jaar (C5). «ir a + infinitivo» is bovendien de A1-manier om over de toekomst te praten: géén futuro simple introduceren (dat blijft ook in het 6de buiten scope). TWEE KERNVALSTRIKKEN: (1) «ik ben slaperig» = tengo sueño (letterlijk «ik héb slaap») — nooit «estoy sueño»/«soy sueño»; idem tengo hambre/sed/prisa; (2) de «que» is verplicht vóór een werkwoord (tengo QUE trabajar, niet «tengo trabajar») maar valt weg vóór een naamwoord (tengo hambre). Verder: de «a» in «voy a estudiar» mag nooit weg; ná voy a / tengo que komt áltijd het hele werkwoord. Rechazar = twee stappen (no puedo + de reden), verzacht met «¡qué pena!» of «otro día, ¿vale?». Uitspraak: los diptongos ie &amp; ue = twee klinkers in ÉÉN lettergreep (qu-ie-ro in 2 stukken, pue-do niet «pu-e-do»); in que/qui is de u stil (recycling U7), dus daar géén diptongo; la tilde valt op de tweede klinker (adiós · después · también · canción). Doelcodes: C4-WS-1 · C4-TS-3 · C4-SP-1 · C4-LU-1 · C4-GE-3 · C4-STR-1 · C4-MEC-1/2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Mondelinge mini-taak «Mi finde»: weekend-agenda met 3 planes (voy a…) + 2 obligaciones (tengo que…) presenteren, een klasgenoot uitnodigen, één keer beleefd afwijzen en samen één afspraak vastleggen. Geen leerplan → focus op «kunnen gebruiken in de praktijk». Rubric: ir a + infinitivo correct (planes) · tener que + infinitivo correct · rechazar met excuus &amp; durf.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