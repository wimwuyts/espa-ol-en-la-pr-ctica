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zS4KXwLAnG9XrDxH2toHqlNHrGyd9Qv_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zS4KXwLAnG9XrDxH2toHqlNHrGyd9Qv_/preview" TargetMode="External"/><Relationship Id="rId5" Type="http://schemas.microsoft.com/office/2007/relationships/media" Target="https://drive.google.com/file/d/1zS4KXwLAnG9XrDxH2toHqlNHrGyd9Qv_/pre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 hora y los días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¿Qué hora es?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Son las ocho y media.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hoe laat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het is 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afspreken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(es la una · son las ocho · a las doce · el lunes · quedar).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Julio telefoneert met «Laura»… en noemt álle uren.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la hora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 la una · son las ocho · y cuarto · y media · menos cuarto · en punto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¿a qué hora?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a la una · a las doce = «om…»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Los días de la semana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el lunes (op maandag) · los lunes (elke maandag) — kleine letter!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Quedar con alguien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¿quieres quedar? · quedamos a las… · ¿dónde quedamos?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d suave · los números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Los relojes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¿qué hora es? · de klokjes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hora · los días · quedar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es la/son las · a las · el lunes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queda con un compañero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los horarios en el mundo hispano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horario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Eén uur is enkelvoud («es la una»), álle andere uren meervoud («son las ocho»). En «half negen» = las ocho y media!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doet alsof hij met «Laura» telefoneert… en noemt álle uren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276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09344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¿Sí? Laura, ¿cómo estás? ¿Qué? No te oigo 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796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961388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¿Esta noche? ¿Quieres quedar esta noche?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317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313432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Estoy en una fiesta. ¿Puedes hablar más despacio?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8376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65476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Más tarde sí, más tarde puede 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358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017520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Entonces, quedamos en mi casa. ¿A qué hora?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785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369564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No, a las once no, mejor a las doce.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3989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721608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¿Qué hora es ahora? ¿Las ocho y media?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9194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073652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Ahora mismo no puedo quedar.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439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425696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Pues no sé, un cine, un restaurante. Es un poco pronto.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960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777740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Te veo en veinte minutos. Hasta ahora. Un beso.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480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129784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Bueno, me voy, es un poco tarde.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50011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481828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Venga, vámonos… A tomar una cerveza.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hora es? · las ocho y media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 qué hora? · a las once · a las doce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¿Quieres quedar? · quedamos en mi casa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 noche · más tarde · ahora mismo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 te oigo nada · hasta ahora · un beso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8 — klik om af te spelen</a:t>
            </a:r>
          </a:p>
        </p:txBody>
      </p:sp>
      <p:sp>
        <p:nvSpPr>
          <p:cNvPr id="37" name="Rounded Rectangle 36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38" name="Picture 37" descr="video_poster_U8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d suave ↔ la d inicial · el acento en los números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zachte d tussen klinkers &amp; waar de klemtoon valt bij getallen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La d suave · tussen klinkers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42E"/>
                </a:solidFill>
                <a:latin typeface="Inter"/>
              </a:rPr>
              <a:t>na·da · ca·da · me·dia · sá·ba·do · que·dar · adiós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Tussen klinkers is de d héél zacht — bijna als de Engelse «th» in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La d inicial · steviger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42E"/>
                </a:solidFill>
                <a:latin typeface="Inter"/>
              </a:rPr>
              <a:t>día · dos · doce · domingo · después · despacio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Aan het begin van een woord is de d stevig (zoals in het Nederlands).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Zeg «me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ia» héél zacht — niet als de harde NL «d» in «medisch». Vergelijk: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oce (stevig)  ↔  na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 (zacht).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El acento en los números · mét of zónder tilde? (helpt je de uren correct zeggen)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die·ci·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SÉIS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vein·ti·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DÓS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↔      ca·</a:t>
            </a:r>
            <a:r>
              <a:rPr sz="2000" b="1" i="0">
                <a:solidFill>
                  <a:srgbClr val="7C3AED"/>
                </a:solidFill>
                <a:latin typeface="Bricolage Grotesque"/>
              </a:rPr>
              <a:t>TOR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·ce      cua·</a:t>
            </a:r>
            <a:r>
              <a:rPr sz="2000" b="1" i="0">
                <a:solidFill>
                  <a:srgbClr val="7C3AED"/>
                </a:solidFill>
                <a:latin typeface="Bricolage Grotesque"/>
              </a:rPr>
              <a:t>REN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Klemtoon op de láátste lettergreep → tilde (dieciséis, veintidós, veintitrés) · klemtoon op de voorlaatste → géén tilde (catorce, cuarenta, treinta).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LOS RELOJES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hora es? — mira los relojes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Lees de klok in het Spaans — let goed op «y media»!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53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39446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4800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9446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6154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4460" y="1884762"/>
            <a:ext cx="0" cy="419526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94460" y="2048982"/>
            <a:ext cx="147401" cy="255306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5331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Es la una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0205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26898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2252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6898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73606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68980" y="2304288"/>
            <a:ext cx="419526" cy="0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68980" y="2304288"/>
            <a:ext cx="292280" cy="38479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22783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3.15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tres y cuarto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794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6572" y="1737360"/>
            <a:ext cx="1133856" cy="11338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514350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9704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4350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61058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43500" y="2304288"/>
            <a:ext cx="0" cy="419526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858743" y="2304288"/>
            <a:ext cx="284757" cy="76300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0235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8.30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C2626"/>
                </a:solidFill>
                <a:latin typeface="Bricolage Grotesque"/>
              </a:rPr>
              <a:t>Son las ocho y media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1380744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850" b="1">
                <a:solidFill>
                  <a:srgbClr val="FFFFFF"/>
                </a:solidFill>
                <a:latin typeface="Inter"/>
              </a:rPr>
              <a:t>¡OJO! half negen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5109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01802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7156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1802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48510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598494" y="2304288"/>
            <a:ext cx="419526" cy="0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905204" y="2304288"/>
            <a:ext cx="112816" cy="272362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97687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6.45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siete menos cuarto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100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2561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889254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4608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89254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35962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92540" y="1884762"/>
            <a:ext cx="0" cy="419526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892540" y="2009486"/>
            <a:ext cx="0" cy="294802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85139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100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12.00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doce en punto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7552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20013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076706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22060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76706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023414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767060" y="2094525"/>
            <a:ext cx="363320" cy="209763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473380" y="2278595"/>
            <a:ext cx="293680" cy="25693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072591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7552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9.10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4867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nueve y diez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4343400"/>
            <a:ext cx="11201400" cy="658368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4434840"/>
            <a:ext cx="106984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tot :30 →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y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cuarto / media (erbij)   ·   vanaf :31 →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menos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cuarto mét het VÓLGENDE uur (6.45 = son las siete menos cuarto)   ·   exact op het uur →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en punto</a:t>
            </a:r>
            <a:r>
              <a:rPr sz="125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138928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Di la hora · zeg hardop (klik voor de oplossing): </a:t>
            </a:r>
            <a:r>
              <a:rPr sz="1500" b="1" i="0">
                <a:solidFill>
                  <a:srgbClr val="20242E"/>
                </a:solidFill>
                <a:latin typeface="Inter"/>
              </a:rPr>
              <a:t>2.30  ·  5.45  ·  1.15  ·  9.00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son las dos y media · son las seis menos cuarto · es la una y cuarto · son las nueve en punto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8680" y="54041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83" name="Rounded Rectangle 8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hora · los días · los momentos del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tijd zeggen, de dagen van de week &amp; wanneer op de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¿Qué hora es? 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Es la una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één uur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Son las ocho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acht uur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y cuarto · y media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kwart over · half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menos cuarto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kwart voor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en punto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precies (op het uur)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¿A qué hora?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hoe laat? (afspraak)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días de la semana 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lunes · martes · miércoles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ma · di · 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jueves · viernes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do · 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sábado · domingo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za · 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el fin de semana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weekend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hoy · mañana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vandaag · morgen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el lunes · los lunes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op maandag · elke maandag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momentos del día 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por la mañana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's ochtends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por la tarde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's middags/'s avonds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por la noche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's nachts/laat op de avond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esta noche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vanavond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más tarde · ahora mismo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later · nu meteen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pronto · tarde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vroeg · laat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Quedar &amp; por teléfono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Afspreken maken &amp; je redden aan de telefoon (zoals Julio)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Quedar · afspreken 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¿Quieres quedar?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wil je afspreken?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¿A qué hora?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laat?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Quedamos a las siete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spreken af om zeven uur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¿Dónde quedamos?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spreken we af?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Vale · perfecto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oké · perfect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Por teléfono 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¿Sí?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ja? (de telefoon opnemen)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No te oigo (nada)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hoor je (helemaal) niet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¿Puedes hablar más despacio?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kan je langzamer spreken?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ahora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straks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Un beso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kusje (afscheid)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Hasta ahora = «tot straks» (niet «tot nu»!) · quedar = afspreken, niet «blijven» · quedamos a las… mét 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hora es? — es la una ↔ son las 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Eén uur = enkelvoud, alle andere uren = meervoud + y cuarto/y media/menos cuarto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 la una  ↔  son las ocho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3172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395728"/>
            <a:ext cx="28346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21B6"/>
                </a:solidFill>
                <a:latin typeface="Inter"/>
              </a:rPr>
              <a:t>🕐 alleen 1 uur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Inter"/>
              </a:rPr>
              <a:t>Es la </a:t>
            </a:r>
            <a:r>
              <a:rPr sz="1500" b="0" i="0">
                <a:solidFill>
                  <a:srgbClr val="20242E"/>
                </a:solidFill>
                <a:latin typeface="Inter"/>
              </a:rPr>
              <a:t>una.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Es la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una y media.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2331720"/>
            <a:ext cx="3200400" cy="914400"/>
          </a:xfrm>
          <a:prstGeom prst="roundRect">
            <a:avLst>
              <a:gd name="adj" fmla="val 9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395728"/>
            <a:ext cx="29260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7A73"/>
                </a:solidFill>
                <a:latin typeface="Inter"/>
              </a:rPr>
              <a:t>🕑 alle andere uren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Inter"/>
              </a:rPr>
              <a:t>Son las </a:t>
            </a:r>
            <a:r>
              <a:rPr sz="1500" b="0" i="0">
                <a:solidFill>
                  <a:srgbClr val="20242E"/>
                </a:solidFill>
                <a:latin typeface="Inter"/>
              </a:rPr>
              <a:t>dos · tres · ocho…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doce en punto.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2900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tres y cuarto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3.15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kwart over drie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3133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tres y media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3.30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half vier (!)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33672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cuatro menos cuarto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3.45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kwart voor vier — het vólgende uur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3600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tres en punto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3.00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precies drie uur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💡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Tot :30 →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y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(erbij). Daarna →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menos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(eraf) mét het vólgende uur.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¡OJO! · LA TRAMPA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057400"/>
            <a:ext cx="35661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C2626"/>
                </a:solidFill>
                <a:latin typeface="Bricolage Grotesque"/>
              </a:rPr>
              <a:t>«half negen»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606040"/>
            <a:ext cx="35661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7C3AED"/>
                </a:solidFill>
                <a:latin typeface="Bricolage Grotesque"/>
              </a:rPr>
              <a:t>= las ocho y media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(8 + 30)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520440"/>
            <a:ext cx="356616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🇪🇸 Spaans kijkt </a:t>
            </a:r>
            <a:r>
              <a:rPr sz="1250" b="1" i="0">
                <a:solidFill>
                  <a:srgbClr val="7C3AED"/>
                </a:solidFill>
                <a:latin typeface="Inter"/>
              </a:rPr>
              <a:t>TERUG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naar het vórige uur.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🇳🇱 Nederlands kijkt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VOORUIT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naar het vólgende.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526280"/>
            <a:ext cx="356616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Dus: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half tien =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las nueve y media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half zeven =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las seis y media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¿A qué hora? · el lunes ↔ los lunes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«Om…» met a las + de dagen met een lidwoord (géén «en», kleine letter)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694944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¿A qué hora? — a la una · a las doce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Inter"/>
              </a:rPr>
              <a:t>Son las ocho.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Het IS 8 u.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(hoe laat het nú 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Inter"/>
              </a:rPr>
              <a:t>A las ocho.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OM 8 u.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(wanneer iets gebeurt)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Inter"/>
              </a:rPr>
              <a:t>¿A qué hora quedamos?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Hoe laat spreken we af?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— A la una y media.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6492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a la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una  · 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a las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dos · a las doce  →  «om…»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08760"/>
            <a:ext cx="4023360" cy="22860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el lunes ↔ los lunes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121408"/>
            <a:ext cx="356616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el </a:t>
            </a:r>
            <a:r>
              <a:rPr sz="1400" b="1" i="0">
                <a:solidFill>
                  <a:srgbClr val="20242E"/>
                </a:solidFill>
                <a:latin typeface="Inter"/>
              </a:rPr>
              <a:t>lunes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op maandag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los </a:t>
            </a:r>
            <a:r>
              <a:rPr sz="1400" b="1" i="0">
                <a:solidFill>
                  <a:srgbClr val="20242E"/>
                </a:solidFill>
                <a:latin typeface="Inter"/>
              </a:rPr>
              <a:t>lunes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elke maandag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A6E78"/>
                </a:solidFill>
                <a:latin typeface="Inter"/>
              </a:rPr>
              <a:t>El lunes quedamos a las seis.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310128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géén «en lunes» · kleine letter: lunes, martes…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___ una y cuarto.   ___ siete.   Quedamos ___ nueve.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 la · Son las · a 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¿Quieres ___ esta noche?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Sí, vale. ¿A qué ___?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¿A ___ nueve?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Mejor a las nueve y ___.  (9.30)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Perfecto. ¡Hasta ___!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quedar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hora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las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media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ahora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Queda con un compañero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Maak samen een afspraak: dag + uur + plaats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«— ¿Quieres quedar el sábado?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— ¿A qué hora?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— Quedamos a las once y media en el centro.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— ¡Vale, hasta el sábado!»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dag: el lunes… el sábado.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Stel een uur voor: «¿a las siete?».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Onderhandel: «mejor a las ocho y media».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Spreek de plaats af: «en el centro».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5. Bevestig: «vale · perfecto · hasta…».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voorstellen, onderhandelen en bevestigen. Hoor je het uur niet? Zeg: «¿Cómo? / ¿Puedes hablar más despacio?»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horarios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klok tikt anders in de Spaanstalige wereld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Despechá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Manuel Turizo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Bachata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Marc Anthony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Vivir Mi Vida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Sofía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Camilo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Vida de Rico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🕐 Los horarios en 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In España eet men warm rond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las dos (14 u)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en avondmaal pas om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las nueve o las diez (21–22 u)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In México is de lunch (14–15 u) de hoofdmaaltijd. De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tarde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duurt tot 20–21 u — daarom zeg je om 19 u nog «buenas tardes».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de dagen? Altijd met een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kleine letter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lunes, martes, sábado…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horario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je weekschema in (4 dagen) en maak samen een afspraak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HORARIO · Academia «Welcome to Spanish»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lunes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57984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7984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miércoles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7984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1992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94176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viernes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94176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8184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0368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sábado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4376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6692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🤝 Mi cita: ¿Quieres quedar </a:t>
            </a:r>
            <a:r>
              <a:rPr sz="1250" b="0" i="0">
                <a:solidFill>
                  <a:srgbClr val="E4E3DE"/>
                </a:solidFill>
                <a:latin typeface="Inter"/>
              </a:rPr>
              <a:t>el ______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? Quedamos </a:t>
            </a:r>
            <a:r>
              <a:rPr sz="1250" b="0" i="0">
                <a:solidFill>
                  <a:srgbClr val="E4E3DE"/>
                </a:solidFill>
                <a:latin typeface="Inter"/>
              </a:rPr>
              <a:t>a las ______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en </a:t>
            </a:r>
            <a:r>
              <a:rPr sz="1250" b="0" i="0">
                <a:solidFill>
                  <a:srgbClr val="E4E3DE"/>
                </a:solidFill>
                <a:latin typeface="Inter"/>
              </a:rPr>
              <a:t>__________ 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Zeg elk uur hardop — let op «es la una» ↔ «son las…».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737360"/>
            <a:ext cx="4480560" cy="2926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Rellena tu horario: 4 dagen, per dag één activiteit met «el + dag» + «a las + uur».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Di la hora en voz alta: zeg elk uur hardop (es la una ↔ son las…).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Queda con un compañero: zoek een moment waarop jullie béíden vrij zijn.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Presenta: vertel je week + jullie afspraak aan de klas — sin leer.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4 momenten zegt met «el + dag» én «a las + uur» (juiste es la/son las), en samen een afspraak maakt met «¿quieres quedar?» — zónder af te lezen.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la hora correct (es la/son las · y media)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el + día en a las + hora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quedar (afspraak maken) &amp; durf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18 / 18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7427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4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7427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9049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21792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40056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9049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1792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40056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16784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44216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926852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16784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744216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926852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4307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27050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45314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4307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27050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45314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769359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796791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979427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69359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796791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979427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29564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32308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50571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9564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32308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50571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82193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84936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503200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82193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84936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503200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348223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375655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558291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5348223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5375655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5558291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87451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590194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608458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· el fin de semana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587451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590194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8" y="608458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· te veo en veinte minutos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hoe laat het 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¿Qué hora es? — Es la una · Son las ocho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cuarto · y media · menos cuarto · en punto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alleen 1 uur = enkelvoud · tot :30 «y», daarna «menos» + volgend uur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maak je een afspraak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¿Quieres quedar el sábado? — ¿A qué hora? — Quedamos a las siete.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 las + uur = «om…» · el lunes (op maandag) · los lunes (elke maandag)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géén «en lunes» · dagen met een kleine letter · hasta ahora = tot straks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649224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de valstrik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«half negen» =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las ocho y media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(8 + 30).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20242E"/>
                </a:solidFill>
                <a:latin typeface="Inter"/>
              </a:rPr>
              <a:t>Spaans kijkt TERUG naar het vórige uur, Nederlands VOORUIT → half tien = las nueve y media.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tijd zeggen (es la una · son las ocho)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y cuarto · y media · menos cuarto gebruiken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«half negen» juist zeggen (las ocho y media)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¿a qué hora? · a las doce gebruiken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dagen zeggen (el lunes · los lunes)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een afspraak maken (¿quieres quedar?)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los relojes · quedar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