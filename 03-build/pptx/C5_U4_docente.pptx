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TITLE. Parada 4 = València (la costa), met Lucía en haar valenciaanse vriendin Bea. Doel: hablar de gustos (gustar/encantar), akkoord gaan of niet (también/tampoco/a mí sí/no) en un plan proponer (querer/poder + infinitivo, quedar). Kernvalstrik meteen benoemen: gustar werkt ómgekeerd — «me gusta la música» = «de muziek bevalt mij»; meervoud → gustaN. Docentdeck = vrije navigatie + oplossing in notities; leerlingdeck (.pptx, F5) = elke klik onthult het volgende antwoord.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LESSON_MENU. Elke tegel = hyperlink; op elke oefendia staat ⌂ Menú terug. Richttijd 50 min. Begin bij §1 (gustar) — het hart van de unit. Kruisverwijzing print/HTML: «oefen online — 24 juegos».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VOCABULARY. Toon de woorden per cluster (ocio/música/sentimientos). Laat raden zónder de NL-gloss. Kernframe «(A mí) me gusta(n)…» meteen inoefenen. Online: flip cards + Memoria de los gustos + Música y cine.</a:t>
            </a:r>
          </a:p>
          <a:p/>
          <a:p>
            <a:r>
              <a:t>— SOLUCIÓN (docent · presenter view) —</a:t>
            </a:r>
          </a:p>
          <a:p>
            <a:r>
              <a:t>🔴 Gustar al revés: me gusta la música = «de muziek bevalt mij». 🔴 Meervoud → gustaN: me gustan los deportes.</a:t>
            </a:r>
          </a:p>
          <a:p>
            <a:r>
              <a:t>Adverbios de frecuencia: siempre · a menudo · a veces · casi nunca · nunca · todos los días.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(color-coding). Maak de omgekeerde constructie fysiek zichtbaar: teken twee pijlen (ik ↔ het ding). gustaN = het meest hardnekkige punt. Elke leerling bouwt «(A mí) me gusta(n)…» met eigen woorden. Kleur nooit als enige drager.</a:t>
            </a:r>
          </a:p>
          <a:p/>
          <a:p>
            <a:r>
              <a:t>— SOLUCIÓN (docent · presenter view) —</a:t>
            </a:r>
          </a:p>
          <a:p>
            <a:r>
              <a:t>Regla: gusta + 1 ding of infinitivo · gustan + meervoud. Idem encanta/encantan. Al revés: het ding is het onderwerp!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(reveal). Laat de klas eerst kiezen, klik dan. Truc: tel het aantal dingen. Een infinitief telt als 1 → gusta. Online: «¿gusta o gustan?» (classify) + «completa: gusta o gustan» (cloze).</a:t>
            </a:r>
          </a:p>
          <a:p/>
          <a:p>
            <a:r>
              <a:t>— SOLUCIÓN (docent · presenter view) —</a:t>
            </a:r>
          </a:p>
          <a:p>
            <a:r>
              <a:t>gusta = één ding of een infinitivo (bailar, leer…).</a:t>
            </a:r>
          </a:p>
          <a:p>
            <a:r>
              <a:t>gustan = meerdere dingen (los deportes, las series). Tel wat je leuk vindt!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OI (reveal). Coro: klas zegt het woord vóór de klik. Kernidee: me/te/le… = «aan wie», gusta/gustan = «wat». Online: «el pronombre OI» (classify) + «¿me, te, le…?» (cloze).</a:t>
            </a:r>
          </a:p>
          <a:p/>
          <a:p>
            <a:r>
              <a:t>— SOLUCIÓN (docent · presenter view) —</a:t>
            </a:r>
          </a:p>
          <a:p>
            <a:r>
              <a:t>me · te · le · nos · os · les. Het OI-woord verandert per persoon; gusta/gustan hangt af van het DING, niet van de persoon.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reacciones. Twee assen: +/– én akkoord/oneens. Onthul per klik. Snelle klasrespons met kaartjes/handen. Online: «la reacción correcta» (classify) + «el espejo de reacciones» (match).</a:t>
            </a:r>
          </a:p>
          <a:p/>
          <a:p>
            <a:r>
              <a:t>— SOLUCIÓN (docent · presenter view) —</a:t>
            </a:r>
          </a:p>
          <a:p>
            <a:r>
              <a:t>+ akkoord → también · + oneens → a mí no · – akkoord → tampoco · – oneens → a mí sí.</a:t>
            </a:r>
          </a:p>
          <a:p>
            <a:r>
              <a:t>Espejo: eerst kijken of de zin + of – is, dan of je akkoord bent.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reacciones (retrieval). Klas roept de reactie vóór de klik. Daarna in parejas: gustos delen en reageren.</a:t>
            </a:r>
          </a:p>
          <a:p/>
          <a:p>
            <a:r>
              <a:t>— SOLUCIÓN (docent · presenter view) —</a:t>
            </a:r>
          </a:p>
          <a:p>
            <a:r>
              <a:t>Akkoord: + → también · – → tampoco. Oneens zou zijn: + → a mí no · – → a mí sí.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READING (lezen→schrijven-keten). Eerst globaal (waarover?), dan scannen. Onthul de antwoorden pas na de klas. Daarna: leerlingen schrijven hun EIGEN perfil (transfer → Tarea Mi playlist).</a:t>
            </a:r>
          </a:p>
          <a:p/>
          <a:p>
            <a:r>
              <a:t>— SOLUCIÓN (docent · presenter view) —</a:t>
            </a:r>
          </a:p>
          <a:p>
            <a:r>
              <a:t>🎯 Leesdoel: scannen naar wat iemand (niet) leuk vindt — niet élk woord begrijpen.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LISTENING (selectief → spreken). Lees elk profiel voor (of TTS op de digitale pagina). Klas noteert gusto + no gusto; onthul per klik. Koppel meteen aan reacties (§2).</a:t>
            </a:r>
          </a:p>
          <a:p/>
          <a:p>
            <a:r>
              <a:t>— SOLUCIÓN (docent · presenter view) —</a:t>
            </a:r>
          </a:p>
          <a:p>
            <a:r>
              <a:t>Modelo-audio (docent leest of TTS): «A mí me gusta la música pop, pero no me gusta el deporte.» …</a:t>
            </a:r>
          </a:p>
          <a:p>
            <a:r>
              <a:t>Daarna spreken: leerling reageert (a mí también/tampoco/sí/no) op elk personage.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querer/poder. Onthul rij per rij; laat de klas de vorm voorspellen. De grijze rijen (nosotros/vosotros) = geen stamwissel. Tweede werkwoord = infinitief. Volledige vervoeging = aparte Conjugador-tool. Online: «¿querer o poder?» + verbo-cloze.</a:t>
            </a:r>
          </a:p>
          <a:p/>
          <a:p>
            <a:r>
              <a:t>— SOLUCIÓN (docent · presenter view) —</a:t>
            </a:r>
          </a:p>
          <a:p>
            <a:r>
              <a:t>🔴 De klinker verandert NIET bij nosotros/vosotros (queremos, podemos). 🔴 Het tweede werkwoord blijft infinitief: Quiero IR (niet «quiero voy»).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SPEAKING (interactie). Automatiseer proponer→aceptar→quedar in rondes met afbouwende steun. Online: recorder (opname + zelfevaluatie). Print blijft bruikbaar zonder opname.</a:t>
            </a:r>
          </a:p>
          <a:p/>
          <a:p>
            <a:r>
              <a:t>— SOLUCIÓN (docent · presenter view) —</a:t>
            </a:r>
          </a:p>
          <a:p>
            <a:r>
              <a:t>Modelo: «¿Quieres ir a la playa el sábado? —¡Vale! ¿A qué hora quedamos? —¿Podemos a las once? —De acuerdo.»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WRITING (lezen→schrijven). Checklist = zichtbare steun; onthul het model pas na het schrijven (retrieval). Nakijkfocus: gusta/gustan, OI-woord, porque. Dit voedt de Tarea «Mi playlist».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VOCAB ocio. Klik onthult; koppel elk woord aan een gustar-zin. Volledige set + audio op de digitale pagina (flip cards + memoria). Adjectief-concordantie kort tonen.</a:t>
            </a:r>
          </a:p>
          <a:p/>
          <a:p>
            <a:r>
              <a:t>— SOLUCIÓN (docent · presenter view) —</a:t>
            </a:r>
          </a:p>
          <a:p>
            <a:r>
              <a:t>Combineer met gustar: Me gusta nadar. · Me gustan las series. · Me encanta la canción porque es divertida.</a:t>
            </a:r>
          </a:p>
          <a:p>
            <a:r>
              <a:t>Adjetivos concuerdan: divertidO / divertidA, aburridO / aburridA. genial e interesante = invariable.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TALLER. ¿por qué?/porque = grote valstrik. Conectoren maken de mening rijker → meteen toepassen in het perfil/de Tarea. Online: «¿por qué o porque?» + «conectores de opinión».</a:t>
            </a:r>
          </a:p>
          <a:p/>
          <a:p>
            <a:r>
              <a:t>— SOLUCIÓN (docent · presenter view) —</a:t>
            </a:r>
          </a:p>
          <a:p>
            <a:r>
              <a:t>🔴 A: ¿por qué? = waarom (twee woorden + tilde) · porque = want/omdat (één woord).</a:t>
            </a:r>
          </a:p>
          <a:p>
            <a:r>
              <a:t>B: y también (+) · pero (tegenstelling) · además (bovendien) · sobre todo (vooral).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CULTURE (identiteit in diversiteit, LPD 5). Onthul per kaart. Speel eventueel een fragment (rechtenvrij/eigen keuze). Verbind met de klas: welke Spaanstalige artiesten kennen jullie? Bruggetje naar de Tarea Mi playlist.</a:t>
            </a:r>
          </a:p>
          <a:p/>
          <a:p>
            <a:r>
              <a:t>— SOLUCIÓN (docent · presenter view) —</a:t>
            </a:r>
          </a:p>
          <a:p>
            <a:r>
              <a:t>Actividad: schrijf 3 zinnen over jouw favoriete artiest met «me gusta/encanta … porque …».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interactie. Klas formuleert de vraag vóór de klik. Daarna klassikale enquête: gustos vragen en rapporteren (A Tom le gusta… / no le gusta…).</a:t>
            </a:r>
          </a:p>
          <a:p/>
          <a:p>
            <a:r>
              <a:t>— SOLUCIÓN (docent · presenter view) —</a:t>
            </a:r>
          </a:p>
          <a:p>
            <a:r>
              <a:t>Vragen over gustos &amp; planes: ¿Qué te gusta…? · ¿Te gusta…? · ¿Por qué…? · ¿Quieres…? · ¿A qué hora…?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FINAL_MISSION (communicatieve eindtaak). Afzender/ontvanger/doel/situatie/resultaat expliciet. Beoordeel met de rúbrica; opname + zelfevaluatie op de digitale pagina. Voeg een mini-encuesta + grafiekje toe (gustos van de klas).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mezcla (retrieval vóór herlezen). Zonder waarschuwing door elkaar. Exit-ticket. Zwakke punten → terug via menu.</a:t>
            </a:r>
          </a:p>
          <a:p/>
          <a:p>
            <a:r>
              <a:t>— SOLUCIÓN (docent · presenter view) —</a:t>
            </a:r>
          </a:p>
          <a:p>
            <a:r>
              <a:t>Alles komt terug: gustar (concord) · pronombres OI · también/tampoco · querer/poder + inf. · porque.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FEEDBACK/REPASO. Semáforo = zelfevaluatie. Repaso-drills online (24 spellen). Bruggetje: U5 «¡Ñam!» (CDMX) — cruzamos el charco a México: comida en un restaurante.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Alleen in het docentdeck. Volledige LPD-dekking en didactische route staan in het cursusdossier (bron.md).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Relationship Id="rId4" Type="http://schemas.openxmlformats.org/officeDocument/2006/relationships/slide" Target="slide7.xml"/><Relationship Id="rId5" Type="http://schemas.openxmlformats.org/officeDocument/2006/relationships/slide" Target="slide11.xml"/><Relationship Id="rId6" Type="http://schemas.openxmlformats.org/officeDocument/2006/relationships/slide" Target="slide9.xml"/><Relationship Id="rId7" Type="http://schemas.openxmlformats.org/officeDocument/2006/relationships/slide" Target="slide16.xml"/><Relationship Id="rId8" Type="http://schemas.openxmlformats.org/officeDocument/2006/relationships/slide" Target="slide18.xml"/><Relationship Id="rId9" Type="http://schemas.openxmlformats.org/officeDocument/2006/relationships/slide" Target="slide19.xml"/><Relationship Id="rId10" Type="http://schemas.openxmlformats.org/officeDocument/2006/relationships/slide" Target="slide2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Relationship Id="rId4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Relationship Id="rId4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slide" Target="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slide" Target="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82296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3108960" cy="3291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0" b="1" i="0">
                <a:solidFill>
                  <a:srgbClr val="2EB085"/>
                </a:solidFill>
                <a:latin typeface="Bricolage Grotesque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777240"/>
            <a:ext cx="281086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57355"/>
                </a:solidFill>
                <a:latin typeface="Inter"/>
              </a:rPr>
              <a:t>LA RUTA · PARADA 4 · VALÈNCIA 🇪🇸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234440"/>
            <a:ext cx="786384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200" b="1" i="0">
                <a:solidFill>
                  <a:srgbClr val="FFFFFF"/>
                </a:solidFill>
                <a:latin typeface="Bricolage Grotesque"/>
              </a:rPr>
              <a:t>Me gusta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468880"/>
            <a:ext cx="76809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1">
                <a:solidFill>
                  <a:srgbClr val="E4F4EE"/>
                </a:solidFill>
                <a:latin typeface="Inter"/>
              </a:rPr>
              <a:t>Hablar de gustos: música, deportes, cine y planes — en València, con Lucía y Bea.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3063240"/>
            <a:ext cx="76809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Bricolage Grotesque"/>
              </a:rPr>
              <a:t>¿Qué te gusta hacer en tu tiempo libre?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4F4EE"/>
                </a:solidFill>
                <a:latin typeface="Inter"/>
              </a:rPr>
              <a:t>Wat doe je graag in je vrije tijd?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262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La gente de la ruta — je reisgezellen</a:t>
            </a:r>
          </a:p>
        </p:txBody>
      </p:sp>
      <p:pic>
        <p:nvPicPr>
          <p:cNvPr id="11" name="Picture 10" descr="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93776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Lucia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Sevilla 🇪🇸</a:t>
            </a:r>
          </a:p>
        </p:txBody>
      </p:sp>
      <p:pic>
        <p:nvPicPr>
          <p:cNvPr id="13" name="Picture 12" descr="die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59" y="4937760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85999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Diego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CDMX 🇲🇽</a:t>
            </a:r>
          </a:p>
        </p:txBody>
      </p:sp>
      <p:pic>
        <p:nvPicPr>
          <p:cNvPr id="15" name="Picture 14" descr="val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78" y="493776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60518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Valen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Cartagena 🇨🇴</a:t>
            </a:r>
          </a:p>
        </p:txBody>
      </p:sp>
      <p:pic>
        <p:nvPicPr>
          <p:cNvPr id="17" name="Picture 16" descr="ni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197" y="4937760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37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Nina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Cusco 🇵🇪</a:t>
            </a:r>
          </a:p>
        </p:txBody>
      </p:sp>
      <p:pic>
        <p:nvPicPr>
          <p:cNvPr id="19" name="Picture 18" descr="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16" y="4937760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09556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Tú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de reiziger = jij</a:t>
            </a:r>
          </a:p>
        </p:txBody>
      </p:sp>
      <p:pic>
        <p:nvPicPr>
          <p:cNvPr id="21" name="Picture 20" descr="mochil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35" y="4937760"/>
            <a:ext cx="914400" cy="914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84075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Mochila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La mochila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MENÚ DE LA LECCIÓN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mapa de la Unidad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Kies je route — klik een tegel. Alles oefent naar de Tarea «Mi playlist» toe.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457200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hlinkClick action="ppaction://hlinksldjump" r:id="rId3"/>
          </p:cNvPr>
          <p:cNvSpPr/>
          <p:nvPr/>
        </p:nvSpPr>
        <p:spPr>
          <a:xfrm>
            <a:off x="457200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Me gusta(n)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gustar/encantar · pronombres OI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3</a:t>
            </a:r>
          </a:p>
        </p:txBody>
      </p:sp>
      <p:sp>
        <p:nvSpPr>
          <p:cNvPr id="15" name="Rounded Rectangle 14">
            <a:hlinkClick action="ppaction://hlinksldjump" r:id="rId4"/>
          </p:cNvPr>
          <p:cNvSpPr/>
          <p:nvPr/>
        </p:nvSpPr>
        <p:spPr>
          <a:xfrm>
            <a:off x="3328416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>
            <a:hlinkClick action="ppaction://hlinksldjump" r:id="rId4"/>
          </p:cNvPr>
          <p:cNvSpPr/>
          <p:nvPr/>
        </p:nvSpPr>
        <p:spPr>
          <a:xfrm>
            <a:off x="3328416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38144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De acuerdo o 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también/tampoco · a mí sí/no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3008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7</a:t>
            </a:r>
          </a:p>
        </p:txBody>
      </p:sp>
      <p:sp>
        <p:nvSpPr>
          <p:cNvPr id="21" name="Rounded Rectangle 20">
            <a:hlinkClick action="ppaction://hlinksldjump" r:id="rId5"/>
          </p:cNvPr>
          <p:cNvSpPr/>
          <p:nvPr/>
        </p:nvSpPr>
        <p:spPr>
          <a:xfrm>
            <a:off x="6199632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>
            <a:hlinkClick action="ppaction://hlinksldjump" r:id="rId5"/>
          </p:cNvPr>
          <p:cNvSpPr/>
          <p:nvPr/>
        </p:nvSpPr>
        <p:spPr>
          <a:xfrm>
            <a:off x="6199632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Proponer un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querer/poder + inf. · quedar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324612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11</a:t>
            </a:r>
          </a:p>
        </p:txBody>
      </p:sp>
      <p:sp>
        <p:nvSpPr>
          <p:cNvPr id="27" name="Rounded Rectangle 26">
            <a:hlinkClick action="ppaction://hlinksldjump" r:id="rId6"/>
          </p:cNvPr>
          <p:cNvSpPr/>
          <p:nvPr/>
        </p:nvSpPr>
        <p:spPr>
          <a:xfrm>
            <a:off x="9070848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>
            <a:hlinkClick action="ppaction://hlinksldjump" r:id="rId6"/>
          </p:cNvPr>
          <p:cNvSpPr/>
          <p:nvPr/>
        </p:nvSpPr>
        <p:spPr>
          <a:xfrm>
            <a:off x="9070848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80576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Lectura + escucha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perfiles de gustos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9</a:t>
            </a:r>
          </a:p>
        </p:txBody>
      </p:sp>
      <p:sp>
        <p:nvSpPr>
          <p:cNvPr id="33" name="Rounded Rectangle 32">
            <a:hlinkClick action="ppaction://hlinksldjump" r:id="rId7"/>
          </p:cNvPr>
          <p:cNvSpPr/>
          <p:nvPr/>
        </p:nvSpPr>
        <p:spPr>
          <a:xfrm>
            <a:off x="457200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>
            <a:hlinkClick action="ppaction://hlinksldjump" r:id="rId7"/>
          </p:cNvPr>
          <p:cNvSpPr/>
          <p:nvPr/>
        </p:nvSpPr>
        <p:spPr>
          <a:xfrm>
            <a:off x="457200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6928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Cultura · Rosalía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música y ocio joven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16</a:t>
            </a:r>
          </a:p>
        </p:txBody>
      </p:sp>
      <p:sp>
        <p:nvSpPr>
          <p:cNvPr id="39" name="Rounded Rectangle 38">
            <a:hlinkClick action="ppaction://hlinksldjump" r:id="rId8"/>
          </p:cNvPr>
          <p:cNvSpPr/>
          <p:nvPr/>
        </p:nvSpPr>
        <p:spPr>
          <a:xfrm>
            <a:off x="3328416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>
            <a:hlinkClick action="ppaction://hlinksldjump" r:id="rId8"/>
          </p:cNvPr>
          <p:cNvSpPr/>
          <p:nvPr/>
        </p:nvSpPr>
        <p:spPr>
          <a:xfrm>
            <a:off x="3328416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438144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58768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Tarea · Mi playlist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3008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je playlist + presentarla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93008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18</a:t>
            </a:r>
          </a:p>
        </p:txBody>
      </p:sp>
      <p:sp>
        <p:nvSpPr>
          <p:cNvPr id="45" name="Rounded Rectangle 44">
            <a:hlinkClick action="ppaction://hlinksldjump" r:id="rId9"/>
          </p:cNvPr>
          <p:cNvSpPr/>
          <p:nvPr/>
        </p:nvSpPr>
        <p:spPr>
          <a:xfrm>
            <a:off x="6199632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B7860B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>
            <a:hlinkClick action="ppaction://hlinksldjump" r:id="rId9"/>
          </p:cNvPr>
          <p:cNvSpPr/>
          <p:nvPr/>
        </p:nvSpPr>
        <p:spPr>
          <a:xfrm>
            <a:off x="6199632" y="3840480"/>
            <a:ext cx="2743200" cy="457200"/>
          </a:xfrm>
          <a:prstGeom prst="rect">
            <a:avLst/>
          </a:prstGeom>
          <a:solidFill>
            <a:srgbClr val="B7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09360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7860B"/>
                </a:solidFill>
                <a:latin typeface="Bricolage Grotesque"/>
              </a:rPr>
              <a:t>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9984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Quiz «La mezcla»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4224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gemengde ophaal — mét oplossing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64224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19</a:t>
            </a:r>
          </a:p>
        </p:txBody>
      </p:sp>
      <p:sp>
        <p:nvSpPr>
          <p:cNvPr id="51" name="Rounded Rectangle 50">
            <a:hlinkClick action="ppaction://hlinksldjump" r:id="rId10"/>
          </p:cNvPr>
          <p:cNvSpPr/>
          <p:nvPr/>
        </p:nvSpPr>
        <p:spPr>
          <a:xfrm>
            <a:off x="9070848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>
            <a:hlinkClick action="ppaction://hlinksldjump" r:id="rId10"/>
          </p:cNvPr>
          <p:cNvSpPr/>
          <p:nvPr/>
        </p:nvSpPr>
        <p:spPr>
          <a:xfrm>
            <a:off x="9070848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80576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◎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Repaso + semáforo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lo esencial · zelfevaluatie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5440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20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Los gustos y el ocio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De woorden van je vrije tijd — observa. Herken ze, dan gebruik je 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me gusta(n)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1463040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leuk vinden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1463040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fútbol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me encanta(n)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121408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dol zijn 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2121408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bailar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el deporte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779776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sport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2779776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nadar · jugar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música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3438144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muziek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3438144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escuchar · tocar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canción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1463040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liedje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78440" y="1463040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el/la cantante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película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2121408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film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78440" y="2121408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la serie · el cine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playa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2779776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strand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78440" y="2779776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mar · la costa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2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los videojuegos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3438144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videospellen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78440" y="3438144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salir con amigos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Opinar: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Me gusta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(1/inf.) ·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Me gustan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(mv.) ·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Me encanta(n)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(sterker) · </a:t>
            </a:r>
            <a:r>
              <a:rPr sz="1300" b="1" i="0">
                <a:solidFill>
                  <a:srgbClr val="DC2626"/>
                </a:solidFill>
                <a:latin typeface="Inter"/>
              </a:rPr>
              <a:t>No me gusta(n)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(–)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55" name="Rounded Rectangle 5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89204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Gustar al revés: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me gusta la música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= «de muziek bevalt mij». </a:t>
            </a:r>
            <a:r>
              <a:rPr sz="1200" b="1" i="0">
                <a:solidFill>
                  <a:srgbClr val="DC2626"/>
                </a:solidFill>
                <a:latin typeface="Inter"/>
              </a:rPr>
              <a:t>🔴 Meervoud → gustaN: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me gustan los deportes.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Adverbios de frecuencia: siempre · a menudo · a veces · casi nunca · nunca · todos los días.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4360" y="47640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Gustar — al revés («het bevalt mij»)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Kleur = taalfunctie. Het ding is het ONDERWERP; jij bent OI.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11247120" cy="109728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554480"/>
            <a:ext cx="1069848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E9E74"/>
                </a:solidFill>
                <a:latin typeface="Bricolage Grotesque"/>
              </a:rPr>
              <a:t>A mí </a:t>
            </a:r>
            <a:r>
              <a:rPr sz="2500" b="1" i="0">
                <a:solidFill>
                  <a:srgbClr val="2563EB"/>
                </a:solidFill>
                <a:latin typeface="Bricolage Grotesque"/>
              </a:rPr>
              <a:t>me </a:t>
            </a:r>
            <a:r>
              <a:rPr sz="2500" b="1" i="0">
                <a:solidFill>
                  <a:srgbClr val="EA7317"/>
                </a:solidFill>
                <a:latin typeface="Bricolage Grotesque"/>
              </a:rPr>
              <a:t>gusta </a:t>
            </a:r>
            <a:r>
              <a:rPr sz="2500" b="1" i="0">
                <a:solidFill>
                  <a:srgbClr val="14B8A6"/>
                </a:solidFill>
                <a:latin typeface="Bricolage Grotesque"/>
              </a:rPr>
              <a:t>la música </a:t>
            </a:r>
            <a:r>
              <a:rPr sz="2500" b="1" i="0">
                <a:solidFill>
                  <a:srgbClr val="20242E"/>
                </a:solidFill>
                <a:latin typeface="Bricolage Grotesque"/>
              </a:rPr>
              <a:t>y </a:t>
            </a:r>
            <a:r>
              <a:rPr sz="2500" b="1" i="0">
                <a:solidFill>
                  <a:srgbClr val="2563EB"/>
                </a:solidFill>
                <a:latin typeface="Bricolage Grotesque"/>
              </a:rPr>
              <a:t>me </a:t>
            </a:r>
            <a:r>
              <a:rPr sz="2500" b="1" i="0">
                <a:solidFill>
                  <a:srgbClr val="EA7317"/>
                </a:solidFill>
                <a:latin typeface="Bricolage Grotesque"/>
              </a:rPr>
              <a:t>gustan </a:t>
            </a:r>
            <a:r>
              <a:rPr sz="2500" b="1" i="0">
                <a:solidFill>
                  <a:srgbClr val="14B8A6"/>
                </a:solidFill>
                <a:latin typeface="Bricolage Grotesque"/>
              </a:rPr>
              <a:t>los deportes.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88036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Los pronombres OI — ¿a quién le gusta?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291840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Inter"/>
              </a:rPr>
              <a:t>(a mí) 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3291840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gusta el mar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968496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Inter"/>
              </a:rPr>
              <a:t>(a ti) 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3968496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¿gusta bailar?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645152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Inter"/>
              </a:rPr>
              <a:t>(a él/ella) 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4645152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gusta la playa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3291840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Inter"/>
              </a:rPr>
              <a:t>(a nosotros) nos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3291840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gustan los conciertos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3968496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Inter"/>
              </a:rPr>
              <a:t>(a vosotros) 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3968496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¿gusta el cine?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4645152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Inter"/>
              </a:rPr>
              <a:t>(a ellos) 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20" y="4645152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gusta la música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43" name="Rounded Rectangle 42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212080"/>
            <a:ext cx="11247120" cy="6400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gusta + 1 ding of infinitivo · gustan + meervoud. Idem encanta/encantan. Al revés: het ding is het onderwerp!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5084064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REGLA · docent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¿gusta o gustan?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zin → de juiste vorm verschijnt. Eén ding/infinitivo = gusta · meerdere = gustan.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54480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Me ___ los deportes.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554480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gustan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mv.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59152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59152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Me ___ el fútbol.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359152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gusta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1 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63824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63824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Me ___ bailar.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163824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gusta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infinitivo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554480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554480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Me ___ las series.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1554480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gustan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mv.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359152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359152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Me ___ la playa.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359152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gusta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1 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163824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163824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Me ___ los videojuegos.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3163824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gustan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mv.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48056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9E74"/>
                </a:solidFill>
                <a:latin typeface="Inter"/>
              </a:rPr>
              <a:t>gusta =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één ding of een infinitivo (bailar, leer…).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9E74"/>
                </a:solidFill>
                <a:latin typeface="Inter"/>
              </a:rPr>
              <a:t>gustan =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meerdere dingen (los deportes, las series). Tel wat je leuk vindt!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3525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Los pronombres OI (me/te/le…)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Denk het woord, klik de kaart → het verschijnt. Voor élke persoon een ander OI-woord.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0992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a mí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5740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57355"/>
                </a:solidFill>
                <a:latin typeface="Bricolage Grotesque"/>
              </a:rPr>
              <a:t>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60020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70992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a 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05740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57355"/>
                </a:solidFill>
                <a:latin typeface="Bricolage Grotesque"/>
              </a:rPr>
              <a:t>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70992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a él/ella/usted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05740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57355"/>
                </a:solidFill>
                <a:latin typeface="Bricolage Grotesque"/>
              </a:rPr>
              <a:t>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2608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03580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a nosotros/-as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38328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57355"/>
                </a:solidFill>
                <a:latin typeface="Bricolage Grotesque"/>
              </a:rPr>
              <a:t>nos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292608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303580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a vosotros/-as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338328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57355"/>
                </a:solidFill>
                <a:latin typeface="Bricolage Grotesque"/>
              </a:rPr>
              <a:t>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92608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303580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a ellos/-as/ustedes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38328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57355"/>
                </a:solidFill>
                <a:latin typeface="Bricolage Grotesque"/>
              </a:rPr>
              <a:t>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0916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🟡 Verduidelijk met «a + persoon»: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A Bea le gusta la playa.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  A mis amigos les gustan los conciertos.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0" name="Rounded Rectangle 29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25780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me · te · le · nos · os · les.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Het OI-woord verandert per persoon; gusta/gustan hangt af van het DING, niet van de persoon.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12978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§2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Estar de acuerdo o 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Vier korte reacties. Klik een situatie → de reactie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5532120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+ akkoord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51663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«Me gusta.» → A mí también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45920"/>
            <a:ext cx="5532120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B7860B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17830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+ oneens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194560"/>
            <a:ext cx="51663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«Me gusta.» → A mí no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926080"/>
            <a:ext cx="5532120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06324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– akkoord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74720"/>
            <a:ext cx="51663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«No me gusta.» → A mí tampoco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926080"/>
            <a:ext cx="5532120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B7860B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55080" y="306324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– oneens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474720"/>
            <a:ext cx="51663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«No me gusta.» → A mí sí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6052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tampoco = «ook niet»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(na een negatieve zin), niet «ook». Zeg altijd «a mí», niet «yo».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4" name="Rounded Rectangle 23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75488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+ akkoord → también · + oneens → a mí no · – akkoord → tampoco · – oneens → a mí sí.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Espejo: eerst kijken of de zin + of – is, dan of je akkoord bent.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62686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§2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Reacciona (akkoord)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uitspraak → de juiste akkoord-reactie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108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Me gusta el mar.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1600200"/>
            <a:ext cx="2148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A mí también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108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No me gusta el frío.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478024"/>
            <a:ext cx="2148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A mí tampoco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108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Me encanta bailar.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3355848"/>
            <a:ext cx="2148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A mí también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108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No me gustan los lunes.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1600200"/>
            <a:ext cx="2148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A mí tampoco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108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Me gustan los videojuegos.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2478024"/>
            <a:ext cx="2148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A mí también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108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No me gusta madrugar.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3355848"/>
            <a:ext cx="2148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A mí tampoco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Akkoord: + → también · – → tampoco.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Oneens zou zijn: + → a mí no · – → a mí sí.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§4 · LEER · COMPRENSIÓN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perfil de Lucía (playlist)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Lees en beantwoord. Klik een vraag → het antwoord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120640" cy="356616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1005840" cy="1005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20240" y="1828800"/>
            <a:ext cx="347472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20242E"/>
                </a:solidFill>
                <a:latin typeface="Inter"/>
              </a:rPr>
              <a:t>«¡Hola! Me encanta la música. Mi artista favorita es Rosalía. También me gusta bailar flamenco. Los fines de semana voy a la playa. No me gustan los videojuegos, prefiero salir.»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554480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609344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¿Qué le encanta a Lucía?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956816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La música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2450592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2505456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¿Quién es su artista favorita?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852928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Rosalía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3346704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3401568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¿Qué le gusta hacer?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3749040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Bailar flamenco / ir a la playa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4242816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4297680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¿Qué no le gusta?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4645152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Los videojuegos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4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60" y="5166360"/>
            <a:ext cx="585216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🎯 Leesdoel: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scannen naar wat iemand (niet) leuk vindt — niet élk woord begrijpen.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89320" y="50383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1249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§4 · ESCUCHAR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Escucha y anota el gusto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Vier jongeren praten over hun smaak. Klik een naam → wat ze leuk vinden. (audio op de digitale pagina)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🔊  Leo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Le gusta: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la música pop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No le gusta: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C2626"/>
                </a:solidFill>
                <a:latin typeface="Inter"/>
              </a:rPr>
              <a:t>el deporte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🔊  Frida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Le gusta: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los videojuegos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No le gusta: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C2626"/>
                </a:solidFill>
                <a:latin typeface="Inter"/>
              </a:rPr>
              <a:t>madrugar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🔊  Mateo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Le gusta: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el fútbol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No le gusta: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C2626"/>
                </a:solidFill>
                <a:latin typeface="Inter"/>
              </a:rPr>
              <a:t>las series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84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🔊  Sara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Le gusta: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bailar y el cine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No le gusta: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C2626"/>
                </a:solidFill>
                <a:latin typeface="Inter"/>
              </a:rPr>
              <a:t>el frío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9" name="Rounded Rectangle 3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48056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Modelo-audio (docent leest of TTS):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«A mí me gusta la música pop, pero no me gusta el deporte.» …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Daarna spreken: leerling reageert (a mí también/tampoco/sí/no) op elk personage.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43525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Querer / poder + infinitivo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kolomkop → de vormen verschijnen. Let op: e→ie, o→ue (behalve nosotros/vosotros).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554480"/>
            <a:ext cx="4023360" cy="457200"/>
          </a:xfrm>
          <a:prstGeom prst="roundRect">
            <a:avLst>
              <a:gd name="adj" fmla="val 5500"/>
            </a:avLst>
          </a:prstGeom>
          <a:solidFill>
            <a:srgbClr val="1E9E74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554480"/>
            <a:ext cx="40233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Bricolage Grotesque"/>
              </a:rPr>
              <a:t>querer (e→ie)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554480"/>
            <a:ext cx="4023360" cy="457200"/>
          </a:xfrm>
          <a:prstGeom prst="roundRect">
            <a:avLst>
              <a:gd name="adj" fmla="val 5500"/>
            </a:avLst>
          </a:prstGeom>
          <a:solidFill>
            <a:srgbClr val="1E9E74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554480"/>
            <a:ext cx="40233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Bricolage Grotesque"/>
              </a:rPr>
              <a:t>poder (o→ue)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103120"/>
            <a:ext cx="146304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yo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2103120"/>
            <a:ext cx="4023360" cy="457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2103120"/>
            <a:ext cx="40233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Inter"/>
              </a:rPr>
              <a:t>quiero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2103120"/>
            <a:ext cx="4023360" cy="457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2103120"/>
            <a:ext cx="40233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Inter"/>
              </a:rPr>
              <a:t>puedo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606040"/>
            <a:ext cx="146304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tú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2606040"/>
            <a:ext cx="4023360" cy="457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0" y="2606040"/>
            <a:ext cx="40233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Inter"/>
              </a:rPr>
              <a:t>quieres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2606040"/>
            <a:ext cx="4023360" cy="457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2606040"/>
            <a:ext cx="40233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Inter"/>
              </a:rPr>
              <a:t>puedes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108960"/>
            <a:ext cx="146304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él/ella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51760" y="3108960"/>
            <a:ext cx="4023360" cy="457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51760" y="3108960"/>
            <a:ext cx="40233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Inter"/>
              </a:rPr>
              <a:t>quiere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3108960"/>
            <a:ext cx="4023360" cy="457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3108960"/>
            <a:ext cx="40233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Inter"/>
              </a:rPr>
              <a:t>puede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3611880"/>
            <a:ext cx="146304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nosotros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51760" y="3611880"/>
            <a:ext cx="4023360" cy="457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51760" y="3611880"/>
            <a:ext cx="40233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A6E78"/>
                </a:solidFill>
                <a:latin typeface="Inter"/>
              </a:rPr>
              <a:t>queremos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3611880"/>
            <a:ext cx="4023360" cy="457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3611880"/>
            <a:ext cx="40233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A6E78"/>
                </a:solidFill>
                <a:latin typeface="Inter"/>
              </a:rPr>
              <a:t>podemos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114800"/>
            <a:ext cx="146304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vosotros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51760" y="4114800"/>
            <a:ext cx="4023360" cy="457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51760" y="4114800"/>
            <a:ext cx="40233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A6E78"/>
                </a:solidFill>
                <a:latin typeface="Inter"/>
              </a:rPr>
              <a:t>queréis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0" y="4114800"/>
            <a:ext cx="4023360" cy="457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40233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A6E78"/>
                </a:solidFill>
                <a:latin typeface="Inter"/>
              </a:rPr>
              <a:t>podéis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4617720"/>
            <a:ext cx="146304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ellos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51760" y="4617720"/>
            <a:ext cx="4023360" cy="457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51760" y="4617720"/>
            <a:ext cx="40233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Inter"/>
              </a:rPr>
              <a:t>quieren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0" y="4617720"/>
            <a:ext cx="4023360" cy="457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0" y="4617720"/>
            <a:ext cx="40233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Inter"/>
              </a:rPr>
              <a:t>pueden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45" name="Rounded Rectangle 4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5120640"/>
            <a:ext cx="11247120" cy="68580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De klinker verandert NIET bij nosotros/vosotros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(queremos, podemos). 🔴 Het tweede werkwoord blijft infinitief: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Quiero IR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(niet «quiero voy»).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" y="49926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9024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SPEAKING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¡Quedamos!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Stel een plan voor met de zinnen. Steun bouwt af: kaarten → beginwoorden → uit het hoofd.</a:t>
            </a:r>
          </a:p>
        </p:txBody>
      </p:sp>
      <p:pic>
        <p:nvPicPr>
          <p:cNvPr id="9" name="Picture 8" descr="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1554480"/>
            <a:ext cx="1188720" cy="1188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Proponer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¿Quieres ir a…?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Aceptar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¡Vale! / De acuerdo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Preguntar la hora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¿A qué hora quedamos?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4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Confirmar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Quedamos a las…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4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Alternativa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¿Por qué no…? / ¿Podemos…?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4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Cierre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¡Hasta el sábado!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572000"/>
            <a:ext cx="96012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Ronda 1: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met de kaarten.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2: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alleen beginwoorden.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3: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uit het hoofd, ander plan.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4: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grábate en de digitale pagina.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251960"/>
            <a:ext cx="4493361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🎙️ Grábate online · «Mensaje de voz: propón un plan»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2" name="Rounded Rectangle 31">
            <a:hlinkClick action="ppaction://hlinksldjump" r:id="rId4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2064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«¿Quieres ir a la playa el sábado? —¡Vale! ¿A qué hora quedamos? —¿Podemos a las once? —De acuerdo.»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992624"/>
            <a:ext cx="138074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MODELO · docent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WRITING · 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 perfil de gustos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Schrijf 4–5 zinnen over jouw smaak. Klik → een modeltekst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486400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✍️ Escribe aquí: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94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480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Checklist: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me gusta(n) 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2316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me encanta(n) 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3464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no me gusta 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4612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porque … (una razón)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65760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 conector: y también / pero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0690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 plan: quiero / quedar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977639"/>
            <a:ext cx="5486400" cy="114300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524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023360"/>
            <a:ext cx="521208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Modelo: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«Me encanta la música, sobre todo el pop, y me gustan los deportes. No me gusta el fútbol porque es aburrido. El sábado quiero ir a la playa.»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VOCABULARIO · OCIO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Deportes, música y sentimientos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woord → de vertaling verschijnt. Bouw je woordnetwerk.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54480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nadar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554480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zwemmen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554480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bailar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554480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dansen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554480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jugar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554480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spelen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554480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leer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1554480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lezen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322576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canción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2322576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het liedje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1568" y="2322576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película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322576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de film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2322576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serie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2322576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de serie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0848" y="2322576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el/la cantante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2322576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de zanger(es)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090672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divertido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3090672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leuk/grappig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01568" y="3090672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aburrido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3090672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saai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36208" y="3090672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genial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3090672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geweldig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70848" y="3090672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relajante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3090672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ontspannend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47" name="Rounded Rectangle 46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5720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Combineer met gustar: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Me gusta nadar. · Me gustan las series. · Me encanta la canción porque es divertida.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Adjetivos concuerdan: divertidO / divertidA, aburridO / aburridA. genial e interesante = invariable.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444398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TALLER DE LENGUA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¿por qué? / porque + conectores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item → correcte vorm. Gereedschap om je mening te geven.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A · ¿por qué? o porque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783080"/>
            <a:ext cx="32918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¿___ te gusta el mar?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783080"/>
            <a:ext cx="18288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por qué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41448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41448"/>
            <a:ext cx="32918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Me gusta ___ es relajante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441448"/>
            <a:ext cx="18288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porque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99816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099816"/>
            <a:ext cx="32918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¿___ no quieres ir?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099816"/>
            <a:ext cx="18288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por qué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58184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758184"/>
            <a:ext cx="32918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No puedo ___ trabajo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758184"/>
            <a:ext cx="18288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porque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B · conectores: y también · pero · además · sobre todo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783080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1783080"/>
            <a:ext cx="29260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Me gusta el cine, ___ no las series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178308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pero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tegenstelling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441448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41448"/>
            <a:ext cx="29260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Me gusta nadar ___ bailar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244144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y también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toevoegen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099816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099816"/>
            <a:ext cx="29260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 divertido; ___, es barato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309981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además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bovendien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758184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758184"/>
            <a:ext cx="29260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Me gusta la música, ___ el pop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375818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sobre todo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vooral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7" name="Rounded Rectangle 36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A: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¿por qué? = waarom (twee woorden + tilde) · porque = want/omdat (één woord).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B: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y también (+) · pero (tegenstelling) · además (bovendien) · sobre todo (vooral).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444398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CULTURA · PARADA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Rosalía y el ocio joven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kaart → het weetje verschijnt. La música une al mundo hispano.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🎵 Rosalía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Cantante de Barcelona. Mezcla flamenco con pop y reguetón. Álbumes: El mal querer, Motomami. Canta en español.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Un puente entre tradición y las listas de hoy.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🏖️ El ocio joven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Salir con amigos, escuchar música, ver series, hacer deporte, ir a la playa. Muziek &amp; samen zijn staan centraal.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En València: las Fallas, la paella y la horchata.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4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4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🌍 El español suena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Rosalía, Bad Bunny, Shakira, Karol G… en el top mundial. El español es de los idiomas más escuchados.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Muziek = de leukste manier om te oefenen.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9204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Actividad: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schrijf 3 zinnen over jouw favoriete artiest met «me gusta/encanta … porque …».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7640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QUIZ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Haz la pregunta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Bij dit antwoord — welke vraag? Klik → de vraag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23774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Me gusta nadar.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600200"/>
            <a:ext cx="2834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¿Qué te gusta hacer?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23774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No, no me gusta.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478024"/>
            <a:ext cx="2834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¿Te gusta el fútbol?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23774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Porque canta muy bien.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355848"/>
            <a:ext cx="2834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¿Por qué te gusta Rosalía?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23774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¡Vale! ¿A qué hora?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1600200"/>
            <a:ext cx="2834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¿Quieres ir a la playa?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23774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 las once.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2478024"/>
            <a:ext cx="2834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¿A qué hora quedamos?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23774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Sí, puedo por la tarde.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3355848"/>
            <a:ext cx="2834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¿Puedes quedar el sábado?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Vragen over gustos &amp; planes: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¿Qué te gusta…? · ¿Te gusta…? · ¿Por qué…? · ¿Quieres…? · ¿A qué hora…?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Bricolage Grotesque"/>
              </a:rPr>
              <a:t>🎧 Tarea final · Mi playlist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4F4EE"/>
                </a:solidFill>
                <a:latin typeface="Inter"/>
              </a:rPr>
              <a:t>Maak je persoonlijke playlist: canciones + por qué + qué sientes, en presenteer ze.</a:t>
            </a:r>
          </a:p>
        </p:txBody>
      </p:sp>
      <p:pic>
        <p:nvPicPr>
          <p:cNvPr id="5" name="Picture 4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182880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554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36576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Elige 4 canciones/artistas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554480"/>
            <a:ext cx="67665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que te gustan o te encantan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21408"/>
            <a:ext cx="36576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Rellena la playlist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121408"/>
            <a:ext cx="67665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canción · por qué (porque…) · qué sientes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883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88336"/>
            <a:ext cx="36576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Escribe tu presentación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688336"/>
            <a:ext cx="67665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5–6 frases: gustar/encantar + porque + conectores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552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55264"/>
            <a:ext cx="36576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Presenta a la clase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255264"/>
            <a:ext cx="67665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of neem audio op (digitale pagina)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22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22192"/>
            <a:ext cx="36576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Pregunta a un compañero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822192"/>
            <a:ext cx="67665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por sus gustos y reacciona (también/tampoco/sí/no)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Rúbrica · ¿lo logré?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4 items + una razón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gusta/gustan + encanta(n)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porque + conectores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presentar + reaccionar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3212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🎯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Afzender jij · ontvanger de klas/Lucía · doel je smaak delen &amp; motiveren · situatie muziekavond in València · resultaat: playlist + presentatie.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QUIZ · LA MEZCLA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Ophaal door elkaar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Gemengde ophaal van de hele unit. Klik een vraag → het antwoord. (retrieval)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Me ___ los deportes.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00200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gustan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13432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 mí (persoon) → pronombre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13432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26664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querer, yo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026664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quiero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39896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poder, nosotros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739896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podemos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«Me gusta.» akkoord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1600200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a mí también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13432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«No me gusta.» akkoord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313432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a mí tampoco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026664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waarom (vraag)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026664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¿por qué?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739896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Quiero ___ a la playa.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3739896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ir (infinitivo)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Alles komt terug: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gustar (concord) · pronombres OI · también/tampoco · querer/poder + inf. · porque.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48970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REPASO · LO ESENCIAL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De volledige herhaling (24 spellen, drills) staat online. Hier: de kern + semáforo.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11247120" cy="228600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Gustar (al revés): me/te/le/nos/os/les + gusta (1/inf.) · gustan (mv.). Idem encanta(n).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66544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Reacciones: + akkoord también · + oneens a mí no · – akkoord tampoco · – oneens a mí sí.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Proponer: querer (e→ie) / poder (o→ue) + infinitivo · quedar (afspreken).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07792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Opinar: ¿por qué? → porque + conectoren (y también · pero · además · sobre todo).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28416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🔴 Trampas: gustar = «bevalt mij» · gustaN bij mv. · tampoco = ook niet · nosotros/vosotros zonder stamwissel.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Semáforo — ¿cómo lo llevas?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zeggen wat ik leuk vind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27448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OI-woorden (me/te/le…)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11496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akkoord/oneens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95544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plan voorstellen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79592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mening motiveren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Bricolage Grotesque"/>
              </a:rPr>
              <a:t>TEACHER_NOTES · U4 «Me gusta»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1B6349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Timing (50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4F4EE"/>
                </a:solidFill>
                <a:latin typeface="Inter"/>
              </a:rPr>
              <a:t>Menu 2' · gustar + pronombres 12' · también/tampoco 8' · querer/poder + quedar 10' · lectura/escucha 8' · cultura 4' · Tarea-briefing 6'.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04288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1B6349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Kernvalstrikken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4F4EE"/>
                </a:solidFill>
                <a:latin typeface="Inter"/>
              </a:rPr>
              <a:t>gustar al revés (het ding = onderwerp) · gustaN bij meervoud · tampoco = ook niet · «a mí», niet «yo» · querer/poder zónder wissel bij nosotros/vosotros · 2e ww = infinitief · ¿por qué? ≠ porque.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28416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1B6349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401568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Differentiatie (zij-instromers)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8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4F4EE"/>
                </a:solidFill>
                <a:latin typeface="Inter"/>
              </a:rPr>
              <a:t>Alles start vanaf nul. Sterker: encantar + conectoren + eigen playlist toelichten. Zwakker: gusta/gustan-kaart en OI-tabel langer open.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52544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1B6349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425696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Digitaal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791456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4F4EE"/>
                </a:solidFill>
                <a:latin typeface="Inter"/>
              </a:rPr>
              <a:t>24 spellen + flip cards + klikbare kaart + recorder (Hablar) + Lectura op de página digital. QR's in het boek → juiste anker. Conjugador = aparte tool.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76672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1B6349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449824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Evaluatie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15584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4F4EE"/>
                </a:solidFill>
                <a:latin typeface="Inter"/>
              </a:rPr>
              <a:t>Tarea «Mi playlist» met rúbrica (4 criteria). LPD 3·4·7·8 + 5 (cultura) + 1·2 (receptief).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