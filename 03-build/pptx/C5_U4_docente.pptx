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8" r:id="rId30"/>
    <p:sldId id="279" r:id="rId31"/>
    <p:sldId id="280" r:id="rId32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4 = València (la costa), met Lucía en haar valenciaanse vriendin Bea. Doel: hablar de gustos (gustar/encantar), akkoord gaan of niet (también/tampoco/a mí sí/no) en un plan proponer (querer/poder + infinitivo, quedar). Kernvalstrik meteen benoemen: gustar werkt ómgekeerd — «me gusta la música» = «de muziek bevalt mij»; meervoud → gustaN.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(gustar) —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de woorden per cluster (ocio/música/sentimientos). Laat raden zónder de NL-gloss. Kernframe «(A mí) me gusta(n)…» meteen inoefenen. Online: flip cards + Memoria de los gustos + Música y cine.</a:t>
            </a:r>
          </a:p>
          <a:p/>
          <a:p>
            <a:r>
              <a:t>— SOLUCIÓN (docent · presenter view) —</a:t>
            </a:r>
          </a:p>
          <a:p>
            <a:r>
              <a:t>🔴 Gustar al revés: me gusta la música = «de muziek bevalt mij». 🔴 Meervoud → gustaN: me gustan los deportes.</a:t>
            </a:r>
          </a:p>
          <a:p>
            <a:r>
              <a:t>Adverbios de frecuencia: siempre · a menudo · a veces · casi nunca · nunca · todos los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omgekeerde constructie fysiek zichtbaar: teken twee pijlen (ik ↔ het ding). gustaN = het meest hardnekkige punt. Elke leerling bouwt «(A mí) me gusta(n)…» met eigen woorden. Kleur nooit als enige drager.</a:t>
            </a:r>
          </a:p>
          <a:p/>
          <a:p>
            <a:r>
              <a:t>— SOLUCIÓN (docent · presenter view) —</a:t>
            </a:r>
          </a:p>
          <a:p>
            <a:r>
              <a:t>Regla: gusta + 1 ding of infinitivo · gustan + meervoud. Idem encanta/encantan. Al revés: het ding is het onderwerp!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Truc: tel het aantal dingen. Een infinitief telt als 1 → gusta. Online: «¿gusta o gustan?» (classify) + «completa: gusta o gustan» (cloze).</a:t>
            </a:r>
          </a:p>
          <a:p/>
          <a:p>
            <a:r>
              <a:t>— SOLUCIÓN (docent · presenter view) —</a:t>
            </a:r>
          </a:p>
          <a:p>
            <a:r>
              <a:t>gusta = één ding of een infinitivo (bailar, leer…).</a:t>
            </a:r>
          </a:p>
          <a:p>
            <a:r>
              <a:t>gustan = meerdere dingen (los deportes, las series). Tel wat je leuk vindt!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OI (reveal). Coro: klas zegt het woord vóór de klik. Kernidee: me/te/le… = «aan wie», gusta/gustan = «wat». Online: «el pronombre OI» (classify) + «¿me, te, le…?» (cloze).</a:t>
            </a:r>
          </a:p>
          <a:p/>
          <a:p>
            <a:r>
              <a:t>— SOLUCIÓN (docent · presenter view) —</a:t>
            </a:r>
          </a:p>
          <a:p>
            <a:r>
              <a:t>me · te · le · nos · os · les. Het OI-woord verandert per persoon; gusta/gustan hangt af van het DING, niet van de persoon.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reacciones. Twee assen: +/– én akkoord/oneens. Onthul per klik. Snelle klasrespons met kaartjes/handen. Online: «la reacción correcta» (classify) + «el espejo de reacciones» (match).</a:t>
            </a:r>
          </a:p>
          <a:p/>
          <a:p>
            <a:r>
              <a:t>— SOLUCIÓN (docent · presenter view) —</a:t>
            </a:r>
          </a:p>
          <a:p>
            <a:r>
              <a:t>+ akkoord → también · + oneens → a mí no · – akkoord → tampoco · – oneens → a mí sí.</a:t>
            </a:r>
          </a:p>
          <a:p>
            <a:r>
              <a:t>Espejo: eerst kijken of de zin + of – is, dan of je akkoord bent.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reacciones (retrieval). Klas roept de reactie vóór de klik. Daarna in parejas: gustos delen en reageren.</a:t>
            </a:r>
          </a:p>
          <a:p/>
          <a:p>
            <a:r>
              <a:t>— SOLUCIÓN (docent · presenter view) —</a:t>
            </a:r>
          </a:p>
          <a:p>
            <a:r>
              <a:t>Akkoord: + → también · – → tampoco. Oneens zou zijn: + → a mí no · – → a mí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 (waarover?), dan scannen. Onthul de antwoorden pas na de klas. Daarna: leerlingen schrijven hun EIGEN perfil (transfer → Tarea Mi playlist).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wat iemand (niet) leuk vindt — niet élk woord begrijpen.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profiel voor (of TTS op de digitale pagina). Klas noteert gusto + no gusto; onthul per klik. Koppel meteen aan reacties (§2).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«A mí me gusta la música pop, pero no me gusta el deporte.» …</a:t>
            </a:r>
          </a:p>
          <a:p>
            <a:r>
              <a:t>Daarna spreken: leerling reageert (a mí también/tampoco/sí/no) op elk personage.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querer/poder. Onthul rij per rij; laat de klas de vorm voorspellen. De grijze rijen (nosotros/vosotros) = geen stamwissel. Tweede werkwoord = infinitief. Volledige vervoeging = aparte Conjugador-tool. Online: «¿querer o poder?» + verbo-cloze.</a:t>
            </a:r>
          </a:p>
          <a:p/>
          <a:p>
            <a:r>
              <a:t>— SOLUCIÓN (docent · presenter view) —</a:t>
            </a:r>
          </a:p>
          <a:p>
            <a:r>
              <a:t>🔴 De klinker verandert NIET bij nosotros/vosotros (queremos, podemos). 🔴 Het tweede werkwoord blijft infinitief: Quiero IR (niet «quiero voy»).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proponer→aceptar→quedar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«¿Quieres ir a la playa el sábado? —¡Vale! ¿A qué hora quedamos? —¿Podemos a las once? —De acuerdo.»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gusta/gustan, OI-woord, porque. Dit voedt de Tarea «Mi playlist».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ocio. Klik onthult; koppel elk woord aan een gustar-zin. Volledige set + audio op de digitale pagina (flip cards + memoria). Adjectief-concordantie kort tonen.</a:t>
            </a:r>
          </a:p>
          <a:p/>
          <a:p>
            <a:r>
              <a:t>— SOLUCIÓN (docent · presenter view) —</a:t>
            </a:r>
          </a:p>
          <a:p>
            <a:r>
              <a:t>Combineer met gustar: Me gusta nadar. · Me gustan las series. · Me encanta la canción porque es divertida.</a:t>
            </a:r>
          </a:p>
          <a:p>
            <a:r>
              <a:t>Adjetivos concuerdan: divertidO / divertidA, aburridO / aburridA. genial e interesante = invariable.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¿por qué?/porque = grote valstrik. Conectoren maken de mening rijker → meteen toepassen in het perfil/de Tarea. Online: «¿por qué o porque?» + «conectores de opinión».</a:t>
            </a:r>
          </a:p>
          <a:p/>
          <a:p>
            <a:r>
              <a:t>— SOLUCIÓN (docent · presenter view) —</a:t>
            </a:r>
          </a:p>
          <a:p>
            <a:r>
              <a:t>🔴 A: ¿por qué? = waarom (twee woorden + tilde) · porque = want/omdat (één woord).</a:t>
            </a:r>
          </a:p>
          <a:p>
            <a:r>
              <a:t>B: y también (+) · pero (tegenstelling) · además (bovendien) · sobre todo (vooral).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Speel eventueel een fragment (rechtenvrij/eigen keuze). Verbind met de klas: welke Spaanstalige artiesten kennen jullie? Bruggetje naar de Tarea Mi playlist.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jouw favoriete artiest met «me gusta/encanta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BANDA SONORA (parel · LPD 5·7). Onthul per kaart een weetje; speel evt. een rechtenvrij fragment/eigen keuze. Escala del gusto = graderen (odio→me encanta) — koppel aan gustar (§1) en reacciones (§2). Online: playlist + LyricsTraining + «La escala del gusto». Bruggetje naar de Tarea «Mi playlist».</a:t>
            </a:r>
          </a:p>
          <a:p/>
          <a:p>
            <a:r>
              <a:t>— SOLUCIÓN (docent · presenter view) —</a:t>
            </a:r>
          </a:p>
          <a:p>
            <a:r>
              <a:t>Actividad: kies twee artiesten en zeg één zin met de escala + porque. Cross: HTML «Banda sonora» + LyricsTraining + recorder.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gustos vragen en rapporteren (A Tom le gusta… / no le gusta…).</a:t>
            </a:r>
          </a:p>
          <a:p/>
          <a:p>
            <a:r>
              <a:t>— SOLUCIÓN (docent · presenter view) —</a:t>
            </a:r>
          </a:p>
          <a:p>
            <a:r>
              <a:t>Vragen over gustos &amp; planes: ¿Qué te gusta…? · ¿Te gusta…? · ¿Por qué…? · ¿Quieres…? · ¿A qué hora…?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(gustos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gustar (concord) · pronombres OI · también/tampoco · querer/poder + inf. · porque.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U5 «¡Ñam!» (CDMX) — cruzamos el charco a México: comida en un restaurante.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El termómetro de la clase — 🔬 onderzoek &amp; data</a:t>
            </a:r>
          </a:p>
          <a:p>
            <a:r>
              <a:t>OPDRACHT: Ga op de lijn staan naargelang wat je vindt. Daarna tellen we en trekken we een conclusie.</a:t>
            </a:r>
          </a:p>
          <a:p>
            <a:r>
              <a:t>DE REGEL: Je mag niet in het midden blijven hangen: kies een van de vier plaatsen. En wie gevraagd wordt, verantwoordt zijn plek met «porque».</a:t>
            </a:r>
          </a:p>
          <a:p>
            <a:r>
              <a:t>VERLOOP: El/la profe dice una cosa. Todos se colocan. | Dos alumnos explican su sitio con «porque». | Contamos y anotamos el número. | Al final: tres conclusiones con «a … le gusta».</a:t>
            </a:r>
          </a:p>
          <a:p>
            <a:r>
              <a:t>SLEUTEL: De conclusies zijn de eigenlijke opbrengst: «a doce personas les gusta la playa» vraagt les plus meervoud, en dat is precies wat leerlingen vergeten.  ||  «Hablar en público» geeft meestal de breedste spreiding en dus het interessantste gesprek.  ||  Tel echt en schrijf het getal op het bord: zonder cijfer wordt het een meningenronde.</a:t>
            </a:r>
          </a:p>
          <a:p>
            <a:r>
              <a:t>NOTA: Werkt alleen als de klas fysiek kan bewegen. Lukt dat niet, laat de leerlingen dan met vier vingers stemmen — maar tel nog steeds.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Radio Valencia: la llamada — 📻 mediaformat</a:t>
            </a:r>
          </a:p>
          <a:p>
            <a:r>
              <a:t>OPDRACHT: Bel de radio, groet, vraag je nummer aan en licht toe. De presentator reageert.</a:t>
            </a:r>
          </a:p>
          <a:p>
            <a:r>
              <a:t>DE REGEL: De presentator reageert altijd met también, tampoco, a mí sí of a mí no — en nooit twee keer dezelfde in één uitzending.</a:t>
            </a:r>
          </a:p>
          <a:p>
            <a:r>
              <a:t>VERLOOP: El/la profe es el presentador. Empieza la emisión. | Llamas: saludo, canción, razón. | El presentador reacciona y pasa al siguiente. | Cambio de presentador cada cuatro llamadas.</a:t>
            </a:r>
          </a:p>
          <a:p>
            <a:r>
              <a:t>SLEUTEL: De regel «nooit twee keer dezelfde reactie» dwingt de presentator door alle vier de vormen. Dat is de didactische winst, niet het bellen.  ||  Bij «a mí tampoco» moet de beller iets negatiefs gezegd hebben — anders klopt de reactie niet en corrigeert de klas.  ||  Laat leerlingen presentator zijn: die rol oefent meer dan de belrol.</a:t>
            </a:r>
          </a:p>
          <a:p>
            <a:r>
              <a:t>NOTA: Een echte jingle en een microfoon (of een pen als microfoon) tillen dit op. Zonder radio-inkleding wordt het een gewone beurtronde.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Cadena rota — 🔓 puzzel &amp; escape</a:t>
            </a:r>
          </a:p>
          <a:p>
            <a:r>
              <a:t>OPDRACHT: Reageer op je buur en voeg een eigen gusto toe. Zonder reacties te herhalen.</a:t>
            </a:r>
          </a:p>
          <a:p>
            <a:r>
              <a:t>DE REGEL: Een reactie die al gebruikt is, breekt de ketting — ook als ze klopt. De klas moet dus bijhouden wat al voorbijkwam.</a:t>
            </a:r>
          </a:p>
          <a:p>
            <a:r>
              <a:t>VERLOOP: El primero dice un gusto. | El siguiente reacciona y añade el suyo. | ¿Reacción repetida? Se rompe: vuelta a empezar. | Meta: dar la vuelta entera a la clase.</a:t>
            </a:r>
          </a:p>
          <a:p>
            <a:r>
              <a:t>SLEUTEL: Acht reacties betekent dat de ketting minstens acht leerlingen ver kan komen. Daarna moet de klas ze hergebruiken — dan pas mag herhalen.  ||  De klassieke breuk: «a mí también» na een ontkenning. Dat moet «a mí tampoco» zijn.  ||  Noteer de gebruikte reacties zichtbaar; zonder dat spoor is de regel niet te handhaven.</a:t>
            </a:r>
          </a:p>
          <a:p>
            <a:r>
              <a:t>NOTA: Speel maximaal drie rondes. Daarna wordt het onthouden belangrijker dan het spreken, en dat is niet het doel.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4242816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4242816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52544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8028432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8028432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25603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457200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457200" y="3090672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427939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242816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242816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52544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ocio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Rosalía y el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07408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8028432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8028432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8160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4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 artistas · la escala del gusto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17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457200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457200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4242816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4242816" y="4809744"/>
            <a:ext cx="36576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52544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07408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7408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>
            <a:hlinkClick action="ppaction://hlinksldjump" r:id="rId11"/>
          </p:cNvPr>
          <p:cNvSpPr/>
          <p:nvPr/>
        </p:nvSpPr>
        <p:spPr>
          <a:xfrm>
            <a:off x="8028432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>
            <a:hlinkClick action="ppaction://hlinksldjump" r:id="rId11"/>
          </p:cNvPr>
          <p:cNvSpPr/>
          <p:nvPr/>
        </p:nvSpPr>
        <p:spPr>
          <a:xfrm>
            <a:off x="8028432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138160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8784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93024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BANDA SONORA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Seis artistas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La playlist de la clase. Klik een kaart → een weetje. Casi todos cantan de lo que te gusta.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Rosalía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flamenco-pop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La Perla · Motomami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Barcelona. Mezcla flamenco con pop y reguetón. Canta en español.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Karol G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TQG · Provenza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reina del reguetón. Su pelo naranja es su marca.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Bad Bunny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🇵🇷 urbano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Tití me preguntó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Puerto Rico. El artista más escuchado del planeta.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Shakira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Waka Waka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Barranquilla. Leyenda mundial; canta en español e inglés.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Feid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Ferxxo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siempre de verde. Neo perreo. Colabora con Karol 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Quevedo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urbano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Bzrp #52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las Islas Canarias. Éxito mundial con Bizarrap.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🎚️ La escala del gusto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(de Rosalía «La Perla»): de «odio» a «me encanta».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DC2626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odio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ik haat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B7860B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no 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niet leuk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2FA8A0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leuk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15735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encanta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kies twee artiesten en zeg één zin met de escala + porque. Cross: HTML «Banda sonora» + LyricsTraining + recorder.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5412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U4 «Me gusta»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gustar + pronombres 12' · también/tampoco 8' · querer/poder + quedar 10' · lectura/escucha 8' · cultura 4' · Tarea-briefing 6'.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gustar al revés (het ding = onderwerp) · gustaN bij meervoud · tampoco = ook niet · «a mí», niet «yo» · querer/poder zónder wissel bij nosotros/vosotros · 2e ww = infinitief · ¿por qué? ≠ porque.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encantar + conectoren + eigen playlist toelichten. Zwakker: gusta/gustan-kaart en OI-tabel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playlist»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1 · ONDERZOEK &amp; DATA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termómetro de la clase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 · de pie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De pie. La clase es una escala: de «odio» a «me encanta».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Rechtstaan. De klas is een schaal: van «odio» tot «me encanta».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niet in het midden blijven hangen: kies een van de vier plaatsen. En wie gevraagd wordt, verantwoordt zijn plek met «porque».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Escala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odio → no me gusta → me gusta → me encanta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madrugar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playa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reguetón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cocinar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los lunes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los viajes en tren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hablar en público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chocolate negro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aquí porque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… personas les encanta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nadie le gusta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Casi todos 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3 · MEDIAFORMAT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Radio Valencia: la llamada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Estás en directo. Pides una canción y dices por qué.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bent live in de uitzending. Je vraagt een nummer aan en zegt waarom.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presentator reageert altijd met también, tampoco, a mí sí of a mí no — en nooit twee keer dezelfde in één uitzending.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 llamas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Hola, buenas tardes. Llamo desde …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 llamas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Quiero pedir … porque me encanta …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 llamas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para mi … , que hoy cumple años.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¡A mí también me encanta!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Pues a mí no, pero la ponemos.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tampoco me gusta mucho, la verdad.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¿Ah sí? A mí sí, y mucho.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de Rosalía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algo de flamenco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reguetón del verano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canción tranquila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de la película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algo para bailar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PUZZEL &amp; ESCAPE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Cadena rota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10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La cadena da la vuelta a la clase. Si se rompe, vuelve a empezar.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ketting gaat de klas rond. Breekt hij, dan begin je opnieuw.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Een reactie die al gebruikt is, breekt de ketting — ook als ze klopt. De klas moet dus bijhouden wat al voorbijkwam.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Me gusta la playa.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Me encantan los viajes.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también.</a:t>
            </a:r>
          </a:p>
        </p:txBody>
      </p:sp>
      <p:sp>
        <p:nvSpPr>
          <p:cNvPr id="21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23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tampoco.</a:t>
            </a:r>
          </a:p>
        </p:txBody>
      </p:sp>
      <p:sp>
        <p:nvSpPr>
          <p:cNvPr id="25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27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sí.</a:t>
            </a:r>
          </a:p>
        </p:txBody>
      </p:sp>
      <p:sp>
        <p:nvSpPr>
          <p:cNvPr id="29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31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no.</a:t>
            </a:r>
          </a:p>
        </p:txBody>
      </p:sp>
      <p:sp>
        <p:nvSpPr>
          <p:cNvPr id="33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35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8"/>
          <p:cNvSpPr txBox="1"/>
          <p:nvPr/>
        </p:nvSpPr>
        <p:spPr>
          <a:xfrm>
            <a:off x="548640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igual.</a:t>
            </a:r>
          </a:p>
        </p:txBody>
      </p:sp>
      <p:sp>
        <p:nvSpPr>
          <p:cNvPr id="37" name="Onthul 8"/>
          <p:cNvSpPr/>
          <p:nvPr/>
        </p:nvSpPr>
        <p:spPr>
          <a:xfrm>
            <a:off x="548640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8"/>
          <p:cNvSpPr txBox="1"/>
          <p:nvPr/>
        </p:nvSpPr>
        <p:spPr>
          <a:xfrm>
            <a:off x="566928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3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9"/>
          <p:cNvSpPr txBox="1"/>
          <p:nvPr/>
        </p:nvSpPr>
        <p:spPr>
          <a:xfrm>
            <a:off x="3403854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Pues yo no.</a:t>
            </a:r>
          </a:p>
        </p:txBody>
      </p:sp>
      <p:sp>
        <p:nvSpPr>
          <p:cNvPr id="41" name="Onthul 9"/>
          <p:cNvSpPr/>
          <p:nvPr/>
        </p:nvSpPr>
        <p:spPr>
          <a:xfrm>
            <a:off x="3403854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nthulTxt 9"/>
          <p:cNvSpPr txBox="1"/>
          <p:nvPr/>
        </p:nvSpPr>
        <p:spPr>
          <a:xfrm>
            <a:off x="3422142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43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10"/>
          <p:cNvSpPr txBox="1"/>
          <p:nvPr/>
        </p:nvSpPr>
        <p:spPr>
          <a:xfrm>
            <a:off x="6259068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me encanta.</a:t>
            </a:r>
          </a:p>
        </p:txBody>
      </p:sp>
      <p:sp>
        <p:nvSpPr>
          <p:cNvPr id="45" name="Onthul 10"/>
          <p:cNvSpPr/>
          <p:nvPr/>
        </p:nvSpPr>
        <p:spPr>
          <a:xfrm>
            <a:off x="6259068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nthulTxt 10"/>
          <p:cNvSpPr txBox="1"/>
          <p:nvPr/>
        </p:nvSpPr>
        <p:spPr>
          <a:xfrm>
            <a:off x="6277356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47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arjetaTxt 11"/>
          <p:cNvSpPr txBox="1"/>
          <p:nvPr/>
        </p:nvSpPr>
        <p:spPr>
          <a:xfrm>
            <a:off x="9114282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no me gusta nada.</a:t>
            </a:r>
          </a:p>
        </p:txBody>
      </p:sp>
      <p:sp>
        <p:nvSpPr>
          <p:cNvPr id="49" name="Onthul 11"/>
          <p:cNvSpPr/>
          <p:nvPr/>
        </p:nvSpPr>
        <p:spPr>
          <a:xfrm>
            <a:off x="9114282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nthulTxt 11"/>
          <p:cNvSpPr txBox="1"/>
          <p:nvPr/>
        </p:nvSpPr>
        <p:spPr>
          <a:xfrm>
            <a:off x="9132570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