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.xml"/><Relationship Id="rId3" Type="http://schemas.openxmlformats.org/officeDocument/2006/relationships/slide" Target="slide4.xml"/><Relationship Id="rId4" Type="http://schemas.openxmlformats.org/officeDocument/2006/relationships/slide" Target="slide5.xml"/><Relationship Id="rId5" Type="http://schemas.openxmlformats.org/officeDocument/2006/relationships/slide" Target="slide7.xml"/><Relationship Id="rId6" Type="http://schemas.openxmlformats.org/officeDocument/2006/relationships/slide" Target="slide9.xml"/><Relationship Id="rId7" Type="http://schemas.openxmlformats.org/officeDocument/2006/relationships/slide" Target="slide10.xml"/><Relationship Id="rId8" Type="http://schemas.openxmlformats.org/officeDocument/2006/relationships/slide" Target="slide11.xml"/><Relationship Id="rId9" Type="http://schemas.openxmlformats.org/officeDocument/2006/relationships/slide" Target="slide12.xml"/><Relationship Id="rId10" Type="http://schemas.openxmlformats.org/officeDocument/2006/relationships/slide" Target="slide1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video" Target="https://www.youtube.com/embed/2E51CKpanmU" TargetMode="External"/><Relationship Id="rId4" Type="http://schemas.microsoft.com/office/2007/relationships/media" Target="https://www.youtube.com/embed/2E51CKpanmU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297680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224528"/>
            <a:ext cx="12191695" cy="73152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502920"/>
            <a:ext cx="323148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64550"/>
                </a:solidFill>
                <a:latin typeface="Inter"/>
              </a:rPr>
              <a:t>C4 · LA RUTA · EL DESPEGUE · PARADA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234440"/>
            <a:ext cx="10972800" cy="1645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600" b="1" i="0">
                <a:solidFill>
                  <a:srgbClr val="FFFFFF"/>
                </a:solidFill>
                <a:latin typeface="Bricolage Grotesque"/>
              </a:rPr>
              <a:t>Saludos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880360"/>
            <a:ext cx="10515600" cy="10058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Inter"/>
              </a:rPr>
              <a:t>¡Buenos días! Groeten volgens het moment van de dag en zeggen </a:t>
            </a:r>
            <a:r>
              <a:rPr sz="1700" b="1" i="0">
                <a:solidFill>
                  <a:srgbClr val="FFFFFF"/>
                </a:solidFill>
                <a:latin typeface="Inter"/>
              </a:rPr>
              <a:t>hoe je je voelt.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FBEAEC"/>
                </a:solidFill>
                <a:latin typeface="Inter"/>
              </a:rPr>
              <a:t>Survival in Spanish — todo lo que oyes, lo puedes usar enseguida.</a:t>
            </a:r>
          </a:p>
        </p:txBody>
      </p:sp>
      <p:pic>
        <p:nvPicPr>
          <p:cNvPr id="8" name="Picture 7" descr="mochi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4526280"/>
            <a:ext cx="1554480" cy="1554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4800600"/>
            <a:ext cx="8229600" cy="12801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En esta unidad vas a…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• Saludar según el momento del día  </a:t>
            </a:r>
            <a:r>
              <a:rPr sz="1100" b="0" i="1">
                <a:solidFill>
                  <a:srgbClr val="6A6E78"/>
                </a:solidFill>
                <a:latin typeface="Inter"/>
              </a:rPr>
              <a:t>días · tardes · noches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• Decir cómo estás  </a:t>
            </a:r>
            <a:r>
              <a:rPr sz="1100" b="0" i="1">
                <a:solidFill>
                  <a:srgbClr val="6A6E78"/>
                </a:solidFill>
                <a:latin typeface="Inter"/>
              </a:rPr>
              <a:t>estar + estado (bien, cansado…)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• Despedirte  </a:t>
            </a:r>
            <a:r>
              <a:rPr sz="1100" b="0" i="1">
                <a:solidFill>
                  <a:srgbClr val="6A6E78"/>
                </a:solidFill>
                <a:latin typeface="Inter"/>
              </a:rPr>
              <a:t>adiós · hasta luego · hasta mañana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SALUDOS   ·   C4 · La Ruta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45537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MENÚ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¿Qué vamos a hacer?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Wat gaan we doen? — klik op een tegel</a:t>
            </a:r>
          </a:p>
        </p:txBody>
      </p:sp>
      <p:sp>
        <p:nvSpPr>
          <p:cNvPr id="8" name="Rounded Rectangle 7">
            <a:hlinkClick action="ppaction://hlinksldjump" r:id="rId2"/>
          </p:cNvPr>
          <p:cNvSpPr/>
          <p:nvPr/>
        </p:nvSpPr>
        <p:spPr>
          <a:xfrm>
            <a:off x="502920" y="155448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66420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12140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¡Escucha!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de scène + chunks</a:t>
            </a:r>
          </a:p>
        </p:txBody>
      </p:sp>
      <p:sp>
        <p:nvSpPr>
          <p:cNvPr id="11" name="Rounded Rectangle 10">
            <a:hlinkClick action="ppaction://hlinksldjump" r:id="rId3"/>
          </p:cNvPr>
          <p:cNvSpPr/>
          <p:nvPr/>
        </p:nvSpPr>
        <p:spPr>
          <a:xfrm>
            <a:off x="3410712" y="155448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93592" y="166420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93592" y="212140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Suena bien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jota · h muda · acento</a:t>
            </a:r>
          </a:p>
        </p:txBody>
      </p:sp>
      <p:sp>
        <p:nvSpPr>
          <p:cNvPr id="14" name="Rounded Rectangle 13">
            <a:hlinkClick action="ppaction://hlinksldjump" r:id="rId4"/>
          </p:cNvPr>
          <p:cNvSpPr/>
          <p:nvPr/>
        </p:nvSpPr>
        <p:spPr>
          <a:xfrm>
            <a:off x="6318504" y="155448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01384" y="166420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01384" y="212140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Kit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saludos por el día</a:t>
            </a:r>
          </a:p>
        </p:txBody>
      </p:sp>
      <p:sp>
        <p:nvSpPr>
          <p:cNvPr id="17" name="Rounded Rectangle 16">
            <a:hlinkClick action="ppaction://hlinksldjump" r:id="rId5"/>
          </p:cNvPr>
          <p:cNvSpPr/>
          <p:nvPr/>
        </p:nvSpPr>
        <p:spPr>
          <a:xfrm>
            <a:off x="9226296" y="155448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09176" y="166420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09176" y="212140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Gramática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estar · saludo por hora</a:t>
            </a:r>
          </a:p>
        </p:txBody>
      </p:sp>
      <p:sp>
        <p:nvSpPr>
          <p:cNvPr id="20" name="Rounded Rectangle 19">
            <a:hlinkClick action="ppaction://hlinksldjump" r:id="rId6"/>
          </p:cNvPr>
          <p:cNvSpPr/>
          <p:nvPr/>
        </p:nvSpPr>
        <p:spPr>
          <a:xfrm>
            <a:off x="502920" y="278892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289864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335584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Práctica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oefenen samen</a:t>
            </a:r>
          </a:p>
        </p:txBody>
      </p:sp>
      <p:sp>
        <p:nvSpPr>
          <p:cNvPr id="23" name="Rounded Rectangle 22">
            <a:hlinkClick action="ppaction://hlinksldjump" r:id="rId7"/>
          </p:cNvPr>
          <p:cNvSpPr/>
          <p:nvPr/>
        </p:nvSpPr>
        <p:spPr>
          <a:xfrm>
            <a:off x="3410712" y="278892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93592" y="289864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93592" y="335584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Hablar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un día de saludos</a:t>
            </a:r>
          </a:p>
        </p:txBody>
      </p:sp>
      <p:sp>
        <p:nvSpPr>
          <p:cNvPr id="26" name="Rounded Rectangle 25">
            <a:hlinkClick action="ppaction://hlinksldjump" r:id="rId8"/>
          </p:cNvPr>
          <p:cNvSpPr/>
          <p:nvPr/>
        </p:nvSpPr>
        <p:spPr>
          <a:xfrm>
            <a:off x="6318504" y="278892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01384" y="289864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01384" y="335584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Música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banda sonora</a:t>
            </a:r>
          </a:p>
        </p:txBody>
      </p:sp>
      <p:sp>
        <p:nvSpPr>
          <p:cNvPr id="29" name="Rounded Rectangle 28">
            <a:hlinkClick action="ppaction://hlinksldjump" r:id="rId9"/>
          </p:cNvPr>
          <p:cNvSpPr/>
          <p:nvPr/>
        </p:nvSpPr>
        <p:spPr>
          <a:xfrm>
            <a:off x="9226296" y="278892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409176" y="289864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9176" y="335584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Tarea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un día de saludos</a:t>
            </a:r>
          </a:p>
        </p:txBody>
      </p:sp>
      <p:sp>
        <p:nvSpPr>
          <p:cNvPr id="32" name="Rounded Rectangle 31">
            <a:hlinkClick action="ppaction://hlinksldjump" r:id="rId10"/>
          </p:cNvPr>
          <p:cNvSpPr/>
          <p:nvPr/>
        </p:nvSpPr>
        <p:spPr>
          <a:xfrm>
            <a:off x="502920" y="402336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" y="413308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" y="459028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Repaso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wat kun je nu?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5440680"/>
            <a:ext cx="1097280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A8323B"/>
                </a:solidFill>
                <a:latin typeface="Bricolage Grotesque"/>
              </a:rPr>
              <a:t>Consejo · Tip. </a:t>
            </a:r>
            <a:r>
              <a:rPr sz="1200" b="0" i="1">
                <a:solidFill>
                  <a:srgbClr val="20242E"/>
                </a:solidFill>
                <a:latin typeface="Inter"/>
              </a:rPr>
              <a:t>Luister eerst, spreek na, en durf zelf te praten. Fouten maken hoort erbij.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SALUDOS   ·   C4 · La Ruta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§1 · ¡ESCUCHA!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Bekijk la escena y escucha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Kijk &amp; luister — de scène speelt op 09.00 · 16.00 · 21.05 u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17320"/>
            <a:ext cx="676656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85800" y="1645920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Julio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48840" y="1627632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Josefina… Buenos días.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176272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Josefina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48840" y="2157984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¿Cómo estás?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2706624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Julio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48840" y="2688336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Bien, bien. Es María, la nueva profesora.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3236976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Josefina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48840" y="3218688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Yo estoy ocupada. Muy ocupada.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3767328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María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48840" y="3749040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Buenas tardes. ¿Cómo estás?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42976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Josefina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48840" y="4279392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Estoy enferma. Un poco enferma.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4828032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Fernando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48840" y="4809744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Y tú, ¿cómo estás?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535838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Josefina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48840" y="5340096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Uf, cansada, muy cansada.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98079" y="1417320"/>
            <a:ext cx="4206240" cy="224028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26679" y="1572768"/>
            <a:ext cx="3749039" cy="20116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Chunks para llevar 🎒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Buenos días · Buenas tardes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Buenas noches · ¿Cómo estás?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Estoy bien / cansado-a / ocupado-a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Hasta luego · Adiós · Hasta mañana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79" y="3767328"/>
            <a:ext cx="42062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A8323B"/>
                </a:solidFill>
                <a:latin typeface="Bricolage Grotesque"/>
              </a:rPr>
              <a:t>🎬 Sitcom · Episodio 2 — klik om af te spelen</a:t>
            </a:r>
          </a:p>
        </p:txBody>
      </p:sp>
      <p:pic>
        <p:nvPicPr>
          <p:cNvPr id="29" name="Picture 28" descr="video_poster_U2.png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2"/>
          <a:stretch>
            <a:fillRect/>
          </a:stretch>
        </p:blipFill>
        <p:spPr>
          <a:xfrm>
            <a:off x="7498079" y="4069080"/>
            <a:ext cx="4206240" cy="2331720"/>
          </a:xfrm>
          <a:prstGeom prst="rect">
            <a:avLst/>
          </a:prstGeom>
        </p:spPr>
      </p:pic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SALUDOS   ·   C4 · La Ruta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9601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SUENA BIEN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La jota /x/ · la h muda · el acento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De jota, de stille h &amp; de klemtoon — luister en spreek na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463040"/>
            <a:ext cx="5532120" cy="1965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463040"/>
            <a:ext cx="5532120" cy="128016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9164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La jota /x/ · j en g+e,i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148840"/>
            <a:ext cx="5120640" cy="11887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Josefina · jueves · gente · gimnasio · trabajo · mujer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6A6E78"/>
                </a:solidFill>
                <a:latin typeface="Inter"/>
              </a:rPr>
              <a:t>Keelklank, zoals de NL «g» maar krachtiger.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463040"/>
            <a:ext cx="5532120" cy="1965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463040"/>
            <a:ext cx="5532120" cy="128016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69164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La h muda · de stille 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148840"/>
            <a:ext cx="5120640" cy="11887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hola · hasta · hija · ahora · hombre · hospital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6A6E78"/>
                </a:solidFill>
                <a:latin typeface="Inter"/>
              </a:rPr>
              <a:t>Je schrijft de h wél, maar je hóórt ze niet: «hola» = «ola».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566160"/>
            <a:ext cx="11201400" cy="77724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703320"/>
            <a:ext cx="106984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DC2626"/>
                </a:solidFill>
                <a:latin typeface="Bricolage Grotesque"/>
              </a:rPr>
              <a:t>¡Ojo! </a:t>
            </a:r>
            <a:r>
              <a:rPr sz="1300" b="0" i="0">
                <a:solidFill>
                  <a:srgbClr val="20242E"/>
                </a:solidFill>
                <a:latin typeface="Inter"/>
              </a:rPr>
              <a:t>g + a/o/u = /g/ (gato, gusto)  ·  maar g + e/i = /x/ (gente, gimnasio) — net als de j.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57200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El acento en los saludos · waar ligt de klemtoon?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074920"/>
            <a:ext cx="1115568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>
                <a:solidFill>
                  <a:srgbClr val="20242E"/>
                </a:solidFill>
                <a:latin typeface="Bricolage Grotesque"/>
              </a:rPr>
              <a:t>bue·nos </a:t>
            </a:r>
            <a:r>
              <a:rPr sz="2000" b="1" i="0">
                <a:solidFill>
                  <a:srgbClr val="D64550"/>
                </a:solidFill>
                <a:latin typeface="Bricolage Grotesque"/>
              </a:rPr>
              <a:t>DÍ</a:t>
            </a:r>
            <a:r>
              <a:rPr sz="2000" b="0" i="0">
                <a:solidFill>
                  <a:srgbClr val="20242E"/>
                </a:solidFill>
                <a:latin typeface="Bricolage Grotesque"/>
              </a:rPr>
              <a:t>·as      bue·nas </a:t>
            </a:r>
            <a:r>
              <a:rPr sz="2000" b="1" i="0">
                <a:solidFill>
                  <a:srgbClr val="D64550"/>
                </a:solidFill>
                <a:latin typeface="Bricolage Grotesque"/>
              </a:rPr>
              <a:t>TAR</a:t>
            </a:r>
            <a:r>
              <a:rPr sz="2000" b="0" i="0">
                <a:solidFill>
                  <a:srgbClr val="20242E"/>
                </a:solidFill>
                <a:latin typeface="Bricolage Grotesque"/>
              </a:rPr>
              <a:t>·des      bue·nas </a:t>
            </a:r>
            <a:r>
              <a:rPr sz="2000" b="1" i="0">
                <a:solidFill>
                  <a:srgbClr val="D64550"/>
                </a:solidFill>
                <a:latin typeface="Bricolage Grotesque"/>
              </a:rPr>
              <a:t>NO</a:t>
            </a:r>
            <a:r>
              <a:rPr sz="2000" b="0" i="0">
                <a:solidFill>
                  <a:srgbClr val="20242E"/>
                </a:solidFill>
                <a:latin typeface="Bricolage Grotesque"/>
              </a:rPr>
              <a:t>·ches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80644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6A6E78"/>
                </a:solidFill>
                <a:latin typeface="Inter"/>
              </a:rPr>
              <a:t>🔊 Oefen de klanken online op de hub (tabblad Kit · Suena bien).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SALUDOS   ·   C4 · La Ruta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§2 · KIT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Saludar por el día y despedirse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Groeten volgens het moment &amp; afscheid nemen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63040"/>
            <a:ext cx="365760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27632"/>
            <a:ext cx="329184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Saludar · begroeten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24028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Buenos días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goedemorgen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898648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Buenas tardes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goedemiddag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557016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Buenas noches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goedenavond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215384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¡Hola!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hallo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873752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¡Buenas!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hoi (informeel)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1463040"/>
            <a:ext cx="365760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0" y="1627632"/>
            <a:ext cx="329184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Preguntar · vragen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224028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¿Qué tal?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hoe gaat het?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898648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¿Cómo estás?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hoe gaat het? (jij)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3557016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¿Cómo está usted?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… met u?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4215384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¿Y tú?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en jij?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83880" y="1463040"/>
            <a:ext cx="365760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80" y="1627632"/>
            <a:ext cx="329184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Despedirse · afscheid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80" y="224028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Adiós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dag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0" y="2898648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Hasta luego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tot straks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0" y="3557016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Hasta mañana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tot morgen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0" y="4215384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¡Nos vemos!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we zien elkaar!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80" y="4873752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Chao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doei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SALUDOS   ·   C4 · La Ruta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§2 · KIT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Decir cómo estoy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Zeggen hoe je je voelt · estar + estado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63040"/>
            <a:ext cx="5486400" cy="448056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27632"/>
            <a:ext cx="50292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¿Cómo estás? → Estoy…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286000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Estoy bien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ik voel me goed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944368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Muy bien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heel goed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602736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Regular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gaat wel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261104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Estoy cansado / cansada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ik ben moe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919472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Estoy ocupado / ocupada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ik heb het druk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1463040"/>
            <a:ext cx="548640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1627632"/>
            <a:ext cx="50292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Más estados · meer toestanden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2286000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Estoy nervioso / nerviosa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ik ben nerveus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2944368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Estoy enfermo / enferma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ik ben ziek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3602736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Estoy fatal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heel slecht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4261104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¿Y tú?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en jij?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5212080"/>
            <a:ext cx="502920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¡Ojo! </a:t>
            </a:r>
            <a:r>
              <a:rPr sz="1200" b="0" i="1">
                <a:solidFill>
                  <a:srgbClr val="20242E"/>
                </a:solidFill>
                <a:latin typeface="Inter"/>
              </a:rPr>
              <a:t>Estoy bien (niet «Soy bien»). Man: -o · vrouw: -a.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SALUDOS   ·   C4 · La Ruta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§4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estar · saludo por la hora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Hoe je je voelt &amp; groeten volgens de klok — functioneel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280160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554480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19072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07361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71953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03549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68141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86352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50944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82540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047132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1737360"/>
            <a:ext cx="5486400" cy="2011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1874519"/>
            <a:ext cx="50292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A8323B"/>
                </a:solidFill>
                <a:latin typeface="Bricolage Grotesque"/>
              </a:rPr>
              <a:t>estar — hoe je je voelt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233172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563EB"/>
                </a:solidFill>
                <a:latin typeface="Inter"/>
              </a:rPr>
              <a:t>yo 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estoy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ik ben / voel 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2770632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563EB"/>
                </a:solidFill>
                <a:latin typeface="Inter"/>
              </a:rPr>
              <a:t>tú 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estás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jij bent / voelt je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3209544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563EB"/>
                </a:solidFill>
                <a:latin typeface="Inter"/>
              </a:rPr>
              <a:t>él/ella/usted 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está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hij/zij is · u bent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7920" y="1737360"/>
            <a:ext cx="5486400" cy="2011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46520" y="1874519"/>
            <a:ext cx="50292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A8323B"/>
                </a:solidFill>
                <a:latin typeface="Bricolage Grotesque"/>
              </a:rPr>
              <a:t>saludo según la hora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46520" y="233172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🌅 la mañana  </a:t>
            </a:r>
            <a:r>
              <a:rPr sz="1300" b="1" i="0">
                <a:solidFill>
                  <a:srgbClr val="A8323B"/>
                </a:solidFill>
                <a:latin typeface="Inter"/>
              </a:rPr>
              <a:t>Buenos días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~6–12 u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46520" y="2770632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☀️ la tarde  </a:t>
            </a:r>
            <a:r>
              <a:rPr sz="1300" b="1" i="0">
                <a:solidFill>
                  <a:srgbClr val="A8323B"/>
                </a:solidFill>
                <a:latin typeface="Inter"/>
              </a:rPr>
              <a:t>Buenas tardes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~12–20 u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46520" y="3209544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🌙 la noche  </a:t>
            </a:r>
            <a:r>
              <a:rPr sz="1300" b="1" i="0">
                <a:solidFill>
                  <a:srgbClr val="A8323B"/>
                </a:solidFill>
                <a:latin typeface="Inter"/>
              </a:rPr>
              <a:t>Buenas noches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~20–6 u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3977639"/>
            <a:ext cx="11201400" cy="155448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Completa · vul aan (klik voor de oplossing): </a:t>
            </a:r>
            <a:r>
              <a:rPr sz="1300" b="0" i="0">
                <a:solidFill>
                  <a:srgbClr val="20242E"/>
                </a:solidFill>
                <a:latin typeface="Inter"/>
              </a:rPr>
              <a:t>Yo ___ bien.  ¿Cómo ___ (tú)?  María ___ cansada.  08.30 → ___ 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31520" y="4709160"/>
            <a:ext cx="10698480" cy="640080"/>
          </a:xfrm>
          <a:prstGeom prst="roundRect">
            <a:avLst>
              <a:gd name="adj" fmla="val 6000"/>
            </a:avLst>
          </a:prstGeom>
          <a:solidFill>
            <a:srgbClr val="FBEAEC"/>
          </a:solidFill>
          <a:ln w="19050">
            <a:solidFill>
              <a:srgbClr val="D6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A8323B"/>
                </a:solidFill>
                <a:latin typeface="Inter"/>
              </a:rPr>
              <a:t>estoy · estás · está · Buenos días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68680" y="45811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D64550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A8323B"/>
                </a:solidFill>
                <a:latin typeface="Inter"/>
              </a:rPr>
              <a:t>⏭  Saltar</a:t>
            </a:r>
          </a:p>
        </p:txBody>
      </p:sp>
      <p:sp>
        <p:nvSpPr>
          <p:cNvPr id="36" name="Rounded Rectangle 35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A8323B"/>
                </a:solidFill>
                <a:latin typeface="Inter"/>
              </a:rPr>
              <a:t>⌂  Menú (dia 2)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SALUDOS   ·   C4 · La Ruta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§4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-o / -a · tú / usted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Man/vrouw (op de estados) &amp; informeel/beleefd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554480"/>
            <a:ext cx="5486400" cy="2103120"/>
          </a:xfrm>
          <a:prstGeom prst="roundRect">
            <a:avLst>
              <a:gd name="adj" fmla="val 5500"/>
            </a:avLst>
          </a:prstGeom>
          <a:solidFill>
            <a:srgbClr val="E8F0FE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737360"/>
            <a:ext cx="5029200" cy="18288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E40AF"/>
                </a:solidFill>
                <a:latin typeface="Bricolage Grotesque"/>
              </a:rPr>
              <a:t>♂ Un chico dice…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1E40AF"/>
                </a:solidFill>
                <a:latin typeface="Inter"/>
              </a:rPr>
              <a:t>Estoy cansado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E40AF"/>
                </a:solidFill>
                <a:latin typeface="Inter"/>
              </a:rPr>
              <a:t>ocupado · nervioso · enfermo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554480"/>
            <a:ext cx="5486400" cy="2103120"/>
          </a:xfrm>
          <a:prstGeom prst="roundRect">
            <a:avLst>
              <a:gd name="adj" fmla="val 5500"/>
            </a:avLst>
          </a:prstGeom>
          <a:solidFill>
            <a:srgbClr val="FCE7F0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737360"/>
            <a:ext cx="5029200" cy="18288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9D174D"/>
                </a:solidFill>
                <a:latin typeface="Bricolage Grotesque"/>
              </a:rPr>
              <a:t>♀ Una chica dice…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9D174D"/>
                </a:solidFill>
                <a:latin typeface="Inter"/>
              </a:rPr>
              <a:t>Estoy cansada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9D174D"/>
                </a:solidFill>
                <a:latin typeface="Inter"/>
              </a:rPr>
              <a:t>ocupada · nerviosa · enferma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840480"/>
            <a:ext cx="11201400" cy="1645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4023360"/>
            <a:ext cx="1069848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A8323B"/>
                </a:solidFill>
                <a:latin typeface="Bricolage Grotesque"/>
              </a:rPr>
              <a:t>tú  ↔  usted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Met vrienden en klasgenoten: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tú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 (¿Cómo estás? · ¿Qué tal?).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Formeel, met een onbekende volwassene / de directeur: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usted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 (¿Cómo está usted?).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SALUDOS   ·   C4 · La Ruta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1249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§3 · PRÁCTICA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Completa el diálogo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Vul samen aan — klik voor de oplossing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554480"/>
            <a:ext cx="6949440" cy="4114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828800"/>
            <a:ext cx="649224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— Buenos ___, ¿cómo ___?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651760"/>
            <a:ext cx="649224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— ___ bien, gracias. ¿Y tú?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474720"/>
            <a:ext cx="649224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— Regular… ___ un poco cansada.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297680"/>
            <a:ext cx="649224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— Vaya. ¡Hasta ___!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80960" y="1737360"/>
            <a:ext cx="4023360" cy="3657600"/>
          </a:xfrm>
          <a:prstGeom prst="roundRect">
            <a:avLst>
              <a:gd name="adj" fmla="val 6000"/>
            </a:avLst>
          </a:prstGeom>
          <a:solidFill>
            <a:srgbClr val="FBEAEC"/>
          </a:solidFill>
          <a:ln w="19050">
            <a:solidFill>
              <a:srgbClr val="D6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A8323B"/>
                </a:solidFill>
                <a:latin typeface="Inter"/>
              </a:rPr>
              <a:t>1. días · estás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A8323B"/>
                </a:solidFill>
                <a:latin typeface="Inter"/>
              </a:rPr>
              <a:t>2. Estoy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A8323B"/>
                </a:solidFill>
                <a:latin typeface="Inter"/>
              </a:rPr>
              <a:t>3. estoy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A8323B"/>
                </a:solidFill>
                <a:latin typeface="Inter"/>
              </a:rPr>
              <a:t>4. luego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818120" y="16093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D64550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A8323B"/>
                </a:solidFill>
                <a:latin typeface="Inter"/>
              </a:rPr>
              <a:t>⏭  Saltar</a:t>
            </a:r>
          </a:p>
        </p:txBody>
      </p:sp>
      <p:sp>
        <p:nvSpPr>
          <p:cNvPr id="18" name="Rounded Rectangle 17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A8323B"/>
                </a:solidFill>
                <a:latin typeface="Inter"/>
              </a:rPr>
              <a:t>⌂  Menú (dia 2)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SALUDOS   ·   C4 · La Ruta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04424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§3 · HABLAR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Un día de saludos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Groet volgens het uur en zeg hoe het gaat — sin leer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554480"/>
            <a:ext cx="6949440" cy="310896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783080"/>
            <a:ext cx="6492240" cy="2743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Modelo · zeg dit hardop (por la mañana):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>
                <a:solidFill>
                  <a:srgbClr val="20242E"/>
                </a:solidFill>
                <a:latin typeface="Inter"/>
              </a:rPr>
              <a:t>«¡Buenos días! ¿Qué tal?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>
                <a:solidFill>
                  <a:srgbClr val="20242E"/>
                </a:solidFill>
                <a:latin typeface="Inter"/>
              </a:rPr>
              <a:t>— Estoy bien, ¿y tú?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>
                <a:solidFill>
                  <a:srgbClr val="20242E"/>
                </a:solidFill>
                <a:latin typeface="Inter"/>
              </a:rPr>
              <a:t>— Regular, estoy un poco cansado.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>
                <a:solidFill>
                  <a:srgbClr val="20242E"/>
                </a:solidFill>
                <a:latin typeface="Inter"/>
              </a:rPr>
              <a:t>— Vaya. ¡Hasta luego!»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80960" y="1554480"/>
            <a:ext cx="402336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09560" y="1783080"/>
            <a:ext cx="3566160" cy="2743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¿Cómo? · Werkvorm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1. Kies een moment (🌅☀️🌙).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2. Groet gepast + vraag ¿cómo estás?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3. Antwoord met estar + estado.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4. Neem afscheid. Wissel (3×).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937760"/>
            <a:ext cx="1097280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A8323B"/>
                </a:solidFill>
                <a:latin typeface="Bricolage Grotesque"/>
              </a:rPr>
              <a:t>Interactie </a:t>
            </a:r>
            <a:r>
              <a:rPr sz="1200" b="0" i="1">
                <a:solidFill>
                  <a:srgbClr val="20242E"/>
                </a:solidFill>
                <a:latin typeface="Inter"/>
              </a:rPr>
              <a:t>= beurt nemen, luisteren en reageren. Begrijp je iets niet? Zeg: «¿Cómo? / Otra vez, por favor.»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SALUDOS   ·   C4 · La Ruta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CULTURA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Saludos &amp; banda sonora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Warme begroetingen (dos besos) + muziek die jullie kennen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600200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783080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Rosalía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La Perla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🇪🇸 flamenco+pop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5112" y="1600200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53712" y="1783080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Luis Fonsi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Despacito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🇵🇷 pop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47304" y="1600200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75904" y="1783080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Manu Chao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Me gustas tú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🌎 clásico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136392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319272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Aitana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6 de febrero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🇪🇸 pop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25112" y="3136392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53712" y="3319272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Karol G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TQG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🇨🇴 reggaetón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47304" y="3136392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75904" y="3319272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Quevedo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Bzrp #52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🇪🇸 urban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029200"/>
            <a:ext cx="11201400" cy="96012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166360"/>
            <a:ext cx="10698480" cy="7315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🎧 La playlist de la clase (Spotify)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+ LyricsTraining (vul de tekst aan terwijl je luistert). Alles op de digitale hub → tabblad Música.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SALUDOS   ·   C4 · La Ruta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§5 · TAREA FINAL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Un día de saludos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Speel 3 mini-gesprekjes, één per moment van de dag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554480"/>
            <a:ext cx="5486400" cy="3200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554480"/>
            <a:ext cx="5486400" cy="502920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627632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Bricolage Grotesque"/>
              </a:rPr>
              <a:t>DIARIO DE SALUDOS · noteer je gesprekjes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286000"/>
            <a:ext cx="4937760" cy="22860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🌅 Saludo  </a:t>
            </a:r>
            <a:r>
              <a:rPr sz="1400" b="0" i="0">
                <a:solidFill>
                  <a:srgbClr val="E4E3DE"/>
                </a:solidFill>
                <a:latin typeface="Inter"/>
              </a:rPr>
              <a:t>____________  Estoy ______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☀️ Saludo  </a:t>
            </a:r>
            <a:r>
              <a:rPr sz="1400" b="0" i="0">
                <a:solidFill>
                  <a:srgbClr val="E4E3DE"/>
                </a:solidFill>
                <a:latin typeface="Inter"/>
              </a:rPr>
              <a:t>____________  Estoy ______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🌙 Saludo  </a:t>
            </a:r>
            <a:r>
              <a:rPr sz="1400" b="0" i="0">
                <a:solidFill>
                  <a:srgbClr val="E4E3DE"/>
                </a:solidFill>
                <a:latin typeface="Inter"/>
              </a:rPr>
              <a:t>____________  Estoy ______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554480"/>
            <a:ext cx="5486400" cy="320040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1737360"/>
            <a:ext cx="5029200" cy="2834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Los pasos · stappen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1. Kies een moment: mañana / tarde / noche.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2. Groet gepast + «¿cómo estás?»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3. Antwoord met estar: «Estoy ___» (‑o/‑a).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4. Sluit af: «Hasta luego / mañana. Adiós.»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029200"/>
            <a:ext cx="1097280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🏁 Klaar als… </a:t>
            </a:r>
            <a:r>
              <a:rPr sz="1250" b="0" i="0">
                <a:solidFill>
                  <a:srgbClr val="20242E"/>
                </a:solidFill>
                <a:latin typeface="Inter"/>
              </a:rPr>
              <a:t>je op elk moment de juiste groet kiest (días/tardes/noches), met estar zegt hoe je je voelt (juiste ‑o/‑a) en netjes afscheid neemt — zónder af te lezen.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SALUDOS   ·   C4 · La Ruta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6236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REPASO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 esencial de un vistazo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Wat je nu kunt — semáforo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554480"/>
            <a:ext cx="6949440" cy="40233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6492240" cy="3657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Zo groet je volgens het uur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0242E"/>
                </a:solidFill>
                <a:latin typeface="Inter"/>
              </a:rPr>
              <a:t>🌅 Buenos días · ☀️ Buenas tardes · 🌙 Buenas noches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0242E"/>
                </a:solidFill>
                <a:latin typeface="Inter"/>
              </a:rPr>
              <a:t>Afscheid: Adiós · Hasta luego · Hasta mañana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00" b="0" i="0">
                <a:solidFill>
                  <a:srgbClr val="20242E"/>
                </a:solidFill>
                <a:latin typeface="Inter"/>
              </a:rPr>
              <a:t/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Zo zeg je hoe het gaat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¿Cómo estás? → Estoy bien / cansad_ / ocupad_.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estar: estoy · estás · está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-o = ♂ · -a = ♀   |   tú = vriend · usted = beleefd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80960" y="1554480"/>
            <a:ext cx="4023360" cy="402336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09560" y="1737360"/>
            <a:ext cx="3566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Puedo… · Ik kan…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09560" y="2331720"/>
            <a:ext cx="3566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🟢🟡🔴 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groeten volgens het moment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09560" y="2898648"/>
            <a:ext cx="3566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🟢🟡🔴 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hoe het gaat zeggen (estar)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09560" y="3465576"/>
            <a:ext cx="3566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🟢🟡🔴 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afscheid nemen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09560" y="4032504"/>
            <a:ext cx="3566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🟢🟡🔴 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-o/-a &amp; tú/usted kiezen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09560" y="4892040"/>
            <a:ext cx="3566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A8323B"/>
                </a:solidFill>
                <a:latin typeface="Bricolage Grotesque"/>
              </a:rPr>
              <a:t>🎮 Repasa jugando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6A6E78"/>
                </a:solidFill>
                <a:latin typeface="Inter"/>
              </a:rPr>
              <a:t>online op de hub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SALUDOS   ·   C4 · La Ruta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0242E"/>
      </a:dk2>
      <a:lt2>
        <a:srgbClr val="F3EEE4"/>
      </a:lt2>
      <a:accent1>
        <a:srgbClr val="D64550"/>
      </a:accent1>
      <a:accent2>
        <a:srgbClr val="A8323B"/>
      </a:accent2>
      <a:accent3>
        <a:srgbClr val="C25A63"/>
      </a:accent3>
      <a:accent4>
        <a:srgbClr val="E08A90"/>
      </a:accent4>
      <a:accent5>
        <a:srgbClr val="9D2A33"/>
      </a:accent5>
      <a:accent6>
        <a:srgbClr val="FBEAEC"/>
      </a:accent6>
      <a:hlink>
        <a:srgbClr val="A8323B"/>
      </a:hlink>
      <a:folHlink>
        <a:srgbClr val="D6455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