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12.xml"/><Relationship Id="rId10" Type="http://schemas.openxmlformats.org/officeDocument/2006/relationships/slide" Target="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video" Target="https://www.youtube.com/embed/yvPI-4JGdyo" TargetMode="External"/><Relationship Id="rId4" Type="http://schemas.microsoft.com/office/2007/relationships/media" Target="https://www.youtube.com/embed/yvPI-4JGdyo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4528"/>
            <a:ext cx="12191695" cy="73152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50292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64550"/>
                </a:solidFill>
                <a:latin typeface="Inter"/>
              </a:rPr>
              <a:t>C4 · LA RUTA · EL DESPEGUE · PARADA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097280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0" b="1" i="0">
                <a:solidFill>
                  <a:srgbClr val="FFFFFF"/>
                </a:solidFill>
                <a:latin typeface="Bricolage Grotesque"/>
              </a:rPr>
              <a:t>Presentaciones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80360"/>
            <a:ext cx="1051560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Inter"/>
              </a:rPr>
              <a:t>¡Hola! Je eerste woorden Spaans: </a:t>
            </a:r>
            <a:r>
              <a:rPr sz="1700" b="1" i="0">
                <a:solidFill>
                  <a:srgbClr val="FFFFFF"/>
                </a:solidFill>
                <a:latin typeface="Inter"/>
              </a:rPr>
              <a:t>groeten, jezelf voorstellen en afscheid nemen.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FBEAEC"/>
                </a:solidFill>
                <a:latin typeface="Inter"/>
              </a:rPr>
              <a:t>Survival in Spanish — todo lo que oyes, lo puedes usar enseguida.</a:t>
            </a:r>
          </a:p>
        </p:txBody>
      </p:sp>
      <p:pic>
        <p:nvPicPr>
          <p:cNvPr id="8" name="Picture 7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452628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4800600"/>
            <a:ext cx="8229600" cy="1280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En esta unidad vas a…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Saludar y despedirte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groeten &amp; afscheid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Decir tu nombre y de dónde eres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naam &amp; herkomst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Preguntar el nombre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iemand naar zijn naam vragen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MENÚ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vamos a hacer?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gaan we doen? — klik op een tegel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502920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¡Escucha!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scène + chunks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3410712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Suena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klanken &amp; klemtoon</a:t>
            </a:r>
          </a:p>
        </p:txBody>
      </p:sp>
      <p:sp>
        <p:nvSpPr>
          <p:cNvPr id="14" name="Rounded Rectangle 13">
            <a:hlinkClick action="ppaction://hlinksldjump" r:id="rId4"/>
          </p:cNvPr>
          <p:cNvSpPr/>
          <p:nvPr/>
        </p:nvSpPr>
        <p:spPr>
          <a:xfrm>
            <a:off x="6318504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1384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Kit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saludos &amp; presentarse</a:t>
            </a:r>
          </a:p>
        </p:txBody>
      </p:sp>
      <p:sp>
        <p:nvSpPr>
          <p:cNvPr id="17" name="Rounded Rectangle 16">
            <a:hlinkClick action="ppaction://hlinksldjump" r:id="rId5"/>
          </p:cNvPr>
          <p:cNvSpPr/>
          <p:nvPr/>
        </p:nvSpPr>
        <p:spPr>
          <a:xfrm>
            <a:off x="9226296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9176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9176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Gramática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ser · llamarse · -o/-a</a:t>
            </a:r>
          </a:p>
        </p:txBody>
      </p:sp>
      <p:sp>
        <p:nvSpPr>
          <p:cNvPr id="20" name="Rounded Rectangle 19">
            <a:hlinkClick action="ppaction://hlinksldjump" r:id="rId6"/>
          </p:cNvPr>
          <p:cNvSpPr/>
          <p:nvPr/>
        </p:nvSpPr>
        <p:spPr>
          <a:xfrm>
            <a:off x="502920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Práctica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oefenen samen</a:t>
            </a:r>
          </a:p>
        </p:txBody>
      </p:sp>
      <p:sp>
        <p:nvSpPr>
          <p:cNvPr id="23" name="Rounded Rectangle 22">
            <a:hlinkClick action="ppaction://hlinksldjump" r:id="rId7"/>
          </p:cNvPr>
          <p:cNvSpPr/>
          <p:nvPr/>
        </p:nvSpPr>
        <p:spPr>
          <a:xfrm>
            <a:off x="3410712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93592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93592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Hablar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preséntate</a:t>
            </a:r>
          </a:p>
        </p:txBody>
      </p:sp>
      <p:sp>
        <p:nvSpPr>
          <p:cNvPr id="26" name="Rounded Rectangle 25">
            <a:hlinkClick action="ppaction://hlinksldjump" r:id="rId8"/>
          </p:cNvPr>
          <p:cNvSpPr/>
          <p:nvPr/>
        </p:nvSpPr>
        <p:spPr>
          <a:xfrm>
            <a:off x="6318504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384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4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Música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banda sonora</a:t>
            </a:r>
          </a:p>
        </p:txBody>
      </p:sp>
      <p:sp>
        <p:nvSpPr>
          <p:cNvPr id="29" name="Rounded Rectangle 28">
            <a:hlinkClick action="ppaction://hlinksldjump" r:id="rId9"/>
          </p:cNvPr>
          <p:cNvSpPr/>
          <p:nvPr/>
        </p:nvSpPr>
        <p:spPr>
          <a:xfrm>
            <a:off x="9226296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09176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Tarea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el carné de la clase</a:t>
            </a:r>
          </a:p>
        </p:txBody>
      </p:sp>
      <p:sp>
        <p:nvSpPr>
          <p:cNvPr id="32" name="Rounded Rectangle 31">
            <a:hlinkClick action="ppaction://hlinksldjump" r:id="rId10"/>
          </p:cNvPr>
          <p:cNvSpPr/>
          <p:nvPr/>
        </p:nvSpPr>
        <p:spPr>
          <a:xfrm>
            <a:off x="502920" y="402336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13308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59028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Repaso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wat kun je nu?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44068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Consejo · Tip.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Luister eerst, spreek na, en durf zelf te praten. Fouten maken hoort erbij.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§1 · ¡ESCUCHA!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Bekijk la escena y escucha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Kijk &amp; luister — de chunks komen uit je oren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676656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645920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62763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Hola. ¿Cómo estás?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76272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15798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Bien. ¿Cómo te llamas?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706624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268833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Yo me llamo María. Encantada.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236976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218688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Encantado. Yo soy Julio.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67328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3749040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Os presento: María, la nueva profesora.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297680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27939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Encantado de conocerla.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828032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80974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Igualmente. Muchas gracias.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3583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34009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De nada. ¡Bienvenida!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79" y="1417320"/>
            <a:ext cx="4206240" cy="22402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79" y="1572768"/>
            <a:ext cx="3749039" cy="2011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Chunks para llevar 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Hola · ¿Cómo estás? ·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¿Cómo te llamas? · Me llamo…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Yo soy… · Encantado/a · Igualmente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Muchas gracias · Hasta luego · Adiós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3767328"/>
            <a:ext cx="42062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8323B"/>
                </a:solidFill>
                <a:latin typeface="Bricolage Grotesque"/>
              </a:rPr>
              <a:t>🎬 Sitcom · Episodio 1 — klik om af te spelen</a:t>
            </a:r>
          </a:p>
        </p:txBody>
      </p:sp>
      <p:pic>
        <p:nvPicPr>
          <p:cNvPr id="29" name="Picture 28" descr="video_poster_U1.png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498079" y="4069080"/>
            <a:ext cx="4206240" cy="233172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SUENA BIEN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Las cinco vocales + el acento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5 klinkers &amp; de klemtoon — luister en spreek 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2194560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19456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10512"/>
            <a:ext cx="21945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A8323B"/>
                </a:solidFill>
                <a:latin typeface="Bricolage Grotesque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97480"/>
            <a:ext cx="2194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als in ‘bal’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casa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554480"/>
            <a:ext cx="2194560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88920" y="1554480"/>
            <a:ext cx="219456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88920" y="1810512"/>
            <a:ext cx="21945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A8323B"/>
                </a:solidFill>
                <a:latin typeface="Bricolage Grotesque"/>
              </a:rPr>
              <a:t>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697480"/>
            <a:ext cx="2194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als in ‘bed’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mesa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74920" y="1554480"/>
            <a:ext cx="2194560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74920" y="1554480"/>
            <a:ext cx="219456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74920" y="1810512"/>
            <a:ext cx="21945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A8323B"/>
                </a:solidFill>
                <a:latin typeface="Bricolage Grotesque"/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2697480"/>
            <a:ext cx="2194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als in ‘kiwi’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sí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60920" y="1554480"/>
            <a:ext cx="2194560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60920" y="1554480"/>
            <a:ext cx="219456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60920" y="1810512"/>
            <a:ext cx="21945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A8323B"/>
                </a:solidFill>
                <a:latin typeface="Bricolage Grotesque"/>
              </a:rPr>
              <a:t>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2697480"/>
            <a:ext cx="2194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als in ‘pot’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hola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46920" y="1554480"/>
            <a:ext cx="2194560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46920" y="1554480"/>
            <a:ext cx="219456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46920" y="1810512"/>
            <a:ext cx="21945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A8323B"/>
                </a:solidFill>
                <a:latin typeface="Bricolage Grotesque"/>
              </a:rPr>
              <a:t>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46920" y="2697480"/>
            <a:ext cx="2194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als in ‘boek’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tú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520440"/>
            <a:ext cx="11201400" cy="77724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3657600"/>
            <a:ext cx="106984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Bricolage Grotesque"/>
              </a:rPr>
              <a:t>¡Ojo!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e blijft /e/ en o blijft /o/ — géén NL «ei/ou»-glijder.  a · e · i · o · oe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52628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¿Dónde está el acento? · waar ligt de klemtoon?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029200"/>
            <a:ext cx="111556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D64550"/>
                </a:solidFill>
                <a:latin typeface="Bricolage Grotesque"/>
              </a:rPr>
              <a:t>HO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·la     me·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LLA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·mo     en·can·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TA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·do     a·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DIÓS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     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GRA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·cias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7607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🔊 Oefen de klanken online op de hub (tabblad Kit · Suena bien).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Saludar y despedirse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Groeten &amp; afscheid nemen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Saludar · begroeten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¡Hola!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hallo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Buenos días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goedemorgen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Buenas tardes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goedemiddag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¿Qué tal?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gaat het?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¿Cómo estás?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gaat het? (jij)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Responder · antwoorden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Bien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Muy bien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heel goed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Bien, ¿y tú?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goed, en jij?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Regular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gaat wel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8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Despedirse · afscheid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Adiós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dag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Hasta luego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tot straks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Hasta mañana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tot morgen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Vale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oké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¡Nos vemos!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we zien elkaar!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Presentarse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Jezelf voorstellen &amp; de ander leren kennen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Decir quién eres · zeggen wie je bent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Me llamo…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heet…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Yo soy…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Soy de…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kom uit…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Encantado / Encantada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aangenaam (m/v)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Igualmente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insgelijks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Preguntar · aan de ander vragen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¿Cómo te llamas?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heet je?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¿Y tú?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en jij?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¿De dónde eres?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waar kom je vandaan?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¿Cómo está usted?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gaat het met u?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5212080"/>
            <a:ext cx="50292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me llamo… (niet «yo soy me llamo»).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ser · llamarse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Wie je bent / hoe je heet — functioneel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07361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1953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3549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8141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6352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0944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254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713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ser — zijn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yo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soy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770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tú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eres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jij bent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209544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él/ella/usted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hij/zij is · u bent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llamarse — heten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(yo) me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llamo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heet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2770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(tú) te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llamas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jij heet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209544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(usted) se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llama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u heet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977639"/>
            <a:ext cx="11201400" cy="15544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Completa · vul aan (klik voor de oplossing):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Yo ___ de Bélgica.  ¿Cómo ___ llamas?  Ella ___ profesora.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4709160"/>
            <a:ext cx="10698480" cy="64008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A8323B"/>
                </a:solidFill>
                <a:latin typeface="Inter"/>
              </a:rPr>
              <a:t>soy · te · 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868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36" name="Rounded Rectangle 3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-o / -a · tú / usted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Man/vrouw &amp; informeel/beleefd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E8F0FE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40AF"/>
                </a:solidFill>
                <a:latin typeface="Bricolage Grotesque"/>
              </a:rPr>
              <a:t>♂ Un chico dice…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E40AF"/>
                </a:solidFill>
                <a:latin typeface="Inter"/>
              </a:rPr>
              <a:t>Encantado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E40AF"/>
                </a:solidFill>
                <a:latin typeface="Inter"/>
              </a:rPr>
              <a:t>Bienvenido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FCE7F0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D174D"/>
                </a:solidFill>
                <a:latin typeface="Bricolage Grotesque"/>
              </a:rPr>
              <a:t>♀ Una chica dice…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9D174D"/>
                </a:solidFill>
                <a:latin typeface="Inter"/>
              </a:rPr>
              <a:t>Encantada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9D174D"/>
                </a:solidFill>
                <a:latin typeface="Inter"/>
              </a:rPr>
              <a:t>Bienvenida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840480"/>
            <a:ext cx="11201400" cy="1645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1069848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tú  ↔  usted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Met vrienden en klasgenoten: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tú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 (¿Cómo estás? · ¿Cómo te llamas?).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Formeel, met een onbekende volwassene: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usted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 (¿Cómo está usted? · ¿Cómo se llama?).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PRÁCTICA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diálogo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Vul samen aan — klik voor de oplossing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¡Hola! ¿Cómo ___ llamas?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5176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Me ___ Ana. ¿Y ___?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Yo ___ Leo. ___ de Madrid.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¡___! Hasta ___.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737360"/>
            <a:ext cx="4023360" cy="3657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1. te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2. llamo · tú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3. soy · Soy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4. Encantado/a · luego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1609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18" name="Rounded Rectangle 1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HABLAR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Preséntate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Sta recht, groet en stel je voor — sin leer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31089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83080"/>
            <a:ext cx="649224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Modelo · zeg dit hardop: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«¡Hola! Me llamo ____.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Soy de ____. ¡Encantad_!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¿Y tú, cómo te llamas?»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554480"/>
            <a:ext cx="402336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56616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¿Cómo? · Werkvorm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Draai je naar je buur.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Groet en stel je voor.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Vraag zijn/haar naam.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Wissel van partner (3×).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Interactie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= beurt nemen, luisteren en reageren. Begrijp je iets niet? Zeg: «¿Cómo? / Otra vez, por favor.»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CULTURA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Banda sonora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Leer Spaans via muziek die jullie kennen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Aitana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Las Babys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pop 🇪🇸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Quevedo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Bzrp #52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urban 🇪🇸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7304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75904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Manu Chao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Me gustas tú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clásico 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Karol 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TQG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5112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3712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Bad Bunny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Tití me preguntó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🇵🇷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7304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Rosalía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 Perla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29200"/>
            <a:ext cx="11201400" cy="96012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66360"/>
            <a:ext cx="1069848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🎧 La playlist de la clase (Spotify)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+ LyricsTraining (vul de tekst aan terwijl je luistert). Alles op de digitale hub → tabblad Música.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§5 · TAREA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carné de la clase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Maak je klaskaartje &amp; stel je voor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5486400" cy="50292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27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CARNÉ · academia Welcome to Spanish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4937760" cy="22860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Me llamo  </a:t>
            </a:r>
            <a:r>
              <a:rPr sz="1500" b="0" i="0">
                <a:solidFill>
                  <a:srgbClr val="E4E3DE"/>
                </a:solidFill>
                <a:latin typeface="Inter"/>
              </a:rPr>
              <a:t>________________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Soy de  </a:t>
            </a:r>
            <a:r>
              <a:rPr sz="1500" b="0" i="0">
                <a:solidFill>
                  <a:srgbClr val="E4E3DE"/>
                </a:solidFill>
                <a:latin typeface="Inter"/>
              </a:rPr>
              <a:t>__________________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Mi emoji  </a:t>
            </a:r>
            <a:r>
              <a:rPr sz="1500" b="0" i="0">
                <a:solidFill>
                  <a:srgbClr val="E4E3DE"/>
                </a:solidFill>
                <a:latin typeface="Inter"/>
              </a:rPr>
              <a:t>____________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737360"/>
            <a:ext cx="5029200" cy="2834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Los pasos · stappen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Vul je carné in.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Stel je voor (sin leer): «¡Hola! Me llamo…»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Vraag 3 klasgenoten naam + herkomst.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Sluit af: «¡Encantad_! Hasta luego.»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🏁 Klaar als…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je jezelf vlot voorstelt zónder af te lezen, de juiste vorm (-o/-a) gebruikt en 3 namen genoteerd hebt.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FUNCIONES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Mis funciones comunicativas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Lo que ya sé hacer — crece cada unidad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98448"/>
            <a:ext cx="111556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Mi repertorio: 4 / 8 funciones — </a:t>
            </a:r>
            <a:r>
              <a:rPr sz="1200" b="0" i="0">
                <a:solidFill>
                  <a:srgbClr val="6A6E78"/>
                </a:solidFill>
                <a:latin typeface="Inter"/>
              </a:rPr>
              <a:t>no solo palabras: lo que puedo HACER con el español.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801368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Saludar y despedirse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194560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Hola · Adiós · Hasta luego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91640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801368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Presentarse (decir quién soy)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4808" y="2194560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Me llamo… · (Yo) soy… · Encantado/a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98648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3008376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Pedir y dar información personal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3401568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¿Cómo te llamas? · ¿Y tú?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898648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4808" y="3008376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Gestionar la comprensión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8" y="3401568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¿Cómo? · Otra vez, por favor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6236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REPASO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je nu kunt — semáforo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6949440" cy="4023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6492240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groet &amp; stel je je voor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¡Hola! Me llamo ___. Soy de ___. Encantad_.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¿Y tú, cómo te llamas?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Onthou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ser: soy · eres · 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llamarse: me/te/se + llamo/llamas/llama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-o = ♂ · -a = ♀   |   tú = vriend · usted = beleefd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554480"/>
            <a:ext cx="4023360" cy="40233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173736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Puedo… · Ik kan…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233172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groeten &amp; afscheid nemen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898648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mezelf voorstellen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3465576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iemand naar naam vragen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032504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-o/-a &amp; tú/usted kiezen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489204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🎮 Repasa jugando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online op de hub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