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YlBRdAs4L4fOvmXylmQLlRSJMoRto7Kb/view" TargetMode="External"/><Relationship Id="rId3" Type="http://schemas.openxmlformats.org/officeDocument/2006/relationships/image" Target="../media/image2.png"/><Relationship Id="rId4" Type="http://schemas.openxmlformats.org/officeDocument/2006/relationships/video" Target="https://drive.google.com/file/d/1YlBRdAs4L4fOvmXylmQLlRSJMoRto7Kb/preview" TargetMode="External"/><Relationship Id="rId5" Type="http://schemas.microsoft.com/office/2007/relationships/media" Target="https://drive.google.com/file/d/1YlBRdAs4L4fOvmXylmQLlRSJMoRto7Kb/preview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Planes y obligaciones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Voy a preparar café.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Eh… tengo cosas que hacer.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Zeggen wat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gaat doen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wat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moet doen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— en beleefd «nee» zeggen (voy a · tengo que · no puedo).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Julio stelt de hele week plannen voor… en María heeft élke keer «cosas que hacer».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Hablar de planes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ir a + infinitivo: voy a estudiar · vamos a dormir · ¿qué vas a hacer?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Expresar obligación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tener que + infinitivo: tengo que trabajar · ¿tienes que hacer algo?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Usar tener + sustantivo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tengo hambre · tengo sueño · tengo sed · tengo prisa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Rechazar con educación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no puedo, tengo que… · ¡qué pena! · otro día, ¿vale?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los diptongos ie &amp; ue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La máquina de frases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voy a / tengo que + infinitivo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planes · obligaciones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ir a · tener que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invita y rechaza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Cultura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finde en el mundo hispano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 finde</a:t>
            </a:r>
          </a:p>
        </p:txBody>
      </p:sp>
      <p:sp>
        <p:nvSpPr>
          <p:cNvPr id="35" name="Rounded Rectangle 34">
            <a:hlinkClick action="ppaction://hlinksldjump" r:id="rId11"/>
          </p:cNvPr>
          <p:cNvSpPr/>
          <p:nvPr/>
        </p:nvSpPr>
        <p:spPr>
          <a:xfrm>
            <a:off x="3410712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Ná «voy a» en «tengo que» komt áltijd het hele werkwoord: voy a estudiar · tengo que trabajar. En «ik ben slaperig» = tengo sueño!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Julio stelt de hele week plannen voor; María heeft élke keer iets te doen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54480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Buenos días. Voy a preparar café. ¿Quieres desayunar?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1809597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791309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Ah… no tengo mucha hambre.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04642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28138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Pero es sábado. Tengo sueño. ¿No tienes sueño?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283255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264967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Vamos a dormir un poquito más.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5200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501796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Tengo cosas que hacer.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2756913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738625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Y esta noche, ¿quedamos para ir al cine?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99374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975454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Eh… no puedo. Tengo que pasear al perro de mi madre.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30571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212283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¿Y esta tarde? ¿Vamos a pasear, a comprar cosas?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46740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449112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Mmm…, tengo que lavarme el pelo.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04229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685941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¿Y mañana? ¿Tienes que hacer algo?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4105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922770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El domingo voy a quedar con unas amigas.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177887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159599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¿El lunes, el martes, el miércoles?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41471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4396428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Tengo que trabajar.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651545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633257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¿Por las noches?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8837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870086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Por las noches tengo que dormir.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125203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106915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El jueves voy a dar unas clases de baile flamenco.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3620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343744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El próximo fin de semana. ¿Tienes que ir a la India en globo?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598861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580573"/>
            <a:ext cx="5806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42E"/>
                </a:solidFill>
                <a:latin typeface="Inter"/>
              </a:rPr>
              <a:t>No, estoy aquí, pero tengo cosas que hacer. Cosas. Adiós.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Voy a preparar café · vamos a dormir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Tengo que trabajar · ¿tienes que…?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Tengo sueño · no tengo mucha hambre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 puedo · tengo cosas que hacer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 noche · esta tarde · el próximo finde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3767328"/>
            <a:ext cx="2697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Episodio 9 — klik om af te spelen</a:t>
            </a:r>
          </a:p>
        </p:txBody>
      </p:sp>
      <p:sp>
        <p:nvSpPr>
          <p:cNvPr id="49" name="Rounded Rectangle 48">
            <a:hlinkClick r:id="rId2"/>
          </p:cNvPr>
          <p:cNvSpPr/>
          <p:nvPr/>
        </p:nvSpPr>
        <p:spPr>
          <a:xfrm>
            <a:off x="10241280" y="3739896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▶ Abrir en Drive</a:t>
            </a:r>
          </a:p>
        </p:txBody>
      </p:sp>
      <p:pic>
        <p:nvPicPr>
          <p:cNvPr id="50" name="Picture 49" descr="video_poster_U9.png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diptongos ie &amp; ue · la tilde en el diptongo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Twee klinkers samen = één lettergreep — en waar het accent dan komt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① El diptongo ie · una sola sílaba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0242E"/>
                </a:solidFill>
                <a:latin typeface="Inter"/>
              </a:rPr>
              <a:t>qu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·ro · t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·nes · b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n · s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·te · f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s·ta · v</a:t>
            </a:r>
            <a:r>
              <a:rPr sz="1450" b="1" i="0">
                <a:solidFill>
                  <a:srgbClr val="D64550"/>
                </a:solidFill>
                <a:latin typeface="Inter"/>
              </a:rPr>
              <a:t>ie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r·nes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«quiero» = 2 stukken (qu</a:t>
            </a:r>
            <a:r>
              <a:rPr sz="1100" b="1" i="0">
                <a:solidFill>
                  <a:srgbClr val="D64550"/>
                </a:solidFill>
                <a:latin typeface="Inter"/>
              </a:rPr>
              <a:t>ie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-ro), niet 3 (qui-e-ro).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② El diptongo ue · una sola sílaba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20242E"/>
                </a:solidFill>
                <a:latin typeface="Inter"/>
              </a:rPr>
              <a:t>p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·do · b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·no · l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·go · f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·ra · j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·go · c</a:t>
            </a:r>
            <a:r>
              <a:rPr sz="1450" b="1" i="0">
                <a:solidFill>
                  <a:srgbClr val="D64550"/>
                </a:solidFill>
                <a:latin typeface="Inter"/>
              </a:rPr>
              <a:t>ue</a:t>
            </a:r>
            <a:r>
              <a:rPr sz="1450" b="0" i="0">
                <a:solidFill>
                  <a:srgbClr val="20242E"/>
                </a:solidFill>
                <a:latin typeface="Inter"/>
              </a:rPr>
              <a:t>n·ta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Glijd vloeiend van de u naar de e — in één beweging.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Splits ze niet: «pu-e-do» klinkt fout — zeg «</a:t>
            </a:r>
            <a:r>
              <a:rPr sz="1300" b="1" i="0">
                <a:solidFill>
                  <a:srgbClr val="A8323B"/>
                </a:solidFill>
                <a:latin typeface="Inter"/>
              </a:rPr>
              <a:t>pue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-do» in één beweging. En in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que / qui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is de u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stil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(zoals in U7): daar is het géén diptongo.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③ La tilde en el diptongo · het accent komt op de tweede klinker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a·di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ÓS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des·p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UÉS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tam·b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IÉN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can·c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42432"/>
            <a:ext cx="11155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Valt de klemtoon op een diptongo aan het eind van het woord, dan staat de tilde op de TWEEDE klinker: adiós · después · también · canción.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LA MÁQUINA DE FRASES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Voy a / Tengo que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Twee bouwstenen, altijd in dezelfde volgorde — klik en de zin verschijnt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916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1837944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Voy 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un plan · ik ga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691640"/>
            <a:ext cx="2834640" cy="914400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1837944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69164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837944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estudiar · ir al cine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947672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691640"/>
            <a:ext cx="2194560" cy="914400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Voy a estudiar.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Ik ga studeren.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74320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EF1E7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2889504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4530E"/>
                </a:solidFill>
                <a:latin typeface="Bricolage Grotesque"/>
              </a:rPr>
              <a:t>Tengo que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obligación · ik moet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743200"/>
            <a:ext cx="2834640" cy="914400"/>
          </a:xfrm>
          <a:prstGeom prst="rect">
            <a:avLst/>
          </a:prstGeom>
          <a:solidFill>
            <a:srgbClr val="FBEAEC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2889504"/>
            <a:ext cx="25603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A8323B"/>
                </a:solidFill>
                <a:latin typeface="Bricolage Grotesque"/>
              </a:rPr>
              <a:t>+ infinitivo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het hele werkwoord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743200"/>
            <a:ext cx="28346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889504"/>
            <a:ext cx="26517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trabajar · dormir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kies een werkwoord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999232"/>
            <a:ext cx="4114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D64550"/>
                </a:solidFill>
                <a:latin typeface="Bricolage Grotesque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2743200"/>
            <a:ext cx="2194560" cy="914400"/>
          </a:xfrm>
          <a:prstGeom prst="roundRect">
            <a:avLst>
              <a:gd name="adj" fmla="val 9000"/>
            </a:avLst>
          </a:prstGeom>
          <a:solidFill>
            <a:srgbClr val="D64550"/>
          </a:solidFill>
          <a:ln w="17780">
            <a:solidFill>
              <a:srgbClr val="A8323B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76200" bIns="508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Bricolage Grotesque"/>
              </a:rPr>
              <a:t>Tengo que trabajar.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000" i="1">
                <a:solidFill>
                  <a:srgbClr val="FBEAEC"/>
                </a:solidFill>
                <a:latin typeface="Inter"/>
              </a:rPr>
              <a:t>Ik moet werken.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840480"/>
            <a:ext cx="11201400" cy="7315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931920"/>
            <a:ext cx="1069848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Cómo funciona ·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blok 1 (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voy a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of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tengo que</a:t>
            </a:r>
            <a:r>
              <a:rPr sz="1250" b="0" i="0">
                <a:solidFill>
                  <a:srgbClr val="20242E"/>
                </a:solidFill>
                <a:latin typeface="Inter"/>
              </a:rPr>
              <a:t>) + blok 2 = altijd het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hele werkwoord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(el infinitivo: -ar · -er · -ir). Nooit een vervoegde vorm!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Ook zo: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vamos a pasear · ¿qué vas a hacer? · ¿tienes que trabajar?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  —   en de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a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en de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mogen nooit weg.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754880"/>
            <a:ext cx="11155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Construye · bouw zelf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plan + ir al cine  ·  obligación + estudiar  ·  nosotros + plan + tomar algo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193792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Voy a ir al cine. · Tengo que estudiar. · Vamos a tomar algo.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5065776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planes · las obligaciones · el finde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Plannen maken, zeggen wat je moet doen &amp; wat je in het weekend doet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Los planes · voy a… 🗓️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Voy a + infinitivo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ga + werkwoord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Voy a preparar café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ga koffie zetten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Vamos a dormir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we gaan / laten we slapen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¿Vamos a pasear?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gaan we wandelen?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¿Qué vas a hacer?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wat ga je doen?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El domingo voy a quedar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zondag ga ik afspreken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Las obligaciones · tengo que… 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Tengo que + infinitivo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moet + werkwoord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Tengo que trabajar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moet werken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Tengo que estudiar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moet studeren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¿Tienes que hacer algo?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moet je iets doen?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Tengo cosas que hacer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heb dingen te doen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Tengo que dormir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ik moet slapen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Actividades del finde 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ir al cine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naar de cinema gaan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pasear al perro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de hond uitlaten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quedar con amigos/as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afspreken met vrienden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ver una película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een film kijken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jugar al fútbol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voetballen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tomar algo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iets gaan drinken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Con tener · aceptar o rechazar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«Tener» waar wij «zijn/hebben» zeggen &amp; ja of nee zeggen op een uitnodiging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Con tener · «geen ser/estar»! 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hambre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heb honger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sueño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slaperig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sed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heb dorst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prisa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heb haast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Tengo cosas que hacer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heb dingen te doen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Aceptar o rechazar 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¡Vale! · ¡Perfecto!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oké! · perfect!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Estoy libre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ben vrij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No puedo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kan niet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¡Qué pena!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wat jammer!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Otro día, ¿vale?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een andere dag, oké?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8813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Tengo sueño = «ik ben slaperig» (letterlijk «ik héb slaap») · rechazar = nee + reden: «No puedo. Tengo que…» + ¡Qué pena!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ir a + infinitivo — hablar de planes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wat je gaat doen: voy a / vas a / vamos a + het hele werkwoord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voy a  ·  vas a  ·  vamos a  +  infinitivo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377440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395728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voy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0592" y="2395728"/>
            <a:ext cx="13716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2395728"/>
            <a:ext cx="347472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Voy a preparar café.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852928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2871216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vas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0592" y="2871216"/>
            <a:ext cx="13716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jij gaat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2871216"/>
            <a:ext cx="347472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¿Qué vas a hacer?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328416"/>
            <a:ext cx="1600200" cy="384048"/>
          </a:xfrm>
          <a:prstGeom prst="roundRect">
            <a:avLst>
              <a:gd name="adj" fmla="val 2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346704"/>
            <a:ext cx="16002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vamos 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592" y="3346704"/>
            <a:ext cx="137160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we gaan / laten we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8768" y="3346704"/>
            <a:ext cx="3474720" cy="34747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Vamos a dormir un poquito más.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931920"/>
            <a:ext cx="6492240" cy="566928"/>
          </a:xfrm>
          <a:prstGeom prst="roundRect">
            <a:avLst>
              <a:gd name="adj" fmla="val 10000"/>
            </a:avLst>
          </a:prstGeom>
          <a:solidFill>
            <a:srgbClr val="FBEAEC"/>
          </a:solidFill>
          <a:ln w="1778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005072"/>
            <a:ext cx="6217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Inter"/>
              </a:rPr>
              <a:t>Siempre con «a»: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voy </a:t>
            </a:r>
            <a:r>
              <a:rPr sz="1500" b="1" i="0">
                <a:solidFill>
                  <a:srgbClr val="EA7317"/>
                </a:solidFill>
                <a:latin typeface="Inter"/>
              </a:rPr>
              <a:t>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estudiar  ·  vamos </a:t>
            </a:r>
            <a:r>
              <a:rPr sz="1500" b="1" i="0">
                <a:solidFill>
                  <a:srgbClr val="EA7317"/>
                </a:solidFill>
                <a:latin typeface="Inter"/>
              </a:rPr>
              <a:t>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pasear  —  </a:t>
            </a:r>
            <a:r>
              <a:rPr sz="1200" b="0" i="1">
                <a:solidFill>
                  <a:srgbClr val="6A6E78"/>
                </a:solidFill>
                <a:latin typeface="Inter"/>
              </a:rPr>
              <a:t>de «a» mag nooit weg.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17720"/>
            <a:ext cx="649224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💡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Net als in het Nederlands: «ik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ga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koffie zetten». Dit is dé A1-manier om over de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toekomst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te praten.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 para preguntar: </a:t>
            </a:r>
            <a:r>
              <a:rPr sz="1200" b="1" i="0">
                <a:solidFill>
                  <a:srgbClr val="EA7317"/>
                </a:solidFill>
                <a:latin typeface="Inter"/>
              </a:rPr>
              <a:t>¿Qué vas a hacer esta tarde? · ¿Vamos a tomar algo?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0" y="1609344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🔎 FÍJATE · EN LA ESCENA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09560" y="2103120"/>
            <a:ext cx="3566160" cy="21945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Je hoorde het al: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Voy 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preparar café.»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Vamos 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dormir un poquito más.»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«El domingo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voy 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quedar con unas amigas.»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«El jueves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voy 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dar unas clases de baile.»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343400"/>
            <a:ext cx="356616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¿Y tú? · En jij?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¿Qué vas a hacer el finde?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Antwoord met «Voy a…» + het hele werkwoord.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tener que + infinitivo ↔ tener + sustantivo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«Moeten» met que + het hele werkwoord — maar géén «que» vóór een naamwoord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532120" cy="14813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081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tener que + infinitivo · moeten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1051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tengo que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ik moet 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Tengo que trabajar.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Bricolage Grotesque"/>
              </a:rPr>
              <a:t>tienes que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jij moet 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¿Tienes que hacer algo?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42032"/>
            <a:ext cx="5120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Letterlijk: «ik </a:t>
            </a:r>
            <a:r>
              <a:rPr sz="1100" b="1" i="0">
                <a:solidFill>
                  <a:srgbClr val="A8323B"/>
                </a:solidFill>
                <a:latin typeface="Inter"/>
              </a:rPr>
              <a:t>héb 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werken» → tengo que trabajar.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298448"/>
            <a:ext cx="5532120" cy="1481328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08176"/>
            <a:ext cx="51206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tener + sustantivo · zonder «que»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92224"/>
            <a:ext cx="2606040" cy="841248"/>
          </a:xfrm>
          <a:prstGeom prst="roundRect">
            <a:avLst>
              <a:gd name="adj" fmla="val 10000"/>
            </a:avLst>
          </a:prstGeom>
          <a:solidFill>
            <a:srgbClr val="FE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1847088"/>
            <a:ext cx="242316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530E"/>
                </a:solidFill>
                <a:latin typeface="Inter"/>
              </a:rPr>
              <a:t>✅ así lo dice el español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Tengo hambre · sed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Tengo sueño · prisa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792224"/>
            <a:ext cx="2606040" cy="841248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847088"/>
            <a:ext cx="242316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E40AF"/>
                </a:solidFill>
                <a:latin typeface="Inter"/>
              </a:rPr>
              <a:t>🇳🇱 wat wij zeggen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heb honger · dorst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ben slaperig · heb haast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89504"/>
            <a:ext cx="5532120" cy="1170432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2761488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¡OJO! · LA TRAMPA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272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«ik ben slaperig» = </a:t>
            </a:r>
            <a:r>
              <a:rPr sz="1700" b="1" i="0">
                <a:solidFill>
                  <a:srgbClr val="EA7317"/>
                </a:solidFill>
                <a:latin typeface="Bricolage Grotesque"/>
              </a:rPr>
              <a:t>tengo sueño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nooit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estoy sueño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of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soy sueño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— letterlijk: «ik héb slaap».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889504"/>
            <a:ext cx="5532120" cy="1170432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2761488"/>
            <a:ext cx="171724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¡OJO! · LA TRAMPA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127248"/>
            <a:ext cx="51206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vóór een werkwoord → </a:t>
            </a:r>
            <a:r>
              <a:rPr sz="1300" b="1" i="0">
                <a:solidFill>
                  <a:srgbClr val="20242E"/>
                </a:solidFill>
                <a:latin typeface="Inter"/>
              </a:rPr>
              <a:t>tengo </a:t>
            </a:r>
            <a:r>
              <a:rPr sz="150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300" b="1" i="0">
                <a:solidFill>
                  <a:srgbClr val="20242E"/>
                </a:solidFill>
                <a:latin typeface="Inter"/>
              </a:rPr>
              <a:t> trabajar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 (niet </a:t>
            </a:r>
            <a:r>
              <a:rPr sz="1150" b="1" i="0">
                <a:solidFill>
                  <a:srgbClr val="DC2626"/>
                </a:solidFill>
                <a:latin typeface="Inter"/>
              </a:rPr>
              <a:t>tengo trabajar</a:t>
            </a:r>
            <a:r>
              <a:rPr sz="1150" b="0" i="0">
                <a:solidFill>
                  <a:srgbClr val="20242E"/>
                </a:solidFill>
                <a:latin typeface="Inter"/>
              </a:rPr>
              <a:t>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vóór een naamwoord → </a:t>
            </a:r>
            <a:r>
              <a:rPr sz="1300" b="1" i="0">
                <a:solidFill>
                  <a:srgbClr val="20242E"/>
                </a:solidFill>
                <a:latin typeface="Inter"/>
              </a:rPr>
              <a:t>tengo hambre</a:t>
            </a:r>
            <a:r>
              <a:rPr sz="1150" b="0" i="1">
                <a:solidFill>
                  <a:srgbClr val="6A6E78"/>
                </a:solidFill>
                <a:latin typeface="Inter"/>
              </a:rPr>
              <a:t>  (géén «que»!)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69663"/>
            <a:ext cx="11201400" cy="713232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42816"/>
            <a:ext cx="10789920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Rechazar con educación ·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«— ¿Quedamos para ir al cine? —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No puedo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Tengo 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pasear al perro. </a:t>
            </a:r>
            <a:r>
              <a:rPr sz="1250" b="1" i="0">
                <a:solidFill>
                  <a:srgbClr val="A8323B"/>
                </a:solidFill>
                <a:latin typeface="Inter"/>
              </a:rPr>
              <a:t>¡Qué pena!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Dos pasos: </a:t>
            </a:r>
            <a:r>
              <a:rPr sz="1150" b="1" i="0">
                <a:solidFill>
                  <a:srgbClr val="DC2626"/>
                </a:solidFill>
                <a:latin typeface="Inter"/>
              </a:rPr>
              <a:t>no puedo</a:t>
            </a:r>
            <a:r>
              <a:rPr sz="1150" b="0" i="0">
                <a:solidFill>
                  <a:srgbClr val="20242E"/>
                </a:solidFill>
                <a:latin typeface="Inter"/>
              </a:rPr>
              <a:t> + </a:t>
            </a:r>
            <a:r>
              <a:rPr sz="1150" b="1" i="0">
                <a:solidFill>
                  <a:srgbClr val="EA7317"/>
                </a:solidFill>
                <a:latin typeface="Inter"/>
              </a:rPr>
              <a:t>la razón (tengo que…)</a:t>
            </a:r>
            <a:r>
              <a:rPr sz="1150" b="0" i="1">
                <a:solidFill>
                  <a:srgbClr val="6A6E78"/>
                </a:solidFill>
                <a:latin typeface="Inter"/>
              </a:rPr>
              <a:t> · verzachters: ¡Qué pena! · Otro día, ¿vale?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83480"/>
            <a:ext cx="11155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Yo ___ estudiar (plan).   Tengo ___ trabajar.   Tengo ___ (honger).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76672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voy a · que · hambre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248656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3" name="Rounded Rectangle 3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¿Qué haces esta tarde?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a estudiar.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esta noche?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___ pasear al perro.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el domingo? ¿___ a tomar algo?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El domingo no ___. ¡Qué pena!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Voy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Tengo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que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vamos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puedo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609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Invita y rechaza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Nodig uit, wijs beleefd af en zoek samen een moment dat past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«— ¿Vamos al cine el sábado?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No puedo. Tengo que cuidar a mi hermano. ¡Qué pena!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el domingo por la tarde?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Vale, el domingo estoy libre.»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1. Invita: «¿Vamos a…?» · «¿Quedamos para…?».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2. Rechaza: «No puedo. Tengo que…».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3. Suaviza: «¡Qué pena! Otro día, ¿vale?».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4. Propón otro momento: «¿Y el domingo?».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5. Acepta: «Vale, estoy libre».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uitnodigen, afwijzen mét een echte reden, en tóch een moment vinden. Wijs 2× af en zeg 1× ja. Verstaan? Zeg: «¿Cómo? / ¿Puedes repetir?»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finde en 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Het weekend begint er later — en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Quevedo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Bzrp #52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Karol 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Provenza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Las Babys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 Chao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Me Gustas Tú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🇪🇸/🇫🇷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Álvaro Soler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El Mismo Sol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Camilo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Vida de Rico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🎉 El «finde» en el mundo hispano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In España spreekt men om uit te gaan vaak pas om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las diez o las once (22–23 u)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af. Valt een feestdag op donderdag, dan «maakt men een brug» —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hacer puente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: ook de vrijdag vrij.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Jongeren zeggen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el finde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(spreektaal voor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el fin de semana</a:t>
            </a:r>
            <a:r>
              <a:rPr sz="1200" b="0" i="0">
                <a:solidFill>
                  <a:srgbClr val="20242E"/>
                </a:solidFill>
                <a:latin typeface="Inter"/>
              </a:rPr>
              <a:t>), en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el domingo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is bij veel families de dag van de familiemaaltijd. Playlist + LyricsTraining op de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finde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je weekend-agenda in: 3 planes + 2 obligaciones — en maak samen een afspraak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03504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6035040" cy="45720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669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MI FINDE · Academia «Welcome to Spanish»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121408"/>
            <a:ext cx="182880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39696"/>
            <a:ext cx="182880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Bricolage Grotesque"/>
              </a:rPr>
              <a:t>¿Cuándo?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5456" y="2121408"/>
            <a:ext cx="201168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5456" y="2139696"/>
            <a:ext cx="201168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Bricolage Grotesque"/>
              </a:rPr>
              <a:t>Voy a… (plan)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121408"/>
            <a:ext cx="2011680" cy="292608"/>
          </a:xfrm>
          <a:prstGeom prst="roundRect">
            <a:avLst>
              <a:gd name="adj" fmla="val 16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39696"/>
            <a:ext cx="2011680" cy="2560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Bricolage Grotesque"/>
              </a:rPr>
              <a:t>Tengo que… (obligación)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2468880"/>
            <a:ext cx="182880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496312"/>
            <a:ext cx="17373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El sábado por la mañana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5456" y="246888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0" y="2468880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2944368"/>
            <a:ext cx="182880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2971800"/>
            <a:ext cx="17373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El sábado por la tarde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5456" y="2944368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2944368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" y="3419856"/>
            <a:ext cx="182880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447288"/>
            <a:ext cx="17373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El sábado por la noche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05456" y="3419856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0" y="3419856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1792" y="3895344"/>
            <a:ext cx="1828800" cy="438912"/>
          </a:xfrm>
          <a:prstGeom prst="roundRect">
            <a:avLst>
              <a:gd name="adj" fmla="val 8000"/>
            </a:avLst>
          </a:prstGeom>
          <a:solidFill>
            <a:srgbClr val="F3EEE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3922776"/>
            <a:ext cx="1737360" cy="38404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El domingo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5456" y="3895344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0" y="3895344"/>
            <a:ext cx="2011680" cy="438912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434840"/>
            <a:ext cx="566928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42E"/>
                </a:solidFill>
                <a:latin typeface="Inter"/>
              </a:rPr>
              <a:t>🤝 Nuestro plan: Quedamos el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 </a:t>
            </a:r>
            <a:r>
              <a:rPr sz="1150" b="1" i="0">
                <a:solidFill>
                  <a:srgbClr val="20242E"/>
                </a:solidFill>
                <a:latin typeface="Inter"/>
              </a:rPr>
              <a:t>a las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 </a:t>
            </a:r>
            <a:r>
              <a:rPr sz="1150" b="1" i="0">
                <a:solidFill>
                  <a:srgbClr val="20242E"/>
                </a:solidFill>
                <a:latin typeface="Inter"/>
              </a:rPr>
              <a:t>en </a:t>
            </a:r>
            <a:r>
              <a:rPr sz="1150" b="0" i="0">
                <a:solidFill>
                  <a:srgbClr val="E4E3DE"/>
                </a:solidFill>
                <a:latin typeface="Inter"/>
              </a:rPr>
              <a:t>__________ 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66560" y="1554480"/>
            <a:ext cx="4937760" cy="32918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1719072"/>
            <a:ext cx="4480560" cy="3017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1. Rellena tu finde: 3 planes met «voy a + infinitivo» + 2 obligaciones met «tengo que + infinitivo».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2. Invita a un compañero: «¿Vamos a…?» · «¿Quedamos para… el…?».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3. Rechaza una vez con educación: «No puedo. Tengo que… ¡Qué pena!».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4. Cerrad un plan: zoek tóch één moment dat past en spreek af (dag + uur).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5. Presenta: vertel je finde + jullie afspraak aan de klas — sin leer.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983480"/>
            <a:ext cx="69494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je 3 plannen zegt met «voy a + infinitivo», 2 verplichtingen met «tengo que + infinitivo», één uitnodiging beleefd afwijst («no puedo, tengo que…») en samen één afspraak vastlegt — zónder af te lezen.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80960" y="4956048"/>
            <a:ext cx="40233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0" y="5029200"/>
            <a:ext cx="36576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A8323B"/>
                </a:solidFill>
                <a:latin typeface="Bricolage Grotesque"/>
              </a:rPr>
              <a:t>Evaluatie · 🟢🟡🔴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ir a + infinitivo correct (planes)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tener que + infinitivo correct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rechazar met excuus &amp; durf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20 / 20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91640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2172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91640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852172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37867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165299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325831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37867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165299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325831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11526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638958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799490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 · Estamos todos bien / tranquilos · ¿Estáis bien? · estar = toestand · ser = wie/wat je bent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611526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638958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799490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085185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112617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273149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uno · dos · tres · cinco · diez · veinte · las horas: la una · las doce · y media · y cuarto · menos cuarto · en veinte minutos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085185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112617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273149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 · ¿Sí? · No te oigo (nada) · ¿Puedes hablar más despacio?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558844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586276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3746808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558844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3586276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3746808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032504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059936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4220468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032504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4059936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4220468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506163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4533595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4694127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506163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4533595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4694127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979822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5007254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Hablar del trabajo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5167786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¿A qué te dedicas? · ¿En qué trabajas? · Soy profesor/a · escritor/a · actriz · Trabajo en una tienda · una oficina · ser + profesión (zonder un/una)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4979822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8" y="5007254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Especular y adivinar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8" y="5167786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Puede ser… (escritora) · ¿Trabaja en una tienda? · Creo que es… · ¡Ya lo sé! · ¿O algo parecido?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453481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" y="5480913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Decir y preguntar la hora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" y="5641445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¿Qué hora es? · Es la una · Son las ocho · y media · y cuarto · menos cuarto · en punto · ¿A qué hora? · a las doce · el lunes · los lunes · el fin de semana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5453481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8" y="5480913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Quedar con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4808" y="5641445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¿Quieres quedar (esta noche)? · Quedamos a las… · en mi casa · Más tarde · ahora mismo no puedo · Es un poco pronto · un poco tarde · Hasta ahora · te veo en veinte minutos · ¿Quedamos para ir al cine? …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5927140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4088" y="5954572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Hablar de planes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4088" y="6115104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Voy a + infinitivo (voy a preparar café) · Vamos a dormir un poquito más · El domingo voy a quedar con amigas · ¿Vamos a pasear?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263640" y="5927140"/>
            <a:ext cx="5394960" cy="38221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64808" y="5954572"/>
            <a:ext cx="4992624" cy="191109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0242E"/>
                </a:solidFill>
                <a:latin typeface="Bricolage Grotesque"/>
              </a:rPr>
              <a:t>Expresar obligación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64808" y="6115104"/>
            <a:ext cx="4992624" cy="20639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6A6E78"/>
                </a:solidFill>
                <a:latin typeface="Inter"/>
              </a:rPr>
              <a:t>Tengo que + infinitivo (tengo que trabajar) · Tengo cosas que hacer · ¿Tienes que hacer algo? · tengo hambre · tengo sueño (tener + naamwoord)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49224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maak je een plan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Voy a estudiar · Vamos a dormir · ¿Qué vas a hacer?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altijd «a» + het hele werkwoord — dé A1-manier voor de toekomst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wat je moet doen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Tengo que trabajar · ¿Tienes que hacer algo? · Tengo cosas que hacer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Tengo hambre · sueño · sed · prisa (zónder «que»)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wijs je beleefd af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 puedo. Tengo que… · ¡Qué pena! · Otro día, ¿vale? · Vale, estoy libre.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6949440" cy="914400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25400">
            <a:solidFill>
              <a:srgbClr val="DC2626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82312"/>
            <a:ext cx="64922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C2626"/>
                </a:solidFill>
                <a:latin typeface="Bricolage Grotesque"/>
              </a:rPr>
              <a:t>¡Ojo! · las dos trampas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«ik ben slaperig» = </a:t>
            </a:r>
            <a:r>
              <a:rPr sz="1250" b="1" i="0">
                <a:solidFill>
                  <a:srgbClr val="EA7317"/>
                </a:solidFill>
                <a:latin typeface="Inter"/>
              </a:rPr>
              <a:t>tengo sueño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(nooit «estoy sueño»).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de «que»: tengo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que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trabajar (werkwoord) ↔ tengo hambre (naamwoord, géén «que»).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4023360" cy="40690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plannen zeggen (voy a · vamos a + inf.)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7889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vragen «¿qué vas a hacer?»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918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verplichtingen zeggen (tengo que + inf.)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947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tener + naamwoord (hambre · sueño)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29768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een uitnodiging aannemen (¡vale!)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006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beleefd afwijzen (no puedo, tengo que…)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1663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la máquina de frases · invita y rechaza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U9 · PLANES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