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Functioneel: enkel de vaste vormen soy de / eres de / es de (ser de + país). Géén volledig ser-paradigma als systeem — dat is C5. Kern: land = met «de» (soy DE Argelia), nationaliteit = zónder «de» (soy argelina).</a:t>
            </a:r>
          </a:p>
          <a:p/>
          <a:p>
            <a:r>
              <a:t>— SOLUCIÓN (docent · presenter view) —</a:t>
            </a:r>
          </a:p>
          <a:p>
            <a:r>
              <a:t>soy de · eres de · es 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leerlingen eerst zelf proberen (in duo). Klik daarna de oplossing open. Let op: soy de + país, de gentilicio ♂/♀ (mexicano/mexicana) en hablo + idioma.</a:t>
            </a:r>
          </a:p>
          <a:p/>
          <a:p>
            <a:r>
              <a:t>— SOLUCIÓN (docent · presenter view) —</a:t>
            </a:r>
          </a:p>
          <a:p>
            <a:r>
              <a:t>1. eres</a:t>
            </a:r>
          </a:p>
          <a:p>
            <a:r>
              <a:t>2. Soy · mexicano</a:t>
            </a:r>
          </a:p>
          <a:p>
            <a:r>
              <a:t>3. hablas</a:t>
            </a:r>
          </a:p>
          <a:p>
            <a:r>
              <a:t>4. Hablo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Nacionalidades y países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07899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Bricolage Grotesque"/>
              </a:rPr>
              <a:t>¿De dónde eres? </a:t>
            </a:r>
            <a:r>
              <a:rPr sz="1700" b="0" i="1">
                <a:solidFill>
                  <a:srgbClr val="FBEAEC"/>
                </a:solidFill>
                <a:latin typeface="Inter"/>
              </a:rPr>
              <a:t>— Waar kom je vandaan?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Zeggen waar je vandaan komt, je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nationaliteit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en welke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talen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je spreekt.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la pregunta que abre todo viaje.</a:t>
            </a:r>
          </a:p>
        </p:txBody>
      </p:sp>
      <p:pic>
        <p:nvPicPr>
          <p:cNvPr id="9" name="Picture 8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00600"/>
            <a:ext cx="8229600" cy="12801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Preguntar y decir el origen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¿de dónde eres? · soy de + país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tu nacionalidad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mexicano/a · español/a · belga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qué idiomas hablas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hablo español · neerlandés · francés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escena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ñ · c/z · acento agudo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¿de dónde eres?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soy de + país · gentilicio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¿de dónde eres?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Música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el mundo hispano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Mi mapa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Luister eerst, spreek na, en durf zelf te praten. Fouten maken hoort erbij.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Fernando leert la extranjera «¿de dónde eres?»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2763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¿De dónde eres? ¿De qué país?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76272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Extranjera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5798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¡Ah! Yo soy Argelia.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06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68833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No: «soy DE Argelia». Eres argelina.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36976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218688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Chico → argelino · chica → argelina.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6732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749040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Habla bastante bien español.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976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Extranjera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7939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No hablo mucho, entiendo un poco.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2803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80974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¿Habla usted francés? ¡Tres idiomas!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5838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4009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Tengo uno de veinte y dos de diez.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417320"/>
            <a:ext cx="42062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1600200"/>
            <a:ext cx="3749039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¿De dónde eres? · ¿De qué país?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Soy de + país · Soy de Argelia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argelino ♂ · argelina ♀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Hablo español · un poco · bastante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árabe · francés · español · inglés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4663440"/>
            <a:ext cx="4206240" cy="1234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4800600"/>
            <a:ext cx="3749039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🎬 Vídeo online · Episodio 3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A6E78"/>
                </a:solidFill>
                <a:latin typeface="Inter"/>
              </a:rPr>
              <a:t>Scan de QR op de cursus of open de digitale hub → tabblad Escucha. Fallback: youtu.be/62GTD0QXbiI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ñ · la c/z · el acento agudo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ñ, de c/z &amp; de klemtoon — luister en spreek 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eñe · ñ — de klank van España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España · español · mañana · niño · señor · año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Klinkt als de NL «nj» in «Spanje».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c y la z · /θ/ ~ /s/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nacionalidad · Francia · Venezuela · gracias · cinco · zona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In Spanje = zachte «th»; in Latijns-Amerika = «s». Allebei goed!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c + a/o/u = /k/ (casa, colombiano)  ·  maar c + e/i = /θ~s/ (cinco, Francia) — net als de z.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El acento agudo · -dad / -és — klemtoon op de laatste lettergreep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1556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0242E"/>
                </a:solidFill>
                <a:latin typeface="Bricolage Grotesque"/>
              </a:rPr>
              <a:t>na·cio·na·li·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DAD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por·tu·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GUÉS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fran·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CÉS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in·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GLÉS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Preguntar y decir el origen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Vragen en zeggen waar je vandaan komt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Preguntar el origen · vragen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¿De dónde eres?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waar kom je vandaan?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¿De dónde es usted?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… komt u vandaan?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¿De qué país?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uit welk land?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¿Y tú? / ¿Y usted?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en jij? / en u?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Decir de dónde soy · ser 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Soy de Bélgica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kom uit België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Soy de España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uit Spanje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Soy de México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uit Mexico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Soy de Flandes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uit Vlaanderen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Soy de aquí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van hier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La nacionalidad · gentilicio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belga · belga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Belgisch (♂=♀)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español · española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Spaans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mexicano · mexicana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Mexicaans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colombiano · colombiana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Colombiaans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marroquí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Marokkaans (♂=♀)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Idiomas y países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Talen &amp; landen van het mundo hispano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Los idiomas · hablar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Hablo español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spreek Spaans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Hablo neerlandés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Nederlands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Hablo francés e inglés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Frans en Engels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¿Qué idiomas hablas?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welke talen spreek je?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un poco · bastante bien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een beetje · best goed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Países del mundo hispano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España · México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Spanje · Mexico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Argentina · Colombia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Argentinië · Colombia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Perú · Chile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Peru · Chili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Venezuela · Cuba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Venezuela · Cuba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Bélgica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België (jouw land)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212080"/>
            <a:ext cx="50292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Hablo español (kleine letter). Nationaliteit: ♂ -o · ♀ -a.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soy de + país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Zeggen uit welk land je komt — functioneel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soy de + país — waar je vandaan komt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yo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soy de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kom uit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770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tú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eres de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jij komt uit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09544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563EB"/>
                </a:solidFill>
                <a:latin typeface="Inter"/>
              </a:rPr>
              <a:t>él/ella/usted 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es de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hij/zij komt · u komt uit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737360"/>
            <a:ext cx="5486400" cy="2011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874519"/>
            <a:ext cx="50292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ejemplos · voorbeelden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33172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Soy de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Bélgica.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715768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¿Eres de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España?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099816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María es de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Sevilla.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246120"/>
            <a:ext cx="51206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150" b="0" i="1">
                <a:solidFill>
                  <a:srgbClr val="20242E"/>
                </a:solidFill>
                <a:latin typeface="Inter"/>
              </a:rPr>
              <a:t>«soy DE Argelia», niet «soy Argelia».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977639"/>
            <a:ext cx="11201400" cy="15544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Yo ___ Bélgica.  ¿___ (tú) de España?  Diego ___ México.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70916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soy de · eres de · es 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gentilicio ♂/♀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nationaliteit: man/vrouw &amp; de kleine letter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E8F0FE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40AF"/>
                </a:solidFill>
                <a:latin typeface="Bricolage Grotesque"/>
              </a:rPr>
              <a:t>♂ Un chico dice…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E40AF"/>
                </a:solidFill>
                <a:latin typeface="Inter"/>
              </a:rPr>
              <a:t>mexicano · colombiano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E40AF"/>
                </a:solidFill>
                <a:latin typeface="Inter"/>
              </a:rPr>
              <a:t>portugués · francés · inglés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54480"/>
            <a:ext cx="5486400" cy="2103120"/>
          </a:xfrm>
          <a:prstGeom prst="roundRect">
            <a:avLst>
              <a:gd name="adj" fmla="val 5500"/>
            </a:avLst>
          </a:prstGeom>
          <a:solidFill>
            <a:srgbClr val="FCE7F0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5029200" cy="18288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D174D"/>
                </a:solidFill>
                <a:latin typeface="Bricolage Grotesque"/>
              </a:rPr>
              <a:t>♀ Una chica dice…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9D174D"/>
                </a:solidFill>
                <a:latin typeface="Inter"/>
              </a:rPr>
              <a:t>mexicana · colombiana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9D174D"/>
                </a:solidFill>
                <a:latin typeface="Inter"/>
              </a:rPr>
              <a:t>portuguesa · francesa · inglesa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11201400" cy="1645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069848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Sin cambio ♂ = ♀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Sommige blijven gelijk: </a:t>
            </a:r>
            <a:r>
              <a:rPr sz="1300" b="1" i="0">
                <a:solidFill>
                  <a:srgbClr val="2563EB"/>
                </a:solidFill>
                <a:latin typeface="Inter"/>
              </a:rPr>
              <a:t>belga · marroquí · estadounidense · canadiense</a:t>
            </a:r>
            <a:r>
              <a:rPr sz="1300" b="0" i="0">
                <a:solidFill>
                  <a:srgbClr val="20242E"/>
                </a:solidFill>
                <a:latin typeface="Inter"/>
              </a:rPr>
              <a:t>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In het Spaans schrijf je de nationaliteit én de taal met een </a:t>
            </a:r>
            <a:r>
              <a:rPr sz="1300" b="1" i="0">
                <a:solidFill>
                  <a:srgbClr val="DC2626"/>
                </a:solidFill>
                <a:latin typeface="Inter"/>
              </a:rPr>
              <a:t>kleine letter</a:t>
            </a:r>
            <a:r>
              <a:rPr sz="1300" b="0" i="0">
                <a:solidFill>
                  <a:srgbClr val="20242E"/>
                </a:solidFill>
                <a:latin typeface="Inter"/>
              </a:rPr>
              <a:t>: soy español, hablo neerlandés (in NL/Engels net met hoofdletter!).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diálogo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Hola, ¿de dónde ___?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___ de México. Soy mexican__.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¿Qué idiomas ___?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___ español e inglés.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eres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Soy · mexicano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hablas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Hablo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9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¿De dónde eres?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Vraag en antwoord over het origen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«— ¿De dónde eres?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Soy de Bélgica. Soy belga.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— ¿Qué idiomas hablas?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Hablo neerlandés y un poco de español.»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Kies een land (of het jouwe).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Vraag ¿de dónde eres? + soy de…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Zeg je nationaliteit (♂/♀) + talen.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Wissel van rol (3×).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beurt nemen, luisteren en reageren. Begrijp je iets niet? Zeg: «¿Cómo? / Otra vez, por favor.»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mundo hispano &amp; su música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21 landen, één taal + muziek die jullie kennen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Shakira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Hips Don't Lie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Bad Bunny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Baile inolvidable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🇵🇷 Puerto Rico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Perla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Karol 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TQG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Quevedo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Bzrp #52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Rauw Alejandro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Todo de ti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🇵🇷 P. Rico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1069848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🌍 El español conecta 21 países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(+490 miljoen sprekers, zelfs in Afrika: Guinea Ecuatorial). La playlist + de wereldkaart op de digitale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mapa · ¿De dónde eres?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Plaats 3 personen op de wereldkaart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5486400" cy="50292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MI MAPA · noteer je 3 fichas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22860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🧍 Yo 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soy de ______  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🧑 ___ 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es de ______  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👤 ___ 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es de ______  ______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502920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Elige a 3 personas (jij + 2 anderen).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Pregunta: «¿de dónde eres? / ¿de qué país?»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Escribe: «X es de ___. Es ___ y habla ___.»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Preséntalo: wijs het land aan op de kaart.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je voor 3 personen «es de + land» zegt, de juiste gentilicio (♂/♀, kleine letter) en talen geeft, en het land op de kaart aanwijst — zónder af te lezen.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4023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6492240" cy="3657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vraag &amp; zeg je het origen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¿De dónde eres? → Soy de + país (Soy de Bélgica)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Land = met de · nationaliteit = zónder de (soy belga)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Nationaliteit &amp; talen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mexicano ♂ / mexicana ♀ · met kleine letter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Hablo español, neerlandés, francés…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belga · marroquí blijven gelijk (♂ = 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554480"/>
            <a:ext cx="4023360" cy="40233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33172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het origen vragen &amp; zeggen (soy de + país)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990088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de nationaliteit geven (♂/♀, kleine letter)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648456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zeggen welke talen ik spreek (hablo…)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4306824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landen van het mundo hispano situeren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50292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 · wereldkaart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Bricolage Grotesque"/>
              </a:rPr>
              <a:t>Docentendossier · Unidad 3 «Nacionalidades y países»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Timing (2 lesuren van 50 min).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Les 1: Escucha (sitcom ep. 3 · id 62GTD0QXbiI) + Suena bien (ñ · c/z · acento agudo) + Kit (¿de dónde eres? · soy de + país · gentilicio). Les 2: gramática functioneel (soy de + país · gentilicio ♂/♀), hablar, tarea «Mi mapa» + música.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Aanpak C4 (survival).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Chunks komen auditief binnen (luisteren → naspreken). soy de + país en de gentilicio enkel functioneel (vaste vormen, herkennen), géén volledig ser-paradigma als systeem — dat is C5. Kernvalstrik: «soy DE Argelia» + kleine letter (soy español). Doelcodes: C4-SP-1 · C4-TS-3 · C4-CU-1 · C4-MEC-1/2 · C4-WS-1.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Evaluatie.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EAE3"/>
                </a:solidFill>
                <a:latin typeface="Inter"/>
              </a:rPr>
              <a:t>Mondelinge mini-taak («Mi mapa»: 3 personen op de kaart met país + nacionalidad + idioma) + herkennen país/gentilicio/idioma. Geen leerplan → focus op «kunnen gebruiken in de praktijk».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A6A29A"/>
                </a:solidFill>
                <a:latin typeface="Inter"/>
              </a:rPr>
              <a:t>Oplossingen staan bij elke oefendia in de presenter-notities; antwoorden verschijnen bij klik.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U3 · NACIONALIDADES   ·   C4 · La Ruta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