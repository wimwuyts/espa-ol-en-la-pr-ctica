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6.xml"/><Relationship Id="rId4" Type="http://schemas.openxmlformats.org/officeDocument/2006/relationships/slide" Target="slide11.xml"/><Relationship Id="rId5" Type="http://schemas.openxmlformats.org/officeDocument/2006/relationships/slide" Target="slide12.xml"/><Relationship Id="rId6" Type="http://schemas.openxmlformats.org/officeDocument/2006/relationships/slide" Target="slide9.xml"/><Relationship Id="rId7" Type="http://schemas.openxmlformats.org/officeDocument/2006/relationships/slide" Target="slide16.xml"/><Relationship Id="rId8" Type="http://schemas.openxmlformats.org/officeDocument/2006/relationships/slide" Target="slide18.xml"/><Relationship Id="rId9" Type="http://schemas.openxmlformats.org/officeDocument/2006/relationships/slide" Target="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82036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7 · CARTAGENA · COLOMBIA 🇨🇴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>
                <a:solidFill>
                  <a:srgbClr val="FFFFFF"/>
                </a:solidFill>
                <a:latin typeface="Bricolage Grotesque"/>
              </a:rPr>
              <a:t>Mi casa y mi barrio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4F4EE"/>
                </a:solidFill>
                <a:latin typeface="Inter"/>
              </a:rPr>
              <a:t>La casa, las habitaciones, dónde está todo y cómo llegar — en Cartagena, con Valen.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Bricolage Grotesque"/>
              </a:rPr>
              <a:t>¿Dónde vives? ¿Cómo es tu barrio?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Waar woon je? Hoe is jouw buurt?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gente de la ruta — je reisgezellen</a:t>
            </a:r>
          </a:p>
        </p:txBody>
      </p:sp>
      <p:pic>
        <p:nvPicPr>
          <p:cNvPr id="11" name="Picture 10" descr="va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anfitriona</a:t>
            </a:r>
          </a:p>
        </p:txBody>
      </p:sp>
      <p:pic>
        <p:nvPicPr>
          <p:cNvPr id="13" name="Picture 12" descr="lu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5" name="Picture 14" descr="die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tegel. Alles oefent naar de Tarea «Mi barrio» toe.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Hay / estar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er is · waar het staat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Preposiciones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encima de · al lado 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6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Estar + gerundio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estoy cocinando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11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El camino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imperativo: gira, sigue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12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6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anuncio de piso · barrio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9</a:t>
            </a:r>
          </a:p>
        </p:txBody>
      </p:sp>
      <p:sp>
        <p:nvSpPr>
          <p:cNvPr id="39" name="Rounded Rectangle 38">
            <a:hlinkClick action="ppaction://hlinksldjump" r:id="rId7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7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 · la plaza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barrio · Cartagena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16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8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🏘️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Mi barrio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plano + visita guiada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18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9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Repaso + semáforo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 esencial · zelfevaluatie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casa y las habitaciones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woorden van thuis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casa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huis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piso · el apartamento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habitación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kamer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dormitorio · el salón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cocina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keuken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baño · el comedor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los muebles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meubels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mesa · la silla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sofá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bank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cama · el armario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puerta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deur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ventana · la pared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escalera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trap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ascensor · el pasillo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terraza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terras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jardín 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Preposiciones de lugar: </a:t>
            </a:r>
            <a:r>
              <a:rPr sz="1300" b="1" i="0">
                <a:solidFill>
                  <a:srgbClr val="14B8A6"/>
                </a:solidFill>
                <a:latin typeface="Inter"/>
              </a:rPr>
              <a:t>encima de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14B8A6"/>
                </a:solidFill>
                <a:latin typeface="Inter"/>
              </a:rPr>
              <a:t>al lado de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14B8A6"/>
                </a:solidFill>
                <a:latin typeface="Inter"/>
              </a:rPr>
              <a:t>entre · debajo de · enfrente de · dentro de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Hay vs. estar: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Hay un sofá (nieuw) · El sofá está al lado (bekend + plaats).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Nooit «hay el/la…». De casa = habitaciones (kamers) + muebles (meubels).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Hay / estar — ¿qué hay y dónde está?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Kleur = de plaats. Hay = nieuw · estar = waar iets bekends staat.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0242E"/>
                </a:solidFill>
                <a:latin typeface="Bricolage Grotesque"/>
              </a:rPr>
              <a:t>En mi barrio </a:t>
            </a:r>
            <a:r>
              <a:rPr sz="2200" b="1" i="0">
                <a:solidFill>
                  <a:srgbClr val="1E9E74"/>
                </a:solidFill>
                <a:latin typeface="Bricolage Grotesque"/>
              </a:rPr>
              <a:t>hay </a:t>
            </a:r>
            <a:r>
              <a:rPr sz="2200" b="1" i="0">
                <a:solidFill>
                  <a:srgbClr val="20242E"/>
                </a:solidFill>
                <a:latin typeface="Bricolage Grotesque"/>
              </a:rPr>
              <a:t>una plaza,</a:t>
            </a:r>
            <a:r>
              <a:rPr sz="2200" b="1" i="0">
                <a:solidFill>
                  <a:srgbClr val="20242E"/>
                </a:solidFill>
                <a:latin typeface="Bricolage Grotesque"/>
              </a:rPr>
              <a:t> y la iglesia </a:t>
            </a:r>
            <a:r>
              <a:rPr sz="2200" b="1" i="0">
                <a:solidFill>
                  <a:srgbClr val="EA7317"/>
                </a:solidFill>
                <a:latin typeface="Bricolage Grotesque"/>
              </a:rPr>
              <a:t>está </a:t>
            </a:r>
            <a:r>
              <a:rPr sz="2200" b="1" i="0">
                <a:solidFill>
                  <a:srgbClr val="14B8A6"/>
                </a:solidFill>
                <a:latin typeface="Bricolage Grotesque"/>
              </a:rPr>
              <a:t>enfrente </a:t>
            </a:r>
            <a:r>
              <a:rPr sz="2200" b="1" i="0">
                <a:solidFill>
                  <a:srgbClr val="20242E"/>
                </a:solidFill>
                <a:latin typeface="Bricolage Grotesque"/>
              </a:rPr>
              <a:t>de la plaza.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¿hay o estar? — la decisión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188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7317"/>
                </a:solidFill>
                <a:latin typeface="Inter"/>
              </a:rPr>
              <a:t>hay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291840"/>
            <a:ext cx="2194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+ un/una/número (nieuw)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188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7317"/>
                </a:solidFill>
                <a:latin typeface="Inter"/>
              </a:rPr>
              <a:t>hay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3968496"/>
            <a:ext cx="2194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geen el/la: «hay un parque»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188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7317"/>
                </a:solidFill>
                <a:latin typeface="Inter"/>
              </a:rPr>
              <a:t>está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4645152"/>
            <a:ext cx="2194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el/la + singular + plaats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188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7317"/>
                </a:solidFill>
                <a:latin typeface="Inter"/>
              </a:rPr>
              <a:t>están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3291840"/>
            <a:ext cx="2194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los/las + plural + plaats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188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7317"/>
                </a:solidFill>
                <a:latin typeface="Inter"/>
              </a:rPr>
              <a:t>está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3968496"/>
            <a:ext cx="2194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«La plaza está en el centro»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188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7317"/>
                </a:solidFill>
                <a:latin typeface="Inter"/>
              </a:rPr>
              <a:t>están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4645152"/>
            <a:ext cx="2194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«Los baños están arriba»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1208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hay = er is/zijn (nieuw, geen el/la) · está/están = waar iets bekends staat (met el/la + plaats).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0840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¿hay, está o están?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zin → de juiste vorm verschijnt. Nieuw → hay · bekend + plaats → está/están.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En el salón ___ un sofá.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hay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un sofá = nieuw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sofá ___ al lado.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está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bekend + plaats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___ tres habitaciones.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hay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número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Los baños ___ arriba.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están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mv. bekend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___ una plaza cerca.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hay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una = nieuw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La farmacia ___ en la esquina.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está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bekend + plaats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hay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iets nieuws (un/una/número)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está/están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waar iets bekends (el/la) staat. Meervoud → están.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¿Dónde está? — preposiciones de lugar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de betekenis verschijnt. de + el = 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El gato está… </a:t>
            </a:r>
            <a:r>
              <a:rPr sz="1400" b="1" i="0">
                <a:solidFill>
                  <a:srgbClr val="14B8A6"/>
                </a:solidFill>
                <a:latin typeface="Inter"/>
              </a:rPr>
              <a:t>encima de </a:t>
            </a:r>
            <a:r>
              <a:rPr sz="1400" b="1" i="0">
                <a:solidFill>
                  <a:srgbClr val="14B8A6"/>
                </a:solidFill>
                <a:latin typeface="Inter"/>
              </a:rPr>
              <a:t>· debajo de · al lado de · entre… </a:t>
            </a:r>
            <a:r>
              <a:rPr sz="1400" b="0" i="0">
                <a:solidFill>
                  <a:srgbClr val="20242E"/>
                </a:solidFill>
                <a:latin typeface="Inter"/>
              </a:rPr>
              <a:t>  (de + el = del)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21408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encima 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boven 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121408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debajo 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51460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onder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121408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al lado 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51460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naast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81528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91256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entre A y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84448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tussen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081528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191256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delante 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584448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vóór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081528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3191256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detrás 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584448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achter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51376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61104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dentro 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54296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binnen 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151376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4261104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enfrente 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654296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tegenover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151376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4261104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cerca 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654296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dichtbij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3949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de + el = del (al lado del parque). Bij «entre» géén «de»: entre la mesa y la silla. Vorm: está (ev.) / están (mv.).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2669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preposición?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zin → de juiste preposición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lámpara está ___ la mesa (boven).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encima 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gato está ___ la cama (onder).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debajo 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banco está ___ la farmacia (naast).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al lado 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cine está ___ el banco y el parque.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entre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jardín está ___ la casa (achter).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detrás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museo está ___ la iglesia (tegenover).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enfrente 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Tegenstellingen: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encima ↔ debajo · delante ↔ detrás · cerca ↔ lejos · dentro ↔ fuera.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APLICACIÓN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plano del barrio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un edificio → dónde está. Aprende a decir la posición.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55648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🥖 La panadería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está en la esquina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755648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🏦 El banco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está al lado de la farmacia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24912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83464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🎬 El cine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82112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está entre el banco y el parque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24912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283464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🏛️ El museo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82112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está enfrente de la iglesia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03904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913632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🌳 El parque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61104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está al final de la calle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03904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3913632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⛲ La plaza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261104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está en el centro del barrio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7860B"/>
                </a:solidFill>
                <a:latin typeface="Inter"/>
              </a:rPr>
              <a:t>🟡 Ordinales + apócope: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primero → el primer piso · tercero → el tercer piso (m. sing.).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7784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Voor het adres: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la planta baja · el primer piso · el segundo piso… (calle Real, 3º).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4498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Se alquila piso (anuncio)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Lees en beantwoord.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a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1828800"/>
            <a:ext cx="3474720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«Bonito piso en el centro. Tercer piso con ascensor. Dos habitaciones, salón, cocina y baño. Terraza con vistas a la plaza. Cerca de la panadería y del parque. 600 € al mes.»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¿En qué piso está?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Tercer piso (con ascensor)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¿Cuántas habitaciones?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hay en la terraza?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Vistas a la plaza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¿Cuánto cuesta al mes?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600 €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scannen naar habitaciones, piso y precio — niet élk woord begrijpen.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5038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ESCUCHAR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barrio de Valen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un lugar → dónde está.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🔊  La plaza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¿Dónde?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enfrente de la casa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Detalle: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con palmeras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🔊  La panadería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¿Dónde?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al lado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Detalle: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pan fresco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🔊  El parque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¿Dónde?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cerca del mar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Detalle: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para pasear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🔊  El supermercado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¿Dónde?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en la esquina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Detalle: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para la compra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Modelo-audio (docent leest of TTS):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«Enfrente de mi casa hay una plaza. La panadería está al lado y el parque está cerca del mar.» 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Daarna spreken: leerling beschrijft zelf zijn barrio.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Estar + gerundio — ¿qué pasa ahora?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kolomkop → de vormen. Fórmula: estar (presente) + -ando/-iendo.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La fórmula: </a:t>
            </a:r>
            <a:r>
              <a:rPr sz="1400" b="1" i="0">
                <a:solidFill>
                  <a:srgbClr val="EA7317"/>
                </a:solidFill>
                <a:latin typeface="Inter"/>
              </a:rPr>
              <a:t>estar (estoy, estás, está…) </a:t>
            </a:r>
            <a:r>
              <a:rPr sz="1400" b="1" i="0">
                <a:solidFill>
                  <a:srgbClr val="1E9E74"/>
                </a:solidFill>
                <a:latin typeface="Inter"/>
              </a:rPr>
              <a:t>+ gerundio </a:t>
            </a:r>
            <a:r>
              <a:rPr sz="1400" b="0" i="0">
                <a:solidFill>
                  <a:srgbClr val="20242E"/>
                </a:solidFill>
                <a:latin typeface="Inter"/>
              </a:rPr>
              <a:t>   →   Estoy cocinando en la cocina.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estoy …ndo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estás …ndo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está …ndo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estamos …ndo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estáis …ndo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están …ndo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206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-ar → -ando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(cocinar → cocinando) · -er/-ir → -iendo (comer → comiendo, vivir → viviendo). Onregelmatig: leer → leyendo, dormir → durmiendo.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¡Explica el camino!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Speel de scène.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Preguntar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¿Cómo se va a…?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Salir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Sal de casa.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Seguir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Sigue todo recto.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Girar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Gira a la derecha.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Cruzar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Cruza el semáforo.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Llegar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Está a la izquierda.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alleen beginwoorden.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hoofd, andere ruta.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 en de digitale pagina.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4745736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🎙️ Grábate online · «Mensaje de voz: explica el camino»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«Perdona, ¿cómo se va a la plaza? — Sigue todo recto, gira a la derecha y cruza el semáforo. Está al final.»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barrio (descripción)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Beschrijf je buurt.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✍️ Escribe aquí sobre tu barrio: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¿qué hay? (hay una plaza…)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¿dónde está? (está al lado de…)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2 preposiciones de lugar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¿cómo se llega? (imperativo)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mueble / edificio típico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¿qué está pasando ahora?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«En mi barrio hay una plaza. La panadería está al lado y el parque está enfrente. Para llegar, sigue todo recto. Ahora la gente está paseando.»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22199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 · BARRIO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Muebles y edificios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de vertaling verschijnt.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sofá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bank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cama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armario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kast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nevera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koelkast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panadería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bakkerij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farmacia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apotheek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banco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bank (geld)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parque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park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estación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station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autobús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metro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metro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bicicleta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fiets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Combineer met preposición: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el sofá está al lado de la ventana · la panadería está enfrente del banco.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Transporte: en autobús · en metro · en bici · a pie. Direcciones: a la derecha / izquierda · todo recto.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Conectores de lugar + ortografía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item → correcte vorm. Gereedschap voor de ruta en spelling.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A · conectores de lugar: todo recto · a la derecha · al final de…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31089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Sigue ___ (rechtdoor)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78308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todo recto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31089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Gira ___ (rechts)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44144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a la derecha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31089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plaza está ___ (aan het eind)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09981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al final de la calle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31089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museo está ___ (tegenover)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75818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enfrente 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B · ortografía: ¿diptongo o hiato?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panaderia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panadería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hiato: tilde op 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puerta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puerta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diptongo (ue)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pais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país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hiato: tilde op 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día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hiato: tilde op 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conectores de lugar structureren de rondleiding (todo recto → a la derecha → al final de).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B: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hiato = tilde op í/ú breekt de tweeklank: panadería, día, país. Diptongo = twee klinkers samen: puerta, bueno.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CULTURA · PARADA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plaza y el barrio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het weetje verschijnt. La plaza es el corazón del barrio.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🏛️ La plaza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 centro del barrio: hay bancos, árboles y una iglesia. Por la tarde la gente está paseando y charlando. En Cartagena, la Plaza de los Coches es famosa.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plaza = de ontmoetingsplek.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🏘️ Casas de colores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Cartagena tiene un casco histórico con casas de colores y balcones con flores. Las murallas protegen la ciudad frente al mar Caribe. Barrio Getsemaní = arte y color.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Color, música y arte.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🌎 ¿Cómo se vive?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España: un piso. En América: un apartamento. Con jardín: chalet (ES) o casa (AM). En el adres: la planta baja, el primer piso…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piso 🇪🇸 ↔ apartamento 🌎.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schrijf 3 zinnen over een plein of buurt bij jou (¿qué hay? ¿dónde está? ¿qué haces ahí?).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QUIZ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camino: completa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Wat past? Klik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3832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todo recto. (seguir)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600200"/>
            <a:ext cx="18288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Sigue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3832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a la derecha. (girar)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478024"/>
            <a:ext cx="18288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Gira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3832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la calle. (cruzar)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355848"/>
            <a:ext cx="18288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Cruza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3832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Vivo en el ___ piso. (1º)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1600200"/>
            <a:ext cx="18288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primer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3832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baño está ___ pasillo (aan 't eind).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78024"/>
            <a:ext cx="18288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al final 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3832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farmacia está ___ (op de hoek).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355848"/>
            <a:ext cx="18288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en la esquina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Imperativo (tú):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-ar → -a (gira, cruza) · -er/-ir → -e (sube, sigue). ir → ve. Apócope: primer/tercer piso.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🏘️ Tarea final · Mi barrio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Maak el plano de tu barrio y da una visita guiada — di qué hay, dónde está y cómo llegar.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Dibuja el plano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calles, plaza, tiendas, tu casa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5 frases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21408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qué hay + dónde está (preposiciones)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el camino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88336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tu casa a la plaza (imperativo)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Da la visita guiada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55264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pareja (of neem audio op)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Responde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822192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«¿Dónde está la farmacia?»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5+ lugares con nombre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hay + está/están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preposiciones de lugar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el camino (imperativo)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(de gids) · ontvanger een bezoeker · doel je buurt voorstellen &amp; de weg uitleggen · situatie un paseo por el barrio · resultaat: plano + gespeelde rondleiding.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el salón ___ un sofá.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600200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hay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sofá ___ al lado.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313432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está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estar+ger, yo → cocinar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026664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estoy cocinando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gira, ¿infinitivo?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739896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girar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___ piso (1º)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600200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primer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lámpara está ___ la mesa (boven).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313432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encima 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Los baños ___ arriba.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026664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están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sigue, ¿infinitivo?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739896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seguir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hay/estar · preposiciones · estar + gerundio · imperativo · ordinales.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volledige herhaling (20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Hay / estar: hay + un/una/número (nieuw) · el/la … está/están + plaats (bekend). Nooit «hay el/la».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Preposiciones: encima/debajo/al lado/entre/delante/detrás/dentro/enfrente de (de + el = del).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Estar + gerundio: estoy/estás/está… + -ando (-ar) / -iendo (-er/-ir): «Estoy cocinando».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Imperativo (el camino): gira · sigue · cruza · toma · ve (ir). -ar→-a · -er/-ir→-e.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niet «hay el parque» · de+el=del · estoy comiendo · el primer piso · hiato panadería.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 casa beschrijven (habitaciones/muebles)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hay/estar juist gebruiken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preposiciones de lugar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estar + gerundio (nu)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 camino (imperativo)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