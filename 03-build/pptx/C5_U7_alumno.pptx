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.xml"/><Relationship Id="rId3" Type="http://schemas.openxmlformats.org/officeDocument/2006/relationships/slide" Target="slide6.xml"/><Relationship Id="rId4" Type="http://schemas.openxmlformats.org/officeDocument/2006/relationships/slide" Target="slide11.xml"/><Relationship Id="rId5" Type="http://schemas.openxmlformats.org/officeDocument/2006/relationships/slide" Target="slide12.xml"/><Relationship Id="rId6" Type="http://schemas.openxmlformats.org/officeDocument/2006/relationships/slide" Target="slide9.xml"/><Relationship Id="rId7" Type="http://schemas.openxmlformats.org/officeDocument/2006/relationships/slide" Target="slide16.xml"/><Relationship Id="rId8" Type="http://schemas.openxmlformats.org/officeDocument/2006/relationships/slide" Target="slide18.xml"/><Relationship Id="rId9" Type="http://schemas.openxmlformats.org/officeDocument/2006/relationships/slide" Target="slide20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slide" Target="slide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29768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297680"/>
            <a:ext cx="12191695" cy="82296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3108960" cy="32918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0" b="1" i="0">
                <a:solidFill>
                  <a:srgbClr val="2EB085"/>
                </a:solidFill>
                <a:latin typeface="Bricolage Grotesque"/>
              </a:rPr>
              <a:t>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977639" y="777240"/>
            <a:ext cx="3820363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57355"/>
                </a:solidFill>
                <a:latin typeface="Inter"/>
              </a:rPr>
              <a:t>LA RUTA · PARADA 7 · CARTAGENA · COLOMBIA 🇨🇴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1234440"/>
            <a:ext cx="786384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4800" b="1" i="0">
                <a:solidFill>
                  <a:srgbClr val="FFFFFF"/>
                </a:solidFill>
                <a:latin typeface="Bricolage Grotesque"/>
              </a:rPr>
              <a:t>Mi casa y mi barrio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77639" y="2468880"/>
            <a:ext cx="76809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1">
                <a:solidFill>
                  <a:srgbClr val="E4F4EE"/>
                </a:solidFill>
                <a:latin typeface="Inter"/>
              </a:rPr>
              <a:t>La casa, las habitaciones, dónde está todo y cómo llegar — en Cartagena, con Valen.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77639" y="3063240"/>
            <a:ext cx="768096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300" b="1" i="0">
                <a:solidFill>
                  <a:srgbClr val="FFFFFF"/>
                </a:solidFill>
                <a:latin typeface="Bricolage Grotesque"/>
              </a:rPr>
              <a:t>¿Dónde vives? ¿Cómo es tu barrio?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1">
                <a:solidFill>
                  <a:srgbClr val="E4F4EE"/>
                </a:solidFill>
                <a:latin typeface="Inter"/>
              </a:rPr>
              <a:t>Waar woon je? Hoe is jouw buurt?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262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La gente de la ruta — je reisgezellen</a:t>
            </a:r>
          </a:p>
        </p:txBody>
      </p:sp>
      <p:pic>
        <p:nvPicPr>
          <p:cNvPr id="11" name="Picture 10" descr="val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937760"/>
            <a:ext cx="914400" cy="9144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11480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Valen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anfitriona</a:t>
            </a:r>
          </a:p>
        </p:txBody>
      </p:sp>
      <p:pic>
        <p:nvPicPr>
          <p:cNvPr id="13" name="Picture 12" descr="luci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3159" y="4937760"/>
            <a:ext cx="914400" cy="9144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285999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Lucia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Sevilla 🇪🇸</a:t>
            </a:r>
          </a:p>
        </p:txBody>
      </p:sp>
      <p:pic>
        <p:nvPicPr>
          <p:cNvPr id="15" name="Picture 14" descr="die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7678" y="4937760"/>
            <a:ext cx="914400" cy="9144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160518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Diego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CDMX 🇲🇽</a:t>
            </a:r>
          </a:p>
        </p:txBody>
      </p:sp>
      <p:pic>
        <p:nvPicPr>
          <p:cNvPr id="17" name="Picture 16" descr="nin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72197" y="4937760"/>
            <a:ext cx="914400" cy="9144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035037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Nina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Cusco 🇵🇪</a:t>
            </a:r>
          </a:p>
        </p:txBody>
      </p:sp>
      <p:pic>
        <p:nvPicPr>
          <p:cNvPr id="19" name="Picture 18" descr="tu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46716" y="4937760"/>
            <a:ext cx="914400" cy="9144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909556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Tú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de reiziger = jij</a:t>
            </a:r>
          </a:p>
        </p:txBody>
      </p:sp>
      <p:pic>
        <p:nvPicPr>
          <p:cNvPr id="21" name="Picture 20" descr="mochil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21235" y="4937760"/>
            <a:ext cx="914400" cy="9144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784075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Mochila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La mochila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U7 · MI CASA Y MI BARRIO   ·   C5 · A1 · La Ruta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63311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MENÚ DE LA LECCIÓN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mapa de la Unidad 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Kies je route — klik een tegel. Alles oefent naar de Tarea «Mi barrio» toe.</a:t>
            </a:r>
          </a:p>
        </p:txBody>
      </p:sp>
      <p:sp>
        <p:nvSpPr>
          <p:cNvPr id="9" name="Rounded Rectangle 8">
            <a:hlinkClick action="ppaction://hlinksldjump" r:id="rId2"/>
          </p:cNvPr>
          <p:cNvSpPr/>
          <p:nvPr/>
        </p:nvSpPr>
        <p:spPr>
          <a:xfrm>
            <a:off x="457200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>
            <a:hlinkClick action="ppaction://hlinksldjump" r:id="rId2"/>
          </p:cNvPr>
          <p:cNvSpPr/>
          <p:nvPr/>
        </p:nvSpPr>
        <p:spPr>
          <a:xfrm>
            <a:off x="457200" y="1417320"/>
            <a:ext cx="2743200" cy="457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66928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E9E74"/>
                </a:solidFill>
                <a:latin typeface="Bricolage Grotesque"/>
              </a:rPr>
              <a:t>§1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Hay / estar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er is · waar het staat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2461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3</a:t>
            </a:r>
          </a:p>
        </p:txBody>
      </p:sp>
      <p:sp>
        <p:nvSpPr>
          <p:cNvPr id="15" name="Rounded Rectangle 14">
            <a:hlinkClick action="ppaction://hlinksldjump" r:id="rId3"/>
          </p:cNvPr>
          <p:cNvSpPr/>
          <p:nvPr/>
        </p:nvSpPr>
        <p:spPr>
          <a:xfrm>
            <a:off x="3328416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>
            <a:hlinkClick action="ppaction://hlinksldjump" r:id="rId3"/>
          </p:cNvPr>
          <p:cNvSpPr/>
          <p:nvPr/>
        </p:nvSpPr>
        <p:spPr>
          <a:xfrm>
            <a:off x="3328416" y="1417320"/>
            <a:ext cx="2743200" cy="457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438144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E9E74"/>
                </a:solidFill>
                <a:latin typeface="Bricolage Grotesque"/>
              </a:rPr>
              <a:t>§2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58768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Preposiciones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93008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encima de · al lado de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493008" y="32461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6</a:t>
            </a:r>
          </a:p>
        </p:txBody>
      </p:sp>
      <p:sp>
        <p:nvSpPr>
          <p:cNvPr id="21" name="Rounded Rectangle 20">
            <a:hlinkClick action="ppaction://hlinksldjump" r:id="rId4"/>
          </p:cNvPr>
          <p:cNvSpPr/>
          <p:nvPr/>
        </p:nvSpPr>
        <p:spPr>
          <a:xfrm>
            <a:off x="6199632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>
            <a:hlinkClick action="ppaction://hlinksldjump" r:id="rId4"/>
          </p:cNvPr>
          <p:cNvSpPr/>
          <p:nvPr/>
        </p:nvSpPr>
        <p:spPr>
          <a:xfrm>
            <a:off x="6199632" y="1417320"/>
            <a:ext cx="2743200" cy="457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309360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E9E74"/>
                </a:solidFill>
                <a:latin typeface="Bricolage Grotesque"/>
              </a:rPr>
              <a:t>§3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9984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Estar + gerundio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64224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estoy cocinando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64224" y="324612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11</a:t>
            </a:r>
          </a:p>
        </p:txBody>
      </p:sp>
      <p:sp>
        <p:nvSpPr>
          <p:cNvPr id="27" name="Rounded Rectangle 26">
            <a:hlinkClick action="ppaction://hlinksldjump" r:id="rId5"/>
          </p:cNvPr>
          <p:cNvSpPr/>
          <p:nvPr/>
        </p:nvSpPr>
        <p:spPr>
          <a:xfrm>
            <a:off x="9070848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>
            <a:hlinkClick action="ppaction://hlinksldjump" r:id="rId5"/>
          </p:cNvPr>
          <p:cNvSpPr/>
          <p:nvPr/>
        </p:nvSpPr>
        <p:spPr>
          <a:xfrm>
            <a:off x="9070848" y="1417320"/>
            <a:ext cx="2743200" cy="457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9180576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E9E74"/>
                </a:solidFill>
                <a:latin typeface="Bricolage Grotesque"/>
              </a:rPr>
              <a:t>§4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0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El camino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35440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imperativo: gira, sigue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235440" y="324612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12</a:t>
            </a:r>
          </a:p>
        </p:txBody>
      </p:sp>
      <p:sp>
        <p:nvSpPr>
          <p:cNvPr id="33" name="Rounded Rectangle 32">
            <a:hlinkClick action="ppaction://hlinksldjump" r:id="rId6"/>
          </p:cNvPr>
          <p:cNvSpPr/>
          <p:nvPr/>
        </p:nvSpPr>
        <p:spPr>
          <a:xfrm>
            <a:off x="457200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>
            <a:hlinkClick action="ppaction://hlinksldjump" r:id="rId6"/>
          </p:cNvPr>
          <p:cNvSpPr/>
          <p:nvPr/>
        </p:nvSpPr>
        <p:spPr>
          <a:xfrm>
            <a:off x="457200" y="3840480"/>
            <a:ext cx="2743200" cy="457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566928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E9E74"/>
                </a:solidFill>
                <a:latin typeface="Bricolage Grotesque"/>
              </a:rPr>
              <a:t>§5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7552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Lectura + escucha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1792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anuncio de piso · barrio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21792" y="566928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9</a:t>
            </a:r>
          </a:p>
        </p:txBody>
      </p:sp>
      <p:sp>
        <p:nvSpPr>
          <p:cNvPr id="39" name="Rounded Rectangle 38">
            <a:hlinkClick action="ppaction://hlinksldjump" r:id="rId7"/>
          </p:cNvPr>
          <p:cNvSpPr/>
          <p:nvPr/>
        </p:nvSpPr>
        <p:spPr>
          <a:xfrm>
            <a:off x="3328416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57355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>
            <a:hlinkClick action="ppaction://hlinksldjump" r:id="rId7"/>
          </p:cNvPr>
          <p:cNvSpPr/>
          <p:nvPr/>
        </p:nvSpPr>
        <p:spPr>
          <a:xfrm>
            <a:off x="3328416" y="3840480"/>
            <a:ext cx="2743200" cy="457200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3438144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57355"/>
                </a:solidFill>
                <a:latin typeface="Bricolage Grotesque"/>
              </a:rPr>
              <a:t>★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858768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Cultura · la plaza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493008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el barrio · Cartagena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493008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16</a:t>
            </a:r>
          </a:p>
        </p:txBody>
      </p:sp>
      <p:sp>
        <p:nvSpPr>
          <p:cNvPr id="45" name="Rounded Rectangle 44">
            <a:hlinkClick action="ppaction://hlinksldjump" r:id="rId8"/>
          </p:cNvPr>
          <p:cNvSpPr/>
          <p:nvPr/>
        </p:nvSpPr>
        <p:spPr>
          <a:xfrm>
            <a:off x="6199632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57355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>
            <a:hlinkClick action="ppaction://hlinksldjump" r:id="rId8"/>
          </p:cNvPr>
          <p:cNvSpPr/>
          <p:nvPr/>
        </p:nvSpPr>
        <p:spPr>
          <a:xfrm>
            <a:off x="6199632" y="3840480"/>
            <a:ext cx="2743200" cy="457200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6309360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57355"/>
                </a:solidFill>
                <a:latin typeface="Bricolage Grotesque"/>
              </a:rPr>
              <a:t>🏘️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729984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Tarea · Mi barrio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64224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plano + visita guiada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364224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18</a:t>
            </a:r>
          </a:p>
        </p:txBody>
      </p:sp>
      <p:sp>
        <p:nvSpPr>
          <p:cNvPr id="51" name="Rounded Rectangle 50">
            <a:hlinkClick action="ppaction://hlinksldjump" r:id="rId9"/>
          </p:cNvPr>
          <p:cNvSpPr/>
          <p:nvPr/>
        </p:nvSpPr>
        <p:spPr>
          <a:xfrm>
            <a:off x="9070848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57355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>
            <a:hlinkClick action="ppaction://hlinksldjump" r:id="rId9"/>
          </p:cNvPr>
          <p:cNvSpPr/>
          <p:nvPr/>
        </p:nvSpPr>
        <p:spPr>
          <a:xfrm>
            <a:off x="9070848" y="3840480"/>
            <a:ext cx="2743200" cy="457200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9180576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57355"/>
                </a:solidFill>
                <a:latin typeface="Bricolage Grotesque"/>
              </a:rPr>
              <a:t>◎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601200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Repaso + semáforo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235440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lo esencial · zelfevaluatie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9235440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20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U7 · MI CASA Y MI BARRIO   ·   C5 · A1 · La Ruta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§1 · VOCABULARIO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La casa y las habitaciones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De woorden van thuis — observa. Herken ze, dan gebruik je ze.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484632"/>
            <a:ext cx="118872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A6E78"/>
                </a:solidFill>
                <a:latin typeface="Inter"/>
              </a:rPr>
              <a:t>Kleurcode: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92124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8583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persoon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74121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38713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werkw.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170309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334901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tijd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653112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17704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plaats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24930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1389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valstrik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1463040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1463040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la casa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1463040"/>
            <a:ext cx="21031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het huis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40" y="1463040"/>
            <a:ext cx="12801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el piso · el apartamento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2121408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4360" y="2121408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la habitación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43200" y="2121408"/>
            <a:ext cx="21031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 kamer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63440" y="2121408"/>
            <a:ext cx="12801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el dormitorio · el salón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2779776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2779776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la cocina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2779776"/>
            <a:ext cx="21031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 keuken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63440" y="2779776"/>
            <a:ext cx="12801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el baño · el comedor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3438144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94360" y="3438144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los muebles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43200" y="3438144"/>
            <a:ext cx="21031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 meubels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663440" y="3438144"/>
            <a:ext cx="12801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la mesa · la silla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72200" y="1463040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09360" y="1463040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el sofá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58200" y="1463040"/>
            <a:ext cx="21031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 bank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378440" y="1463040"/>
            <a:ext cx="12801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la cama · el armario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172200" y="2121408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09360" y="2121408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la puerta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458200" y="2121408"/>
            <a:ext cx="21031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 deur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378440" y="2121408"/>
            <a:ext cx="12801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la ventana · la pared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172200" y="2779776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309360" y="2779776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la escalera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58200" y="2779776"/>
            <a:ext cx="21031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 trap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378440" y="2779776"/>
            <a:ext cx="12801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el ascensor · el pasillo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172200" y="3438144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309360" y="3438144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la terraza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458200" y="3438144"/>
            <a:ext cx="21031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het terras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378440" y="3438144"/>
            <a:ext cx="12801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el jardín 🌳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7200" y="4343400"/>
            <a:ext cx="112471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Preposiciones de lugar: </a:t>
            </a:r>
            <a:r>
              <a:rPr sz="1300" b="1" i="0">
                <a:solidFill>
                  <a:srgbClr val="14B8A6"/>
                </a:solidFill>
                <a:latin typeface="Inter"/>
              </a:rPr>
              <a:t>encima de</a:t>
            </a:r>
            <a:r>
              <a:rPr sz="1300" b="0" i="0">
                <a:solidFill>
                  <a:srgbClr val="20242E"/>
                </a:solidFill>
                <a:latin typeface="Inter"/>
              </a:rPr>
              <a:t> · </a:t>
            </a:r>
            <a:r>
              <a:rPr sz="1300" b="1" i="0">
                <a:solidFill>
                  <a:srgbClr val="14B8A6"/>
                </a:solidFill>
                <a:latin typeface="Inter"/>
              </a:rPr>
              <a:t>al lado de</a:t>
            </a:r>
            <a:r>
              <a:rPr sz="1300" b="0" i="0">
                <a:solidFill>
                  <a:srgbClr val="20242E"/>
                </a:solidFill>
                <a:latin typeface="Inter"/>
              </a:rPr>
              <a:t> · </a:t>
            </a:r>
            <a:r>
              <a:rPr sz="1300" b="1" i="0">
                <a:solidFill>
                  <a:srgbClr val="14B8A6"/>
                </a:solidFill>
                <a:latin typeface="Inter"/>
              </a:rPr>
              <a:t>entre · debajo de · enfrente de · dentro de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55" name="Rounded Rectangle 54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57200" y="4892040"/>
            <a:ext cx="11247120" cy="86868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🔴 Hay vs. estar: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Hay un sofá (nieuw) · El sofá está al lado (bekend + plaats).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Nooit «hay el/la…». De casa = habitaciones (kamers) + muebles (meubels).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594360" y="476402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59" name="Rectangle 5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U7 · MI CASA Y MI BARRIO   ·   C5 · A1 · La Ruta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3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8549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§1 · GRAMÁTICA VISUAL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Hay / estar — ¿qué hay y dónde está?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Kleur = de plaats. Hay = nieuw · estar = waar iets bekends staat.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484632"/>
            <a:ext cx="118872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A6E78"/>
                </a:solidFill>
                <a:latin typeface="Inter"/>
              </a:rPr>
              <a:t>Kleurcode: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92124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8583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persoon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74121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38713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werkw.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170309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334901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tijd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653112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17704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plaats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24930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1389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valstrik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1554480"/>
            <a:ext cx="11247120" cy="1097280"/>
          </a:xfrm>
          <a:prstGeom prst="roundRect">
            <a:avLst>
              <a:gd name="adj" fmla="val 5500"/>
            </a:avLst>
          </a:prstGeom>
          <a:solidFill>
            <a:srgbClr val="E4F4EE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1554480"/>
            <a:ext cx="10698480" cy="10972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20242E"/>
                </a:solidFill>
                <a:latin typeface="Bricolage Grotesque"/>
              </a:rPr>
              <a:t>En mi barrio </a:t>
            </a:r>
            <a:r>
              <a:rPr sz="2200" b="1" i="0">
                <a:solidFill>
                  <a:srgbClr val="1E9E74"/>
                </a:solidFill>
                <a:latin typeface="Bricolage Grotesque"/>
              </a:rPr>
              <a:t>hay </a:t>
            </a:r>
            <a:r>
              <a:rPr sz="2200" b="1" i="0">
                <a:solidFill>
                  <a:srgbClr val="20242E"/>
                </a:solidFill>
                <a:latin typeface="Bricolage Grotesque"/>
              </a:rPr>
              <a:t>una plaza,</a:t>
            </a:r>
            <a:r>
              <a:rPr sz="2200" b="1" i="0">
                <a:solidFill>
                  <a:srgbClr val="20242E"/>
                </a:solidFill>
                <a:latin typeface="Bricolage Grotesque"/>
              </a:rPr>
              <a:t> y la iglesia </a:t>
            </a:r>
            <a:r>
              <a:rPr sz="2200" b="1" i="0">
                <a:solidFill>
                  <a:srgbClr val="EA7317"/>
                </a:solidFill>
                <a:latin typeface="Bricolage Grotesque"/>
              </a:rPr>
              <a:t>está </a:t>
            </a:r>
            <a:r>
              <a:rPr sz="2200" b="1" i="0">
                <a:solidFill>
                  <a:srgbClr val="14B8A6"/>
                </a:solidFill>
                <a:latin typeface="Bricolage Grotesque"/>
              </a:rPr>
              <a:t>enfrente </a:t>
            </a:r>
            <a:r>
              <a:rPr sz="2200" b="1" i="0">
                <a:solidFill>
                  <a:srgbClr val="20242E"/>
                </a:solidFill>
                <a:latin typeface="Bricolage Grotesque"/>
              </a:rPr>
              <a:t>de la plaza.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2880360"/>
            <a:ext cx="10972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¿hay o estar? — la decisión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3291840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3291840"/>
            <a:ext cx="11887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EA7317"/>
                </a:solidFill>
                <a:latin typeface="Inter"/>
              </a:rPr>
              <a:t>hay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83080" y="3291840"/>
            <a:ext cx="21945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+ un/una/número (nieuw)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3968496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360" y="3968496"/>
            <a:ext cx="11887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EA7317"/>
                </a:solidFill>
                <a:latin typeface="Inter"/>
              </a:rPr>
              <a:t>hay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783080" y="3968496"/>
            <a:ext cx="21945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geen el/la: «hay un parque»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4645152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94360" y="4645152"/>
            <a:ext cx="11887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EA7317"/>
                </a:solidFill>
                <a:latin typeface="Inter"/>
              </a:rPr>
              <a:t>está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83080" y="4645152"/>
            <a:ext cx="21945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el/la + singular + plaats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297680" y="3291840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434840" y="3291840"/>
            <a:ext cx="11887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EA7317"/>
                </a:solidFill>
                <a:latin typeface="Inter"/>
              </a:rPr>
              <a:t>están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23560" y="3291840"/>
            <a:ext cx="21945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los/las + plural + plaats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297680" y="3968496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434840" y="3968496"/>
            <a:ext cx="11887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EA7317"/>
                </a:solidFill>
                <a:latin typeface="Inter"/>
              </a:rPr>
              <a:t>está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23560" y="3968496"/>
            <a:ext cx="21945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«La plaza está en el centro»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297680" y="4645152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434840" y="4645152"/>
            <a:ext cx="11887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EA7317"/>
                </a:solidFill>
                <a:latin typeface="Inter"/>
              </a:rPr>
              <a:t>están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23560" y="4645152"/>
            <a:ext cx="21945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«Los baños están arriba»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43" name="Rounded Rectangle 42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57200" y="5212080"/>
            <a:ext cx="11247120" cy="64008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Regla: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hay = er is/zijn (nieuw, geen el/la) · está/están = waar iets bekends staat (met el/la + plaats).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94360" y="508406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47" name="Rectangle 4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U7 · MI CASA Y MI BARRIO   ·   C5 · A1 · La Ruta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87599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§1 · QUIZ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¿hay, está o están?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zin → de juiste vorm verschijnt. Nieuw → hay · bekend + plaats → está/están.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554480"/>
            <a:ext cx="32918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En el salón ___ un sofá.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0" y="1554480"/>
            <a:ext cx="19659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Inter"/>
              </a:rPr>
              <a:t>hay </a:t>
            </a:r>
            <a:r>
              <a:rPr sz="1000" b="0" i="1">
                <a:solidFill>
                  <a:srgbClr val="1E9E74"/>
                </a:solidFill>
                <a:latin typeface="Inter"/>
              </a:rPr>
              <a:t>· un sofá = nieuw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359152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359152"/>
            <a:ext cx="32918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El sofá ___ al lado.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2359152"/>
            <a:ext cx="19659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Inter"/>
              </a:rPr>
              <a:t>está </a:t>
            </a:r>
            <a:r>
              <a:rPr sz="1000" b="0" i="1">
                <a:solidFill>
                  <a:srgbClr val="1E9E74"/>
                </a:solidFill>
                <a:latin typeface="Inter"/>
              </a:rPr>
              <a:t>· bekend + plaats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163824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163824"/>
            <a:ext cx="32918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___ tres habitaciones.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31920" y="3163824"/>
            <a:ext cx="19659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Inter"/>
              </a:rPr>
              <a:t>hay </a:t>
            </a:r>
            <a:r>
              <a:rPr sz="1000" b="0" i="1">
                <a:solidFill>
                  <a:srgbClr val="1E9E74"/>
                </a:solidFill>
                <a:latin typeface="Inter"/>
              </a:rPr>
              <a:t>· número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554480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1554480"/>
            <a:ext cx="32918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Los baños ___ arriba.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46920" y="1554480"/>
            <a:ext cx="19659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Inter"/>
              </a:rPr>
              <a:t>están </a:t>
            </a:r>
            <a:r>
              <a:rPr sz="1000" b="0" i="1">
                <a:solidFill>
                  <a:srgbClr val="1E9E74"/>
                </a:solidFill>
                <a:latin typeface="Inter"/>
              </a:rPr>
              <a:t>· mv. bekend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2359152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2359152"/>
            <a:ext cx="32918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___ una plaza cerca.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46920" y="2359152"/>
            <a:ext cx="19659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Inter"/>
              </a:rPr>
              <a:t>hay </a:t>
            </a:r>
            <a:r>
              <a:rPr sz="1000" b="0" i="1">
                <a:solidFill>
                  <a:srgbClr val="1E9E74"/>
                </a:solidFill>
                <a:latin typeface="Inter"/>
              </a:rPr>
              <a:t>· una = nieuw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163824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3163824"/>
            <a:ext cx="32918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La farmacia ___ en la esquina.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46920" y="3163824"/>
            <a:ext cx="19659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Inter"/>
              </a:rPr>
              <a:t>está </a:t>
            </a:r>
            <a:r>
              <a:rPr sz="1000" b="0" i="1">
                <a:solidFill>
                  <a:srgbClr val="1E9E74"/>
                </a:solidFill>
                <a:latin typeface="Inter"/>
              </a:rPr>
              <a:t>· bekend + plaats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9" name="Rounded Rectangle 28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480560"/>
            <a:ext cx="11247120" cy="86868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E9E74"/>
                </a:solidFill>
                <a:latin typeface="Inter"/>
              </a:rPr>
              <a:t>hay =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iets nieuws (un/una/número) ·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está/están =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waar iets bekends (el/la) staat. Meervoud → están.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43525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U7 · MI CASA Y MI BARRIO   ·   C5 · A1 · La Ruta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§2 · GRAMÁTICA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¿Dónde está? — preposiciones de lugar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kaart → de betekenis verschijnt. de + el = del.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71600"/>
            <a:ext cx="112471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20242E"/>
                </a:solidFill>
                <a:latin typeface="Inter"/>
              </a:rPr>
              <a:t>El gato está… </a:t>
            </a:r>
            <a:r>
              <a:rPr sz="1400" b="1" i="0">
                <a:solidFill>
                  <a:srgbClr val="14B8A6"/>
                </a:solidFill>
                <a:latin typeface="Inter"/>
              </a:rPr>
              <a:t>encima de </a:t>
            </a:r>
            <a:r>
              <a:rPr sz="1400" b="1" i="0">
                <a:solidFill>
                  <a:srgbClr val="14B8A6"/>
                </a:solidFill>
                <a:latin typeface="Inter"/>
              </a:rPr>
              <a:t>· debajo de · al lado de · entre… </a:t>
            </a:r>
            <a:r>
              <a:rPr sz="1400" b="0" i="0">
                <a:solidFill>
                  <a:srgbClr val="20242E"/>
                </a:solidFill>
                <a:latin typeface="Inter"/>
              </a:rPr>
              <a:t>  (de + el = del)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11680"/>
            <a:ext cx="3566160" cy="9601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121408"/>
            <a:ext cx="3566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encima 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514600"/>
            <a:ext cx="3566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→ boven op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0" y="2011680"/>
            <a:ext cx="3566160" cy="9601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97680" y="2121408"/>
            <a:ext cx="3566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debajo 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2514600"/>
            <a:ext cx="3566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→ onder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6720" y="2011680"/>
            <a:ext cx="3566160" cy="9601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0" y="2121408"/>
            <a:ext cx="3566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al lado de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0" y="2514600"/>
            <a:ext cx="3566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→ naast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081528"/>
            <a:ext cx="3566160" cy="9601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3191256"/>
            <a:ext cx="3566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entre A y 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3584448"/>
            <a:ext cx="3566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→ tussen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97680" y="3081528"/>
            <a:ext cx="3566160" cy="9601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297680" y="3191256"/>
            <a:ext cx="3566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delante de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80" y="3584448"/>
            <a:ext cx="3566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→ vóór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46720" y="3081528"/>
            <a:ext cx="3566160" cy="9601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46720" y="3191256"/>
            <a:ext cx="3566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detrás de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46720" y="3584448"/>
            <a:ext cx="3566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→ achter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4151376"/>
            <a:ext cx="3566160" cy="9601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8640" y="4261104"/>
            <a:ext cx="3566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dentro de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4654296"/>
            <a:ext cx="3566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→ binnen in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297680" y="4151376"/>
            <a:ext cx="3566160" cy="9601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97680" y="4261104"/>
            <a:ext cx="3566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enfrente de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97680" y="4654296"/>
            <a:ext cx="3566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→ tegenover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046720" y="4151376"/>
            <a:ext cx="3566160" cy="9601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046720" y="4261104"/>
            <a:ext cx="3566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cerca de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46720" y="4654296"/>
            <a:ext cx="3566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→ dichtbij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9" name="Rounded Rectangle 38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57200" y="539496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🔴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de + el = del (al lado del parque). Bij «entre» géén «de»: entre la mesa y la silla. Vorm: está (ev.) / están (mv.).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94360" y="52669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43" name="Rectangle 4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U7 · MI CASA Y MI BARRIO   ·   C5 · A1 · La Ruta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87599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§2 · QUIZ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¿Qué preposición?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zin → de juiste preposición verschijnt.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35661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La lámpara está ___ la mesa (boven).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06239" y="1600200"/>
            <a:ext cx="16916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encima de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478024"/>
            <a:ext cx="35661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El gato está ___ la cama (onder).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06239" y="2478024"/>
            <a:ext cx="16916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debajo de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355848"/>
            <a:ext cx="35661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El banco está ___ la farmacia (naast).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06239" y="3355848"/>
            <a:ext cx="16916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al lado de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1600200"/>
            <a:ext cx="35661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El cine está ___ el banco y el parque.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921239" y="1600200"/>
            <a:ext cx="16916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entre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2478024"/>
            <a:ext cx="35661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El jardín está ___ la casa (achter).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21239" y="2478024"/>
            <a:ext cx="16916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detrás de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3355848"/>
            <a:ext cx="35661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El museo está ___ la iglesia (tegenover).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921239" y="3355848"/>
            <a:ext cx="16916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enfrente de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9" name="Rounded Rectangle 28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70916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Tegenstellingen: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encima ↔ debajo · delante ↔ detrás · cerca ↔ lejos · dentro ↔ fuera.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45811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U7 · MI CASA Y MI BARRIO   ·   C5 · A1 · La Ruta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380743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§2 · APLICACIÓN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plano del barrio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un edificio → dónde está. Aprende a decir la posición.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45920"/>
            <a:ext cx="553212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40080" y="1755648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🥖 La panadería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103120"/>
            <a:ext cx="516636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está en la esquina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645920"/>
            <a:ext cx="553212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55080" y="1755648"/>
            <a:ext cx="960119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🏦 El banco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5080" y="2103120"/>
            <a:ext cx="516636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está al lado de la farmacia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2724912"/>
            <a:ext cx="553212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0080" y="2834640"/>
            <a:ext cx="875995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🎬 El cine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3182112"/>
            <a:ext cx="516636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está entre el banco y el parque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2724912"/>
            <a:ext cx="553212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355080" y="2834640"/>
            <a:ext cx="1044244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🏛️ El museo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5080" y="3182112"/>
            <a:ext cx="516636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está enfrente de la iglesia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3803904"/>
            <a:ext cx="553212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40080" y="3913632"/>
            <a:ext cx="1044244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🌳 El parque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4261104"/>
            <a:ext cx="516636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está al final de la calle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803904"/>
            <a:ext cx="553212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355080" y="3913632"/>
            <a:ext cx="960119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⛲ La plaza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55080" y="4261104"/>
            <a:ext cx="516636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está en el centro del barrio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5074920"/>
            <a:ext cx="112471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B7860B"/>
                </a:solidFill>
                <a:latin typeface="Inter"/>
              </a:rPr>
              <a:t>🟡 Ordinales + apócope: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primero → el primer piso · tercero → el tercer piso (m. sing.).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0" name="Rounded Rectangle 29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5577840"/>
            <a:ext cx="11247120" cy="50292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Voor het adres: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la planta baja · el primer piso · el segundo piso… (calle Real, 3º).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94360" y="544982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U7 · MI CASA Y MI BARRIO   ·   C5 · A1 · La Ruta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8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05374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§5 · LEER · COMPRENSIÓN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Se alquila piso (anuncio)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Lees en beantwoord. Klik een vraag → het antwoord verschijnt.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08760"/>
            <a:ext cx="5120640" cy="3566160"/>
          </a:xfrm>
          <a:prstGeom prst="roundRect">
            <a:avLst>
              <a:gd name="adj" fmla="val 5500"/>
            </a:avLst>
          </a:prstGeom>
          <a:solidFill>
            <a:srgbClr val="E4F4EE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val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783080"/>
            <a:ext cx="1005840" cy="10058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920240" y="1828800"/>
            <a:ext cx="3474720" cy="1463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20242E"/>
                </a:solidFill>
                <a:latin typeface="Inter"/>
              </a:rPr>
              <a:t>«Bonito piso en el centro. Tercer piso con ascensor. Dos habitaciones, salón, cocina y baño. Terraza con vistas a la plaza. Cerca de la panadería y del parque. 600 € al mes.»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852160" y="1554480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89320" y="1609344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¿En qué piso está?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89320" y="1956816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Tercer piso (con ascensor)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852160" y="2450592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89320" y="2505456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¿Cuántas habitaciones?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89320" y="2852928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Dos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852160" y="3346704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89320" y="3401568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¿Qué hay en la terraza?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89320" y="3749040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Vistas a la plaza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852160" y="4242816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89320" y="4297680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¿Cuánto cuesta al mes?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89320" y="4645152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600 €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6" name="Rounded Rectangle 25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852160" y="5166360"/>
            <a:ext cx="5852160" cy="5486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🎯 Leesdoel: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scannen naar habitaciones, piso y precio — niet élk woord begrijpen.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989320" y="50383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U7 · MI CASA Y MI BARRIO   ·   C5 · A1 · La Ruta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1249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§1 · ESCUCHAR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barrio de Valen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un lugar → dónde está. (audio op de digitale pagina)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1737360"/>
            <a:ext cx="2697480" cy="45720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🔊  La plaza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33172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¿Dónde?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651760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0242E"/>
                </a:solidFill>
                <a:latin typeface="Inter"/>
              </a:rPr>
              <a:t>enfrente de la casa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20040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Detalle: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52044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E9E74"/>
                </a:solidFill>
                <a:latin typeface="Inter"/>
              </a:rPr>
              <a:t>con palmeras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2900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29000" y="1737360"/>
            <a:ext cx="2697480" cy="45720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2900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🔊  La panadería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66160" y="233172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¿Dónde?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0" y="2651760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0242E"/>
                </a:solidFill>
                <a:latin typeface="Inter"/>
              </a:rPr>
              <a:t>al lado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0" y="320040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Detalle: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66160" y="352044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E9E74"/>
                </a:solidFill>
                <a:latin typeface="Inter"/>
              </a:rPr>
              <a:t>pan fresco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792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17920" y="1737360"/>
            <a:ext cx="2697480" cy="45720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1792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🔊  El parque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55080" y="233172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¿Dónde?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55080" y="2651760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0242E"/>
                </a:solidFill>
                <a:latin typeface="Inter"/>
              </a:rPr>
              <a:t>cerca del mar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5080" y="320040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Detalle: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55080" y="352044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E9E74"/>
                </a:solidFill>
                <a:latin typeface="Inter"/>
              </a:rPr>
              <a:t>para pasear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00684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006840" y="1737360"/>
            <a:ext cx="2697480" cy="45720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0684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🔊  El supermercado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44000" y="233172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¿Dónde?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0" y="2651760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0242E"/>
                </a:solidFill>
                <a:latin typeface="Inter"/>
              </a:rPr>
              <a:t>en la esquina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44000" y="320040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Detalle: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44000" y="352044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E9E74"/>
                </a:solidFill>
                <a:latin typeface="Inter"/>
              </a:rPr>
              <a:t>para la compra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9" name="Rounded Rectangle 38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57200" y="4480560"/>
            <a:ext cx="11247120" cy="7772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Modelo-audio (docent leest of TTS):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«Enfrente de mi casa hay una plaza. La panadería está al lado y el parque está cerca del mar.» …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Daarna spreken: leerling beschrijft zelf zijn barrio.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94360" y="43525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43" name="Rectangle 4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U7 · MI CASA Y MI BARRIO   ·   C5 · A1 · La Ruta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10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§3 · GRAMÁTICA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Estar + gerundio — ¿qué pasa ahora?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kolomkop → de vormen. Fórmula: estar (presente) + -ando/-iendo.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71600"/>
            <a:ext cx="112471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20242E"/>
                </a:solidFill>
                <a:latin typeface="Inter"/>
              </a:rPr>
              <a:t>La fórmula: </a:t>
            </a:r>
            <a:r>
              <a:rPr sz="1400" b="1" i="0">
                <a:solidFill>
                  <a:srgbClr val="EA7317"/>
                </a:solidFill>
                <a:latin typeface="Inter"/>
              </a:rPr>
              <a:t>estar (estoy, estás, está…) </a:t>
            </a:r>
            <a:r>
              <a:rPr sz="1400" b="1" i="0">
                <a:solidFill>
                  <a:srgbClr val="1E9E74"/>
                </a:solidFill>
                <a:latin typeface="Inter"/>
              </a:rPr>
              <a:t>+ gerundio </a:t>
            </a:r>
            <a:r>
              <a:rPr sz="1400" b="0" i="0">
                <a:solidFill>
                  <a:srgbClr val="20242E"/>
                </a:solidFill>
                <a:latin typeface="Inter"/>
              </a:rPr>
              <a:t>   →   Estoy cocinando en la cocina.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463040" y="2011680"/>
            <a:ext cx="3108960" cy="10058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63040" y="2121408"/>
            <a:ext cx="310896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yo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450592"/>
            <a:ext cx="3108960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157355"/>
                </a:solidFill>
                <a:latin typeface="Bricolage Grotesque"/>
              </a:rPr>
              <a:t>estoy …ndo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846320" y="2011680"/>
            <a:ext cx="3108960" cy="10058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46320" y="2121408"/>
            <a:ext cx="310896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tú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46320" y="2450592"/>
            <a:ext cx="3108960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157355"/>
                </a:solidFill>
                <a:latin typeface="Bricolage Grotesque"/>
              </a:rPr>
              <a:t>estás …ndo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0" y="2011680"/>
            <a:ext cx="3108960" cy="10058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0" y="2121408"/>
            <a:ext cx="310896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él/ella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0" y="2450592"/>
            <a:ext cx="3108960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157355"/>
                </a:solidFill>
                <a:latin typeface="Bricolage Grotesque"/>
              </a:rPr>
              <a:t>está …ndo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463040" y="3246120"/>
            <a:ext cx="3108960" cy="10058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63040" y="3355848"/>
            <a:ext cx="310896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nosotros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63040" y="3685032"/>
            <a:ext cx="3108960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157355"/>
                </a:solidFill>
                <a:latin typeface="Bricolage Grotesque"/>
              </a:rPr>
              <a:t>estamos …ndo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846320" y="3246120"/>
            <a:ext cx="3108960" cy="10058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46320" y="3355848"/>
            <a:ext cx="310896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vosotros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46320" y="3685032"/>
            <a:ext cx="3108960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157355"/>
                </a:solidFill>
                <a:latin typeface="Bricolage Grotesque"/>
              </a:rPr>
              <a:t>estáis …ndo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29600" y="3246120"/>
            <a:ext cx="3108960" cy="10058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0" y="3355848"/>
            <a:ext cx="310896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ellos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0" y="3685032"/>
            <a:ext cx="3108960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157355"/>
                </a:solidFill>
                <a:latin typeface="Bricolage Grotesque"/>
              </a:rPr>
              <a:t>están …ndo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0" name="Rounded Rectangle 29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5120640"/>
            <a:ext cx="11247120" cy="68580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🔴 -ar → -ando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(cocinar → cocinando) · -er/-ir → -iendo (comer → comiendo, vivir → viviendo). Onregelmatig: leer → leyendo, dormir → durmiendo.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94360" y="499262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U7 · MI CASA Y MI BARRIO   ·   C5 · A1 · La Ruta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11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390241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§4 · SPEAKING · INTERACCIÓN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¡Explica el camino!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Speel de scène. Steun bouwt af: kaarten → beginwoorden → uit het hoofd.</a:t>
            </a:r>
          </a:p>
        </p:txBody>
      </p:sp>
      <p:pic>
        <p:nvPicPr>
          <p:cNvPr id="9" name="Picture 8" descr="t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0" y="1554480"/>
            <a:ext cx="1188720" cy="118872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457200" y="1645920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691640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Preguntar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975104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¿Cómo se va a…?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542032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2587752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Salir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2871216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Sal de casa.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438144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3483864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Seguir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3767328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Sigue todo recto.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749040" y="1645920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86200" y="1691640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Girar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86200" y="1975104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Gira a la derecha.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749040" y="2542032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886200" y="2587752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Cruzar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86200" y="2871216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Cruza el semáforo.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749040" y="3438144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886200" y="3483864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Llegar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86200" y="3767328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Está a la izquierda.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4572000"/>
            <a:ext cx="960120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Ronda 1: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met de kaarten.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Ronda 2: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alleen beginwoorden.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Ronda 3: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uit het hoofd, andere ruta.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Ronda 4: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grábate en de digitale pagina.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4251960"/>
            <a:ext cx="4745736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🎙️ Grábate online · «Mensaje de voz: explica el camino»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2" name="Rounded Rectangle 31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57200" y="5120640"/>
            <a:ext cx="11247120" cy="59436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Modelo: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«Perdona, ¿cómo se va a la plaza? — Sigue todo recto, gira a la derecha y cruza el semáforo. Está al final.»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94360" y="499262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U7 · MI CASA Y MI BARRIO   ·   C5 · A1 · La Ruta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12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0136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WRITING · PRODUCCIÓN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Mi barrio (descripción)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Beschrijf je buurt. Klik → een modeltekst verschijnt.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5486400" cy="35661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691640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✍️ Escribe aquí sobre tu barrio: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1945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6517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31089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35661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40233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44805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0" y="15544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Checklist: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20116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¿qué hay? (hay una plaza…)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242316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¿dónde está? (está al lado de…)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83464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2 preposiciones de lugar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24612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¿cómo se llega? (imperativo)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365760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un mueble / edificio típico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40690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¿qué está pasando ahora?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09360" y="3977639"/>
            <a:ext cx="5486400" cy="1143000"/>
          </a:xfrm>
          <a:prstGeom prst="roundRect">
            <a:avLst>
              <a:gd name="adj" fmla="val 5500"/>
            </a:avLst>
          </a:prstGeom>
          <a:solidFill>
            <a:srgbClr val="E4F4EE"/>
          </a:solidFill>
          <a:ln w="1524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46520" y="4023360"/>
            <a:ext cx="521208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Modelo: </a:t>
            </a:r>
            <a:r>
              <a:rPr sz="1200" b="0" i="1">
                <a:solidFill>
                  <a:srgbClr val="20242E"/>
                </a:solidFill>
                <a:latin typeface="Inter"/>
              </a:rPr>
              <a:t>«En mi barrio hay una plaza. La panadería está al lado y el parque está enfrente. Para llegar, sigue todo recto. Ahora la gente está paseando.»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8" name="Rounded Rectangle 27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U7 · MI CASA Y MI BARRIO   ·   C5 · A1 · La Ruta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13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221991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§1 · VOCABULARIO · BARRIO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Muebles y edificios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woord → de vertaling verschijnt. Bouw je woordnetwerk.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1554480"/>
            <a:ext cx="14630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el sofá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0" y="1554480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1E9E74"/>
                </a:solidFill>
                <a:latin typeface="Inter"/>
              </a:rPr>
              <a:t>→ bank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9184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01568" y="1554480"/>
            <a:ext cx="14630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la cama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46320" y="1554480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1E9E74"/>
                </a:solidFill>
                <a:latin typeface="Inter"/>
              </a:rPr>
              <a:t>→ bed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2648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36208" y="1554480"/>
            <a:ext cx="14630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el armario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0" y="1554480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1E9E74"/>
                </a:solidFill>
                <a:latin typeface="Inter"/>
              </a:rPr>
              <a:t>→ kast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6112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70848" y="1554480"/>
            <a:ext cx="14630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la nevera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0" y="1554480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1E9E74"/>
                </a:solidFill>
                <a:latin typeface="Inter"/>
              </a:rPr>
              <a:t>→ koelkast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6928" y="2322576"/>
            <a:ext cx="14630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la panadería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11680" y="2322576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1E9E74"/>
                </a:solidFill>
                <a:latin typeface="Inter"/>
              </a:rPr>
              <a:t>→ bakkerij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9184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01568" y="2322576"/>
            <a:ext cx="14630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la farmacia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46320" y="2322576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1E9E74"/>
                </a:solidFill>
                <a:latin typeface="Inter"/>
              </a:rPr>
              <a:t>→ apotheek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2648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36208" y="2322576"/>
            <a:ext cx="14630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el banco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80960" y="2322576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1E9E74"/>
                </a:solidFill>
                <a:latin typeface="Inter"/>
              </a:rPr>
              <a:t>→ bank (geld)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96112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070848" y="2322576"/>
            <a:ext cx="14630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el parque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15600" y="2322576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1E9E74"/>
                </a:solidFill>
                <a:latin typeface="Inter"/>
              </a:rPr>
              <a:t>→ park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66928" y="3090672"/>
            <a:ext cx="14630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la estación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011680" y="3090672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1E9E74"/>
                </a:solidFill>
                <a:latin typeface="Inter"/>
              </a:rPr>
              <a:t>→ station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29184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401568" y="3090672"/>
            <a:ext cx="14630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el autobús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846320" y="3090672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1E9E74"/>
                </a:solidFill>
                <a:latin typeface="Inter"/>
              </a:rPr>
              <a:t>→ bus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12648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36208" y="3090672"/>
            <a:ext cx="14630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el metro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680960" y="3090672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1E9E74"/>
                </a:solidFill>
                <a:latin typeface="Inter"/>
              </a:rPr>
              <a:t>→ metro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96112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070848" y="3090672"/>
            <a:ext cx="14630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la bicicleta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515600" y="3090672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1E9E74"/>
                </a:solidFill>
                <a:latin typeface="Inter"/>
              </a:rPr>
              <a:t>→ fiets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47" name="Rounded Rectangle 46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57200" y="4572000"/>
            <a:ext cx="11247120" cy="82296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Combineer met preposición: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el sofá está al lado de la ventana · la panadería está enfrente del banco.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Transporte: en autobús · en metro · en bici · a pie. Direcciones: a la derecha / izquierda · todo recto.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94360" y="444398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51" name="Rectangle 5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U7 · MI CASA Y MI BARRIO   ·   C5 · A1 · La Ruta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TALLER DE LENGUA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Conectores de lugar + ortografía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item → correcte vorm. Gereedschap voor de ruta en spelling.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71600"/>
            <a:ext cx="54864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A · conectores de lugar: todo recto · a la derecha · al final de…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783080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1783080"/>
            <a:ext cx="31089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Sigue ___ (rechtdoor)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39" y="1783080"/>
            <a:ext cx="21031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57355"/>
                </a:solidFill>
                <a:latin typeface="Inter"/>
              </a:rPr>
              <a:t>→ todo recto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441448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2441448"/>
            <a:ext cx="31089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Gira ___ (rechts)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49039" y="2441448"/>
            <a:ext cx="21031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57355"/>
                </a:solidFill>
                <a:latin typeface="Inter"/>
              </a:rPr>
              <a:t>→ a la derecha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099816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3099816"/>
            <a:ext cx="31089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La plaza está ___ (aan het eind)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49039" y="3099816"/>
            <a:ext cx="21031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57355"/>
                </a:solidFill>
                <a:latin typeface="Inter"/>
              </a:rPr>
              <a:t>→ al final de la calle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3758184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3758184"/>
            <a:ext cx="31089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El museo está ___ (tegenover)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49039" y="3758184"/>
            <a:ext cx="21031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57355"/>
                </a:solidFill>
                <a:latin typeface="Inter"/>
              </a:rPr>
              <a:t>→ enfrente de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1371600"/>
            <a:ext cx="54864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B · ortografía: ¿diptongo o hiato?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09360" y="1783080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19088" y="1783080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panaderia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69680" y="1783080"/>
            <a:ext cx="27432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panadería </a:t>
            </a:r>
            <a:r>
              <a:rPr sz="900" b="0" i="1">
                <a:solidFill>
                  <a:srgbClr val="6A6E78"/>
                </a:solidFill>
                <a:latin typeface="Inter"/>
              </a:rPr>
              <a:t>· hiato: tilde op í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09360" y="2441448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19088" y="2441448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puerta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69680" y="2441448"/>
            <a:ext cx="27432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puerta </a:t>
            </a:r>
            <a:r>
              <a:rPr sz="900" b="0" i="1">
                <a:solidFill>
                  <a:srgbClr val="6A6E78"/>
                </a:solidFill>
                <a:latin typeface="Inter"/>
              </a:rPr>
              <a:t>· diptongo (ue)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309360" y="3099816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19088" y="3099816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pais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69680" y="3099816"/>
            <a:ext cx="27432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país </a:t>
            </a:r>
            <a:r>
              <a:rPr sz="900" b="0" i="1">
                <a:solidFill>
                  <a:srgbClr val="6A6E78"/>
                </a:solidFill>
                <a:latin typeface="Inter"/>
              </a:rPr>
              <a:t>· hiato: tilde op í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09360" y="3758184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19088" y="3758184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dia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869680" y="3758184"/>
            <a:ext cx="27432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día </a:t>
            </a:r>
            <a:r>
              <a:rPr sz="900" b="0" i="1">
                <a:solidFill>
                  <a:srgbClr val="6A6E78"/>
                </a:solidFill>
                <a:latin typeface="Inter"/>
              </a:rPr>
              <a:t>· hiato: tilde op í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7" name="Rounded Rectangle 36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57200" y="4572000"/>
            <a:ext cx="11247120" cy="7772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A: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conectores de lugar structureren de rondleiding (todo recto → a la derecha → al final de).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🔴 B: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hiato = tilde op í/ú breekt de tweeklank: panadería, día, país. Diptongo = twee klinkers samen: puerta, bueno.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94360" y="444398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U7 · MI CASA Y MI BARRIO   ·   C5 · A1 · La Ruta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63311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CULTURA · PARADA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La plaza y el barrio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kaart → het weetje verschijnt. La plaza es el corazón del barrio.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370332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554480"/>
            <a:ext cx="3703320" cy="54864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554480"/>
            <a:ext cx="3429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🏛️ La plaza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286000"/>
            <a:ext cx="3337560" cy="17373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El centro del barrio: hay bancos, árboles y una iglesia. Por la tarde la gente está paseando y charlando. En Cartagena, la Plaza de los Coches es famosa.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069080"/>
            <a:ext cx="3337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La plaza = de ontmoetingsplek.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79392" y="1554480"/>
            <a:ext cx="370332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79392" y="1554480"/>
            <a:ext cx="3703320" cy="54864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16552" y="1554480"/>
            <a:ext cx="3429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🏘️ Casas de colores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62272" y="2286000"/>
            <a:ext cx="3337560" cy="17373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Cartagena tiene un casco histórico con casas de colores y balcones con flores. Las murallas protegen la ciudad frente al mar Caribe. Barrio Getsemaní = arte y color.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62272" y="4069080"/>
            <a:ext cx="3337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Color, música y arte.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01584" y="1554480"/>
            <a:ext cx="370332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01584" y="1554480"/>
            <a:ext cx="3703320" cy="54864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8744" y="1554480"/>
            <a:ext cx="3429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🌎 ¿Cómo se vive?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84464" y="2286000"/>
            <a:ext cx="3337560" cy="17373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En España: un piso. En América: un apartamento. Con jardín: chalet (ES) o casa (AM). En el adres: la planta baja, el primer piso…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84464" y="4069080"/>
            <a:ext cx="3337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piso 🇪🇸 ↔ apartamento 🌎.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6" name="Rounded Rectangle 25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489204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Actividad: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schrijf 3 zinnen over een plein of buurt bij jou (¿qué hay? ¿dónde está? ¿qué haces ahí?).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94360" y="476402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U7 · MI CASA Y MI BARRIO   ·   C5 · A1 · La Ruta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05374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§4 · QUIZ · INTERACCIÓN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camino: completa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Wat past? Klik → het antwoord verschijnt.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338328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___ todo recto. (seguir)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60" y="1600200"/>
            <a:ext cx="18288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Sigue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478024"/>
            <a:ext cx="338328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___ a la derecha. (girar)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60" y="2478024"/>
            <a:ext cx="18288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Gira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355848"/>
            <a:ext cx="338328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___ la calle. (cruzar)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23360" y="3355848"/>
            <a:ext cx="18288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Cruza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1600200"/>
            <a:ext cx="338328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Vivo en el ___ piso. (1º)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38360" y="1600200"/>
            <a:ext cx="18288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primer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2478024"/>
            <a:ext cx="338328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El baño está ___ pasillo (aan 't eind).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38360" y="2478024"/>
            <a:ext cx="18288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al final del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3355848"/>
            <a:ext cx="338328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La farmacia está ___ (op de hoek).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38360" y="3355848"/>
            <a:ext cx="18288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en la esquina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9" name="Rounded Rectangle 28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70916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Imperativo (tú):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-ar → -a (gira, cruza) · -er/-ir → -e (sube, sigue). ir → ve. Apócope: primer/tercer piso.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45811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U7 · MI CASA Y MI BARRIO   ·   C5 · A1 · La Ruta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8229600" cy="9144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FFFFFF"/>
                </a:solidFill>
                <a:latin typeface="Bricolage Grotesque"/>
              </a:rPr>
              <a:t>🏘️ Tarea final · Mi barrio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1">
                <a:solidFill>
                  <a:srgbClr val="E4F4EE"/>
                </a:solidFill>
                <a:latin typeface="Inter"/>
              </a:rPr>
              <a:t>Maak el plano de tu barrio y da una visita guiada — di qué hay, dónde está y cómo llegar.</a:t>
            </a:r>
          </a:p>
        </p:txBody>
      </p:sp>
      <p:pic>
        <p:nvPicPr>
          <p:cNvPr id="5" name="Picture 4" descr="mochi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182880"/>
            <a:ext cx="914400" cy="9144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57200" y="155448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1554480"/>
            <a:ext cx="38404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Dibuja el plano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0" y="1554480"/>
            <a:ext cx="65836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calles, plaza, tiendas, tu casa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2140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121408"/>
            <a:ext cx="38404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Escribe 5 frases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0" y="2121408"/>
            <a:ext cx="65836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qué hay + dónde está (preposiciones)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688336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2688336"/>
            <a:ext cx="38404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Escribe el camino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0" y="2688336"/>
            <a:ext cx="65836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 tu casa a la plaza (imperativo)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255264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3255264"/>
            <a:ext cx="38404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Da la visita guiada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0" y="3255264"/>
            <a:ext cx="65836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en pareja (of neem audio op)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822192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3822192"/>
            <a:ext cx="38404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Responde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0" y="3822192"/>
            <a:ext cx="65836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«¿Dónde está la farmacia?»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4572000"/>
            <a:ext cx="109728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Rúbrica · ¿lo logré?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983480"/>
            <a:ext cx="274320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☐ 5+ lugares con nombre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291840" y="4983480"/>
            <a:ext cx="274320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☐ hay + está/están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26480" y="4983480"/>
            <a:ext cx="274320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☐ preposiciones de lugar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61120" y="4983480"/>
            <a:ext cx="274320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☐ el camino (imperativo)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5532120"/>
            <a:ext cx="10972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🎯 </a:t>
            </a:r>
            <a:r>
              <a:rPr sz="1150" b="0" i="1">
                <a:solidFill>
                  <a:srgbClr val="6A6E78"/>
                </a:solidFill>
                <a:latin typeface="Inter"/>
              </a:rPr>
              <a:t>Afzender jij (de gids) · ontvanger een bezoeker · doel je buurt voorstellen &amp; de weg uitleggen · situatie un paseo por el barrio · resultaat: plano + gespeelde rondleiding.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U7 · MI CASA Y MI BARRIO   ·   C5 · A1 · La Ruta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QUIZ · LA MEZCLA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Ophaal door elkaar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Gemengde ophaal van de hele unit. Klik een vraag → het antwoord. (retrieval)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3291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En el salón ___ un sofá.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86200" y="1600200"/>
            <a:ext cx="19659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57355"/>
                </a:solidFill>
                <a:latin typeface="Inter"/>
              </a:rPr>
              <a:t>→ hay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313432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313432"/>
            <a:ext cx="3291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El sofá ___ al lado.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86200" y="2313432"/>
            <a:ext cx="19659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57355"/>
                </a:solidFill>
                <a:latin typeface="Inter"/>
              </a:rPr>
              <a:t>→ está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026664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026664"/>
            <a:ext cx="3291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estar+ger, yo → cocinar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86200" y="3026664"/>
            <a:ext cx="19659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57355"/>
                </a:solidFill>
                <a:latin typeface="Inter"/>
              </a:rPr>
              <a:t>→ estoy cocinando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739896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3739896"/>
            <a:ext cx="3291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gira, ¿infinitivo?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86200" y="3739896"/>
            <a:ext cx="19659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57355"/>
                </a:solidFill>
                <a:latin typeface="Inter"/>
              </a:rPr>
              <a:t>→ girar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1600200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1600200"/>
            <a:ext cx="3291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el ___ piso (1º)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0" y="1600200"/>
            <a:ext cx="19659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57355"/>
                </a:solidFill>
                <a:latin typeface="Inter"/>
              </a:rPr>
              <a:t>→ primer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2313432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2313432"/>
            <a:ext cx="3291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La lámpara está ___ la mesa (boven).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0" y="2313432"/>
            <a:ext cx="19659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57355"/>
                </a:solidFill>
                <a:latin typeface="Inter"/>
              </a:rPr>
              <a:t>→ encima de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72200" y="3026664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0" y="3026664"/>
            <a:ext cx="3291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Los baños ___ arriba.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01200" y="3026664"/>
            <a:ext cx="19659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57355"/>
                </a:solidFill>
                <a:latin typeface="Inter"/>
              </a:rPr>
              <a:t>→ están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72200" y="3739896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9360" y="3739896"/>
            <a:ext cx="3291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sigue, ¿infinitivo?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01200" y="3739896"/>
            <a:ext cx="19659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57355"/>
                </a:solidFill>
                <a:latin typeface="Inter"/>
              </a:rPr>
              <a:t>→ seguir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5" name="Rounded Rectangle 34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4617720"/>
            <a:ext cx="11247120" cy="50292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Alles komt terug: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hay/estar · preposiciones · estar + gerundio · imperativo · ordinales.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94360" y="448970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U7 · MI CASA Y MI BARRIO   ·   C5 · A1 · La Ruta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0136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REPASO · LO ESENCIAL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Lo esencial de un vistazo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De volledige herhaling (20 spellen, drills) staat online. Hier: de kern + semáforo.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63040"/>
            <a:ext cx="11247120" cy="2286000"/>
          </a:xfrm>
          <a:prstGeom prst="roundRect">
            <a:avLst>
              <a:gd name="adj" fmla="val 5500"/>
            </a:avLst>
          </a:prstGeom>
          <a:solidFill>
            <a:srgbClr val="F3EEE4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645920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Hay / estar: hay + un/una/número (nieuw) · el/la … está/están + plaats (bekend). Nooit «hay el/la».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066544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Preposiciones: encima/debajo/al lado/entre/delante/detrás/dentro/enfrente de (de + el = del).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487168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Estar + gerundio: estoy/estás/está… + -ando (-ar) / -iendo (-er/-ir): «Estoy cocinando».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907792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Imperativo (el camino): gira · sigue · cruza · toma · ve (ir). -ar→-a · -er/-ir→-e.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328416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🔴 Trampas: niet «hay el parque» · de+el=del · estoy comiendo · el primer piso · hiato panadería.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931920"/>
            <a:ext cx="109728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Semáforo — ¿cómo lo llevas?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343400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la casa beschrijven (habitaciones/muebles)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0" y="4370832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686800" y="4370832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058400" y="4370832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E9E74"/>
                </a:solidFill>
                <a:latin typeface="Inter"/>
              </a:rPr>
              <a:t>🟢 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4727448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hay/estar juist gebruiken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0" y="475488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686800" y="475488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058400" y="475488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E9E74"/>
                </a:solidFill>
                <a:latin typeface="Inter"/>
              </a:rPr>
              <a:t>🟢 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5111496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preposiciones de lugar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0" y="5138928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686800" y="5138928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058400" y="5138928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E9E74"/>
                </a:solidFill>
                <a:latin typeface="Inter"/>
              </a:rPr>
              <a:t>🟢 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5495544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estar + gerundio (nu)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315200" y="5522976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686800" y="5522976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058400" y="5522976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E9E74"/>
                </a:solidFill>
                <a:latin typeface="Inter"/>
              </a:rPr>
              <a:t>🟢 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5879592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el camino (imperativo)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315200" y="5907024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686800" y="5907024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058400" y="5907024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E9E74"/>
                </a:solidFill>
                <a:latin typeface="Inter"/>
              </a:rPr>
              <a:t>🟢 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U7 · MI CASA Y MI BARRIO   ·   C5 · A1 · La Ruta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