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U2 = la casa y el barrio. Kerngrammatica: hay vs estar + preposiciones de lugar, estar + gerundio, OD-pronomina lo/la/los/las. Parada 2 = Cartagena (Valen). Kernvalstrikken: hay (onbepaald) ≠ está (bepaald) · de+el=del · lo/la vóór het werkwoord + concordancia.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⌂ Menú terug op elke oefendia. Richttijd 50 min. Kern = §2 hay/estar + §3 gerundio + §4 lo/la.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casa-woorden raden zónder gloss. Koppel habitación → mueble. Online: memoria de la casa (memory) + mueble↔habitación (match).</a:t>
            </a:r>
          </a:p>
          <a:p/>
          <a:p>
            <a:r>
              <a:t>— SOLUCIÓN (docent · presenter view) —</a:t>
            </a:r>
          </a:p>
          <a:p>
            <a:r>
              <a:t>En cada habitación hay muebles: en el dormitorio hay una cama; en el salón, un sofá.</a:t>
            </a:r>
          </a:p>
          <a:p>
            <a:r>
              <a:t>🔴 el sofá (m ondanks -á) · la mano, la foto (v ondanks -o).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hay/estar. Toon het contrast: eerst «hay un…», dan «el… está…». Online: ¿hay o está(n)? (classify).</a:t>
            </a:r>
          </a:p>
          <a:p/>
          <a:p>
            <a:r>
              <a:t>— SOLUCIÓN (docent · presenter view) —</a:t>
            </a:r>
          </a:p>
          <a:p>
            <a:r>
              <a:t>Regla: onbepaald (un/dos/mucho) → hay · bepaald (el/la/mi) → está(n). Hay un parque → El parque está cerca.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hay/estar (retrieval). Klas roept hay/está vóór de klik. Online: ¿hay o está(n)? (classify).</a:t>
            </a:r>
          </a:p>
          <a:p/>
          <a:p>
            <a:r>
              <a:t>— SOLUCIÓN (docent · presenter view) —</a:t>
            </a:r>
          </a:p>
          <a:p>
            <a:r>
              <a:t>Truc: un/una/dos/mucho → hay · el/la/los/las/mi → está(n).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preposiciones. Toon ze fysiek met objecten in de klas. Online: completa la preposición + señala en el plano.</a:t>
            </a:r>
          </a:p>
          <a:p/>
          <a:p>
            <a:r>
              <a:t>— SOLUCIÓN (docent · presenter view) —</a:t>
            </a:r>
          </a:p>
          <a:p>
            <a:r>
              <a:t>La habitación: La cama está al lado de la ventana. Los libros están encima de la estantería.</a:t>
            </a:r>
          </a:p>
          <a:p>
            <a:r>
              <a:t>🔴 de + el = del: al lado del banco (niet «de el»). Bij la/los/las blijft de: al lado de la plaza.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gerundio. Maak raíz+uitgang zichtbaar. Online: completa: estar + gerundio (cloze) + ¿-ando o -iendo? (classify).</a:t>
            </a:r>
          </a:p>
          <a:p/>
          <a:p>
            <a:r>
              <a:t>— SOLUCIÓN (docent · presenter view) —</a:t>
            </a:r>
          </a:p>
          <a:p>
            <a:r>
              <a:t>Regla: estar (vervoegd) + gerundio. Enkel estar verandert: estoy/estás/está… comiendo.</a:t>
            </a:r>
          </a:p>
          <a:p>
            <a:r>
              <a:t>Onregelmatig: leer→leyendo · dormir→durmiendo · pedir→pidiendo · decir→diciendo.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gerundio (reveal). Coro vóór de klik. Online: cloze estar + gerundio.</a:t>
            </a:r>
          </a:p>
          <a:p/>
          <a:p>
            <a:r>
              <a:t>— SOLUCIÓN (docent · presenter view) —</a:t>
            </a:r>
          </a:p>
          <a:p>
            <a:r>
              <a:t>Enkel estar verandert: estoy/estás/está/estamos/estáis/están + gerundio.</a:t>
            </a:r>
          </a:p>
          <a:p>
            <a:r>
              <a:t>Irregulares: leyendo · durmiendo · pidiendo.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leerlingen vergelijken met hun eigen barrio (hay/está + porque).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hay/está + lugares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de ruta voor (of TTS); klas volgt op een plano. Daarna info-gap in parejas. Online: ¿cómo llego? (audio + plano).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«Sal de casa, sigue recto hasta el semáforo, gira a la derecha y la plaza está a la izquierda.» </a:t>
            </a:r>
          </a:p>
          <a:p>
            <a:r>
              <a:t>Daarna: A vraagt de weg, B geeft die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OD-pron. Toon doorhalen &amp; vervangen. Online: completa lo/la (cloze) + lo/la Tetris.</a:t>
            </a:r>
          </a:p>
          <a:p/>
          <a:p>
            <a:r>
              <a:t>— SOLUCIÓN (docent · presenter view) —</a:t>
            </a:r>
          </a:p>
          <a:p>
            <a:r>
              <a:t>Regla: het pronomen komt overeen (m/v·ev/mv) en staat vóór het vervoegde werkwoord. </a:t>
            </a:r>
          </a:p>
          <a:p>
            <a:r>
              <a:t>Bij infinitief/gerundio ook achteraan: Voy a comprarlo = Lo voy a comprar · Estoy leyéndolo.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lo/la (retrieval). Klas roept het pronomen vóór de klik. Online: lo/la Tetris.</a:t>
            </a:r>
          </a:p>
          <a:p/>
          <a:p>
            <a:r>
              <a:t>— SOLUCIÓN (docent · presenter view) —</a:t>
            </a:r>
          </a:p>
          <a:p>
            <a:r>
              <a:t>Concordancia: el→lo · la→la · los→los · las→las. Plaats: vóór het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habitación + direcciones).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«En mi cuarto hay una cama y un armario. La cama está al lado de la ventana. Para ir a la plaza, sigue recto y gira a la derecha.»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hay/está, preposiciones (del/de la), una ruta, una opinión. Voedt de Tarea «Mapa de mi barrio».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barrio. Klik onthult; koppel lugar → función. Online: lugar↔función (match) + memoria del barrio.</a:t>
            </a:r>
          </a:p>
          <a:p/>
          <a:p>
            <a:r>
              <a:t>— SOLUCIÓN (docent · presenter view) —</a:t>
            </a:r>
          </a:p>
          <a:p>
            <a:r>
              <a:t>Direcciones: ¿Cómo llego a…? → sigue recto · gira a la derecha/izquierda · cruza · está a … minutos.</a:t>
            </a:r>
          </a:p>
          <a:p>
            <a:r>
              <a:t>Lugares: la plaza, el parque, la tienda, la farmacia, la parada, la estación, el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b/v-spelling (uit het hoofd) + aquí/ahí/allí.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b en v klinken gelijk (≈ b); de spelling leer je uit het hoofd: ventana, vivir, barrio, balcón.</a:t>
            </a:r>
          </a:p>
          <a:p>
            <a:r>
              <a:t>B: aquí (hier) · ahí (bij jou) · allí/allá (ver).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Bruggetje: La Ruta parada 2 = Cartagena (★). Online: klik op Colombia op de kaart.</a:t>
            </a:r>
          </a:p>
          <a:p/>
          <a:p>
            <a:r>
              <a:t>— SOLUCIÓN (docent · presenter view) —</a:t>
            </a:r>
          </a:p>
          <a:p>
            <a:r>
              <a:t>Actividad: compara tu casa/barrio con un patio o un balcón hispano. ¿Qué hay? ¿Qué es diferente?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hay/estar + preposiciones · estar + gerundio · lo/la/los/las · direcciones.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U3 «Conectados» — media, ir a + inf., le/les.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Airbnb honesto — ✍️ creatieve beperking</a:t>
            </a:r>
          </a:p>
          <a:p>
            <a:r>
              <a:t>OPDRACHT: Schrijf de advertentie met de zes gebreken erin, en zonder te liegen.</a:t>
            </a:r>
          </a:p>
          <a:p>
            <a:r>
              <a:t>DE REGEL: Alle zes de gebreken staan erin, letterlijk. Je mag ze omkaderen maar niet weglaten, en je mag niets verzinnen dat er niet is.</a:t>
            </a:r>
          </a:p>
          <a:p>
            <a:r>
              <a:t>VERLOOP: Leed el piso y sus seis defectos. | Buscad para cada defecto su lado bueno. | Escribid el anuncio: ocho frases. | La clase vota: ¿lo alquilan o no?</a:t>
            </a:r>
          </a:p>
          <a:p>
            <a:r>
              <a:t>SLEUTEL: De opdracht traint precies wat het leerplan «functioneel taalgebruik» noemt: dezelfde waarheid anders kaderen zonder te liegen. «No hay ascensor» wordt «un cuarto piso sin ascensor: subes las escaleras y ya has hecho deporte».  ||  «Aunque» en «así que» zijn de twee conectoren die het werk doen. Wie er geen enkele gebruikt, heeft een lijst geschreven, geen advertentie.  ||  De stemming aan het eind is de toets: als niemand het zou huren, is het te eerlijk geworden; als iedereen het zou huren, is er iets weggemoffeld. Kijk na welk gebrek.</a:t>
            </a:r>
          </a:p>
          <a:p>
            <a:r>
              <a:t>NOTA: Vergelijk met een echte advertentie op het scherm. De klas ziet meteen welke gebreken daar níet in staan — en dat is het beste gesprek van de les.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5 · Reforma con 500 € — ⚖️ onderhandeling &amp; dilemma</a:t>
            </a:r>
          </a:p>
          <a:p>
            <a:r>
              <a:t>OPDRACHT: Beslis wat jullie kopen en zeg exact waar elk ding komt.</a:t>
            </a:r>
          </a:p>
          <a:p>
            <a:r>
              <a:t>DE REGEL: Vijfhonderd euro, geen cent meer. En elke aankoop wordt verdedigd met een plaatsbepaling: «la estantería, encima del escritorio, porque…». Zonder plaats telt het voorstel niet.</a:t>
            </a:r>
          </a:p>
          <a:p>
            <a:r>
              <a:t>VERLOOP: Mirad la habitación y la lista de precios. | Cada uno propone dos cosas, con su sitio. | Negociad hasta los 500 €. | Presentad la habitación nueva a la clase.</a:t>
            </a:r>
          </a:p>
          <a:p>
            <a:r>
              <a:t>SLEUTEL: De kamer is twaalf vierkante meter: de kast van 150 € vreet bijna een derde van het budget én de ruimte. Elke groep botst op die keuze.  ||  De plaatsbepaling is de taalopdracht; het budget is alleen de motor. Toets of elk voorstel een voorzetsel bevat.  ||  De vorm die op de tong ligt («yo pondría») is condicional en hoort niet in dit leerplan. Het marco geeft daarom «yo pongo»; «propongo poner» werkt even goed.</a:t>
            </a:r>
          </a:p>
          <a:p>
            <a:r>
              <a:t>NOTA: Werk met echte prijzen van een echte winkel als je die bij de hand hebt. Het verschil in ernst is meteen hoorbaar.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9 · Tour de 40 segundos — 📻 mediaformat</a:t>
            </a:r>
          </a:p>
          <a:p>
            <a:r>
              <a:t>OPDRACHT: Doe de rondgang al pratend: zes voorzetsels en drie gerundio's, zonder te stoppen.</a:t>
            </a:r>
          </a:p>
          <a:p>
            <a:r>
              <a:t>DE REGEL: Eén doorlopende take van veertig seconden. Stoppen mag niet, herbeginnen wel — maar dan vanaf nul. Zes verschillende voorzetsels en drie gerundio's.</a:t>
            </a:r>
          </a:p>
          <a:p>
            <a:r>
              <a:t>VERLOOP: Planifica la ruta: de la puerta al último sitio. | Escribe las seis preposiciones que vas a usar. | Graba de una vez, sin cortes. | ¿Cuarenta segundos? ¿Seis y tres? Si no, otra vez.</a:t>
            </a:r>
          </a:p>
          <a:p>
            <a:r>
              <a:t>SLEUTEL: De combinatie is de moeilijkheid: gerundio's om de beweging te dragen («pasando», «subiendo») en voorzetsels om de plaatsen vast te zetten. In één take betekent dat vooruit denken terwijl je praat.  ||  Veertig seconden is bewust krap: het dwingt tot een route in plaats van een opsomming.  ||  Wie zijn eigen huis niet wil filmen, doet de school, een verzonnen huis of alleen de audio. Beoordeeld wordt de taal, niet het beeld.</a:t>
            </a:r>
          </a:p>
          <a:p>
            <a:r>
              <a:t>NOTA: Zonder camera werkt het even goed: ogen dicht en de rondgang alleen in woorden. Sommige leerlingen leveren dan hun beste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0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CARTAGENA 🇨🇴 · AQUÍ VIVO 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Aquí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casa y tu barrio: hay/estar + preposiciones · estar + gerundio · lo/la/los/las.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¿Dónde vives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Waar woon jij?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2: Cartagena (Valen)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«Mapa de mi barrio»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habitaciones · muebles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preposiciones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 + -ando/-iendo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 /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los/las (OD)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barrio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cómo llegar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10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barrio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vivienda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🗺️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ruta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—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dormitorio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slaapkamer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cama, el armario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salón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woonkamer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sofá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nevera, la mesa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baño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badkamer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espejo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sofá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zetel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salón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armario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ropa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nevera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koelkast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cocina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dormitorio, el salón, el sofá (m) · la cocina, la cama, la nevera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 cada habitación hay muebles: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 el dormitorio hay una cama; en el salón, un sofá.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el sofá (m ondanks -á) · la mano, la foto (v ondanks -o).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 estar — ¿qué y dónde?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hay = er is (onbepaald) · está(n) = staat (bepaald).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En el salón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hay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un sofá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Inter"/>
              </a:rPr>
              <a:t>El sofá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delante de la tele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un/una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onbepaald: hay un parque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dos/mucho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hay dos baños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= invariable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verandert nooit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 + el/la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bepaald: el parque está…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están + los/las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🔴 hay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un parque / el parque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onbepaald (un/dos/mucho) → hay · bepaald (el/la/mi) → está(n). Hay un parque → El parque está cerca.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 o está(n)?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het lidwoord.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delante de la tele.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mi barrio ___ dos parques.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parques ___ cerca.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¿___ una farmacia cerca?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un/una/dos/mucho → hay · el/la/los/las/mi → está(n).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preposición. Casi todas met «de» (de+el=del).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vóór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delante 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dichtbij ↔ 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cerca de ↔ lejos 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rechts ↔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 la derecha/izquierda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habitación: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 cama está al lado de la ventana. Los libros están encima de la estantería.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de + el = del: al lado del banco (niet «de el»). Bij la/los/las blijft de: al lado de la plaza.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ahora 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estar + -ando (-ar) / -iendo (-er,-ir). «aan het …».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Valen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cocinando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la cocina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formación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cocinar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cocin- + ando →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com- + iendo → comiendo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escribir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escrib- + iendo → escribiendo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estar (vervoegd) + gerundio. Enkel estar verandert: estoy/estás/está… comiendo.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Onregelmatig: leer→leyendo · dormir→durmiendo · pedir→pidiendo · decir→diciendo.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están haciendo?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Valen ___ (cocinar).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cocinando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estoy estudiando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Los niños ___ (dormir).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están durmiendo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(leer)?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estás leyendo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Mamá ___ (escribir).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escribiendo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(pedir) pizza.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pidiendo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Enkel estar verandert: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estoy/estás/está/estamos/estáis/están + gerundio.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Irregulares: leyendo · durmiendo · pidiendo.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«Mi barrio»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el centro histórico de Cartagena. Mi casa es antigua, con un balcón con flores. Delante hay una plaza; al lado está la panadería. Mi barrio es tranquilo.»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un barrio grande de CDMX. Es ruidoso pero me gusta. Detrás de mi edificio hay un mercado. El metro está cerca y lo cojo cada día.»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hay delante de la casa de Valen?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Una plaza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está la panadería?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Al lado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el barrio de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Ruidoso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coge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metro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hay/está + lugares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llego a la plaza?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ruta. Klik un paso → de instructie. (audio + plano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1️⃣ Sal de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…y ve a la calle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2️⃣ Sigue recto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hasta el semáforo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3️⃣ Gira a la derecha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en la esquina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4️⃣ La 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está a la izquierda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«Sal de casa, sigue recto hasta el semáforo, gira a la derecha y la plaza está a la izquierda.»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de weg, B geeft die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lo/la/los/las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Vervang het voorwerp; concordancia + plaats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Veo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la casa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La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veo.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Compro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los muebles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Los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compro.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ev. (el libro → lo)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ev. (la casa → la)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mv. (los muebles → los)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mv. (las sillas → las)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komt overeen (m/v·ev/mv) en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infinitief/gerundio ook achteraan: Voy a comprarlo = Lo voy a comprar · Estoy leyéndolo.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juiste pronomen. Kijk naar het voorwerp.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sofá? ___ pongo aquí.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cama? ___ pongo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platos? ___ lavo.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sillas? ___ pongo.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tele? ___ veo.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coche? ___ aparco.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Plaats: vóór het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tu casa y da la ruta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En mi casa hay…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está?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La cama está…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Preposición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…al lado de / encima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Cómo llegar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Sigue recto, gira…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Distancia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Está a … minutos.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gusta 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839358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habitación / da direcciones»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«En mi cuarto hay una cama y un armario. La cama está al lado de la ventana. Para ir a la plaza, sigue recto y gira a la derecha.»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Mapa de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buurtbeschrijving.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qué hay (hay un/una…)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está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ruta (sigue recto, gira…)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distancia (a … minutos)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(me gusta…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«En mi barrio hay una plaza y un parque. La tienda está al lado de mi casa. Para ir al insti, sigo recto y giro a la izquierda; está a cinco minutos. Me gusta mi barrio porque es tranquilo.»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y las direcciones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plaza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tienda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winkel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apotheek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parada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halte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semáforo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verkeerslicht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sigue recto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ga rechtdoor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gira a la derecha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sla rechts af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cruza la calle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steek over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está a … minutos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op … minuten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¿cómo llego a…?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geraak ik bij…?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esquina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hoek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Direcciones: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llego a…? → sigue recto · gira a la derecha/izquierda · cruza · está a … minutos.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Lugares: la plaza, el parque, la tienda, la farmacia, la parada, la estación, el banco.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b/v + adverbios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ruimte.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b of v (klinken gelijk)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ventana (v)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_arrio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barrio (b)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vivir (v)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_alcón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balcón (b)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adverbios: aquí · ahí · allí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aquí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hier (dichtbij)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ahí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(bij jou)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allí / allá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(ver)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dichtbij ↔ 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b en v klinken gelijk (≈ b); de spelling leer je uit het hoofd: ventana, vivir, barrio, balcón.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aquí (hier) · ahí (bij jou) · allí/allá (ver).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5584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2: CARTAGENA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vivienda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Patios, balcones y plazas.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🏛️ El patio andaluz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het zuiden van España (Sevilla, Córdoba) heeft het huis een patio: een binnentuin met planten en een fontein, koel in de zomer.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Lucía kent ze goed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🌺 Los balcones de Cartagena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Cartagena (Colombia) zijn de koloniale huizen kleurrijk, met houten balcones vol bloemen. De ciudad amurallada is UNESCO-erfgoed.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Valen woont 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🟨 La plaza, corazón del barrio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Overal in de Spaanstalige wereld is de plaza het middelpunt: markt, terrasjes, ontmoeting. «Quedamos en la plaza».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corazón del barrio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casa/barrio con un patio o un balcón hispano. ¿Qué hay? ¿Qué es diferente?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🗺️ Tarea final · Mapa de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Dibuja el plano de tu barrio y haz una ruta guiada.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5–6 lugares (tienda, parque, parada…)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qué hay y dónde está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«hay un…» · «la tienda está al lado de…»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una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«sigue recto, gira…» (está a …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 mi barrio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hay + está(n)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4 preposiciones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ruta (sigue/gira)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barrio delen · situatie een rondleiding · resultaat: plano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 (hay/está)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delante de la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+ el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gerundio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comiendo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dormir → gerundio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durmiendo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casa? ___ veo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muebles? ___ compro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«naast» =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hay/estar + preposiciones · estar + gerundio · lo/la/los/las · direcciones.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vs estar: hay + un/dos (onbepaald) · está(n) + el/la/mi (bepaald).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lado/delante/detrás de · entre · cerca/lejos de. (de+el=del).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-ando/-iendo. Irreg.: leyendo, durmiendo, pidiendo.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 (OD): vervangt het voorwerp, concordantie, vóór het ww. of achter inf./gerundio.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hay ≠ está · de+el=del · lo/la vóór het ww. · concordancia lo/la/los/las.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huis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+ estar + preposiciones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(qué está pasando)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pronombres lo/la/los/las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weg vragen en wijzen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U2 «Aquí vivo»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la casa 6' · hay/estar + preposiciones 12' · estar+gerundio 10' · lo/la 8' · el barrio/escucha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hay (onbepaald: un/dos) ≠ está (bepaald: el/la) · de + el = del (al lado del banco) · lo/la vóór het vervoegde werkwoord + concordancia (la casa → la veo) · gerundio-irreg.: leyendo, durmiendo, pidiendo.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buurtbeschrijving + ruta + una opinión + estar+gerundio in 3ª persoon. Zwakker: hay/está-kaart + preposiciones-scène langer open, frames houden; lo/la met vaste vraag-antwoord-paren.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(hay/estar · gerundio · lo/la) + recorder (mi habitación · direcciones) + Lectura (dos perfiles) + klikbare kaart (Colombia ★)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«Mapa de mi barrio» met rúbrica (4 criteria). LPD (III-Spa-d): casa/barrio 7 · hay/estar+preposiciones 8·4 · gerundio 8 · lo/la 8 · direcciones/interactie 4·9 · lezen 1·2·5 · cultuur 5. Bron: EELP-U2 (estar/lugar)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2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Airbnb honesto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Todos los defectos tienen que salir. Y aún así hay que alquilarlo.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Alle gebreken moeten erin. En tóch moet het verhuurd raken.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 zes de gebreken staan erin, letterlijk. Je mag ze omkaderen maar niet weglaten, en je mag niets verzinnen dat er niet is.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dónde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el centro, a dos minutos de la plaza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tamaño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35 m², una habitación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precio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450 € al mes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en un cuarto piso y no hay ascensor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ventana da a un patio interior: hay poca luz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bar de abajo cierra a las dos de la mañana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hay lavadora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cocina está dentro del salón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defecto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las paredes son muy finas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alquila … en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pequeño, pero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tiene …, aunque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en …, así que …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Ideal para quien …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mejor: 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5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Reforma con 500 €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Quinientos euros, una habitación fea y cuatro opiniones.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Vijfhonderd euro, een lelijke kamer en vier meningen.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Vijfhonderd euro, geen cent meer. En elke aankoop wordt verdedigd met een plaatsbepaling: «la estantería, encima del escritorio, porque…». Zonder plaats telt het voorstel niet.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habitación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Doce metros cuadrados. Paredes blancas, una ventana pequeña, una cama y nada más.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estantería (60 €) · un escritorio (120 €) · una silla de escritorio (90 €)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lámpara de pie (45 €) · una alfombra (55 €) · cortinas (35 €)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pintura para una pared (40 €) · un espejo grande (70 €) · plantas (25 €)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armario pequeño (150 €) · una mesita de noche (40 €) · cuadros o pósters (20 €)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pongo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Ponemos … encima de … porque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Debajo de la ventana no cabe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… la habitación sigue igual.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Nos quedan … euros. ¿Qué hacemos?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9 · MEDIAFORMAT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Tour de 40 segundos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Cuarenta segundos, una sola toma, toda la casa.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Veertig seconden, één take, het hele huis.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Eén doorlopende take van veertig seconden. Stoppen mag niet, herbeginnen wel — maar dan vanaf nul. Zes verschillende voorzetsels en drie gerundio's.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Preposiciones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 lado de · enfrente de · detrás de · debajo de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Preposiciones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encima de · entre · al final de · a la derecha de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Gerundios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entrando · pasando · subiendo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Gerundios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girando · saliendo · llegando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Empezamos aquí, entrando por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la derecha de … está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Pasando por el pasillo llegamos a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Entre … y … hay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al final, saliendo a …, se ve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