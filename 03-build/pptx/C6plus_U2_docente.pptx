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TITLE. U2 = la casa y el barrio. Kerngrammatica: hay vs estar + preposiciones de lugar, estar + gerundio, OD-pronomina lo/la/los/las. Parada 2 = Cartagena (Valen). Kernvalstrikken: hay (onbepaald) ≠ está (bepaald) · de+el=del · lo/la vóór het werkwoord + concordancia. Docentdeck = oplossing; leerlingdeck (.pptx, F5) = klik onthult.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LESSON_MENU. Elke tegel = hyperlink; ⌂ Menú terug op elke oefendia. Richttijd 50 min. Kern = §2 hay/estar + §3 gerundio + §4 lo/la. Kruisverwijzing: «oefen online — 12 juegos + 100+ oefeningen».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VOCABULARY. Laat de casa-woorden raden zónder gloss. Koppel habitación → mueble. Online: memoria de la casa (memory) + mueble↔habitación (match).</a:t>
            </a:r>
          </a:p>
          <a:p/>
          <a:p>
            <a:r>
              <a:t>— SOLUCIÓN (docent · presenter view) —</a:t>
            </a:r>
          </a:p>
          <a:p>
            <a:r>
              <a:t>En cada habitación hay muebles: en el dormitorio hay una cama; en el salón, un sofá.</a:t>
            </a:r>
          </a:p>
          <a:p>
            <a:r>
              <a:t>🔴 el sofá (m ondanks -á) · la mano, la foto (v ondanks -o).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GRAMMAR hay/estar. Toon het contrast: eerst «hay un…», dan «el… está…». Online: ¿hay o está(n)? (classify).</a:t>
            </a:r>
          </a:p>
          <a:p/>
          <a:p>
            <a:r>
              <a:t>— SOLUCIÓN (docent · presenter view) —</a:t>
            </a:r>
          </a:p>
          <a:p>
            <a:r>
              <a:t>Regla: onbepaald (un/dos/mucho) → hay · bepaald (el/la/mi) → está(n). Hay un parque → El parque está cerca.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QUIZ hay/estar (retrieval). Klas roept hay/está vóór de klik. Online: ¿hay o está(n)? (classify).</a:t>
            </a:r>
          </a:p>
          <a:p/>
          <a:p>
            <a:r>
              <a:t>— SOLUCIÓN (docent · presenter view) —</a:t>
            </a:r>
          </a:p>
          <a:p>
            <a:r>
              <a:t>Truc: un/una/dos/mucho → hay · el/la/los/las/mi → está(n).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GRAMMAR preposiciones. Toon ze fysiek met objecten in de klas. Online: completa la preposición + señala en el plano.</a:t>
            </a:r>
          </a:p>
          <a:p/>
          <a:p>
            <a:r>
              <a:t>— SOLUCIÓN (docent · presenter view) —</a:t>
            </a:r>
          </a:p>
          <a:p>
            <a:r>
              <a:t>La habitación: La cama está al lado de la ventana. Los libros están encima de la estantería.</a:t>
            </a:r>
          </a:p>
          <a:p>
            <a:r>
              <a:t>🔴 de + el = del: al lado del banco (niet «de el»). Bij la/los/las blijft de: al lado de la plaza.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GRAMMAR gerundio. Maak raíz+uitgang zichtbaar. Online: completa: estar + gerundio (cloze) + ¿-ando o -iendo? (classify).</a:t>
            </a:r>
          </a:p>
          <a:p/>
          <a:p>
            <a:r>
              <a:t>— SOLUCIÓN (docent · presenter view) —</a:t>
            </a:r>
          </a:p>
          <a:p>
            <a:r>
              <a:t>Regla: estar (vervoegd) + gerundio. Enkel estar verandert: estoy/estás/está… comiendo.</a:t>
            </a:r>
          </a:p>
          <a:p>
            <a:r>
              <a:t>Onregelmatig: leer→leyendo · dormir→durmiendo · pedir→pidiendo · decir→diciendo.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QUIZ gerundio (reveal). Coro vóór de klik. Online: cloze estar + gerundio.</a:t>
            </a:r>
          </a:p>
          <a:p/>
          <a:p>
            <a:r>
              <a:t>— SOLUCIÓN (docent · presenter view) —</a:t>
            </a:r>
          </a:p>
          <a:p>
            <a:r>
              <a:t>Enkel estar verandert: estoy/estás/está/estamos/estáis/están + gerundio.</a:t>
            </a:r>
          </a:p>
          <a:p>
            <a:r>
              <a:t>Irregulares: leyendo · durmiendo · pidiendo.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READING (lezen→schrijven). Eerst globaal, dan scannen. Daarna: leerlingen vergelijken met hun eigen barrio (hay/está + porque).</a:t>
            </a:r>
          </a:p>
          <a:p/>
          <a:p>
            <a:r>
              <a:t>— SOLUCIÓN (docent · presenter view) —</a:t>
            </a:r>
          </a:p>
          <a:p>
            <a:r>
              <a:t>🎯 Leesdoel: scannen naar hay/está + lugares — niet élk woord.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LISTENING (luisteren→spreken). Lees de ruta voor (of TTS); klas volgt op een plano. Daarna info-gap in parejas. Online: ¿cómo llego? (audio + plano).</a:t>
            </a:r>
          </a:p>
          <a:p/>
          <a:p>
            <a:r>
              <a:t>— SOLUCIÓN (docent · presenter view) —</a:t>
            </a:r>
          </a:p>
          <a:p>
            <a:r>
              <a:t>Modelo-audio (docent/TTS): «Sal de casa, sigue recto hasta el semáforo, gira a la derecha y la plaza está a la izquierda.» </a:t>
            </a:r>
          </a:p>
          <a:p>
            <a:r>
              <a:t>Daarna: A vraagt de weg, B geeft die (info-gap).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GRAMMAR OD-pron. Toon doorhalen &amp; vervangen. Online: completa lo/la (cloze) + lo/la Tetris.</a:t>
            </a:r>
          </a:p>
          <a:p/>
          <a:p>
            <a:r>
              <a:t>— SOLUCIÓN (docent · presenter view) —</a:t>
            </a:r>
          </a:p>
          <a:p>
            <a:r>
              <a:t>Regla: het pronomen komt overeen (m/v·ev/mv) en staat vóór het vervoegde werkwoord. </a:t>
            </a:r>
          </a:p>
          <a:p>
            <a:r>
              <a:t>Bij infinitief/gerundio ook achteraan: Voy a comprarlo = Lo voy a comprar · Estoy leyéndolo.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QUIZ lo/la (retrieval). Klas roept het pronomen vóór de klik. Online: lo/la Tetris.</a:t>
            </a:r>
          </a:p>
          <a:p/>
          <a:p>
            <a:r>
              <a:t>— SOLUCIÓN (docent · presenter view) —</a:t>
            </a:r>
          </a:p>
          <a:p>
            <a:r>
              <a:t>Concordancia: el→lo · la→la · los→los · las→las. Plaats: vóór het werkwoord.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SPEAKING (interactie). Rondes met afbouwende steun. Online: recorder (mi habitación + direcciones). Print blijft bruikbaar zonder opname.</a:t>
            </a:r>
          </a:p>
          <a:p/>
          <a:p>
            <a:r>
              <a:t>— SOLUCIÓN (docent · presenter view) —</a:t>
            </a:r>
          </a:p>
          <a:p>
            <a:r>
              <a:t>Modelo: «En mi cuarto hay una cama y un armario. La cama está al lado de la ventana. Para ir a la plaza, sigue recto y gira a la derecha.»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WRITING (lezen→schrijven). Checklist = zichtbare steun; onthul het model pas na het schrijven. Nakijkfocus: hay/está, preposiciones (del/de la), una ruta, una opinión. Voedt de Tarea «Mapa de mi barrio».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VOCAB barrio. Klik onthult; koppel lugar → función. Online: lugar↔función (match) + memoria del barrio.</a:t>
            </a:r>
          </a:p>
          <a:p/>
          <a:p>
            <a:r>
              <a:t>— SOLUCIÓN (docent · presenter view) —</a:t>
            </a:r>
          </a:p>
          <a:p>
            <a:r>
              <a:t>Direcciones: ¿Cómo llego a…? → sigue recto · gira a la derecha/izquierda · cruza · está a … minutos.</a:t>
            </a:r>
          </a:p>
          <a:p>
            <a:r>
              <a:t>Lugares: la plaza, el parque, la tienda, la farmacia, la parada, la estación, el banco.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TALLER. b/v-spelling (uit het hoofd) + aquí/ahí/allí. Online: drills in de hub.</a:t>
            </a:r>
          </a:p>
          <a:p/>
          <a:p>
            <a:r>
              <a:t>— SOLUCIÓN (docent · presenter view) —</a:t>
            </a:r>
          </a:p>
          <a:p>
            <a:r>
              <a:t>A: b en v klinken gelijk (≈ b); de spelling leer je uit het hoofd: ventana, vivir, barrio, balcón.</a:t>
            </a:r>
          </a:p>
          <a:p>
            <a:r>
              <a:t>B: aquí (hier) · ahí (bij jou) · allí/allá (ver).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CULTURE (identiteit in diversiteit, LPD 5). Onthul per kaart. Bruggetje: La Ruta parada 2 = Cartagena (★). Online: klik op Colombia op de kaart.</a:t>
            </a:r>
          </a:p>
          <a:p/>
          <a:p>
            <a:r>
              <a:t>— SOLUCIÓN (docent · presenter view) —</a:t>
            </a:r>
          </a:p>
          <a:p>
            <a:r>
              <a:t>Actividad: compara tu casa/barrio con un patio o un balcón hispano. ¿Qué hay? ¿Qué es diferente?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FINAL_MISSION (communicatieve eindtaak). Afzender/ontvanger/doel/situatie/resultaat expliciet. Beoordeel met de rúbrica; opname op de web.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QUIZ mezcla (retrieval vóór herlezen). Zonder waarschuwing door elkaar. Exit-ticket. Zwakke punten → terug via menu.</a:t>
            </a:r>
          </a:p>
          <a:p/>
          <a:p>
            <a:r>
              <a:t>— SOLUCIÓN (docent · presenter view) —</a:t>
            </a:r>
          </a:p>
          <a:p>
            <a:r>
              <a:t>Alles komt terug: hay/estar + preposiciones · estar + gerundio · lo/la/los/las · direcciones.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FEEDBACK/REPASO. Semáforo = zelfevaluatie. Repaso-drills online (12 spellen). Bruggetje: U3 «Conectados» — media, ir a + inf., le/les.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Alleen in het docentdeck. Volledige LPD-dekking en didactische route staan in het cursusdossier (cocktail + outline).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slide" Target="slide3.xml"/><Relationship Id="rId4" Type="http://schemas.openxmlformats.org/officeDocument/2006/relationships/slide" Target="slide4.xml"/><Relationship Id="rId5" Type="http://schemas.openxmlformats.org/officeDocument/2006/relationships/slide" Target="slide7.xml"/><Relationship Id="rId6" Type="http://schemas.openxmlformats.org/officeDocument/2006/relationships/slide" Target="slide11.xml"/><Relationship Id="rId7" Type="http://schemas.openxmlformats.org/officeDocument/2006/relationships/slide" Target="slide10.xml"/><Relationship Id="rId8" Type="http://schemas.openxmlformats.org/officeDocument/2006/relationships/slide" Target="slide9.xml"/><Relationship Id="rId9" Type="http://schemas.openxmlformats.org/officeDocument/2006/relationships/slide" Target="slide17.xml"/><Relationship Id="rId10" Type="http://schemas.openxmlformats.org/officeDocument/2006/relationships/slide" Target="slide18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slide" Target="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slide" Target="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slide" Target="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slide" Target="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slide" Target="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slide" Target="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9.xml"/><Relationship Id="rId5" Type="http://schemas.openxmlformats.org/officeDocument/2006/relationships/slide" Target="slide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slide" Target="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slide" Target="slide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slide" Target="slide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3.xml"/><Relationship Id="rId4" Type="http://schemas.openxmlformats.org/officeDocument/2006/relationships/slide" Target="slide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slide" Target="slide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slide" Target="slide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slide" Target="slide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slide" Target="slide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slide" Target="slide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297680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297680"/>
            <a:ext cx="12191695" cy="82296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3108960" cy="32918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6000" b="1" i="0">
                <a:solidFill>
                  <a:srgbClr val="9374C2"/>
                </a:solidFill>
                <a:latin typeface="Bricolage Grotesque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977639" y="777240"/>
            <a:ext cx="3147364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5B3E83"/>
                </a:solidFill>
                <a:latin typeface="Inter"/>
              </a:rPr>
              <a:t>LA RUTA · CARTAGENA 🇨🇴 · AQUÍ VIVO 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1234440"/>
            <a:ext cx="786384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6200" b="1" i="0">
                <a:solidFill>
                  <a:srgbClr val="FFFFFF"/>
                </a:solidFill>
                <a:latin typeface="Bricolage Grotesque"/>
              </a:rPr>
              <a:t>Aquí vivo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77639" y="2468880"/>
            <a:ext cx="76809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1">
                <a:solidFill>
                  <a:srgbClr val="EEE8F5"/>
                </a:solidFill>
                <a:latin typeface="Inter"/>
              </a:rPr>
              <a:t>Tu casa y tu barrio: hay/estar + preposiciones · estar + gerundio · lo/la/los/las.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7639" y="3063240"/>
            <a:ext cx="7680960" cy="8229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FFFFFF"/>
                </a:solidFill>
                <a:latin typeface="Bricolage Grotesque"/>
              </a:rPr>
              <a:t>¿Dónde vives tú?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1">
                <a:solidFill>
                  <a:srgbClr val="EEE8F5"/>
                </a:solidFill>
                <a:latin typeface="Inter"/>
              </a:rPr>
              <a:t>Waar woon jij?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52628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La gente de la ruta — parada 2: Cartagena (Valen)</a:t>
            </a:r>
          </a:p>
        </p:txBody>
      </p:sp>
      <p:pic>
        <p:nvPicPr>
          <p:cNvPr id="11" name="Picture 10" descr="luc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937760"/>
            <a:ext cx="914400" cy="9144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11480" y="5870448"/>
            <a:ext cx="11887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Inter"/>
              </a:rPr>
              <a:t>Lucia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Sevilla 🇪🇸</a:t>
            </a:r>
          </a:p>
        </p:txBody>
      </p:sp>
      <p:pic>
        <p:nvPicPr>
          <p:cNvPr id="13" name="Picture 12" descr="die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3159" y="4937760"/>
            <a:ext cx="914400" cy="9144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285999" y="5870448"/>
            <a:ext cx="11887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Inter"/>
              </a:rPr>
              <a:t>Diego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CDMX 🇲🇽</a:t>
            </a:r>
          </a:p>
        </p:txBody>
      </p:sp>
      <p:pic>
        <p:nvPicPr>
          <p:cNvPr id="15" name="Picture 14" descr="val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78" y="4937760"/>
            <a:ext cx="914400" cy="9144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160518" y="5870448"/>
            <a:ext cx="11887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Inter"/>
              </a:rPr>
              <a:t>Valen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Cartagena 🇨🇴</a:t>
            </a:r>
          </a:p>
        </p:txBody>
      </p:sp>
      <p:pic>
        <p:nvPicPr>
          <p:cNvPr id="17" name="Picture 16" descr="nin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197" y="4937760"/>
            <a:ext cx="914400" cy="9144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035037" y="5870448"/>
            <a:ext cx="11887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Inter"/>
              </a:rPr>
              <a:t>Nina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Cusco 🇵🇪</a:t>
            </a:r>
          </a:p>
        </p:txBody>
      </p:sp>
      <p:pic>
        <p:nvPicPr>
          <p:cNvPr id="19" name="Picture 18" descr="tu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6716" y="4937760"/>
            <a:ext cx="914400" cy="9144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909556" y="5870448"/>
            <a:ext cx="11887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Inter"/>
              </a:rPr>
              <a:t>Tú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de reiziger = jij</a:t>
            </a:r>
          </a:p>
        </p:txBody>
      </p:sp>
      <p:pic>
        <p:nvPicPr>
          <p:cNvPr id="21" name="Picture 20" descr="mochil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21235" y="4937760"/>
            <a:ext cx="914400" cy="9144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784075" y="5870448"/>
            <a:ext cx="11887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Inter"/>
              </a:rPr>
              <a:t>Mochila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La mochila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U2 · AQUÍ VIVO   ·   C6+ · aquí vivo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63311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MENÚ DE LA LECCIÓN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El mapa de la Unidad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Kies je route — klik een tegel. Alles oefent naar de Tarea «Mapa de mi barrio» toe.</a:t>
            </a:r>
          </a:p>
        </p:txBody>
      </p:sp>
      <p:sp>
        <p:nvSpPr>
          <p:cNvPr id="9" name="Rounded Rectangle 8">
            <a:hlinkClick action="ppaction://hlinksldjump" r:id="rId3"/>
          </p:cNvPr>
          <p:cNvSpPr/>
          <p:nvPr/>
        </p:nvSpPr>
        <p:spPr>
          <a:xfrm>
            <a:off x="457200" y="141732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7C56A9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>
            <a:hlinkClick action="ppaction://hlinksldjump" r:id="rId3"/>
          </p:cNvPr>
          <p:cNvSpPr/>
          <p:nvPr/>
        </p:nvSpPr>
        <p:spPr>
          <a:xfrm>
            <a:off x="457200" y="1417320"/>
            <a:ext cx="2743200" cy="457200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66928" y="149047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7C56A9"/>
                </a:solidFill>
                <a:latin typeface="Bricolage Grotesque"/>
              </a:rPr>
              <a:t>§1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147218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Bricolage Grotesque"/>
              </a:rPr>
              <a:t>La casa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203911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habitaciones · muebles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3246120"/>
            <a:ext cx="707745" cy="292608"/>
          </a:xfrm>
          <a:prstGeom prst="roundRect">
            <a:avLst>
              <a:gd name="adj" fmla="val 50000"/>
            </a:avLst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5B3E83"/>
                </a:solidFill>
                <a:latin typeface="Inter"/>
              </a:rPr>
              <a:t>→ dia 3</a:t>
            </a:r>
          </a:p>
        </p:txBody>
      </p:sp>
      <p:sp>
        <p:nvSpPr>
          <p:cNvPr id="15" name="Rounded Rectangle 14">
            <a:hlinkClick action="ppaction://hlinksldjump" r:id="rId4"/>
          </p:cNvPr>
          <p:cNvSpPr/>
          <p:nvPr/>
        </p:nvSpPr>
        <p:spPr>
          <a:xfrm>
            <a:off x="3328416" y="141732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7C56A9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>
            <a:hlinkClick action="ppaction://hlinksldjump" r:id="rId4"/>
          </p:cNvPr>
          <p:cNvSpPr/>
          <p:nvPr/>
        </p:nvSpPr>
        <p:spPr>
          <a:xfrm>
            <a:off x="3328416" y="1417320"/>
            <a:ext cx="2743200" cy="457200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438144" y="149047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7C56A9"/>
                </a:solidFill>
                <a:latin typeface="Bricolage Grotesque"/>
              </a:rPr>
              <a:t>§2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58768" y="147218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Bricolage Grotesque"/>
              </a:rPr>
              <a:t>Hay / estar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93008" y="203911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+ preposiciones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93008" y="3246120"/>
            <a:ext cx="707745" cy="292608"/>
          </a:xfrm>
          <a:prstGeom prst="roundRect">
            <a:avLst>
              <a:gd name="adj" fmla="val 50000"/>
            </a:avLst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5B3E83"/>
                </a:solidFill>
                <a:latin typeface="Inter"/>
              </a:rPr>
              <a:t>→ dia 4</a:t>
            </a:r>
          </a:p>
        </p:txBody>
      </p:sp>
      <p:sp>
        <p:nvSpPr>
          <p:cNvPr id="21" name="Rounded Rectangle 20">
            <a:hlinkClick action="ppaction://hlinksldjump" r:id="rId5"/>
          </p:cNvPr>
          <p:cNvSpPr/>
          <p:nvPr/>
        </p:nvSpPr>
        <p:spPr>
          <a:xfrm>
            <a:off x="6199632" y="141732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7C56A9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>
            <a:hlinkClick action="ppaction://hlinksldjump" r:id="rId5"/>
          </p:cNvPr>
          <p:cNvSpPr/>
          <p:nvPr/>
        </p:nvSpPr>
        <p:spPr>
          <a:xfrm>
            <a:off x="6199632" y="1417320"/>
            <a:ext cx="2743200" cy="457200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309360" y="149047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7C56A9"/>
                </a:solidFill>
                <a:latin typeface="Bricolage Grotesque"/>
              </a:rPr>
              <a:t>§3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9984" y="147218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Bricolage Grotesque"/>
              </a:rPr>
              <a:t>Gerundio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64224" y="203911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estar + -ando/-iendo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64224" y="3246120"/>
            <a:ext cx="707745" cy="292608"/>
          </a:xfrm>
          <a:prstGeom prst="roundRect">
            <a:avLst>
              <a:gd name="adj" fmla="val 50000"/>
            </a:avLst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5B3E83"/>
                </a:solidFill>
                <a:latin typeface="Inter"/>
              </a:rPr>
              <a:t>→ dia 7</a:t>
            </a:r>
          </a:p>
        </p:txBody>
      </p:sp>
      <p:sp>
        <p:nvSpPr>
          <p:cNvPr id="27" name="Rounded Rectangle 26">
            <a:hlinkClick action="ppaction://hlinksldjump" r:id="rId6"/>
          </p:cNvPr>
          <p:cNvSpPr/>
          <p:nvPr/>
        </p:nvSpPr>
        <p:spPr>
          <a:xfrm>
            <a:off x="9070848" y="141732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7C56A9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>
            <a:hlinkClick action="ppaction://hlinksldjump" r:id="rId6"/>
          </p:cNvPr>
          <p:cNvSpPr/>
          <p:nvPr/>
        </p:nvSpPr>
        <p:spPr>
          <a:xfrm>
            <a:off x="9070848" y="1417320"/>
            <a:ext cx="2743200" cy="457200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180576" y="149047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7C56A9"/>
                </a:solidFill>
                <a:latin typeface="Bricolage Grotesque"/>
              </a:rPr>
              <a:t>§4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0" y="147218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Bricolage Grotesque"/>
              </a:rPr>
              <a:t>Lo / la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35440" y="203911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los/las (OD)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235440" y="3246120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5B3E83"/>
                </a:solidFill>
                <a:latin typeface="Inter"/>
              </a:rPr>
              <a:t>→ dia 11</a:t>
            </a:r>
          </a:p>
        </p:txBody>
      </p:sp>
      <p:sp>
        <p:nvSpPr>
          <p:cNvPr id="33" name="Rounded Rectangle 32">
            <a:hlinkClick action="ppaction://hlinksldjump" r:id="rId7"/>
          </p:cNvPr>
          <p:cNvSpPr/>
          <p:nvPr/>
        </p:nvSpPr>
        <p:spPr>
          <a:xfrm>
            <a:off x="457200" y="384048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7C56A9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>
            <a:hlinkClick action="ppaction://hlinksldjump" r:id="rId7"/>
          </p:cNvPr>
          <p:cNvSpPr/>
          <p:nvPr/>
        </p:nvSpPr>
        <p:spPr>
          <a:xfrm>
            <a:off x="457200" y="3840480"/>
            <a:ext cx="2743200" cy="457200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66928" y="391363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7C56A9"/>
                </a:solidFill>
                <a:latin typeface="Bricolage Grotesque"/>
              </a:rPr>
              <a:t>§5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7552" y="389534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Bricolage Grotesque"/>
              </a:rPr>
              <a:t>El barrio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" y="446227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cómo llegar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1792" y="5669280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5B3E83"/>
                </a:solidFill>
                <a:latin typeface="Inter"/>
              </a:rPr>
              <a:t>→ dia 10</a:t>
            </a:r>
          </a:p>
        </p:txBody>
      </p:sp>
      <p:sp>
        <p:nvSpPr>
          <p:cNvPr id="39" name="Rounded Rectangle 38">
            <a:hlinkClick action="ppaction://hlinksldjump" r:id="rId8"/>
          </p:cNvPr>
          <p:cNvSpPr/>
          <p:nvPr/>
        </p:nvSpPr>
        <p:spPr>
          <a:xfrm>
            <a:off x="3328416" y="384048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5B3E83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>
            <a:hlinkClick action="ppaction://hlinksldjump" r:id="rId8"/>
          </p:cNvPr>
          <p:cNvSpPr/>
          <p:nvPr/>
        </p:nvSpPr>
        <p:spPr>
          <a:xfrm>
            <a:off x="3328416" y="3840480"/>
            <a:ext cx="2743200" cy="457200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3438144" y="391363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5B3E83"/>
                </a:solidFill>
                <a:latin typeface="Bricolage Grotesque"/>
              </a:rPr>
              <a:t>★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58768" y="389534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Bricolage Grotesque"/>
              </a:rPr>
              <a:t>Lectura + escucha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93008" y="446227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mi barrio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493008" y="5669280"/>
            <a:ext cx="707745" cy="292608"/>
          </a:xfrm>
          <a:prstGeom prst="roundRect">
            <a:avLst>
              <a:gd name="adj" fmla="val 50000"/>
            </a:avLst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5B3E83"/>
                </a:solidFill>
                <a:latin typeface="Inter"/>
              </a:rPr>
              <a:t>→ dia 9</a:t>
            </a:r>
          </a:p>
        </p:txBody>
      </p:sp>
      <p:sp>
        <p:nvSpPr>
          <p:cNvPr id="45" name="Rounded Rectangle 44">
            <a:hlinkClick action="ppaction://hlinksldjump" r:id="rId9"/>
          </p:cNvPr>
          <p:cNvSpPr/>
          <p:nvPr/>
        </p:nvSpPr>
        <p:spPr>
          <a:xfrm>
            <a:off x="6199632" y="384048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5B3E83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>
            <a:hlinkClick action="ppaction://hlinksldjump" r:id="rId9"/>
          </p:cNvPr>
          <p:cNvSpPr/>
          <p:nvPr/>
        </p:nvSpPr>
        <p:spPr>
          <a:xfrm>
            <a:off x="6199632" y="3840480"/>
            <a:ext cx="2743200" cy="457200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6309360" y="391363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5B3E83"/>
                </a:solidFill>
                <a:latin typeface="Bricolage Grotesque"/>
              </a:rPr>
              <a:t>🌺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29984" y="389534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Bricolage Grotesque"/>
              </a:rPr>
              <a:t>Cultura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64224" y="446227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la vivienda hispana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364224" y="5669280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5B3E83"/>
                </a:solidFill>
                <a:latin typeface="Inter"/>
              </a:rPr>
              <a:t>→ dia 17</a:t>
            </a:r>
          </a:p>
        </p:txBody>
      </p:sp>
      <p:sp>
        <p:nvSpPr>
          <p:cNvPr id="51" name="Rounded Rectangle 50">
            <a:hlinkClick action="ppaction://hlinksldjump" r:id="rId10"/>
          </p:cNvPr>
          <p:cNvSpPr/>
          <p:nvPr/>
        </p:nvSpPr>
        <p:spPr>
          <a:xfrm>
            <a:off x="9070848" y="384048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5B3E83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>
            <a:hlinkClick action="ppaction://hlinksldjump" r:id="rId10"/>
          </p:cNvPr>
          <p:cNvSpPr/>
          <p:nvPr/>
        </p:nvSpPr>
        <p:spPr>
          <a:xfrm>
            <a:off x="9070848" y="3840480"/>
            <a:ext cx="2743200" cy="457200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9180576" y="391363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5B3E83"/>
                </a:solidFill>
                <a:latin typeface="Bricolage Grotesque"/>
              </a:rPr>
              <a:t>🗺️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601200" y="389534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Bricolage Grotesque"/>
              </a:rPr>
              <a:t>Tarea · Mi barrio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235440" y="446227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plano + ruta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235440" y="5669280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5B3E83"/>
                </a:solidFill>
                <a:latin typeface="Inter"/>
              </a:rPr>
              <a:t>→ dia 18</a:t>
            </a:r>
          </a:p>
        </p:txBody>
      </p:sp>
      <p:sp>
        <p:nvSpPr>
          <p:cNvPr id="57" name="Rectangle 5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U2 · AQUÍ VIVO   ·   C6+ · aquí vivo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46486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§1 · VOCABULARIO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La casa — habitaciones y muebles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De woorden van je huis — observa. Herken ze, dan gebruik je ze.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0" y="484632"/>
            <a:ext cx="118872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A6E78"/>
                </a:solidFill>
                <a:latin typeface="Inter"/>
              </a:rPr>
              <a:t>Kleurcode: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921240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85832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persoon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574121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38713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werkw.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170309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334901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tijd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653112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17704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plaats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249300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413892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valstrik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1463040"/>
            <a:ext cx="557784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1463040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el dormitorio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1463040"/>
            <a:ext cx="19202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de slaapkamer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1463040"/>
            <a:ext cx="13716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la cama, el armario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2121408"/>
            <a:ext cx="557784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2121408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el salón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2121408"/>
            <a:ext cx="19202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de woonkamer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2121408"/>
            <a:ext cx="13716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el sofá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2779776"/>
            <a:ext cx="557784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2779776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la cocina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0" y="2779776"/>
            <a:ext cx="19202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de keuken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2779776"/>
            <a:ext cx="13716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la nevera, la mesa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3438144"/>
            <a:ext cx="557784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" y="3438144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el baño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0" y="3438144"/>
            <a:ext cx="19202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de badkamer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0" y="3438144"/>
            <a:ext cx="13716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el espejo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72200" y="1463040"/>
            <a:ext cx="557784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09360" y="1463040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la cama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58200" y="1463040"/>
            <a:ext cx="19202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het bed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87000" y="1463040"/>
            <a:ext cx="13716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dormir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172200" y="2121408"/>
            <a:ext cx="557784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09360" y="2121408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el sofá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58200" y="2121408"/>
            <a:ext cx="19202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de zetel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287000" y="2121408"/>
            <a:ext cx="13716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el salón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172200" y="2779776"/>
            <a:ext cx="557784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09360" y="2779776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el armario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58200" y="2779776"/>
            <a:ext cx="19202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de kast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287000" y="2779776"/>
            <a:ext cx="13716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la ropa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172200" y="3438144"/>
            <a:ext cx="557784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09360" y="3438144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la nevera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58200" y="3438144"/>
            <a:ext cx="19202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de koelkast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287000" y="3438144"/>
            <a:ext cx="13716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la cocina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" y="4343400"/>
            <a:ext cx="112471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¡Ojo! el/la: </a:t>
            </a:r>
            <a:r>
              <a:rPr sz="1300" b="0" i="0">
                <a:solidFill>
                  <a:srgbClr val="20242E"/>
                </a:solidFill>
                <a:latin typeface="Inter"/>
              </a:rPr>
              <a:t>el dormitorio, el salón, el sofá (m) · la cocina, la cama, la nevera (v)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55" name="Rounded Rectangle 54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57200" y="4892040"/>
            <a:ext cx="11247120" cy="86868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En cada habitación hay muebles: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en el dormitorio hay una cama; en el salón, un sofá.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DC2626"/>
                </a:solidFill>
                <a:latin typeface="Inter"/>
              </a:rPr>
              <a:t>🔴 el sofá (m ondanks -á) · la mano, la foto (v ondanks -o).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94360" y="4764024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 · docent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U2 · AQUÍ VIVO   ·   C6+ · aquí vivo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885492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§2 · GRAMÁTICA VISUAL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Hay vs estar — ¿qué y dónde?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hay = er is (onbepaald) · está(n) = staat (bepaald). Kleur = de functie.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0" y="484632"/>
            <a:ext cx="118872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A6E78"/>
                </a:solidFill>
                <a:latin typeface="Inter"/>
              </a:rPr>
              <a:t>Kleurcode: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921240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85832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persoon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574121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38713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werkw.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170309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334901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tijd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653112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17704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plaats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249300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413892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valstrik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1554480"/>
            <a:ext cx="5486400" cy="1005840"/>
          </a:xfrm>
          <a:prstGeom prst="roundRect">
            <a:avLst>
              <a:gd name="adj" fmla="val 5500"/>
            </a:avLst>
          </a:prstGeom>
          <a:solidFill>
            <a:srgbClr val="EEE8F5"/>
          </a:solidFill>
          <a:ln>
            <a:noFill/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1554480"/>
            <a:ext cx="5120640" cy="10058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0242E"/>
                </a:solidFill>
                <a:latin typeface="Inter"/>
              </a:rPr>
              <a:t>En el salón </a:t>
            </a:r>
            <a:r>
              <a:rPr sz="1800" b="1" i="0">
                <a:solidFill>
                  <a:srgbClr val="EA7317"/>
                </a:solidFill>
                <a:latin typeface="Inter"/>
              </a:rPr>
              <a:t>hay </a:t>
            </a:r>
            <a:r>
              <a:rPr sz="1600" b="1" i="0">
                <a:solidFill>
                  <a:srgbClr val="B4309A"/>
                </a:solidFill>
                <a:latin typeface="Inter"/>
              </a:rPr>
              <a:t>un sofá</a:t>
            </a:r>
            <a:r>
              <a:rPr sz="1600" b="0" i="0">
                <a:solidFill>
                  <a:srgbClr val="20242E"/>
                </a:solidFill>
                <a:latin typeface="Inter"/>
              </a:rPr>
              <a:t>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1554480"/>
            <a:ext cx="5486400" cy="1005840"/>
          </a:xfrm>
          <a:prstGeom prst="roundRect">
            <a:avLst>
              <a:gd name="adj" fmla="val 5500"/>
            </a:avLst>
          </a:prstGeom>
          <a:solidFill>
            <a:srgbClr val="EEE8F5"/>
          </a:solidFill>
          <a:ln>
            <a:noFill/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1554480"/>
            <a:ext cx="5120640" cy="10058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563EB"/>
                </a:solidFill>
                <a:latin typeface="Inter"/>
              </a:rPr>
              <a:t>El sofá </a:t>
            </a:r>
            <a:r>
              <a:rPr sz="1800" b="1" i="0">
                <a:solidFill>
                  <a:srgbClr val="64748B"/>
                </a:solidFill>
                <a:latin typeface="Inter"/>
              </a:rPr>
              <a:t>está </a:t>
            </a:r>
            <a:r>
              <a:rPr sz="1600" b="0" i="0">
                <a:solidFill>
                  <a:srgbClr val="20242E"/>
                </a:solidFill>
                <a:latin typeface="Inter"/>
              </a:rPr>
              <a:t>delante de la tele</a:t>
            </a:r>
            <a:r>
              <a:rPr sz="1600" b="0" i="0">
                <a:solidFill>
                  <a:srgbClr val="20242E"/>
                </a:solidFill>
                <a:latin typeface="Inter"/>
              </a:rPr>
              <a:t>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2880360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2880360"/>
            <a:ext cx="173736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5B3E83"/>
                </a:solidFill>
                <a:latin typeface="Inter"/>
              </a:rPr>
              <a:t>hay + un/una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31719" y="2880360"/>
            <a:ext cx="164592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20242E"/>
                </a:solidFill>
                <a:latin typeface="Inter"/>
              </a:rPr>
              <a:t>onbepaald: hay un parque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3557016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3557016"/>
            <a:ext cx="173736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5B3E83"/>
                </a:solidFill>
                <a:latin typeface="Inter"/>
              </a:rPr>
              <a:t>hay + dos/mucho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31719" y="3557016"/>
            <a:ext cx="164592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20242E"/>
                </a:solidFill>
                <a:latin typeface="Inter"/>
              </a:rPr>
              <a:t>hay dos baños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4233672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4233672"/>
            <a:ext cx="173736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5B3E83"/>
                </a:solidFill>
                <a:latin typeface="Inter"/>
              </a:rPr>
              <a:t>hay = invariable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31719" y="4233672"/>
            <a:ext cx="164592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20242E"/>
                </a:solidFill>
                <a:latin typeface="Inter"/>
              </a:rPr>
              <a:t>verandert nooit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297680" y="2880360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34840" y="2880360"/>
            <a:ext cx="173736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5B3E83"/>
                </a:solidFill>
                <a:latin typeface="Inter"/>
              </a:rPr>
              <a:t>está + el/la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72199" y="2880360"/>
            <a:ext cx="164592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20242E"/>
                </a:solidFill>
                <a:latin typeface="Inter"/>
              </a:rPr>
              <a:t>bepaald: el parque está…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297680" y="3557016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434840" y="3557016"/>
            <a:ext cx="173736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5B3E83"/>
                </a:solidFill>
                <a:latin typeface="Inter"/>
              </a:rPr>
              <a:t>están + los/las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72199" y="3557016"/>
            <a:ext cx="164592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20242E"/>
                </a:solidFill>
                <a:latin typeface="Inter"/>
              </a:rPr>
              <a:t>los libros están…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297680" y="4233672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434840" y="4233672"/>
            <a:ext cx="173736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5B3E83"/>
                </a:solidFill>
                <a:latin typeface="Inter"/>
              </a:rPr>
              <a:t>🔴 hay ≠ está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72199" y="4233672"/>
            <a:ext cx="164592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20242E"/>
                </a:solidFill>
                <a:latin typeface="Inter"/>
              </a:rPr>
              <a:t>un parque / el parque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44" name="Rounded Rectangle 43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57200" y="4892040"/>
            <a:ext cx="11247120" cy="68580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Regla: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onbepaald (un/dos/mucho) → hay · bepaald (el/la/mi) → está(n). Hay un parque → El parque está cerca.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94360" y="4764024"/>
            <a:ext cx="1296619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REGLA · docent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U2 · AQUÍ VIVO   ·   C6+ · aquí vivo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875995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§2 · QUIZ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¿hay o está(n)?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Klik een zin → de juiste vorm. Kijk naar het lidwoord.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00200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600200"/>
            <a:ext cx="393192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En el salón ___ un sofá.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600200"/>
            <a:ext cx="132588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B3E83"/>
                </a:solidFill>
                <a:latin typeface="Inter"/>
              </a:rPr>
              <a:t>→ hay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478024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478024"/>
            <a:ext cx="393192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El sofá ___ delante de la tele.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478024"/>
            <a:ext cx="132588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B3E83"/>
                </a:solidFill>
                <a:latin typeface="Inter"/>
              </a:rPr>
              <a:t>→ está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355848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355848"/>
            <a:ext cx="393192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En mi barrio ___ dos parques.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3355848"/>
            <a:ext cx="132588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B3E83"/>
                </a:solidFill>
                <a:latin typeface="Inter"/>
              </a:rPr>
              <a:t>→ hay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600200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1600200"/>
            <a:ext cx="393192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Los parques ___ cerca.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87000" y="1600200"/>
            <a:ext cx="132588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B3E83"/>
                </a:solidFill>
                <a:latin typeface="Inter"/>
              </a:rPr>
              <a:t>→ están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2478024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2478024"/>
            <a:ext cx="393192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¿___ una farmacia cerca?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2478024"/>
            <a:ext cx="132588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B3E83"/>
                </a:solidFill>
                <a:latin typeface="Inter"/>
              </a:rPr>
              <a:t>→ hay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3355848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3355848"/>
            <a:ext cx="393192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La farmacia ___ en la esquina.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87000" y="3355848"/>
            <a:ext cx="132588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B3E83"/>
                </a:solidFill>
                <a:latin typeface="Inter"/>
              </a:rPr>
              <a:t>→ está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29" name="Rounded Rectangle 28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709160"/>
            <a:ext cx="11247120" cy="54864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DC2626"/>
                </a:solidFill>
                <a:latin typeface="Inter"/>
              </a:rPr>
              <a:t>Truc: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un/una/dos/mucho → hay · el/la/los/las/mi → está(n).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" y="4581144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 · docent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U2 · AQUÍ VIVO   ·   C6+ · aquí vivo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296619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§2 · GRAMÁTICA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Las preposiciones de lugar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Klik een cue → de preposición. Casi todas met «de» (de+el=del).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00200"/>
            <a:ext cx="5532120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600200"/>
            <a:ext cx="237744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op / boven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1600200"/>
            <a:ext cx="288036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→ encima 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386584"/>
            <a:ext cx="5532120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386584"/>
            <a:ext cx="237744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onder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2386584"/>
            <a:ext cx="288036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→ debajo de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172968"/>
            <a:ext cx="5532120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172968"/>
            <a:ext cx="237744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naast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3172968"/>
            <a:ext cx="288036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→ al lado de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959352"/>
            <a:ext cx="5532120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959352"/>
            <a:ext cx="237744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vóór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3959352"/>
            <a:ext cx="288036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→ delante de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1600200"/>
            <a:ext cx="5532120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1600200"/>
            <a:ext cx="237744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achter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32520" y="1600200"/>
            <a:ext cx="288036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→ detrás de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2386584"/>
            <a:ext cx="5532120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2386584"/>
            <a:ext cx="237744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tussen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32520" y="2386584"/>
            <a:ext cx="288036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→ entre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3172968"/>
            <a:ext cx="5532120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0" y="3172968"/>
            <a:ext cx="237744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dichtbij ↔ ver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32520" y="3172968"/>
            <a:ext cx="288036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→ cerca de ↔ lejos de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72200" y="3959352"/>
            <a:ext cx="5532120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09360" y="3959352"/>
            <a:ext cx="237744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rechts ↔ links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32520" y="3959352"/>
            <a:ext cx="288036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→ a la derecha/izquierda de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35" name="Rounded Rectangle 34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4434840"/>
            <a:ext cx="11247120" cy="77724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La habitación: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La cama está al lado de la ventana. Los libros están encima de la estantería.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DC2626"/>
                </a:solidFill>
                <a:latin typeface="Inter"/>
              </a:rPr>
              <a:t>🔴 de + el = del: al lado del banco (niet «de el»). Bij la/los/las blijft de: al lado de la plaza.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94360" y="4306824"/>
            <a:ext cx="1296619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REGLA · docent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U2 · AQUÍ VIVO   ·   C6+ · aquí vivo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885492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§3 · GRAMÁTICA VISUAL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Estar + gerundio — ahora mismo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estar + -ando (-ar) / -iendo (-er,-ir). «aan het …».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0" y="484632"/>
            <a:ext cx="118872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A6E78"/>
                </a:solidFill>
                <a:latin typeface="Inter"/>
              </a:rPr>
              <a:t>Kleurcode: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921240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85832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persoon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574121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38713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werkw.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170309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334901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tijd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653112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17704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plaats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249300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413892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valstrik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1554480"/>
            <a:ext cx="11247120" cy="1097280"/>
          </a:xfrm>
          <a:prstGeom prst="roundRect">
            <a:avLst>
              <a:gd name="adj" fmla="val 5500"/>
            </a:avLst>
          </a:prstGeom>
          <a:solidFill>
            <a:srgbClr val="EEE8F5"/>
          </a:solidFill>
          <a:ln>
            <a:noFill/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1554480"/>
            <a:ext cx="10698480" cy="10972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2563EB"/>
                </a:solidFill>
                <a:latin typeface="Bricolage Grotesque"/>
              </a:rPr>
              <a:t>Valen </a:t>
            </a:r>
            <a:r>
              <a:rPr sz="2200" b="1" i="0">
                <a:solidFill>
                  <a:srgbClr val="EA7317"/>
                </a:solidFill>
                <a:latin typeface="Bricolage Grotesque"/>
              </a:rPr>
              <a:t>está </a:t>
            </a:r>
            <a:r>
              <a:rPr sz="2200" b="1" i="0">
                <a:solidFill>
                  <a:srgbClr val="B4309A"/>
                </a:solidFill>
                <a:latin typeface="Bricolage Grotesque"/>
              </a:rPr>
              <a:t>cocinando </a:t>
            </a:r>
            <a:r>
              <a:rPr sz="2200" b="1" i="0">
                <a:solidFill>
                  <a:srgbClr val="64748B"/>
                </a:solidFill>
                <a:latin typeface="Bricolage Grotesque"/>
              </a:rPr>
              <a:t>en la cocina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2880360"/>
            <a:ext cx="109728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La formación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291840"/>
            <a:ext cx="3657600" cy="8229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3383280"/>
            <a:ext cx="338328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-ar cocinar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3712464"/>
            <a:ext cx="338328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EA7317"/>
                </a:solidFill>
                <a:latin typeface="Inter"/>
              </a:rPr>
              <a:t>cocin- + ando → cocinando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51960" y="3291840"/>
            <a:ext cx="3657600" cy="8229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9120" y="3383280"/>
            <a:ext cx="338328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-er comer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0" y="3712464"/>
            <a:ext cx="338328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EA7317"/>
                </a:solidFill>
                <a:latin typeface="Inter"/>
              </a:rPr>
              <a:t>com- + iendo → comiendo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46720" y="3291840"/>
            <a:ext cx="3657600" cy="8229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83880" y="3383280"/>
            <a:ext cx="338328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-ir escribir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83880" y="3712464"/>
            <a:ext cx="338328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EA7317"/>
                </a:solidFill>
                <a:latin typeface="Inter"/>
              </a:rPr>
              <a:t>escrib- + iendo → escribiendo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34" name="Rounded Rectangle 33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4480560"/>
            <a:ext cx="11247120" cy="82296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Regla: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estar (vervoegd) + gerundio. Enkel estar verandert: estoy/estás/está… comiendo.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5B3E83"/>
                </a:solidFill>
                <a:latin typeface="Inter"/>
              </a:rPr>
              <a:t>Onregelmatig: leer→leyendo · dormir→durmiendo · pedir→pidiendo · decir→diciendo.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94360" y="4352544"/>
            <a:ext cx="1296619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REGLA · docent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U2 · AQUÍ VIVO   ·   C6+ · aquí vivo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875995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§3 · QUIZ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¿Qué están haciendo?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Klik een zin → de juiste vorm. Kijk naar de persoon.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54480"/>
            <a:ext cx="553212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554480"/>
            <a:ext cx="329184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Valen ___ (cocinar).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1554480"/>
            <a:ext cx="19659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3E83"/>
                </a:solidFill>
                <a:latin typeface="Inter"/>
              </a:rPr>
              <a:t>→ está cocinando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359152"/>
            <a:ext cx="553212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359152"/>
            <a:ext cx="329184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(Yo) ___ (estudiar).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2359152"/>
            <a:ext cx="19659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3E83"/>
                </a:solidFill>
                <a:latin typeface="Inter"/>
              </a:rPr>
              <a:t>→ estoy estudiando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163824"/>
            <a:ext cx="553212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163824"/>
            <a:ext cx="329184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Los niños ___ (dormir).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3163824"/>
            <a:ext cx="19659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3E83"/>
                </a:solidFill>
                <a:latin typeface="Inter"/>
              </a:rPr>
              <a:t>→ están durmiendo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554480"/>
            <a:ext cx="553212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1554480"/>
            <a:ext cx="329184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¿Tú ___ (leer)?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46920" y="1554480"/>
            <a:ext cx="19659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3E83"/>
                </a:solidFill>
                <a:latin typeface="Inter"/>
              </a:rPr>
              <a:t>→ estás leyendo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2359152"/>
            <a:ext cx="553212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2359152"/>
            <a:ext cx="329184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Mamá ___ (escribir).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46920" y="2359152"/>
            <a:ext cx="19659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3E83"/>
                </a:solidFill>
                <a:latin typeface="Inter"/>
              </a:rPr>
              <a:t>→ está escribiendo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3163824"/>
            <a:ext cx="553212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3163824"/>
            <a:ext cx="329184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Diego ___ (pedir) pizza.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46920" y="3163824"/>
            <a:ext cx="19659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3E83"/>
                </a:solidFill>
                <a:latin typeface="Inter"/>
              </a:rPr>
              <a:t>→ está pidiendo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29" name="Rounded Rectangle 28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480560"/>
            <a:ext cx="11247120" cy="82296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7C56A9"/>
                </a:solidFill>
                <a:latin typeface="Inter"/>
              </a:rPr>
              <a:t>Enkel estar verandert: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estoy/estás/está/estamos/estáis/están + gerundio.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5B3E83"/>
                </a:solidFill>
                <a:latin typeface="Inter"/>
              </a:rPr>
              <a:t>Irregulares: leyendo · durmiendo · pidiendo.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" y="4352544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 · docent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U2 · AQUÍ VIVO   ·   C6+ · aquí vivo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2053742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§6 · LEER · COMPRENSIÓN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Dos perfiles — «Mi barrio»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Lees. Klik een vraag → het antwoord verschijnt.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08760"/>
            <a:ext cx="5120640" cy="3566160"/>
          </a:xfrm>
          <a:prstGeom prst="roundRect">
            <a:avLst>
              <a:gd name="adj" fmla="val 5500"/>
            </a:avLst>
          </a:prstGeom>
          <a:solidFill>
            <a:srgbClr val="EEE8F5"/>
          </a:solidFill>
          <a:ln w="17780">
            <a:solidFill>
              <a:srgbClr val="7C56A9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val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783080"/>
            <a:ext cx="914400" cy="914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74519" y="1810512"/>
            <a:ext cx="35661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20242E"/>
                </a:solidFill>
                <a:latin typeface="Inter"/>
              </a:rPr>
              <a:t>«Vivo en el centro histórico de Cartagena. Mi casa es antigua, con un balcón con flores. Delante hay una plaza; al lado está la panadería. Mi barrio es tranquilo.»</a:t>
            </a:r>
          </a:p>
        </p:txBody>
      </p:sp>
      <p:pic>
        <p:nvPicPr>
          <p:cNvPr id="12" name="Picture 11" descr="die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337560"/>
            <a:ext cx="914400" cy="9144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874519" y="3364992"/>
            <a:ext cx="35661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20242E"/>
                </a:solidFill>
                <a:latin typeface="Inter"/>
              </a:rPr>
              <a:t>«Vivo en un barrio grande de CDMX. Es ruidoso pero me gusta. Detrás de mi edificio hay un mercado. El metro está cerca y lo cojo cada día.»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52160" y="1554480"/>
            <a:ext cx="5852160" cy="777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89320" y="1609344"/>
            <a:ext cx="55778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3E83"/>
                </a:solidFill>
                <a:latin typeface="Inter"/>
              </a:rPr>
              <a:t>¿Qué hay delante de la casa de Valen?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89320" y="1956816"/>
            <a:ext cx="557784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→ Una plaza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52160" y="2450592"/>
            <a:ext cx="5852160" cy="777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89320" y="2505456"/>
            <a:ext cx="55778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3E83"/>
                </a:solidFill>
                <a:latin typeface="Inter"/>
              </a:rPr>
              <a:t>¿Dónde está la panadería?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89320" y="2852928"/>
            <a:ext cx="557784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→ Al lado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52160" y="3346704"/>
            <a:ext cx="5852160" cy="777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89320" y="3401568"/>
            <a:ext cx="55778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3E83"/>
                </a:solidFill>
                <a:latin typeface="Inter"/>
              </a:rPr>
              <a:t>¿Cómo es el barrio de Diego?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89320" y="3749040"/>
            <a:ext cx="557784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→ Ruidoso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852160" y="4242816"/>
            <a:ext cx="5852160" cy="777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89320" y="4297680"/>
            <a:ext cx="55778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3E83"/>
                </a:solidFill>
                <a:latin typeface="Inter"/>
              </a:rPr>
              <a:t>¿Qué transporte coge Diego?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89320" y="4645152"/>
            <a:ext cx="557784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→ El metro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28" name="Rounded Rectangle 27">
            <a:hlinkClick action="ppaction://hlinksldjump" r:id="rId5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852160" y="5166360"/>
            <a:ext cx="5852160" cy="54864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🎯 Leesdoel: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scannen naar hay/está + lugares — niet élk woord.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89320" y="5038344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 · docent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U2 · AQUÍ VIVO   ·   C6+ · aquí vivo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2390241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§5 · ESCUCHAR · INTERACCIÓN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¿Cómo llego a la plaza?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Volg de ruta. Klik un paso → de instructie. (audio + plano op de web)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37360"/>
            <a:ext cx="2697480" cy="2194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737360"/>
            <a:ext cx="2697480" cy="457200"/>
          </a:xfrm>
          <a:prstGeom prst="rect">
            <a:avLst/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737360"/>
            <a:ext cx="26974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🔊 paso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377440"/>
            <a:ext cx="24231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1️⃣ Sal de casa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108960"/>
            <a:ext cx="24231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7C56A9"/>
                </a:solidFill>
                <a:latin typeface="Inter"/>
              </a:rPr>
              <a:t>…y ve a la calle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29000" y="1737360"/>
            <a:ext cx="2697480" cy="2194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29000" y="1737360"/>
            <a:ext cx="2697480" cy="457200"/>
          </a:xfrm>
          <a:prstGeom prst="rect">
            <a:avLst/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29000" y="1737360"/>
            <a:ext cx="26974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🔊 paso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2377440"/>
            <a:ext cx="24231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2️⃣ Sigue recto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3108960"/>
            <a:ext cx="24231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7C56A9"/>
                </a:solidFill>
                <a:latin typeface="Inter"/>
              </a:rPr>
              <a:t>hasta el semáforo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1737360"/>
            <a:ext cx="2697480" cy="2194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1737360"/>
            <a:ext cx="2697480" cy="457200"/>
          </a:xfrm>
          <a:prstGeom prst="rect">
            <a:avLst/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0" y="1737360"/>
            <a:ext cx="26974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🔊 paso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2377440"/>
            <a:ext cx="24231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3️⃣ Gira a la derecha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3108960"/>
            <a:ext cx="24231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7C56A9"/>
                </a:solidFill>
                <a:latin typeface="Inter"/>
              </a:rPr>
              <a:t>en la esquina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06840" y="1737360"/>
            <a:ext cx="2697480" cy="2194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06840" y="1737360"/>
            <a:ext cx="2697480" cy="457200"/>
          </a:xfrm>
          <a:prstGeom prst="rect">
            <a:avLst/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06840" y="1737360"/>
            <a:ext cx="26974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🔊 paso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377440"/>
            <a:ext cx="24231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4️⃣ La plaza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3108960"/>
            <a:ext cx="24231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7C56A9"/>
                </a:solidFill>
                <a:latin typeface="Inter"/>
              </a:rPr>
              <a:t>está a la izquierda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31" name="Rounded Rectangle 30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4480560"/>
            <a:ext cx="11247120" cy="77724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Modelo-audio (docent/TTS):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«Sal de casa, sigue recto hasta el semáforo, gira a la derecha y la plaza está a la izquierda.» 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5B3E83"/>
                </a:solidFill>
                <a:latin typeface="Inter"/>
              </a:rPr>
              <a:t>Daarna: A vraagt de weg, B geeft die (info-gap).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4360" y="4352544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 · docent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U2 · AQUÍ VIVO   ·   C6+ · aquí vivo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10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885492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§4 · GRAMÁTICA VISUAL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Los pronombres lo/la/los/las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Vervang het voorwerp; concordancia + plaats vóór het werkwoord.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0" y="484632"/>
            <a:ext cx="118872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A6E78"/>
                </a:solidFill>
                <a:latin typeface="Inter"/>
              </a:rPr>
              <a:t>Kleurcode: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921240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85832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persoon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574121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38713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werkw.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170309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334901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tijd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653112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17704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plaats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249300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413892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valstrik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1554480"/>
            <a:ext cx="5486400" cy="1005840"/>
          </a:xfrm>
          <a:prstGeom prst="roundRect">
            <a:avLst>
              <a:gd name="adj" fmla="val 5500"/>
            </a:avLst>
          </a:prstGeom>
          <a:solidFill>
            <a:srgbClr val="EEE8F5"/>
          </a:solidFill>
          <a:ln>
            <a:noFill/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1554480"/>
            <a:ext cx="5120640" cy="10058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0242E"/>
                </a:solidFill>
                <a:latin typeface="Inter"/>
              </a:rPr>
              <a:t>Veo </a:t>
            </a:r>
            <a:r>
              <a:rPr sz="1600" b="1" i="0">
                <a:solidFill>
                  <a:srgbClr val="B4309A"/>
                </a:solidFill>
                <a:latin typeface="Inter"/>
              </a:rPr>
              <a:t>la casa</a:t>
            </a:r>
            <a:r>
              <a:rPr sz="1600" b="0" i="0">
                <a:solidFill>
                  <a:srgbClr val="6A6E78"/>
                </a:solidFill>
                <a:latin typeface="Inter"/>
              </a:rPr>
              <a:t> → </a:t>
            </a:r>
            <a:r>
              <a:rPr sz="1800" b="1" i="0">
                <a:solidFill>
                  <a:srgbClr val="B4309A"/>
                </a:solidFill>
                <a:latin typeface="Inter"/>
              </a:rPr>
              <a:t>La</a:t>
            </a:r>
            <a:r>
              <a:rPr sz="1600" b="0" i="0">
                <a:solidFill>
                  <a:srgbClr val="20242E"/>
                </a:solidFill>
                <a:latin typeface="Inter"/>
              </a:rPr>
              <a:t> veo.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1554480"/>
            <a:ext cx="5486400" cy="1005840"/>
          </a:xfrm>
          <a:prstGeom prst="roundRect">
            <a:avLst>
              <a:gd name="adj" fmla="val 5500"/>
            </a:avLst>
          </a:prstGeom>
          <a:solidFill>
            <a:srgbClr val="EEE8F5"/>
          </a:solidFill>
          <a:ln>
            <a:noFill/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1554480"/>
            <a:ext cx="5120640" cy="10058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0242E"/>
                </a:solidFill>
                <a:latin typeface="Inter"/>
              </a:rPr>
              <a:t>Compro </a:t>
            </a:r>
            <a:r>
              <a:rPr sz="1600" b="1" i="0">
                <a:solidFill>
                  <a:srgbClr val="B4309A"/>
                </a:solidFill>
                <a:latin typeface="Inter"/>
              </a:rPr>
              <a:t>los muebles</a:t>
            </a:r>
            <a:r>
              <a:rPr sz="1600" b="0" i="0">
                <a:solidFill>
                  <a:srgbClr val="6A6E78"/>
                </a:solidFill>
                <a:latin typeface="Inter"/>
              </a:rPr>
              <a:t> → </a:t>
            </a:r>
            <a:r>
              <a:rPr sz="1800" b="1" i="0">
                <a:solidFill>
                  <a:srgbClr val="B4309A"/>
                </a:solidFill>
                <a:latin typeface="Inter"/>
              </a:rPr>
              <a:t>Los</a:t>
            </a:r>
            <a:r>
              <a:rPr sz="1600" b="0" i="0">
                <a:solidFill>
                  <a:srgbClr val="20242E"/>
                </a:solidFill>
                <a:latin typeface="Inter"/>
              </a:rPr>
              <a:t> compro.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2880360"/>
            <a:ext cx="54864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2880360"/>
            <a:ext cx="109728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B4309A"/>
                </a:solidFill>
                <a:latin typeface="Bricolage Grotesque"/>
              </a:rPr>
              <a:t>lo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37360" y="2880360"/>
            <a:ext cx="41148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m. ev. (el libro → lo)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26480" y="2880360"/>
            <a:ext cx="54864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2880360"/>
            <a:ext cx="109728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B4309A"/>
                </a:solidFill>
                <a:latin typeface="Bricolage Grotesque"/>
              </a:rPr>
              <a:t>la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06640" y="2880360"/>
            <a:ext cx="41148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v. ev. (la casa → la)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3575304"/>
            <a:ext cx="54864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3575304"/>
            <a:ext cx="109728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B4309A"/>
                </a:solidFill>
                <a:latin typeface="Bricolage Grotesque"/>
              </a:rPr>
              <a:t>los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37360" y="3575304"/>
            <a:ext cx="41148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m. mv. (los muebles → los)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26480" y="3575304"/>
            <a:ext cx="54864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63640" y="3575304"/>
            <a:ext cx="109728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B4309A"/>
                </a:solidFill>
                <a:latin typeface="Bricolage Grotesque"/>
              </a:rPr>
              <a:t>las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06640" y="3575304"/>
            <a:ext cx="41148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v. mv. (las sillas → las)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38" name="Rounded Rectangle 37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4343400"/>
            <a:ext cx="11247120" cy="82296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Regla: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het pronomen komt overeen (m/v·ev/mv) en staat vóór het vervoegde werkwoord. 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5B3E83"/>
                </a:solidFill>
                <a:latin typeface="Inter"/>
              </a:rPr>
              <a:t>Bij infinitief/gerundio ook achteraan: Voy a comprarlo = Lo voy a comprar · Estoy leyéndolo.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94360" y="4215384"/>
            <a:ext cx="1296619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REGLA · docent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U2 · AQUÍ VIVO   ·   C6+ · aquí vivo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11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875995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§4 · QUIZ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¿lo, la, los o las?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Klik → het juiste pronomen. Kijk naar het voorwerp.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00200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600200"/>
            <a:ext cx="393192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¿El sofá? ___ pongo aquí.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600200"/>
            <a:ext cx="132588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B3E83"/>
                </a:solidFill>
                <a:latin typeface="Inter"/>
              </a:rPr>
              <a:t>→ Lo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478024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478024"/>
            <a:ext cx="393192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¿La cama? ___ pongo aquí.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478024"/>
            <a:ext cx="132588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B3E83"/>
                </a:solidFill>
                <a:latin typeface="Inter"/>
              </a:rPr>
              <a:t>→ La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355848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355848"/>
            <a:ext cx="393192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¿Los platos? ___ lavo.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3355848"/>
            <a:ext cx="132588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B3E83"/>
                </a:solidFill>
                <a:latin typeface="Inter"/>
              </a:rPr>
              <a:t>→ Los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600200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1600200"/>
            <a:ext cx="393192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¿Las sillas? ___ pongo.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87000" y="1600200"/>
            <a:ext cx="132588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B3E83"/>
                </a:solidFill>
                <a:latin typeface="Inter"/>
              </a:rPr>
              <a:t>→ Las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2478024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2478024"/>
            <a:ext cx="393192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¿La tele? ___ veo.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2478024"/>
            <a:ext cx="132588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B3E83"/>
                </a:solidFill>
                <a:latin typeface="Inter"/>
              </a:rPr>
              <a:t>→ La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3355848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3355848"/>
            <a:ext cx="393192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¿El coche? ___ aparco.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87000" y="3355848"/>
            <a:ext cx="132588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B3E83"/>
                </a:solidFill>
                <a:latin typeface="Inter"/>
              </a:rPr>
              <a:t>→ Lo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29" name="Rounded Rectangle 28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709160"/>
            <a:ext cx="11247120" cy="54864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Concordancia: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el→lo · la→la · los→los · las→las. Plaats: vóór het werkwoord.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" y="4581144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 · docent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U2 · AQUÍ VIVO   ·   C6+ · aquí vivo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12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2390241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§2 · SPEAKING · INTERACCIÓN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Describe tu casa y da la ruta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Speel de scène met de frames. Steun bouwt af: kaarten → beginwoorden → uit het hoofd.</a:t>
            </a:r>
          </a:p>
        </p:txBody>
      </p:sp>
      <p:pic>
        <p:nvPicPr>
          <p:cNvPr id="9" name="Picture 8" descr="t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1554480"/>
            <a:ext cx="1188720" cy="118872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57200" y="1645920"/>
            <a:ext cx="3108960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691640"/>
            <a:ext cx="283464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¿Qué hay?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975104"/>
            <a:ext cx="2834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3E83"/>
                </a:solidFill>
                <a:latin typeface="Bricolage Grotesque"/>
              </a:rPr>
              <a:t>En mi casa hay…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542032"/>
            <a:ext cx="3108960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587752"/>
            <a:ext cx="283464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¿Dónde está?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871216"/>
            <a:ext cx="2834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3E83"/>
                </a:solidFill>
                <a:latin typeface="Bricolage Grotesque"/>
              </a:rPr>
              <a:t>La cama está…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438144"/>
            <a:ext cx="3108960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3483864"/>
            <a:ext cx="283464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Preposición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767328"/>
            <a:ext cx="2834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3E83"/>
                </a:solidFill>
                <a:latin typeface="Bricolage Grotesque"/>
              </a:rPr>
              <a:t>…al lado de / encima de…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49040" y="1645920"/>
            <a:ext cx="3108960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86200" y="1691640"/>
            <a:ext cx="283464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Cómo llegar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86200" y="1975104"/>
            <a:ext cx="2834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3E83"/>
                </a:solidFill>
                <a:latin typeface="Bricolage Grotesque"/>
              </a:rPr>
              <a:t>Sigue recto, gira…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749040" y="2542032"/>
            <a:ext cx="3108960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86200" y="2587752"/>
            <a:ext cx="283464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Distancia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86200" y="2871216"/>
            <a:ext cx="2834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3E83"/>
                </a:solidFill>
                <a:latin typeface="Bricolage Grotesque"/>
              </a:rPr>
              <a:t>Está a … minutos.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749040" y="3438144"/>
            <a:ext cx="3108960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86200" y="3483864"/>
            <a:ext cx="283464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Opinión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86200" y="3767328"/>
            <a:ext cx="2834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3E83"/>
                </a:solidFill>
                <a:latin typeface="Bricolage Grotesque"/>
              </a:rPr>
              <a:t>Me gusta porque…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251960"/>
            <a:ext cx="5839358" cy="292608"/>
          </a:xfrm>
          <a:prstGeom prst="roundRect">
            <a:avLst>
              <a:gd name="adj" fmla="val 50000"/>
            </a:avLst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5B3E83"/>
                </a:solidFill>
                <a:latin typeface="Inter"/>
              </a:rPr>
              <a:t>🎙️ Grábate online · «Mensaje de voz: mi habitación / da direcciones»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4617720"/>
            <a:ext cx="9601200" cy="8229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Ronda 1: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met de kaarten. </a:t>
            </a:r>
            <a:r>
              <a:rPr sz="1200" b="1" i="0">
                <a:solidFill>
                  <a:srgbClr val="5B3E83"/>
                </a:solidFill>
                <a:latin typeface="Inter"/>
              </a:rPr>
              <a:t>Ronda 2: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beginwoorden. </a:t>
            </a:r>
            <a:r>
              <a:rPr sz="1200" b="1" i="0">
                <a:solidFill>
                  <a:srgbClr val="5B3E83"/>
                </a:solidFill>
                <a:latin typeface="Inter"/>
              </a:rPr>
              <a:t>Ronda 3: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uit het hoofd. </a:t>
            </a:r>
            <a:r>
              <a:rPr sz="1200" b="1" i="0">
                <a:solidFill>
                  <a:srgbClr val="5B3E83"/>
                </a:solidFill>
                <a:latin typeface="Inter"/>
              </a:rPr>
              <a:t>Ronda 4: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grábate.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32" name="Rounded Rectangle 31">
            <a:hlinkClick action="ppaction://hlinksldjump" r:id="rId4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5120640"/>
            <a:ext cx="11247120" cy="59436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Modelo: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«En mi cuarto hay una cama y un armario. La cama está al lado de la ventana. Para ir a la plaza, sigue recto y gira a la derecha.»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94360" y="4992624"/>
            <a:ext cx="1380743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MODELO · docent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U2 · AQUÍ VIVO   ·   C6+ · aquí vivo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13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801367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WRITING · PRODUCCIÓN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Mapa de mi barrio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Schrijf je buurtbeschrijving. Klik → een modeltekst verschijnt.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54480"/>
            <a:ext cx="5486400" cy="3566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691640"/>
            <a:ext cx="5120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✍️ Escribe aquí tu barrio: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194560"/>
            <a:ext cx="5120640" cy="9144"/>
          </a:xfrm>
          <a:prstGeom prst="rect">
            <a:avLst/>
          </a:prstGeom>
          <a:solidFill>
            <a:srgbClr val="E4E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2651760"/>
            <a:ext cx="5120640" cy="9144"/>
          </a:xfrm>
          <a:prstGeom prst="rect">
            <a:avLst/>
          </a:prstGeom>
          <a:solidFill>
            <a:srgbClr val="E4E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3108960"/>
            <a:ext cx="5120640" cy="9144"/>
          </a:xfrm>
          <a:prstGeom prst="rect">
            <a:avLst/>
          </a:prstGeom>
          <a:solidFill>
            <a:srgbClr val="E4E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566160"/>
            <a:ext cx="5120640" cy="9144"/>
          </a:xfrm>
          <a:prstGeom prst="rect">
            <a:avLst/>
          </a:prstGeom>
          <a:solidFill>
            <a:srgbClr val="E4E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4023360"/>
            <a:ext cx="5120640" cy="9144"/>
          </a:xfrm>
          <a:prstGeom prst="rect">
            <a:avLst/>
          </a:prstGeom>
          <a:solidFill>
            <a:srgbClr val="E4E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4480560"/>
            <a:ext cx="5120640" cy="9144"/>
          </a:xfrm>
          <a:prstGeom prst="rect">
            <a:avLst/>
          </a:prstGeom>
          <a:solidFill>
            <a:srgbClr val="E4E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155448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Checklist: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01168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☐  qué hay (hay un/una…)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42316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☐  dónde está (está al lado de…)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283464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☐  4 preposiciones de lugar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324612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☐  una ruta (sigue recto, gira…)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365760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☐  la distancia (a … minutos)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406908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☐  una opinión (me gusta… porque)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3977639"/>
            <a:ext cx="5486400" cy="1143000"/>
          </a:xfrm>
          <a:prstGeom prst="roundRect">
            <a:avLst>
              <a:gd name="adj" fmla="val 5500"/>
            </a:avLst>
          </a:prstGeom>
          <a:solidFill>
            <a:srgbClr val="EEE8F5"/>
          </a:solidFill>
          <a:ln w="15240">
            <a:solidFill>
              <a:srgbClr val="7C56A9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4023360"/>
            <a:ext cx="5212080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Modelo: </a:t>
            </a:r>
            <a:r>
              <a:rPr sz="1100" b="0" i="1">
                <a:solidFill>
                  <a:srgbClr val="20242E"/>
                </a:solidFill>
                <a:latin typeface="Inter"/>
              </a:rPr>
              <a:t>«En mi barrio hay una plaza y un parque. La tienda está al lado de mi casa. Para ir al insti, sigo recto y giro a la izquierda; está a cinco minutos. Me gusta mi barrio porque es tranquilo.»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28" name="Rounded Rectangle 27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U2 · AQUÍ VIVO   ·   C6+ · aquí vivo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14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46486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§5 · VOCABULARIO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El barrio y las direcciones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Klik een kaart → la respuesta. Bouw je woordnetwerk.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54480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1554480"/>
            <a:ext cx="16459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0242E"/>
                </a:solidFill>
                <a:latin typeface="Inter"/>
              </a:rPr>
              <a:t>la plaza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48840" y="1554480"/>
            <a:ext cx="9601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7C56A9"/>
                </a:solidFill>
                <a:latin typeface="Inter"/>
              </a:rPr>
              <a:t>→ het plein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1840" y="1554480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01568" y="1554480"/>
            <a:ext cx="16459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0242E"/>
                </a:solidFill>
                <a:latin typeface="Inter"/>
              </a:rPr>
              <a:t>el parque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83480" y="1554480"/>
            <a:ext cx="9601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7C56A9"/>
                </a:solidFill>
                <a:latin typeface="Inter"/>
              </a:rPr>
              <a:t>→ het park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1554480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36208" y="1554480"/>
            <a:ext cx="16459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0242E"/>
                </a:solidFill>
                <a:latin typeface="Inter"/>
              </a:rPr>
              <a:t>la tienda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8120" y="1554480"/>
            <a:ext cx="9601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7C56A9"/>
                </a:solidFill>
                <a:latin typeface="Inter"/>
              </a:rPr>
              <a:t>→ de winkel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61120" y="1554480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70848" y="1554480"/>
            <a:ext cx="16459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0242E"/>
                </a:solidFill>
                <a:latin typeface="Inter"/>
              </a:rPr>
              <a:t>la farmacia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52760" y="1554480"/>
            <a:ext cx="9601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7C56A9"/>
                </a:solidFill>
                <a:latin typeface="Inter"/>
              </a:rPr>
              <a:t>→ de apotheek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2322576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2322576"/>
            <a:ext cx="16459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0242E"/>
                </a:solidFill>
                <a:latin typeface="Inter"/>
              </a:rPr>
              <a:t>la parada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48840" y="2322576"/>
            <a:ext cx="9601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7C56A9"/>
                </a:solidFill>
                <a:latin typeface="Inter"/>
              </a:rPr>
              <a:t>→ de halte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91840" y="2322576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01568" y="2322576"/>
            <a:ext cx="16459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0242E"/>
                </a:solidFill>
                <a:latin typeface="Inter"/>
              </a:rPr>
              <a:t>el semáforo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83480" y="2322576"/>
            <a:ext cx="9601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7C56A9"/>
                </a:solidFill>
                <a:latin typeface="Inter"/>
              </a:rPr>
              <a:t>→ verkeerslicht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26480" y="2322576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36208" y="2322576"/>
            <a:ext cx="16459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0242E"/>
                </a:solidFill>
                <a:latin typeface="Inter"/>
              </a:rPr>
              <a:t>sigue recto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18120" y="2322576"/>
            <a:ext cx="9601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7C56A9"/>
                </a:solidFill>
                <a:latin typeface="Inter"/>
              </a:rPr>
              <a:t>→ ga rechtdoor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61120" y="2322576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70848" y="2322576"/>
            <a:ext cx="16459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0242E"/>
                </a:solidFill>
                <a:latin typeface="Inter"/>
              </a:rPr>
              <a:t>gira a la derecha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52760" y="2322576"/>
            <a:ext cx="9601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7C56A9"/>
                </a:solidFill>
                <a:latin typeface="Inter"/>
              </a:rPr>
              <a:t>→ sla rechts af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3090672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66928" y="3090672"/>
            <a:ext cx="16459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0242E"/>
                </a:solidFill>
                <a:latin typeface="Inter"/>
              </a:rPr>
              <a:t>cruza la calle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48840" y="3090672"/>
            <a:ext cx="9601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7C56A9"/>
                </a:solidFill>
                <a:latin typeface="Inter"/>
              </a:rPr>
              <a:t>→ steek over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291840" y="3090672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401568" y="3090672"/>
            <a:ext cx="16459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0242E"/>
                </a:solidFill>
                <a:latin typeface="Inter"/>
              </a:rPr>
              <a:t>está a … minutos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83480" y="3090672"/>
            <a:ext cx="9601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7C56A9"/>
                </a:solidFill>
                <a:latin typeface="Inter"/>
              </a:rPr>
              <a:t>→ op … minuten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26480" y="3090672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36208" y="3090672"/>
            <a:ext cx="16459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0242E"/>
                </a:solidFill>
                <a:latin typeface="Inter"/>
              </a:rPr>
              <a:t>¿cómo llego a…?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18120" y="3090672"/>
            <a:ext cx="9601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7C56A9"/>
                </a:solidFill>
                <a:latin typeface="Inter"/>
              </a:rPr>
              <a:t>→ hoe geraak ik bij…?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961120" y="3090672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070848" y="3090672"/>
            <a:ext cx="16459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0242E"/>
                </a:solidFill>
                <a:latin typeface="Inter"/>
              </a:rPr>
              <a:t>la esquina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652760" y="3090672"/>
            <a:ext cx="9601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7C56A9"/>
                </a:solidFill>
                <a:latin typeface="Inter"/>
              </a:rPr>
              <a:t>→ de hoek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47" name="Rounded Rectangle 46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57200" y="4572000"/>
            <a:ext cx="11247120" cy="82296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Direcciones: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¿Cómo llego a…? → sigue recto · gira a la derecha/izquierda · cruza · está a … minutos.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5B3E83"/>
                </a:solidFill>
                <a:latin typeface="Inter"/>
              </a:rPr>
              <a:t>Lugares: la plaza, el parque, la tienda, la farmacia, la parada, la estación, el banco.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94360" y="4443984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 · docent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U2 · AQUÍ VIVO   ·   C6+ · aquí vivo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15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46486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TALLER DE LENGUA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b/v + adverbios de lugar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Klik een item → correcte vorm. Gereedschap voor spelling en ruimte.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371600"/>
            <a:ext cx="548640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A · ortografía: b of v (klinken gelijk)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783080"/>
            <a:ext cx="548640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783080"/>
            <a:ext cx="23774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_entana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1783080"/>
            <a:ext cx="28346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ventana (v)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441448"/>
            <a:ext cx="548640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2441448"/>
            <a:ext cx="23774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_arrio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2441448"/>
            <a:ext cx="28346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barrio (b)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099816"/>
            <a:ext cx="548640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3099816"/>
            <a:ext cx="23774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_ivir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3099816"/>
            <a:ext cx="28346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vivir (v)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758184"/>
            <a:ext cx="548640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3758184"/>
            <a:ext cx="23774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_alcón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7520" y="3758184"/>
            <a:ext cx="28346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balcón (b)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1371600"/>
            <a:ext cx="548640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B · adverbios: aquí · ahí · allí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1783080"/>
            <a:ext cx="539496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1783080"/>
            <a:ext cx="23774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aquí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9680" y="1783080"/>
            <a:ext cx="27432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5B3E83"/>
                </a:solidFill>
                <a:latin typeface="Inter"/>
              </a:rPr>
              <a:t>→ hier (dichtbij)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2441448"/>
            <a:ext cx="539496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19088" y="2441448"/>
            <a:ext cx="23774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ahí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69680" y="2441448"/>
            <a:ext cx="27432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5B3E83"/>
                </a:solidFill>
                <a:latin typeface="Inter"/>
              </a:rPr>
              <a:t>→ daar (bij jou)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3099816"/>
            <a:ext cx="539496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19088" y="3099816"/>
            <a:ext cx="23774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allí / allá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69680" y="3099816"/>
            <a:ext cx="27432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5B3E83"/>
                </a:solidFill>
                <a:latin typeface="Inter"/>
              </a:rPr>
              <a:t>→ daar (ver)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09360" y="3758184"/>
            <a:ext cx="539496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19088" y="3758184"/>
            <a:ext cx="23774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cerca ↔ lejos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69680" y="3758184"/>
            <a:ext cx="27432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5B3E83"/>
                </a:solidFill>
                <a:latin typeface="Inter"/>
              </a:rPr>
              <a:t>→ dichtbij ↔ ver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37" name="Rounded Rectangle 36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A: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b en v klinken gelijk (≈ b); de spelling leer je uit het hoofd: ventana, vivir, barrio, balcón.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5B3E83"/>
                </a:solidFill>
                <a:latin typeface="Inter"/>
              </a:rPr>
              <a:t>B: aquí (hier) · ahí (bij jou) · allí/allá (ver).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94360" y="4443984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 · docent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U2 · AQUÍ VIVO   ·   C6+ · aquí vivo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16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2558491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CULTURA · PARADA 2: CARTAGENA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La vivienda hispana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Klik een kaart → het weetje. Patios, balcones y plazas.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54480"/>
            <a:ext cx="3703320" cy="31089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6510">
            <a:solidFill>
              <a:srgbClr val="7C56A9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554480"/>
            <a:ext cx="3703320" cy="548640"/>
          </a:xfrm>
          <a:prstGeom prst="rect">
            <a:avLst/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554480"/>
            <a:ext cx="34290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🏛️ El patio andaluz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286000"/>
            <a:ext cx="3337560" cy="17373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In het zuiden van España (Sevilla, Córdoba) heeft het huis een patio: een binnentuin met planten en een fontein, koel in de zomer.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069080"/>
            <a:ext cx="33375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Lucía kent ze goed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79392" y="1554480"/>
            <a:ext cx="3703320" cy="31089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6510">
            <a:solidFill>
              <a:srgbClr val="7C56A9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79392" y="1554480"/>
            <a:ext cx="3703320" cy="548640"/>
          </a:xfrm>
          <a:prstGeom prst="rect">
            <a:avLst/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16552" y="1554480"/>
            <a:ext cx="34290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🌺 Los balcones de Cartagena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62272" y="2286000"/>
            <a:ext cx="3337560" cy="17373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In Cartagena (Colombia) zijn de koloniale huizen kleurrijk, met houten balcones vol bloemen. De ciudad amurallada is UNESCO-erfgoed.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62272" y="4069080"/>
            <a:ext cx="33375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Valen woont 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01584" y="1554480"/>
            <a:ext cx="3703320" cy="31089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6510">
            <a:solidFill>
              <a:srgbClr val="7C56A9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01584" y="1554480"/>
            <a:ext cx="3703320" cy="548640"/>
          </a:xfrm>
          <a:prstGeom prst="rect">
            <a:avLst/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1554480"/>
            <a:ext cx="34290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🟨 La plaza, corazón del barrio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4464" y="2286000"/>
            <a:ext cx="3337560" cy="17373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Overal in de Spaanstalige wereld is de plaza het middelpunt: markt, terrasjes, ontmoeting. «Quedamos en la plaza».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84464" y="4069080"/>
            <a:ext cx="33375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el corazón del barrio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892040"/>
            <a:ext cx="11247120" cy="54864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Actividad: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compara tu casa/barrio con un patio o un balcón hispano. ¿Qué hay? ¿Qué es diferente?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4360" y="4764024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 · docent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U2 · AQUÍ VIVO   ·   C6+ · aquí vivo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17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8229600" cy="9144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🗺️ Tarea final · Mapa de mi barrio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1">
                <a:solidFill>
                  <a:srgbClr val="EEE8F5"/>
                </a:solidFill>
                <a:latin typeface="Inter"/>
              </a:rPr>
              <a:t>Dibuja el plano de tu barrio y haz una ruta guiada.</a:t>
            </a:r>
          </a:p>
        </p:txBody>
      </p:sp>
      <p:pic>
        <p:nvPicPr>
          <p:cNvPr id="5" name="Picture 4" descr="mochi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182880"/>
            <a:ext cx="914400" cy="9144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57200" y="15544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554480"/>
            <a:ext cx="402336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B3E83"/>
                </a:solidFill>
                <a:latin typeface="Bricolage Grotesque"/>
              </a:rPr>
              <a:t>Dibuja el plano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80" y="1554480"/>
            <a:ext cx="640080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5–6 lugares (tienda, parque, parada…)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12140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Bricolage Grotesque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121408"/>
            <a:ext cx="402336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B3E83"/>
                </a:solidFill>
                <a:latin typeface="Bricolage Grotesque"/>
              </a:rPr>
              <a:t>Escribe qué hay y dónde está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2121408"/>
            <a:ext cx="640080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«hay un…» · «la tienda está al lado de…»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688336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Bricolage Grotesque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688336"/>
            <a:ext cx="402336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B3E83"/>
                </a:solidFill>
                <a:latin typeface="Bricolage Grotesque"/>
              </a:rPr>
              <a:t>Añade una ruta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2688336"/>
            <a:ext cx="640080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«sigue recto, gira…» (está a … minutos)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255264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Bricolage Grotesque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255264"/>
            <a:ext cx="402336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B3E83"/>
                </a:solidFill>
                <a:latin typeface="Bricolage Grotesque"/>
              </a:rPr>
              <a:t>Añade tu opinión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3255264"/>
            <a:ext cx="640080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«me gusta mi barrio porque…»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82219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Bricolage Grotesque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822192"/>
            <a:ext cx="402336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B3E83"/>
                </a:solidFill>
                <a:latin typeface="Bricolage Grotesque"/>
              </a:rPr>
              <a:t>Preséntalo y graba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0" y="3822192"/>
            <a:ext cx="640080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en la web (recorder) — escúchate y mejora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572000"/>
            <a:ext cx="1097280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Rúbrica · ¿lo logré?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983480"/>
            <a:ext cx="2788920" cy="292608"/>
          </a:xfrm>
          <a:prstGeom prst="roundRect">
            <a:avLst>
              <a:gd name="adj" fmla="val 50000"/>
            </a:avLst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00" b="1">
                <a:solidFill>
                  <a:srgbClr val="5B3E83"/>
                </a:solidFill>
                <a:latin typeface="Inter"/>
              </a:rPr>
              <a:t>☐ hay + está(n)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337560" y="4983480"/>
            <a:ext cx="2788920" cy="292608"/>
          </a:xfrm>
          <a:prstGeom prst="roundRect">
            <a:avLst>
              <a:gd name="adj" fmla="val 50000"/>
            </a:avLst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00" b="1">
                <a:solidFill>
                  <a:srgbClr val="5B3E83"/>
                </a:solidFill>
                <a:latin typeface="Inter"/>
              </a:rPr>
              <a:t>☐ 4 preposiciones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4983480"/>
            <a:ext cx="2788920" cy="292608"/>
          </a:xfrm>
          <a:prstGeom prst="roundRect">
            <a:avLst>
              <a:gd name="adj" fmla="val 50000"/>
            </a:avLst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00" b="1">
                <a:solidFill>
                  <a:srgbClr val="5B3E83"/>
                </a:solidFill>
                <a:latin typeface="Inter"/>
              </a:rPr>
              <a:t>☐ una ruta (sigue/gira)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98280" y="4983480"/>
            <a:ext cx="2788920" cy="292608"/>
          </a:xfrm>
          <a:prstGeom prst="roundRect">
            <a:avLst>
              <a:gd name="adj" fmla="val 50000"/>
            </a:avLst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00" b="1">
                <a:solidFill>
                  <a:srgbClr val="5B3E83"/>
                </a:solidFill>
                <a:latin typeface="Inter"/>
              </a:rPr>
              <a:t>☐ una opinión (porque)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532120"/>
            <a:ext cx="109728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🎯 </a:t>
            </a:r>
            <a:r>
              <a:rPr sz="1150" b="0" i="1">
                <a:solidFill>
                  <a:srgbClr val="6A6E78"/>
                </a:solidFill>
                <a:latin typeface="Inter"/>
              </a:rPr>
              <a:t>Afzender jij · ontvanger de klas · doel je barrio delen · situatie een rondleiding · resultaat: plano + presentación oral.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U2 · AQUÍ VIVO   ·   C6+ · aquí vivo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46486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QUIZ · LA MEZCLA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Ophaal door elkaar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Gemengde ophaal van de hele unit. Klik → het antwoord. (retrieval)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00200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600200"/>
            <a:ext cx="36576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En el salón ___ un sofá (hay/está)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51960" y="1600200"/>
            <a:ext cx="16002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hay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313432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313432"/>
            <a:ext cx="36576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El sofá ___ delante de la tele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1960" y="2313432"/>
            <a:ext cx="16002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está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026664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026664"/>
            <a:ext cx="36576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de + el =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51960" y="3026664"/>
            <a:ext cx="16002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del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739896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739896"/>
            <a:ext cx="36576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comer → gerundio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51960" y="3739896"/>
            <a:ext cx="16002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comiendo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1600200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1600200"/>
            <a:ext cx="36576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dormir → gerundio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66960" y="1600200"/>
            <a:ext cx="16002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durmiendo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2313432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2313432"/>
            <a:ext cx="36576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¿La casa? ___ veo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66960" y="2313432"/>
            <a:ext cx="16002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la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3026664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0" y="3026664"/>
            <a:ext cx="36576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¿Los muebles? ___ compro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66960" y="3026664"/>
            <a:ext cx="16002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los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72200" y="3739896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09360" y="3739896"/>
            <a:ext cx="36576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«naast» =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66960" y="3739896"/>
            <a:ext cx="16002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al lado de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35" name="Rounded Rectangle 34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4617720"/>
            <a:ext cx="11247120" cy="50292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Alles komt terug: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hay/estar + preposiciones · estar + gerundio · lo/la/los/las · direcciones.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94360" y="4489704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 · docent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U2 · AQUÍ VIVO   ·   C6+ · aquí vivo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19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801367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REPASO · LO ESENCIAL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Lo esencial de un vistazo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De volledige herhaling (12 spellen, drills) staat online. Hier: de kern + semáforo.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463040"/>
            <a:ext cx="11247120" cy="2286000"/>
          </a:xfrm>
          <a:prstGeom prst="roundRect">
            <a:avLst>
              <a:gd name="adj" fmla="val 5500"/>
            </a:avLst>
          </a:prstGeom>
          <a:solidFill>
            <a:srgbClr val="F3EEE4"/>
          </a:solidFill>
          <a:ln>
            <a:noFill/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45920"/>
            <a:ext cx="1078992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•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Hay vs estar: hay + un/dos (onbepaald) · está(n) + el/la/mi (bepaald).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066544"/>
            <a:ext cx="1078992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•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Preposiciones: encima/debajo/al lado/delante/detrás de · entre · cerca/lejos de. (de+el=del).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487168"/>
            <a:ext cx="1078992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•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Estar + gerundio: estoy/estás/está… + -ando/-iendo. Irreg.: leyendo, durmiendo, pidiendo.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07792"/>
            <a:ext cx="1078992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•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Lo/la/los/las (OD): vervangt het voorwerp, concordantie, vóór het ww. of achter inf./gerundio.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328416"/>
            <a:ext cx="1078992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•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🔴 Trampas: hay ≠ está · de+el=del · lo/la vóór het ww. · concordancia lo/la/los/las.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31920"/>
            <a:ext cx="1097280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Semáforo — ¿cómo lo llevas?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343400"/>
            <a:ext cx="64008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mijn huis beschrijven (habitaciones/muebles)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4370832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DC2626"/>
                </a:solidFill>
                <a:latin typeface="Inter"/>
              </a:rPr>
              <a:t>🔴 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0" y="4370832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B7860B"/>
                </a:solidFill>
                <a:latin typeface="Inter"/>
              </a:rPr>
              <a:t>🟠 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8400" y="4370832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7C56A9"/>
                </a:solidFill>
                <a:latin typeface="Inter"/>
              </a:rPr>
              <a:t>🟢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727448"/>
            <a:ext cx="64008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hay + estar + preposiciones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0" y="475488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DC2626"/>
                </a:solidFill>
                <a:latin typeface="Inter"/>
              </a:rPr>
              <a:t>🔴 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0" y="475488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B7860B"/>
                </a:solidFill>
                <a:latin typeface="Inter"/>
              </a:rPr>
              <a:t>🟠 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058400" y="475488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7C56A9"/>
                </a:solidFill>
                <a:latin typeface="Inter"/>
              </a:rPr>
              <a:t>🟢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111496"/>
            <a:ext cx="64008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estar + gerundio (qué está pasando)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0" y="5138928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DC2626"/>
                </a:solidFill>
                <a:latin typeface="Inter"/>
              </a:rPr>
              <a:t>🔴 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686800" y="5138928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B7860B"/>
                </a:solidFill>
                <a:latin typeface="Inter"/>
              </a:rPr>
              <a:t>🟠 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058400" y="5138928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7C56A9"/>
                </a:solidFill>
                <a:latin typeface="Inter"/>
              </a:rPr>
              <a:t>🟢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495544"/>
            <a:ext cx="64008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de pronombres lo/la/los/las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0" y="5522976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DC2626"/>
                </a:solidFill>
                <a:latin typeface="Inter"/>
              </a:rPr>
              <a:t>🔴 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686800" y="5522976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B7860B"/>
                </a:solidFill>
                <a:latin typeface="Inter"/>
              </a:rPr>
              <a:t>🟠 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058400" y="5522976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7C56A9"/>
                </a:solidFill>
                <a:latin typeface="Inter"/>
              </a:rPr>
              <a:t>🟢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879592"/>
            <a:ext cx="64008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de weg vragen en wijzen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0" y="5907024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DC2626"/>
                </a:solidFill>
                <a:latin typeface="Inter"/>
              </a:rPr>
              <a:t>🔴 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686800" y="5907024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B7860B"/>
                </a:solidFill>
                <a:latin typeface="Inter"/>
              </a:rPr>
              <a:t>🟠 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058400" y="5907024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7C56A9"/>
                </a:solidFill>
                <a:latin typeface="Inter"/>
              </a:rPr>
              <a:t>🟢 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U2 · AQUÍ VIVO   ·   C6+ · aquí vivo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Bricolage Grotesque"/>
              </a:rPr>
              <a:t>TEACHER_NOTES · U2 «Aquí vivo»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11247120" cy="914400"/>
          </a:xfrm>
          <a:prstGeom prst="roundRect">
            <a:avLst>
              <a:gd name="adj" fmla="val 5500"/>
            </a:avLst>
          </a:prstGeom>
          <a:solidFill>
            <a:srgbClr val="473069"/>
          </a:solidFill>
          <a:ln>
            <a:noFill/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353312"/>
            <a:ext cx="1078992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Bricolage Grotesque"/>
              </a:rPr>
              <a:t>Timing (50 min)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19072"/>
            <a:ext cx="107899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EEE8F5"/>
                </a:solidFill>
                <a:latin typeface="Inter"/>
              </a:rPr>
              <a:t>Menu 2' · la casa 6' · hay/estar + preposiciones 12' · estar+gerundio 10' · lo/la 8' · el barrio/escucha 8' · Tarea-briefing 4'.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304288"/>
            <a:ext cx="11247120" cy="914400"/>
          </a:xfrm>
          <a:prstGeom prst="roundRect">
            <a:avLst>
              <a:gd name="adj" fmla="val 5500"/>
            </a:avLst>
          </a:prstGeom>
          <a:solidFill>
            <a:srgbClr val="473069"/>
          </a:solidFill>
          <a:ln>
            <a:noFill/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377440"/>
            <a:ext cx="1078992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Bricolage Grotesque"/>
              </a:rPr>
              <a:t>Kernvalstrikken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743200"/>
            <a:ext cx="107899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EEE8F5"/>
                </a:solidFill>
                <a:latin typeface="Inter"/>
              </a:rPr>
              <a:t>hay (onbepaald: un/dos) ≠ está (bepaald: el/la) · de + el = del (al lado del banco) · lo/la vóór het vervoegde werkwoord + concordancia (la casa → la veo) · gerundio-irreg.: leyendo, durmiendo, pidiendo.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328416"/>
            <a:ext cx="11247120" cy="914400"/>
          </a:xfrm>
          <a:prstGeom prst="roundRect">
            <a:avLst>
              <a:gd name="adj" fmla="val 5500"/>
            </a:avLst>
          </a:prstGeom>
          <a:solidFill>
            <a:srgbClr val="473069"/>
          </a:solidFill>
          <a:ln>
            <a:noFill/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3401568"/>
            <a:ext cx="1078992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Bricolage Grotesque"/>
              </a:rPr>
              <a:t>Differentiatie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767328"/>
            <a:ext cx="107899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EEE8F5"/>
                </a:solidFill>
                <a:latin typeface="Inter"/>
              </a:rPr>
              <a:t>Sterker: volledige buurtbeschrijving + ruta + una opinión + estar+gerundio in 3ª persoon. Zwakker: hay/está-kaart + preposiciones-scène langer open, frames houden; lo/la met vaste vraag-antwoord-paren.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352544"/>
            <a:ext cx="11247120" cy="914400"/>
          </a:xfrm>
          <a:prstGeom prst="roundRect">
            <a:avLst>
              <a:gd name="adj" fmla="val 5500"/>
            </a:avLst>
          </a:prstGeom>
          <a:solidFill>
            <a:srgbClr val="473069"/>
          </a:solidFill>
          <a:ln>
            <a:noFill/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4425696"/>
            <a:ext cx="1078992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Bricolage Grotesque"/>
              </a:rPr>
              <a:t>Digitaal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791456"/>
            <a:ext cx="107899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EEE8F5"/>
                </a:solidFill>
                <a:latin typeface="Inter"/>
              </a:rPr>
              <a:t>12 spellen + flip cards + gramática interactiva (hay/estar · gerundio · lo/la) + recorder (mi habitación · direcciones) + Lectura (dos perfiles) + klikbare kaart (Colombia ★) op de página digital. QR's → juiste anker.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376672"/>
            <a:ext cx="11247120" cy="914400"/>
          </a:xfrm>
          <a:prstGeom prst="roundRect">
            <a:avLst>
              <a:gd name="adj" fmla="val 5500"/>
            </a:avLst>
          </a:prstGeom>
          <a:solidFill>
            <a:srgbClr val="473069"/>
          </a:solidFill>
          <a:ln>
            <a:noFill/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5449824"/>
            <a:ext cx="1078992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Bricolage Grotesque"/>
              </a:rPr>
              <a:t>Evaluatie &amp; LPD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815584"/>
            <a:ext cx="107899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EEE8F5"/>
                </a:solidFill>
                <a:latin typeface="Inter"/>
              </a:rPr>
              <a:t>Tarea «Mapa de mi barrio» met rúbrica (4 criteria). LPD (III-Spa-d): casa/barrio 7 · hay/estar+preposiciones 8·4 · gerundio 8 · lo/la 8 · direcciones/interactie 4·9 · lezen 1·2·5 · cultuur 5. Bron: EELP-U2 (estar/lugar) + reservoir.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U2 · AQUÍ VIVO   ·   C6+ · aquí vivo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