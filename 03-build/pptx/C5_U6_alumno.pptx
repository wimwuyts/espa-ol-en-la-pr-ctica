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notesSlides/notesSlide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23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76" r:id="rId27"/>
    <p:sldId id="277" r:id="rId28"/>
    <p:sldId id="278" r:id="rId29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 1 · El regateo — ⚖️ onderhandeling &amp; dilemma</a:t>
            </a:r>
          </a:p>
          <a:p>
            <a:r>
              <a:t>OPDRACHT: Onderhandel tot jullie een deal hebben. Ieder heeft een geheime grens.</a:t>
            </a:r>
          </a:p>
          <a:p>
            <a:r>
              <a:t>DE REGEL: De verkoper mag niet onder zijn bodemprijs, de koper niet boven zijn budget. En elk nieuw bod moet met een reden komen — een getal alleen telt niet.</a:t>
            </a:r>
          </a:p>
          <a:p>
            <a:r>
              <a:t>VERLOOP: Coge tu tarjeta: precio mínimo o presupuesto. | El vendedor empieza. Siempre alto. | Regatead con razones, no solo con números. | ¿No hay trato? También es un resultado.</a:t>
            </a:r>
          </a:p>
          <a:p>
            <a:r>
              <a:t>SLEUTEL: Getallen zijn (vraagprijs, bodemprijs) in peso's. Een deal ligt altijd tussen de bodemprijs en het budget van de koper.  ||  De pronomina zitten in de formules: «se lo dejo en…», «me lo llevo». Wijs erop dat onderhandelen in het Spaans bijna niet kan zonder.  ||  «No puedo bajar más» is het sluitstuk: wie het te vroeg zegt, verliest zijn ruimte.</a:t>
            </a:r>
          </a:p>
          <a:p>
            <a:r>
              <a:t>NOTA: Afdingen is op Mexicaanse markten gebruikelijk in ambachtelijke kramen, niet in winkels met vaste prijzen. Zeg dat erbij, anders leren leerlingen het verkeerd.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 2 · Devolución imposible — 🎭 simulatie met beperking</a:t>
            </a:r>
          </a:p>
          <a:p>
            <a:r>
              <a:t>OPDRACHT: Krijg de ruil rond. De verkoper heeft drie weigeringen en jij drie argumenten.</a:t>
            </a:r>
          </a:p>
          <a:p>
            <a:r>
              <a:t>DE REGEL: Je mag elk argument maar één keer gebruiken. Op wie in herhaling valt, hoeft de verkoper niet meer te antwoorden.</a:t>
            </a:r>
          </a:p>
          <a:p>
            <a:r>
              <a:t>VERLOOP: El cliente explica el problema. | El vendedor dice que no. Primera negativa. | El cliente usa su siguiente argumento. | ¿Cambio, vale de tienda o nada?</a:t>
            </a:r>
          </a:p>
          <a:p>
            <a:r>
              <a:t>SLEUTEL: Het sterkste argument is het derde: wie alleen een andere maat vraagt, ontwijkt het hele bonverhaal. Laat leerlingen dat zelf ontdekken.  ||  Alle drie de weigeringen en alle drie de argumenten bevatten een pronomen — dat is geen toeval maar het doel van de unit.  ||  «Vale para la tienda» is de realistische uitkomst en een prima compromis.</a:t>
            </a:r>
          </a:p>
          <a:p>
            <a:r>
              <a:t>NOTA: Wissel de rollen halverwege. De verkoperrol oefent meer dan de klantrol, omdat die moet reageren op wat er komt.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 8 · El cliente imposible — 🎭 simulatie met beperking</a:t>
            </a:r>
          </a:p>
          <a:p>
            <a:r>
              <a:t>OPDRACHT: Speel je type zonder het te zeggen. De verkoper raadt op het einde.</a:t>
            </a:r>
          </a:p>
          <a:p>
            <a:r>
              <a:t>DE REGEL: Je mag je type niet benoemen en niet overdrijven tot karikatuur. Het moet uit je vragen en je reacties blijken.</a:t>
            </a:r>
          </a:p>
          <a:p>
            <a:r>
              <a:t>VERLOOP: Coge tu tarjeta de tipo. En secreto. | Comprad algo. Cinco turnos como máximo. | El vendedor dice qué tipo cree que eres. | ¿Acierta? Cambiad de papel.</a:t>
            </a:r>
          </a:p>
          <a:p>
            <a:r>
              <a:t>SLEUTEL: «El que va a regalar» is het makkelijkst te raden (die vraagt naar andermans maat), «el desconfiado» het moeilijkst.  ||  De verkoper oefent hier het meest: die moet vijf beurten lang blijven aanbieden met pronomina.  ||  Overdrijven bederft het spel én de taal: wie karikaturaal speelt, hoeft geen zinnen meer te bouwen.</a:t>
            </a:r>
          </a:p>
          <a:p>
            <a:r>
              <a:t>NOTA: Vijf beurten is genoeg. Langer en de klant valt uit zijn rol.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Relationship Id="rId3" Type="http://schemas.openxmlformats.org/officeDocument/2006/relationships/slide" Target="slide6.xml"/><Relationship Id="rId4" Type="http://schemas.openxmlformats.org/officeDocument/2006/relationships/slide" Target="slide7.xml"/><Relationship Id="rId5" Type="http://schemas.openxmlformats.org/officeDocument/2006/relationships/slide" Target="slide11.xml"/><Relationship Id="rId6" Type="http://schemas.openxmlformats.org/officeDocument/2006/relationships/slide" Target="slide9.xml"/><Relationship Id="rId7" Type="http://schemas.openxmlformats.org/officeDocument/2006/relationships/slide" Target="slide16.xml"/><Relationship Id="rId8" Type="http://schemas.openxmlformats.org/officeDocument/2006/relationships/slide" Target="slide18.xml"/><Relationship Id="rId9" Type="http://schemas.openxmlformats.org/officeDocument/2006/relationships/slide" Target="slide2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2EB085"/>
                </a:solidFill>
                <a:latin typeface="Bricolage Grotesque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390448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LA RUTA · PARADA 6 · MÉXICO · LOS MERCADOS 🇲🇽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600" b="1" i="0">
                <a:solidFill>
                  <a:srgbClr val="FFFFFF"/>
                </a:solidFill>
                <a:latin typeface="Bricolage Grotesque"/>
              </a:rPr>
              <a:t>De tiendas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1">
                <a:solidFill>
                  <a:srgbClr val="E4F4EE"/>
                </a:solidFill>
                <a:latin typeface="Inter"/>
              </a:rPr>
              <a:t>La ropa y los colores: lo/la/los/las, acabar de, este/ese/aquel y la concordancia — de compras con Diego.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Bricolage Grotesque"/>
              </a:rPr>
              <a:t>¿Qué te vas a comprar hoy?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Wat ga je vandaag kopen?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La gente de la ruta — je reisgezellen</a:t>
            </a:r>
          </a:p>
        </p:txBody>
      </p:sp>
      <p:pic>
        <p:nvPicPr>
          <p:cNvPr id="11" name="Picture 10" descr="die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anfitrión</a:t>
            </a:r>
          </a:p>
        </p:txBody>
      </p:sp>
      <p:pic>
        <p:nvPicPr>
          <p:cNvPr id="13" name="Picture 12" descr="luc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5" name="Picture 14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Kies je route — klik een tegel. Alles oefent naar de Tarea «Abre tu tienda» toe.</a:t>
            </a:r>
          </a:p>
        </p:txBody>
      </p:sp>
      <p:sp>
        <p:nvSpPr>
          <p:cNvPr id="9" name="Rounded Rectangle 8">
            <a:hlinkClick action="ppaction://hlinksldjump" r:id="rId2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2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lo/la/los/las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¿la falda? → la compro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4</a:t>
            </a:r>
          </a:p>
        </p:txBody>
      </p:sp>
      <p:sp>
        <p:nvSpPr>
          <p:cNvPr id="15" name="Rounded Rectangle 14">
            <a:hlinkClick action="ppaction://hlinksldjump" r:id="rId3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3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Acabar de + inf.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net iets gedaan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6</a:t>
            </a:r>
          </a:p>
        </p:txBody>
      </p:sp>
      <p:sp>
        <p:nvSpPr>
          <p:cNvPr id="21" name="Rounded Rectangle 20">
            <a:hlinkClick action="ppaction://hlinksldjump" r:id="rId4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4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este/ese/aquel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cerca ↔ lejos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7</a:t>
            </a:r>
          </a:p>
        </p:txBody>
      </p:sp>
      <p:sp>
        <p:nvSpPr>
          <p:cNvPr id="27" name="Rounded Rectangle 26">
            <a:hlinkClick action="ppaction://hlinksldjump" r:id="rId5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5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Concordancia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camiseta roja de rayas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11</a:t>
            </a:r>
          </a:p>
        </p:txBody>
      </p:sp>
      <p:sp>
        <p:nvSpPr>
          <p:cNvPr id="33" name="Rounded Rectangle 32">
            <a:hlinkClick action="ppaction://hlinksldjump" r:id="rId6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6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Lectura + escucha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¡rebajas! + reseña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9</a:t>
            </a:r>
          </a:p>
        </p:txBody>
      </p:sp>
      <p:sp>
        <p:nvSpPr>
          <p:cNvPr id="39" name="Rounded Rectangle 38">
            <a:hlinkClick action="ppaction://hlinksldjump" r:id="rId7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7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Cultura · compras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rebajas · regateo · tianguis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16</a:t>
            </a:r>
          </a:p>
        </p:txBody>
      </p:sp>
      <p:sp>
        <p:nvSpPr>
          <p:cNvPr id="45" name="Rounded Rectangle 44">
            <a:hlinkClick action="ppaction://hlinksldjump" r:id="rId8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8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🛍️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· tu tienda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escaparate + diálogo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18</a:t>
            </a:r>
          </a:p>
        </p:txBody>
      </p:sp>
      <p:sp>
        <p:nvSpPr>
          <p:cNvPr id="51" name="Rounded Rectangle 50">
            <a:hlinkClick action="ppaction://hlinksldjump" r:id="rId9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9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◎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Repaso + semáforo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 esencial · zelfevaluatie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20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§V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ropa y los complementos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woorden van de kast — observa. Herken ze, dan gebruik je ze.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camiseta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1463040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T-shirt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1463040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👕 arriba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los pantalones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2121408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broek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0" y="2121408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👖 abajo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vestido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779776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jurk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2779776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👗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falda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3438144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rok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63440" y="3438144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👗 abajo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los zapatos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1463040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schoenen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78440" y="1463040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👞 calzado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las zapatillas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2121408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sportschoenen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78440" y="2121408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👟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gorra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779776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pet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78440" y="2779776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🧢 complemento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bolso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200" y="3438144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handtas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378440" y="3438144"/>
            <a:ext cx="12801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Colores: </a:t>
            </a:r>
            <a:r>
              <a:rPr sz="1300" b="1" i="0">
                <a:solidFill>
                  <a:srgbClr val="1E9E74"/>
                </a:solidFill>
                <a:latin typeface="Inter"/>
              </a:rPr>
              <a:t>rojo/roja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· </a:t>
            </a:r>
            <a:r>
              <a:rPr sz="1300" b="1" i="0">
                <a:solidFill>
                  <a:srgbClr val="1E9E74"/>
                </a:solidFill>
                <a:latin typeface="Inter"/>
              </a:rPr>
              <a:t>azul · gris · verde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· </a:t>
            </a:r>
            <a:r>
              <a:rPr sz="1300" b="1" i="0">
                <a:solidFill>
                  <a:srgbClr val="14B8A6"/>
                </a:solidFill>
                <a:latin typeface="Inter"/>
              </a:rPr>
              <a:t>patrón: de rayas · de cuadros · de lunares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55" name="Rounded Rectangle 5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Concordancia: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camiseta rojA · zapatos rojOS · vestido rojO · botas rojAS.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Kleuren op -o veranderen; azul/gris/verde/marrón niet (enkel meervoud +s/+es).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/ la / los / las — vervang de prenda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Kleur = het pronomen. Het staat vóór het vervoegde werkwoord.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20242E"/>
                </a:solidFill>
                <a:latin typeface="Bricolage Grotesque"/>
              </a:rPr>
              <a:t>¿La camisa? </a:t>
            </a:r>
            <a:r>
              <a:rPr sz="2200" b="1" i="0">
                <a:solidFill>
                  <a:srgbClr val="20242E"/>
                </a:solidFill>
                <a:latin typeface="Bricolage Grotesque"/>
              </a:rPr>
              <a:t>— Sí, </a:t>
            </a:r>
            <a:r>
              <a:rPr sz="2200" b="1" i="0">
                <a:solidFill>
                  <a:srgbClr val="1E9E74"/>
                </a:solidFill>
                <a:latin typeface="Bricolage Grotesque"/>
              </a:rPr>
              <a:t>la </a:t>
            </a:r>
            <a:r>
              <a:rPr sz="2200" b="1" i="0">
                <a:solidFill>
                  <a:srgbClr val="EA7317"/>
                </a:solidFill>
                <a:latin typeface="Bricolage Grotesque"/>
              </a:rPr>
              <a:t>compro.</a:t>
            </a:r>
            <a:r>
              <a:rPr sz="2200" b="1" i="0">
                <a:solidFill>
                  <a:srgbClr val="20242E"/>
                </a:solidFill>
                <a:latin typeface="Bricolage Grotesque"/>
              </a:rPr>
              <a:t>   ¿Los zapatos? — </a:t>
            </a:r>
            <a:r>
              <a:rPr sz="2200" b="1" i="0">
                <a:solidFill>
                  <a:srgbClr val="1E9E74"/>
                </a:solidFill>
                <a:latin typeface="Bricolage Grotesque"/>
              </a:rPr>
              <a:t>Los </a:t>
            </a:r>
            <a:r>
              <a:rPr sz="2200" b="1" i="0">
                <a:solidFill>
                  <a:srgbClr val="EA7317"/>
                </a:solidFill>
                <a:latin typeface="Bricolage Grotesque"/>
              </a:rPr>
              <a:t>quiero.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La concordancia — ¿qué pronombre?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291840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lo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329184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m. ev. (el jersey)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968496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la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48840" y="396849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v. ev. (la falda)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645152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los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48840" y="4645152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m. mv. (los zapatos)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3291840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las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89320" y="329184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v. mv. (las botas)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3968496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vóór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89320" y="396849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el ww: la compro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34840" y="4645152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E9E74"/>
                </a:solidFill>
                <a:latin typeface="Inter"/>
              </a:rPr>
              <a:t>achter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89320" y="4645152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de infinitief: comprarla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3" name="Rounded Rectangle 42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212080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lo/la/los/las vervangt de prenda en staat vóór het vervoegde ww (la compro) of vast achter de infinitief (comprarla).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508406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¿lo, la, los o las?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prenda → het juiste pronomen verschijnt. Kijk naar m/v en ev/mv.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¿la falda? → ___ compro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554480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la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v. ev.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¿el jersey? → ___ compro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lo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m. ev.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¿los zapatos? → ___ compro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163824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los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m. mv.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¿las botas? → ___ compro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1554480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las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v. mv.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59152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¿el abrigo? → ___ compro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2359152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lo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m. ev.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163824"/>
            <a:ext cx="32918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¿las gafas? → ___ compro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46920" y="3163824"/>
            <a:ext cx="19659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las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v. mv.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8056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lo/la =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enkelvoud (m/v) · </a:t>
            </a:r>
            <a:r>
              <a:rPr sz="1200" b="1" i="0">
                <a:solidFill>
                  <a:srgbClr val="1E9E74"/>
                </a:solidFill>
                <a:latin typeface="Inter"/>
              </a:rPr>
              <a:t>los/las =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meervoud (m/v). Kijk naar het lidwoord: el/la · los/las. Vóór het werkwoord!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Acabar de + infinitivo — net gedaan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de vorm verschijnt. Fórmula: acabar (presente) + de + infinitivo.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0242E"/>
                </a:solidFill>
                <a:latin typeface="Inter"/>
              </a:rPr>
              <a:t>La fórmula: </a:t>
            </a:r>
            <a:r>
              <a:rPr sz="1400" b="1" i="0">
                <a:solidFill>
                  <a:srgbClr val="EA7317"/>
                </a:solidFill>
                <a:latin typeface="Inter"/>
              </a:rPr>
              <a:t>acabar (acabo, acabas, acaba…) </a:t>
            </a:r>
            <a:r>
              <a:rPr sz="1400" b="1" i="0">
                <a:solidFill>
                  <a:srgbClr val="7C3AED"/>
                </a:solidFill>
                <a:latin typeface="Inter"/>
              </a:rPr>
              <a:t>+ de + </a:t>
            </a:r>
            <a:r>
              <a:rPr sz="1400" b="1" i="0">
                <a:solidFill>
                  <a:srgbClr val="1E9E74"/>
                </a:solidFill>
                <a:latin typeface="Inter"/>
              </a:rPr>
              <a:t>infinitivo</a:t>
            </a:r>
            <a:r>
              <a:rPr sz="1400" b="0" i="0">
                <a:solidFill>
                  <a:srgbClr val="20242E"/>
                </a:solidFill>
                <a:latin typeface="Inter"/>
              </a:rPr>
              <a:t>   →   Acabo de comprar una gorra.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63040" y="201168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212140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45059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157355"/>
                </a:solidFill>
                <a:latin typeface="Bricolage Grotesque"/>
              </a:rPr>
              <a:t>acabo de…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46320" y="201168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46320" y="212140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245059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157355"/>
                </a:solidFill>
                <a:latin typeface="Bricolage Grotesque"/>
              </a:rPr>
              <a:t>acabas de…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201168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212140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él/ella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45059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157355"/>
                </a:solidFill>
                <a:latin typeface="Bricolage Grotesque"/>
              </a:rPr>
              <a:t>acaba de…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324612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63040" y="335584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nosotros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368503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157355"/>
                </a:solidFill>
                <a:latin typeface="Bricolage Grotesque"/>
              </a:rPr>
              <a:t>acabamos de…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46320" y="324612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46320" y="335584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vosotros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368503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157355"/>
                </a:solidFill>
                <a:latin typeface="Bricolage Grotesque"/>
              </a:rPr>
              <a:t>acabáis de…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0" y="3246120"/>
            <a:ext cx="3108960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0" y="3355848"/>
            <a:ext cx="310896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ellos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3685032"/>
            <a:ext cx="3108960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157355"/>
                </a:solidFill>
                <a:latin typeface="Bricolage Grotesque"/>
              </a:rPr>
              <a:t>acaban de…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120640"/>
            <a:ext cx="11247120" cy="68580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Vergeet de «de» niet: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acabo DE comprar. 🔴 Het tweede werkwoord blijft infinitief: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acabo de COMPRAR</a:t>
            </a:r>
            <a:r>
              <a:rPr sz="1200" b="0" i="0">
                <a:solidFill>
                  <a:srgbClr val="157355"/>
                </a:solidFill>
                <a:latin typeface="Inter"/>
              </a:rPr>
              <a:t>. Betekenis: net (zopas) gedaan.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49926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Este / ese / aquel — cerca ↔ lejos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afstand → de vorm verschijnt. Cerca=este · ahí=ese · lejos=aquel.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45920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1755648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👉 aquí (cerca)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03120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este / esta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645920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B7860B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55080" y="1755648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estos / estas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103120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+ mv.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724912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2834640"/>
            <a:ext cx="62362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👉👉 ahí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182112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ese / esa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2724912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B7860B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55080" y="2834640"/>
            <a:ext cx="1044244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esos / esas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3182112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+ mv.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803904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3913632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👉👉👉 allí (lejos)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261104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aquel / aquella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803904"/>
            <a:ext cx="5532120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B7860B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55080" y="3913632"/>
            <a:ext cx="1717243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aquellos / aquellas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4261104"/>
            <a:ext cx="516636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+ mv.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07492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Concuerda con la prenda: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estA falda (v) · estOS pantalones (m mv). Kijk naar het kledingstuk!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57784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Afstand: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este (aquí, in mijn hand) · ese (ahí, bij jou) · aquel (allí, in het escaparate).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54498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¿este, ese o aquel?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zin → de juiste vorm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Me gusta ___ camiseta (aquí).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600200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esta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¿Cuánto cuesta ___ gorra (ahí)?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478024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esa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___ abrigo (allí) es caro.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355848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Aquel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___ zapatos (aquí) son cómodos.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680" y="1600200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estos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Prefiero ___ vestido (ahí).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12680" y="2478024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ese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___ botas (allí) son de cuero.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3355848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Aquellas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Cerca = este/esta/estos/estas · ahí = ese/esa… · lejos = aquel/aquella…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Concuerda met de prenda (m/v · ev/mv).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§5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¡Rebajas! + una reseña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Lees en beantwoord.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120640" cy="356616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val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1005840" cy="1005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920240" y="1828800"/>
            <a:ext cx="347472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20242E"/>
                </a:solidFill>
                <a:latin typeface="Inter"/>
              </a:rPr>
              <a:t>📣 Moda Diego · ¡−50 %! Camisetas 10→5 €, vaqueros 40→25 €, zapatillas 60→39 €. ⭐ @valen: «Acabo de comprar unos vaqueros azules (25 €). Me los probé y me quedan bien. Pagué con tarjeta.»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554480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1609344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¿Cuánto cuestan los vaqueros en rebajas?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1956816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25 € (antes 40)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52160" y="2450592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89320" y="2505456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compró Valen?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2852928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unos vaqueros azules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0" y="3346704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20" y="3401568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¿Cómo pagó?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20" y="3749040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con tarjeta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52160" y="4242816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89320" y="4297680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¿Se probó la ropa? ¿Dónde?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89320" y="4645152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Sí, en el probador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52160" y="5166360"/>
            <a:ext cx="585216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🎯 Leesdoel: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scannen naar precios/descuentos en wat de klant wel/niet kocht — niet élk woord.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89320" y="50383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ESCUCHAR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Escucha en la tienda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Vier clientes compran. Klik un nombre → wat ze kopen. (audio op de digitale pagina)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Leo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Compra: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una camisa azul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Detalle: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talla 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Frida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Compra: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unos vaqueros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Detalle: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25 €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Mateo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Compra: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unas zapatillas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Detalle: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talla 42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Sara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Compra: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651760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Inter"/>
              </a:rPr>
              <a:t>un vestido rojo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32004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Detalle: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352044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de lunares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9" name="Rounded Rectangle 3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Modelo-audio (docent leest of TTS):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«Busco una camisa azul en talla M. ¿Puedo probármela?» …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Daarna spreken: leerling speelt de cliente en koopt zelf.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Concordancia — camiseta roja de rayas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prenda → de juiste kleurvorm verschijnt. Kleur past bij de prenda (m/v · ev/mv).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un vestido (rojo)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157355"/>
                </a:solidFill>
                <a:latin typeface="Bricolage Grotesque"/>
              </a:rPr>
              <a:t>→ rojo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196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una camiseta (rojo)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157355"/>
                </a:solidFill>
                <a:latin typeface="Bricolage Grotesque"/>
              </a:rPr>
              <a:t>→ roja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unos zapatos (rojo)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157355"/>
                </a:solidFill>
                <a:latin typeface="Bricolage Grotesque"/>
              </a:rPr>
              <a:t>→ rojos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unas botas (rojo)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157355"/>
                </a:solidFill>
                <a:latin typeface="Bricolage Grotesque"/>
              </a:rPr>
              <a:t>→ rojas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5196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5196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una falda (azul)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157355"/>
                </a:solidFill>
                <a:latin typeface="Bricolage Grotesque"/>
              </a:rPr>
              <a:t>→ azul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unos vaqueros (azul)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157355"/>
                </a:solidFill>
                <a:latin typeface="Bricolage Grotesque"/>
              </a:rPr>
              <a:t>→ azules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70916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🟡 Dos tipos: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rojo/roja/rojos/rojas (verandert) · azul/gris/verde (enkel meervoud +s/+es).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25780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het adjectief komt overeen in geslacht (m/v) en getal (ev/mv). Patronen met «de» (de rayas, de cuadros) veranderen niet.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51297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SPEAKING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¡Vas de compras! (regateo)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Speel de scène met de zinnen. Steun bouwt af: kaarten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Saludar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¿Qué desea?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Buscar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Busco una…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Probar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¿Puedo probármelo?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Precio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¿Cuánto cuesta?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Regatear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¿Me hace un descuento?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Cerrar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Me lo llevo.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57200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kaarten.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alleen beginwoorden.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hoofd, andere prenda.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4: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grábate en de digitale pagina.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251960"/>
            <a:ext cx="3904487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🎙️ Grábate online · «Mensaje de voz: regatea»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«Busco una camisa azul. ¿Puedo probármela? … ¿Cuánto cuesta? Es un poco caro, ¿me hace un descuento? … Me la llevo.»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escaparate (tienda)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Ontwerp je etalage.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✍️ Escribe aquí tu escaparate: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4 prendas + color/patrón + precio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concordancia correcta (roja/azules)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anuncio de rebajas (antes→ahora)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diálogo: este/ese/aquel + lo/la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acabar de (net gekocht)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una reseña de tu compañero/a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977639"/>
            <a:ext cx="5486400" cy="114300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023360"/>
            <a:ext cx="521208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«Moda Diego. Camiseta roja de rayas (5 €). Vaqueros azules (25 €). Vestido de lunares (20 €). Zapatillas blancas (39 €). ¡Grandes rebajas −50 %!»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06116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§V · VOCABULARIO · MERCADO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Colores y tiendas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woord → de vertaling verschijnt. Bouw je woordnetwerk.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rojo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rood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554480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azul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blauw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54480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verde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groen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554480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negro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1554480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zwart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322576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zapatería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schoenwinkel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2322576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panadería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bakkerij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2322576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mercado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markt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2322576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las rebajas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2322576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solden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090672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talla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1168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de maat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01568" y="3090672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probador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4632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paskamer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3090672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la caja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8096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de kassa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0848" y="3090672"/>
            <a:ext cx="15544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el descuento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3090672"/>
            <a:ext cx="109728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1E9E74"/>
                </a:solidFill>
                <a:latin typeface="Inter"/>
              </a:rPr>
              <a:t>→ de korting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Combineer prenda + color: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una camiseta roja · unos vaqueros azules · una gorra verde. Comprar en la zapatería, la panadería, el mercado.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En la tienda: la talla, el probador, la caja, las rebajas, el descuento.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Sílaba tónica + conectores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item → correcte vorm. Gereedschap voor klemtoon en verbindingswoorden.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A · sílaba tónica: aguda · llana · esdrújula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panta-lón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178308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57355"/>
                </a:solidFill>
                <a:latin typeface="Inter"/>
              </a:rPr>
              <a:t>→ aguda (laatste)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fal-da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44144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57355"/>
                </a:solidFill>
                <a:latin typeface="Inter"/>
              </a:rPr>
              <a:t>→ llana (voorlaatste)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sá-ba-do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309981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57355"/>
                </a:solidFill>
                <a:latin typeface="Inter"/>
              </a:rPr>
              <a:t>→ esdrújula (tilde)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el pantalón → los…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75818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57355"/>
                </a:solidFill>
                <a:latin typeface="Inter"/>
              </a:rPr>
              <a:t>→ pantalones (tilde weg)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B · conectores: y→e · o→u · pero/sino · así que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madre ___ hija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178308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e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vóór i-/hi-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siete ___ ocho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244144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u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vóór o-/ho-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No es azul, ___ verde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20" y="309981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sino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na ontkenning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29260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Hay rebajas, ___ compro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18320" y="375818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así que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dus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aguda=laatste · llana=voorlaatste · esdrújula=voor-voorlaatste (altijd tilde). 🔴 los pantalones/marrones (tilde weg).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B: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«dus» = así que/por eso (niet luego). Na ontkenning «maar wel» = sino.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CULTURA · PARADA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Rebajas, regateo y tianguis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het weetje verschijnt. Comprar también es cultura.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🏷️ Las rebajas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Dos veces al año (enero y julio en España): descuentos de −30 %, −50 %. La gente hace cola en las tiendas.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Rebajas = solden.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🤝 El regateo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En el mercado o el tianguis se puede regatear: «¿Me hace un descuento?». En una tienda con etiqueta, no.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Regatear = afdingen (enkel op de markt).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🧺 El tianguis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Del náhuatl «tiānquiztli»: mercado al aire libre e itinerante, desde tiempos aztecas. Ropa, comida, artesanía; se paga en efectivo.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Moda sostenible vs moda rápida.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¿compras ropa nueva o de segunda mano? ¿regateas? Refrán: «Lo barato sale caro».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QUIZ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la compra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Wat past? Klik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¿Qué ___? (u wenst)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600200"/>
            <a:ext cx="1554481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desea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¿Puedo ___me la falda? (passen)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478024"/>
            <a:ext cx="1554481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probar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¿Cuánto ___? (kosten)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355848"/>
            <a:ext cx="1554481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cuesta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Me queda bien. Me ___ llevo. (het)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680" y="1600200"/>
            <a:ext cx="1554481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lo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Acabo ___ comprar. (van)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12680" y="2478024"/>
            <a:ext cx="1554481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de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Pago con ___. (kaart)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3355848"/>
            <a:ext cx="1554481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tarjeta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De winkelzinnen: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¿Qué desea? · ¿Puedo probármelo/la? · ¿Cuánto cuesta? · Me lo llevo · Acabo de comprar · Pago con tarjeta.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Bricolage Grotesque"/>
              </a:rPr>
              <a:t>🛍️ Tarea final · Abre tu tienda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Ontwerp de tienda van je eigen winkel y representa la escena vendedor ↔ cliente.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4206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Elige un nombre y estilo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554480"/>
            <a:ext cx="6217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deportivo, elegante, sostenible…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4206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Diseña el escaparate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2121408"/>
            <a:ext cx="6217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4 prendas + color/patrón + precio (concordancia)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4206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Escribe un anuncio de rebajas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2688336"/>
            <a:ext cx="6217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antes → ahora · descuento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4206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Escribe el diálogo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60" y="3255264"/>
            <a:ext cx="6217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saludar → este/ese → probador → precio/regateo → me lo llevo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4206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Representa + reseña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0" y="3822192"/>
            <a:ext cx="6217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en pareja (of neem audio op) + 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4 prendas + color + precio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lo/la/los/las in de dialoog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este/ese + acabar de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6112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representar la escena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(de winkel) · ontvanger de cliente · doel kleding aanbieden &amp; verkopen · situatie una tienda/tianguis en México · resultaat: escaparate + anuncio + dialoog + reseña.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Gemengde ophaal van de hele unit. Klik een vraag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¿La falda? → ___ compro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86200" y="1600200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la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¿Los zapatos? → ___ llevo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86200" y="2313432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los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acabar, yo → ___ de comprar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6200" y="3026664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acabo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acabar, nosotros → ___ de pagar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86200" y="3739896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acabamos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camiseta (rood) → roj__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1600200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roja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vaqueros (blauw) → azul__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2313432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azules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cerca (v) → ___ camiseta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3026664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esta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3291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lejos (m) → ___ abrigo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3739896"/>
            <a:ext cx="1965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aquel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lo/la/los/las · acabar de + infinitivo · este/ese/aquel · concordancia.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volledige herhaling (20 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2860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lo/la/los/las: ¿la falda? → La compro. Vóór het vervoegde ww of vast achter de infinitief (comprarla).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6654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Acabar de + infinitivo: acabo/acabas/acaba… + de + infinitief = net (zopas) gedaan.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871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este/ese/aquel: este (aquí) · ese (ahí) · aquel (allí) — past bij de prenda (este/esta/estos/estas…).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Concordancia: camiseta rojA · zapatos rojOS. Kleuren op -o veranderen; azul/gris/verde niet (enkel mv.).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2841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🔴 Trampas: la compro (niet «compro la») · acabo DE comprar · una falda azul (niet «azula») · los pantalones (tilde weg).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ropa/colores benoemen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2744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lo/la/los/las (la compro)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1149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acabar de + infinitivo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9554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este/ese/aquel (afstand)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7959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concordancia (roja/azules)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DE TIENDAS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Cabecera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ip"/>
          <p:cNvSpPr/>
          <p:nvPr/>
        </p:nvSpPr>
        <p:spPr>
          <a:xfrm>
            <a:off x="457200" y="182880"/>
            <a:ext cx="30175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ipTxt"/>
          <p:cNvSpPr txBox="1"/>
          <p:nvPr/>
        </p:nvSpPr>
        <p:spPr>
          <a:xfrm>
            <a:off x="457200" y="173736"/>
            <a:ext cx="301752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RETO 1 · ONDERHANDELING &amp; DILEMMA</a:t>
            </a:r>
          </a:p>
        </p:txBody>
      </p:sp>
      <p:sp>
        <p:nvSpPr>
          <p:cNvPr id="6" name="Titulo"/>
          <p:cNvSpPr txBox="1"/>
          <p:nvPr/>
        </p:nvSpPr>
        <p:spPr>
          <a:xfrm>
            <a:off x="457200" y="502920"/>
            <a:ext cx="841248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Bricolage Grotesque"/>
              </a:rPr>
              <a:t>El regateo</a:t>
            </a:r>
          </a:p>
        </p:txBody>
      </p:sp>
      <p:sp>
        <p:nvSpPr>
          <p:cNvPr id="7" name="Badges"/>
          <p:cNvSpPr txBox="1"/>
          <p:nvPr/>
        </p:nvSpPr>
        <p:spPr>
          <a:xfrm>
            <a:off x="9052560" y="256032"/>
            <a:ext cx="2651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👥 En parejas</a:t>
            </a:r>
          </a:p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± 15 min · ★★★</a:t>
            </a:r>
          </a:p>
        </p:txBody>
      </p:sp>
      <p:sp>
        <p:nvSpPr>
          <p:cNvPr id="8" name="Gancho"/>
          <p:cNvSpPr txBox="1"/>
          <p:nvPr/>
        </p:nvSpPr>
        <p:spPr>
          <a:xfrm>
            <a:off x="457200" y="1225296"/>
            <a:ext cx="11274552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600" b="1">
                <a:solidFill>
                  <a:srgbClr val="157355"/>
                </a:solidFill>
                <a:latin typeface="Bricolage Grotesque"/>
              </a:rPr>
              <a:t>En el mercado el primer precio nunca es el precio.</a:t>
            </a:r>
          </a:p>
          <a:p>
            <a:pPr algn="l"/>
            <a:r>
              <a:rPr sz="1100" i="1">
                <a:solidFill>
                  <a:srgbClr val="6A6E78"/>
                </a:solidFill>
                <a:latin typeface="Inter"/>
              </a:rPr>
              <a:t>Op de markt is de eerste prijs nooit de prijs.</a:t>
            </a:r>
          </a:p>
        </p:txBody>
      </p:sp>
      <p:sp>
        <p:nvSpPr>
          <p:cNvPr id="9" name="ReglaCaja"/>
          <p:cNvSpPr/>
          <p:nvPr/>
        </p:nvSpPr>
        <p:spPr>
          <a:xfrm>
            <a:off x="457200" y="1847088"/>
            <a:ext cx="11274552" cy="658368"/>
          </a:xfrm>
          <a:prstGeom prst="roundRect">
            <a:avLst>
              <a:gd name="adj" fmla="val 5000"/>
            </a:avLst>
          </a:prstGeom>
          <a:solidFill>
            <a:srgbClr val="FB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glaTxt"/>
          <p:cNvSpPr txBox="1"/>
          <p:nvPr/>
        </p:nvSpPr>
        <p:spPr>
          <a:xfrm>
            <a:off x="603504" y="1883664"/>
            <a:ext cx="10972800" cy="58521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B7860B"/>
                </a:solidFill>
                <a:latin typeface="Inter"/>
              </a:rPr>
              <a:t>LA REGLA DEL RETO</a:t>
            </a:r>
          </a:p>
          <a:p>
            <a:pPr algn="l"/>
            <a:r>
              <a:rPr sz="1100">
                <a:solidFill>
                  <a:srgbClr val="20242E"/>
                </a:solidFill>
                <a:latin typeface="Inter"/>
              </a:rPr>
              <a:t>De verkoper mag niet onder zijn bodemprijs, de koper niet boven zijn budget. En elk nieuw bod moet met een reden komen — een getal alleen telt niet.</a:t>
            </a:r>
          </a:p>
        </p:txBody>
      </p:sp>
      <p:sp>
        <p:nvSpPr>
          <p:cNvPr id="11" name="Tarjeta 0"/>
          <p:cNvSpPr/>
          <p:nvPr/>
        </p:nvSpPr>
        <p:spPr>
          <a:xfrm>
            <a:off x="457200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arjetaTxt 0"/>
          <p:cNvSpPr txBox="1"/>
          <p:nvPr/>
        </p:nvSpPr>
        <p:spPr>
          <a:xfrm>
            <a:off x="548640" y="2724912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un sombrero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pide 250 pesos</a:t>
            </a:r>
          </a:p>
        </p:txBody>
      </p:sp>
      <p:sp>
        <p:nvSpPr>
          <p:cNvPr id="13" name="Onthul 0"/>
          <p:cNvSpPr/>
          <p:nvPr/>
        </p:nvSpPr>
        <p:spPr>
          <a:xfrm>
            <a:off x="548640" y="3547872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nthulTxt 0"/>
          <p:cNvSpPr txBox="1"/>
          <p:nvPr/>
        </p:nvSpPr>
        <p:spPr>
          <a:xfrm>
            <a:off x="566928" y="3547872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solo al final: ≈ 120 pesos</a:t>
            </a:r>
          </a:p>
        </p:txBody>
      </p:sp>
      <p:sp>
        <p:nvSpPr>
          <p:cNvPr id="15" name="Tarjeta 1"/>
          <p:cNvSpPr/>
          <p:nvPr/>
        </p:nvSpPr>
        <p:spPr>
          <a:xfrm>
            <a:off x="3312414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arjetaTxt 1"/>
          <p:cNvSpPr txBox="1"/>
          <p:nvPr/>
        </p:nvSpPr>
        <p:spPr>
          <a:xfrm>
            <a:off x="3403854" y="2724912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una manta de lana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pide 600 pesos</a:t>
            </a:r>
          </a:p>
        </p:txBody>
      </p:sp>
      <p:sp>
        <p:nvSpPr>
          <p:cNvPr id="17" name="Onthul 1"/>
          <p:cNvSpPr/>
          <p:nvPr/>
        </p:nvSpPr>
        <p:spPr>
          <a:xfrm>
            <a:off x="3403854" y="3547872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nthulTxt 1"/>
          <p:cNvSpPr txBox="1"/>
          <p:nvPr/>
        </p:nvSpPr>
        <p:spPr>
          <a:xfrm>
            <a:off x="3422142" y="3547872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solo al final: ≈ 350 pesos</a:t>
            </a:r>
          </a:p>
        </p:txBody>
      </p:sp>
      <p:sp>
        <p:nvSpPr>
          <p:cNvPr id="19" name="Tarjeta 2"/>
          <p:cNvSpPr/>
          <p:nvPr/>
        </p:nvSpPr>
        <p:spPr>
          <a:xfrm>
            <a:off x="6167628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arjetaTxt 2"/>
          <p:cNvSpPr txBox="1"/>
          <p:nvPr/>
        </p:nvSpPr>
        <p:spPr>
          <a:xfrm>
            <a:off x="6259068" y="2724912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unos aretes de plata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pide 400 pesos</a:t>
            </a:r>
          </a:p>
        </p:txBody>
      </p:sp>
      <p:sp>
        <p:nvSpPr>
          <p:cNvPr id="21" name="Onthul 2"/>
          <p:cNvSpPr/>
          <p:nvPr/>
        </p:nvSpPr>
        <p:spPr>
          <a:xfrm>
            <a:off x="6259068" y="3547872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nthulTxt 2"/>
          <p:cNvSpPr txBox="1"/>
          <p:nvPr/>
        </p:nvSpPr>
        <p:spPr>
          <a:xfrm>
            <a:off x="6277356" y="3547872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solo al final: ≈ 200 pesos</a:t>
            </a:r>
          </a:p>
        </p:txBody>
      </p:sp>
      <p:sp>
        <p:nvSpPr>
          <p:cNvPr id="23" name="Tarjeta 3"/>
          <p:cNvSpPr/>
          <p:nvPr/>
        </p:nvSpPr>
        <p:spPr>
          <a:xfrm>
            <a:off x="9022842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arjetaTxt 3"/>
          <p:cNvSpPr txBox="1"/>
          <p:nvPr/>
        </p:nvSpPr>
        <p:spPr>
          <a:xfrm>
            <a:off x="9114282" y="2724912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una bolsa bordada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pide 500 pesos</a:t>
            </a:r>
          </a:p>
        </p:txBody>
      </p:sp>
      <p:sp>
        <p:nvSpPr>
          <p:cNvPr id="25" name="Onthul 3"/>
          <p:cNvSpPr/>
          <p:nvPr/>
        </p:nvSpPr>
        <p:spPr>
          <a:xfrm>
            <a:off x="9114282" y="3547872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nthulTxt 3"/>
          <p:cNvSpPr txBox="1"/>
          <p:nvPr/>
        </p:nvSpPr>
        <p:spPr>
          <a:xfrm>
            <a:off x="9132570" y="3547872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solo al final: ≈ 260 pesos</a:t>
            </a:r>
          </a:p>
        </p:txBody>
      </p:sp>
      <p:sp>
        <p:nvSpPr>
          <p:cNvPr id="27" name="Tarjeta 4"/>
          <p:cNvSpPr/>
          <p:nvPr/>
        </p:nvSpPr>
        <p:spPr>
          <a:xfrm>
            <a:off x="457200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arjetaTxt 4"/>
          <p:cNvSpPr txBox="1"/>
          <p:nvPr/>
        </p:nvSpPr>
        <p:spPr>
          <a:xfrm>
            <a:off x="548640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Vendedor/a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Le hago un buen precio.</a:t>
            </a:r>
          </a:p>
        </p:txBody>
      </p:sp>
      <p:sp>
        <p:nvSpPr>
          <p:cNvPr id="29" name="Tarjeta 5"/>
          <p:cNvSpPr/>
          <p:nvPr/>
        </p:nvSpPr>
        <p:spPr>
          <a:xfrm>
            <a:off x="3312414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arjetaTxt 5"/>
          <p:cNvSpPr txBox="1"/>
          <p:nvPr/>
        </p:nvSpPr>
        <p:spPr>
          <a:xfrm>
            <a:off x="3403854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Vendedor/a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Es hecho a mano, mire.</a:t>
            </a:r>
          </a:p>
        </p:txBody>
      </p:sp>
      <p:sp>
        <p:nvSpPr>
          <p:cNvPr id="31" name="Tarjeta 6"/>
          <p:cNvSpPr/>
          <p:nvPr/>
        </p:nvSpPr>
        <p:spPr>
          <a:xfrm>
            <a:off x="6167628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arjetaTxt 6"/>
          <p:cNvSpPr txBox="1"/>
          <p:nvPr/>
        </p:nvSpPr>
        <p:spPr>
          <a:xfrm>
            <a:off x="6259068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Vendedor/a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Se lo dejo en …</a:t>
            </a:r>
          </a:p>
        </p:txBody>
      </p:sp>
      <p:sp>
        <p:nvSpPr>
          <p:cNvPr id="33" name="Tarjeta 7"/>
          <p:cNvSpPr/>
          <p:nvPr/>
        </p:nvSpPr>
        <p:spPr>
          <a:xfrm>
            <a:off x="9022842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arjetaTxt 7"/>
          <p:cNvSpPr txBox="1"/>
          <p:nvPr/>
        </p:nvSpPr>
        <p:spPr>
          <a:xfrm>
            <a:off x="9114282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Vendedor/a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No puedo bajar más.</a:t>
            </a:r>
          </a:p>
        </p:txBody>
      </p:sp>
      <p:sp>
        <p:nvSpPr>
          <p:cNvPr id="35" name="Tarjeta 8"/>
          <p:cNvSpPr/>
          <p:nvPr/>
        </p:nvSpPr>
        <p:spPr>
          <a:xfrm>
            <a:off x="457200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arjetaTxt 8"/>
          <p:cNvSpPr txBox="1"/>
          <p:nvPr/>
        </p:nvSpPr>
        <p:spPr>
          <a:xfrm>
            <a:off x="548640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Cliente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¿Cuánto cuesta?</a:t>
            </a:r>
          </a:p>
        </p:txBody>
      </p:sp>
      <p:sp>
        <p:nvSpPr>
          <p:cNvPr id="37" name="Tarjeta 9"/>
          <p:cNvSpPr/>
          <p:nvPr/>
        </p:nvSpPr>
        <p:spPr>
          <a:xfrm>
            <a:off x="3312414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arjetaTxt 9"/>
          <p:cNvSpPr txBox="1"/>
          <p:nvPr/>
        </p:nvSpPr>
        <p:spPr>
          <a:xfrm>
            <a:off x="3403854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Cliente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Es un poco caro para mí.</a:t>
            </a:r>
          </a:p>
        </p:txBody>
      </p:sp>
      <p:sp>
        <p:nvSpPr>
          <p:cNvPr id="39" name="Tarjeta 10"/>
          <p:cNvSpPr/>
          <p:nvPr/>
        </p:nvSpPr>
        <p:spPr>
          <a:xfrm>
            <a:off x="6167628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arjetaTxt 10"/>
          <p:cNvSpPr txBox="1"/>
          <p:nvPr/>
        </p:nvSpPr>
        <p:spPr>
          <a:xfrm>
            <a:off x="6259068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Cliente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¿Me lo deja en …?</a:t>
            </a:r>
          </a:p>
        </p:txBody>
      </p:sp>
      <p:sp>
        <p:nvSpPr>
          <p:cNvPr id="41" name="Tarjeta 11"/>
          <p:cNvSpPr/>
          <p:nvPr/>
        </p:nvSpPr>
        <p:spPr>
          <a:xfrm>
            <a:off x="9022842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arjetaTxt 11"/>
          <p:cNvSpPr txBox="1"/>
          <p:nvPr/>
        </p:nvSpPr>
        <p:spPr>
          <a:xfrm>
            <a:off x="9114282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Cliente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Entonces me lo llevo.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Cabecera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ip"/>
          <p:cNvSpPr/>
          <p:nvPr/>
        </p:nvSpPr>
        <p:spPr>
          <a:xfrm>
            <a:off x="457200" y="182880"/>
            <a:ext cx="30175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ipTxt"/>
          <p:cNvSpPr txBox="1"/>
          <p:nvPr/>
        </p:nvSpPr>
        <p:spPr>
          <a:xfrm>
            <a:off x="457200" y="173736"/>
            <a:ext cx="301752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RETO 2 · SIMULATIE MET BEPERKING</a:t>
            </a:r>
          </a:p>
        </p:txBody>
      </p:sp>
      <p:sp>
        <p:nvSpPr>
          <p:cNvPr id="6" name="Titulo"/>
          <p:cNvSpPr txBox="1"/>
          <p:nvPr/>
        </p:nvSpPr>
        <p:spPr>
          <a:xfrm>
            <a:off x="457200" y="502920"/>
            <a:ext cx="841248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Bricolage Grotesque"/>
              </a:rPr>
              <a:t>Devolución imposible</a:t>
            </a:r>
          </a:p>
        </p:txBody>
      </p:sp>
      <p:sp>
        <p:nvSpPr>
          <p:cNvPr id="7" name="Badges"/>
          <p:cNvSpPr txBox="1"/>
          <p:nvPr/>
        </p:nvSpPr>
        <p:spPr>
          <a:xfrm>
            <a:off x="9052560" y="256032"/>
            <a:ext cx="2651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👥 En parejas</a:t>
            </a:r>
          </a:p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± 12 min · ★★★</a:t>
            </a:r>
          </a:p>
        </p:txBody>
      </p:sp>
      <p:sp>
        <p:nvSpPr>
          <p:cNvPr id="8" name="Gancho"/>
          <p:cNvSpPr txBox="1"/>
          <p:nvPr/>
        </p:nvSpPr>
        <p:spPr>
          <a:xfrm>
            <a:off x="457200" y="1225296"/>
            <a:ext cx="11274552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600" b="1">
                <a:solidFill>
                  <a:srgbClr val="157355"/>
                </a:solidFill>
                <a:latin typeface="Bricolage Grotesque"/>
              </a:rPr>
              <a:t>Quieres devolver algo. No tienes el ticket.</a:t>
            </a:r>
          </a:p>
          <a:p>
            <a:pPr algn="l"/>
            <a:r>
              <a:rPr sz="1100" i="1">
                <a:solidFill>
                  <a:srgbClr val="6A6E78"/>
                </a:solidFill>
                <a:latin typeface="Inter"/>
              </a:rPr>
              <a:t>Je wil iets terugbrengen. Je hebt geen kassabon.</a:t>
            </a:r>
          </a:p>
        </p:txBody>
      </p:sp>
      <p:sp>
        <p:nvSpPr>
          <p:cNvPr id="9" name="ReglaCaja"/>
          <p:cNvSpPr/>
          <p:nvPr/>
        </p:nvSpPr>
        <p:spPr>
          <a:xfrm>
            <a:off x="457200" y="1847088"/>
            <a:ext cx="11274552" cy="658368"/>
          </a:xfrm>
          <a:prstGeom prst="roundRect">
            <a:avLst>
              <a:gd name="adj" fmla="val 5000"/>
            </a:avLst>
          </a:prstGeom>
          <a:solidFill>
            <a:srgbClr val="FB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glaTxt"/>
          <p:cNvSpPr txBox="1"/>
          <p:nvPr/>
        </p:nvSpPr>
        <p:spPr>
          <a:xfrm>
            <a:off x="603504" y="1883664"/>
            <a:ext cx="10972800" cy="58521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B7860B"/>
                </a:solidFill>
                <a:latin typeface="Inter"/>
              </a:rPr>
              <a:t>LA REGLA DEL RETO</a:t>
            </a:r>
          </a:p>
          <a:p>
            <a:pPr algn="l"/>
            <a:r>
              <a:rPr sz="1100">
                <a:solidFill>
                  <a:srgbClr val="20242E"/>
                </a:solidFill>
                <a:latin typeface="Inter"/>
              </a:rPr>
              <a:t>Je mag elk argument maar één keer gebruiken. Op wie in herhaling valt, hoeft de verkoper niet meer te antwoorden.</a:t>
            </a:r>
          </a:p>
        </p:txBody>
      </p:sp>
      <p:sp>
        <p:nvSpPr>
          <p:cNvPr id="11" name="Tarjeta 0"/>
          <p:cNvSpPr/>
          <p:nvPr/>
        </p:nvSpPr>
        <p:spPr>
          <a:xfrm>
            <a:off x="457200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arjetaTxt 0"/>
          <p:cNvSpPr txBox="1"/>
          <p:nvPr/>
        </p:nvSpPr>
        <p:spPr>
          <a:xfrm>
            <a:off x="548640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La tienda dice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Sin ticket no puedo hacer nada.</a:t>
            </a:r>
          </a:p>
        </p:txBody>
      </p:sp>
      <p:sp>
        <p:nvSpPr>
          <p:cNvPr id="13" name="Tarjeta 1"/>
          <p:cNvSpPr/>
          <p:nvPr/>
        </p:nvSpPr>
        <p:spPr>
          <a:xfrm>
            <a:off x="3312414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arjetaTxt 1"/>
          <p:cNvSpPr txBox="1"/>
          <p:nvPr/>
        </p:nvSpPr>
        <p:spPr>
          <a:xfrm>
            <a:off x="3403854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La tienda dice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Ya la ha llevado, mire la etiqueta.</a:t>
            </a:r>
          </a:p>
        </p:txBody>
      </p:sp>
      <p:sp>
        <p:nvSpPr>
          <p:cNvPr id="15" name="Tarjeta 2"/>
          <p:cNvSpPr/>
          <p:nvPr/>
        </p:nvSpPr>
        <p:spPr>
          <a:xfrm>
            <a:off x="6167628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arjetaTxt 2"/>
          <p:cNvSpPr txBox="1"/>
          <p:nvPr/>
        </p:nvSpPr>
        <p:spPr>
          <a:xfrm>
            <a:off x="6259068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La tienda dice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La política de la tienda es de quince días.</a:t>
            </a:r>
          </a:p>
        </p:txBody>
      </p:sp>
      <p:sp>
        <p:nvSpPr>
          <p:cNvPr id="17" name="Tarjeta 3"/>
          <p:cNvSpPr/>
          <p:nvPr/>
        </p:nvSpPr>
        <p:spPr>
          <a:xfrm>
            <a:off x="9022842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arjetaTxt 3"/>
          <p:cNvSpPr txBox="1"/>
          <p:nvPr/>
        </p:nvSpPr>
        <p:spPr>
          <a:xfrm>
            <a:off x="9114282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Tu argumento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La he comprado aquí esta semana, me acuerdo del vendedor.</a:t>
            </a:r>
          </a:p>
        </p:txBody>
      </p:sp>
      <p:sp>
        <p:nvSpPr>
          <p:cNvPr id="19" name="Tarjeta 4"/>
          <p:cNvSpPr/>
          <p:nvPr/>
        </p:nvSpPr>
        <p:spPr>
          <a:xfrm>
            <a:off x="457200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arjetaTxt 4"/>
          <p:cNvSpPr txBox="1"/>
          <p:nvPr/>
        </p:nvSpPr>
        <p:spPr>
          <a:xfrm>
            <a:off x="548640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Tu argumento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No la he llevado, solo me la he probado en casa.</a:t>
            </a:r>
          </a:p>
        </p:txBody>
      </p:sp>
      <p:sp>
        <p:nvSpPr>
          <p:cNvPr id="21" name="Tarjeta 5"/>
          <p:cNvSpPr/>
          <p:nvPr/>
        </p:nvSpPr>
        <p:spPr>
          <a:xfrm>
            <a:off x="3312414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arjetaTxt 5"/>
          <p:cNvSpPr txBox="1"/>
          <p:nvPr/>
        </p:nvSpPr>
        <p:spPr>
          <a:xfrm>
            <a:off x="3403854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Tu argumento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Solo quiero cambiarla por otra talla, no el dinero.</a:t>
            </a:r>
          </a:p>
        </p:txBody>
      </p:sp>
      <p:sp>
        <p:nvSpPr>
          <p:cNvPr id="23" name="Tarjeta 6"/>
          <p:cNvSpPr/>
          <p:nvPr/>
        </p:nvSpPr>
        <p:spPr>
          <a:xfrm>
            <a:off x="6167628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arjetaTxt 6"/>
          <p:cNvSpPr txBox="1"/>
          <p:nvPr/>
        </p:nvSpPr>
        <p:spPr>
          <a:xfrm>
            <a:off x="6259068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salida posible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cambio por otra talla</a:t>
            </a:r>
          </a:p>
        </p:txBody>
      </p:sp>
      <p:sp>
        <p:nvSpPr>
          <p:cNvPr id="25" name="Tarjeta 7"/>
          <p:cNvSpPr/>
          <p:nvPr/>
        </p:nvSpPr>
        <p:spPr>
          <a:xfrm>
            <a:off x="9022842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arjetaTxt 7"/>
          <p:cNvSpPr txBox="1"/>
          <p:nvPr/>
        </p:nvSpPr>
        <p:spPr>
          <a:xfrm>
            <a:off x="9114282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salida posible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vale para la tienda</a:t>
            </a:r>
          </a:p>
        </p:txBody>
      </p:sp>
      <p:sp>
        <p:nvSpPr>
          <p:cNvPr id="27" name="Tarjeta 8"/>
          <p:cNvSpPr/>
          <p:nvPr/>
        </p:nvSpPr>
        <p:spPr>
          <a:xfrm>
            <a:off x="457200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arjetaTxt 8"/>
          <p:cNvSpPr txBox="1"/>
          <p:nvPr/>
        </p:nvSpPr>
        <p:spPr>
          <a:xfrm>
            <a:off x="548640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salida posible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nada de nada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Cabecera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ip"/>
          <p:cNvSpPr/>
          <p:nvPr/>
        </p:nvSpPr>
        <p:spPr>
          <a:xfrm>
            <a:off x="457200" y="182880"/>
            <a:ext cx="30175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ipTxt"/>
          <p:cNvSpPr txBox="1"/>
          <p:nvPr/>
        </p:nvSpPr>
        <p:spPr>
          <a:xfrm>
            <a:off x="457200" y="173736"/>
            <a:ext cx="301752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RETO 8 · SIMULATIE MET BEPERKING</a:t>
            </a:r>
          </a:p>
        </p:txBody>
      </p:sp>
      <p:sp>
        <p:nvSpPr>
          <p:cNvPr id="6" name="Titulo"/>
          <p:cNvSpPr txBox="1"/>
          <p:nvPr/>
        </p:nvSpPr>
        <p:spPr>
          <a:xfrm>
            <a:off x="457200" y="502920"/>
            <a:ext cx="841248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Bricolage Grotesque"/>
              </a:rPr>
              <a:t>El cliente imposible</a:t>
            </a:r>
          </a:p>
        </p:txBody>
      </p:sp>
      <p:sp>
        <p:nvSpPr>
          <p:cNvPr id="7" name="Badges"/>
          <p:cNvSpPr txBox="1"/>
          <p:nvPr/>
        </p:nvSpPr>
        <p:spPr>
          <a:xfrm>
            <a:off x="9052560" y="256032"/>
            <a:ext cx="2651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👥 En parejas</a:t>
            </a:r>
          </a:p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± 12 min · ★★★</a:t>
            </a:r>
          </a:p>
        </p:txBody>
      </p:sp>
      <p:sp>
        <p:nvSpPr>
          <p:cNvPr id="8" name="Gancho"/>
          <p:cNvSpPr txBox="1"/>
          <p:nvPr/>
        </p:nvSpPr>
        <p:spPr>
          <a:xfrm>
            <a:off x="457200" y="1225296"/>
            <a:ext cx="11274552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600" b="1">
                <a:solidFill>
                  <a:srgbClr val="157355"/>
                </a:solidFill>
                <a:latin typeface="Bricolage Grotesque"/>
              </a:rPr>
              <a:t>El vendedor tiene que adivinar qué tipo de cliente le ha tocado.</a:t>
            </a:r>
          </a:p>
          <a:p>
            <a:pPr algn="l"/>
            <a:r>
              <a:rPr sz="1100" i="1">
                <a:solidFill>
                  <a:srgbClr val="6A6E78"/>
                </a:solidFill>
                <a:latin typeface="Inter"/>
              </a:rPr>
              <a:t>De verkoper moet raden wat voor klant hij tegenover zich heeft.</a:t>
            </a:r>
          </a:p>
        </p:txBody>
      </p:sp>
      <p:sp>
        <p:nvSpPr>
          <p:cNvPr id="9" name="ReglaCaja"/>
          <p:cNvSpPr/>
          <p:nvPr/>
        </p:nvSpPr>
        <p:spPr>
          <a:xfrm>
            <a:off x="457200" y="1847088"/>
            <a:ext cx="11274552" cy="658368"/>
          </a:xfrm>
          <a:prstGeom prst="roundRect">
            <a:avLst>
              <a:gd name="adj" fmla="val 5000"/>
            </a:avLst>
          </a:prstGeom>
          <a:solidFill>
            <a:srgbClr val="FB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glaTxt"/>
          <p:cNvSpPr txBox="1"/>
          <p:nvPr/>
        </p:nvSpPr>
        <p:spPr>
          <a:xfrm>
            <a:off x="603504" y="1883664"/>
            <a:ext cx="10972800" cy="58521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B7860B"/>
                </a:solidFill>
                <a:latin typeface="Inter"/>
              </a:rPr>
              <a:t>LA REGLA DEL RETO</a:t>
            </a:r>
          </a:p>
          <a:p>
            <a:pPr algn="l"/>
            <a:r>
              <a:rPr sz="1100">
                <a:solidFill>
                  <a:srgbClr val="20242E"/>
                </a:solidFill>
                <a:latin typeface="Inter"/>
              </a:rPr>
              <a:t>Je mag je type niet benoemen en niet overdrijven tot karikatuur. Het moet uit je vragen en je reacties blijken.</a:t>
            </a:r>
          </a:p>
        </p:txBody>
      </p:sp>
      <p:sp>
        <p:nvSpPr>
          <p:cNvPr id="11" name="Tarjeta 0"/>
          <p:cNvSpPr/>
          <p:nvPr/>
        </p:nvSpPr>
        <p:spPr>
          <a:xfrm>
            <a:off x="457200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arjetaTxt 0"/>
          <p:cNvSpPr txBox="1"/>
          <p:nvPr/>
        </p:nvSpPr>
        <p:spPr>
          <a:xfrm>
            <a:off x="548640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el indeciso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Todo te gusta y nada te convence. Preguntas mucho.</a:t>
            </a:r>
          </a:p>
        </p:txBody>
      </p:sp>
      <p:sp>
        <p:nvSpPr>
          <p:cNvPr id="13" name="Tarjeta 1"/>
          <p:cNvSpPr/>
          <p:nvPr/>
        </p:nvSpPr>
        <p:spPr>
          <a:xfrm>
            <a:off x="3312414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arjetaTxt 1"/>
          <p:cNvSpPr txBox="1"/>
          <p:nvPr/>
        </p:nvSpPr>
        <p:spPr>
          <a:xfrm>
            <a:off x="3403854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el ahorrador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Solo miras el precio. Siempre buscas algo más barato.</a:t>
            </a:r>
          </a:p>
        </p:txBody>
      </p:sp>
      <p:sp>
        <p:nvSpPr>
          <p:cNvPr id="15" name="Tarjeta 2"/>
          <p:cNvSpPr/>
          <p:nvPr/>
        </p:nvSpPr>
        <p:spPr>
          <a:xfrm>
            <a:off x="6167628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arjetaTxt 2"/>
          <p:cNvSpPr txBox="1"/>
          <p:nvPr/>
        </p:nvSpPr>
        <p:spPr>
          <a:xfrm>
            <a:off x="6259068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el que tiene prisa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Quieres salir en dos minutos. Nada de charla.</a:t>
            </a:r>
          </a:p>
        </p:txBody>
      </p:sp>
      <p:sp>
        <p:nvSpPr>
          <p:cNvPr id="17" name="Tarjeta 3"/>
          <p:cNvSpPr/>
          <p:nvPr/>
        </p:nvSpPr>
        <p:spPr>
          <a:xfrm>
            <a:off x="9022842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arjetaTxt 3"/>
          <p:cNvSpPr txBox="1"/>
          <p:nvPr/>
        </p:nvSpPr>
        <p:spPr>
          <a:xfrm>
            <a:off x="9114282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el desconfiado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Quieres saber de dónde viene todo y si se puede devolver.</a:t>
            </a:r>
          </a:p>
        </p:txBody>
      </p:sp>
      <p:sp>
        <p:nvSpPr>
          <p:cNvPr id="19" name="Tarjeta 4"/>
          <p:cNvSpPr/>
          <p:nvPr/>
        </p:nvSpPr>
        <p:spPr>
          <a:xfrm>
            <a:off x="457200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arjetaTxt 4"/>
          <p:cNvSpPr txBox="1"/>
          <p:nvPr/>
        </p:nvSpPr>
        <p:spPr>
          <a:xfrm>
            <a:off x="548640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el que va a regalar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No es para ti. No sabes la talla del otro.</a:t>
            </a:r>
          </a:p>
        </p:txBody>
      </p:sp>
      <p:sp>
        <p:nvSpPr>
          <p:cNvPr id="21" name="Tarjeta 5"/>
          <p:cNvSpPr/>
          <p:nvPr/>
        </p:nvSpPr>
        <p:spPr>
          <a:xfrm>
            <a:off x="3312414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arjetaTxt 5"/>
          <p:cNvSpPr txBox="1"/>
          <p:nvPr/>
        </p:nvSpPr>
        <p:spPr>
          <a:xfrm>
            <a:off x="3403854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Vendedor/a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¿Le ayudo?</a:t>
            </a:r>
          </a:p>
        </p:txBody>
      </p:sp>
      <p:sp>
        <p:nvSpPr>
          <p:cNvPr id="23" name="Tarjeta 6"/>
          <p:cNvSpPr/>
          <p:nvPr/>
        </p:nvSpPr>
        <p:spPr>
          <a:xfrm>
            <a:off x="6167628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arjetaTxt 6"/>
          <p:cNvSpPr txBox="1"/>
          <p:nvPr/>
        </p:nvSpPr>
        <p:spPr>
          <a:xfrm>
            <a:off x="6259068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Vendedor/a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Este le queda muy bien.</a:t>
            </a:r>
          </a:p>
        </p:txBody>
      </p:sp>
      <p:sp>
        <p:nvSpPr>
          <p:cNvPr id="25" name="Tarjeta 7"/>
          <p:cNvSpPr/>
          <p:nvPr/>
        </p:nvSpPr>
        <p:spPr>
          <a:xfrm>
            <a:off x="9022842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arjetaTxt 7"/>
          <p:cNvSpPr txBox="1"/>
          <p:nvPr/>
        </p:nvSpPr>
        <p:spPr>
          <a:xfrm>
            <a:off x="9114282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Vendedor/a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Se lo puedo enseñar en otro color.</a:t>
            </a:r>
          </a:p>
        </p:txBody>
      </p:sp>
      <p:sp>
        <p:nvSpPr>
          <p:cNvPr id="27" name="Tarjeta 8"/>
          <p:cNvSpPr/>
          <p:nvPr/>
        </p:nvSpPr>
        <p:spPr>
          <a:xfrm>
            <a:off x="457200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arjetaTxt 8"/>
          <p:cNvSpPr txBox="1"/>
          <p:nvPr/>
        </p:nvSpPr>
        <p:spPr>
          <a:xfrm>
            <a:off x="548640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Vendedor/a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¿Se lo envuelvo para regalo?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