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7.xml"/><Relationship Id="rId4" Type="http://schemas.openxmlformats.org/officeDocument/2006/relationships/slide" Target="slide11.xml"/><Relationship Id="rId5" Type="http://schemas.openxmlformats.org/officeDocument/2006/relationships/slide" Target="slide9.xml"/><Relationship Id="rId6" Type="http://schemas.openxmlformats.org/officeDocument/2006/relationships/slide" Target="slide16.xml"/><Relationship Id="rId7" Type="http://schemas.openxmlformats.org/officeDocument/2006/relationships/slide" Target="slide17.xml"/><Relationship Id="rId8" Type="http://schemas.openxmlformats.org/officeDocument/2006/relationships/slide" Target="slide19.xml"/><Relationship Id="rId9" Type="http://schemas.openxmlformats.org/officeDocument/2006/relationships/slide" Target="slide20.xml"/><Relationship Id="rId10" Type="http://schemas.openxmlformats.org/officeDocument/2006/relationships/slide" Target="slide2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2EB085"/>
                </a:solidFill>
                <a:latin typeface="Bricolage Grotesque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57355"/>
                </a:solidFill>
                <a:latin typeface="Inter"/>
              </a:rPr>
              <a:t>LA RUTA · PARADA 4 · VALÈNCIA 🇪🇸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7200" b="1" i="0">
                <a:solidFill>
                  <a:srgbClr val="FFFFFF"/>
                </a:solidFill>
                <a:latin typeface="Bricolage Grotesque"/>
              </a:rPr>
              <a:t>Me gusta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4F4EE"/>
                </a:solidFill>
                <a:latin typeface="Inter"/>
              </a:rPr>
              <a:t>Hablar de gustos: música, deportes, cine y planes — en València, con Lucía y Bea.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¿Qué te gusta hacer en tu tiempo libre?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Wat doe je graag in je vrije tijd?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Kies je route — klik een tegel. Alles oefent naar de Tarea «Mi playlist»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371600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371600"/>
            <a:ext cx="36576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44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26464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Me gusta(n)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920240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gustar/encantar · pronombres OI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25603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4242816" y="1371600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4242816" y="1371600"/>
            <a:ext cx="36576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52544" y="1444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1426464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De acuerdo o 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1920240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también/tampoco · a mí sí/no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7408" y="25603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7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8028432" y="1371600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8028432" y="1371600"/>
            <a:ext cx="36576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38160" y="1444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58784" y="1426464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Proponer un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3024" y="1920240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querer/poder + inf. · quedar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93024" y="25603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11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457200" y="3090672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457200" y="3090672"/>
            <a:ext cx="3657600" cy="457200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66928" y="31638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E9E74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" y="3145536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" y="3639312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perfiles de gustos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" y="4279392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9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242816" y="3090672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242816" y="3090672"/>
            <a:ext cx="36576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52544" y="31638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73168" y="3145536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 · ocio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3639312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Rosalía y el ocio joven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07408" y="427939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16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8028432" y="3090672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8028432" y="3090672"/>
            <a:ext cx="36576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8160" y="31638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♫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8784" y="3145536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Banda sonora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3639312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6 artistas · la escala del gusto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3024" y="4279392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17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457200" y="4809744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457200" y="4809744"/>
            <a:ext cx="36576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6928" y="48828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552" y="4864608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playlist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" y="5358384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je playlist + presentarla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" y="59984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19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4242816" y="4809744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4242816" y="4809744"/>
            <a:ext cx="3657600" cy="457200"/>
          </a:xfrm>
          <a:prstGeom prst="rect">
            <a:avLst/>
          </a:prstGeom>
          <a:solidFill>
            <a:srgbClr val="B7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4352544" y="48828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B7860B"/>
                </a:solidFill>
                <a:latin typeface="Bricolage Grotesque"/>
              </a:rPr>
              <a:t>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3168" y="4864608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Quiz «La mezcla»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07408" y="5358384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gemengde ophaal — mét oplossing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07408" y="59984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20</a:t>
            </a:r>
          </a:p>
        </p:txBody>
      </p:sp>
      <p:sp>
        <p:nvSpPr>
          <p:cNvPr id="57" name="Rounded Rectangle 56">
            <a:hlinkClick action="ppaction://hlinksldjump" r:id="rId10"/>
          </p:cNvPr>
          <p:cNvSpPr/>
          <p:nvPr/>
        </p:nvSpPr>
        <p:spPr>
          <a:xfrm>
            <a:off x="8028432" y="4809744"/>
            <a:ext cx="3657600" cy="15727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157355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>
            <a:hlinkClick action="ppaction://hlinksldjump" r:id="rId10"/>
          </p:cNvPr>
          <p:cNvSpPr/>
          <p:nvPr/>
        </p:nvSpPr>
        <p:spPr>
          <a:xfrm>
            <a:off x="8028432" y="4809744"/>
            <a:ext cx="3657600" cy="45720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38160" y="488289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57355"/>
                </a:solidFill>
                <a:latin typeface="Bricolage Grotesque"/>
              </a:rPr>
              <a:t>◎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58784" y="4864608"/>
            <a:ext cx="3017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93024" y="5358384"/>
            <a:ext cx="3328416" cy="594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93024" y="59984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157355"/>
                </a:solidFill>
                <a:latin typeface="Inter"/>
              </a:rPr>
              <a:t>→ dia 21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gustos y el ocio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woorden van je vrije tijd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me gusta(n)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leuk vinden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fútbol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me encanta(n)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dol zijn 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bailar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el deporte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nadar · jugar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música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muziek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escuchar · tocar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canción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liedje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1463040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el/la cantante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película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film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2121408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serie · el cine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la playa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strand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2779776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el mar · la costa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los videojuegos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21031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videospellen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3438144"/>
            <a:ext cx="12801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salir con amigos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Opinar: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gusta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(1/inf.)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gustan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(mv.) · </a:t>
            </a:r>
            <a:r>
              <a:rPr sz="1300" b="1" i="0">
                <a:solidFill>
                  <a:srgbClr val="EA7317"/>
                </a:solidFill>
                <a:latin typeface="Inter"/>
              </a:rPr>
              <a:t>Me encanta(n)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(sterker) · </a:t>
            </a:r>
            <a:r>
              <a:rPr sz="1300" b="1" i="0">
                <a:solidFill>
                  <a:srgbClr val="DC2626"/>
                </a:solidFill>
                <a:latin typeface="Inter"/>
              </a:rPr>
              <a:t>No me gusta(n)</a:t>
            </a:r>
            <a:r>
              <a:rPr sz="1300" b="0" i="0">
                <a:solidFill>
                  <a:srgbClr val="20242E"/>
                </a:solidFill>
                <a:latin typeface="Inter"/>
              </a:rPr>
              <a:t> (–)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Gustar al revés: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me gusta la música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= «de muziek bevalt mij». </a:t>
            </a:r>
            <a:r>
              <a:rPr sz="1200" b="1" i="0">
                <a:solidFill>
                  <a:srgbClr val="DC2626"/>
                </a:solidFill>
                <a:latin typeface="Inter"/>
              </a:rPr>
              <a:t>🔴 Meervoud → gustaN: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me gustan los deportes.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Adverbios de frecuencia: siempre · a menudo · a veces · casi nunca · nunca · todos los días.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Gustar — al revés («het bevalt mij»)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Kleur = taalfunctie. Het ding is het ONDERWERP; jij bent OI.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E9E74"/>
                </a:solidFill>
                <a:latin typeface="Bricolage Grotesque"/>
              </a:rPr>
              <a:t>A mí </a:t>
            </a:r>
            <a:r>
              <a:rPr sz="2500" b="1" i="0">
                <a:solidFill>
                  <a:srgbClr val="2563EB"/>
                </a:solidFill>
                <a:latin typeface="Bricolage Grotesque"/>
              </a:rPr>
              <a:t>me </a:t>
            </a:r>
            <a:r>
              <a:rPr sz="2500" b="1" i="0">
                <a:solidFill>
                  <a:srgbClr val="EA7317"/>
                </a:solidFill>
                <a:latin typeface="Bricolage Grotesque"/>
              </a:rPr>
              <a:t>gusta </a:t>
            </a:r>
            <a:r>
              <a:rPr sz="2500" b="1" i="0">
                <a:solidFill>
                  <a:srgbClr val="14B8A6"/>
                </a:solidFill>
                <a:latin typeface="Bricolage Grotesque"/>
              </a:rPr>
              <a:t>la música </a:t>
            </a:r>
            <a:r>
              <a:rPr sz="25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500" b="1" i="0">
                <a:solidFill>
                  <a:srgbClr val="2563EB"/>
                </a:solidFill>
                <a:latin typeface="Bricolage Grotesque"/>
              </a:rPr>
              <a:t>me </a:t>
            </a:r>
            <a:r>
              <a:rPr sz="2500" b="1" i="0">
                <a:solidFill>
                  <a:srgbClr val="EA7317"/>
                </a:solidFill>
                <a:latin typeface="Bricolage Grotesque"/>
              </a:rPr>
              <a:t>gustan </a:t>
            </a:r>
            <a:r>
              <a:rPr sz="2500" b="1" i="0">
                <a:solidFill>
                  <a:srgbClr val="14B8A6"/>
                </a:solidFill>
                <a:latin typeface="Bricolage Grotesque"/>
              </a:rPr>
              <a:t>los deportes.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Los pronombres OI — ¿a quién le gusta?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mí) 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 el mar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ti) 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¿gusta bailar?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él/ella) 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 la playa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nosotros) nos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gustan los conciertos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vosotros)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¿gusta el cine?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563EB"/>
                </a:solidFill>
                <a:latin typeface="Inter"/>
              </a:rPr>
              <a:t>(a ellos) 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gusta la música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1208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gusta + 1 ding of infinitivo · gustan + meervoud. Idem encanta/encantan. Al revés: het ding is het onderwerp!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0840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¿gusta o gustan?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zin → de juiste vorm verschijnt. Eén ding/infinitivo = gusta · meerdere = gustan.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los deportes.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el fútbol.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1 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bailar.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infinitivo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las series.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554480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la playa.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359152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1 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291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Me ___ los videojuegos.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163824"/>
            <a:ext cx="19659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Inter"/>
              </a:rPr>
              <a:t>gustan </a:t>
            </a:r>
            <a:r>
              <a:rPr sz="1000" b="0" i="1">
                <a:solidFill>
                  <a:srgbClr val="1E9E74"/>
                </a:solidFill>
                <a:latin typeface="Inter"/>
              </a:rPr>
              <a:t>· mv.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gusta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één ding of een infinitivo (bailar, leer…).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E9E74"/>
                </a:solidFill>
                <a:latin typeface="Inter"/>
              </a:rPr>
              <a:t>gustan =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meerdere dingen (los deportes, las series). Tel wat je leuk vindt!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pronombres OI (me/te/le…)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Denk het woord, klik de kaart → het verschijnt. Voor élke persoon een ander OI-woord.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mí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170992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él/ella/usted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nosotros/-as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nos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5196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vosotros/-as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926080"/>
            <a:ext cx="3611880" cy="1143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0" y="3035808"/>
            <a:ext cx="36118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A6E78"/>
                </a:solidFill>
                <a:latin typeface="Inter"/>
              </a:rPr>
              <a:t>a ellos/-as/ustedes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383280"/>
            <a:ext cx="361188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57355"/>
                </a:solidFill>
                <a:latin typeface="Bricolage Grotesque"/>
              </a:rPr>
              <a:t>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Verduidelijk met «a + persoon»: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A Bea le gusta la playa.</a:t>
            </a:r>
            <a:r>
              <a:rPr sz="1200" b="0" i="0">
                <a:solidFill>
                  <a:srgbClr val="20242E"/>
                </a:solidFill>
                <a:latin typeface="Inter"/>
              </a:rPr>
              <a:t>   A mis amigos les gustan los conciertos.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25780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me · te · le · nos · os · les.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Het OI-woord verandert per persoon; gusta/gustan hangt af van het DING, niet van de persoon.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Estar de acuerdo o 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korte reacties. Klik een situatie → de reactie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7830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+ akkoord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«Me gusta.» → A mí también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64592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+ oneens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9456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«Me gusta.» → A mí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306324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– akkoord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«No me gusta.» → A mí tampoco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926080"/>
            <a:ext cx="5532120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B7860B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306324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– oneens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74720"/>
            <a:ext cx="51663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7355"/>
                </a:solidFill>
                <a:latin typeface="Bricolage Grotesque"/>
              </a:rPr>
              <a:t>«No me gusta.» → A mí sí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tampoco = «ook niet»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(na een negatieve zin), niet «ook». Zeg altijd «a mí», niet «yo».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4" name="Rounded Rectangle 2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5488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+ akkoord → también · + oneens → a mí no · – akkoord → tampoco · – oneens → a mí sí.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Espejo: eerst kijken of de zin + of – is, dan of je akkoord bent.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6268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Reacciona (akkoord)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uitspraak → de juiste akkoord-reactie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gusta el mar.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600200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 me gusta el frío.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2478024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encanta bailar.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355848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 me gustan los lunes.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1600200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gustan los videojuegos.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478024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108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 me gusta madrugar.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3355848"/>
            <a:ext cx="2148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Akkoord: + → también · – → tampoco.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Oneens zou zijn: + → a mí no · – → a mí sí.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perfil de Lucía (playlist)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778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1005840" cy="10058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20240" y="1828800"/>
            <a:ext cx="3474720" cy="11887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20242E"/>
                </a:solidFill>
                <a:latin typeface="Inter"/>
              </a:rPr>
              <a:t>«¡Hola! Me encanta la música. Mi artista favorita es Rosalía. También me gusta bailar flamenco. Los fines de semana voy a la playa. No me gustan los videojuegos, prefiero salir.»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le encanta a Lucía?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 música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¿Quién es su artista favorita?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Rosalía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le gusta hacer?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Bailar flamenco / ir a la playa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57355"/>
                </a:solidFill>
                <a:latin typeface="Inter"/>
              </a:rPr>
              <a:t>¿Qué no le gusta?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Los videojuegos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scannen naar wat iemand (niet) leuk vindt — niet élk woord begrijpen.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§4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y anota el gusto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Vier jongeren praten over hun smaak. Klik een naam → wat ze leuk vinden.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Leo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la música pop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el deporte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Frida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los videojuegos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madrugar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Mateo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el fútbol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las series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🔊  Sara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Le gusta: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bailar y el cine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 le gusta: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C2626"/>
                </a:solidFill>
                <a:latin typeface="Inter"/>
              </a:rPr>
              <a:t>el frío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«A mí me gusta la música pop, pero no me gusta el deporte.»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Daarna spreken: leerling reageert (a mí también/tampoco/sí/no) op elk personage.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Querer / poder + infinitivo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kolomkop → de vormen verschijnen. Let op: e→ie, o→ue (behalve nosotros/vosotros).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5544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5544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querer (e→ie)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15544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1E9E7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15544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poder (o→ue)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0312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21031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21031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1031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60604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260604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260604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60604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260604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0896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310896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51760" y="310896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10896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0" y="310896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61188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51760" y="36118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0" y="36118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queremos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361188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361188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podemos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11480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411480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0" y="411480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queréis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411480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411480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A6E78"/>
                </a:solidFill>
                <a:latin typeface="Inter"/>
              </a:rPr>
              <a:t>podéis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4617720"/>
            <a:ext cx="146304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651760" y="46177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46177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quieren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617720"/>
            <a:ext cx="4023360" cy="457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4617720"/>
            <a:ext cx="402336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EA7317"/>
                </a:solidFill>
                <a:latin typeface="Inter"/>
              </a:rPr>
              <a:t>pueden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5" name="Rounded Rectangle 4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De klinker verandert NIET bij nosotros/vosotros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(queremos, podemos). 🔴 Het tweede werkwoord blijft infinitief: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Quiero IR</a:t>
            </a:r>
            <a:r>
              <a:rPr sz="1200" b="0" i="0">
                <a:solidFill>
                  <a:srgbClr val="157355"/>
                </a:solidFill>
                <a:latin typeface="Inter"/>
              </a:rPr>
              <a:t> (niet «quiero voy»).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§3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¡Quedamos!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Stel een plan voor met de zinnen.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Proponer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¿Quieres ir a…?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Aceptar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¡Vale! / De acuerdo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Preguntar la hora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¿A qué hora quedamos?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Confirmar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Quedamos a las…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Alternativa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¿Por qué no…? / ¿Podemos…?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Cierre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¡Hasta el sábado!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hoofd, ander plan. </a:t>
            </a:r>
            <a:r>
              <a:rPr sz="1200" b="1" i="0">
                <a:solidFill>
                  <a:srgbClr val="157355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 en de digitale pagina.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51960"/>
            <a:ext cx="4493361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🎙️ Grábate online · «Mensaje de voz: propón un plan»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«¿Quieres ir a la playa el sábado? —¡Vale! ¿A qué hora quedamos? —¿Podemos a las once? —De acuerdo.»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perfil de gustos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Schrijf 4–5 zinnen over jouw smaak.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✍️ Escribe aquí: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me gusta(n) 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me encanta(n) 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no me gusta 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porque … (una razón)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conector: y también / pero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plan: quiero / quedar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4F4EE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«Me encanta la música, sobre todo el pop, y me gustan los deportes. No me gusta el fútbol porque es aburrido. El sábado quiero ir a la playa.»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VOCABULARIO · OCIO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Deportes, música y sentimientos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woord → de vertaling verschijnt.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nadar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zwemmen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bailar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dansen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jugar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spelen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leer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1554480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lezen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canción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het liedje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película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film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serie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serie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el/la cantante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2322576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de zanger(es)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divertido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1168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leuk/grappig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aburrido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saai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genial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geweldig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4630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relajante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3090672"/>
            <a:ext cx="10972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1E9E74"/>
                </a:solidFill>
                <a:latin typeface="Inter"/>
              </a:rPr>
              <a:t>→ ontspannend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Combineer met gustar: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Me gusta nadar. · Me gustan las series. · Me encanta la canción porque es divertida.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157355"/>
                </a:solidFill>
                <a:latin typeface="Inter"/>
              </a:rPr>
              <a:t>Adjetivos concuerdan: divertidO / divertidA, aburridO / aburridA. genial e interesante = invariable.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¿por qué? / porque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item → correcte vorm. Gereedschap om je mening te geven.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A · ¿por qué? o porque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¿___ te gusta el mar?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783080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 qué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gusta ___ es relajante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41448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¿___ no quieres ir?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099816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 qué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32918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 puedo ___ trabajo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758184"/>
            <a:ext cx="18288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porque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B · conectores: y también · pero · además · sobre todo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el cine, ___ no las series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pero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tegenstelling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nadar ___ bailar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44144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y también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toevoegen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Es divertido; ___, es barato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09981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además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bovendien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92608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Me gusta la música, ___ el pop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75818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sobre todo </a:t>
            </a:r>
            <a:r>
              <a:rPr sz="900" b="0" i="1">
                <a:solidFill>
                  <a:srgbClr val="6A6E78"/>
                </a:solidFill>
                <a:latin typeface="Inter"/>
              </a:rPr>
              <a:t>· vooral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A: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¿por qué? = waarom (twee woorden + tilde) · porque = want/omdat (één woord).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B: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y también (+) · pero (tegenstelling) · además (bovendien) · sobre todo (vooral).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PARADA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Rosalía y el ocio joven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Klik een kaart → het weetje verschijnt. La música une al mundo hispano.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🎵 Rosalía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Cantante de Barcelona. Mezcla flamenco con pop y reguetón. Álbumes: El mal querer, Motomami. Canta en español.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puente entre tradición y las listas de hoy.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🏖️ El ocio joven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Salir con amigos, escuchar música, ver series, hacer deporte, ir a la playa. Muziek &amp; samen zijn staan centraal.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En València: las Fallas, la paella y la horchata.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🌍 El español suena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Rosalía, Bad Bunny, Shakira, Karol G… en el top mundial. El español es de los idiomas más escuchados.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Muziek = de leukste manier om te oefenen.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schrijf 3 zinnen over jouw favoriete artiest met «me gusta/encanta … porque …».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96961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CULTURA · BANDA SONORA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Seis artistas del mundo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La playlist de la clase. Klik een kaart → een weetje. Casi todos cantan de lo que te gusta.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3703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17904"/>
            <a:ext cx="34290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Rosalía  </a:t>
            </a:r>
            <a:r>
              <a:rPr sz="950" b="0" i="0">
                <a:solidFill>
                  <a:srgbClr val="6A6E78"/>
                </a:solidFill>
                <a:latin typeface="Inter"/>
              </a:rPr>
              <a:t>🇪🇸 flamenco-pop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65376"/>
            <a:ext cx="34290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9E74"/>
                </a:solidFill>
                <a:latin typeface="Inter"/>
              </a:rPr>
              <a:t>🎵 La Perla · Motomami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76272"/>
            <a:ext cx="3429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Barcelona. Mezcla flamenco con pop y reguetón. Canta en español.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463040"/>
            <a:ext cx="3703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517904"/>
            <a:ext cx="34290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Karol G  </a:t>
            </a:r>
            <a:r>
              <a:rPr sz="950" b="0" i="0">
                <a:solidFill>
                  <a:srgbClr val="6A6E78"/>
                </a:solidFill>
                <a:latin typeface="Inter"/>
              </a:rPr>
              <a:t>🇨🇴 reguetón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865376"/>
            <a:ext cx="34290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9E74"/>
                </a:solidFill>
                <a:latin typeface="Inter"/>
              </a:rPr>
              <a:t>🎵 TQG · Provenza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176272"/>
            <a:ext cx="3429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Medellín, reina del reguetón. Su pelo naranja es su marca.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4" y="1463040"/>
            <a:ext cx="3703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517904"/>
            <a:ext cx="34290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Bad Bunny  </a:t>
            </a:r>
            <a:r>
              <a:rPr sz="950" b="0" i="0">
                <a:solidFill>
                  <a:srgbClr val="6A6E78"/>
                </a:solidFill>
                <a:latin typeface="Inter"/>
              </a:rPr>
              <a:t>🇵🇷 urbano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1865376"/>
            <a:ext cx="34290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9E74"/>
                </a:solidFill>
                <a:latin typeface="Inter"/>
              </a:rPr>
              <a:t>🎵 Tití me preguntó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176272"/>
            <a:ext cx="3429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Puerto Rico. El artista más escuchado del planeta.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08376"/>
            <a:ext cx="3703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063240"/>
            <a:ext cx="34290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Shakira  </a:t>
            </a:r>
            <a:r>
              <a:rPr sz="950" b="0" i="0">
                <a:solidFill>
                  <a:srgbClr val="6A6E78"/>
                </a:solidFill>
                <a:latin typeface="Inter"/>
              </a:rPr>
              <a:t>🇨🇴 pop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10712"/>
            <a:ext cx="34290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9E74"/>
                </a:solidFill>
                <a:latin typeface="Inter"/>
              </a:rPr>
              <a:t>🎵 Waka Waka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21608"/>
            <a:ext cx="3429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Barranquilla. Leyenda mundial; canta en español e inglés.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3008376"/>
            <a:ext cx="3703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3063240"/>
            <a:ext cx="34290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Feid  </a:t>
            </a:r>
            <a:r>
              <a:rPr sz="950" b="0" i="0">
                <a:solidFill>
                  <a:srgbClr val="6A6E78"/>
                </a:solidFill>
                <a:latin typeface="Inter"/>
              </a:rPr>
              <a:t>🇨🇴 reguetón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3410712"/>
            <a:ext cx="34290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9E74"/>
                </a:solidFill>
                <a:latin typeface="Inter"/>
              </a:rPr>
              <a:t>🎵 Ferxxo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3721608"/>
            <a:ext cx="3429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Medellín, siempre de verde. Neo perreo. Colabora con Karol 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1584" y="3008376"/>
            <a:ext cx="370332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1E9E74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38744" y="3063240"/>
            <a:ext cx="34290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57355"/>
                </a:solidFill>
                <a:latin typeface="Bricolage Grotesque"/>
              </a:rPr>
              <a:t>Quevedo  </a:t>
            </a:r>
            <a:r>
              <a:rPr sz="950" b="0" i="0">
                <a:solidFill>
                  <a:srgbClr val="6A6E78"/>
                </a:solidFill>
                <a:latin typeface="Inter"/>
              </a:rPr>
              <a:t>🇪🇸 urbano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410712"/>
            <a:ext cx="34290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9E74"/>
                </a:solidFill>
                <a:latin typeface="Inter"/>
              </a:rPr>
              <a:t>🎵 Bzrp #52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3721608"/>
            <a:ext cx="342900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De las Islas Canarias. Éxito mundial con Bizarrap.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🎚️ La escala del gusto </a:t>
            </a:r>
            <a:r>
              <a:rPr sz="1100" b="0" i="1">
                <a:solidFill>
                  <a:srgbClr val="6A6E78"/>
                </a:solidFill>
                <a:latin typeface="Inter"/>
              </a:rPr>
              <a:t>(de Rosalía «La Perla»): de «odio» a «me encanta».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89204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DC2626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892040"/>
            <a:ext cx="2743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odio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Inter"/>
              </a:rPr>
              <a:t>ik haat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489204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B7860B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91840" y="4892040"/>
            <a:ext cx="2743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no me gusta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Inter"/>
              </a:rPr>
              <a:t>niet leuk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489204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2FA8A0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4892040"/>
            <a:ext cx="2743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me gusta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Inter"/>
              </a:rPr>
              <a:t>leuk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489204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15735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0" y="4892040"/>
            <a:ext cx="274320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Bricolage Grotesque"/>
              </a:rPr>
              <a:t>me encanta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FFFFFF"/>
                </a:solidFill>
                <a:latin typeface="Inter"/>
              </a:rPr>
              <a:t>geweldig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kies twee artiesten en zeg één zin met de escala + porque. Cross: HTML «Banda sonora» + LyricsTraining + recorder.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54126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§1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Haz la pregunta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Bij dit antwoord — welke vraag? Klik → de vraag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gusta nadar.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¿Qué te gusta hacer?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No, no me gusta.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¿Te gusta el fútbol?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Porque canta muy bien.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¿Por qué te gusta Rosalía?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¡Vale! ¿A qué hora?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1600200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¿Quieres ir a la playa?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las once.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478024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¿A qué hora quedamos?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23774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Sí, puedo por la tarde.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3355848"/>
            <a:ext cx="28346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¿Puedes quedar el sábado?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Vragen over gustos &amp; planes: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¿Qué te gusta…? · ¿Te gusta…? · ¿Por qué…? · ¿Quieres…? · ¿A qué hora…?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FFFFF"/>
                </a:solidFill>
                <a:latin typeface="Bricolage Grotesque"/>
              </a:rPr>
              <a:t>🎧 Tarea final · Mi playlist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4F4EE"/>
                </a:solidFill>
                <a:latin typeface="Inter"/>
              </a:rPr>
              <a:t>Maak je persoonlijke playlist: canciones + por qué + qué sientes, en presenteer ze.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Elige 4 canciones/artistas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que te gustan o te encantan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Rellena la playlist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121408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canción · por qué (porque…) · qué sientes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Escribe tu presentación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688336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5–6 frases: gustar/encantar + porque + conectores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Presenta a la clase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55264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of neem audio op (digitale pagina)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6576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57355"/>
                </a:solidFill>
                <a:latin typeface="Bricolage Grotesque"/>
              </a:rPr>
              <a:t>Pregunta a un compañero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22192"/>
            <a:ext cx="67665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por sus gustos y reacciona (también/tampoco/sí/no)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4 items + una razón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9184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gusta/gustan + encanta(n)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porque + conectores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983480"/>
            <a:ext cx="2743200" cy="292608"/>
          </a:xfrm>
          <a:prstGeom prst="roundRect">
            <a:avLst>
              <a:gd name="adj" fmla="val 50000"/>
            </a:avLst>
          </a:prstGeom>
          <a:solidFill>
            <a:srgbClr val="E4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57355"/>
                </a:solidFill>
                <a:latin typeface="Inter"/>
              </a:rPr>
              <a:t>☐ presentar + reaccionar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klas/Lucía · doel je smaak delen &amp; motiveren · situatie muziekavond in València · resultaat: playlist + presentatie.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 ___ los deportes.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gustan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 mí (persoon) → pronombre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querer, yo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quiero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poder, nosotros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podemos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«Me gusta.» akkoord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600200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 mí también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«No me gusta.» akkoord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313432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a mí tampoco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waarom (vraag)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026664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¿por qué?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29260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Quiero ___ a la playa.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3739896"/>
            <a:ext cx="23317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→ ir (infinitivo)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157355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4F4EE"/>
          </a:solidFill>
          <a:ln w="19050">
            <a:solidFill>
              <a:srgbClr val="1E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157355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157355"/>
                </a:solidFill>
                <a:latin typeface="Inter"/>
              </a:rPr>
              <a:t>gustar (concord) · pronombres OI · también/tampoco · querer/poder + inf. · porque.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E9E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157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1E9E74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4F4EE"/>
                </a:solidFill>
                <a:latin typeface="Inter"/>
              </a:rPr>
              <a:t>De volledige herhaling (20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Gustar (al revés): me/te/le/nos/os/les + gusta (1/inf.) · gustan (mv.). Idem encanta(n).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Reacciones: + akkoord también · + oneens a mí no · – akkoord tampoco · – oneens a mí sí.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Proponer: querer (e→ie) / poder (o→ue) + infinitivo · quedar (afspreken).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Opinar: ¿por qué? → porque + conectoren (y también · pero · además · sobre todo).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gustar = «bevalt mij» · gustaN bij mv. · tampoco = ook niet · nosotros/vosotros zonder stamwissel.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57355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zeggen wat ik leuk vind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OI-woorden (me/te/le…)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akkoord/oneens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plan voorstellen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mening motiveren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1E9E74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E9E74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ME GUSTA   ·   C5 · A1 · La Ruta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57355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