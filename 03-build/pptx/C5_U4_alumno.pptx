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7" r:id="rId28"/>
    <p:sldId id="278" r:id="rId29"/>
    <p:sldId id="279" r:id="rId30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El termómetro de la clase — 🔬 onderzoek &amp; data</a:t>
            </a:r>
          </a:p>
          <a:p>
            <a:r>
              <a:t>OPDRACHT: Ga op de lijn staan naargelang wat je vindt. Daarna tellen we en trekken we een conclusie.</a:t>
            </a:r>
          </a:p>
          <a:p>
            <a:r>
              <a:t>DE REGEL: Je mag niet in het midden blijven hangen: kies een van de vier plaatsen. En wie gevraagd wordt, verantwoordt zijn plek met «porque».</a:t>
            </a:r>
          </a:p>
          <a:p>
            <a:r>
              <a:t>VERLOOP: El/la profe dice una cosa. Todos se colocan. | Dos alumnos explican su sitio con «porque». | Contamos y anotamos el número. | Al final: tres conclusiones con «a … le gusta».</a:t>
            </a:r>
          </a:p>
          <a:p>
            <a:r>
              <a:t>SLEUTEL: De conclusies zijn de eigenlijke opbrengst: «a doce personas les gusta la playa» vraagt les plus meervoud, en dat is precies wat leerlingen vergeten.  ||  «Hablar en público» geeft meestal de breedste spreiding en dus het interessantste gesprek.  ||  Tel echt en schrijf het getal op het bord: zonder cijfer wordt het een meningenronde.</a:t>
            </a:r>
          </a:p>
          <a:p>
            <a:r>
              <a:t>NOTA: Werkt alleen als de klas fysiek kan bewegen. Lukt dat niet, laat de leerlingen dan met vier vingers stemmen — maar tel nog steeds.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Radio Valencia: la llamada — 📻 mediaformat</a:t>
            </a:r>
          </a:p>
          <a:p>
            <a:r>
              <a:t>OPDRACHT: Bel de radio, groet, vraag je nummer aan en licht toe. De presentator reageert.</a:t>
            </a:r>
          </a:p>
          <a:p>
            <a:r>
              <a:t>DE REGEL: De presentator reageert altijd met también, tampoco, a mí sí of a mí no — en nooit twee keer dezelfde in één uitzending.</a:t>
            </a:r>
          </a:p>
          <a:p>
            <a:r>
              <a:t>VERLOOP: El/la profe es el presentador. Empieza la emisión. | Llamas: saludo, canción, razón. | El presentador reacciona y pasa al siguiente. | Cambio de presentador cada cuatro llamadas.</a:t>
            </a:r>
          </a:p>
          <a:p>
            <a:r>
              <a:t>SLEUTEL: De regel «nooit twee keer dezelfde reactie» dwingt de presentator door alle vier de vormen. Dat is de didactische winst, niet het bellen.  ||  Bij «a mí tampoco» moet de beller iets negatiefs gezegd hebben — anders klopt de reactie niet en corrigeert de klas.  ||  Laat leerlingen presentator zijn: die rol oefent meer dan de belrol.</a:t>
            </a:r>
          </a:p>
          <a:p>
            <a:r>
              <a:t>NOTA: Een echte jingle en een microfoon (of een pen als microfoon) tillen dit op. Zonder radio-inkleding wordt het een gewone beurtronde.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Cadena rota — 🔓 puzzel &amp; escape</a:t>
            </a:r>
          </a:p>
          <a:p>
            <a:r>
              <a:t>OPDRACHT: Reageer op je buur en voeg een eigen gusto toe. Zonder reacties te herhalen.</a:t>
            </a:r>
          </a:p>
          <a:p>
            <a:r>
              <a:t>DE REGEL: Een reactie die al gebruikt is, breekt de ketting — ook als ze klopt. De klas moet dus bijhouden wat al voorbijkwam.</a:t>
            </a:r>
          </a:p>
          <a:p>
            <a:r>
              <a:t>VERLOOP: El primero dice un gusto. | El siguiente reacciona y añade el suyo. | ¿Reacción repetida? Se rompe: vuelta a empezar. | Meta: dar la vuelta entera a la clase.</a:t>
            </a:r>
          </a:p>
          <a:p>
            <a:r>
              <a:t>SLEUTEL: Acht reacties betekent dat de ketting minstens acht leerlingen ver kan komen. Daarna moet de klas ze hergebruiken — dan pas mag herhalen.  ||  De klassieke breuk: «a mí también» na een ontkenning. Dat moet «a mí tampoco» zijn.  ||  Noteer de gebruikte reacties zichtbaar; zonder dat spoor is de regel niet te handhaven.</a:t>
            </a:r>
          </a:p>
          <a:p>
            <a:r>
              <a:t>NOTA: Speel maximaal drie rondes. Daarna wordt het onthouden belangrijker dan het spreken, en dat is niet het doel.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11.xml"/><Relationship Id="rId5" Type="http://schemas.openxmlformats.org/officeDocument/2006/relationships/slide" Target="slide9.xml"/><Relationship Id="rId6" Type="http://schemas.openxmlformats.org/officeDocument/2006/relationships/slide" Target="slide16.xml"/><Relationship Id="rId7" Type="http://schemas.openxmlformats.org/officeDocument/2006/relationships/slide" Target="slide17.xml"/><Relationship Id="rId8" Type="http://schemas.openxmlformats.org/officeDocument/2006/relationships/slide" Target="slide19.xml"/><Relationship Id="rId9" Type="http://schemas.openxmlformats.org/officeDocument/2006/relationships/slide" Target="slide20.xml"/><Relationship Id="rId10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4242816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4242816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52544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8028432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8028432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25603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457200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457200" y="3090672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427939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242816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242816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52544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ocio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Rosalía y el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07408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8028432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8028432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8160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4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 artistas · la escala del gusto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17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457200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457200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4242816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4242816" y="4809744"/>
            <a:ext cx="36576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52544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07408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7408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>
            <a:hlinkClick action="ppaction://hlinksldjump" r:id="rId10"/>
          </p:cNvPr>
          <p:cNvSpPr/>
          <p:nvPr/>
        </p:nvSpPr>
        <p:spPr>
          <a:xfrm>
            <a:off x="8028432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>
            <a:hlinkClick action="ppaction://hlinksldjump" r:id="rId10"/>
          </p:cNvPr>
          <p:cNvSpPr/>
          <p:nvPr/>
        </p:nvSpPr>
        <p:spPr>
          <a:xfrm>
            <a:off x="8028432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138160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8784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93024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BANDA SONORA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Seis artistas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La playlist de la clase. Klik een kaart → een weetje. Casi todos cantan de lo que te gusta.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Rosalía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flamenco-pop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La Perla · Motomami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Barcelona. Mezcla flamenco con pop y reguetón. Canta en español.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Karol G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TQG · Provenza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reina del reguetón. Su pelo naranja es su marca.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Bad Bunny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🇵🇷 urbano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Tití me preguntó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Puerto Rico. El artista más escuchado del planeta.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Shakira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Waka Waka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Barranquilla. Leyenda mundial; canta en español e inglés.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Feid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Ferxxo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siempre de verde. Neo perreo. Colabora con Karol 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Quevedo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urbano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Bzrp #52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las Islas Canarias. Éxito mundial con Bizarrap.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🎚️ La escala del gusto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(de Rosalía «La Perla»): de «odio» a «me encanta».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DC2626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odio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ik haat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B7860B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no 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niet leuk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2FA8A0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leuk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15735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encanta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kies twee artiesten en zeg één zin met de escala + porque. Cross: HTML «Banda sonora» + LyricsTraining + recorder.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5412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1 · ONDERZOEK &amp; DATA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termómetro de la clase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 · de pie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De pie. La clase es una escala: de «odio» a «me encanta».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Rechtstaan. De klas is een schaal: van «odio» tot «me encanta».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niet in het midden blijven hangen: kies een van de vier plaatsen. En wie gevraagd wordt, verantwoordt zijn plek met «porque».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Escala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odio → no me gusta → me gusta → me encanta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madrugar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playa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reguetón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cocinar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los lunes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los viajes en tren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hablar en público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chocolate negro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Estoy aquí porque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… personas les encanta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nadie le gusta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Casi todos 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3 · MEDIAFORMAT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Radio Valencia: la llamada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Estás en directo. Pides una canción y dices por qué.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bent live in de uitzending. Je vraagt een nummer aan en zegt waarom.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presentator reageert altijd met también, tampoco, a mí sí of a mí no — en nooit twee keer dezelfde in één uitzending.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 llamas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Hola, buenas tardes. Llamo desde …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 llamas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Quiero pedir … porque me encanta …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 llamas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para mi … , que hoy cumple años.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¡A mí también me encanta!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Pues a mí no, pero la ponemos.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tampoco me gusta mucho, la verdad.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presentador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¿Ah sí? A mí sí, y mucho.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de Rosalía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algo de flamenco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reguetón del verano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canción tranquila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de la película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canción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algo para bailar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PUZZEL &amp; ESCAPE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Cadena rota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10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La cadena da la vuelta a la clase. Si se rompe, vuelve a empezar.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ketting gaat de klas rond. Breekt hij, dan begin je opnieuw.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Een reactie die al gebruikt is, breekt de ketting — ook als ze klopt. De klas moet dus bijhouden wat al voorbijkwam.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Me gusta la playa.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Me encantan los viajes.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también.</a:t>
            </a:r>
          </a:p>
        </p:txBody>
      </p:sp>
      <p:sp>
        <p:nvSpPr>
          <p:cNvPr id="21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23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tampoco.</a:t>
            </a:r>
          </a:p>
        </p:txBody>
      </p:sp>
      <p:sp>
        <p:nvSpPr>
          <p:cNvPr id="25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27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sí.</a:t>
            </a:r>
          </a:p>
        </p:txBody>
      </p:sp>
      <p:sp>
        <p:nvSpPr>
          <p:cNvPr id="29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31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no.</a:t>
            </a:r>
          </a:p>
        </p:txBody>
      </p:sp>
      <p:sp>
        <p:nvSpPr>
          <p:cNvPr id="33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35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8"/>
          <p:cNvSpPr txBox="1"/>
          <p:nvPr/>
        </p:nvSpPr>
        <p:spPr>
          <a:xfrm>
            <a:off x="548640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igual.</a:t>
            </a:r>
          </a:p>
        </p:txBody>
      </p:sp>
      <p:sp>
        <p:nvSpPr>
          <p:cNvPr id="37" name="Onthul 8"/>
          <p:cNvSpPr/>
          <p:nvPr/>
        </p:nvSpPr>
        <p:spPr>
          <a:xfrm>
            <a:off x="548640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8"/>
          <p:cNvSpPr txBox="1"/>
          <p:nvPr/>
        </p:nvSpPr>
        <p:spPr>
          <a:xfrm>
            <a:off x="566928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3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9"/>
          <p:cNvSpPr txBox="1"/>
          <p:nvPr/>
        </p:nvSpPr>
        <p:spPr>
          <a:xfrm>
            <a:off x="3403854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Pues yo no.</a:t>
            </a:r>
          </a:p>
        </p:txBody>
      </p:sp>
      <p:sp>
        <p:nvSpPr>
          <p:cNvPr id="41" name="Onthul 9"/>
          <p:cNvSpPr/>
          <p:nvPr/>
        </p:nvSpPr>
        <p:spPr>
          <a:xfrm>
            <a:off x="3403854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nthulTxt 9"/>
          <p:cNvSpPr txBox="1"/>
          <p:nvPr/>
        </p:nvSpPr>
        <p:spPr>
          <a:xfrm>
            <a:off x="3422142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43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10"/>
          <p:cNvSpPr txBox="1"/>
          <p:nvPr/>
        </p:nvSpPr>
        <p:spPr>
          <a:xfrm>
            <a:off x="6259068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me encanta.</a:t>
            </a:r>
          </a:p>
        </p:txBody>
      </p:sp>
      <p:sp>
        <p:nvSpPr>
          <p:cNvPr id="45" name="Onthul 10"/>
          <p:cNvSpPr/>
          <p:nvPr/>
        </p:nvSpPr>
        <p:spPr>
          <a:xfrm>
            <a:off x="6259068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nthulTxt 10"/>
          <p:cNvSpPr txBox="1"/>
          <p:nvPr/>
        </p:nvSpPr>
        <p:spPr>
          <a:xfrm>
            <a:off x="6277356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  <p:sp>
        <p:nvSpPr>
          <p:cNvPr id="47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arjetaTxt 11"/>
          <p:cNvSpPr txBox="1"/>
          <p:nvPr/>
        </p:nvSpPr>
        <p:spPr>
          <a:xfrm>
            <a:off x="9114282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reacción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mí no me gusta nada.</a:t>
            </a:r>
          </a:p>
        </p:txBody>
      </p:sp>
      <p:sp>
        <p:nvSpPr>
          <p:cNvPr id="49" name="Onthul 11"/>
          <p:cNvSpPr/>
          <p:nvPr/>
        </p:nvSpPr>
        <p:spPr>
          <a:xfrm>
            <a:off x="9114282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nthulTxt 11"/>
          <p:cNvSpPr txBox="1"/>
          <p:nvPr/>
        </p:nvSpPr>
        <p:spPr>
          <a:xfrm>
            <a:off x="9132570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usada 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