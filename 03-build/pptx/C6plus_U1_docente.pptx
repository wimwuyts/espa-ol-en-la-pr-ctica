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U1 = start van de A2-motor. Kerngrammatica: reflexieve werkwoorden (me/te/se…), ser vs estar-contrast, gustar + OI. P3-seed: «me gusta… porque». Parada 1 = España (el horario español, Lucía). Kernvalstrikken: nunca «yo levanto» (reflexief heeft me/te/se) · gustar «al revés» (me gusta la música) · es aburrido ≠ está aburrido. Docentdeck = vrije navigatie + oplossing;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§3 reflexivos + §4 ser/estar + §5 gustar.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acties raden zónder de NL-gloss. Koppel meteen aan de hora (§1) en aan de reflexivos (§3). Online: flip cards + memoria de la rutina + acción↔hora (match).</a:t>
            </a:r>
          </a:p>
          <a:p/>
          <a:p>
            <a:r>
              <a:t>— SOLUCIÓN (docent · presenter view) —</a:t>
            </a:r>
          </a:p>
          <a:p>
            <a:r>
              <a:t>Un día: Primero me levanto, luego me ducho, después desayuno y por último voy al instituto.</a:t>
            </a:r>
          </a:p>
          <a:p>
            <a:r>
              <a:t>Frecuencia: siempre · normalmente · a veces ·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pronombre + verbo zichtbaar. Kleur nooit als enige drager. Online: «completa: los reflexivos» (cloze) + pronombre Tetris.</a:t>
            </a:r>
          </a:p>
          <a:p/>
          <a:p>
            <a:r>
              <a:t>— SOLUCIÓN (docent · presenter view) —</a:t>
            </a:r>
          </a:p>
          <a:p>
            <a:r>
              <a:t>Regla: pronombre + verbo, in die volgorde. Het pronomen past bij het onderwerp: me (yo), te (tú), se (él/ella)…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pronombre+vorm roepen vóór de klik. Online: «completa: los reflexivos» (cloze).</a:t>
            </a:r>
          </a:p>
          <a:p/>
          <a:p>
            <a:r>
              <a:t>— SOLUCIÓN (docent · presenter view) —</a:t>
            </a:r>
          </a:p>
          <a:p>
            <a:r>
              <a:t>Pronombre + vorm: me/te/se/nos/os/se + verbo. Cambio vocálico: me despierto, me acuesto, me visto (nosotros/vosotros GEEN wissel).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reflexief (reveal). Coro vóór de klik. Online: vervoegingswiel + pronombre Tetris.</a:t>
            </a:r>
          </a:p>
          <a:p/>
          <a:p>
            <a:r>
              <a:t>— SOLUCIÓN (docent · presenter view) —</a:t>
            </a:r>
          </a:p>
          <a:p>
            <a:r>
              <a:t>La bota: cambio vocálico in yo·tú·él·ellos (me despierto, me acuesto), NIET in nosotros/vosotros.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ser/estar. Toon het contrast fysiek (es cansada? nee → está cansada). Online: «¿ser o estar?» (classify) + minimale paren.</a:t>
            </a:r>
          </a:p>
          <a:p/>
          <a:p>
            <a:r>
              <a:t>— SOLUCIÓN (docent · presenter view) —</a:t>
            </a:r>
          </a:p>
          <a:p>
            <a:r>
              <a:t>Regla: permanent/eigenschap → ser (soy simpático) · plaats/gevoel/toestand nu → estar (estoy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ser/estar (retrieval). Klas roept ser/estar vóór de klik. Online: «¿ser o estar?» (classify).</a:t>
            </a:r>
          </a:p>
          <a:p/>
          <a:p>
            <a:r>
              <a:t>— SOLUCIÓN (docent · presenter view) —</a:t>
            </a:r>
          </a:p>
          <a:p>
            <a:r>
              <a:t>Contraste: es aburrido = saai (eigenschap) · está aburrido = verveelt zich (nu). Idem: es/está listo, rico,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globaal, dan scannen. Onthul antwoorden pas na de klas. Daarna: leerlingen zeggen met wie ze meer gemeen hebben + hun gustos (me gusta… porque).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la hora, los gustos y el ánimo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schrijven). Lees «Un día con Lucía» voor (of TTS). Klas noteert hora + acción; onthul per klik. Koppel meteen aan het eigen dagverhaal.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«Me llamo Lucía. Me levanto a las siete, me ducho y desayuno. Como a las dos…» </a:t>
            </a:r>
          </a:p>
          <a:p>
            <a:r>
              <a:t>Daarna schrijven: elke leerling noteert zijn eigen horario.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gustar. Maak «al revés» fysiek: het ding is het onderwerp. Online: «¿gusta o gustan?» (classify) + sleep-woordvolgorde.</a:t>
            </a:r>
          </a:p>
          <a:p/>
          <a:p>
            <a:r>
              <a:t>— SOLUCIÓN (docent · presenter view) —</a:t>
            </a:r>
          </a:p>
          <a:p>
            <a:r>
              <a:t>Regla: het werkwoord volgt het DING (ev/mv), niet de persoon. Me gusta el fútbol · Me gustan los perros. </a:t>
            </a:r>
          </a:p>
          <a:p>
            <a:r>
              <a:t>🔴 nunca «yo gusto» · met sustantivo altijd el/la/los/las.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gustar + P3-seed. Klas vult vóór de klik. Daarna geeft elke leerling één mening «me gusta… porque…». Online: «completa: gustar» (cloze).</a:t>
            </a:r>
          </a:p>
          <a:p/>
          <a:p>
            <a:r>
              <a:t>— SOLUCIÓN (docent · presenter view) —</a:t>
            </a:r>
          </a:p>
          <a:p>
            <a:r>
              <a:t>P3-seed (mi opinión): Me gusta la música latina porque es alegre. No me gustan los lunes porque estoy cansado.</a:t>
            </a:r>
          </a:p>
          <a:p>
            <a:r>
              <a:t>Reageren: a mí también (+) · a mí tampoco (−).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de rutina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Voy al insti a las ocho. Por la tarde me gusta bailar. Ceno y me acuesto a las once.»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(luisteren→schrijven). Checklist = zichtbare steun; onthul het model pas na het schrijven (retrieval). Nakijkfocus: reflexivos correct, la hora, ser/estar, gustar, één opinión met porque. Dit voedt de Tarea «Mi día a día».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la hora + sentimientos. Klik onthult; koppel la hora aan de rutina en estar aan de sentimientos. Online: dictado de horas + ¿cómo estás? (memory).</a:t>
            </a:r>
          </a:p>
          <a:p/>
          <a:p>
            <a:r>
              <a:t>— SOLUCIÓN (docent · presenter view) —</a:t>
            </a:r>
          </a:p>
          <a:p>
            <a:r>
              <a:t>La hora: es la una (1) · son las + 2,3… · y cuarto/y media/menos cuarto. ¿A qué hora? → A las siete.</a:t>
            </a:r>
          </a:p>
          <a:p>
            <a:r>
              <a:t>Sentimientos: estar + adjetivo (estoy contento/cansado). Concordancia: contento/contenta.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in reflexieve vormen; porque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reflexieve vormen zijn llana (me DU-cho); draagt het een tilde, volg de tilde.</a:t>
            </a:r>
          </a:p>
          <a:p>
            <a:r>
              <a:t>🔴 B: «want» én «omdat» = porque · «dus» = así que/por 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(parada 1 = España). Online: vergelijk het horario van Lucía (Sevilla) en Diego (CDMX).</a:t>
            </a:r>
          </a:p>
          <a:p/>
          <a:p>
            <a:r>
              <a:t>— SOLUCIÓN (docent · presenter view) —</a:t>
            </a:r>
          </a:p>
          <a:p>
            <a:r>
              <a:t>Actividad: compara tu horario con el de España. ¿A qué hora comes tú? ¿Y cenas?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a las siete · 2) en autobús · 3) a la una y media · 4) en la biblioteca · 5) dos</a:t>
            </a:r>
          </a:p>
          <a:p>
            <a:r>
              <a:t>1) V — «me ducho rápido»</a:t>
            </a:r>
          </a:p>
          <a:p>
            <a:r>
              <a:t>2) F — «no me gustan nada las lentejas»</a:t>
            </a:r>
          </a:p>
          <a:p>
            <a:r>
              <a:t>3) F — «como con mis compañeros»</a:t>
            </a:r>
          </a:p>
          <a:p>
            <a:r>
              <a:t>4) V — «me acuesto a las once y media»</a:t>
            </a:r>
          </a:p>
          <a:p>
            <a:r>
              <a:t>5) F — «voy en autobús»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A las cinco y media · 2) En bici · 3) Cuatro · 4) Por la noche · 5) A las diez</a:t>
            </a:r>
          </a:p>
          <a:p>
            <a:r>
              <a:t>1) F — «no me gusta nada»</a:t>
            </a:r>
          </a:p>
          <a:p>
            <a:r>
              <a:t>2) V — «me gustan mucho las carreras»</a:t>
            </a:r>
          </a:p>
          <a:p>
            <a:r>
              <a:t>3) V — «me ducho, desayuno mucho»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reflexivos · ser/estar · gustar + OI · la hora · «me gusta… porque».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U2 «Aquí vivo» — wonen, de buurt, hay/estar en lo/la.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 Échte LPD-codes uit EELP-U3/U4.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«Un martes cualquiera»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entrada de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UN MARTES CUALQUIERA 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vida en España · entrada del 12 de marzo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despierto a las siete menos cuarto, pero no me levanto hasta las siete. Me ducho rápido, me visto y desayuno un café con tostadas.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 las ocho salgo de casa. La facultad está lejos, así que voy en autobús. Las clases empiezan a las nueve y terminan a la una y media.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Como con mis compañeros en la cafetería. Me gusta mucho la tortilla de patatas, pero no me gustan nada las lentejas.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07:00 — me levanto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08:00 — salgo de casa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09:00 — empiezan las clases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13:30 — termino y como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17:00 — estudio en la biblioteca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23:30 — me acuesto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la tarde estudio en la biblioteca hasta las siete. Después voy al gimnasio dos días por semana. Estoy cansada, pero estoy contenta.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Me acuesto a las once y media. ¿Y tú? ¿A qué hora te acuestas?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Marta?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facultad?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¿A qué hora terminan las clases?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¿Dónde estudia por la tarde?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días por semana va al gimnasio?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Marta se ducha por la mañana.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Marta le gustan las lentejas.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Marta come sola.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Marta se acuesta a las once y media.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Marta va a la facultad en coche.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a las siete · 2) en autobús · 3) a la una y media · 4) en la biblioteca · 5) 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«me ducho rápido»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«no me gustan nada las lentejas»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«como con mis compañeros»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«me acuesto a las once y media»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5) F — «voy en autobús»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«Entrevista a un deportista»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La radio del instituto, Salamanca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Una periodista escolar y Hugo, nadador de dieciocho años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Le pregunta por su rutina y por lo que le gusta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¿a qué hora? · me levanto · me gusta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Hugo?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piscina?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¿Cuántas horas entrena al día?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¿Cuándo estudia?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se acuesta?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A Hugo le gusta madrugar.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Hugo le gustan las carreras.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Hugo se ducha antes de desayunar.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Contesta tú a la periodista: ¿a qué hora te levantas, qué haces primero, qué te gusta y qué no te gusta, y a qué hora te acuestas?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A las cinco y media · 2) En bici · 3) Cuatro · 4) Por la noche · 5) A las diez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me gusta nada»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V — «me gustan mucho las carreras»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«me ducho, desayuno mucho»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«El día a día»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la hora 6' · rutina 6' · reflexivos 12' · ser/estar 8' · gustar 8' · lectura/escucha 5'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nunca «yo levanto» (reflexief = me/te/se + verbo) · gustar «al revés» (me gusta la música, nunca yo gusto) · me gusta + el/la (lidwoord verplicht) · es aburrido (saai) ≠ está aburrido (verveelt zich) · a mí también (niet yo también).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rutina + gustos + opinión met porque + 3ª persoon (mijn buur). Zwakker: reflexief-tabel + ser/estar-kaart langer open, frames houden; gustar met vaste chunks (me gusta / me gustan).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13 spellen + flip cards + gramática interactiva (reflexivos/ser-estar/gustar)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día a día» met rúbrica (4 criteria). LPD (III-Spa-d): rutina/reflexivos 8·3 · la hora 8·7 · ser/estar 8·7 · gustar 8·7 · lezen 1·2·5 · cultuur 5 · spreken/interactie 3·4. Bron: oude cursus U3/U4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