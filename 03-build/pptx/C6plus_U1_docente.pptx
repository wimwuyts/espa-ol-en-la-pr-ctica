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U1 = start van de A2-motor. Kerngrammatica: reflexieve werkwoorden (me/te/se…), ser vs estar-contrast, gustar + OI. P3-seed: «me gusta… porque». Parada 1 = España (el horario español, Lucía). Kernvalstrikken: nunca «yo levanto» (reflexief heeft me/te/se) · gustar «al revés» (me gusta la música) · es aburrido ≠ está aburrido. Docentdeck = vrije navigatie + oplossing; leerlingdeck (.pptx, F5) = elke klik onthult het volgende antwoord.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op elke oefendia staat ⌂ Menú terug. Richttijd 50 min. Kern = §3 reflexivos + §4 ser/estar + §5 gustar. Kruisverwijzing print/HTML: «oefen online — 13 juegos + ~100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Laat de acties raden zónder de NL-gloss. Koppel meteen aan de hora (§1) en aan de reflexivos (§3). Online: flip cards + memoria de la rutina + acción↔hora (match).</a:t>
            </a:r>
          </a:p>
          <a:p/>
          <a:p>
            <a:r>
              <a:t>— SOLUCIÓN (docent · presenter view) —</a:t>
            </a:r>
          </a:p>
          <a:p>
            <a:r>
              <a:t>Un día: Primero me levanto, luego me ducho, después desayuno y por último voy al instituto.</a:t>
            </a:r>
          </a:p>
          <a:p>
            <a:r>
              <a:t>Frecuencia: siempre · normalmente · a veces · nunca.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(color-coding). Maak pronombre + verbo zichtbaar. Kleur nooit als enige drager. Online: «completa: los reflexivos» (cloze) + pronombre Tetris.</a:t>
            </a:r>
          </a:p>
          <a:p/>
          <a:p>
            <a:r>
              <a:t>— SOLUCIÓN (docent · presenter view) —</a:t>
            </a:r>
          </a:p>
          <a:p>
            <a:r>
              <a:t>Regla: pronombre + verbo, in die volgorde. Het pronomen past bij het onderwerp: me (yo), te (tú), se (él/ella)…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(reveal). Laat de klas pronombre+vorm roepen vóór de klik. Online: «completa: los reflexivos» (cloze).</a:t>
            </a:r>
          </a:p>
          <a:p/>
          <a:p>
            <a:r>
              <a:t>— SOLUCIÓN (docent · presenter view) —</a:t>
            </a:r>
          </a:p>
          <a:p>
            <a:r>
              <a:t>Pronombre + vorm: me/te/se/nos/os/se + verbo. Cambio vocálico: me despierto, me acuesto, me visto (nosotros/vosotros GEEN wissel).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reflexief (reveal). Coro vóór de klik. Online: vervoegingswiel + pronombre Tetris.</a:t>
            </a:r>
          </a:p>
          <a:p/>
          <a:p>
            <a:r>
              <a:t>— SOLUCIÓN (docent · presenter view) —</a:t>
            </a:r>
          </a:p>
          <a:p>
            <a:r>
              <a:t>La bota: cambio vocálico in yo·tú·él·ellos (me despierto, me acuesto), NIET in nosotros/vosotros.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ser/estar. Toon het contrast fysiek (es cansada? nee → está cansada). Online: «¿ser o estar?» (classify) + minimale paren.</a:t>
            </a:r>
          </a:p>
          <a:p/>
          <a:p>
            <a:r>
              <a:t>— SOLUCIÓN (docent · presenter view) —</a:t>
            </a:r>
          </a:p>
          <a:p>
            <a:r>
              <a:t>Regla: permanent/eigenschap → ser (soy simpático) · plaats/gevoel/toestand nu → estar (estoy cansado).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ser/estar (retrieval). Klas roept ser/estar vóór de klik. Online: «¿ser o estar?» (classify).</a:t>
            </a:r>
          </a:p>
          <a:p/>
          <a:p>
            <a:r>
              <a:t>— SOLUCIÓN (docent · presenter view) —</a:t>
            </a:r>
          </a:p>
          <a:p>
            <a:r>
              <a:t>Contraste: es aburrido = saai (eigenschap) · está aburrido = verveelt zich (nu). Idem: es/está listo, rico, bueno.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(lezen→spreken-keten). Eerst globaal, dan scannen. Onthul antwoorden pas na de klas. Daarna: leerlingen zeggen met wie ze meer gemeen hebben + hun gustos (me gusta… porque).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la hora, los gustos y el ánimo — niet élk 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schrijven). Lees «Un día con Lucía» voor (of TTS). Klas noteert hora + acción; onthul per klik. Koppel meteen aan het eigen dagverhaal.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«Me llamo Lucía. Me levanto a las siete, me ducho y desayuno. Como a las dos…» </a:t>
            </a:r>
          </a:p>
          <a:p>
            <a:r>
              <a:t>Daarna schrijven: elke leerling noteert zijn eigen horario.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gustar. Maak «al revés» fysiek: het ding is het onderwerp. Online: «¿gusta o gustan?» (classify) + sleep-woordvolgorde.</a:t>
            </a:r>
          </a:p>
          <a:p/>
          <a:p>
            <a:r>
              <a:t>— SOLUCIÓN (docent · presenter view) —</a:t>
            </a:r>
          </a:p>
          <a:p>
            <a:r>
              <a:t>Regla: het werkwoord volgt het DING (ev/mv), niet de persoon. Me gusta el fútbol · Me gustan los perros. </a:t>
            </a:r>
          </a:p>
          <a:p>
            <a:r>
              <a:t>🔴 nunca «yo gusto» · met sustantivo altijd el/la/los/las.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gustar + P3-seed. Klas vult vóór de klik. Daarna geeft elke leerling één mening «me gusta… porque…». Online: «completa: gustar» (cloze).</a:t>
            </a:r>
          </a:p>
          <a:p/>
          <a:p>
            <a:r>
              <a:t>— SOLUCIÓN (docent · presenter view) —</a:t>
            </a:r>
          </a:p>
          <a:p>
            <a:r>
              <a:t>P3-seed (mi opinión): Me gusta la música latina porque es alegre. No me gustan los lunes porque estoy cansado.</a:t>
            </a:r>
          </a:p>
          <a:p>
            <a:r>
              <a:t>Reageren: a mí también (+) · a mí tampoco (−).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Automatiseer de rutina in rondes met afbouwende steun. Online: recorder (opname + zelfevaluatie).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«Me levanto a las siete, me ducho y desayuno. Voy al insti a las ocho. Por la tarde me gusta bailar. Ceno y me acuesto a las once.»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(luisteren→schrijven). Checklist = zichtbare steun; onthul het model pas na het schrijven (retrieval). Nakijkfocus: reflexivos correct, la hora, ser/estar, gustar, één opinión met porque. Dit voedt de Tarea «Mi día a día».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la hora + sentimientos. Klik onthult; koppel la hora aan de rutina en estar aan de sentimientos. Online: dictado de horas + ¿cómo estás? (memory).</a:t>
            </a:r>
          </a:p>
          <a:p/>
          <a:p>
            <a:r>
              <a:t>— SOLUCIÓN (docent · presenter view) —</a:t>
            </a:r>
          </a:p>
          <a:p>
            <a:r>
              <a:t>La hora: es la una (1) · son las + 2,3… · y cuarto/y media/menos cuarto. ¿A qué hora? → A las siete.</a:t>
            </a:r>
          </a:p>
          <a:p>
            <a:r>
              <a:t>Sentimientos: estar + adjetivo (estoy contento/cansado). Concordancia: contento/contenta.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Sílaba tónica in reflexieve vormen; porque = kernvalstrik NL.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de meeste reflexieve vormen zijn llana (me DU-cho); draagt het een tilde, volg de tilde.</a:t>
            </a:r>
          </a:p>
          <a:p>
            <a:r>
              <a:t>🔴 B: «want» én «omdat» = porque · «dus» = así que/por 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Bruggetje naar La Ruta (parada 1 = España). Online: vergelijk het horario van Lucía (Sevilla) en Diego (CDMX).</a:t>
            </a:r>
          </a:p>
          <a:p/>
          <a:p>
            <a:r>
              <a:t>— SOLUCIÓN (docent · presenter view) —</a:t>
            </a:r>
          </a:p>
          <a:p>
            <a:r>
              <a:t>Actividad: compara tu horario con el de España. ¿A qué hora comes tú? ¿Y cenas?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reflexivos · ser/estar · gustar + OI · la hora · «me gusta… porque».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(13 spellen). Bruggetje: U2 «Aquí vivo» — wonen, de buurt, hay/estar en lo/la.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 Échte LPD-codes uit EELP-U3/U4.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15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7.xml"/><Relationship Id="rId7" Type="http://schemas.openxmlformats.org/officeDocument/2006/relationships/slide" Target="slide11.xml"/><Relationship Id="rId8" Type="http://schemas.openxmlformats.org/officeDocument/2006/relationships/slide" Target="slide9.xml"/><Relationship Id="rId9" Type="http://schemas.openxmlformats.org/officeDocument/2006/relationships/slide" Target="slide17.xml"/><Relationship Id="rId10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949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ESPAÑA · EL DÍA A DÍA 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Bricolage Grotesque"/>
              </a:rPr>
              <a:t>El día a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Tu rutina, la hora, cómo te sientes y qué te gusta (reflexivos · ser/estar · gustar).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¿Cómo es un día en tu vida?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Hoe ziet jouw dag eruit?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1: España (Lucía)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día a día»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hora 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15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Mi rutina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acciones · conectores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Reflexivos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me/te/se + verbo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Ser / estar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identiteit ↔ gevoel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Gustar + 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gusta… porque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dos perfiles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horario español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🗓️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día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blog + presentación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acciones de la rutina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je dag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me levanto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sta 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levantarse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me ducho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douche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ducharse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desayuno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ontbijt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desayunar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como / meriendo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eet / snack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a las 2 /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hago los deberes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maak huiswerk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por la tarde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vuelvo a casa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keer terug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volver (o→ue)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ceno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eet 's avonds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cenar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me acuesto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ga naar bed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acostarse (o→ue)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Conectores de secuencia: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primero · luego · después · por último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Un día: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Primero me levanto, luego me ducho, después desayuno y por último voy al instituto.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Frecuencia: siempre · normalmente · a veces · nunca.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reflexivos — la acción vuelve a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Kleur = de functie. Pronombre (me/te/se…) + werkwoord.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63EB"/>
                </a:solidFill>
                <a:latin typeface="Bricolage Grotesque"/>
              </a:rPr>
              <a:t>(Yo) </a:t>
            </a:r>
            <a:r>
              <a:rPr sz="2400" b="1" i="0">
                <a:solidFill>
                  <a:srgbClr val="7C3AED"/>
                </a:solidFill>
                <a:latin typeface="Bricolage Grotesque"/>
              </a:rPr>
              <a:t>me </a:t>
            </a:r>
            <a:r>
              <a:rPr sz="2400" b="1" i="0">
                <a:solidFill>
                  <a:srgbClr val="EA7317"/>
                </a:solidFill>
                <a:latin typeface="Bricolage Grotesque"/>
              </a:rPr>
              <a:t>levanto </a:t>
            </a:r>
            <a:r>
              <a:rPr sz="2400" b="1" i="0">
                <a:solidFill>
                  <a:srgbClr val="64748B"/>
                </a:solidFill>
                <a:latin typeface="Bricolage Grotesque"/>
              </a:rPr>
              <a:t>a las siete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Los pronombres reflexivos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yo → 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me levanto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tú → 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te levantas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él/ella → 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se levanta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nosotros → 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nos levantamos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vosotros →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os levantáis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ellos → 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se levantan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pronombre + verbo, in die volgorde. Het pronomen past bij het onderwerp: me (yo), te (tú), se (él/ella)…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9926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los reflexivos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 verschijnt.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___ (levantarse) a las 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¿Tú ___ (ducharse) hoy?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5915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te duchas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Lucía ___ (despertarse) temprano.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163824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se despierta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(acostarse) a las 11.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nos acostamos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Diego ___ (vestirse) rápido.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35915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se viste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Ellos ___ (peinarse) ahora.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163824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se peinan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Pronombre + vorm: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me/te/se/nos/os/se + verbo. Cambio vocálico: me despierto, me acuesto, me visto (nosotros/vosotros GEEN wissel).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«levantarse» — klik om te onthullen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Denk eerst pronombre + vorm; klik dan de kaart.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te levantas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se levanta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nos levantamos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os levantáis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se levantan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🟣 </a:t>
            </a:r>
            <a:r>
              <a:rPr sz="1300" b="1" i="0">
                <a:solidFill>
                  <a:srgbClr val="5B3E83"/>
                </a:solidFill>
                <a:latin typeface="Inter"/>
              </a:rPr>
              <a:t>La posición: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normaal vóór het werkwoord (Me ducho); bij infinitief mag ook achteraan: Quiero ducharme = Me quiero duchar.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 bota: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cambio vocálico in yo·tú·él·ellos (me despierto, me acuesto), NIET in nosotros/vosotros.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vs estar — el contraste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ser = wie/wat je bent (permanent) · estar = waar/hoe (plaats/gevoel).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Inter"/>
              </a:rPr>
              <a:t>Lucía </a:t>
            </a:r>
            <a:r>
              <a:rPr sz="1800" b="1" i="0">
                <a:solidFill>
                  <a:srgbClr val="2563EB"/>
                </a:solidFill>
                <a:latin typeface="Inter"/>
              </a:rPr>
              <a:t>es </a:t>
            </a:r>
            <a:r>
              <a:rPr sz="1800" b="1" i="0">
                <a:solidFill>
                  <a:srgbClr val="20242E"/>
                </a:solidFill>
                <a:latin typeface="Inter"/>
              </a:rPr>
              <a:t>simpática</a:t>
            </a:r>
            <a:r>
              <a:rPr sz="1200" b="0" i="0">
                <a:solidFill>
                  <a:srgbClr val="6A6E78"/>
                </a:solidFill>
                <a:latin typeface="Inter"/>
              </a:rPr>
              <a:t>  (karakter)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Inter"/>
              </a:rPr>
              <a:t>Lucía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está </a:t>
            </a:r>
            <a:r>
              <a:rPr sz="1800" b="1" i="0">
                <a:solidFill>
                  <a:srgbClr val="20242E"/>
                </a:solidFill>
                <a:latin typeface="Inter"/>
              </a:rPr>
              <a:t>cansada</a:t>
            </a:r>
            <a:r>
              <a:rPr sz="1200" b="0" i="0">
                <a:solidFill>
                  <a:srgbClr val="6A6E78"/>
                </a:solidFill>
                <a:latin typeface="Inter"/>
              </a:rPr>
              <a:t>  (gevoel nu)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ser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identiteit / herkomst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ser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beroep / karakter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ser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uur &amp; datum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estar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plaats (dónde)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estar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gevoel / toestand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🔴 es ≠ está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aburrido: saai ≠ verveelt zich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920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permanent/eigenschap → ser (soy simpático) · plaats/gevoel/toestand nu → estar (estoy cansado).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7640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¿ser o estar?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betekenis.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Lucía ___ de Sevilla.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Hoy ___ cansado.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___ estudiante.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soy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mochila ___ en clase.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clase ___ aburrida (saai).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(Yo) ___ aburrido (nu).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Contraste: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 aburrido = saai (eigenschap) · está aburrido = verveelt zich (nu). Idem: es/está listo, rico, bueno.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perfiles — «¿Qué les gusta?»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 su día y sus gustos.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«Me despierto a las siete y me levanto enseguida. Como a las tres. Por la tarde me gusta bailar flamenco. Hoy estoy contenta porque es viernes.»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«Me levanto a las seis y media. Me encantan los videojuegos, pero no me gusta nada madrugar. Me acuesto a las once. Estoy cansado, pero feliz.»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¿A qué hora se levanta Lucía?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 las siete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le gusta a Lucía?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Bailar flamenco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NO le gusta a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Madrugar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¿Cómo está Diego?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Cansado, pero feliz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la hora, los gustos y el ánimo — niet élk woord.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día con Lucía (el horario)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un momento → la hora + la acción.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🌅 la mañana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7:00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se levanta y se ducha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🍽️ la comida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14:00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come (¡tarde!)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📓 la tarde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18:00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hace los deberes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🌙 la noche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22:00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cena y se acuesta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«Me llamo Lucía. Me levanto a las siete, me ducho y desayuno. Como a las dos…»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 schrijven: elke leerling noteert zijn eigen horario.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Gustar — ¡al revés! ¿gusta o gustan?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Me gusta la música = de muziek bevalt míj. Nooit «yo gusto».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A6E78"/>
                </a:solidFill>
                <a:latin typeface="Inter"/>
              </a:rPr>
              <a:t>NL: </a:t>
            </a:r>
            <a:r>
              <a:rPr sz="1400" b="1" i="0">
                <a:solidFill>
                  <a:srgbClr val="2563EB"/>
                </a:solidFill>
                <a:latin typeface="Inter"/>
              </a:rPr>
              <a:t>Ik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vind muziek leuk.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A6E78"/>
                </a:solidFill>
                <a:latin typeface="Inter"/>
              </a:rPr>
              <a:t>ES: </a:t>
            </a:r>
            <a:r>
              <a:rPr sz="1400" b="1" i="0">
                <a:solidFill>
                  <a:srgbClr val="7C3AED"/>
                </a:solidFill>
                <a:latin typeface="Inter"/>
              </a:rPr>
              <a:t>Me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gusta </a:t>
            </a:r>
            <a:r>
              <a:rPr sz="1400" b="1" i="0">
                <a:solidFill>
                  <a:srgbClr val="B4309A"/>
                </a:solidFill>
                <a:latin typeface="Inter"/>
              </a:rPr>
              <a:t>la música</a:t>
            </a:r>
            <a:r>
              <a:rPr sz="14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36576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53512"/>
            <a:ext cx="33832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gusta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64408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+ 1 cosa (el/la)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880360"/>
            <a:ext cx="36576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953512"/>
            <a:ext cx="33832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gusta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64408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infinitivo (bailar)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80360"/>
            <a:ext cx="36576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953512"/>
            <a:ext cx="33832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gustan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264408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varias cosas (los/las)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¿A quién?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(a mí) me · (a ti) te · (a él/ella) le · (a nosotros) nos · (a vosotros) os · (a ellos) 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262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het werkwoord volgt het DING (ev/mv), niet de persoon. Me gusta el fútbol · Me gustan los perros.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nunca «yo gusto» · met sustantivo altijd el/la/los/las.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39826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QUIZ · P3-SEED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Gustos: pronombre + «porque»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juiste vorm. Y da tu opinión con «me gusta… porque…».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 ___ el fútbol.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554480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me gusta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2257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22576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ti ___ los deportes.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322576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te gustan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906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Lucía ___ bailar.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090672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le gusta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mis padres ___ la siesta.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554480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les gusta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2257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22576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 no ___ los lunes.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322576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me gustan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906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090672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nosotros ___ viajar.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090672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nos gusta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1124712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escala: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 encanta 😍 → me gusta mucho → me gusta 🙂 → no me gusta → no me gusta nada 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P3-seed (mi opinión):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Me gusta la música latina porque es alegre. No me gustan los lunes porque estoy cansado.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Reageren: a mí también (+) · a mí tampoco (−).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6268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¡Cuenta tu día!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Despertar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Me despierto a las…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Higiene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Me ducho y me visto.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Desayuno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Desayuno…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Instituto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Voy al insti a las…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Tarde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Hago los deberes / me gusta…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Noche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Ceno y me acuesto a las…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4325112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día a día»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«Me levanto a las siete, me ducho y desayuno. Voy al insti a las ocho. Por la tarde me gusta bailar. Ceno y me acuesto a las once.»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día a día (el blog)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dagblog.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aquí tu día: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5 verbos reflexivos (me levanto…)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hora (a las siete)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conectores (primero, luego…)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frecuencia (siempre, a veces)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gusto (me gusta… porque…)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cómo estás (estoy…)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«Normalmente me levanto a las siete. Primero me ducho, luego desayuno. Como a las dos. Por la tarde me gusta bailar porque es divertido. Me acuesto a las once. Hoy estoy contento.»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hora y los sentimientos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Es la 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1:00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Son las 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2:00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y cuarto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:15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y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:30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menos cuarto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:45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 punto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op het uur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contento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blij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cansado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moe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nervioso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nerveus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aburrido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verveeld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¿qué hora es?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hoe laat is het?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¿a qué hora?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om hoe laat?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 hora: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 la una (1) · son las + 2,3… · y cuarto/y media/menos cuarto. ¿A qué hora? → A las siete.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Sentimientos: estar + adjetivo (estoy contento/cansado). Concordancia: contento/contenta.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Sílaba tónica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uitspraak en verbinden.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acento en los reflexivos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DU-cho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llana (voorlaatste)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 des-PIER-ta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41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des-per-TAR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aguda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MIÉR-co-les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5818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esdrújula (tilde!)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conectores: primero · luego · después · porque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___ me levanto, ___ me ducho.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783080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primero … luego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___ desayuno.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441448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después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Me gusta el finde ___ no hay clase.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099816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___, me acuesto.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758184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por último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de meeste reflexieve vormen zijn llana (me DU-cho); draagt het een tilde, volg de tilde.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«want» én «omdat» = porque · «dus» = así que/por eso.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1: ESPAÑA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horario español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 verschijnt. Un día hispano tiene su ritmo.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🍽️ Se come tarde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España is la comida (lunch) de hoofdmaaltijd, om 14–15u. La cena is licht en laat: 21–22u. Desayuno = klein.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comida ≠ el desayuno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😴 La siesta — mito y realidad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Na de comida rusten sommigen even (la siesta), vooral in kleine steden en de zomer. In grote steden bijna niemand meer.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geen siesta voor iedereen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🌎 No es igual en todo el mundo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México eet men ook rond 14–15u maar ontbijt steviger. In veel LatAm-landen eet men vroeger dan in España.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día hispano ≠ un solo horario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compara tu horario con el de España. ¿A qué hora comes tú? ¿Y cenas?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Bricolage Grotesque"/>
              </a:rPr>
              <a:t>🗓️ Tarea final · Mi día a día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Maak je dagblog voor de klasmuur y preséntalo en pareja.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Planifica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6–8 acciones + la hora (me levanto a las…)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tu blog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21408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6–8 frases: reflexivos + conectores + hora + frecuencia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gustos y ánimo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«me gusta… porque…» y «por la mañana estoy…»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en pareja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lee en voz alta; tu compañero/a anota una hora y pregunta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Graba tu presentación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22192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5 verbos reflexivos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la hora + conectores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ser/estar + gustar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 (porque)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(el muro) · doel je dag delen · situatie het begin van het jaar · resultaat: blog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(levantarse)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tú (ducharse)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te duchas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nosotros (acostarse)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nos acostamos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Lucía ___ de Sevilla (ser/estar)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Hoy ___ cansado (ser/estar)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___ los perros (gusta/gustan)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gustan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 Diego ___ gusta el fútbol (pron.)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3:30 = son las tres…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y media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reflexivos · ser/estar · gustar + OI · la hora · «me gusta… porque».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(13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La hora: es la una · son las dos… · y cuarto/y media/menos cuarto · A las siete me levanto.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Reflexivos: pronombre (me·te·se·nos·os·se) + verbo. Cambio vocálico: me despierto, me acuesto, me visto.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Ser vs estar: ser = identiteit/karakter (soy simpático) · estar = plaats/gevoel (estoy cansado). es aburrido ≠ está aburrido.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Gustar + OI: me/te/le/nos/os/les + gusta (1/inf.) / gustan (varios). ¡Al revés!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nunca «yo gusto» · me gusta el fútbol (lidwoord) · me/te/se bij reflexief · a mí también (niet yo también).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hora zeggen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rutina met reflexivos vertellen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ser vs estar contrasteren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gustar + OI gebruiken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una opinión con «me gusta… porque»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U1 «El día a día»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Menu 2' · la hora 6' · rutina 6' · reflexivos 12' · ser/estar 8' · gustar 8' · lectura/escucha 5' · Tarea-briefing 3'.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nunca «yo levanto» (reflexief = me/te/se + verbo) · gustar «al revés» (me gusta la música, nunca yo gusto) · me gusta + el/la (lidwoord verplicht) · es aburrido (saai) ≠ está aburrido (verveelt zich) · a mí también (niet yo también).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Sterker: volledige rutina + gustos + opinión met porque + 3ª persoon (mijn buur). Zwakker: reflexief-tabel + ser/estar-kaart langer open, frames houden; gustar met vaste chunks (me gusta / me gustan).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13 spellen + flip cards + gramática interactiva (reflexivos/ser-estar/gustar) + recorder (Hablar) + Lectura (dos perfiles) op de página digital. QR's in het boek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 &amp; LPD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Tarea «Mi día a día» met rúbrica (4 criteria). LPD (III-Spa-d): rutina/reflexivos 8·3 · la hora 8·7 · ser/estar 8·7 · gustar 8·7 · lezen 1·2·5 · cultuur 5 · spreken/interactie 3·4. Bron: oude cursus U3/U4 + reservoir.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