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3 = Barcelona, met gastvrouw Lucía en haar vriend Pau (catalán, alleen in tekst). Doel: la hora zeggen/vragen · dagroutine met reflexieve werkwoorden · presente irregular (o→ue, e→ie, e→i) + hacer/ir/salir. Kernvalstrik meteen: Es la una (1u) vs. Son las dos… (≥2u), en het reflexief pronomen vóór het werkwoord (me levanto). Instructietaal Spaans-eerst met NL-steun. Docentdeck = vrije navigatie + oplossing; leerlingdeck = elke klik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(la hora) en §2 (rutina) — daar zit de communicatieve 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la hora (reveal). Klas zegt de tijd vóór je klikt. Benadruk es la/son las en y/menos. Online: «La hora» (reloj ↔ frase) + recorder «escucha y repite: la hora».</a:t>
            </a:r>
          </a:p>
          <a:p/>
          <a:p>
            <a:r>
              <a:t>— SOLUCIÓN (docent · presenter view) —</a:t>
            </a:r>
          </a:p>
          <a:p>
            <a:r>
              <a:t>🔴 Es la una (enkelvoud, alléén 1 uur) · Son las dos, tres… (meervoud, vanaf 2 uur).</a:t>
            </a:r>
          </a:p>
          <a:p>
            <a:r>
              <a:t>y media / y cuarto (tot half) · menos cuarto (na half) · en punto (precies) · a las … de la mañana/tarde/noche.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rutina (color-coding). Elke leerling bouwt zijn dag met het marco. Steun bouwt af (marco → beginwoorden → uit het hoofd). Kleur is nooit de enige drager. Online: «Carrusel: mi día» (recorder).</a:t>
            </a:r>
          </a:p>
          <a:p/>
          <a:p>
            <a:r>
              <a:t>— SOLUCIÓN (docent · presenter view) —</a:t>
            </a:r>
          </a:p>
          <a:p>
            <a:r>
              <a:t>Modelo: «Me despierto a las siete, me ducho, desayuno y salgo de casa a las ocho. Por la tarde hago los deberes.»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reflexivos (reveal). Coro: klas zegt pronombre + vorm vóór de klik. Grote NL-valstrik: pronomen vergeten of achteraan zetten. Online: «¿reflexivo o no?» + «verbos reflexivos» (cloze).</a:t>
            </a:r>
          </a:p>
          <a:p/>
          <a:p>
            <a:r>
              <a:t>— SOLUCIÓN (docent · presenter view) —</a:t>
            </a:r>
          </a:p>
          <a:p>
            <a:r>
              <a:t>🔴 Het pronombre staat VÓÓR het werkwoord: me levanto (niet «levanto me»). Het werkwoord vervoeg je gewoon.</a:t>
            </a:r>
          </a:p>
          <a:p>
            <a:r>
              <a:t>me/te/se/nos/os/se — past bij de persoon. Zo ook: me ducho, se acuesta (o→ue), me visto (e→i).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reflexivo (reveal). Laat de klas eerst kiezen (hand/stem). De meeste acties van de ochtend zijn reflexief.</a:t>
            </a:r>
          </a:p>
          <a:p/>
          <a:p>
            <a:r>
              <a:t>— SOLUCIÓN (docent · presenter view) —</a:t>
            </a:r>
          </a:p>
          <a:p>
            <a:r>
              <a:t>Reflexivo = una acción sobre ti mismo (me/te/se): levantarse, ducharse, vestirse, acostarse, despertarse, peinarse, lavarse.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o→ue (reveal per cel). Teken «la bota» rond yo/tú/él/ellos. Laat de klas nosotros/vosotros voorspellen (géén wissel!). Online: «cambio de raíz» + «presente irregular Tetris».</a:t>
            </a:r>
          </a:p>
          <a:p/>
          <a:p>
            <a:r>
              <a:t>— SOLUCIÓN (docent · presenter view) —</a:t>
            </a:r>
          </a:p>
          <a:p>
            <a:r>
              <a:t>De vocal o→ue in álle vormen BEHALVE nosotros/vosotros (podemos, dormimos). Zo ook: acostarse→me acuesto, almorzar→almuerzo, jugar→juego (u→ue).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e→ie/e→i (reveal). Onthul rij per rij; laat de klas de wissel voorspellen. Werkwoordsvervoeging verder = aparte Conjugador-tool. Inoefenen: online «presente irregular» (cloze) + de cloze in de cursus (§3.2).</a:t>
            </a:r>
          </a:p>
          <a:p/>
          <a:p>
            <a:r>
              <a:t>— SOLUCIÓN (docent · presenter view) —</a:t>
            </a:r>
          </a:p>
          <a:p>
            <a:r>
              <a:t>e→ie (empiezo, quiero, prefiero, me despierto) · e→i (pido, me visto, sirvo). Nosotros/vosotros: geen wissel (empezamos, pedimos).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hacer/ir/salir (reveal). Enkel de yo-vorm is speciaal (hago/salgo/voy). Laat de klas de rest afleiden.</a:t>
            </a:r>
          </a:p>
          <a:p/>
          <a:p>
            <a:r>
              <a:t>— SOLUCIÓN (docent · presenter view) —</a:t>
            </a:r>
          </a:p>
          <a:p>
            <a:r>
              <a:t>🟡 hago · salgo krijgen -g- in de yo-vorm; ir is helemaal apart (voy, vas, va…). De rest is regelmatig.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dagvertelling in 3 rondes met afbouwende steun. Online: SubstitutionCarousel + recorder.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Empiezo el insti a las nueve. Por la tarde juego al fútbol. A veces ceno tarde.»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(lezen→spreken/schrijven-keten). Eerst globaal (waarover?), dan detail (uren scannen). Onthul de antwoorden pas na de klas. Online: audio «el día de Pau» + V/F-taak.</a:t>
            </a:r>
          </a:p>
          <a:p/>
          <a:p>
            <a:r>
              <a:t>— SOLUCIÓN (docent · presenter view) —</a:t>
            </a:r>
          </a:p>
          <a:p>
            <a:r>
              <a:t>Daarna: leerlingen maken hun EIGEN horario (transfer → Tarea).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moment voor (of TTS). Klas noteert hora; onthul per klik. Daarna spreken: leerling vertelt zijn eigen dag.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«Por la mañana, a las siete, me levanto.» …</a:t>
            </a:r>
          </a:p>
          <a:p>
            <a:r>
              <a:t>de la mañana/tarde/noche = concreet uur · por la mañana/tarde/noche = dagdeel (geen uur).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la hora, reflexivos, presente irregular, conectores. Voedt de Tarea «Un día en mi vida».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Conectores temporales structureren de dagvertelling; tildes op tijdwoorden.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primero → después/luego → más tarde → por fin. 🔴 «dan» = después/luego, niet «entonces».</a:t>
            </a:r>
          </a:p>
          <a:p>
            <a:r>
              <a:t>B: veel tijdwoorden dragen een tilde: miércoles, sábado, después, mediodía; vraagwoorden altijd (¿qué?).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frecuencia + tiempo. Onthul per kaart. Mayúscula-valstrik (dagen/maanden klein). Online: «frecuencia», «día vs mes».</a:t>
            </a:r>
          </a:p>
          <a:p/>
          <a:p>
            <a:r>
              <a:t>— SOLUCIÓN (docent · presenter view) —</a:t>
            </a:r>
          </a:p>
          <a:p>
            <a:r>
              <a:t>🔴 días/meses = kleine letter (lunes, enero) — anders dan landen/steden (Barcelona). </a:t>
            </a:r>
          </a:p>
          <a:p>
            <a:r>
              <a:t>«op maandag» = el lunes · «elke maandag» = los lunes. Frecuentie meestal vóór het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la hora. Klas formuleert de zin vóór de klik. Daarna: leerlingen vragen elkaar «¿a qué hora…?».</a:t>
            </a:r>
          </a:p>
          <a:p/>
          <a:p>
            <a:r>
              <a:t>— SOLUCIÓN (docent · presenter view) —</a:t>
            </a:r>
          </a:p>
          <a:p>
            <a:r>
              <a:t>y (tot half) · menos (na half) · en punto (precies). Es la una (1u) / Son las… (≥2u).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Het latere horario + siesta-mythe zijn kernculturele verschillen. Verbind met de klas: hoe laat eten jullie?</a:t>
            </a:r>
          </a:p>
          <a:p/>
          <a:p>
            <a:r>
              <a:t>— SOLUCIÓN (docent · presenter view) —</a:t>
            </a:r>
          </a:p>
          <a:p>
            <a:r>
              <a:t>Actividad: vergelijk: ¿a qué hora comes y cenas TÚ en Bélgica? Schrijf jouw «horario español».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conjuga (retrieval). Klas geeft de vorm vóór de klik. Online: «presente irregular Tetris» + Conjugador (aparte tool).</a:t>
            </a:r>
          </a:p>
          <a:p/>
          <a:p>
            <a:r>
              <a:t>— SOLUCIÓN (docent · presenter view) —</a:t>
            </a:r>
          </a:p>
          <a:p>
            <a:r>
              <a:t>Nosotros = geen wissel (empezamos). Yo speciaal bij hacer/salir/ir (hago/salgo/voy). Alle vormen nagerekend via de motor-generator.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 de voz: mi día»).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</a:t>
            </a:r>
          </a:p>
          <a:p/>
          <a:p>
            <a:r>
              <a:t>— SOLUCIÓN (docent · presenter view) —</a:t>
            </a:r>
          </a:p>
          <a:p>
            <a:r>
              <a:t>Alles komt terug: la hora · reflexivos · presente irregular · frecuencia · conectores · tildes.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(24 spellen + zelfcorrectie). Bruggetje: U4 «Me gusta» (València) — gustos &amp; aficiones (me gusta / me encanta).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(U3_bron.md).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8.xml"/><Relationship Id="rId6" Type="http://schemas.openxmlformats.org/officeDocument/2006/relationships/slide" Target="slide15.xml"/><Relationship Id="rId7" Type="http://schemas.openxmlformats.org/officeDocument/2006/relationships/slide" Target="slide11.xml"/><Relationship Id="rId8" Type="http://schemas.openxmlformats.org/officeDocument/2006/relationships/slide" Target="slide19.xml"/><Relationship Id="rId9" Type="http://schemas.openxmlformats.org/officeDocument/2006/relationships/slide" Target="slide20.xml"/><Relationship Id="rId10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Relationship Id="rId4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3 · BARCELONA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tiempo vuela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hora · la rutina · el presente irregular — en Barcelona, con Lucía y Pau.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hora es… y qué haces cada día?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laat is het… en wat doe je elke dag?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«Un día en mi vida»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y media · ¿a qué hora?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verbos reflexivos · me/te/se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5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irregular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o→ue · e→ie · e→i · hacer/ir/salir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Frecuencia + tiempo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siempre/nunca · días ·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15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día de Pau · la hora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Un día en mi 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vlog/tekst + presentarlo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klok → de tijd verschijnt. Es la UNA (1u) · Son LAS dos… (≥2u).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3:15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tres y cuarto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4:45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cinco menos cuarto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en punto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y veinte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Es la una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(enkelvoud, alléén 1 uur) ·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Son las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dos, tres… (meervoud, vanaf 2 uur).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y media / y cuarto (tot half) · menos cuarto (na half) · en punto (precies) · a las … de la mañana/tarde/noche.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rutina — la frase con color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Reflexief pronomen (paars/oranje)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levanto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siete,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ducho </a:t>
            </a:r>
            <a:r>
              <a:rPr sz="24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empiezo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en el instituto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nueve.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cuenta tu día: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despierto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ducho / me visto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Desayuno / almuerzo / ceno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hora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Voy / salgo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lugar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acuesto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despierto a las siete, me ducho, desayuno y salgo de casa a las ocho. Por la tarde hago los deberes.»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Verbos reflexivos (me/te/se)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pronombre + de vorm, klik de kaart. Pronomen vóór het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pronombre staat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levanto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«levanto me»). Het werkwoord vervoeg je gewoon.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me/te/se/nos/os/se — past bij de persoon. Zo ook: me ducho, se acuesta (o→ue), me visto (e→i).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¿Reflexivo o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reflexief of niet? Let op het pronombre.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levantarse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desayunar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desayuno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ducharse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ducho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ceno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acostarse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acuesto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 los deberes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hago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Reflexivo = una acción sobre ti mismo (me/te/se):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levantarse, ducharse, vestirse, acostarse, despertarse, peinarse, lavarse.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o → 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vocal wordt UE… behalve nosotros/vosotros («la bota»).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dormir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volver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dormimos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dormís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volvéis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vocal o→ue in álle vormen BEHALVE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(podemos, dormimos). Zo ook: acostarse→me acuesto, almorzar→almuerzo, jugar→juego (u→ue).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e→ie y e→i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«bota». Klik een cel → de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empezar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pedir (e→i)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empezamos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queremos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empezáis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queréis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e→ie (empiezo, quiero, prefiero, me despierto) · e→i (pido, me visto, sirvo).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Nosotros/vosotros: geen wissel (empezamos, pedimos).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hacer · ir · salir — el «yo» especial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verrassing zit in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salgo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hago · salgo krijgen -g- in de yo-vorm; ir is helemaal apart (voy, vas, va…).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rest is regelmatig.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tu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dag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Empiezo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levanto a las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Mañana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ducho / me visto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Mediodía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Almuerzo a las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Hago los deberes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Ceno / me acuesto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Frecuencia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Siempre / a veces / nunca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mi día»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levanto a las siete, me ducho y desayuno. Empiezo el insti a las nueve. Por la tarde juego al fútbol. A veces ceno tarde.»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día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303520" cy="40233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783080"/>
            <a:ext cx="3749039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«Me despierto a las siete y me levanto enseguida. Me ducho, me visto y desayuno. Salgo de casa a las ocho y voy al instituto en metro. Las clases empiezan a las nueve. Al mediodía almuerzo con mis amigos. Por la tarde hago los deberes y juego al fútbol. Ceno a las nueve y me acuesto a las once.»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5448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despierta Pau?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59152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404872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¿Cómo va al instituto?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24912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metro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163824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209544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empiezan las clases?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529584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nueve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968496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14216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hace por la tarde?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334256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deberes y juega al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773168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818888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acuesta?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138928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23560"/>
            <a:ext cx="57607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Daarna: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leerlingen maken hun EIGEN horario (transfer → Tarea).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5495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momenten van de dag. Klik een kaart → hora +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levanto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Al mediodía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almuerzo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hago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23:00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acuesto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«Por la mañana, a las siete, me levanto.»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la mañana/tarde/noche = concreet uur · por la mañana/tarde/noche = dagdeel (geen uur).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en mi vida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zinnen over jouw 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hora (es la / son las…)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reflexivo (me levanto…)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irregular (empiezo…)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(primero, después…)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frecuencia (siempre, a veces)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mañana + tarde + noche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«Normalmente me levanto a las siete, me ducho y desayuno. Empiezo el insti a las nueve. Por la tarde hago los deberes y a veces juego al fútbol. Me acuesto a las once.»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temporales y tildes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dag te vertellen.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 temporales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levanto.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Primero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eerst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Después / Luego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daarna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hago los deberes.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Más tarde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acuesto.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 fin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ten slotte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pon la tilde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miercoles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sabado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sábado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despues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¿que hora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¿qué hora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después/luego → más tarde → por fin. 🔴 «dan» = después/luego, niet «entonces».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veel tijdwoorden dragen een tilde: miércoles, sábado, después, mediodía; vraagwoorden altijd (¿qué?).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Frecuencia + días, meses y estaciones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betekenis/plaats. Días y meses met kleine letter!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Escala de frecuencia (100% → 0%):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siempre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normalmente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menudo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veces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casi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nunca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lunes … 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7 días (klein!)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enero … diciembre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12 meses (klein!)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primavera · verano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otoño · invierno = las estaciones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fin de semana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todos los días · una vez por semana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262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días/meses = kleine letter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(lunes, enero) — anders dan landen/steden (Barcelona).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«op maandag» = el lunes · «elke maandag» = los lunes. Frecuentie meestal vóór het werkwoord.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398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uur — welke zin? Klik → de zin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7:45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ocho menos cuarto.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y cuarto.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doce (mediodía).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en punto.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(tot half) · menos (na half) · en punto (precies).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la una (1u) / Son las… (≥2u).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In España eet en cena men later dan in België.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🍽️ Las comidas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desayuno (~8h) · comida/almuerzo (~14–15h, ¡la principal!) · merienda (~18h) · cena (~21–22h).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 België: eten rond 12h en 18h — een paar uur vroeger.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🏫 El instituto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Van ~8:30 tot ~14:30, soms met pauze. Namiddag: deberes, deporte, amigos.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Ander ritme dan een lange schooldag.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😴 La siesta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Meer mito dan realidad: weinigen doen echt siesta, vooral mayores. De cultuur eet gewoon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Vergelijk met je eigen dagritme in Bélgica.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vergelijk: ¿a qué hora comes y cenas TÚ en Bélgica? Schrijf jouw «horario español».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Conjuga el presente irregular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juiste vorm. Let op de «bota» en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empezar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empiezo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Pau · dormir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duerme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· querer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quieres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voy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· pedir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piden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salgo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Nosotros = geen wissel (empezamos). Yo speciaal bij hacer/salir/ir (hago/salgo/voy).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Alle vormen nagerekend via de motor-generator.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Un día en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vlog of tekst met horario over een dag uit je leven.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uren van jouw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6–8 frases: hora + reflexivos + presente irregular + conectores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 la frecuencia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siempre · a veces ·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su día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la hora correct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reflexivos (me/te/se)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conectores +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dag vertellen · situatie een dag in Barcelona · resultaat: horario + vlog/tekst.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1:00 (frase)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levantarse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 levanto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poder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0%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nunca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«dan/daarna»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 / luego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 con tilde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 / sábado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hora · reflexivos · presente irregular · frecuencia · conectores · tildes.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(24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media/cuarto · menos cuarto · en punto · ¿a qué hora? a las…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me/te/se/nos/os/se + verbo (me levanto). Pronombre vóór het werkwoord.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Presente irregular: o→ue (puedo), e→ie (empiezo), e→i (pido) · hago · voy · salgo. NIET bij nosotros/vosotros.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Frecuencia: siempre · normalmente · a menudo · a veces · casi nunca · nunca.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Es la una / Son las… · me levanto (niet levanto me) · podemos (geen ue) · días/meses klein.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 en vragen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frecuencia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días/meses/estaciones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U3 «El tiempo vuela»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la hora 8' · rutina/reflexivos 10' · presente irregular 12' · reading/listening 8' · speaking/writing 6'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Es la una / Son las… · pronomen vóór verbo (me levanto) · nosotros/vosotros géén stamwissel · hago/salgo/voy · de la vs por la · días/meses klein.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dag + frecuencia. Zwakker: la hora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24 spellen + flip cards + klikbare kaart + recorder («la hora», «mi día», «mensaje de voz»)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«Un día en mi vida» met rúbrica (4 criteria). LPD 3·4·7·8 + 5 (cultura: el horario) + 1·2 (receptief: el día de Pau).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