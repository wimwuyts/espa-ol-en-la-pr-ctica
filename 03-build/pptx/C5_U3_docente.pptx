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78" r:id="rId30"/>
    <p:sldId id="279" r:id="rId31"/>
    <p:sldId id="280" r:id="rId32"/>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 TITLE. Parada 3 = Barcelona, met gastvrouw Lucía en haar vriend Pau (catalán, alleen in tekst). Doel: la hora zeggen/vragen · dagroutine met reflexieve werkwoorden · presente irregular (o→ue, e→ie, e→i) + hacer/ir/salir. Kernvalstrik meteen: Es la una (1u) vs. Son las dos… (≥2u), en het reflexief pronomen vóór het werkwoord (me levanto). Instructietaal Spaans-eerst met NL-steun. Docentdeck = vrije navigatie + oplossing; leerlingdeck = elke klik onthult (geen kiosk).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 LESSON_MENU. Elke tegel = hyperlink naar de sectie; op elke oefendia staat ⌂ Menú terug. Richttijd 50 min. Zij-instromers: begin bij §1 (la hora) en §2 (rutina) — daar zit de communicatieve kern.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 GRAMMAR la hora (reveal). Klas zegt de tijd vóór je klikt. Benadruk es la/son las en y/menos. Online: «La hora» (reloj ↔ frase) + recorder «escucha y repite: la hora».</a:t>
            </a:r>
          </a:p>
          <a:p/>
          <a:p>
            <a:r>
              <a:t>— SOLUCIÓN (docent · presenter view) —</a:t>
            </a:r>
          </a:p>
          <a:p>
            <a:r>
              <a:t>🔴 Es la una (enkelvoud, alléén 1 uur) · Son las dos, tres… (meervoud, vanaf 2 uur).</a:t>
            </a:r>
          </a:p>
          <a:p>
            <a:r>
              <a:t>y media / y cuarto (tot half) · menos cuarto (na half) · en punto (precies) · a las … de la mañana/tarde/noche.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 GRAMMAR rutina (color-coding). Elke leerling bouwt zijn dag met het marco. Steun bouwt af (marco → beginwoorden → uit het hoofd). Kleur is nooit de enige drager. Online: «Carrusel: mi día» (recorder).</a:t>
            </a:r>
          </a:p>
          <a:p/>
          <a:p>
            <a:r>
              <a:t>— SOLUCIÓN (docent · presenter view) —</a:t>
            </a:r>
          </a:p>
          <a:p>
            <a:r>
              <a:t>Modelo: «Me despierto a las siete, me ducho, desayuno y salgo de casa a las ocho. Por la tarde hago los deberes.»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 GRAMMAR reflexivos (reveal). Coro: klas zegt pronombre + vorm vóór de klik. Grote NL-valstrik: pronomen vergeten of achteraan zetten. Online: «¿reflexivo o no?» + «verbos reflexivos» (cloze).</a:t>
            </a:r>
          </a:p>
          <a:p/>
          <a:p>
            <a:r>
              <a:t>— SOLUCIÓN (docent · presenter view) —</a:t>
            </a:r>
          </a:p>
          <a:p>
            <a:r>
              <a:t>🔴 Het pronombre staat VÓÓR het werkwoord: me levanto (niet «levanto me»). Het werkwoord vervoeg je gewoon.</a:t>
            </a:r>
          </a:p>
          <a:p>
            <a:r>
              <a:t>me/te/se/nos/os/se — past bij de persoon. Zo ook: me ducho, se acuesta (o→ue), me visto (e→i).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 QUIZ reflexivo (reveal). Laat de klas eerst kiezen (hand/stem). De meeste acties van de ochtend zijn reflexief.</a:t>
            </a:r>
          </a:p>
          <a:p/>
          <a:p>
            <a:r>
              <a:t>— SOLUCIÓN (docent · presenter view) —</a:t>
            </a:r>
          </a:p>
          <a:p>
            <a:r>
              <a:t>Reflexivo = una acción sobre ti mismo (me/te/se): levantarse, ducharse, vestirse, acostarse, despertarse, peinarse, lavarse.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 GRAMMAR o→ue (reveal per cel). Teken «la bota» rond yo/tú/él/ellos. Laat de klas nosotros/vosotros voorspellen (géén wissel!). Online: «cambio de raíz» + «presente irregular Tetris».</a:t>
            </a:r>
          </a:p>
          <a:p/>
          <a:p>
            <a:r>
              <a:t>— SOLUCIÓN (docent · presenter view) —</a:t>
            </a:r>
          </a:p>
          <a:p>
            <a:r>
              <a:t>De vocal o→ue in álle vormen BEHALVE nosotros/vosotros (podemos, dormimos). Zo ook: acostarse→me acuesto, almorzar→almuerzo, jugar→juego (u→ue).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 GRAMMAR e→ie/e→i (reveal). Onthul rij per rij; laat de klas de wissel voorspellen. Werkwoordsvervoeging verder = aparte Conjugador-tool. Inoefenen: online «presente irregular» (cloze) + de cloze in de cursus (§3.2).</a:t>
            </a:r>
          </a:p>
          <a:p/>
          <a:p>
            <a:r>
              <a:t>— SOLUCIÓN (docent · presenter view) —</a:t>
            </a:r>
          </a:p>
          <a:p>
            <a:r>
              <a:t>e→ie (empiezo, quiero, prefiero, me despierto) · e→i (pido, me visto, sirvo). Nosotros/vosotros: geen wissel (empezamos, pedimos).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 GRAMMAR hacer/ir/salir (reveal). Enkel de yo-vorm is speciaal (hago/salgo/voy). Laat de klas de rest afleiden.</a:t>
            </a:r>
          </a:p>
          <a:p/>
          <a:p>
            <a:r>
              <a:t>— SOLUCIÓN (docent · presenter view) —</a:t>
            </a:r>
          </a:p>
          <a:p>
            <a:r>
              <a:t>🟡 hago · salgo krijgen -g- in de yo-vorm; ir is helemaal apart (voy, vas, va…). De rest is regelmatig.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 SPEAKING (substitutie → productie). Automatiseer de dagvertelling in 3 rondes met afbouwende steun. Online: SubstitutionCarousel + recorder. Print blijft bruikbaar zonder opname.</a:t>
            </a:r>
          </a:p>
          <a:p/>
          <a:p>
            <a:r>
              <a:t>— SOLUCIÓN (docent · presenter view) —</a:t>
            </a:r>
          </a:p>
          <a:p>
            <a:r>
              <a:t>Modelo: «Me levanto a las siete, me ducho y desayuno. Empiezo el insti a las nueve. Por la tarde juego al fútbol. A veces ceno tarde.»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 READING (lezen→spreken/schrijven-keten). Eerst globaal (waarover?), dan detail (uren scannen). Onthul de antwoorden pas na de klas. Online: audio «el día de Pau» + V/F-taak.</a:t>
            </a:r>
          </a:p>
          <a:p/>
          <a:p>
            <a:r>
              <a:t>— SOLUCIÓN (docent · presenter view) —</a:t>
            </a:r>
          </a:p>
          <a:p>
            <a:r>
              <a:t>Daarna: leerlingen maken hun EIGEN horario (transfer → Tarea).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 LISTENING (selectief). Lees elk moment voor (of TTS). Klas noteert hora; onthul per klik. Daarna spreken: leerling vertelt zijn eigen dag.</a:t>
            </a:r>
          </a:p>
          <a:p/>
          <a:p>
            <a:r>
              <a:t>— SOLUCIÓN (docent · presenter view) —</a:t>
            </a:r>
          </a:p>
          <a:p>
            <a:r>
              <a:t>Modelo-audio (docent leest of TTS): «Por la mañana, a las siete, me levanto.» …</a:t>
            </a:r>
          </a:p>
          <a:p>
            <a:r>
              <a:t>de la mañana/tarde/noche = concreet uur · por la mañana/tarde/noche = dagdeel (geen uur).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 WRITING (lezen→schrijven-keten). Checklist = zichtbare steun; onthul het model pas na het schrijven (retrieval vóór herlezen). Nakijkfocus: la hora, reflexivos, presente irregular, conectores. Voedt de Tarea «Un día en mi vida».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 TALLER. Onthul per klik. Conectores temporales structureren de dagvertelling; tildes op tijdwoorden. Meteen toepassen in de Tarea.</a:t>
            </a:r>
          </a:p>
          <a:p/>
          <a:p>
            <a:r>
              <a:t>— SOLUCIÓN (docent · presenter view) —</a:t>
            </a:r>
          </a:p>
          <a:p>
            <a:r>
              <a:t>A: primero → después/luego → más tarde → por fin. 🔴 «dan» = después/luego, niet «entonces».</a:t>
            </a:r>
          </a:p>
          <a:p>
            <a:r>
              <a:t>B: veel tijdwoorden dragen een tilde: miércoles, sábado, después, mediodía; vraagwoorden altijd (¿qué?).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 VOCAB frecuencia + tiempo. Onthul per kaart. Mayúscula-valstrik (dagen/maanden klein). Online: «frecuencia», «día vs mes».</a:t>
            </a:r>
          </a:p>
          <a:p/>
          <a:p>
            <a:r>
              <a:t>— SOLUCIÓN (docent · presenter view) —</a:t>
            </a:r>
          </a:p>
          <a:p>
            <a:r>
              <a:t>🔴 días/meses = kleine letter (lunes, enero) — anders dan landen/steden (Barcelona). </a:t>
            </a:r>
          </a:p>
          <a:p>
            <a:r>
              <a:t>«op maandag» = el lunes · «elke maandag» = los lunes. Frecuentie meestal vóór het werkwoord.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 QUIZ la hora. Klas formuleert de zin vóór de klik. Daarna: leerlingen vragen elkaar «¿a qué hora…?».</a:t>
            </a:r>
          </a:p>
          <a:p/>
          <a:p>
            <a:r>
              <a:t>— SOLUCIÓN (docent · presenter view) —</a:t>
            </a:r>
          </a:p>
          <a:p>
            <a:r>
              <a:t>y (tot half) · menos (na half) · en punto (precies). Es la una (1u) / Son las… (≥2u).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 CULTURE (identiteit in diversiteit, LPD 5). Onthul per kaart. Het latere horario + siesta-mythe zijn kernculturele verschillen. Verbind met de klas: hoe laat eten jullie?</a:t>
            </a:r>
          </a:p>
          <a:p/>
          <a:p>
            <a:r>
              <a:t>— SOLUCIÓN (docent · presenter view) —</a:t>
            </a:r>
          </a:p>
          <a:p>
            <a:r>
              <a:t>Actividad: vergelijk: ¿a qué hora comes y cenas TÚ en Bélgica? Schrijf jouw «horario español».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 QUIZ conjuga (retrieval). Klas geeft de vorm vóór de klik. Online: «presente irregular Tetris» + Conjugador (aparte tool).</a:t>
            </a:r>
          </a:p>
          <a:p/>
          <a:p>
            <a:r>
              <a:t>— SOLUCIÓN (docent · presenter view) —</a:t>
            </a:r>
          </a:p>
          <a:p>
            <a:r>
              <a:t>Nosotros = geen wissel (empezamos). Yo speciaal bij hacer/salir/ir (hago/salgo/voy). Alle vormen nagerekend via de motor-generator.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 FINAL_MISSION (communicatieve eindtaak). Afzender/ontvanger/doel/situatie/resultaat expliciet. Beoordeel met de rúbrica; opname + zelfevaluatie op de digitale pagina («mensaje de voz: mi día»).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 QUIZ mezcla (retrieval vóór herlezen). Zonder waarschuwing door elkaar. Exit-ticket of tussentijdse check.</a:t>
            </a:r>
          </a:p>
          <a:p/>
          <a:p>
            <a:r>
              <a:t>— SOLUCIÓN (docent · presenter view) —</a:t>
            </a:r>
          </a:p>
          <a:p>
            <a:r>
              <a:t>Alles komt terug: la hora · reflexivos · presente irregular · frecuencia · conectores · tildes.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 FEEDBACK/REPASO. Semáforo = zelfevaluatie. Repaso-drills online (20 spellen + zelfcorrectie). Bruggetje: U4 «Me gusta» (València) — gustos &amp; aficiones (me gusta / me encanta).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Alleen in het docentdeck. Volledige LPD-dekking en didactische route staan in het cursusdossier (U3_bron.md).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RETO 2 · Zona horaria — 🔬 onderzoek &amp; data</a:t>
            </a:r>
          </a:p>
          <a:p>
            <a:r>
              <a:t>OPDRACHT: Zoek het enige uur waarop jullie alle vier wakker zijn.</a:t>
            </a:r>
          </a:p>
          <a:p>
            <a:r>
              <a:t>DE REGEL: Iedereen moet tussen 8:00 en 22:00 lokale tijd zitten. Eén persoon buiten dat venster en het voorstel valt af.</a:t>
            </a:r>
          </a:p>
          <a:p>
            <a:r>
              <a:t>VERLOOP: Mirad las cuatro zonas horarias. | Probad una hora. ¿Quién duerme? | Buscad la ventana común. | Escribid la invitación con la hora de cada uno.</a:t>
            </a:r>
          </a:p>
          <a:p>
            <a:r>
              <a:t>SLEUTEL: Venster: 15:00–22:00 Belgische tijd. Dan is het 8:00–15:00 in Mexico en 9:00–16:00 in Cusco.  ||  16:00 Belgisch is een veilige keuze: 9:00 in CDMX, 10:00 in Cusco, 16:00 in Sevilla.  ||  Sevilla en Gante delen de tijdzone — dat is de gratis vereenvoudiging die de klas meestal over het hoofd ziet.  ||  Verschillen zijn winterwaarden; met zomertijd schuift het één uur. Vermeld dat als een leerling ernaar vraagt.</a:t>
            </a:r>
          </a:p>
          <a:p>
            <a:r>
              <a:t>NOTA: Reken met hele uren. Zodra de klas over zomertijd begint, wordt het een rekenles in plaats van een taalles.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RETO 8 · Negocia el despertador — ⚖️ onderhandeling &amp; dilemma</a:t>
            </a:r>
          </a:p>
          <a:p>
            <a:r>
              <a:t>OPDRACHT: Onderhandel één gezamenlijk schema. Jullie moeten allebei iets opgeven.</a:t>
            </a:r>
          </a:p>
          <a:p>
            <a:r>
              <a:t>DE REGEL: Elk voorstel bevat een uur én een reden met «porque». Een voorstel zonder reden mag de ander zonder meer weigeren.</a:t>
            </a:r>
          </a:p>
          <a:p>
            <a:r>
              <a:t>VERLOOP: Coge tu rol. No lo enseñes. | Propón tu hora con una razón. | Ceded hasta llegar a un acuerdo. | Escribid la hora final en la pizarra.</a:t>
            </a:r>
          </a:p>
          <a:p>
            <a:r>
              <a:t>SLEUTEL: Er is geen juiste uitkomst, wel een toetsbare: bevat elk voorstel een uur én «porque», en heeft élk van de twee iets opgegeven?  ||  De meest gevonden oplossing: wekker om 6:45 met de douche 's avonds voor Álex, en een slaapmasker voor Noa.  ||  Let op «poder»: «no puedo levantarme» — de o→ue-verandering zit precies in het werkwoord dat de hele onderhandeling draagt.</a:t>
            </a:r>
          </a:p>
          <a:p>
            <a:r>
              <a:t>NOTA: Geef de rollen echt gescheiden. Zien de leerlingen elkaars kaart, dan verdwijnt de onderhandeling en blijft er een invuloefening over.</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RETO 10 · La coartada — 🕵️ forensisch</a:t>
            </a:r>
          </a:p>
          <a:p>
            <a:r>
              <a:t>OPDRACHT: Per twee verzinnen jullie een alibi met vijf uren. De klas verhoort jullie.</a:t>
            </a:r>
          </a:p>
          <a:p>
            <a:r>
              <a:t>DE REGEL: Jullie twee verhalen moeten op de vijf uren identiek zijn — maar jullie worden apart ondervraagd. Eén verschil en het alibi valt.</a:t>
            </a:r>
          </a:p>
          <a:p>
            <a:r>
              <a:t>VERLOOP: En parejas: inventad vuestra tarde, hora por hora. | Memorizad. No podéis mirar notas en el interrogatorio. | Uno sale del aula. La clase interroga al otro. | Entra el segundo. ¿Coinciden?</a:t>
            </a:r>
          </a:p>
          <a:p>
            <a:r>
              <a:t>SLEUTEL: Het alibi valt bijna altijd op vraag 3 of 5: de bezigheid en de getuige worden zelden even gedetailleerd afgesproken als de uren.  ||  Alles blijft in het presente: de vragen staan hier in de verleden tijd omdat de leerkracht ze stelt, maar de antwoorden mogen in het presente («a las cinco estamos en el parque»). Geen verleden tijd vragen van de leerlingen.  ||  Wie een detail vergeet, mag het niet verzinnen: dan valt het alibi. Dat is de motor.</a:t>
            </a:r>
          </a:p>
          <a:p>
            <a:r>
              <a:t>NOTA: Werkt met maximaal zes duo's; daarna zakt de spanning. Laat de rest van de klas de tegenstrijdigheden noteren, dan luistert iedereen mee.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8.xml"/><Relationship Id="rId6" Type="http://schemas.openxmlformats.org/officeDocument/2006/relationships/slide" Target="slide15.xml"/><Relationship Id="rId7" Type="http://schemas.openxmlformats.org/officeDocument/2006/relationships/slide" Target="slide11.xml"/><Relationship Id="rId8" Type="http://schemas.openxmlformats.org/officeDocument/2006/relationships/slide" Target="slide19.xml"/><Relationship Id="rId9" Type="http://schemas.openxmlformats.org/officeDocument/2006/relationships/slide" Target="slide20.xml"/><Relationship Id="rId10" Type="http://schemas.openxmlformats.org/officeDocument/2006/relationships/slide" Target="slide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slide" Target="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slide" Target="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slide" Target="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slide" Target="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slide" Target="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slide" Target="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 Id="rId4" Type="http://schemas.openxmlformats.org/officeDocument/2006/relationships/slide" Target="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 Id="rId4" Type="http://schemas.openxmlformats.org/officeDocument/2006/relationships/slide" Target="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slide" Target="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slide" Target="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slide" Target="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slide" Target="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slide" Target="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slide" Target="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slide" Target="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slide" Target="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297680"/>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297680"/>
            <a:ext cx="12191695" cy="82296"/>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20040"/>
            <a:ext cx="3108960" cy="32918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6000" b="1" i="0">
                <a:solidFill>
                  <a:srgbClr val="2EB085"/>
                </a:solidFill>
                <a:latin typeface="Bricolage Grotesque"/>
              </a:rPr>
              <a:t>3</a:t>
            </a:r>
          </a:p>
        </p:txBody>
      </p:sp>
      <p:sp>
        <p:nvSpPr>
          <p:cNvPr id="6" name="Rounded Rectangle 5"/>
          <p:cNvSpPr/>
          <p:nvPr/>
        </p:nvSpPr>
        <p:spPr>
          <a:xfrm>
            <a:off x="3977639" y="777240"/>
            <a:ext cx="289499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157355"/>
                </a:solidFill>
                <a:latin typeface="Inter"/>
              </a:rPr>
              <a:t>LA RUTA · PARADA 3 · BARCELONA 🇪🇸</a:t>
            </a:r>
          </a:p>
        </p:txBody>
      </p:sp>
      <p:sp>
        <p:nvSpPr>
          <p:cNvPr id="7" name="TextBox 6"/>
          <p:cNvSpPr txBox="1"/>
          <p:nvPr/>
        </p:nvSpPr>
        <p:spPr>
          <a:xfrm>
            <a:off x="3931920" y="1234440"/>
            <a:ext cx="7863840" cy="137160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6000" b="1" i="0">
                <a:solidFill>
                  <a:srgbClr val="FFFFFF"/>
                </a:solidFill>
                <a:latin typeface="Bricolage Grotesque"/>
              </a:rPr>
              <a:t>El tiempo vuela</a:t>
            </a:r>
          </a:p>
        </p:txBody>
      </p:sp>
      <p:sp>
        <p:nvSpPr>
          <p:cNvPr id="8" name="TextBox 7"/>
          <p:cNvSpPr txBox="1"/>
          <p:nvPr/>
        </p:nvSpPr>
        <p:spPr>
          <a:xfrm>
            <a:off x="3977639" y="2377440"/>
            <a:ext cx="7680960" cy="54864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500" b="0" i="1">
                <a:solidFill>
                  <a:srgbClr val="E4F4EE"/>
                </a:solidFill>
                <a:latin typeface="Inter"/>
              </a:rPr>
              <a:t>La hora · la rutina · el presente irregular — en Barcelona, con Lucía y Pau.</a:t>
            </a:r>
          </a:p>
        </p:txBody>
      </p:sp>
      <p:sp>
        <p:nvSpPr>
          <p:cNvPr id="9" name="TextBox 8"/>
          <p:cNvSpPr txBox="1"/>
          <p:nvPr/>
        </p:nvSpPr>
        <p:spPr>
          <a:xfrm>
            <a:off x="3977639" y="2971800"/>
            <a:ext cx="7680960" cy="8229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2400" b="1" i="0">
                <a:solidFill>
                  <a:srgbClr val="FFFFFF"/>
                </a:solidFill>
                <a:latin typeface="Bricolage Grotesque"/>
              </a:rPr>
              <a:t>¿Qué hora es… y qué haces cada día?</a:t>
            </a:r>
          </a:p>
          <a:p>
            <a:pPr algn="l">
              <a:lnSpc>
                <a:spcPct val="106000"/>
              </a:lnSpc>
              <a:spcBef>
                <a:spcPts val="0"/>
              </a:spcBef>
              <a:spcAft>
                <a:spcPts val="200"/>
              </a:spcAft>
            </a:pPr>
            <a:r>
              <a:rPr sz="1300" b="0" i="1">
                <a:solidFill>
                  <a:srgbClr val="E4F4EE"/>
                </a:solidFill>
                <a:latin typeface="Inter"/>
              </a:rPr>
              <a:t>Hoe laat is het… en wat doe je elke dag?</a:t>
            </a:r>
          </a:p>
        </p:txBody>
      </p:sp>
      <p:sp>
        <p:nvSpPr>
          <p:cNvPr id="10" name="TextBox 9"/>
          <p:cNvSpPr txBox="1"/>
          <p:nvPr/>
        </p:nvSpPr>
        <p:spPr>
          <a:xfrm>
            <a:off x="548640" y="4526280"/>
            <a:ext cx="548640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157355"/>
                </a:solidFill>
                <a:latin typeface="Bricolage Grotesque"/>
              </a:rPr>
              <a:t>La gente de la ruta — je reisgezellen</a:t>
            </a:r>
          </a:p>
        </p:txBody>
      </p:sp>
      <p:pic>
        <p:nvPicPr>
          <p:cNvPr id="11" name="Picture 10" descr="lucia.png"/>
          <p:cNvPicPr>
            <a:picLocks noChangeAspect="1"/>
          </p:cNvPicPr>
          <p:nvPr/>
        </p:nvPicPr>
        <p:blipFill>
          <a:blip r:embed="rId2"/>
          <a:stretch>
            <a:fillRect/>
          </a:stretch>
        </p:blipFill>
        <p:spPr>
          <a:xfrm>
            <a:off x="548640" y="4937760"/>
            <a:ext cx="914400" cy="914400"/>
          </a:xfrm>
          <a:prstGeom prst="rect">
            <a:avLst/>
          </a:prstGeom>
        </p:spPr>
      </p:pic>
      <p:sp>
        <p:nvSpPr>
          <p:cNvPr id="12" name="TextBox 11"/>
          <p:cNvSpPr txBox="1"/>
          <p:nvPr/>
        </p:nvSpPr>
        <p:spPr>
          <a:xfrm>
            <a:off x="411480" y="5870448"/>
            <a:ext cx="1188720" cy="45720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050" b="1" i="0">
                <a:solidFill>
                  <a:srgbClr val="20242E"/>
                </a:solidFill>
                <a:latin typeface="Inter"/>
              </a:rPr>
              <a:t>Lucia</a:t>
            </a:r>
          </a:p>
          <a:p>
            <a:pPr algn="ctr">
              <a:lnSpc>
                <a:spcPct val="106000"/>
              </a:lnSpc>
              <a:spcBef>
                <a:spcPts val="0"/>
              </a:spcBef>
              <a:spcAft>
                <a:spcPts val="200"/>
              </a:spcAft>
            </a:pPr>
            <a:r>
              <a:rPr sz="850" b="0" i="0">
                <a:solidFill>
                  <a:srgbClr val="6A6E78"/>
                </a:solidFill>
                <a:latin typeface="Inter"/>
              </a:rPr>
              <a:t>Sevilla 🇪🇸</a:t>
            </a:r>
          </a:p>
        </p:txBody>
      </p:sp>
      <p:pic>
        <p:nvPicPr>
          <p:cNvPr id="13" name="Picture 12" descr="diego.png"/>
          <p:cNvPicPr>
            <a:picLocks noChangeAspect="1"/>
          </p:cNvPicPr>
          <p:nvPr/>
        </p:nvPicPr>
        <p:blipFill>
          <a:blip r:embed="rId3"/>
          <a:stretch>
            <a:fillRect/>
          </a:stretch>
        </p:blipFill>
        <p:spPr>
          <a:xfrm>
            <a:off x="2423159" y="4937760"/>
            <a:ext cx="914400" cy="914400"/>
          </a:xfrm>
          <a:prstGeom prst="rect">
            <a:avLst/>
          </a:prstGeom>
        </p:spPr>
      </p:pic>
      <p:sp>
        <p:nvSpPr>
          <p:cNvPr id="14" name="TextBox 13"/>
          <p:cNvSpPr txBox="1"/>
          <p:nvPr/>
        </p:nvSpPr>
        <p:spPr>
          <a:xfrm>
            <a:off x="2285999" y="5870448"/>
            <a:ext cx="1188720" cy="45720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050" b="1" i="0">
                <a:solidFill>
                  <a:srgbClr val="20242E"/>
                </a:solidFill>
                <a:latin typeface="Inter"/>
              </a:rPr>
              <a:t>Diego</a:t>
            </a:r>
          </a:p>
          <a:p>
            <a:pPr algn="ctr">
              <a:lnSpc>
                <a:spcPct val="106000"/>
              </a:lnSpc>
              <a:spcBef>
                <a:spcPts val="0"/>
              </a:spcBef>
              <a:spcAft>
                <a:spcPts val="200"/>
              </a:spcAft>
            </a:pPr>
            <a:r>
              <a:rPr sz="850" b="0" i="0">
                <a:solidFill>
                  <a:srgbClr val="6A6E78"/>
                </a:solidFill>
                <a:latin typeface="Inter"/>
              </a:rPr>
              <a:t>CDMX 🇲🇽</a:t>
            </a:r>
          </a:p>
        </p:txBody>
      </p:sp>
      <p:pic>
        <p:nvPicPr>
          <p:cNvPr id="15" name="Picture 14" descr="valen.png"/>
          <p:cNvPicPr>
            <a:picLocks noChangeAspect="1"/>
          </p:cNvPicPr>
          <p:nvPr/>
        </p:nvPicPr>
        <p:blipFill>
          <a:blip r:embed="rId4"/>
          <a:stretch>
            <a:fillRect/>
          </a:stretch>
        </p:blipFill>
        <p:spPr>
          <a:xfrm>
            <a:off x="4297678" y="4937760"/>
            <a:ext cx="914400" cy="914400"/>
          </a:xfrm>
          <a:prstGeom prst="rect">
            <a:avLst/>
          </a:prstGeom>
        </p:spPr>
      </p:pic>
      <p:sp>
        <p:nvSpPr>
          <p:cNvPr id="16" name="TextBox 15"/>
          <p:cNvSpPr txBox="1"/>
          <p:nvPr/>
        </p:nvSpPr>
        <p:spPr>
          <a:xfrm>
            <a:off x="4160518" y="5870448"/>
            <a:ext cx="1188720" cy="45720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050" b="1" i="0">
                <a:solidFill>
                  <a:srgbClr val="20242E"/>
                </a:solidFill>
                <a:latin typeface="Inter"/>
              </a:rPr>
              <a:t>Valen</a:t>
            </a:r>
          </a:p>
          <a:p>
            <a:pPr algn="ctr">
              <a:lnSpc>
                <a:spcPct val="106000"/>
              </a:lnSpc>
              <a:spcBef>
                <a:spcPts val="0"/>
              </a:spcBef>
              <a:spcAft>
                <a:spcPts val="200"/>
              </a:spcAft>
            </a:pPr>
            <a:r>
              <a:rPr sz="850" b="0" i="0">
                <a:solidFill>
                  <a:srgbClr val="6A6E78"/>
                </a:solidFill>
                <a:latin typeface="Inter"/>
              </a:rPr>
              <a:t>Cartagena 🇨🇴</a:t>
            </a:r>
          </a:p>
        </p:txBody>
      </p:sp>
      <p:pic>
        <p:nvPicPr>
          <p:cNvPr id="17" name="Picture 16" descr="nina.png"/>
          <p:cNvPicPr>
            <a:picLocks noChangeAspect="1"/>
          </p:cNvPicPr>
          <p:nvPr/>
        </p:nvPicPr>
        <p:blipFill>
          <a:blip r:embed="rId5"/>
          <a:stretch>
            <a:fillRect/>
          </a:stretch>
        </p:blipFill>
        <p:spPr>
          <a:xfrm>
            <a:off x="6172197" y="4937760"/>
            <a:ext cx="914400" cy="914400"/>
          </a:xfrm>
          <a:prstGeom prst="rect">
            <a:avLst/>
          </a:prstGeom>
        </p:spPr>
      </p:pic>
      <p:sp>
        <p:nvSpPr>
          <p:cNvPr id="18" name="TextBox 17"/>
          <p:cNvSpPr txBox="1"/>
          <p:nvPr/>
        </p:nvSpPr>
        <p:spPr>
          <a:xfrm>
            <a:off x="6035037" y="5870448"/>
            <a:ext cx="1188720" cy="45720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050" b="1" i="0">
                <a:solidFill>
                  <a:srgbClr val="20242E"/>
                </a:solidFill>
                <a:latin typeface="Inter"/>
              </a:rPr>
              <a:t>Nina</a:t>
            </a:r>
          </a:p>
          <a:p>
            <a:pPr algn="ctr">
              <a:lnSpc>
                <a:spcPct val="106000"/>
              </a:lnSpc>
              <a:spcBef>
                <a:spcPts val="0"/>
              </a:spcBef>
              <a:spcAft>
                <a:spcPts val="200"/>
              </a:spcAft>
            </a:pPr>
            <a:r>
              <a:rPr sz="850" b="0" i="0">
                <a:solidFill>
                  <a:srgbClr val="6A6E78"/>
                </a:solidFill>
                <a:latin typeface="Inter"/>
              </a:rPr>
              <a:t>Cusco 🇵🇪</a:t>
            </a:r>
          </a:p>
        </p:txBody>
      </p:sp>
      <p:pic>
        <p:nvPicPr>
          <p:cNvPr id="19" name="Picture 18" descr="tu.png"/>
          <p:cNvPicPr>
            <a:picLocks noChangeAspect="1"/>
          </p:cNvPicPr>
          <p:nvPr/>
        </p:nvPicPr>
        <p:blipFill>
          <a:blip r:embed="rId6"/>
          <a:stretch>
            <a:fillRect/>
          </a:stretch>
        </p:blipFill>
        <p:spPr>
          <a:xfrm>
            <a:off x="8046716" y="4937760"/>
            <a:ext cx="914400" cy="914400"/>
          </a:xfrm>
          <a:prstGeom prst="rect">
            <a:avLst/>
          </a:prstGeom>
        </p:spPr>
      </p:pic>
      <p:sp>
        <p:nvSpPr>
          <p:cNvPr id="20" name="TextBox 19"/>
          <p:cNvSpPr txBox="1"/>
          <p:nvPr/>
        </p:nvSpPr>
        <p:spPr>
          <a:xfrm>
            <a:off x="7909556" y="5870448"/>
            <a:ext cx="1188720" cy="45720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050" b="1" i="0">
                <a:solidFill>
                  <a:srgbClr val="20242E"/>
                </a:solidFill>
                <a:latin typeface="Inter"/>
              </a:rPr>
              <a:t>Tú</a:t>
            </a:r>
          </a:p>
          <a:p>
            <a:pPr algn="ctr">
              <a:lnSpc>
                <a:spcPct val="106000"/>
              </a:lnSpc>
              <a:spcBef>
                <a:spcPts val="0"/>
              </a:spcBef>
              <a:spcAft>
                <a:spcPts val="200"/>
              </a:spcAft>
            </a:pPr>
            <a:r>
              <a:rPr sz="850" b="0" i="0">
                <a:solidFill>
                  <a:srgbClr val="6A6E78"/>
                </a:solidFill>
                <a:latin typeface="Inter"/>
              </a:rPr>
              <a:t>de reiziger = jij</a:t>
            </a:r>
          </a:p>
        </p:txBody>
      </p:sp>
      <p:pic>
        <p:nvPicPr>
          <p:cNvPr id="21" name="Picture 20" descr="mochila.png"/>
          <p:cNvPicPr>
            <a:picLocks noChangeAspect="1"/>
          </p:cNvPicPr>
          <p:nvPr/>
        </p:nvPicPr>
        <p:blipFill>
          <a:blip r:embed="rId7"/>
          <a:stretch>
            <a:fillRect/>
          </a:stretch>
        </p:blipFill>
        <p:spPr>
          <a:xfrm>
            <a:off x="9921235" y="4937760"/>
            <a:ext cx="914400" cy="914400"/>
          </a:xfrm>
          <a:prstGeom prst="rect">
            <a:avLst/>
          </a:prstGeom>
        </p:spPr>
      </p:pic>
      <p:sp>
        <p:nvSpPr>
          <p:cNvPr id="22" name="TextBox 21"/>
          <p:cNvSpPr txBox="1"/>
          <p:nvPr/>
        </p:nvSpPr>
        <p:spPr>
          <a:xfrm>
            <a:off x="9784075" y="5870448"/>
            <a:ext cx="1188720" cy="45720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050" b="1" i="0">
                <a:solidFill>
                  <a:srgbClr val="20242E"/>
                </a:solidFill>
                <a:latin typeface="Inter"/>
              </a:rPr>
              <a:t>Mochila</a:t>
            </a:r>
          </a:p>
          <a:p>
            <a:pPr algn="ctr">
              <a:lnSpc>
                <a:spcPct val="106000"/>
              </a:lnSpc>
              <a:spcBef>
                <a:spcPts val="0"/>
              </a:spcBef>
              <a:spcAft>
                <a:spcPts val="200"/>
              </a:spcAft>
            </a:pPr>
            <a:r>
              <a:rPr sz="850" b="0" i="0">
                <a:solidFill>
                  <a:srgbClr val="6A6E78"/>
                </a:solidFill>
                <a:latin typeface="Inter"/>
              </a:rPr>
              <a:t>La mochila</a:t>
            </a:r>
          </a:p>
        </p:txBody>
      </p:sp>
      <p:sp>
        <p:nvSpPr>
          <p:cNvPr id="23" name="Rectangle 22"/>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25" name="TextBox 24"/>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26" name="TextBox 25"/>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633118"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E9E74"/>
                </a:solidFill>
                <a:latin typeface="Inter"/>
              </a:rPr>
              <a:t>MENÚ DE LA LECCIÓN</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3</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El mapa de la Unidad 3</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4F4EE"/>
                </a:solidFill>
                <a:latin typeface="Inter"/>
              </a:rPr>
              <a:t>Kies je route — klik een tegel. Alles oefent naar de Tarea «Un día en mi vida» toe.</a:t>
            </a:r>
          </a:p>
        </p:txBody>
      </p:sp>
      <p:sp>
        <p:nvSpPr>
          <p:cNvPr id="9" name="Rounded Rectangle 8">
            <a:hlinkClick action="ppaction://hlinksldjump" r:id="rId3"/>
          </p:cNvPr>
          <p:cNvSpPr/>
          <p:nvPr/>
        </p:nvSpPr>
        <p:spPr>
          <a:xfrm>
            <a:off x="457200" y="1417320"/>
            <a:ext cx="2743200" cy="2240280"/>
          </a:xfrm>
          <a:prstGeom prst="roundRect">
            <a:avLst>
              <a:gd name="adj" fmla="val 5500"/>
            </a:avLst>
          </a:prstGeom>
          <a:solidFill>
            <a:srgbClr val="FFFFFF"/>
          </a:solidFill>
          <a:ln w="20320">
            <a:solidFill>
              <a:srgbClr val="1E9E74"/>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hlinkClick action="ppaction://hlinksldjump" r:id="rId3"/>
          </p:cNvPr>
          <p:cNvSpPr/>
          <p:nvPr/>
        </p:nvSpPr>
        <p:spPr>
          <a:xfrm>
            <a:off x="457200" y="1417320"/>
            <a:ext cx="2743200" cy="457200"/>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66928" y="1490472"/>
            <a:ext cx="310896" cy="3108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E9E74"/>
                </a:solidFill>
                <a:latin typeface="Bricolage Grotesque"/>
              </a:rPr>
              <a:t>§1</a:t>
            </a:r>
          </a:p>
        </p:txBody>
      </p:sp>
      <p:sp>
        <p:nvSpPr>
          <p:cNvPr id="12" name="TextBox 11"/>
          <p:cNvSpPr txBox="1"/>
          <p:nvPr/>
        </p:nvSpPr>
        <p:spPr>
          <a:xfrm>
            <a:off x="987552" y="1472184"/>
            <a:ext cx="210312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50" b="1" i="0">
                <a:solidFill>
                  <a:srgbClr val="FFFFFF"/>
                </a:solidFill>
                <a:latin typeface="Bricolage Grotesque"/>
              </a:rPr>
              <a:t>La hora</a:t>
            </a:r>
          </a:p>
        </p:txBody>
      </p:sp>
      <p:sp>
        <p:nvSpPr>
          <p:cNvPr id="13" name="TextBox 12"/>
          <p:cNvSpPr txBox="1"/>
          <p:nvPr/>
        </p:nvSpPr>
        <p:spPr>
          <a:xfrm>
            <a:off x="621792" y="2039112"/>
            <a:ext cx="2414016" cy="1097280"/>
          </a:xfrm>
          <a:prstGeom prst="rect">
            <a:avLst/>
          </a:prstGeom>
          <a:noFill/>
        </p:spPr>
        <p:txBody>
          <a:bodyPr wrap="square" anchor="t" lIns="38100" rIns="38100" tIns="25400" bIns="25400">
            <a:spAutoFit/>
          </a:bodyPr>
          <a:lstStyle/>
          <a:p>
            <a:pPr algn="l">
              <a:lnSpc>
                <a:spcPct val="112000"/>
              </a:lnSpc>
              <a:spcBef>
                <a:spcPts val="0"/>
              </a:spcBef>
              <a:spcAft>
                <a:spcPts val="200"/>
              </a:spcAft>
            </a:pPr>
            <a:r>
              <a:rPr sz="1150" b="0" i="0">
                <a:solidFill>
                  <a:srgbClr val="20242E"/>
                </a:solidFill>
                <a:latin typeface="Inter"/>
              </a:rPr>
              <a:t>¿Qué hora es? · y media · ¿a qué hora?</a:t>
            </a:r>
          </a:p>
        </p:txBody>
      </p:sp>
      <p:sp>
        <p:nvSpPr>
          <p:cNvPr id="14" name="Rounded Rectangle 13"/>
          <p:cNvSpPr/>
          <p:nvPr/>
        </p:nvSpPr>
        <p:spPr>
          <a:xfrm>
            <a:off x="621792" y="3246120"/>
            <a:ext cx="707745" cy="292608"/>
          </a:xfrm>
          <a:prstGeom prst="roundRect">
            <a:avLst>
              <a:gd name="adj" fmla="val 50000"/>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157355"/>
                </a:solidFill>
                <a:latin typeface="Inter"/>
              </a:rPr>
              <a:t>→ dia 3</a:t>
            </a:r>
          </a:p>
        </p:txBody>
      </p:sp>
      <p:sp>
        <p:nvSpPr>
          <p:cNvPr id="15" name="Rounded Rectangle 14">
            <a:hlinkClick action="ppaction://hlinksldjump" r:id="rId4"/>
          </p:cNvPr>
          <p:cNvSpPr/>
          <p:nvPr/>
        </p:nvSpPr>
        <p:spPr>
          <a:xfrm>
            <a:off x="3328416" y="1417320"/>
            <a:ext cx="2743200" cy="2240280"/>
          </a:xfrm>
          <a:prstGeom prst="roundRect">
            <a:avLst>
              <a:gd name="adj" fmla="val 5500"/>
            </a:avLst>
          </a:prstGeom>
          <a:solidFill>
            <a:srgbClr val="FFFFFF"/>
          </a:solidFill>
          <a:ln w="20320">
            <a:solidFill>
              <a:srgbClr val="1E9E74"/>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a:hlinkClick action="ppaction://hlinksldjump" r:id="rId4"/>
          </p:cNvPr>
          <p:cNvSpPr/>
          <p:nvPr/>
        </p:nvSpPr>
        <p:spPr>
          <a:xfrm>
            <a:off x="3328416" y="1417320"/>
            <a:ext cx="2743200" cy="457200"/>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438144" y="1490472"/>
            <a:ext cx="310896" cy="3108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E9E74"/>
                </a:solidFill>
                <a:latin typeface="Bricolage Grotesque"/>
              </a:rPr>
              <a:t>§2</a:t>
            </a:r>
          </a:p>
        </p:txBody>
      </p:sp>
      <p:sp>
        <p:nvSpPr>
          <p:cNvPr id="18" name="TextBox 17"/>
          <p:cNvSpPr txBox="1"/>
          <p:nvPr/>
        </p:nvSpPr>
        <p:spPr>
          <a:xfrm>
            <a:off x="3858768" y="1472184"/>
            <a:ext cx="210312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50" b="1" i="0">
                <a:solidFill>
                  <a:srgbClr val="FFFFFF"/>
                </a:solidFill>
                <a:latin typeface="Bricolage Grotesque"/>
              </a:rPr>
              <a:t>Mi rutina</a:t>
            </a:r>
          </a:p>
        </p:txBody>
      </p:sp>
      <p:sp>
        <p:nvSpPr>
          <p:cNvPr id="19" name="TextBox 18"/>
          <p:cNvSpPr txBox="1"/>
          <p:nvPr/>
        </p:nvSpPr>
        <p:spPr>
          <a:xfrm>
            <a:off x="3493008" y="2039112"/>
            <a:ext cx="2414016" cy="1097280"/>
          </a:xfrm>
          <a:prstGeom prst="rect">
            <a:avLst/>
          </a:prstGeom>
          <a:noFill/>
        </p:spPr>
        <p:txBody>
          <a:bodyPr wrap="square" anchor="t" lIns="38100" rIns="38100" tIns="25400" bIns="25400">
            <a:spAutoFit/>
          </a:bodyPr>
          <a:lstStyle/>
          <a:p>
            <a:pPr algn="l">
              <a:lnSpc>
                <a:spcPct val="112000"/>
              </a:lnSpc>
              <a:spcBef>
                <a:spcPts val="0"/>
              </a:spcBef>
              <a:spcAft>
                <a:spcPts val="200"/>
              </a:spcAft>
            </a:pPr>
            <a:r>
              <a:rPr sz="1150" b="0" i="0">
                <a:solidFill>
                  <a:srgbClr val="20242E"/>
                </a:solidFill>
                <a:latin typeface="Inter"/>
              </a:rPr>
              <a:t>verbos reflexivos · me/te/se</a:t>
            </a:r>
          </a:p>
        </p:txBody>
      </p:sp>
      <p:sp>
        <p:nvSpPr>
          <p:cNvPr id="20" name="Rounded Rectangle 19"/>
          <p:cNvSpPr/>
          <p:nvPr/>
        </p:nvSpPr>
        <p:spPr>
          <a:xfrm>
            <a:off x="3493008" y="3246120"/>
            <a:ext cx="707745" cy="292608"/>
          </a:xfrm>
          <a:prstGeom prst="roundRect">
            <a:avLst>
              <a:gd name="adj" fmla="val 50000"/>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157355"/>
                </a:solidFill>
                <a:latin typeface="Inter"/>
              </a:rPr>
              <a:t>→ dia 5</a:t>
            </a:r>
          </a:p>
        </p:txBody>
      </p:sp>
      <p:sp>
        <p:nvSpPr>
          <p:cNvPr id="21" name="Rounded Rectangle 20">
            <a:hlinkClick action="ppaction://hlinksldjump" r:id="rId5"/>
          </p:cNvPr>
          <p:cNvSpPr/>
          <p:nvPr/>
        </p:nvSpPr>
        <p:spPr>
          <a:xfrm>
            <a:off x="6199632" y="1417320"/>
            <a:ext cx="2743200" cy="2240280"/>
          </a:xfrm>
          <a:prstGeom prst="roundRect">
            <a:avLst>
              <a:gd name="adj" fmla="val 5500"/>
            </a:avLst>
          </a:prstGeom>
          <a:solidFill>
            <a:srgbClr val="FFFFFF"/>
          </a:solidFill>
          <a:ln w="20320">
            <a:solidFill>
              <a:srgbClr val="1E9E74"/>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a:hlinkClick action="ppaction://hlinksldjump" r:id="rId5"/>
          </p:cNvPr>
          <p:cNvSpPr/>
          <p:nvPr/>
        </p:nvSpPr>
        <p:spPr>
          <a:xfrm>
            <a:off x="6199632" y="1417320"/>
            <a:ext cx="2743200" cy="457200"/>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09360" y="1490472"/>
            <a:ext cx="310896" cy="3108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E9E74"/>
                </a:solidFill>
                <a:latin typeface="Bricolage Grotesque"/>
              </a:rPr>
              <a:t>§3</a:t>
            </a:r>
          </a:p>
        </p:txBody>
      </p:sp>
      <p:sp>
        <p:nvSpPr>
          <p:cNvPr id="24" name="TextBox 23"/>
          <p:cNvSpPr txBox="1"/>
          <p:nvPr/>
        </p:nvSpPr>
        <p:spPr>
          <a:xfrm>
            <a:off x="6729984" y="1472184"/>
            <a:ext cx="210312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50" b="1" i="0">
                <a:solidFill>
                  <a:srgbClr val="FFFFFF"/>
                </a:solidFill>
                <a:latin typeface="Bricolage Grotesque"/>
              </a:rPr>
              <a:t>Presente irregular</a:t>
            </a:r>
          </a:p>
        </p:txBody>
      </p:sp>
      <p:sp>
        <p:nvSpPr>
          <p:cNvPr id="25" name="TextBox 24"/>
          <p:cNvSpPr txBox="1"/>
          <p:nvPr/>
        </p:nvSpPr>
        <p:spPr>
          <a:xfrm>
            <a:off x="6364224" y="2039112"/>
            <a:ext cx="2414016" cy="1097280"/>
          </a:xfrm>
          <a:prstGeom prst="rect">
            <a:avLst/>
          </a:prstGeom>
          <a:noFill/>
        </p:spPr>
        <p:txBody>
          <a:bodyPr wrap="square" anchor="t" lIns="38100" rIns="38100" tIns="25400" bIns="25400">
            <a:spAutoFit/>
          </a:bodyPr>
          <a:lstStyle/>
          <a:p>
            <a:pPr algn="l">
              <a:lnSpc>
                <a:spcPct val="112000"/>
              </a:lnSpc>
              <a:spcBef>
                <a:spcPts val="0"/>
              </a:spcBef>
              <a:spcAft>
                <a:spcPts val="200"/>
              </a:spcAft>
            </a:pPr>
            <a:r>
              <a:rPr sz="1150" b="0" i="0">
                <a:solidFill>
                  <a:srgbClr val="20242E"/>
                </a:solidFill>
                <a:latin typeface="Inter"/>
              </a:rPr>
              <a:t>o→ue · e→ie · e→i · hacer/ir/salir</a:t>
            </a:r>
          </a:p>
        </p:txBody>
      </p:sp>
      <p:sp>
        <p:nvSpPr>
          <p:cNvPr id="26" name="Rounded Rectangle 25"/>
          <p:cNvSpPr/>
          <p:nvPr/>
        </p:nvSpPr>
        <p:spPr>
          <a:xfrm>
            <a:off x="6364224" y="3246120"/>
            <a:ext cx="707745" cy="292608"/>
          </a:xfrm>
          <a:prstGeom prst="roundRect">
            <a:avLst>
              <a:gd name="adj" fmla="val 50000"/>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157355"/>
                </a:solidFill>
                <a:latin typeface="Inter"/>
              </a:rPr>
              <a:t>→ dia 8</a:t>
            </a:r>
          </a:p>
        </p:txBody>
      </p:sp>
      <p:sp>
        <p:nvSpPr>
          <p:cNvPr id="27" name="Rounded Rectangle 26">
            <a:hlinkClick action="ppaction://hlinksldjump" r:id="rId6"/>
          </p:cNvPr>
          <p:cNvSpPr/>
          <p:nvPr/>
        </p:nvSpPr>
        <p:spPr>
          <a:xfrm>
            <a:off x="9070848" y="1417320"/>
            <a:ext cx="2743200" cy="2240280"/>
          </a:xfrm>
          <a:prstGeom prst="roundRect">
            <a:avLst>
              <a:gd name="adj" fmla="val 5500"/>
            </a:avLst>
          </a:prstGeom>
          <a:solidFill>
            <a:srgbClr val="FFFFFF"/>
          </a:solidFill>
          <a:ln w="20320">
            <a:solidFill>
              <a:srgbClr val="1E9E74"/>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a:hlinkClick action="ppaction://hlinksldjump" r:id="rId6"/>
          </p:cNvPr>
          <p:cNvSpPr/>
          <p:nvPr/>
        </p:nvSpPr>
        <p:spPr>
          <a:xfrm>
            <a:off x="9070848" y="1417320"/>
            <a:ext cx="2743200" cy="457200"/>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180576" y="1490472"/>
            <a:ext cx="310896" cy="3108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E9E74"/>
                </a:solidFill>
                <a:latin typeface="Bricolage Grotesque"/>
              </a:rPr>
              <a:t>§4</a:t>
            </a:r>
          </a:p>
        </p:txBody>
      </p:sp>
      <p:sp>
        <p:nvSpPr>
          <p:cNvPr id="30" name="TextBox 29"/>
          <p:cNvSpPr txBox="1"/>
          <p:nvPr/>
        </p:nvSpPr>
        <p:spPr>
          <a:xfrm>
            <a:off x="9601200" y="1472184"/>
            <a:ext cx="210312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50" b="1" i="0">
                <a:solidFill>
                  <a:srgbClr val="FFFFFF"/>
                </a:solidFill>
                <a:latin typeface="Bricolage Grotesque"/>
              </a:rPr>
              <a:t>Frecuencia + tiempo</a:t>
            </a:r>
          </a:p>
        </p:txBody>
      </p:sp>
      <p:sp>
        <p:nvSpPr>
          <p:cNvPr id="31" name="TextBox 30"/>
          <p:cNvSpPr txBox="1"/>
          <p:nvPr/>
        </p:nvSpPr>
        <p:spPr>
          <a:xfrm>
            <a:off x="9235440" y="2039112"/>
            <a:ext cx="2414016" cy="1097280"/>
          </a:xfrm>
          <a:prstGeom prst="rect">
            <a:avLst/>
          </a:prstGeom>
          <a:noFill/>
        </p:spPr>
        <p:txBody>
          <a:bodyPr wrap="square" anchor="t" lIns="38100" rIns="38100" tIns="25400" bIns="25400">
            <a:spAutoFit/>
          </a:bodyPr>
          <a:lstStyle/>
          <a:p>
            <a:pPr algn="l">
              <a:lnSpc>
                <a:spcPct val="112000"/>
              </a:lnSpc>
              <a:spcBef>
                <a:spcPts val="0"/>
              </a:spcBef>
              <a:spcAft>
                <a:spcPts val="200"/>
              </a:spcAft>
            </a:pPr>
            <a:r>
              <a:rPr sz="1150" b="0" i="0">
                <a:solidFill>
                  <a:srgbClr val="20242E"/>
                </a:solidFill>
                <a:latin typeface="Inter"/>
              </a:rPr>
              <a:t>siempre/nunca · días · meses</a:t>
            </a:r>
          </a:p>
        </p:txBody>
      </p:sp>
      <p:sp>
        <p:nvSpPr>
          <p:cNvPr id="32" name="Rounded Rectangle 31"/>
          <p:cNvSpPr/>
          <p:nvPr/>
        </p:nvSpPr>
        <p:spPr>
          <a:xfrm>
            <a:off x="9235440" y="3246120"/>
            <a:ext cx="791870" cy="292608"/>
          </a:xfrm>
          <a:prstGeom prst="roundRect">
            <a:avLst>
              <a:gd name="adj" fmla="val 50000"/>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157355"/>
                </a:solidFill>
                <a:latin typeface="Inter"/>
              </a:rPr>
              <a:t>→ dia 15</a:t>
            </a:r>
          </a:p>
        </p:txBody>
      </p:sp>
      <p:sp>
        <p:nvSpPr>
          <p:cNvPr id="33" name="Rounded Rectangle 32">
            <a:hlinkClick action="ppaction://hlinksldjump" r:id="rId7"/>
          </p:cNvPr>
          <p:cNvSpPr/>
          <p:nvPr/>
        </p:nvSpPr>
        <p:spPr>
          <a:xfrm>
            <a:off x="457200" y="3840480"/>
            <a:ext cx="2743200" cy="2240280"/>
          </a:xfrm>
          <a:prstGeom prst="roundRect">
            <a:avLst>
              <a:gd name="adj" fmla="val 5500"/>
            </a:avLst>
          </a:prstGeom>
          <a:solidFill>
            <a:srgbClr val="FFFFFF"/>
          </a:solidFill>
          <a:ln w="20320">
            <a:solidFill>
              <a:srgbClr val="157355"/>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a:hlinkClick action="ppaction://hlinksldjump" r:id="rId7"/>
          </p:cNvPr>
          <p:cNvSpPr/>
          <p:nvPr/>
        </p:nvSpPr>
        <p:spPr>
          <a:xfrm>
            <a:off x="457200" y="3840480"/>
            <a:ext cx="2743200" cy="457200"/>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66928" y="3913632"/>
            <a:ext cx="310896" cy="3108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57355"/>
                </a:solidFill>
                <a:latin typeface="Bricolage Grotesque"/>
              </a:rPr>
              <a:t>📖</a:t>
            </a:r>
          </a:p>
        </p:txBody>
      </p:sp>
      <p:sp>
        <p:nvSpPr>
          <p:cNvPr id="36" name="TextBox 35"/>
          <p:cNvSpPr txBox="1"/>
          <p:nvPr/>
        </p:nvSpPr>
        <p:spPr>
          <a:xfrm>
            <a:off x="987552" y="3895344"/>
            <a:ext cx="210312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50" b="1" i="0">
                <a:solidFill>
                  <a:srgbClr val="FFFFFF"/>
                </a:solidFill>
                <a:latin typeface="Bricolage Grotesque"/>
              </a:rPr>
              <a:t>Lectura + escuchar</a:t>
            </a:r>
          </a:p>
        </p:txBody>
      </p:sp>
      <p:sp>
        <p:nvSpPr>
          <p:cNvPr id="37" name="TextBox 36"/>
          <p:cNvSpPr txBox="1"/>
          <p:nvPr/>
        </p:nvSpPr>
        <p:spPr>
          <a:xfrm>
            <a:off x="621792" y="4462272"/>
            <a:ext cx="2414016" cy="1097280"/>
          </a:xfrm>
          <a:prstGeom prst="rect">
            <a:avLst/>
          </a:prstGeom>
          <a:noFill/>
        </p:spPr>
        <p:txBody>
          <a:bodyPr wrap="square" anchor="t" lIns="38100" rIns="38100" tIns="25400" bIns="25400">
            <a:spAutoFit/>
          </a:bodyPr>
          <a:lstStyle/>
          <a:p>
            <a:pPr algn="l">
              <a:lnSpc>
                <a:spcPct val="112000"/>
              </a:lnSpc>
              <a:spcBef>
                <a:spcPts val="0"/>
              </a:spcBef>
              <a:spcAft>
                <a:spcPts val="200"/>
              </a:spcAft>
            </a:pPr>
            <a:r>
              <a:rPr sz="1150" b="0" i="0">
                <a:solidFill>
                  <a:srgbClr val="20242E"/>
                </a:solidFill>
                <a:latin typeface="Inter"/>
              </a:rPr>
              <a:t>el día de Pau · la hora</a:t>
            </a:r>
          </a:p>
        </p:txBody>
      </p:sp>
      <p:sp>
        <p:nvSpPr>
          <p:cNvPr id="38" name="Rounded Rectangle 37"/>
          <p:cNvSpPr/>
          <p:nvPr/>
        </p:nvSpPr>
        <p:spPr>
          <a:xfrm>
            <a:off x="621792" y="5669280"/>
            <a:ext cx="791870" cy="292608"/>
          </a:xfrm>
          <a:prstGeom prst="roundRect">
            <a:avLst>
              <a:gd name="adj" fmla="val 50000"/>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157355"/>
                </a:solidFill>
                <a:latin typeface="Inter"/>
              </a:rPr>
              <a:t>→ dia 11</a:t>
            </a:r>
          </a:p>
        </p:txBody>
      </p:sp>
      <p:sp>
        <p:nvSpPr>
          <p:cNvPr id="39" name="Rounded Rectangle 38">
            <a:hlinkClick action="ppaction://hlinksldjump" r:id="rId8"/>
          </p:cNvPr>
          <p:cNvSpPr/>
          <p:nvPr/>
        </p:nvSpPr>
        <p:spPr>
          <a:xfrm>
            <a:off x="3328416" y="3840480"/>
            <a:ext cx="2743200" cy="2240280"/>
          </a:xfrm>
          <a:prstGeom prst="roundRect">
            <a:avLst>
              <a:gd name="adj" fmla="val 5500"/>
            </a:avLst>
          </a:prstGeom>
          <a:solidFill>
            <a:srgbClr val="FFFFFF"/>
          </a:solidFill>
          <a:ln w="20320">
            <a:solidFill>
              <a:srgbClr val="157355"/>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a:hlinkClick action="ppaction://hlinksldjump" r:id="rId8"/>
          </p:cNvPr>
          <p:cNvSpPr/>
          <p:nvPr/>
        </p:nvSpPr>
        <p:spPr>
          <a:xfrm>
            <a:off x="3328416" y="3840480"/>
            <a:ext cx="2743200" cy="457200"/>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3438144" y="3913632"/>
            <a:ext cx="310896" cy="3108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57355"/>
                </a:solidFill>
                <a:latin typeface="Bricolage Grotesque"/>
              </a:rPr>
              <a:t>✈</a:t>
            </a:r>
          </a:p>
        </p:txBody>
      </p:sp>
      <p:sp>
        <p:nvSpPr>
          <p:cNvPr id="42" name="TextBox 41"/>
          <p:cNvSpPr txBox="1"/>
          <p:nvPr/>
        </p:nvSpPr>
        <p:spPr>
          <a:xfrm>
            <a:off x="3858768" y="3895344"/>
            <a:ext cx="210312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50" b="1" i="0">
                <a:solidFill>
                  <a:srgbClr val="FFFFFF"/>
                </a:solidFill>
                <a:latin typeface="Bricolage Grotesque"/>
              </a:rPr>
              <a:t>Tarea · Un día en mi vida</a:t>
            </a:r>
          </a:p>
        </p:txBody>
      </p:sp>
      <p:sp>
        <p:nvSpPr>
          <p:cNvPr id="43" name="TextBox 42"/>
          <p:cNvSpPr txBox="1"/>
          <p:nvPr/>
        </p:nvSpPr>
        <p:spPr>
          <a:xfrm>
            <a:off x="3493008" y="4462272"/>
            <a:ext cx="2414016" cy="1097280"/>
          </a:xfrm>
          <a:prstGeom prst="rect">
            <a:avLst/>
          </a:prstGeom>
          <a:noFill/>
        </p:spPr>
        <p:txBody>
          <a:bodyPr wrap="square" anchor="t" lIns="38100" rIns="38100" tIns="25400" bIns="25400">
            <a:spAutoFit/>
          </a:bodyPr>
          <a:lstStyle/>
          <a:p>
            <a:pPr algn="l">
              <a:lnSpc>
                <a:spcPct val="112000"/>
              </a:lnSpc>
              <a:spcBef>
                <a:spcPts val="0"/>
              </a:spcBef>
              <a:spcAft>
                <a:spcPts val="200"/>
              </a:spcAft>
            </a:pPr>
            <a:r>
              <a:rPr sz="1150" b="0" i="0">
                <a:solidFill>
                  <a:srgbClr val="20242E"/>
                </a:solidFill>
                <a:latin typeface="Inter"/>
              </a:rPr>
              <a:t>vlog/tekst + presentarlo</a:t>
            </a:r>
          </a:p>
        </p:txBody>
      </p:sp>
      <p:sp>
        <p:nvSpPr>
          <p:cNvPr id="44" name="Rounded Rectangle 43"/>
          <p:cNvSpPr/>
          <p:nvPr/>
        </p:nvSpPr>
        <p:spPr>
          <a:xfrm>
            <a:off x="3493008" y="5669280"/>
            <a:ext cx="791870" cy="292608"/>
          </a:xfrm>
          <a:prstGeom prst="roundRect">
            <a:avLst>
              <a:gd name="adj" fmla="val 50000"/>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157355"/>
                </a:solidFill>
                <a:latin typeface="Inter"/>
              </a:rPr>
              <a:t>→ dia 19</a:t>
            </a:r>
          </a:p>
        </p:txBody>
      </p:sp>
      <p:sp>
        <p:nvSpPr>
          <p:cNvPr id="45" name="Rounded Rectangle 44">
            <a:hlinkClick action="ppaction://hlinksldjump" r:id="rId9"/>
          </p:cNvPr>
          <p:cNvSpPr/>
          <p:nvPr/>
        </p:nvSpPr>
        <p:spPr>
          <a:xfrm>
            <a:off x="6199632" y="3840480"/>
            <a:ext cx="2743200" cy="2240280"/>
          </a:xfrm>
          <a:prstGeom prst="roundRect">
            <a:avLst>
              <a:gd name="adj" fmla="val 5500"/>
            </a:avLst>
          </a:prstGeom>
          <a:solidFill>
            <a:srgbClr val="FFFFFF"/>
          </a:solidFill>
          <a:ln w="20320">
            <a:solidFill>
              <a:srgbClr val="B7860B"/>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a:hlinkClick action="ppaction://hlinksldjump" r:id="rId9"/>
          </p:cNvPr>
          <p:cNvSpPr/>
          <p:nvPr/>
        </p:nvSpPr>
        <p:spPr>
          <a:xfrm>
            <a:off x="6199632" y="3840480"/>
            <a:ext cx="2743200" cy="457200"/>
          </a:xfrm>
          <a:prstGeom prst="rect">
            <a:avLst/>
          </a:prstGeom>
          <a:solidFill>
            <a:srgbClr val="B7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6309360" y="3913632"/>
            <a:ext cx="310896" cy="3108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B7860B"/>
                </a:solidFill>
                <a:latin typeface="Bricolage Grotesque"/>
              </a:rPr>
              <a:t>?</a:t>
            </a:r>
          </a:p>
        </p:txBody>
      </p:sp>
      <p:sp>
        <p:nvSpPr>
          <p:cNvPr id="48" name="TextBox 47"/>
          <p:cNvSpPr txBox="1"/>
          <p:nvPr/>
        </p:nvSpPr>
        <p:spPr>
          <a:xfrm>
            <a:off x="6729984" y="3895344"/>
            <a:ext cx="210312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50" b="1" i="0">
                <a:solidFill>
                  <a:srgbClr val="FFFFFF"/>
                </a:solidFill>
                <a:latin typeface="Bricolage Grotesque"/>
              </a:rPr>
              <a:t>Quiz «La mezcla»</a:t>
            </a:r>
          </a:p>
        </p:txBody>
      </p:sp>
      <p:sp>
        <p:nvSpPr>
          <p:cNvPr id="49" name="TextBox 48"/>
          <p:cNvSpPr txBox="1"/>
          <p:nvPr/>
        </p:nvSpPr>
        <p:spPr>
          <a:xfrm>
            <a:off x="6364224" y="4462272"/>
            <a:ext cx="2414016" cy="1097280"/>
          </a:xfrm>
          <a:prstGeom prst="rect">
            <a:avLst/>
          </a:prstGeom>
          <a:noFill/>
        </p:spPr>
        <p:txBody>
          <a:bodyPr wrap="square" anchor="t" lIns="38100" rIns="38100" tIns="25400" bIns="25400">
            <a:spAutoFit/>
          </a:bodyPr>
          <a:lstStyle/>
          <a:p>
            <a:pPr algn="l">
              <a:lnSpc>
                <a:spcPct val="112000"/>
              </a:lnSpc>
              <a:spcBef>
                <a:spcPts val="0"/>
              </a:spcBef>
              <a:spcAft>
                <a:spcPts val="200"/>
              </a:spcAft>
            </a:pPr>
            <a:r>
              <a:rPr sz="1150" b="0" i="0">
                <a:solidFill>
                  <a:srgbClr val="20242E"/>
                </a:solidFill>
                <a:latin typeface="Inter"/>
              </a:rPr>
              <a:t>gemengde ophaal — mét oplossing</a:t>
            </a:r>
          </a:p>
        </p:txBody>
      </p:sp>
      <p:sp>
        <p:nvSpPr>
          <p:cNvPr id="50" name="Rounded Rectangle 49"/>
          <p:cNvSpPr/>
          <p:nvPr/>
        </p:nvSpPr>
        <p:spPr>
          <a:xfrm>
            <a:off x="6364224" y="5669280"/>
            <a:ext cx="791870" cy="292608"/>
          </a:xfrm>
          <a:prstGeom prst="roundRect">
            <a:avLst>
              <a:gd name="adj" fmla="val 50000"/>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157355"/>
                </a:solidFill>
                <a:latin typeface="Inter"/>
              </a:rPr>
              <a:t>→ dia 20</a:t>
            </a:r>
          </a:p>
        </p:txBody>
      </p:sp>
      <p:sp>
        <p:nvSpPr>
          <p:cNvPr id="51" name="Rounded Rectangle 50">
            <a:hlinkClick action="ppaction://hlinksldjump" r:id="rId10"/>
          </p:cNvPr>
          <p:cNvSpPr/>
          <p:nvPr/>
        </p:nvSpPr>
        <p:spPr>
          <a:xfrm>
            <a:off x="9070848" y="3840480"/>
            <a:ext cx="2743200" cy="2240280"/>
          </a:xfrm>
          <a:prstGeom prst="roundRect">
            <a:avLst>
              <a:gd name="adj" fmla="val 5500"/>
            </a:avLst>
          </a:prstGeom>
          <a:solidFill>
            <a:srgbClr val="FFFFFF"/>
          </a:solidFill>
          <a:ln w="20320">
            <a:solidFill>
              <a:srgbClr val="157355"/>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a:hlinkClick action="ppaction://hlinksldjump" r:id="rId10"/>
          </p:cNvPr>
          <p:cNvSpPr/>
          <p:nvPr/>
        </p:nvSpPr>
        <p:spPr>
          <a:xfrm>
            <a:off x="9070848" y="3840480"/>
            <a:ext cx="2743200" cy="457200"/>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9180576" y="3913632"/>
            <a:ext cx="310896" cy="3108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57355"/>
                </a:solidFill>
                <a:latin typeface="Bricolage Grotesque"/>
              </a:rPr>
              <a:t>◎</a:t>
            </a:r>
          </a:p>
        </p:txBody>
      </p:sp>
      <p:sp>
        <p:nvSpPr>
          <p:cNvPr id="54" name="TextBox 53"/>
          <p:cNvSpPr txBox="1"/>
          <p:nvPr/>
        </p:nvSpPr>
        <p:spPr>
          <a:xfrm>
            <a:off x="9601200" y="3895344"/>
            <a:ext cx="210312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50" b="1" i="0">
                <a:solidFill>
                  <a:srgbClr val="FFFFFF"/>
                </a:solidFill>
                <a:latin typeface="Bricolage Grotesque"/>
              </a:rPr>
              <a:t>Repaso + semáforo</a:t>
            </a:r>
          </a:p>
        </p:txBody>
      </p:sp>
      <p:sp>
        <p:nvSpPr>
          <p:cNvPr id="55" name="TextBox 54"/>
          <p:cNvSpPr txBox="1"/>
          <p:nvPr/>
        </p:nvSpPr>
        <p:spPr>
          <a:xfrm>
            <a:off x="9235440" y="4462272"/>
            <a:ext cx="2414016" cy="1097280"/>
          </a:xfrm>
          <a:prstGeom prst="rect">
            <a:avLst/>
          </a:prstGeom>
          <a:noFill/>
        </p:spPr>
        <p:txBody>
          <a:bodyPr wrap="square" anchor="t" lIns="38100" rIns="38100" tIns="25400" bIns="25400">
            <a:spAutoFit/>
          </a:bodyPr>
          <a:lstStyle/>
          <a:p>
            <a:pPr algn="l">
              <a:lnSpc>
                <a:spcPct val="112000"/>
              </a:lnSpc>
              <a:spcBef>
                <a:spcPts val="0"/>
              </a:spcBef>
              <a:spcAft>
                <a:spcPts val="200"/>
              </a:spcAft>
            </a:pPr>
            <a:r>
              <a:rPr sz="1150" b="0" i="0">
                <a:solidFill>
                  <a:srgbClr val="20242E"/>
                </a:solidFill>
                <a:latin typeface="Inter"/>
              </a:rPr>
              <a:t>lo esencial · zelfevaluatie</a:t>
            </a:r>
          </a:p>
        </p:txBody>
      </p:sp>
      <p:sp>
        <p:nvSpPr>
          <p:cNvPr id="56" name="Rounded Rectangle 55"/>
          <p:cNvSpPr/>
          <p:nvPr/>
        </p:nvSpPr>
        <p:spPr>
          <a:xfrm>
            <a:off x="9235440" y="5669280"/>
            <a:ext cx="791870" cy="292608"/>
          </a:xfrm>
          <a:prstGeom prst="roundRect">
            <a:avLst>
              <a:gd name="adj" fmla="val 50000"/>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157355"/>
                </a:solidFill>
                <a:latin typeface="Inter"/>
              </a:rPr>
              <a:t>→ dia 21</a:t>
            </a:r>
          </a:p>
        </p:txBody>
      </p:sp>
      <p:sp>
        <p:nvSpPr>
          <p:cNvPr id="57" name="Rectangle 56"/>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59" name="TextBox 58"/>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60" name="TextBox 59"/>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885492"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E9E74"/>
                </a:solidFill>
                <a:latin typeface="Inter"/>
              </a:rPr>
              <a:t>§1 · GRAMÁTICA VISUAL</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1</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¿Qué hora es?</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4F4EE"/>
                </a:solidFill>
                <a:latin typeface="Inter"/>
              </a:rPr>
              <a:t>Klik een klok → de tijd verschijnt. Es la UNA (1u) · Son LAS dos… (≥2u).</a:t>
            </a:r>
          </a:p>
        </p:txBody>
      </p:sp>
      <p:sp>
        <p:nvSpPr>
          <p:cNvPr id="9" name="Rounded Rectangle 8"/>
          <p:cNvSpPr/>
          <p:nvPr/>
        </p:nvSpPr>
        <p:spPr>
          <a:xfrm>
            <a:off x="457200" y="1554480"/>
            <a:ext cx="5532120" cy="65836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554480"/>
            <a:ext cx="146304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500" b="1" i="0">
                <a:solidFill>
                  <a:srgbClr val="157355"/>
                </a:solidFill>
                <a:latin typeface="Bricolage Grotesque"/>
              </a:rPr>
              <a:t>🕐 1:00</a:t>
            </a:r>
          </a:p>
        </p:txBody>
      </p:sp>
      <p:sp>
        <p:nvSpPr>
          <p:cNvPr id="11" name="TextBox 10"/>
          <p:cNvSpPr txBox="1"/>
          <p:nvPr/>
        </p:nvSpPr>
        <p:spPr>
          <a:xfrm>
            <a:off x="2194560" y="1554480"/>
            <a:ext cx="370332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Es la una</a:t>
            </a:r>
          </a:p>
        </p:txBody>
      </p:sp>
      <p:sp>
        <p:nvSpPr>
          <p:cNvPr id="12" name="Rounded Rectangle 11"/>
          <p:cNvSpPr/>
          <p:nvPr/>
        </p:nvSpPr>
        <p:spPr>
          <a:xfrm>
            <a:off x="457200" y="2359152"/>
            <a:ext cx="5532120" cy="65836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59152"/>
            <a:ext cx="146304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500" b="1" i="0">
                <a:solidFill>
                  <a:srgbClr val="157355"/>
                </a:solidFill>
                <a:latin typeface="Bricolage Grotesque"/>
              </a:rPr>
              <a:t>🕐 2:30</a:t>
            </a:r>
          </a:p>
        </p:txBody>
      </p:sp>
      <p:sp>
        <p:nvSpPr>
          <p:cNvPr id="14" name="TextBox 13"/>
          <p:cNvSpPr txBox="1"/>
          <p:nvPr/>
        </p:nvSpPr>
        <p:spPr>
          <a:xfrm>
            <a:off x="2194560" y="2359152"/>
            <a:ext cx="370332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Son las dos y media</a:t>
            </a:r>
          </a:p>
        </p:txBody>
      </p:sp>
      <p:sp>
        <p:nvSpPr>
          <p:cNvPr id="15" name="Rounded Rectangle 14"/>
          <p:cNvSpPr/>
          <p:nvPr/>
        </p:nvSpPr>
        <p:spPr>
          <a:xfrm>
            <a:off x="457200" y="3163824"/>
            <a:ext cx="5532120" cy="65836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163824"/>
            <a:ext cx="146304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500" b="1" i="0">
                <a:solidFill>
                  <a:srgbClr val="157355"/>
                </a:solidFill>
                <a:latin typeface="Bricolage Grotesque"/>
              </a:rPr>
              <a:t>🕐 3:15</a:t>
            </a:r>
          </a:p>
        </p:txBody>
      </p:sp>
      <p:sp>
        <p:nvSpPr>
          <p:cNvPr id="17" name="TextBox 16"/>
          <p:cNvSpPr txBox="1"/>
          <p:nvPr/>
        </p:nvSpPr>
        <p:spPr>
          <a:xfrm>
            <a:off x="2194560" y="3163824"/>
            <a:ext cx="370332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Son las tres y cuarto</a:t>
            </a:r>
          </a:p>
        </p:txBody>
      </p:sp>
      <p:sp>
        <p:nvSpPr>
          <p:cNvPr id="18" name="Rounded Rectangle 17"/>
          <p:cNvSpPr/>
          <p:nvPr/>
        </p:nvSpPr>
        <p:spPr>
          <a:xfrm>
            <a:off x="6172200" y="1554480"/>
            <a:ext cx="5532120" cy="65836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1554480"/>
            <a:ext cx="146304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500" b="1" i="0">
                <a:solidFill>
                  <a:srgbClr val="157355"/>
                </a:solidFill>
                <a:latin typeface="Bricolage Grotesque"/>
              </a:rPr>
              <a:t>🕐 4:45</a:t>
            </a:r>
          </a:p>
        </p:txBody>
      </p:sp>
      <p:sp>
        <p:nvSpPr>
          <p:cNvPr id="20" name="TextBox 19"/>
          <p:cNvSpPr txBox="1"/>
          <p:nvPr/>
        </p:nvSpPr>
        <p:spPr>
          <a:xfrm>
            <a:off x="7909560" y="1554480"/>
            <a:ext cx="370332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Son las cinco menos cuarto</a:t>
            </a:r>
          </a:p>
        </p:txBody>
      </p:sp>
      <p:sp>
        <p:nvSpPr>
          <p:cNvPr id="21" name="Rounded Rectangle 20"/>
          <p:cNvSpPr/>
          <p:nvPr/>
        </p:nvSpPr>
        <p:spPr>
          <a:xfrm>
            <a:off x="6172200" y="2359152"/>
            <a:ext cx="5532120" cy="65836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2359152"/>
            <a:ext cx="146304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500" b="1" i="0">
                <a:solidFill>
                  <a:srgbClr val="157355"/>
                </a:solidFill>
                <a:latin typeface="Bricolage Grotesque"/>
              </a:rPr>
              <a:t>🕐 6:00</a:t>
            </a:r>
          </a:p>
        </p:txBody>
      </p:sp>
      <p:sp>
        <p:nvSpPr>
          <p:cNvPr id="23" name="TextBox 22"/>
          <p:cNvSpPr txBox="1"/>
          <p:nvPr/>
        </p:nvSpPr>
        <p:spPr>
          <a:xfrm>
            <a:off x="7909560" y="2359152"/>
            <a:ext cx="370332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Son las seis en punto</a:t>
            </a:r>
          </a:p>
        </p:txBody>
      </p:sp>
      <p:sp>
        <p:nvSpPr>
          <p:cNvPr id="24" name="Rounded Rectangle 23"/>
          <p:cNvSpPr/>
          <p:nvPr/>
        </p:nvSpPr>
        <p:spPr>
          <a:xfrm>
            <a:off x="6172200" y="3163824"/>
            <a:ext cx="5532120" cy="65836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3163824"/>
            <a:ext cx="146304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500" b="1" i="0">
                <a:solidFill>
                  <a:srgbClr val="157355"/>
                </a:solidFill>
                <a:latin typeface="Bricolage Grotesque"/>
              </a:rPr>
              <a:t>🕐 9:20</a:t>
            </a:r>
          </a:p>
        </p:txBody>
      </p:sp>
      <p:sp>
        <p:nvSpPr>
          <p:cNvPr id="26" name="TextBox 25"/>
          <p:cNvSpPr txBox="1"/>
          <p:nvPr/>
        </p:nvSpPr>
        <p:spPr>
          <a:xfrm>
            <a:off x="7909560" y="3163824"/>
            <a:ext cx="370332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Son las nueve y veinte</a:t>
            </a:r>
          </a:p>
        </p:txBody>
      </p:sp>
      <p:sp>
        <p:nvSpPr>
          <p:cNvPr id="27" name="Rounded Rectangle 26"/>
          <p:cNvSpPr/>
          <p:nvPr/>
        </p:nvSpPr>
        <p:spPr>
          <a:xfrm>
            <a:off x="457200" y="6053328"/>
            <a:ext cx="2093976" cy="365760"/>
          </a:xfrm>
          <a:prstGeom prst="roundRect">
            <a:avLst>
              <a:gd name="adj" fmla="val 50000"/>
            </a:avLst>
          </a:prstGeom>
          <a:solidFill>
            <a:srgbClr val="1E9E74"/>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28" name="Rounded Rectangle 27"/>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Saltar</a:t>
            </a:r>
          </a:p>
        </p:txBody>
      </p:sp>
      <p:sp>
        <p:nvSpPr>
          <p:cNvPr id="29" name="Rounded Rectangle 28">
            <a:hlinkClick action="ppaction://hlinksldjump" r:id="rId3"/>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Menú (dia 2)</a:t>
            </a:r>
          </a:p>
        </p:txBody>
      </p:sp>
      <p:sp>
        <p:nvSpPr>
          <p:cNvPr id="30" name="TextBox 29"/>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Noodroute (§5): werkt zonder audio/internet</a:t>
            </a:r>
          </a:p>
        </p:txBody>
      </p:sp>
      <p:sp>
        <p:nvSpPr>
          <p:cNvPr id="31" name="Rounded Rectangle 30"/>
          <p:cNvSpPr/>
          <p:nvPr/>
        </p:nvSpPr>
        <p:spPr>
          <a:xfrm>
            <a:off x="457200" y="4480560"/>
            <a:ext cx="11247120" cy="868680"/>
          </a:xfrm>
          <a:prstGeom prst="roundRect">
            <a:avLst>
              <a:gd name="adj" fmla="val 6000"/>
            </a:avLst>
          </a:prstGeom>
          <a:solidFill>
            <a:srgbClr val="E4F4EE"/>
          </a:solidFill>
          <a:ln w="1905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DC2626"/>
                </a:solidFill>
                <a:latin typeface="Inter"/>
              </a:rPr>
              <a:t>🔴 Es la una </a:t>
            </a:r>
            <a:r>
              <a:rPr sz="1200" b="0" i="0">
                <a:solidFill>
                  <a:srgbClr val="157355"/>
                </a:solidFill>
                <a:latin typeface="Inter"/>
              </a:rPr>
              <a:t>(enkelvoud, alléén 1 uur) · </a:t>
            </a:r>
            <a:r>
              <a:rPr sz="1200" b="1" i="0">
                <a:solidFill>
                  <a:srgbClr val="DC2626"/>
                </a:solidFill>
                <a:latin typeface="Inter"/>
              </a:rPr>
              <a:t>Son las </a:t>
            </a:r>
            <a:r>
              <a:rPr sz="1200" b="0" i="0">
                <a:solidFill>
                  <a:srgbClr val="157355"/>
                </a:solidFill>
                <a:latin typeface="Inter"/>
              </a:rPr>
              <a:t>dos, tres… (meervoud, vanaf 2 uur).</a:t>
            </a:r>
          </a:p>
          <a:p>
            <a:pPr>
              <a:lnSpc>
                <a:spcPct val="102000"/>
              </a:lnSpc>
              <a:spcBef>
                <a:spcPts val="0"/>
              </a:spcBef>
              <a:spcAft>
                <a:spcPts val="300"/>
              </a:spcAft>
            </a:pPr>
            <a:r>
              <a:rPr sz="1200" b="0" i="0">
                <a:solidFill>
                  <a:srgbClr val="157355"/>
                </a:solidFill>
                <a:latin typeface="Inter"/>
              </a:rPr>
              <a:t>y media / y cuarto (tot half) · menos cuarto (na half) · en punto (precies) · a las … de la mañana/tarde/noche.</a:t>
            </a:r>
          </a:p>
        </p:txBody>
      </p:sp>
      <p:sp>
        <p:nvSpPr>
          <p:cNvPr id="32" name="Rounded Rectangle 31"/>
          <p:cNvSpPr/>
          <p:nvPr/>
        </p:nvSpPr>
        <p:spPr>
          <a:xfrm>
            <a:off x="594360" y="4352544"/>
            <a:ext cx="1548993" cy="292608"/>
          </a:xfrm>
          <a:prstGeom prst="roundRect">
            <a:avLst>
              <a:gd name="adj" fmla="val 50000"/>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 · docent</a:t>
            </a:r>
          </a:p>
        </p:txBody>
      </p:sp>
      <p:sp>
        <p:nvSpPr>
          <p:cNvPr id="33" name="Rectangle 32"/>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35" name="TextBox 34"/>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36" name="TextBox 35"/>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885492"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E9E74"/>
                </a:solidFill>
                <a:latin typeface="Inter"/>
              </a:rPr>
              <a:t>§2 · GRAMÁTICA VISUAL</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2</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Mi rutina — la frase con color</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4F4EE"/>
                </a:solidFill>
                <a:latin typeface="Inter"/>
              </a:rPr>
              <a:t>Kleur = taalfunctie. Reflexief pronomen (paars/oranje) vóór het werkwoord.</a:t>
            </a:r>
          </a:p>
        </p:txBody>
      </p:sp>
      <p:sp>
        <p:nvSpPr>
          <p:cNvPr id="9" name="TextBox 8"/>
          <p:cNvSpPr txBox="1"/>
          <p:nvPr/>
        </p:nvSpPr>
        <p:spPr>
          <a:xfrm>
            <a:off x="8869680" y="484632"/>
            <a:ext cx="118872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1" i="0">
                <a:solidFill>
                  <a:srgbClr val="6A6E78"/>
                </a:solidFill>
                <a:latin typeface="Inter"/>
              </a:rPr>
              <a:t>Kleurcode:</a:t>
            </a:r>
          </a:p>
        </p:txBody>
      </p:sp>
      <p:sp>
        <p:nvSpPr>
          <p:cNvPr id="10" name="Rounded Rectangle 9"/>
          <p:cNvSpPr/>
          <p:nvPr/>
        </p:nvSpPr>
        <p:spPr>
          <a:xfrm>
            <a:off x="9921240" y="521208"/>
            <a:ext cx="128016" cy="128016"/>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85832" y="475488"/>
            <a:ext cx="91440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0" i="0">
                <a:solidFill>
                  <a:srgbClr val="20242E"/>
                </a:solidFill>
                <a:latin typeface="Inter"/>
              </a:rPr>
              <a:t>persoon</a:t>
            </a:r>
          </a:p>
        </p:txBody>
      </p:sp>
      <p:sp>
        <p:nvSpPr>
          <p:cNvPr id="12" name="Rounded Rectangle 11"/>
          <p:cNvSpPr/>
          <p:nvPr/>
        </p:nvSpPr>
        <p:spPr>
          <a:xfrm>
            <a:off x="10574121" y="521208"/>
            <a:ext cx="128016" cy="128016"/>
          </a:xfrm>
          <a:prstGeom prst="roundRect">
            <a:avLst>
              <a:gd name="adj" fmla="val 50000"/>
            </a:avLst>
          </a:prstGeom>
          <a:solidFill>
            <a:srgbClr val="EA7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38713" y="475488"/>
            <a:ext cx="91440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0" i="0">
                <a:solidFill>
                  <a:srgbClr val="20242E"/>
                </a:solidFill>
                <a:latin typeface="Inter"/>
              </a:rPr>
              <a:t>werkw.</a:t>
            </a:r>
          </a:p>
        </p:txBody>
      </p:sp>
      <p:sp>
        <p:nvSpPr>
          <p:cNvPr id="14" name="Rounded Rectangle 13"/>
          <p:cNvSpPr/>
          <p:nvPr/>
        </p:nvSpPr>
        <p:spPr>
          <a:xfrm>
            <a:off x="11170309" y="521208"/>
            <a:ext cx="128016" cy="128016"/>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334901" y="475488"/>
            <a:ext cx="91440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0" i="0">
                <a:solidFill>
                  <a:srgbClr val="20242E"/>
                </a:solidFill>
                <a:latin typeface="Inter"/>
              </a:rPr>
              <a:t>tijd</a:t>
            </a:r>
          </a:p>
        </p:txBody>
      </p:sp>
      <p:sp>
        <p:nvSpPr>
          <p:cNvPr id="16" name="Rounded Rectangle 15"/>
          <p:cNvSpPr/>
          <p:nvPr/>
        </p:nvSpPr>
        <p:spPr>
          <a:xfrm>
            <a:off x="11653112" y="521208"/>
            <a:ext cx="128016" cy="128016"/>
          </a:xfrm>
          <a:prstGeom prst="roundRect">
            <a:avLst>
              <a:gd name="adj" fmla="val 50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17704" y="475488"/>
            <a:ext cx="91440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0" i="0">
                <a:solidFill>
                  <a:srgbClr val="20242E"/>
                </a:solidFill>
                <a:latin typeface="Inter"/>
              </a:rPr>
              <a:t>plaats</a:t>
            </a:r>
          </a:p>
        </p:txBody>
      </p:sp>
      <p:sp>
        <p:nvSpPr>
          <p:cNvPr id="18" name="Rounded Rectangle 17"/>
          <p:cNvSpPr/>
          <p:nvPr/>
        </p:nvSpPr>
        <p:spPr>
          <a:xfrm>
            <a:off x="12249300" y="521208"/>
            <a:ext cx="128016" cy="128016"/>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413892" y="475488"/>
            <a:ext cx="91440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900" b="0" i="0">
                <a:solidFill>
                  <a:srgbClr val="20242E"/>
                </a:solidFill>
                <a:latin typeface="Inter"/>
              </a:rPr>
              <a:t>valstrik</a:t>
            </a:r>
          </a:p>
        </p:txBody>
      </p:sp>
      <p:sp>
        <p:nvSpPr>
          <p:cNvPr id="20" name="Rounded Rectangle 19"/>
          <p:cNvSpPr/>
          <p:nvPr/>
        </p:nvSpPr>
        <p:spPr>
          <a:xfrm>
            <a:off x="457200" y="1554480"/>
            <a:ext cx="11247120" cy="1097280"/>
          </a:xfrm>
          <a:prstGeom prst="roundRect">
            <a:avLst>
              <a:gd name="adj" fmla="val 5500"/>
            </a:avLst>
          </a:prstGeom>
          <a:solidFill>
            <a:srgbClr val="E4F4EE"/>
          </a:solidFill>
          <a:ln>
            <a:no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1554480"/>
            <a:ext cx="10698480" cy="109728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400" b="1" i="0">
                <a:solidFill>
                  <a:srgbClr val="2563EB"/>
                </a:solidFill>
                <a:latin typeface="Bricolage Grotesque"/>
              </a:rPr>
              <a:t>Yo </a:t>
            </a:r>
            <a:r>
              <a:rPr sz="2400" b="1" i="0">
                <a:solidFill>
                  <a:srgbClr val="EA7317"/>
                </a:solidFill>
                <a:latin typeface="Bricolage Grotesque"/>
              </a:rPr>
              <a:t>me levanto </a:t>
            </a:r>
            <a:r>
              <a:rPr sz="2400" b="1" i="0">
                <a:solidFill>
                  <a:srgbClr val="7C3AED"/>
                </a:solidFill>
                <a:latin typeface="Bricolage Grotesque"/>
              </a:rPr>
              <a:t>a las siete, </a:t>
            </a:r>
            <a:r>
              <a:rPr sz="2400" b="1" i="0">
                <a:solidFill>
                  <a:srgbClr val="EA7317"/>
                </a:solidFill>
                <a:latin typeface="Bricolage Grotesque"/>
              </a:rPr>
              <a:t>me ducho </a:t>
            </a:r>
            <a:r>
              <a:rPr sz="2400" b="1" i="0">
                <a:solidFill>
                  <a:srgbClr val="20242E"/>
                </a:solidFill>
                <a:latin typeface="Bricolage Grotesque"/>
              </a:rPr>
              <a:t>y </a:t>
            </a:r>
            <a:r>
              <a:rPr sz="2400" b="1" i="0">
                <a:solidFill>
                  <a:srgbClr val="EA7317"/>
                </a:solidFill>
                <a:latin typeface="Bricolage Grotesque"/>
              </a:rPr>
              <a:t>empiezo </a:t>
            </a:r>
            <a:r>
              <a:rPr sz="2400" b="1" i="0">
                <a:solidFill>
                  <a:srgbClr val="14B8A6"/>
                </a:solidFill>
                <a:latin typeface="Bricolage Grotesque"/>
              </a:rPr>
              <a:t>en el instituto </a:t>
            </a:r>
            <a:r>
              <a:rPr sz="2400" b="1" i="0">
                <a:solidFill>
                  <a:srgbClr val="7C3AED"/>
                </a:solidFill>
                <a:latin typeface="Bricolage Grotesque"/>
              </a:rPr>
              <a:t>a las nueve.</a:t>
            </a:r>
          </a:p>
        </p:txBody>
      </p:sp>
      <p:sp>
        <p:nvSpPr>
          <p:cNvPr id="22" name="TextBox 21"/>
          <p:cNvSpPr txBox="1"/>
          <p:nvPr/>
        </p:nvSpPr>
        <p:spPr>
          <a:xfrm>
            <a:off x="457200" y="2880360"/>
            <a:ext cx="1097280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157355"/>
                </a:solidFill>
                <a:latin typeface="Bricolage Grotesque"/>
              </a:rPr>
              <a:t>El marco — cuenta tu día:</a:t>
            </a:r>
          </a:p>
        </p:txBody>
      </p:sp>
      <p:sp>
        <p:nvSpPr>
          <p:cNvPr id="23" name="Rounded Rectangle 22"/>
          <p:cNvSpPr/>
          <p:nvPr/>
        </p:nvSpPr>
        <p:spPr>
          <a:xfrm>
            <a:off x="457200" y="3291840"/>
            <a:ext cx="365760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3291840"/>
            <a:ext cx="228600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EA7317"/>
                </a:solidFill>
                <a:latin typeface="Inter"/>
              </a:rPr>
              <a:t>Me despierto</a:t>
            </a:r>
          </a:p>
        </p:txBody>
      </p:sp>
      <p:sp>
        <p:nvSpPr>
          <p:cNvPr id="25" name="TextBox 24"/>
          <p:cNvSpPr txBox="1"/>
          <p:nvPr/>
        </p:nvSpPr>
        <p:spPr>
          <a:xfrm>
            <a:off x="2880360" y="3291840"/>
            <a:ext cx="10972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0" i="0">
                <a:solidFill>
                  <a:srgbClr val="20242E"/>
                </a:solidFill>
                <a:latin typeface="Inter"/>
              </a:rPr>
              <a:t>+ a las …</a:t>
            </a:r>
          </a:p>
        </p:txBody>
      </p:sp>
      <p:sp>
        <p:nvSpPr>
          <p:cNvPr id="26" name="Rounded Rectangle 25"/>
          <p:cNvSpPr/>
          <p:nvPr/>
        </p:nvSpPr>
        <p:spPr>
          <a:xfrm>
            <a:off x="457200" y="3968496"/>
            <a:ext cx="365760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3968496"/>
            <a:ext cx="228600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EA7317"/>
                </a:solidFill>
                <a:latin typeface="Inter"/>
              </a:rPr>
              <a:t>Me levanto</a:t>
            </a:r>
          </a:p>
        </p:txBody>
      </p:sp>
      <p:sp>
        <p:nvSpPr>
          <p:cNvPr id="28" name="TextBox 27"/>
          <p:cNvSpPr txBox="1"/>
          <p:nvPr/>
        </p:nvSpPr>
        <p:spPr>
          <a:xfrm>
            <a:off x="2880360" y="3968496"/>
            <a:ext cx="10972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0" i="0">
                <a:solidFill>
                  <a:srgbClr val="20242E"/>
                </a:solidFill>
                <a:latin typeface="Inter"/>
              </a:rPr>
              <a:t>+ a las …</a:t>
            </a:r>
          </a:p>
        </p:txBody>
      </p:sp>
      <p:sp>
        <p:nvSpPr>
          <p:cNvPr id="29" name="Rounded Rectangle 28"/>
          <p:cNvSpPr/>
          <p:nvPr/>
        </p:nvSpPr>
        <p:spPr>
          <a:xfrm>
            <a:off x="457200" y="4645152"/>
            <a:ext cx="365760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4645152"/>
            <a:ext cx="228600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EA7317"/>
                </a:solidFill>
                <a:latin typeface="Inter"/>
              </a:rPr>
              <a:t>Me ducho / me visto</a:t>
            </a:r>
          </a:p>
        </p:txBody>
      </p:sp>
      <p:sp>
        <p:nvSpPr>
          <p:cNvPr id="31" name="TextBox 30"/>
          <p:cNvSpPr txBox="1"/>
          <p:nvPr/>
        </p:nvSpPr>
        <p:spPr>
          <a:xfrm>
            <a:off x="2880360" y="4645152"/>
            <a:ext cx="10972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0" i="0">
                <a:solidFill>
                  <a:srgbClr val="20242E"/>
                </a:solidFill>
                <a:latin typeface="Inter"/>
              </a:rPr>
              <a:t>+ acción</a:t>
            </a:r>
          </a:p>
        </p:txBody>
      </p:sp>
      <p:sp>
        <p:nvSpPr>
          <p:cNvPr id="32" name="Rounded Rectangle 31"/>
          <p:cNvSpPr/>
          <p:nvPr/>
        </p:nvSpPr>
        <p:spPr>
          <a:xfrm>
            <a:off x="4297680" y="3291840"/>
            <a:ext cx="365760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34840" y="3291840"/>
            <a:ext cx="228600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EA7317"/>
                </a:solidFill>
                <a:latin typeface="Inter"/>
              </a:rPr>
              <a:t>Desayuno / almuerzo / ceno</a:t>
            </a:r>
          </a:p>
        </p:txBody>
      </p:sp>
      <p:sp>
        <p:nvSpPr>
          <p:cNvPr id="34" name="TextBox 33"/>
          <p:cNvSpPr txBox="1"/>
          <p:nvPr/>
        </p:nvSpPr>
        <p:spPr>
          <a:xfrm>
            <a:off x="6720840" y="3291840"/>
            <a:ext cx="10972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0" i="0">
                <a:solidFill>
                  <a:srgbClr val="20242E"/>
                </a:solidFill>
                <a:latin typeface="Inter"/>
              </a:rPr>
              <a:t>+ hora</a:t>
            </a:r>
          </a:p>
        </p:txBody>
      </p:sp>
      <p:sp>
        <p:nvSpPr>
          <p:cNvPr id="35" name="Rounded Rectangle 34"/>
          <p:cNvSpPr/>
          <p:nvPr/>
        </p:nvSpPr>
        <p:spPr>
          <a:xfrm>
            <a:off x="4297680" y="3968496"/>
            <a:ext cx="365760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34840" y="3968496"/>
            <a:ext cx="228600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EA7317"/>
                </a:solidFill>
                <a:latin typeface="Inter"/>
              </a:rPr>
              <a:t>Voy / salgo</a:t>
            </a:r>
          </a:p>
        </p:txBody>
      </p:sp>
      <p:sp>
        <p:nvSpPr>
          <p:cNvPr id="37" name="TextBox 36"/>
          <p:cNvSpPr txBox="1"/>
          <p:nvPr/>
        </p:nvSpPr>
        <p:spPr>
          <a:xfrm>
            <a:off x="6720840" y="3968496"/>
            <a:ext cx="10972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0" i="0">
                <a:solidFill>
                  <a:srgbClr val="20242E"/>
                </a:solidFill>
                <a:latin typeface="Inter"/>
              </a:rPr>
              <a:t>+ lugar</a:t>
            </a:r>
          </a:p>
        </p:txBody>
      </p:sp>
      <p:sp>
        <p:nvSpPr>
          <p:cNvPr id="38" name="Rounded Rectangle 37"/>
          <p:cNvSpPr/>
          <p:nvPr/>
        </p:nvSpPr>
        <p:spPr>
          <a:xfrm>
            <a:off x="4297680" y="4645152"/>
            <a:ext cx="365760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34840" y="4645152"/>
            <a:ext cx="228600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EA7317"/>
                </a:solidFill>
                <a:latin typeface="Inter"/>
              </a:rPr>
              <a:t>Me acuesto</a:t>
            </a:r>
          </a:p>
        </p:txBody>
      </p:sp>
      <p:sp>
        <p:nvSpPr>
          <p:cNvPr id="40" name="TextBox 39"/>
          <p:cNvSpPr txBox="1"/>
          <p:nvPr/>
        </p:nvSpPr>
        <p:spPr>
          <a:xfrm>
            <a:off x="6720840" y="4645152"/>
            <a:ext cx="10972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0" i="0">
                <a:solidFill>
                  <a:srgbClr val="20242E"/>
                </a:solidFill>
                <a:latin typeface="Inter"/>
              </a:rPr>
              <a:t>+ a las …</a:t>
            </a:r>
          </a:p>
        </p:txBody>
      </p:sp>
      <p:sp>
        <p:nvSpPr>
          <p:cNvPr id="41" name="Rounded Rectangle 40"/>
          <p:cNvSpPr/>
          <p:nvPr/>
        </p:nvSpPr>
        <p:spPr>
          <a:xfrm>
            <a:off x="457200" y="6053328"/>
            <a:ext cx="2093976" cy="365760"/>
          </a:xfrm>
          <a:prstGeom prst="roundRect">
            <a:avLst>
              <a:gd name="adj" fmla="val 50000"/>
            </a:avLst>
          </a:prstGeom>
          <a:solidFill>
            <a:srgbClr val="1E9E74"/>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42" name="Rounded Rectangle 41"/>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Saltar</a:t>
            </a:r>
          </a:p>
        </p:txBody>
      </p:sp>
      <p:sp>
        <p:nvSpPr>
          <p:cNvPr id="43" name="Rounded Rectangle 42">
            <a:hlinkClick action="ppaction://hlinksldjump" r:id="rId3"/>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Menú (dia 2)</a:t>
            </a:r>
          </a:p>
        </p:txBody>
      </p:sp>
      <p:sp>
        <p:nvSpPr>
          <p:cNvPr id="44" name="TextBox 43"/>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Noodroute (§5): werkt zonder audio/internet</a:t>
            </a:r>
          </a:p>
        </p:txBody>
      </p:sp>
      <p:sp>
        <p:nvSpPr>
          <p:cNvPr id="45" name="Rounded Rectangle 44"/>
          <p:cNvSpPr/>
          <p:nvPr/>
        </p:nvSpPr>
        <p:spPr>
          <a:xfrm>
            <a:off x="457200" y="5212080"/>
            <a:ext cx="11247120" cy="640080"/>
          </a:xfrm>
          <a:prstGeom prst="roundRect">
            <a:avLst>
              <a:gd name="adj" fmla="val 6000"/>
            </a:avLst>
          </a:prstGeom>
          <a:solidFill>
            <a:srgbClr val="E4F4EE"/>
          </a:solidFill>
          <a:ln w="1905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157355"/>
                </a:solidFill>
                <a:latin typeface="Inter"/>
              </a:rPr>
              <a:t>Modelo: </a:t>
            </a:r>
            <a:r>
              <a:rPr sz="1200" b="0" i="0">
                <a:solidFill>
                  <a:srgbClr val="157355"/>
                </a:solidFill>
                <a:latin typeface="Inter"/>
              </a:rPr>
              <a:t>«Me despierto a las siete, me ducho, desayuno y salgo de casa a las ocho. Por la tarde hago los deberes.»</a:t>
            </a:r>
          </a:p>
        </p:txBody>
      </p:sp>
      <p:sp>
        <p:nvSpPr>
          <p:cNvPr id="46" name="Rounded Rectangle 45"/>
          <p:cNvSpPr/>
          <p:nvPr/>
        </p:nvSpPr>
        <p:spPr>
          <a:xfrm>
            <a:off x="594360" y="5084064"/>
            <a:ext cx="1380743" cy="292608"/>
          </a:xfrm>
          <a:prstGeom prst="roundRect">
            <a:avLst>
              <a:gd name="adj" fmla="val 50000"/>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MODELO · docent</a:t>
            </a:r>
          </a:p>
        </p:txBody>
      </p:sp>
      <p:sp>
        <p:nvSpPr>
          <p:cNvPr id="47" name="Rectangle 46"/>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49" name="TextBox 48"/>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50" name="TextBox 49"/>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296619"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E9E74"/>
                </a:solidFill>
                <a:latin typeface="Inter"/>
              </a:rPr>
              <a:t>§2 · GRAMÁTICA</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2</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Verbos reflexivos (me/te/se)</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4F4EE"/>
                </a:solidFill>
                <a:latin typeface="Inter"/>
              </a:rPr>
              <a:t>Denk het pronombre + de vorm, klik de kaart. Pronomen vóór het werkwoord.</a:t>
            </a:r>
          </a:p>
        </p:txBody>
      </p:sp>
      <p:sp>
        <p:nvSpPr>
          <p:cNvPr id="9" name="Rounded Rectangle 8"/>
          <p:cNvSpPr/>
          <p:nvPr/>
        </p:nvSpPr>
        <p:spPr>
          <a:xfrm>
            <a:off x="457200" y="1600200"/>
            <a:ext cx="3611880" cy="1143000"/>
          </a:xfrm>
          <a:prstGeom prst="roundRect">
            <a:avLst>
              <a:gd name="adj" fmla="val 5500"/>
            </a:avLst>
          </a:prstGeom>
          <a:solidFill>
            <a:srgbClr val="FFFFFF"/>
          </a:solidFill>
          <a:ln w="17780">
            <a:solidFill>
              <a:srgbClr val="1E9E74"/>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709928"/>
            <a:ext cx="3611880" cy="36576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300" b="0" i="0">
                <a:solidFill>
                  <a:srgbClr val="6A6E78"/>
                </a:solidFill>
                <a:latin typeface="Inter"/>
              </a:rPr>
              <a:t>yo</a:t>
            </a:r>
          </a:p>
        </p:txBody>
      </p:sp>
      <p:sp>
        <p:nvSpPr>
          <p:cNvPr id="11" name="TextBox 10"/>
          <p:cNvSpPr txBox="1"/>
          <p:nvPr/>
        </p:nvSpPr>
        <p:spPr>
          <a:xfrm>
            <a:off x="457200" y="2057400"/>
            <a:ext cx="3611880" cy="54864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2200" b="1" i="0">
                <a:solidFill>
                  <a:srgbClr val="157355"/>
                </a:solidFill>
                <a:latin typeface="Bricolage Grotesque"/>
              </a:rPr>
              <a:t>me levanto</a:t>
            </a:r>
          </a:p>
        </p:txBody>
      </p:sp>
      <p:sp>
        <p:nvSpPr>
          <p:cNvPr id="12" name="Rounded Rectangle 11"/>
          <p:cNvSpPr/>
          <p:nvPr/>
        </p:nvSpPr>
        <p:spPr>
          <a:xfrm>
            <a:off x="4251960" y="1600200"/>
            <a:ext cx="3611880" cy="1143000"/>
          </a:xfrm>
          <a:prstGeom prst="roundRect">
            <a:avLst>
              <a:gd name="adj" fmla="val 5500"/>
            </a:avLst>
          </a:prstGeom>
          <a:solidFill>
            <a:srgbClr val="FFFFFF"/>
          </a:solidFill>
          <a:ln w="17780">
            <a:solidFill>
              <a:srgbClr val="1E9E74"/>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51960" y="1709928"/>
            <a:ext cx="3611880" cy="36576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300" b="0" i="0">
                <a:solidFill>
                  <a:srgbClr val="6A6E78"/>
                </a:solidFill>
                <a:latin typeface="Inter"/>
              </a:rPr>
              <a:t>tú</a:t>
            </a:r>
          </a:p>
        </p:txBody>
      </p:sp>
      <p:sp>
        <p:nvSpPr>
          <p:cNvPr id="14" name="TextBox 13"/>
          <p:cNvSpPr txBox="1"/>
          <p:nvPr/>
        </p:nvSpPr>
        <p:spPr>
          <a:xfrm>
            <a:off x="4251960" y="2057400"/>
            <a:ext cx="3611880" cy="54864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2200" b="1" i="0">
                <a:solidFill>
                  <a:srgbClr val="157355"/>
                </a:solidFill>
                <a:latin typeface="Bricolage Grotesque"/>
              </a:rPr>
              <a:t>te levantas</a:t>
            </a:r>
          </a:p>
        </p:txBody>
      </p:sp>
      <p:sp>
        <p:nvSpPr>
          <p:cNvPr id="15" name="Rounded Rectangle 14"/>
          <p:cNvSpPr/>
          <p:nvPr/>
        </p:nvSpPr>
        <p:spPr>
          <a:xfrm>
            <a:off x="8046720" y="1600200"/>
            <a:ext cx="3611880" cy="1143000"/>
          </a:xfrm>
          <a:prstGeom prst="roundRect">
            <a:avLst>
              <a:gd name="adj" fmla="val 5500"/>
            </a:avLst>
          </a:prstGeom>
          <a:solidFill>
            <a:srgbClr val="FFFFFF"/>
          </a:solidFill>
          <a:ln w="17780">
            <a:solidFill>
              <a:srgbClr val="1E9E74"/>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0" y="1709928"/>
            <a:ext cx="3611880" cy="36576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300" b="0" i="0">
                <a:solidFill>
                  <a:srgbClr val="6A6E78"/>
                </a:solidFill>
                <a:latin typeface="Inter"/>
              </a:rPr>
              <a:t>él/ella/usted</a:t>
            </a:r>
          </a:p>
        </p:txBody>
      </p:sp>
      <p:sp>
        <p:nvSpPr>
          <p:cNvPr id="17" name="TextBox 16"/>
          <p:cNvSpPr txBox="1"/>
          <p:nvPr/>
        </p:nvSpPr>
        <p:spPr>
          <a:xfrm>
            <a:off x="8046720" y="2057400"/>
            <a:ext cx="3611880" cy="54864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2200" b="1" i="0">
                <a:solidFill>
                  <a:srgbClr val="157355"/>
                </a:solidFill>
                <a:latin typeface="Bricolage Grotesque"/>
              </a:rPr>
              <a:t>se levanta</a:t>
            </a:r>
          </a:p>
        </p:txBody>
      </p:sp>
      <p:sp>
        <p:nvSpPr>
          <p:cNvPr id="18" name="Rounded Rectangle 17"/>
          <p:cNvSpPr/>
          <p:nvPr/>
        </p:nvSpPr>
        <p:spPr>
          <a:xfrm>
            <a:off x="457200" y="2926080"/>
            <a:ext cx="3611880" cy="1143000"/>
          </a:xfrm>
          <a:prstGeom prst="roundRect">
            <a:avLst>
              <a:gd name="adj" fmla="val 5500"/>
            </a:avLst>
          </a:prstGeom>
          <a:solidFill>
            <a:srgbClr val="FFFFFF"/>
          </a:solidFill>
          <a:ln w="17780">
            <a:solidFill>
              <a:srgbClr val="1E9E74"/>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035808"/>
            <a:ext cx="3611880" cy="36576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300" b="0" i="0">
                <a:solidFill>
                  <a:srgbClr val="6A6E78"/>
                </a:solidFill>
                <a:latin typeface="Inter"/>
              </a:rPr>
              <a:t>nosotros/-as</a:t>
            </a:r>
          </a:p>
        </p:txBody>
      </p:sp>
      <p:sp>
        <p:nvSpPr>
          <p:cNvPr id="20" name="TextBox 19"/>
          <p:cNvSpPr txBox="1"/>
          <p:nvPr/>
        </p:nvSpPr>
        <p:spPr>
          <a:xfrm>
            <a:off x="457200" y="3383280"/>
            <a:ext cx="3611880" cy="54864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2200" b="1" i="0">
                <a:solidFill>
                  <a:srgbClr val="157355"/>
                </a:solidFill>
                <a:latin typeface="Bricolage Grotesque"/>
              </a:rPr>
              <a:t>nos levantamos</a:t>
            </a:r>
          </a:p>
        </p:txBody>
      </p:sp>
      <p:sp>
        <p:nvSpPr>
          <p:cNvPr id="21" name="Rounded Rectangle 20"/>
          <p:cNvSpPr/>
          <p:nvPr/>
        </p:nvSpPr>
        <p:spPr>
          <a:xfrm>
            <a:off x="4251960" y="2926080"/>
            <a:ext cx="3611880" cy="1143000"/>
          </a:xfrm>
          <a:prstGeom prst="roundRect">
            <a:avLst>
              <a:gd name="adj" fmla="val 5500"/>
            </a:avLst>
          </a:prstGeom>
          <a:solidFill>
            <a:srgbClr val="FFFFFF"/>
          </a:solidFill>
          <a:ln w="17780">
            <a:solidFill>
              <a:srgbClr val="1E9E74"/>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51960" y="3035808"/>
            <a:ext cx="3611880" cy="36576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300" b="0" i="0">
                <a:solidFill>
                  <a:srgbClr val="6A6E78"/>
                </a:solidFill>
                <a:latin typeface="Inter"/>
              </a:rPr>
              <a:t>vosotros/-as</a:t>
            </a:r>
          </a:p>
        </p:txBody>
      </p:sp>
      <p:sp>
        <p:nvSpPr>
          <p:cNvPr id="23" name="TextBox 22"/>
          <p:cNvSpPr txBox="1"/>
          <p:nvPr/>
        </p:nvSpPr>
        <p:spPr>
          <a:xfrm>
            <a:off x="4251960" y="3383280"/>
            <a:ext cx="3611880" cy="54864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2200" b="1" i="0">
                <a:solidFill>
                  <a:srgbClr val="157355"/>
                </a:solidFill>
                <a:latin typeface="Bricolage Grotesque"/>
              </a:rPr>
              <a:t>os levantáis</a:t>
            </a:r>
          </a:p>
        </p:txBody>
      </p:sp>
      <p:sp>
        <p:nvSpPr>
          <p:cNvPr id="24" name="Rounded Rectangle 23"/>
          <p:cNvSpPr/>
          <p:nvPr/>
        </p:nvSpPr>
        <p:spPr>
          <a:xfrm>
            <a:off x="8046720" y="2926080"/>
            <a:ext cx="3611880" cy="1143000"/>
          </a:xfrm>
          <a:prstGeom prst="roundRect">
            <a:avLst>
              <a:gd name="adj" fmla="val 5500"/>
            </a:avLst>
          </a:prstGeom>
          <a:solidFill>
            <a:srgbClr val="FFFFFF"/>
          </a:solidFill>
          <a:ln w="17780">
            <a:solidFill>
              <a:srgbClr val="1E9E74"/>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0" y="3035808"/>
            <a:ext cx="3611880" cy="36576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1300" b="0" i="0">
                <a:solidFill>
                  <a:srgbClr val="6A6E78"/>
                </a:solidFill>
                <a:latin typeface="Inter"/>
              </a:rPr>
              <a:t>ellos/-as/ustedes</a:t>
            </a:r>
          </a:p>
        </p:txBody>
      </p:sp>
      <p:sp>
        <p:nvSpPr>
          <p:cNvPr id="26" name="TextBox 25"/>
          <p:cNvSpPr txBox="1"/>
          <p:nvPr/>
        </p:nvSpPr>
        <p:spPr>
          <a:xfrm>
            <a:off x="8046720" y="3383280"/>
            <a:ext cx="3611880" cy="548640"/>
          </a:xfrm>
          <a:prstGeom prst="rect">
            <a:avLst/>
          </a:prstGeom>
          <a:noFill/>
        </p:spPr>
        <p:txBody>
          <a:bodyPr wrap="square" anchor="t" lIns="38100" rIns="38100" tIns="25400" bIns="25400">
            <a:spAutoFit/>
          </a:bodyPr>
          <a:lstStyle/>
          <a:p>
            <a:pPr algn="ctr">
              <a:lnSpc>
                <a:spcPct val="106000"/>
              </a:lnSpc>
              <a:spcBef>
                <a:spcPts val="0"/>
              </a:spcBef>
              <a:spcAft>
                <a:spcPts val="200"/>
              </a:spcAft>
            </a:pPr>
            <a:r>
              <a:rPr sz="2200" b="1" i="0">
                <a:solidFill>
                  <a:srgbClr val="157355"/>
                </a:solidFill>
                <a:latin typeface="Bricolage Grotesque"/>
              </a:rPr>
              <a:t>se levantan</a:t>
            </a:r>
          </a:p>
        </p:txBody>
      </p:sp>
      <p:sp>
        <p:nvSpPr>
          <p:cNvPr id="27" name="Rounded Rectangle 26"/>
          <p:cNvSpPr/>
          <p:nvPr/>
        </p:nvSpPr>
        <p:spPr>
          <a:xfrm>
            <a:off x="457200" y="6053328"/>
            <a:ext cx="2093976" cy="365760"/>
          </a:xfrm>
          <a:prstGeom prst="roundRect">
            <a:avLst>
              <a:gd name="adj" fmla="val 50000"/>
            </a:avLst>
          </a:prstGeom>
          <a:solidFill>
            <a:srgbClr val="1E9E74"/>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28" name="Rounded Rectangle 27"/>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Saltar</a:t>
            </a:r>
          </a:p>
        </p:txBody>
      </p:sp>
      <p:sp>
        <p:nvSpPr>
          <p:cNvPr id="29" name="Rounded Rectangle 28">
            <a:hlinkClick action="ppaction://hlinksldjump" r:id="rId3"/>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Menú (dia 2)</a:t>
            </a:r>
          </a:p>
        </p:txBody>
      </p:sp>
      <p:sp>
        <p:nvSpPr>
          <p:cNvPr id="30" name="TextBox 29"/>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Noodroute (§5): werkt zonder audio/internet</a:t>
            </a:r>
          </a:p>
        </p:txBody>
      </p:sp>
      <p:sp>
        <p:nvSpPr>
          <p:cNvPr id="31" name="Rounded Rectangle 30"/>
          <p:cNvSpPr/>
          <p:nvPr/>
        </p:nvSpPr>
        <p:spPr>
          <a:xfrm>
            <a:off x="457200" y="5029200"/>
            <a:ext cx="11247120" cy="822960"/>
          </a:xfrm>
          <a:prstGeom prst="roundRect">
            <a:avLst>
              <a:gd name="adj" fmla="val 6000"/>
            </a:avLst>
          </a:prstGeom>
          <a:solidFill>
            <a:srgbClr val="E4F4EE"/>
          </a:solidFill>
          <a:ln w="1905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DC2626"/>
                </a:solidFill>
                <a:latin typeface="Inter"/>
              </a:rPr>
              <a:t>🔴 Het pronombre staat VÓÓR het werkwoord: </a:t>
            </a:r>
            <a:r>
              <a:rPr sz="1200" b="1" i="0">
                <a:solidFill>
                  <a:srgbClr val="157355"/>
                </a:solidFill>
                <a:latin typeface="Inter"/>
              </a:rPr>
              <a:t>me levanto</a:t>
            </a:r>
            <a:r>
              <a:rPr sz="1200" b="0" i="0">
                <a:solidFill>
                  <a:srgbClr val="157355"/>
                </a:solidFill>
                <a:latin typeface="Inter"/>
              </a:rPr>
              <a:t> (niet «levanto me»). Het werkwoord vervoeg je gewoon.</a:t>
            </a:r>
          </a:p>
          <a:p>
            <a:pPr>
              <a:lnSpc>
                <a:spcPct val="102000"/>
              </a:lnSpc>
              <a:spcBef>
                <a:spcPts val="0"/>
              </a:spcBef>
              <a:spcAft>
                <a:spcPts val="300"/>
              </a:spcAft>
            </a:pPr>
            <a:r>
              <a:rPr sz="1200" b="0" i="0">
                <a:solidFill>
                  <a:srgbClr val="157355"/>
                </a:solidFill>
                <a:latin typeface="Inter"/>
              </a:rPr>
              <a:t>me/te/se/nos/os/se — past bij de persoon. Zo ook: me ducho, se acuesta (o→ue), me visto (e→i).</a:t>
            </a:r>
          </a:p>
        </p:txBody>
      </p:sp>
      <p:sp>
        <p:nvSpPr>
          <p:cNvPr id="32" name="Rounded Rectangle 31"/>
          <p:cNvSpPr/>
          <p:nvPr/>
        </p:nvSpPr>
        <p:spPr>
          <a:xfrm>
            <a:off x="594360" y="4901184"/>
            <a:ext cx="1548993" cy="292608"/>
          </a:xfrm>
          <a:prstGeom prst="roundRect">
            <a:avLst>
              <a:gd name="adj" fmla="val 50000"/>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 · docent</a:t>
            </a:r>
          </a:p>
        </p:txBody>
      </p:sp>
      <p:sp>
        <p:nvSpPr>
          <p:cNvPr id="33" name="Rectangle 32"/>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35" name="TextBox 34"/>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36" name="TextBox 35"/>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875995"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E9E74"/>
                </a:solidFill>
                <a:latin typeface="Inter"/>
              </a:rPr>
              <a:t>§2 · QUIZ</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2</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¿Reflexivo o no?</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4F4EE"/>
                </a:solidFill>
                <a:latin typeface="Inter"/>
              </a:rPr>
              <a:t>Klik een werkwoord → reflexief of niet? Let op het pronombre.</a:t>
            </a:r>
          </a:p>
        </p:txBody>
      </p:sp>
      <p:sp>
        <p:nvSpPr>
          <p:cNvPr id="9" name="Rounded Rectangle 8"/>
          <p:cNvSpPr/>
          <p:nvPr/>
        </p:nvSpPr>
        <p:spPr>
          <a:xfrm>
            <a:off x="457200" y="1554480"/>
            <a:ext cx="5532120" cy="65836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54480"/>
            <a:ext cx="237744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levantarse</a:t>
            </a:r>
          </a:p>
        </p:txBody>
      </p:sp>
      <p:sp>
        <p:nvSpPr>
          <p:cNvPr id="11" name="TextBox 10"/>
          <p:cNvSpPr txBox="1"/>
          <p:nvPr/>
        </p:nvSpPr>
        <p:spPr>
          <a:xfrm>
            <a:off x="3017520" y="1554480"/>
            <a:ext cx="283464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7C3AED"/>
                </a:solidFill>
                <a:latin typeface="Inter"/>
              </a:rPr>
              <a:t>reflexivo · me levanto</a:t>
            </a:r>
          </a:p>
        </p:txBody>
      </p:sp>
      <p:sp>
        <p:nvSpPr>
          <p:cNvPr id="12" name="Rounded Rectangle 11"/>
          <p:cNvSpPr/>
          <p:nvPr/>
        </p:nvSpPr>
        <p:spPr>
          <a:xfrm>
            <a:off x="457200" y="2359152"/>
            <a:ext cx="5532120" cy="65836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359152"/>
            <a:ext cx="237744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desayunar</a:t>
            </a:r>
          </a:p>
        </p:txBody>
      </p:sp>
      <p:sp>
        <p:nvSpPr>
          <p:cNvPr id="14" name="TextBox 13"/>
          <p:cNvSpPr txBox="1"/>
          <p:nvPr/>
        </p:nvSpPr>
        <p:spPr>
          <a:xfrm>
            <a:off x="3017520" y="2359152"/>
            <a:ext cx="283464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1E9E74"/>
                </a:solidFill>
                <a:latin typeface="Inter"/>
              </a:rPr>
              <a:t>no · desayuno</a:t>
            </a:r>
          </a:p>
        </p:txBody>
      </p:sp>
      <p:sp>
        <p:nvSpPr>
          <p:cNvPr id="15" name="Rounded Rectangle 14"/>
          <p:cNvSpPr/>
          <p:nvPr/>
        </p:nvSpPr>
        <p:spPr>
          <a:xfrm>
            <a:off x="457200" y="3163824"/>
            <a:ext cx="5532120" cy="65836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163824"/>
            <a:ext cx="237744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ducharse</a:t>
            </a:r>
          </a:p>
        </p:txBody>
      </p:sp>
      <p:sp>
        <p:nvSpPr>
          <p:cNvPr id="17" name="TextBox 16"/>
          <p:cNvSpPr txBox="1"/>
          <p:nvPr/>
        </p:nvSpPr>
        <p:spPr>
          <a:xfrm>
            <a:off x="3017520" y="3163824"/>
            <a:ext cx="283464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7C3AED"/>
                </a:solidFill>
                <a:latin typeface="Inter"/>
              </a:rPr>
              <a:t>reflexivo · me ducho</a:t>
            </a:r>
          </a:p>
        </p:txBody>
      </p:sp>
      <p:sp>
        <p:nvSpPr>
          <p:cNvPr id="18" name="Rounded Rectangle 17"/>
          <p:cNvSpPr/>
          <p:nvPr/>
        </p:nvSpPr>
        <p:spPr>
          <a:xfrm>
            <a:off x="6172200" y="1554480"/>
            <a:ext cx="5532120" cy="65836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1554480"/>
            <a:ext cx="237744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cenar</a:t>
            </a:r>
          </a:p>
        </p:txBody>
      </p:sp>
      <p:sp>
        <p:nvSpPr>
          <p:cNvPr id="20" name="TextBox 19"/>
          <p:cNvSpPr txBox="1"/>
          <p:nvPr/>
        </p:nvSpPr>
        <p:spPr>
          <a:xfrm>
            <a:off x="8732520" y="1554480"/>
            <a:ext cx="283464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1E9E74"/>
                </a:solidFill>
                <a:latin typeface="Inter"/>
              </a:rPr>
              <a:t>no · ceno</a:t>
            </a:r>
          </a:p>
        </p:txBody>
      </p:sp>
      <p:sp>
        <p:nvSpPr>
          <p:cNvPr id="21" name="Rounded Rectangle 20"/>
          <p:cNvSpPr/>
          <p:nvPr/>
        </p:nvSpPr>
        <p:spPr>
          <a:xfrm>
            <a:off x="6172200" y="2359152"/>
            <a:ext cx="5532120" cy="65836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2359152"/>
            <a:ext cx="237744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acostarse</a:t>
            </a:r>
          </a:p>
        </p:txBody>
      </p:sp>
      <p:sp>
        <p:nvSpPr>
          <p:cNvPr id="23" name="TextBox 22"/>
          <p:cNvSpPr txBox="1"/>
          <p:nvPr/>
        </p:nvSpPr>
        <p:spPr>
          <a:xfrm>
            <a:off x="8732520" y="2359152"/>
            <a:ext cx="283464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7C3AED"/>
                </a:solidFill>
                <a:latin typeface="Inter"/>
              </a:rPr>
              <a:t>reflexivo · me acuesto</a:t>
            </a:r>
          </a:p>
        </p:txBody>
      </p:sp>
      <p:sp>
        <p:nvSpPr>
          <p:cNvPr id="24" name="Rounded Rectangle 23"/>
          <p:cNvSpPr/>
          <p:nvPr/>
        </p:nvSpPr>
        <p:spPr>
          <a:xfrm>
            <a:off x="6172200" y="3163824"/>
            <a:ext cx="5532120" cy="65836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3163824"/>
            <a:ext cx="237744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hacer los deberes</a:t>
            </a:r>
          </a:p>
        </p:txBody>
      </p:sp>
      <p:sp>
        <p:nvSpPr>
          <p:cNvPr id="26" name="TextBox 25"/>
          <p:cNvSpPr txBox="1"/>
          <p:nvPr/>
        </p:nvSpPr>
        <p:spPr>
          <a:xfrm>
            <a:off x="8732520" y="3163824"/>
            <a:ext cx="2834640" cy="65836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1E9E74"/>
                </a:solidFill>
                <a:latin typeface="Inter"/>
              </a:rPr>
              <a:t>no · hago</a:t>
            </a:r>
          </a:p>
        </p:txBody>
      </p:sp>
      <p:sp>
        <p:nvSpPr>
          <p:cNvPr id="27" name="Rounded Rectangle 26"/>
          <p:cNvSpPr/>
          <p:nvPr/>
        </p:nvSpPr>
        <p:spPr>
          <a:xfrm>
            <a:off x="457200" y="6053328"/>
            <a:ext cx="2093976" cy="365760"/>
          </a:xfrm>
          <a:prstGeom prst="roundRect">
            <a:avLst>
              <a:gd name="adj" fmla="val 50000"/>
            </a:avLst>
          </a:prstGeom>
          <a:solidFill>
            <a:srgbClr val="1E9E74"/>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28" name="Rounded Rectangle 27"/>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Saltar</a:t>
            </a:r>
          </a:p>
        </p:txBody>
      </p:sp>
      <p:sp>
        <p:nvSpPr>
          <p:cNvPr id="29" name="Rounded Rectangle 28">
            <a:hlinkClick action="ppaction://hlinksldjump" r:id="rId3"/>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Menú (dia 2)</a:t>
            </a:r>
          </a:p>
        </p:txBody>
      </p:sp>
      <p:sp>
        <p:nvSpPr>
          <p:cNvPr id="30" name="TextBox 29"/>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Noodroute (§5): werkt zonder audio/internet</a:t>
            </a:r>
          </a:p>
        </p:txBody>
      </p:sp>
      <p:sp>
        <p:nvSpPr>
          <p:cNvPr id="31" name="Rounded Rectangle 30"/>
          <p:cNvSpPr/>
          <p:nvPr/>
        </p:nvSpPr>
        <p:spPr>
          <a:xfrm>
            <a:off x="457200" y="4480560"/>
            <a:ext cx="11247120" cy="640080"/>
          </a:xfrm>
          <a:prstGeom prst="roundRect">
            <a:avLst>
              <a:gd name="adj" fmla="val 6000"/>
            </a:avLst>
          </a:prstGeom>
          <a:solidFill>
            <a:srgbClr val="E4F4EE"/>
          </a:solidFill>
          <a:ln w="1905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157355"/>
                </a:solidFill>
                <a:latin typeface="Inter"/>
              </a:rPr>
              <a:t>Reflexivo = una acción sobre ti mismo (me/te/se): </a:t>
            </a:r>
            <a:r>
              <a:rPr sz="1200" b="0" i="0">
                <a:solidFill>
                  <a:srgbClr val="157355"/>
                </a:solidFill>
                <a:latin typeface="Inter"/>
              </a:rPr>
              <a:t>levantarse, ducharse, vestirse, acostarse, despertarse, peinarse, lavarse.</a:t>
            </a:r>
          </a:p>
        </p:txBody>
      </p:sp>
      <p:sp>
        <p:nvSpPr>
          <p:cNvPr id="32" name="Rounded Rectangle 31"/>
          <p:cNvSpPr/>
          <p:nvPr/>
        </p:nvSpPr>
        <p:spPr>
          <a:xfrm>
            <a:off x="594360" y="4352544"/>
            <a:ext cx="1548993" cy="292608"/>
          </a:xfrm>
          <a:prstGeom prst="roundRect">
            <a:avLst>
              <a:gd name="adj" fmla="val 50000"/>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 · docent</a:t>
            </a:r>
          </a:p>
        </p:txBody>
      </p:sp>
      <p:sp>
        <p:nvSpPr>
          <p:cNvPr id="33" name="Rectangle 32"/>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35" name="TextBox 34"/>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36" name="TextBox 35"/>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296619"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E9E74"/>
                </a:solidFill>
                <a:latin typeface="Inter"/>
              </a:rPr>
              <a:t>§3 · GRAMÁTICA</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3</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Presente irregular · o → ue</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4F4EE"/>
                </a:solidFill>
                <a:latin typeface="Inter"/>
              </a:rPr>
              <a:t>Klik een cel → de vorm. De vocal wordt UE… behalve nosotros/vosotros («la bota»).</a:t>
            </a:r>
          </a:p>
        </p:txBody>
      </p:sp>
      <p:sp>
        <p:nvSpPr>
          <p:cNvPr id="9" name="Rounded Rectangle 8"/>
          <p:cNvSpPr/>
          <p:nvPr/>
        </p:nvSpPr>
        <p:spPr>
          <a:xfrm>
            <a:off x="2194560" y="1554480"/>
            <a:ext cx="3383280" cy="457200"/>
          </a:xfrm>
          <a:prstGeom prst="roundRect">
            <a:avLst>
              <a:gd name="adj" fmla="val 5500"/>
            </a:avLst>
          </a:prstGeom>
          <a:solidFill>
            <a:srgbClr val="1E9E74"/>
          </a:solidFill>
          <a:ln>
            <a:no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4560" y="1554480"/>
            <a:ext cx="3383280" cy="45720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FFFFFF"/>
                </a:solidFill>
                <a:latin typeface="Bricolage Grotesque"/>
              </a:rPr>
              <a:t>poder</a:t>
            </a:r>
          </a:p>
        </p:txBody>
      </p:sp>
      <p:sp>
        <p:nvSpPr>
          <p:cNvPr id="11" name="Rounded Rectangle 10"/>
          <p:cNvSpPr/>
          <p:nvPr/>
        </p:nvSpPr>
        <p:spPr>
          <a:xfrm>
            <a:off x="5760720" y="1554480"/>
            <a:ext cx="3383280" cy="457200"/>
          </a:xfrm>
          <a:prstGeom prst="roundRect">
            <a:avLst>
              <a:gd name="adj" fmla="val 5500"/>
            </a:avLst>
          </a:prstGeom>
          <a:solidFill>
            <a:srgbClr val="1E9E74"/>
          </a:solidFill>
          <a:ln>
            <a:no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554480"/>
            <a:ext cx="3383280" cy="45720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FFFFFF"/>
                </a:solidFill>
                <a:latin typeface="Bricolage Grotesque"/>
              </a:rPr>
              <a:t>dormir</a:t>
            </a:r>
          </a:p>
        </p:txBody>
      </p:sp>
      <p:sp>
        <p:nvSpPr>
          <p:cNvPr id="13" name="Rounded Rectangle 12"/>
          <p:cNvSpPr/>
          <p:nvPr/>
        </p:nvSpPr>
        <p:spPr>
          <a:xfrm>
            <a:off x="9326880" y="1554480"/>
            <a:ext cx="3383280" cy="457200"/>
          </a:xfrm>
          <a:prstGeom prst="roundRect">
            <a:avLst>
              <a:gd name="adj" fmla="val 5500"/>
            </a:avLst>
          </a:prstGeom>
          <a:solidFill>
            <a:srgbClr val="1E9E74"/>
          </a:solidFill>
          <a:ln>
            <a:no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0" y="1554480"/>
            <a:ext cx="3383280" cy="45720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FFFFFF"/>
                </a:solidFill>
                <a:latin typeface="Bricolage Grotesque"/>
              </a:rPr>
              <a:t>volver</a:t>
            </a:r>
          </a:p>
        </p:txBody>
      </p:sp>
      <p:sp>
        <p:nvSpPr>
          <p:cNvPr id="15" name="TextBox 14"/>
          <p:cNvSpPr txBox="1"/>
          <p:nvPr/>
        </p:nvSpPr>
        <p:spPr>
          <a:xfrm>
            <a:off x="640080" y="2103120"/>
            <a:ext cx="14630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6A6E78"/>
                </a:solidFill>
                <a:latin typeface="Inter"/>
              </a:rPr>
              <a:t>yo</a:t>
            </a:r>
          </a:p>
        </p:txBody>
      </p:sp>
      <p:sp>
        <p:nvSpPr>
          <p:cNvPr id="16" name="Rounded Rectangle 15"/>
          <p:cNvSpPr/>
          <p:nvPr/>
        </p:nvSpPr>
        <p:spPr>
          <a:xfrm>
            <a:off x="2194560" y="210312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210312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puedo</a:t>
            </a:r>
          </a:p>
        </p:txBody>
      </p:sp>
      <p:sp>
        <p:nvSpPr>
          <p:cNvPr id="18" name="Rounded Rectangle 17"/>
          <p:cNvSpPr/>
          <p:nvPr/>
        </p:nvSpPr>
        <p:spPr>
          <a:xfrm>
            <a:off x="5760720" y="210312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60720" y="210312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duermo</a:t>
            </a:r>
          </a:p>
        </p:txBody>
      </p:sp>
      <p:sp>
        <p:nvSpPr>
          <p:cNvPr id="20" name="Rounded Rectangle 19"/>
          <p:cNvSpPr/>
          <p:nvPr/>
        </p:nvSpPr>
        <p:spPr>
          <a:xfrm>
            <a:off x="9326880" y="210312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0" y="210312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vuelvo</a:t>
            </a:r>
          </a:p>
        </p:txBody>
      </p:sp>
      <p:sp>
        <p:nvSpPr>
          <p:cNvPr id="22" name="TextBox 21"/>
          <p:cNvSpPr txBox="1"/>
          <p:nvPr/>
        </p:nvSpPr>
        <p:spPr>
          <a:xfrm>
            <a:off x="640080" y="2651760"/>
            <a:ext cx="14630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6A6E78"/>
                </a:solidFill>
                <a:latin typeface="Inter"/>
              </a:rPr>
              <a:t>tú</a:t>
            </a:r>
          </a:p>
        </p:txBody>
      </p:sp>
      <p:sp>
        <p:nvSpPr>
          <p:cNvPr id="23" name="Rounded Rectangle 22"/>
          <p:cNvSpPr/>
          <p:nvPr/>
        </p:nvSpPr>
        <p:spPr>
          <a:xfrm>
            <a:off x="2194560" y="265176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65176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puedes</a:t>
            </a:r>
          </a:p>
        </p:txBody>
      </p:sp>
      <p:sp>
        <p:nvSpPr>
          <p:cNvPr id="25" name="Rounded Rectangle 24"/>
          <p:cNvSpPr/>
          <p:nvPr/>
        </p:nvSpPr>
        <p:spPr>
          <a:xfrm>
            <a:off x="5760720" y="265176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60720" y="265176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duermes</a:t>
            </a:r>
          </a:p>
        </p:txBody>
      </p:sp>
      <p:sp>
        <p:nvSpPr>
          <p:cNvPr id="27" name="Rounded Rectangle 26"/>
          <p:cNvSpPr/>
          <p:nvPr/>
        </p:nvSpPr>
        <p:spPr>
          <a:xfrm>
            <a:off x="9326880" y="265176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265176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vuelves</a:t>
            </a:r>
          </a:p>
        </p:txBody>
      </p:sp>
      <p:sp>
        <p:nvSpPr>
          <p:cNvPr id="29" name="TextBox 28"/>
          <p:cNvSpPr txBox="1"/>
          <p:nvPr/>
        </p:nvSpPr>
        <p:spPr>
          <a:xfrm>
            <a:off x="640080" y="3200400"/>
            <a:ext cx="14630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6A6E78"/>
                </a:solidFill>
                <a:latin typeface="Inter"/>
              </a:rPr>
              <a:t>él/ella</a:t>
            </a:r>
          </a:p>
        </p:txBody>
      </p:sp>
      <p:sp>
        <p:nvSpPr>
          <p:cNvPr id="30" name="Rounded Rectangle 29"/>
          <p:cNvSpPr/>
          <p:nvPr/>
        </p:nvSpPr>
        <p:spPr>
          <a:xfrm>
            <a:off x="2194560" y="320040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194560" y="320040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puede</a:t>
            </a:r>
          </a:p>
        </p:txBody>
      </p:sp>
      <p:sp>
        <p:nvSpPr>
          <p:cNvPr id="32" name="Rounded Rectangle 31"/>
          <p:cNvSpPr/>
          <p:nvPr/>
        </p:nvSpPr>
        <p:spPr>
          <a:xfrm>
            <a:off x="5760720" y="320040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60720" y="320040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duerme</a:t>
            </a:r>
          </a:p>
        </p:txBody>
      </p:sp>
      <p:sp>
        <p:nvSpPr>
          <p:cNvPr id="34" name="Rounded Rectangle 33"/>
          <p:cNvSpPr/>
          <p:nvPr/>
        </p:nvSpPr>
        <p:spPr>
          <a:xfrm>
            <a:off x="9326880" y="320040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26880" y="320040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vuelve</a:t>
            </a:r>
          </a:p>
        </p:txBody>
      </p:sp>
      <p:sp>
        <p:nvSpPr>
          <p:cNvPr id="36" name="TextBox 35"/>
          <p:cNvSpPr txBox="1"/>
          <p:nvPr/>
        </p:nvSpPr>
        <p:spPr>
          <a:xfrm>
            <a:off x="640080" y="3749040"/>
            <a:ext cx="14630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6A6E78"/>
                </a:solidFill>
                <a:latin typeface="Inter"/>
              </a:rPr>
              <a:t>nosotros</a:t>
            </a:r>
          </a:p>
        </p:txBody>
      </p:sp>
      <p:sp>
        <p:nvSpPr>
          <p:cNvPr id="37" name="Rounded Rectangle 36"/>
          <p:cNvSpPr/>
          <p:nvPr/>
        </p:nvSpPr>
        <p:spPr>
          <a:xfrm>
            <a:off x="2194560" y="374904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94560" y="374904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podemos</a:t>
            </a:r>
          </a:p>
        </p:txBody>
      </p:sp>
      <p:sp>
        <p:nvSpPr>
          <p:cNvPr id="39" name="Rounded Rectangle 38"/>
          <p:cNvSpPr/>
          <p:nvPr/>
        </p:nvSpPr>
        <p:spPr>
          <a:xfrm>
            <a:off x="5760720" y="374904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760720" y="374904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dormimos</a:t>
            </a:r>
          </a:p>
        </p:txBody>
      </p:sp>
      <p:sp>
        <p:nvSpPr>
          <p:cNvPr id="41" name="Rounded Rectangle 40"/>
          <p:cNvSpPr/>
          <p:nvPr/>
        </p:nvSpPr>
        <p:spPr>
          <a:xfrm>
            <a:off x="9326880" y="374904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26880" y="374904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volvemos</a:t>
            </a:r>
          </a:p>
        </p:txBody>
      </p:sp>
      <p:sp>
        <p:nvSpPr>
          <p:cNvPr id="43" name="TextBox 42"/>
          <p:cNvSpPr txBox="1"/>
          <p:nvPr/>
        </p:nvSpPr>
        <p:spPr>
          <a:xfrm>
            <a:off x="640080" y="4297680"/>
            <a:ext cx="14630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6A6E78"/>
                </a:solidFill>
                <a:latin typeface="Inter"/>
              </a:rPr>
              <a:t>vosotros</a:t>
            </a:r>
          </a:p>
        </p:txBody>
      </p:sp>
      <p:sp>
        <p:nvSpPr>
          <p:cNvPr id="44" name="Rounded Rectangle 43"/>
          <p:cNvSpPr/>
          <p:nvPr/>
        </p:nvSpPr>
        <p:spPr>
          <a:xfrm>
            <a:off x="2194560" y="429768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194560" y="429768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podéis</a:t>
            </a:r>
          </a:p>
        </p:txBody>
      </p:sp>
      <p:sp>
        <p:nvSpPr>
          <p:cNvPr id="46" name="Rounded Rectangle 45"/>
          <p:cNvSpPr/>
          <p:nvPr/>
        </p:nvSpPr>
        <p:spPr>
          <a:xfrm>
            <a:off x="5760720" y="429768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60720" y="429768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dormís</a:t>
            </a:r>
          </a:p>
        </p:txBody>
      </p:sp>
      <p:sp>
        <p:nvSpPr>
          <p:cNvPr id="48" name="Rounded Rectangle 47"/>
          <p:cNvSpPr/>
          <p:nvPr/>
        </p:nvSpPr>
        <p:spPr>
          <a:xfrm>
            <a:off x="9326880" y="429768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26880" y="429768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volvéis</a:t>
            </a:r>
          </a:p>
        </p:txBody>
      </p:sp>
      <p:sp>
        <p:nvSpPr>
          <p:cNvPr id="50" name="TextBox 49"/>
          <p:cNvSpPr txBox="1"/>
          <p:nvPr/>
        </p:nvSpPr>
        <p:spPr>
          <a:xfrm>
            <a:off x="640080" y="4846320"/>
            <a:ext cx="14630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6A6E78"/>
                </a:solidFill>
                <a:latin typeface="Inter"/>
              </a:rPr>
              <a:t>ellos</a:t>
            </a:r>
          </a:p>
        </p:txBody>
      </p:sp>
      <p:sp>
        <p:nvSpPr>
          <p:cNvPr id="51" name="Rounded Rectangle 50"/>
          <p:cNvSpPr/>
          <p:nvPr/>
        </p:nvSpPr>
        <p:spPr>
          <a:xfrm>
            <a:off x="2194560" y="484632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194560" y="484632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pueden</a:t>
            </a:r>
          </a:p>
        </p:txBody>
      </p:sp>
      <p:sp>
        <p:nvSpPr>
          <p:cNvPr id="53" name="Rounded Rectangle 52"/>
          <p:cNvSpPr/>
          <p:nvPr/>
        </p:nvSpPr>
        <p:spPr>
          <a:xfrm>
            <a:off x="5760720" y="484632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760720" y="484632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duermen</a:t>
            </a:r>
          </a:p>
        </p:txBody>
      </p:sp>
      <p:sp>
        <p:nvSpPr>
          <p:cNvPr id="55" name="Rounded Rectangle 54"/>
          <p:cNvSpPr/>
          <p:nvPr/>
        </p:nvSpPr>
        <p:spPr>
          <a:xfrm>
            <a:off x="9326880" y="484632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326880" y="484632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vuelven</a:t>
            </a:r>
          </a:p>
        </p:txBody>
      </p:sp>
      <p:sp>
        <p:nvSpPr>
          <p:cNvPr id="57" name="Rounded Rectangle 56"/>
          <p:cNvSpPr/>
          <p:nvPr/>
        </p:nvSpPr>
        <p:spPr>
          <a:xfrm>
            <a:off x="457200" y="6053328"/>
            <a:ext cx="2093976" cy="365760"/>
          </a:xfrm>
          <a:prstGeom prst="roundRect">
            <a:avLst>
              <a:gd name="adj" fmla="val 50000"/>
            </a:avLst>
          </a:prstGeom>
          <a:solidFill>
            <a:srgbClr val="1E9E74"/>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58" name="Rounded Rectangle 57"/>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Saltar</a:t>
            </a:r>
          </a:p>
        </p:txBody>
      </p:sp>
      <p:sp>
        <p:nvSpPr>
          <p:cNvPr id="59" name="Rounded Rectangle 58">
            <a:hlinkClick action="ppaction://hlinksldjump" r:id="rId3"/>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Menú (dia 2)</a:t>
            </a:r>
          </a:p>
        </p:txBody>
      </p:sp>
      <p:sp>
        <p:nvSpPr>
          <p:cNvPr id="60" name="TextBox 59"/>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Noodroute (§5): werkt zonder audio/internet</a:t>
            </a:r>
          </a:p>
        </p:txBody>
      </p:sp>
      <p:sp>
        <p:nvSpPr>
          <p:cNvPr id="61" name="Rounded Rectangle 60"/>
          <p:cNvSpPr/>
          <p:nvPr/>
        </p:nvSpPr>
        <p:spPr>
          <a:xfrm>
            <a:off x="457200" y="5486400"/>
            <a:ext cx="11247120" cy="502920"/>
          </a:xfrm>
          <a:prstGeom prst="roundRect">
            <a:avLst>
              <a:gd name="adj" fmla="val 6000"/>
            </a:avLst>
          </a:prstGeom>
          <a:solidFill>
            <a:srgbClr val="E4F4EE"/>
          </a:solidFill>
          <a:ln w="1905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157355"/>
                </a:solidFill>
                <a:latin typeface="Inter"/>
              </a:rPr>
              <a:t>De vocal o→ue in álle vormen BEHALVE nosotros/vosotros </a:t>
            </a:r>
            <a:r>
              <a:rPr sz="1200" b="0" i="0">
                <a:solidFill>
                  <a:srgbClr val="157355"/>
                </a:solidFill>
                <a:latin typeface="Inter"/>
              </a:rPr>
              <a:t>(podemos, dormimos). Zo ook: acostarse→me acuesto, almorzar→almuerzo, jugar→juego (u→ue).</a:t>
            </a:r>
          </a:p>
        </p:txBody>
      </p:sp>
      <p:sp>
        <p:nvSpPr>
          <p:cNvPr id="62" name="Rounded Rectangle 61"/>
          <p:cNvSpPr/>
          <p:nvPr/>
        </p:nvSpPr>
        <p:spPr>
          <a:xfrm>
            <a:off x="594360" y="5358384"/>
            <a:ext cx="1548993" cy="292608"/>
          </a:xfrm>
          <a:prstGeom prst="roundRect">
            <a:avLst>
              <a:gd name="adj" fmla="val 50000"/>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 · docent</a:t>
            </a:r>
          </a:p>
        </p:txBody>
      </p:sp>
      <p:sp>
        <p:nvSpPr>
          <p:cNvPr id="63" name="Rectangle 62"/>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65" name="TextBox 64"/>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66" name="TextBox 65"/>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500"/>
                                        <p:tgtEl>
                                          <p:spTgt spid="3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5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fade">
                                      <p:cBhvr>
                                        <p:cTn id="52" dur="500"/>
                                        <p:tgtEl>
                                          <p:spTgt spid="3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500"/>
                                        <p:tgtEl>
                                          <p:spTgt spid="40"/>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2"/>
                                        </p:tgtEl>
                                        <p:attrNameLst>
                                          <p:attrName>style.visibility</p:attrName>
                                        </p:attrNameLst>
                                      </p:cBhvr>
                                      <p:to>
                                        <p:strVal val="visible"/>
                                      </p:to>
                                    </p:set>
                                    <p:animEffect transition="in" filter="fade">
                                      <p:cBhvr>
                                        <p:cTn id="62" dur="500"/>
                                        <p:tgtEl>
                                          <p:spTgt spid="4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500"/>
                                        <p:tgtEl>
                                          <p:spTgt spid="4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7"/>
                                        </p:tgtEl>
                                        <p:attrNameLst>
                                          <p:attrName>style.visibility</p:attrName>
                                        </p:attrNameLst>
                                      </p:cBhvr>
                                      <p:to>
                                        <p:strVal val="visible"/>
                                      </p:to>
                                    </p:set>
                                    <p:animEffect transition="in" filter="fade">
                                      <p:cBhvr>
                                        <p:cTn id="72" dur="500"/>
                                        <p:tgtEl>
                                          <p:spTgt spid="47"/>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fade">
                                      <p:cBhvr>
                                        <p:cTn id="77" dur="500"/>
                                        <p:tgtEl>
                                          <p:spTgt spid="4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52"/>
                                        </p:tgtEl>
                                        <p:attrNameLst>
                                          <p:attrName>style.visibility</p:attrName>
                                        </p:attrNameLst>
                                      </p:cBhvr>
                                      <p:to>
                                        <p:strVal val="visible"/>
                                      </p:to>
                                    </p:set>
                                    <p:animEffect transition="in" filter="fade">
                                      <p:cBhvr>
                                        <p:cTn id="82" dur="500"/>
                                        <p:tgtEl>
                                          <p:spTgt spid="52"/>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54"/>
                                        </p:tgtEl>
                                        <p:attrNameLst>
                                          <p:attrName>style.visibility</p:attrName>
                                        </p:attrNameLst>
                                      </p:cBhvr>
                                      <p:to>
                                        <p:strVal val="visible"/>
                                      </p:to>
                                    </p:set>
                                    <p:animEffect transition="in" filter="fade">
                                      <p:cBhvr>
                                        <p:cTn id="87" dur="500"/>
                                        <p:tgtEl>
                                          <p:spTgt spid="54"/>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56"/>
                                        </p:tgtEl>
                                        <p:attrNameLst>
                                          <p:attrName>style.visibility</p:attrName>
                                        </p:attrNameLst>
                                      </p:cBhvr>
                                      <p:to>
                                        <p:strVal val="visible"/>
                                      </p:to>
                                    </p:set>
                                    <p:animEffect transition="in" filter="fade">
                                      <p:cBhvr>
                                        <p:cTn id="92" dur="500"/>
                                        <p:tgtEl>
                                          <p:spTgt spid="56"/>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61"/>
                                        </p:tgtEl>
                                        <p:attrNameLst>
                                          <p:attrName>style.visibility</p:attrName>
                                        </p:attrNameLst>
                                      </p:cBhvr>
                                      <p:to>
                                        <p:strVal val="visible"/>
                                      </p:to>
                                    </p:set>
                                    <p:animEffect transition="in" filter="fade">
                                      <p:cBhvr>
                                        <p:cTn id="97" dur="500"/>
                                        <p:tgtEl>
                                          <p:spTgt spid="61"/>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62"/>
                                        </p:tgtEl>
                                        <p:attrNameLst>
                                          <p:attrName>style.visibility</p:attrName>
                                        </p:attrNameLst>
                                      </p:cBhvr>
                                      <p:to>
                                        <p:strVal val="visible"/>
                                      </p:to>
                                    </p:set>
                                    <p:animEffect transition="in" filter="fade">
                                      <p:cBhvr>
                                        <p:cTn id="102"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296619"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E9E74"/>
                </a:solidFill>
                <a:latin typeface="Inter"/>
              </a:rPr>
              <a:t>§3 · GRAMÁTICA</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3</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Presente irregular · e→ie y e→i</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4F4EE"/>
                </a:solidFill>
                <a:latin typeface="Inter"/>
              </a:rPr>
              <a:t>Zelfde «bota». Klik een cel → de vorm verschijnt.</a:t>
            </a:r>
          </a:p>
        </p:txBody>
      </p:sp>
      <p:sp>
        <p:nvSpPr>
          <p:cNvPr id="9" name="Rounded Rectangle 8"/>
          <p:cNvSpPr/>
          <p:nvPr/>
        </p:nvSpPr>
        <p:spPr>
          <a:xfrm>
            <a:off x="2194560" y="1554480"/>
            <a:ext cx="3383280" cy="457200"/>
          </a:xfrm>
          <a:prstGeom prst="roundRect">
            <a:avLst>
              <a:gd name="adj" fmla="val 5500"/>
            </a:avLst>
          </a:prstGeom>
          <a:solidFill>
            <a:srgbClr val="1E9E74"/>
          </a:solidFill>
          <a:ln>
            <a:no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4560" y="1554480"/>
            <a:ext cx="3383280" cy="45720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200" b="1" i="0">
                <a:solidFill>
                  <a:srgbClr val="FFFFFF"/>
                </a:solidFill>
                <a:latin typeface="Bricolage Grotesque"/>
              </a:rPr>
              <a:t>empezar (e→ie)</a:t>
            </a:r>
          </a:p>
        </p:txBody>
      </p:sp>
      <p:sp>
        <p:nvSpPr>
          <p:cNvPr id="11" name="Rounded Rectangle 10"/>
          <p:cNvSpPr/>
          <p:nvPr/>
        </p:nvSpPr>
        <p:spPr>
          <a:xfrm>
            <a:off x="5760720" y="1554480"/>
            <a:ext cx="3383280" cy="457200"/>
          </a:xfrm>
          <a:prstGeom prst="roundRect">
            <a:avLst>
              <a:gd name="adj" fmla="val 5500"/>
            </a:avLst>
          </a:prstGeom>
          <a:solidFill>
            <a:srgbClr val="1E9E74"/>
          </a:solidFill>
          <a:ln>
            <a:no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554480"/>
            <a:ext cx="3383280" cy="45720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200" b="1" i="0">
                <a:solidFill>
                  <a:srgbClr val="FFFFFF"/>
                </a:solidFill>
                <a:latin typeface="Bricolage Grotesque"/>
              </a:rPr>
              <a:t>querer (e→ie)</a:t>
            </a:r>
          </a:p>
        </p:txBody>
      </p:sp>
      <p:sp>
        <p:nvSpPr>
          <p:cNvPr id="13" name="Rounded Rectangle 12"/>
          <p:cNvSpPr/>
          <p:nvPr/>
        </p:nvSpPr>
        <p:spPr>
          <a:xfrm>
            <a:off x="9326880" y="1554480"/>
            <a:ext cx="3383280" cy="457200"/>
          </a:xfrm>
          <a:prstGeom prst="roundRect">
            <a:avLst>
              <a:gd name="adj" fmla="val 5500"/>
            </a:avLst>
          </a:prstGeom>
          <a:solidFill>
            <a:srgbClr val="1E9E74"/>
          </a:solidFill>
          <a:ln>
            <a:no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0" y="1554480"/>
            <a:ext cx="3383280" cy="45720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200" b="1" i="0">
                <a:solidFill>
                  <a:srgbClr val="FFFFFF"/>
                </a:solidFill>
                <a:latin typeface="Bricolage Grotesque"/>
              </a:rPr>
              <a:t>pedir (e→i)</a:t>
            </a:r>
          </a:p>
        </p:txBody>
      </p:sp>
      <p:sp>
        <p:nvSpPr>
          <p:cNvPr id="15" name="TextBox 14"/>
          <p:cNvSpPr txBox="1"/>
          <p:nvPr/>
        </p:nvSpPr>
        <p:spPr>
          <a:xfrm>
            <a:off x="640080" y="2103120"/>
            <a:ext cx="14630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6A6E78"/>
                </a:solidFill>
                <a:latin typeface="Inter"/>
              </a:rPr>
              <a:t>yo</a:t>
            </a:r>
          </a:p>
        </p:txBody>
      </p:sp>
      <p:sp>
        <p:nvSpPr>
          <p:cNvPr id="16" name="Rounded Rectangle 15"/>
          <p:cNvSpPr/>
          <p:nvPr/>
        </p:nvSpPr>
        <p:spPr>
          <a:xfrm>
            <a:off x="2194560" y="210312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210312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empiezo</a:t>
            </a:r>
          </a:p>
        </p:txBody>
      </p:sp>
      <p:sp>
        <p:nvSpPr>
          <p:cNvPr id="18" name="Rounded Rectangle 17"/>
          <p:cNvSpPr/>
          <p:nvPr/>
        </p:nvSpPr>
        <p:spPr>
          <a:xfrm>
            <a:off x="5760720" y="210312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60720" y="210312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quiero</a:t>
            </a:r>
          </a:p>
        </p:txBody>
      </p:sp>
      <p:sp>
        <p:nvSpPr>
          <p:cNvPr id="20" name="Rounded Rectangle 19"/>
          <p:cNvSpPr/>
          <p:nvPr/>
        </p:nvSpPr>
        <p:spPr>
          <a:xfrm>
            <a:off x="9326880" y="210312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0" y="210312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pido</a:t>
            </a:r>
          </a:p>
        </p:txBody>
      </p:sp>
      <p:sp>
        <p:nvSpPr>
          <p:cNvPr id="22" name="TextBox 21"/>
          <p:cNvSpPr txBox="1"/>
          <p:nvPr/>
        </p:nvSpPr>
        <p:spPr>
          <a:xfrm>
            <a:off x="640080" y="2651760"/>
            <a:ext cx="14630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6A6E78"/>
                </a:solidFill>
                <a:latin typeface="Inter"/>
              </a:rPr>
              <a:t>tú</a:t>
            </a:r>
          </a:p>
        </p:txBody>
      </p:sp>
      <p:sp>
        <p:nvSpPr>
          <p:cNvPr id="23" name="Rounded Rectangle 22"/>
          <p:cNvSpPr/>
          <p:nvPr/>
        </p:nvSpPr>
        <p:spPr>
          <a:xfrm>
            <a:off x="2194560" y="265176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65176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empiezas</a:t>
            </a:r>
          </a:p>
        </p:txBody>
      </p:sp>
      <p:sp>
        <p:nvSpPr>
          <p:cNvPr id="25" name="Rounded Rectangle 24"/>
          <p:cNvSpPr/>
          <p:nvPr/>
        </p:nvSpPr>
        <p:spPr>
          <a:xfrm>
            <a:off x="5760720" y="265176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60720" y="265176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quieres</a:t>
            </a:r>
          </a:p>
        </p:txBody>
      </p:sp>
      <p:sp>
        <p:nvSpPr>
          <p:cNvPr id="27" name="Rounded Rectangle 26"/>
          <p:cNvSpPr/>
          <p:nvPr/>
        </p:nvSpPr>
        <p:spPr>
          <a:xfrm>
            <a:off x="9326880" y="265176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265176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pides</a:t>
            </a:r>
          </a:p>
        </p:txBody>
      </p:sp>
      <p:sp>
        <p:nvSpPr>
          <p:cNvPr id="29" name="TextBox 28"/>
          <p:cNvSpPr txBox="1"/>
          <p:nvPr/>
        </p:nvSpPr>
        <p:spPr>
          <a:xfrm>
            <a:off x="640080" y="3200400"/>
            <a:ext cx="14630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6A6E78"/>
                </a:solidFill>
                <a:latin typeface="Inter"/>
              </a:rPr>
              <a:t>él/ella</a:t>
            </a:r>
          </a:p>
        </p:txBody>
      </p:sp>
      <p:sp>
        <p:nvSpPr>
          <p:cNvPr id="30" name="Rounded Rectangle 29"/>
          <p:cNvSpPr/>
          <p:nvPr/>
        </p:nvSpPr>
        <p:spPr>
          <a:xfrm>
            <a:off x="2194560" y="320040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194560" y="320040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empieza</a:t>
            </a:r>
          </a:p>
        </p:txBody>
      </p:sp>
      <p:sp>
        <p:nvSpPr>
          <p:cNvPr id="32" name="Rounded Rectangle 31"/>
          <p:cNvSpPr/>
          <p:nvPr/>
        </p:nvSpPr>
        <p:spPr>
          <a:xfrm>
            <a:off x="5760720" y="320040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60720" y="320040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quiere</a:t>
            </a:r>
          </a:p>
        </p:txBody>
      </p:sp>
      <p:sp>
        <p:nvSpPr>
          <p:cNvPr id="34" name="Rounded Rectangle 33"/>
          <p:cNvSpPr/>
          <p:nvPr/>
        </p:nvSpPr>
        <p:spPr>
          <a:xfrm>
            <a:off x="9326880" y="320040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26880" y="320040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pide</a:t>
            </a:r>
          </a:p>
        </p:txBody>
      </p:sp>
      <p:sp>
        <p:nvSpPr>
          <p:cNvPr id="36" name="TextBox 35"/>
          <p:cNvSpPr txBox="1"/>
          <p:nvPr/>
        </p:nvSpPr>
        <p:spPr>
          <a:xfrm>
            <a:off x="640080" y="3749040"/>
            <a:ext cx="14630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6A6E78"/>
                </a:solidFill>
                <a:latin typeface="Inter"/>
              </a:rPr>
              <a:t>nosotros</a:t>
            </a:r>
          </a:p>
        </p:txBody>
      </p:sp>
      <p:sp>
        <p:nvSpPr>
          <p:cNvPr id="37" name="Rounded Rectangle 36"/>
          <p:cNvSpPr/>
          <p:nvPr/>
        </p:nvSpPr>
        <p:spPr>
          <a:xfrm>
            <a:off x="2194560" y="374904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94560" y="374904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empezamos</a:t>
            </a:r>
          </a:p>
        </p:txBody>
      </p:sp>
      <p:sp>
        <p:nvSpPr>
          <p:cNvPr id="39" name="Rounded Rectangle 38"/>
          <p:cNvSpPr/>
          <p:nvPr/>
        </p:nvSpPr>
        <p:spPr>
          <a:xfrm>
            <a:off x="5760720" y="374904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760720" y="374904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queremos</a:t>
            </a:r>
          </a:p>
        </p:txBody>
      </p:sp>
      <p:sp>
        <p:nvSpPr>
          <p:cNvPr id="41" name="Rounded Rectangle 40"/>
          <p:cNvSpPr/>
          <p:nvPr/>
        </p:nvSpPr>
        <p:spPr>
          <a:xfrm>
            <a:off x="9326880" y="374904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26880" y="374904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pedimos</a:t>
            </a:r>
          </a:p>
        </p:txBody>
      </p:sp>
      <p:sp>
        <p:nvSpPr>
          <p:cNvPr id="43" name="TextBox 42"/>
          <p:cNvSpPr txBox="1"/>
          <p:nvPr/>
        </p:nvSpPr>
        <p:spPr>
          <a:xfrm>
            <a:off x="640080" y="4297680"/>
            <a:ext cx="14630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6A6E78"/>
                </a:solidFill>
                <a:latin typeface="Inter"/>
              </a:rPr>
              <a:t>vosotros</a:t>
            </a:r>
          </a:p>
        </p:txBody>
      </p:sp>
      <p:sp>
        <p:nvSpPr>
          <p:cNvPr id="44" name="Rounded Rectangle 43"/>
          <p:cNvSpPr/>
          <p:nvPr/>
        </p:nvSpPr>
        <p:spPr>
          <a:xfrm>
            <a:off x="2194560" y="429768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194560" y="429768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empezáis</a:t>
            </a:r>
          </a:p>
        </p:txBody>
      </p:sp>
      <p:sp>
        <p:nvSpPr>
          <p:cNvPr id="46" name="Rounded Rectangle 45"/>
          <p:cNvSpPr/>
          <p:nvPr/>
        </p:nvSpPr>
        <p:spPr>
          <a:xfrm>
            <a:off x="5760720" y="429768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60720" y="429768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queréis</a:t>
            </a:r>
          </a:p>
        </p:txBody>
      </p:sp>
      <p:sp>
        <p:nvSpPr>
          <p:cNvPr id="48" name="Rounded Rectangle 47"/>
          <p:cNvSpPr/>
          <p:nvPr/>
        </p:nvSpPr>
        <p:spPr>
          <a:xfrm>
            <a:off x="9326880" y="429768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26880" y="429768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pedís</a:t>
            </a:r>
          </a:p>
        </p:txBody>
      </p:sp>
      <p:sp>
        <p:nvSpPr>
          <p:cNvPr id="50" name="TextBox 49"/>
          <p:cNvSpPr txBox="1"/>
          <p:nvPr/>
        </p:nvSpPr>
        <p:spPr>
          <a:xfrm>
            <a:off x="640080" y="4846320"/>
            <a:ext cx="14630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6A6E78"/>
                </a:solidFill>
                <a:latin typeface="Inter"/>
              </a:rPr>
              <a:t>ellos</a:t>
            </a:r>
          </a:p>
        </p:txBody>
      </p:sp>
      <p:sp>
        <p:nvSpPr>
          <p:cNvPr id="51" name="Rounded Rectangle 50"/>
          <p:cNvSpPr/>
          <p:nvPr/>
        </p:nvSpPr>
        <p:spPr>
          <a:xfrm>
            <a:off x="2194560" y="484632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194560" y="484632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empiezan</a:t>
            </a:r>
          </a:p>
        </p:txBody>
      </p:sp>
      <p:sp>
        <p:nvSpPr>
          <p:cNvPr id="53" name="Rounded Rectangle 52"/>
          <p:cNvSpPr/>
          <p:nvPr/>
        </p:nvSpPr>
        <p:spPr>
          <a:xfrm>
            <a:off x="5760720" y="484632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760720" y="484632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quieren</a:t>
            </a:r>
          </a:p>
        </p:txBody>
      </p:sp>
      <p:sp>
        <p:nvSpPr>
          <p:cNvPr id="55" name="Rounded Rectangle 54"/>
          <p:cNvSpPr/>
          <p:nvPr/>
        </p:nvSpPr>
        <p:spPr>
          <a:xfrm>
            <a:off x="9326880" y="484632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326880" y="484632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piden</a:t>
            </a:r>
          </a:p>
        </p:txBody>
      </p:sp>
      <p:sp>
        <p:nvSpPr>
          <p:cNvPr id="57" name="Rounded Rectangle 56"/>
          <p:cNvSpPr/>
          <p:nvPr/>
        </p:nvSpPr>
        <p:spPr>
          <a:xfrm>
            <a:off x="457200" y="6053328"/>
            <a:ext cx="2093976" cy="365760"/>
          </a:xfrm>
          <a:prstGeom prst="roundRect">
            <a:avLst>
              <a:gd name="adj" fmla="val 50000"/>
            </a:avLst>
          </a:prstGeom>
          <a:solidFill>
            <a:srgbClr val="1E9E74"/>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58" name="Rounded Rectangle 57"/>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Saltar</a:t>
            </a:r>
          </a:p>
        </p:txBody>
      </p:sp>
      <p:sp>
        <p:nvSpPr>
          <p:cNvPr id="59" name="Rounded Rectangle 58">
            <a:hlinkClick action="ppaction://hlinksldjump" r:id="rId3"/>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Menú (dia 2)</a:t>
            </a:r>
          </a:p>
        </p:txBody>
      </p:sp>
      <p:sp>
        <p:nvSpPr>
          <p:cNvPr id="60" name="TextBox 59"/>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Noodroute (§5): werkt zonder audio/internet</a:t>
            </a:r>
          </a:p>
        </p:txBody>
      </p:sp>
      <p:sp>
        <p:nvSpPr>
          <p:cNvPr id="61" name="Rounded Rectangle 60"/>
          <p:cNvSpPr/>
          <p:nvPr/>
        </p:nvSpPr>
        <p:spPr>
          <a:xfrm>
            <a:off x="457200" y="5486400"/>
            <a:ext cx="11247120" cy="502920"/>
          </a:xfrm>
          <a:prstGeom prst="roundRect">
            <a:avLst>
              <a:gd name="adj" fmla="val 6000"/>
            </a:avLst>
          </a:prstGeom>
          <a:solidFill>
            <a:srgbClr val="E4F4EE"/>
          </a:solidFill>
          <a:ln w="1905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157355"/>
                </a:solidFill>
                <a:latin typeface="Inter"/>
              </a:rPr>
              <a:t>e→ie (empiezo, quiero, prefiero, me despierto) · e→i (pido, me visto, sirvo). </a:t>
            </a:r>
            <a:r>
              <a:rPr sz="1200" b="0" i="0">
                <a:solidFill>
                  <a:srgbClr val="157355"/>
                </a:solidFill>
                <a:latin typeface="Inter"/>
              </a:rPr>
              <a:t>Nosotros/vosotros: geen wissel (empezamos, pedimos).</a:t>
            </a:r>
          </a:p>
        </p:txBody>
      </p:sp>
      <p:sp>
        <p:nvSpPr>
          <p:cNvPr id="62" name="Rounded Rectangle 61"/>
          <p:cNvSpPr/>
          <p:nvPr/>
        </p:nvSpPr>
        <p:spPr>
          <a:xfrm>
            <a:off x="594360" y="5358384"/>
            <a:ext cx="1548993" cy="292608"/>
          </a:xfrm>
          <a:prstGeom prst="roundRect">
            <a:avLst>
              <a:gd name="adj" fmla="val 50000"/>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 · docent</a:t>
            </a:r>
          </a:p>
        </p:txBody>
      </p:sp>
      <p:sp>
        <p:nvSpPr>
          <p:cNvPr id="63" name="Rectangle 62"/>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65" name="TextBox 64"/>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66" name="TextBox 65"/>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500"/>
                                        <p:tgtEl>
                                          <p:spTgt spid="3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5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fade">
                                      <p:cBhvr>
                                        <p:cTn id="52" dur="500"/>
                                        <p:tgtEl>
                                          <p:spTgt spid="3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500"/>
                                        <p:tgtEl>
                                          <p:spTgt spid="40"/>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2"/>
                                        </p:tgtEl>
                                        <p:attrNameLst>
                                          <p:attrName>style.visibility</p:attrName>
                                        </p:attrNameLst>
                                      </p:cBhvr>
                                      <p:to>
                                        <p:strVal val="visible"/>
                                      </p:to>
                                    </p:set>
                                    <p:animEffect transition="in" filter="fade">
                                      <p:cBhvr>
                                        <p:cTn id="62" dur="500"/>
                                        <p:tgtEl>
                                          <p:spTgt spid="4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500"/>
                                        <p:tgtEl>
                                          <p:spTgt spid="4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7"/>
                                        </p:tgtEl>
                                        <p:attrNameLst>
                                          <p:attrName>style.visibility</p:attrName>
                                        </p:attrNameLst>
                                      </p:cBhvr>
                                      <p:to>
                                        <p:strVal val="visible"/>
                                      </p:to>
                                    </p:set>
                                    <p:animEffect transition="in" filter="fade">
                                      <p:cBhvr>
                                        <p:cTn id="72" dur="500"/>
                                        <p:tgtEl>
                                          <p:spTgt spid="47"/>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fade">
                                      <p:cBhvr>
                                        <p:cTn id="77" dur="500"/>
                                        <p:tgtEl>
                                          <p:spTgt spid="4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52"/>
                                        </p:tgtEl>
                                        <p:attrNameLst>
                                          <p:attrName>style.visibility</p:attrName>
                                        </p:attrNameLst>
                                      </p:cBhvr>
                                      <p:to>
                                        <p:strVal val="visible"/>
                                      </p:to>
                                    </p:set>
                                    <p:animEffect transition="in" filter="fade">
                                      <p:cBhvr>
                                        <p:cTn id="82" dur="500"/>
                                        <p:tgtEl>
                                          <p:spTgt spid="52"/>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54"/>
                                        </p:tgtEl>
                                        <p:attrNameLst>
                                          <p:attrName>style.visibility</p:attrName>
                                        </p:attrNameLst>
                                      </p:cBhvr>
                                      <p:to>
                                        <p:strVal val="visible"/>
                                      </p:to>
                                    </p:set>
                                    <p:animEffect transition="in" filter="fade">
                                      <p:cBhvr>
                                        <p:cTn id="87" dur="500"/>
                                        <p:tgtEl>
                                          <p:spTgt spid="54"/>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56"/>
                                        </p:tgtEl>
                                        <p:attrNameLst>
                                          <p:attrName>style.visibility</p:attrName>
                                        </p:attrNameLst>
                                      </p:cBhvr>
                                      <p:to>
                                        <p:strVal val="visible"/>
                                      </p:to>
                                    </p:set>
                                    <p:animEffect transition="in" filter="fade">
                                      <p:cBhvr>
                                        <p:cTn id="92" dur="500"/>
                                        <p:tgtEl>
                                          <p:spTgt spid="56"/>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61"/>
                                        </p:tgtEl>
                                        <p:attrNameLst>
                                          <p:attrName>style.visibility</p:attrName>
                                        </p:attrNameLst>
                                      </p:cBhvr>
                                      <p:to>
                                        <p:strVal val="visible"/>
                                      </p:to>
                                    </p:set>
                                    <p:animEffect transition="in" filter="fade">
                                      <p:cBhvr>
                                        <p:cTn id="97" dur="500"/>
                                        <p:tgtEl>
                                          <p:spTgt spid="61"/>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62"/>
                                        </p:tgtEl>
                                        <p:attrNameLst>
                                          <p:attrName>style.visibility</p:attrName>
                                        </p:attrNameLst>
                                      </p:cBhvr>
                                      <p:to>
                                        <p:strVal val="visible"/>
                                      </p:to>
                                    </p:set>
                                    <p:animEffect transition="in" filter="fade">
                                      <p:cBhvr>
                                        <p:cTn id="102"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296619"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E9E74"/>
                </a:solidFill>
                <a:latin typeface="Inter"/>
              </a:rPr>
              <a:t>§3 · GRAMÁTICA</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3</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hacer · ir · salir — el «yo» especial</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4F4EE"/>
                </a:solidFill>
                <a:latin typeface="Inter"/>
              </a:rPr>
              <a:t>Klik een cel → de vorm. De verrassing zit in de yo-vorm.</a:t>
            </a:r>
          </a:p>
        </p:txBody>
      </p:sp>
      <p:sp>
        <p:nvSpPr>
          <p:cNvPr id="9" name="Rounded Rectangle 8"/>
          <p:cNvSpPr/>
          <p:nvPr/>
        </p:nvSpPr>
        <p:spPr>
          <a:xfrm>
            <a:off x="2194560" y="1554480"/>
            <a:ext cx="3383280" cy="457200"/>
          </a:xfrm>
          <a:prstGeom prst="roundRect">
            <a:avLst>
              <a:gd name="adj" fmla="val 5500"/>
            </a:avLst>
          </a:prstGeom>
          <a:solidFill>
            <a:srgbClr val="1E9E74"/>
          </a:solidFill>
          <a:ln>
            <a:no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4560" y="1554480"/>
            <a:ext cx="3383280" cy="45720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FFFFFF"/>
                </a:solidFill>
                <a:latin typeface="Bricolage Grotesque"/>
              </a:rPr>
              <a:t>hacer</a:t>
            </a:r>
          </a:p>
        </p:txBody>
      </p:sp>
      <p:sp>
        <p:nvSpPr>
          <p:cNvPr id="11" name="Rounded Rectangle 10"/>
          <p:cNvSpPr/>
          <p:nvPr/>
        </p:nvSpPr>
        <p:spPr>
          <a:xfrm>
            <a:off x="5760720" y="1554480"/>
            <a:ext cx="3383280" cy="457200"/>
          </a:xfrm>
          <a:prstGeom prst="roundRect">
            <a:avLst>
              <a:gd name="adj" fmla="val 5500"/>
            </a:avLst>
          </a:prstGeom>
          <a:solidFill>
            <a:srgbClr val="1E9E74"/>
          </a:solidFill>
          <a:ln>
            <a:no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554480"/>
            <a:ext cx="3383280" cy="45720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FFFFFF"/>
                </a:solidFill>
                <a:latin typeface="Bricolage Grotesque"/>
              </a:rPr>
              <a:t>ir</a:t>
            </a:r>
          </a:p>
        </p:txBody>
      </p:sp>
      <p:sp>
        <p:nvSpPr>
          <p:cNvPr id="13" name="Rounded Rectangle 12"/>
          <p:cNvSpPr/>
          <p:nvPr/>
        </p:nvSpPr>
        <p:spPr>
          <a:xfrm>
            <a:off x="9326880" y="1554480"/>
            <a:ext cx="3383280" cy="457200"/>
          </a:xfrm>
          <a:prstGeom prst="roundRect">
            <a:avLst>
              <a:gd name="adj" fmla="val 5500"/>
            </a:avLst>
          </a:prstGeom>
          <a:solidFill>
            <a:srgbClr val="1E9E74"/>
          </a:solidFill>
          <a:ln>
            <a:no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0" y="1554480"/>
            <a:ext cx="3383280" cy="45720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FFFFFF"/>
                </a:solidFill>
                <a:latin typeface="Bricolage Grotesque"/>
              </a:rPr>
              <a:t>salir</a:t>
            </a:r>
          </a:p>
        </p:txBody>
      </p:sp>
      <p:sp>
        <p:nvSpPr>
          <p:cNvPr id="15" name="TextBox 14"/>
          <p:cNvSpPr txBox="1"/>
          <p:nvPr/>
        </p:nvSpPr>
        <p:spPr>
          <a:xfrm>
            <a:off x="640080" y="2103120"/>
            <a:ext cx="14630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6A6E78"/>
                </a:solidFill>
                <a:latin typeface="Inter"/>
              </a:rPr>
              <a:t>yo</a:t>
            </a:r>
          </a:p>
        </p:txBody>
      </p:sp>
      <p:sp>
        <p:nvSpPr>
          <p:cNvPr id="16" name="Rounded Rectangle 15"/>
          <p:cNvSpPr/>
          <p:nvPr/>
        </p:nvSpPr>
        <p:spPr>
          <a:xfrm>
            <a:off x="2194560" y="210312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210312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hago</a:t>
            </a:r>
          </a:p>
        </p:txBody>
      </p:sp>
      <p:sp>
        <p:nvSpPr>
          <p:cNvPr id="18" name="Rounded Rectangle 17"/>
          <p:cNvSpPr/>
          <p:nvPr/>
        </p:nvSpPr>
        <p:spPr>
          <a:xfrm>
            <a:off x="5760720" y="210312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60720" y="210312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voy</a:t>
            </a:r>
          </a:p>
        </p:txBody>
      </p:sp>
      <p:sp>
        <p:nvSpPr>
          <p:cNvPr id="20" name="Rounded Rectangle 19"/>
          <p:cNvSpPr/>
          <p:nvPr/>
        </p:nvSpPr>
        <p:spPr>
          <a:xfrm>
            <a:off x="9326880" y="210312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0" y="210312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EA7317"/>
                </a:solidFill>
                <a:latin typeface="Inter"/>
              </a:rPr>
              <a:t>salgo</a:t>
            </a:r>
          </a:p>
        </p:txBody>
      </p:sp>
      <p:sp>
        <p:nvSpPr>
          <p:cNvPr id="22" name="TextBox 21"/>
          <p:cNvSpPr txBox="1"/>
          <p:nvPr/>
        </p:nvSpPr>
        <p:spPr>
          <a:xfrm>
            <a:off x="640080" y="2651760"/>
            <a:ext cx="14630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6A6E78"/>
                </a:solidFill>
                <a:latin typeface="Inter"/>
              </a:rPr>
              <a:t>tú</a:t>
            </a:r>
          </a:p>
        </p:txBody>
      </p:sp>
      <p:sp>
        <p:nvSpPr>
          <p:cNvPr id="23" name="Rounded Rectangle 22"/>
          <p:cNvSpPr/>
          <p:nvPr/>
        </p:nvSpPr>
        <p:spPr>
          <a:xfrm>
            <a:off x="2194560" y="265176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65176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haces</a:t>
            </a:r>
          </a:p>
        </p:txBody>
      </p:sp>
      <p:sp>
        <p:nvSpPr>
          <p:cNvPr id="25" name="Rounded Rectangle 24"/>
          <p:cNvSpPr/>
          <p:nvPr/>
        </p:nvSpPr>
        <p:spPr>
          <a:xfrm>
            <a:off x="5760720" y="265176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60720" y="265176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vas</a:t>
            </a:r>
          </a:p>
        </p:txBody>
      </p:sp>
      <p:sp>
        <p:nvSpPr>
          <p:cNvPr id="27" name="Rounded Rectangle 26"/>
          <p:cNvSpPr/>
          <p:nvPr/>
        </p:nvSpPr>
        <p:spPr>
          <a:xfrm>
            <a:off x="9326880" y="265176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265176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sales</a:t>
            </a:r>
          </a:p>
        </p:txBody>
      </p:sp>
      <p:sp>
        <p:nvSpPr>
          <p:cNvPr id="29" name="TextBox 28"/>
          <p:cNvSpPr txBox="1"/>
          <p:nvPr/>
        </p:nvSpPr>
        <p:spPr>
          <a:xfrm>
            <a:off x="640080" y="3200400"/>
            <a:ext cx="14630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6A6E78"/>
                </a:solidFill>
                <a:latin typeface="Inter"/>
              </a:rPr>
              <a:t>él/ella</a:t>
            </a:r>
          </a:p>
        </p:txBody>
      </p:sp>
      <p:sp>
        <p:nvSpPr>
          <p:cNvPr id="30" name="Rounded Rectangle 29"/>
          <p:cNvSpPr/>
          <p:nvPr/>
        </p:nvSpPr>
        <p:spPr>
          <a:xfrm>
            <a:off x="2194560" y="320040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194560" y="320040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hace</a:t>
            </a:r>
          </a:p>
        </p:txBody>
      </p:sp>
      <p:sp>
        <p:nvSpPr>
          <p:cNvPr id="32" name="Rounded Rectangle 31"/>
          <p:cNvSpPr/>
          <p:nvPr/>
        </p:nvSpPr>
        <p:spPr>
          <a:xfrm>
            <a:off x="5760720" y="320040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60720" y="320040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va</a:t>
            </a:r>
          </a:p>
        </p:txBody>
      </p:sp>
      <p:sp>
        <p:nvSpPr>
          <p:cNvPr id="34" name="Rounded Rectangle 33"/>
          <p:cNvSpPr/>
          <p:nvPr/>
        </p:nvSpPr>
        <p:spPr>
          <a:xfrm>
            <a:off x="9326880" y="320040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26880" y="320040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sale</a:t>
            </a:r>
          </a:p>
        </p:txBody>
      </p:sp>
      <p:sp>
        <p:nvSpPr>
          <p:cNvPr id="36" name="TextBox 35"/>
          <p:cNvSpPr txBox="1"/>
          <p:nvPr/>
        </p:nvSpPr>
        <p:spPr>
          <a:xfrm>
            <a:off x="640080" y="3749040"/>
            <a:ext cx="14630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6A6E78"/>
                </a:solidFill>
                <a:latin typeface="Inter"/>
              </a:rPr>
              <a:t>nosotros</a:t>
            </a:r>
          </a:p>
        </p:txBody>
      </p:sp>
      <p:sp>
        <p:nvSpPr>
          <p:cNvPr id="37" name="Rounded Rectangle 36"/>
          <p:cNvSpPr/>
          <p:nvPr/>
        </p:nvSpPr>
        <p:spPr>
          <a:xfrm>
            <a:off x="2194560" y="374904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94560" y="374904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hacemos</a:t>
            </a:r>
          </a:p>
        </p:txBody>
      </p:sp>
      <p:sp>
        <p:nvSpPr>
          <p:cNvPr id="39" name="Rounded Rectangle 38"/>
          <p:cNvSpPr/>
          <p:nvPr/>
        </p:nvSpPr>
        <p:spPr>
          <a:xfrm>
            <a:off x="5760720" y="374904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760720" y="374904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vamos</a:t>
            </a:r>
          </a:p>
        </p:txBody>
      </p:sp>
      <p:sp>
        <p:nvSpPr>
          <p:cNvPr id="41" name="Rounded Rectangle 40"/>
          <p:cNvSpPr/>
          <p:nvPr/>
        </p:nvSpPr>
        <p:spPr>
          <a:xfrm>
            <a:off x="9326880" y="374904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26880" y="374904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salimos</a:t>
            </a:r>
          </a:p>
        </p:txBody>
      </p:sp>
      <p:sp>
        <p:nvSpPr>
          <p:cNvPr id="43" name="TextBox 42"/>
          <p:cNvSpPr txBox="1"/>
          <p:nvPr/>
        </p:nvSpPr>
        <p:spPr>
          <a:xfrm>
            <a:off x="640080" y="4297680"/>
            <a:ext cx="14630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6A6E78"/>
                </a:solidFill>
                <a:latin typeface="Inter"/>
              </a:rPr>
              <a:t>vosotros</a:t>
            </a:r>
          </a:p>
        </p:txBody>
      </p:sp>
      <p:sp>
        <p:nvSpPr>
          <p:cNvPr id="44" name="Rounded Rectangle 43"/>
          <p:cNvSpPr/>
          <p:nvPr/>
        </p:nvSpPr>
        <p:spPr>
          <a:xfrm>
            <a:off x="2194560" y="429768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194560" y="429768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hacéis</a:t>
            </a:r>
          </a:p>
        </p:txBody>
      </p:sp>
      <p:sp>
        <p:nvSpPr>
          <p:cNvPr id="46" name="Rounded Rectangle 45"/>
          <p:cNvSpPr/>
          <p:nvPr/>
        </p:nvSpPr>
        <p:spPr>
          <a:xfrm>
            <a:off x="5760720" y="429768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60720" y="429768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vais</a:t>
            </a:r>
          </a:p>
        </p:txBody>
      </p:sp>
      <p:sp>
        <p:nvSpPr>
          <p:cNvPr id="48" name="Rounded Rectangle 47"/>
          <p:cNvSpPr/>
          <p:nvPr/>
        </p:nvSpPr>
        <p:spPr>
          <a:xfrm>
            <a:off x="9326880" y="429768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26880" y="429768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salís</a:t>
            </a:r>
          </a:p>
        </p:txBody>
      </p:sp>
      <p:sp>
        <p:nvSpPr>
          <p:cNvPr id="50" name="TextBox 49"/>
          <p:cNvSpPr txBox="1"/>
          <p:nvPr/>
        </p:nvSpPr>
        <p:spPr>
          <a:xfrm>
            <a:off x="640080" y="4846320"/>
            <a:ext cx="14630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6A6E78"/>
                </a:solidFill>
                <a:latin typeface="Inter"/>
              </a:rPr>
              <a:t>ellos</a:t>
            </a:r>
          </a:p>
        </p:txBody>
      </p:sp>
      <p:sp>
        <p:nvSpPr>
          <p:cNvPr id="51" name="Rounded Rectangle 50"/>
          <p:cNvSpPr/>
          <p:nvPr/>
        </p:nvSpPr>
        <p:spPr>
          <a:xfrm>
            <a:off x="2194560" y="484632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194560" y="484632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hacen</a:t>
            </a:r>
          </a:p>
        </p:txBody>
      </p:sp>
      <p:sp>
        <p:nvSpPr>
          <p:cNvPr id="53" name="Rounded Rectangle 52"/>
          <p:cNvSpPr/>
          <p:nvPr/>
        </p:nvSpPr>
        <p:spPr>
          <a:xfrm>
            <a:off x="5760720" y="484632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760720" y="484632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van</a:t>
            </a:r>
          </a:p>
        </p:txBody>
      </p:sp>
      <p:sp>
        <p:nvSpPr>
          <p:cNvPr id="55" name="Rounded Rectangle 54"/>
          <p:cNvSpPr/>
          <p:nvPr/>
        </p:nvSpPr>
        <p:spPr>
          <a:xfrm>
            <a:off x="9326880" y="4846320"/>
            <a:ext cx="3383280" cy="5029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326880" y="4846320"/>
            <a:ext cx="3383280" cy="50292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0" i="0">
                <a:solidFill>
                  <a:srgbClr val="20242E"/>
                </a:solidFill>
                <a:latin typeface="Inter"/>
              </a:rPr>
              <a:t>salen</a:t>
            </a:r>
          </a:p>
        </p:txBody>
      </p:sp>
      <p:sp>
        <p:nvSpPr>
          <p:cNvPr id="57" name="Rounded Rectangle 56"/>
          <p:cNvSpPr/>
          <p:nvPr/>
        </p:nvSpPr>
        <p:spPr>
          <a:xfrm>
            <a:off x="457200" y="6053328"/>
            <a:ext cx="2093976" cy="365760"/>
          </a:xfrm>
          <a:prstGeom prst="roundRect">
            <a:avLst>
              <a:gd name="adj" fmla="val 50000"/>
            </a:avLst>
          </a:prstGeom>
          <a:solidFill>
            <a:srgbClr val="1E9E74"/>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58" name="Rounded Rectangle 57"/>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Saltar</a:t>
            </a:r>
          </a:p>
        </p:txBody>
      </p:sp>
      <p:sp>
        <p:nvSpPr>
          <p:cNvPr id="59" name="Rounded Rectangle 58">
            <a:hlinkClick action="ppaction://hlinksldjump" r:id="rId3"/>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Menú (dia 2)</a:t>
            </a:r>
          </a:p>
        </p:txBody>
      </p:sp>
      <p:sp>
        <p:nvSpPr>
          <p:cNvPr id="60" name="TextBox 59"/>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Noodroute (§5): werkt zonder audio/internet</a:t>
            </a:r>
          </a:p>
        </p:txBody>
      </p:sp>
      <p:sp>
        <p:nvSpPr>
          <p:cNvPr id="61" name="Rounded Rectangle 60"/>
          <p:cNvSpPr/>
          <p:nvPr/>
        </p:nvSpPr>
        <p:spPr>
          <a:xfrm>
            <a:off x="457200" y="5486400"/>
            <a:ext cx="11247120" cy="502920"/>
          </a:xfrm>
          <a:prstGeom prst="roundRect">
            <a:avLst>
              <a:gd name="adj" fmla="val 6000"/>
            </a:avLst>
          </a:prstGeom>
          <a:solidFill>
            <a:srgbClr val="E4F4EE"/>
          </a:solidFill>
          <a:ln w="1905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157355"/>
                </a:solidFill>
                <a:latin typeface="Inter"/>
              </a:rPr>
              <a:t>🟡 hago · salgo krijgen -g- in de yo-vorm; ir is helemaal apart (voy, vas, va…). </a:t>
            </a:r>
            <a:r>
              <a:rPr sz="1200" b="0" i="0">
                <a:solidFill>
                  <a:srgbClr val="157355"/>
                </a:solidFill>
                <a:latin typeface="Inter"/>
              </a:rPr>
              <a:t>De rest is regelmatig.</a:t>
            </a:r>
          </a:p>
        </p:txBody>
      </p:sp>
      <p:sp>
        <p:nvSpPr>
          <p:cNvPr id="62" name="Rounded Rectangle 61"/>
          <p:cNvSpPr/>
          <p:nvPr/>
        </p:nvSpPr>
        <p:spPr>
          <a:xfrm>
            <a:off x="594360" y="5358384"/>
            <a:ext cx="1548993" cy="292608"/>
          </a:xfrm>
          <a:prstGeom prst="roundRect">
            <a:avLst>
              <a:gd name="adj" fmla="val 50000"/>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 · docent</a:t>
            </a:r>
          </a:p>
        </p:txBody>
      </p:sp>
      <p:sp>
        <p:nvSpPr>
          <p:cNvPr id="63" name="Rectangle 62"/>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65" name="TextBox 64"/>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66" name="TextBox 65"/>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500"/>
                                        <p:tgtEl>
                                          <p:spTgt spid="3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5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fade">
                                      <p:cBhvr>
                                        <p:cTn id="52" dur="500"/>
                                        <p:tgtEl>
                                          <p:spTgt spid="3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500"/>
                                        <p:tgtEl>
                                          <p:spTgt spid="40"/>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2"/>
                                        </p:tgtEl>
                                        <p:attrNameLst>
                                          <p:attrName>style.visibility</p:attrName>
                                        </p:attrNameLst>
                                      </p:cBhvr>
                                      <p:to>
                                        <p:strVal val="visible"/>
                                      </p:to>
                                    </p:set>
                                    <p:animEffect transition="in" filter="fade">
                                      <p:cBhvr>
                                        <p:cTn id="62" dur="500"/>
                                        <p:tgtEl>
                                          <p:spTgt spid="4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500"/>
                                        <p:tgtEl>
                                          <p:spTgt spid="4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7"/>
                                        </p:tgtEl>
                                        <p:attrNameLst>
                                          <p:attrName>style.visibility</p:attrName>
                                        </p:attrNameLst>
                                      </p:cBhvr>
                                      <p:to>
                                        <p:strVal val="visible"/>
                                      </p:to>
                                    </p:set>
                                    <p:animEffect transition="in" filter="fade">
                                      <p:cBhvr>
                                        <p:cTn id="72" dur="500"/>
                                        <p:tgtEl>
                                          <p:spTgt spid="47"/>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fade">
                                      <p:cBhvr>
                                        <p:cTn id="77" dur="500"/>
                                        <p:tgtEl>
                                          <p:spTgt spid="4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52"/>
                                        </p:tgtEl>
                                        <p:attrNameLst>
                                          <p:attrName>style.visibility</p:attrName>
                                        </p:attrNameLst>
                                      </p:cBhvr>
                                      <p:to>
                                        <p:strVal val="visible"/>
                                      </p:to>
                                    </p:set>
                                    <p:animEffect transition="in" filter="fade">
                                      <p:cBhvr>
                                        <p:cTn id="82" dur="500"/>
                                        <p:tgtEl>
                                          <p:spTgt spid="52"/>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54"/>
                                        </p:tgtEl>
                                        <p:attrNameLst>
                                          <p:attrName>style.visibility</p:attrName>
                                        </p:attrNameLst>
                                      </p:cBhvr>
                                      <p:to>
                                        <p:strVal val="visible"/>
                                      </p:to>
                                    </p:set>
                                    <p:animEffect transition="in" filter="fade">
                                      <p:cBhvr>
                                        <p:cTn id="87" dur="500"/>
                                        <p:tgtEl>
                                          <p:spTgt spid="54"/>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56"/>
                                        </p:tgtEl>
                                        <p:attrNameLst>
                                          <p:attrName>style.visibility</p:attrName>
                                        </p:attrNameLst>
                                      </p:cBhvr>
                                      <p:to>
                                        <p:strVal val="visible"/>
                                      </p:to>
                                    </p:set>
                                    <p:animEffect transition="in" filter="fade">
                                      <p:cBhvr>
                                        <p:cTn id="92" dur="500"/>
                                        <p:tgtEl>
                                          <p:spTgt spid="56"/>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61"/>
                                        </p:tgtEl>
                                        <p:attrNameLst>
                                          <p:attrName>style.visibility</p:attrName>
                                        </p:attrNameLst>
                                      </p:cBhvr>
                                      <p:to>
                                        <p:strVal val="visible"/>
                                      </p:to>
                                    </p:set>
                                    <p:animEffect transition="in" filter="fade">
                                      <p:cBhvr>
                                        <p:cTn id="97" dur="500"/>
                                        <p:tgtEl>
                                          <p:spTgt spid="61"/>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62"/>
                                        </p:tgtEl>
                                        <p:attrNameLst>
                                          <p:attrName>style.visibility</p:attrName>
                                        </p:attrNameLst>
                                      </p:cBhvr>
                                      <p:to>
                                        <p:strVal val="visible"/>
                                      </p:to>
                                    </p:set>
                                    <p:animEffect transition="in" filter="fade">
                                      <p:cBhvr>
                                        <p:cTn id="102"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885492"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E9E74"/>
                </a:solidFill>
                <a:latin typeface="Inter"/>
              </a:rPr>
              <a:t>SPEAKING · PRODUCCIÓN</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2</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Cuenta tu día</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4F4EE"/>
                </a:solidFill>
                <a:latin typeface="Inter"/>
              </a:rPr>
              <a:t>Bouw je dag met de substitutietabel. Steun bouwt af: tabel → beginwoorden → uit het hoofd.</a:t>
            </a:r>
          </a:p>
        </p:txBody>
      </p:sp>
      <p:pic>
        <p:nvPicPr>
          <p:cNvPr id="9" name="Picture 8" descr="tu.png"/>
          <p:cNvPicPr>
            <a:picLocks noChangeAspect="1"/>
          </p:cNvPicPr>
          <p:nvPr/>
        </p:nvPicPr>
        <p:blipFill>
          <a:blip r:embed="rId2"/>
          <a:stretch>
            <a:fillRect/>
          </a:stretch>
        </p:blipFill>
        <p:spPr>
          <a:xfrm>
            <a:off x="10424160" y="1554480"/>
            <a:ext cx="1188720" cy="1188720"/>
          </a:xfrm>
          <a:prstGeom prst="rect">
            <a:avLst/>
          </a:prstGeom>
        </p:spPr>
      </p:pic>
      <p:sp>
        <p:nvSpPr>
          <p:cNvPr id="10" name="Rounded Rectangle 9"/>
          <p:cNvSpPr/>
          <p:nvPr/>
        </p:nvSpPr>
        <p:spPr>
          <a:xfrm>
            <a:off x="457200" y="1645920"/>
            <a:ext cx="3108960" cy="731520"/>
          </a:xfrm>
          <a:prstGeom prst="roundRect">
            <a:avLst>
              <a:gd name="adj" fmla="val 5500"/>
            </a:avLst>
          </a:prstGeom>
          <a:solidFill>
            <a:srgbClr val="FFFFFF"/>
          </a:solidFill>
          <a:ln w="1524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691640"/>
            <a:ext cx="2834640" cy="292608"/>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000" b="0" i="0">
                <a:solidFill>
                  <a:srgbClr val="6A6E78"/>
                </a:solidFill>
                <a:latin typeface="Inter"/>
              </a:rPr>
              <a:t>Empiezo</a:t>
            </a:r>
          </a:p>
        </p:txBody>
      </p:sp>
      <p:sp>
        <p:nvSpPr>
          <p:cNvPr id="12" name="TextBox 11"/>
          <p:cNvSpPr txBox="1"/>
          <p:nvPr/>
        </p:nvSpPr>
        <p:spPr>
          <a:xfrm>
            <a:off x="594360" y="1975104"/>
            <a:ext cx="283464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157355"/>
                </a:solidFill>
                <a:latin typeface="Bricolage Grotesque"/>
              </a:rPr>
              <a:t>Me levanto a las ___</a:t>
            </a:r>
          </a:p>
        </p:txBody>
      </p:sp>
      <p:sp>
        <p:nvSpPr>
          <p:cNvPr id="13" name="Rounded Rectangle 12"/>
          <p:cNvSpPr/>
          <p:nvPr/>
        </p:nvSpPr>
        <p:spPr>
          <a:xfrm>
            <a:off x="457200" y="2542032"/>
            <a:ext cx="3108960" cy="731520"/>
          </a:xfrm>
          <a:prstGeom prst="roundRect">
            <a:avLst>
              <a:gd name="adj" fmla="val 5500"/>
            </a:avLst>
          </a:prstGeom>
          <a:solidFill>
            <a:srgbClr val="FFFFFF"/>
          </a:solidFill>
          <a:ln w="1524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587752"/>
            <a:ext cx="2834640" cy="292608"/>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000" b="0" i="0">
                <a:solidFill>
                  <a:srgbClr val="6A6E78"/>
                </a:solidFill>
                <a:latin typeface="Inter"/>
              </a:rPr>
              <a:t>Mañana</a:t>
            </a:r>
          </a:p>
        </p:txBody>
      </p:sp>
      <p:sp>
        <p:nvSpPr>
          <p:cNvPr id="15" name="TextBox 14"/>
          <p:cNvSpPr txBox="1"/>
          <p:nvPr/>
        </p:nvSpPr>
        <p:spPr>
          <a:xfrm>
            <a:off x="594360" y="2871216"/>
            <a:ext cx="283464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157355"/>
                </a:solidFill>
                <a:latin typeface="Bricolage Grotesque"/>
              </a:rPr>
              <a:t>Me ducho / me visto</a:t>
            </a:r>
          </a:p>
        </p:txBody>
      </p:sp>
      <p:sp>
        <p:nvSpPr>
          <p:cNvPr id="16" name="Rounded Rectangle 15"/>
          <p:cNvSpPr/>
          <p:nvPr/>
        </p:nvSpPr>
        <p:spPr>
          <a:xfrm>
            <a:off x="457200" y="3438144"/>
            <a:ext cx="3108960" cy="731520"/>
          </a:xfrm>
          <a:prstGeom prst="roundRect">
            <a:avLst>
              <a:gd name="adj" fmla="val 5500"/>
            </a:avLst>
          </a:prstGeom>
          <a:solidFill>
            <a:srgbClr val="FFFFFF"/>
          </a:solidFill>
          <a:ln w="1524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483864"/>
            <a:ext cx="2834640" cy="292608"/>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000" b="0" i="0">
                <a:solidFill>
                  <a:srgbClr val="6A6E78"/>
                </a:solidFill>
                <a:latin typeface="Inter"/>
              </a:rPr>
              <a:t>Mediodía</a:t>
            </a:r>
          </a:p>
        </p:txBody>
      </p:sp>
      <p:sp>
        <p:nvSpPr>
          <p:cNvPr id="18" name="TextBox 17"/>
          <p:cNvSpPr txBox="1"/>
          <p:nvPr/>
        </p:nvSpPr>
        <p:spPr>
          <a:xfrm>
            <a:off x="594360" y="3767328"/>
            <a:ext cx="283464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157355"/>
                </a:solidFill>
                <a:latin typeface="Bricolage Grotesque"/>
              </a:rPr>
              <a:t>Almuerzo a las ___</a:t>
            </a:r>
          </a:p>
        </p:txBody>
      </p:sp>
      <p:sp>
        <p:nvSpPr>
          <p:cNvPr id="19" name="Rounded Rectangle 18"/>
          <p:cNvSpPr/>
          <p:nvPr/>
        </p:nvSpPr>
        <p:spPr>
          <a:xfrm>
            <a:off x="3749040" y="1645920"/>
            <a:ext cx="3108960" cy="731520"/>
          </a:xfrm>
          <a:prstGeom prst="roundRect">
            <a:avLst>
              <a:gd name="adj" fmla="val 5500"/>
            </a:avLst>
          </a:prstGeom>
          <a:solidFill>
            <a:srgbClr val="FFFFFF"/>
          </a:solidFill>
          <a:ln w="1524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86200" y="1691640"/>
            <a:ext cx="2834640" cy="292608"/>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000" b="0" i="0">
                <a:solidFill>
                  <a:srgbClr val="6A6E78"/>
                </a:solidFill>
                <a:latin typeface="Inter"/>
              </a:rPr>
              <a:t>Tarde</a:t>
            </a:r>
          </a:p>
        </p:txBody>
      </p:sp>
      <p:sp>
        <p:nvSpPr>
          <p:cNvPr id="21" name="TextBox 20"/>
          <p:cNvSpPr txBox="1"/>
          <p:nvPr/>
        </p:nvSpPr>
        <p:spPr>
          <a:xfrm>
            <a:off x="3886200" y="1975104"/>
            <a:ext cx="283464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157355"/>
                </a:solidFill>
                <a:latin typeface="Bricolage Grotesque"/>
              </a:rPr>
              <a:t>Hago los deberes</a:t>
            </a:r>
          </a:p>
        </p:txBody>
      </p:sp>
      <p:sp>
        <p:nvSpPr>
          <p:cNvPr id="22" name="Rounded Rectangle 21"/>
          <p:cNvSpPr/>
          <p:nvPr/>
        </p:nvSpPr>
        <p:spPr>
          <a:xfrm>
            <a:off x="3749040" y="2542032"/>
            <a:ext cx="3108960" cy="731520"/>
          </a:xfrm>
          <a:prstGeom prst="roundRect">
            <a:avLst>
              <a:gd name="adj" fmla="val 5500"/>
            </a:avLst>
          </a:prstGeom>
          <a:solidFill>
            <a:srgbClr val="FFFFFF"/>
          </a:solidFill>
          <a:ln w="1524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86200" y="2587752"/>
            <a:ext cx="2834640" cy="292608"/>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000" b="0" i="0">
                <a:solidFill>
                  <a:srgbClr val="6A6E78"/>
                </a:solidFill>
                <a:latin typeface="Inter"/>
              </a:rPr>
              <a:t>Noche</a:t>
            </a:r>
          </a:p>
        </p:txBody>
      </p:sp>
      <p:sp>
        <p:nvSpPr>
          <p:cNvPr id="24" name="TextBox 23"/>
          <p:cNvSpPr txBox="1"/>
          <p:nvPr/>
        </p:nvSpPr>
        <p:spPr>
          <a:xfrm>
            <a:off x="3886200" y="2871216"/>
            <a:ext cx="283464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157355"/>
                </a:solidFill>
                <a:latin typeface="Bricolage Grotesque"/>
              </a:rPr>
              <a:t>Ceno / me acuesto</a:t>
            </a:r>
          </a:p>
        </p:txBody>
      </p:sp>
      <p:sp>
        <p:nvSpPr>
          <p:cNvPr id="25" name="Rounded Rectangle 24"/>
          <p:cNvSpPr/>
          <p:nvPr/>
        </p:nvSpPr>
        <p:spPr>
          <a:xfrm>
            <a:off x="3749040" y="3438144"/>
            <a:ext cx="3108960" cy="731520"/>
          </a:xfrm>
          <a:prstGeom prst="roundRect">
            <a:avLst>
              <a:gd name="adj" fmla="val 5500"/>
            </a:avLst>
          </a:prstGeom>
          <a:solidFill>
            <a:srgbClr val="FFFFFF"/>
          </a:solidFill>
          <a:ln w="1524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86200" y="3483864"/>
            <a:ext cx="2834640" cy="292608"/>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000" b="0" i="0">
                <a:solidFill>
                  <a:srgbClr val="6A6E78"/>
                </a:solidFill>
                <a:latin typeface="Inter"/>
              </a:rPr>
              <a:t>Frecuencia</a:t>
            </a:r>
          </a:p>
        </p:txBody>
      </p:sp>
      <p:sp>
        <p:nvSpPr>
          <p:cNvPr id="27" name="TextBox 26"/>
          <p:cNvSpPr txBox="1"/>
          <p:nvPr/>
        </p:nvSpPr>
        <p:spPr>
          <a:xfrm>
            <a:off x="3886200" y="3767328"/>
            <a:ext cx="283464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157355"/>
                </a:solidFill>
                <a:latin typeface="Bricolage Grotesque"/>
              </a:rPr>
              <a:t>Siempre / a veces / nunca</a:t>
            </a:r>
          </a:p>
        </p:txBody>
      </p:sp>
      <p:sp>
        <p:nvSpPr>
          <p:cNvPr id="28" name="TextBox 27"/>
          <p:cNvSpPr txBox="1"/>
          <p:nvPr/>
        </p:nvSpPr>
        <p:spPr>
          <a:xfrm>
            <a:off x="457200" y="4572000"/>
            <a:ext cx="9601200" cy="8229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1" i="0">
                <a:solidFill>
                  <a:srgbClr val="157355"/>
                </a:solidFill>
                <a:latin typeface="Inter"/>
              </a:rPr>
              <a:t>Ronda 1: </a:t>
            </a:r>
            <a:r>
              <a:rPr sz="1200" b="0" i="0">
                <a:solidFill>
                  <a:srgbClr val="20242E"/>
                </a:solidFill>
                <a:latin typeface="Inter"/>
              </a:rPr>
              <a:t>met de tabel. </a:t>
            </a:r>
            <a:r>
              <a:rPr sz="1200" b="1" i="0">
                <a:solidFill>
                  <a:srgbClr val="157355"/>
                </a:solidFill>
                <a:latin typeface="Inter"/>
              </a:rPr>
              <a:t>Ronda 2: </a:t>
            </a:r>
            <a:r>
              <a:rPr sz="1200" b="0" i="0">
                <a:solidFill>
                  <a:srgbClr val="20242E"/>
                </a:solidFill>
                <a:latin typeface="Inter"/>
              </a:rPr>
              <a:t>alleen beginwoorden. </a:t>
            </a:r>
            <a:r>
              <a:rPr sz="1200" b="1" i="0">
                <a:solidFill>
                  <a:srgbClr val="157355"/>
                </a:solidFill>
                <a:latin typeface="Inter"/>
              </a:rPr>
              <a:t>Ronda 3: </a:t>
            </a:r>
            <a:r>
              <a:rPr sz="1200" b="0" i="0">
                <a:solidFill>
                  <a:srgbClr val="20242E"/>
                </a:solidFill>
                <a:latin typeface="Inter"/>
              </a:rPr>
              <a:t>uit het hoofd, tegen 3 klasgenoten. </a:t>
            </a:r>
            <a:r>
              <a:rPr sz="1200" b="1" i="0">
                <a:solidFill>
                  <a:srgbClr val="157355"/>
                </a:solidFill>
                <a:latin typeface="Inter"/>
              </a:rPr>
              <a:t>Ronda 4: </a:t>
            </a:r>
            <a:r>
              <a:rPr sz="1200" b="0" i="0">
                <a:solidFill>
                  <a:srgbClr val="20242E"/>
                </a:solidFill>
                <a:latin typeface="Inter"/>
              </a:rPr>
              <a:t>grábate → terugluisteren.</a:t>
            </a:r>
          </a:p>
        </p:txBody>
      </p:sp>
      <p:sp>
        <p:nvSpPr>
          <p:cNvPr id="29" name="Rounded Rectangle 28"/>
          <p:cNvSpPr/>
          <p:nvPr/>
        </p:nvSpPr>
        <p:spPr>
          <a:xfrm>
            <a:off x="457200" y="4251960"/>
            <a:ext cx="3315614" cy="292608"/>
          </a:xfrm>
          <a:prstGeom prst="roundRect">
            <a:avLst>
              <a:gd name="adj" fmla="val 50000"/>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57355"/>
                </a:solidFill>
                <a:latin typeface="Inter"/>
              </a:rPr>
              <a:t>🎙️ Grábate online · «Carrusel: mi día»</a:t>
            </a:r>
          </a:p>
        </p:txBody>
      </p:sp>
      <p:sp>
        <p:nvSpPr>
          <p:cNvPr id="30" name="Rounded Rectangle 29"/>
          <p:cNvSpPr/>
          <p:nvPr/>
        </p:nvSpPr>
        <p:spPr>
          <a:xfrm>
            <a:off x="457200" y="6053328"/>
            <a:ext cx="2093976" cy="365760"/>
          </a:xfrm>
          <a:prstGeom prst="roundRect">
            <a:avLst>
              <a:gd name="adj" fmla="val 50000"/>
            </a:avLst>
          </a:prstGeom>
          <a:solidFill>
            <a:srgbClr val="1E9E74"/>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31" name="Rounded Rectangle 30"/>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Saltar</a:t>
            </a:r>
          </a:p>
        </p:txBody>
      </p:sp>
      <p:sp>
        <p:nvSpPr>
          <p:cNvPr id="32" name="Rounded Rectangle 31">
            <a:hlinkClick action="ppaction://hlinksldjump" r:id="rId4"/>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Menú (dia 2)</a:t>
            </a:r>
          </a:p>
        </p:txBody>
      </p:sp>
      <p:sp>
        <p:nvSpPr>
          <p:cNvPr id="33" name="TextBox 32"/>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Noodroute (§5): werkt zonder audio/internet</a:t>
            </a:r>
          </a:p>
        </p:txBody>
      </p:sp>
      <p:sp>
        <p:nvSpPr>
          <p:cNvPr id="34" name="Rounded Rectangle 33"/>
          <p:cNvSpPr/>
          <p:nvPr/>
        </p:nvSpPr>
        <p:spPr>
          <a:xfrm>
            <a:off x="457200" y="5120640"/>
            <a:ext cx="11247120" cy="594360"/>
          </a:xfrm>
          <a:prstGeom prst="roundRect">
            <a:avLst>
              <a:gd name="adj" fmla="val 6000"/>
            </a:avLst>
          </a:prstGeom>
          <a:solidFill>
            <a:srgbClr val="E4F4EE"/>
          </a:solidFill>
          <a:ln w="1905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157355"/>
                </a:solidFill>
                <a:latin typeface="Inter"/>
              </a:rPr>
              <a:t>Modelo: </a:t>
            </a:r>
            <a:r>
              <a:rPr sz="1200" b="0" i="0">
                <a:solidFill>
                  <a:srgbClr val="157355"/>
                </a:solidFill>
                <a:latin typeface="Inter"/>
              </a:rPr>
              <a:t>«Me levanto a las siete, me ducho y desayuno. Empiezo el insti a las nueve. Por la tarde juego al fútbol. A veces ceno tarde.»</a:t>
            </a:r>
          </a:p>
        </p:txBody>
      </p:sp>
      <p:sp>
        <p:nvSpPr>
          <p:cNvPr id="35" name="Rounded Rectangle 34"/>
          <p:cNvSpPr/>
          <p:nvPr/>
        </p:nvSpPr>
        <p:spPr>
          <a:xfrm>
            <a:off x="594360" y="4992624"/>
            <a:ext cx="1380743" cy="292608"/>
          </a:xfrm>
          <a:prstGeom prst="roundRect">
            <a:avLst>
              <a:gd name="adj" fmla="val 50000"/>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MODELO · docent</a:t>
            </a:r>
          </a:p>
        </p:txBody>
      </p:sp>
      <p:sp>
        <p:nvSpPr>
          <p:cNvPr id="36" name="Rectangle 35"/>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38" name="TextBox 37"/>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39" name="TextBox 38"/>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2053742"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E9E74"/>
                </a:solidFill>
                <a:latin typeface="Inter"/>
              </a:rPr>
              <a:t>§5 · LEER · COMPRENSIÓN</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5</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El día de Pau</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4F4EE"/>
                </a:solidFill>
                <a:latin typeface="Inter"/>
              </a:rPr>
              <a:t>Lees en beantwoord. Klik een vraag → het antwoord verschijnt.</a:t>
            </a:r>
          </a:p>
        </p:txBody>
      </p:sp>
      <p:sp>
        <p:nvSpPr>
          <p:cNvPr id="9" name="Rounded Rectangle 8"/>
          <p:cNvSpPr/>
          <p:nvPr/>
        </p:nvSpPr>
        <p:spPr>
          <a:xfrm>
            <a:off x="457200" y="1508760"/>
            <a:ext cx="5303520" cy="4023360"/>
          </a:xfrm>
          <a:prstGeom prst="roundRect">
            <a:avLst>
              <a:gd name="adj" fmla="val 5500"/>
            </a:avLst>
          </a:prstGeom>
          <a:solidFill>
            <a:srgbClr val="E4F4EE"/>
          </a:solidFill>
          <a:ln w="17780">
            <a:solidFill>
              <a:srgbClr val="1E9E74"/>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iego.png"/>
          <p:cNvPicPr>
            <a:picLocks noChangeAspect="1"/>
          </p:cNvPicPr>
          <p:nvPr/>
        </p:nvPicPr>
        <p:blipFill>
          <a:blip r:embed="rId2"/>
          <a:stretch>
            <a:fillRect/>
          </a:stretch>
        </p:blipFill>
        <p:spPr>
          <a:xfrm>
            <a:off x="731520" y="1737360"/>
            <a:ext cx="914400" cy="914400"/>
          </a:xfrm>
          <a:prstGeom prst="rect">
            <a:avLst/>
          </a:prstGeom>
        </p:spPr>
      </p:pic>
      <p:sp>
        <p:nvSpPr>
          <p:cNvPr id="11" name="TextBox 10"/>
          <p:cNvSpPr txBox="1"/>
          <p:nvPr/>
        </p:nvSpPr>
        <p:spPr>
          <a:xfrm>
            <a:off x="1828800" y="1783080"/>
            <a:ext cx="3749039" cy="3657600"/>
          </a:xfrm>
          <a:prstGeom prst="rect">
            <a:avLst/>
          </a:prstGeom>
          <a:noFill/>
        </p:spPr>
        <p:txBody>
          <a:bodyPr wrap="square" anchor="t" lIns="38100" rIns="38100" tIns="25400" bIns="25400">
            <a:spAutoFit/>
          </a:bodyPr>
          <a:lstStyle/>
          <a:p>
            <a:pPr algn="l">
              <a:lnSpc>
                <a:spcPct val="122000"/>
              </a:lnSpc>
              <a:spcBef>
                <a:spcPts val="0"/>
              </a:spcBef>
              <a:spcAft>
                <a:spcPts val="200"/>
              </a:spcAft>
            </a:pPr>
            <a:r>
              <a:rPr sz="1250" b="0" i="1">
                <a:solidFill>
                  <a:srgbClr val="20242E"/>
                </a:solidFill>
                <a:latin typeface="Inter"/>
              </a:rPr>
              <a:t>«Me despierto a las siete y me levanto enseguida. Me ducho, me visto y desayuno. Salgo de casa a las ocho y voy al instituto en metro. Las clases empiezan a las nueve. Al mediodía almuerzo con mis amigos. Por la tarde hago los deberes y juego al fútbol. Ceno a las nueve y me acuesto a las once.»</a:t>
            </a:r>
          </a:p>
        </p:txBody>
      </p:sp>
      <p:sp>
        <p:nvSpPr>
          <p:cNvPr id="12" name="Rounded Rectangle 11"/>
          <p:cNvSpPr/>
          <p:nvPr/>
        </p:nvSpPr>
        <p:spPr>
          <a:xfrm>
            <a:off x="5943600" y="1554480"/>
            <a:ext cx="57607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80760" y="1600200"/>
            <a:ext cx="5486400" cy="329184"/>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1" i="0">
                <a:solidFill>
                  <a:srgbClr val="157355"/>
                </a:solidFill>
                <a:latin typeface="Inter"/>
              </a:rPr>
              <a:t>¿A qué hora se despierta Pau?</a:t>
            </a:r>
          </a:p>
        </p:txBody>
      </p:sp>
      <p:sp>
        <p:nvSpPr>
          <p:cNvPr id="14" name="TextBox 13"/>
          <p:cNvSpPr txBox="1"/>
          <p:nvPr/>
        </p:nvSpPr>
        <p:spPr>
          <a:xfrm>
            <a:off x="6080760" y="1920240"/>
            <a:ext cx="5486400" cy="292608"/>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20242E"/>
                </a:solidFill>
                <a:latin typeface="Inter"/>
              </a:rPr>
              <a:t>→ A las siete</a:t>
            </a:r>
          </a:p>
        </p:txBody>
      </p:sp>
      <p:sp>
        <p:nvSpPr>
          <p:cNvPr id="15" name="Rounded Rectangle 14"/>
          <p:cNvSpPr/>
          <p:nvPr/>
        </p:nvSpPr>
        <p:spPr>
          <a:xfrm>
            <a:off x="5943600" y="2359152"/>
            <a:ext cx="57607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2404872"/>
            <a:ext cx="5486400" cy="329184"/>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1" i="0">
                <a:solidFill>
                  <a:srgbClr val="157355"/>
                </a:solidFill>
                <a:latin typeface="Inter"/>
              </a:rPr>
              <a:t>¿Cómo va al instituto?</a:t>
            </a:r>
          </a:p>
        </p:txBody>
      </p:sp>
      <p:sp>
        <p:nvSpPr>
          <p:cNvPr id="17" name="TextBox 16"/>
          <p:cNvSpPr txBox="1"/>
          <p:nvPr/>
        </p:nvSpPr>
        <p:spPr>
          <a:xfrm>
            <a:off x="6080760" y="2724912"/>
            <a:ext cx="5486400" cy="292608"/>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20242E"/>
                </a:solidFill>
                <a:latin typeface="Inter"/>
              </a:rPr>
              <a:t>→ En metro</a:t>
            </a:r>
          </a:p>
        </p:txBody>
      </p:sp>
      <p:sp>
        <p:nvSpPr>
          <p:cNvPr id="18" name="Rounded Rectangle 17"/>
          <p:cNvSpPr/>
          <p:nvPr/>
        </p:nvSpPr>
        <p:spPr>
          <a:xfrm>
            <a:off x="5943600" y="3163824"/>
            <a:ext cx="57607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80760" y="3209544"/>
            <a:ext cx="5486400" cy="329184"/>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1" i="0">
                <a:solidFill>
                  <a:srgbClr val="157355"/>
                </a:solidFill>
                <a:latin typeface="Inter"/>
              </a:rPr>
              <a:t>¿A qué hora empiezan las clases?</a:t>
            </a:r>
          </a:p>
        </p:txBody>
      </p:sp>
      <p:sp>
        <p:nvSpPr>
          <p:cNvPr id="20" name="TextBox 19"/>
          <p:cNvSpPr txBox="1"/>
          <p:nvPr/>
        </p:nvSpPr>
        <p:spPr>
          <a:xfrm>
            <a:off x="6080760" y="3529584"/>
            <a:ext cx="5486400" cy="292608"/>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20242E"/>
                </a:solidFill>
                <a:latin typeface="Inter"/>
              </a:rPr>
              <a:t>→ A las nueve</a:t>
            </a:r>
          </a:p>
        </p:txBody>
      </p:sp>
      <p:sp>
        <p:nvSpPr>
          <p:cNvPr id="21" name="Rounded Rectangle 20"/>
          <p:cNvSpPr/>
          <p:nvPr/>
        </p:nvSpPr>
        <p:spPr>
          <a:xfrm>
            <a:off x="5943600" y="3968496"/>
            <a:ext cx="57607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60" y="4014216"/>
            <a:ext cx="5486400" cy="329184"/>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1" i="0">
                <a:solidFill>
                  <a:srgbClr val="157355"/>
                </a:solidFill>
                <a:latin typeface="Inter"/>
              </a:rPr>
              <a:t>¿Qué hace por la tarde?</a:t>
            </a:r>
          </a:p>
        </p:txBody>
      </p:sp>
      <p:sp>
        <p:nvSpPr>
          <p:cNvPr id="23" name="TextBox 22"/>
          <p:cNvSpPr txBox="1"/>
          <p:nvPr/>
        </p:nvSpPr>
        <p:spPr>
          <a:xfrm>
            <a:off x="6080760" y="4334256"/>
            <a:ext cx="5486400" cy="292608"/>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20242E"/>
                </a:solidFill>
                <a:latin typeface="Inter"/>
              </a:rPr>
              <a:t>→ Los deberes y juega al fútbol</a:t>
            </a:r>
          </a:p>
        </p:txBody>
      </p:sp>
      <p:sp>
        <p:nvSpPr>
          <p:cNvPr id="24" name="Rounded Rectangle 23"/>
          <p:cNvSpPr/>
          <p:nvPr/>
        </p:nvSpPr>
        <p:spPr>
          <a:xfrm>
            <a:off x="5943600" y="4773168"/>
            <a:ext cx="57607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80760" y="4818888"/>
            <a:ext cx="5486400" cy="329184"/>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1" i="0">
                <a:solidFill>
                  <a:srgbClr val="157355"/>
                </a:solidFill>
                <a:latin typeface="Inter"/>
              </a:rPr>
              <a:t>¿A qué hora se acuesta?</a:t>
            </a:r>
          </a:p>
        </p:txBody>
      </p:sp>
      <p:sp>
        <p:nvSpPr>
          <p:cNvPr id="26" name="TextBox 25"/>
          <p:cNvSpPr txBox="1"/>
          <p:nvPr/>
        </p:nvSpPr>
        <p:spPr>
          <a:xfrm>
            <a:off x="6080760" y="5138928"/>
            <a:ext cx="5486400" cy="292608"/>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20242E"/>
                </a:solidFill>
                <a:latin typeface="Inter"/>
              </a:rPr>
              <a:t>→ A las once</a:t>
            </a:r>
          </a:p>
        </p:txBody>
      </p:sp>
      <p:sp>
        <p:nvSpPr>
          <p:cNvPr id="27" name="Rounded Rectangle 26"/>
          <p:cNvSpPr/>
          <p:nvPr/>
        </p:nvSpPr>
        <p:spPr>
          <a:xfrm>
            <a:off x="457200" y="6053328"/>
            <a:ext cx="2093976" cy="365760"/>
          </a:xfrm>
          <a:prstGeom prst="roundRect">
            <a:avLst>
              <a:gd name="adj" fmla="val 50000"/>
            </a:avLst>
          </a:prstGeom>
          <a:solidFill>
            <a:srgbClr val="1E9E74"/>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28" name="Rounded Rectangle 27"/>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Saltar</a:t>
            </a:r>
          </a:p>
        </p:txBody>
      </p:sp>
      <p:sp>
        <p:nvSpPr>
          <p:cNvPr id="29" name="Rounded Rectangle 28">
            <a:hlinkClick action="ppaction://hlinksldjump" r:id="rId4"/>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Menú (dia 2)</a:t>
            </a:r>
          </a:p>
        </p:txBody>
      </p:sp>
      <p:sp>
        <p:nvSpPr>
          <p:cNvPr id="30" name="TextBox 29"/>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Noodroute (§5): werkt zonder audio/internet</a:t>
            </a:r>
          </a:p>
        </p:txBody>
      </p:sp>
      <p:sp>
        <p:nvSpPr>
          <p:cNvPr id="31" name="Rounded Rectangle 30"/>
          <p:cNvSpPr/>
          <p:nvPr/>
        </p:nvSpPr>
        <p:spPr>
          <a:xfrm>
            <a:off x="5943600" y="5623560"/>
            <a:ext cx="5760720" cy="457200"/>
          </a:xfrm>
          <a:prstGeom prst="roundRect">
            <a:avLst>
              <a:gd name="adj" fmla="val 6000"/>
            </a:avLst>
          </a:prstGeom>
          <a:solidFill>
            <a:srgbClr val="E4F4EE"/>
          </a:solidFill>
          <a:ln w="1905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157355"/>
                </a:solidFill>
                <a:latin typeface="Inter"/>
              </a:rPr>
              <a:t>Daarna: </a:t>
            </a:r>
            <a:r>
              <a:rPr sz="1200" b="0" i="0">
                <a:solidFill>
                  <a:srgbClr val="157355"/>
                </a:solidFill>
                <a:latin typeface="Inter"/>
              </a:rPr>
              <a:t>leerlingen maken hun EIGEN horario (transfer → Tarea).</a:t>
            </a:r>
          </a:p>
        </p:txBody>
      </p:sp>
      <p:sp>
        <p:nvSpPr>
          <p:cNvPr id="32" name="Rounded Rectangle 31"/>
          <p:cNvSpPr/>
          <p:nvPr/>
        </p:nvSpPr>
        <p:spPr>
          <a:xfrm>
            <a:off x="6080760" y="5495544"/>
            <a:ext cx="1548993" cy="292608"/>
          </a:xfrm>
          <a:prstGeom prst="roundRect">
            <a:avLst>
              <a:gd name="adj" fmla="val 50000"/>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 · docent</a:t>
            </a:r>
          </a:p>
        </p:txBody>
      </p:sp>
      <p:sp>
        <p:nvSpPr>
          <p:cNvPr id="33" name="Rectangle 32"/>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35" name="TextBox 34"/>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36" name="TextBox 35"/>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212494"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E9E74"/>
                </a:solidFill>
                <a:latin typeface="Inter"/>
              </a:rPr>
              <a:t>§1 · ESCUCHAR</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1</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Escucha y anota la hora</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4F4EE"/>
                </a:solidFill>
                <a:latin typeface="Inter"/>
              </a:rPr>
              <a:t>Vier momenten van de dag. Klik een kaart → hora + acción. (audio op de digitale pagina)</a:t>
            </a:r>
          </a:p>
        </p:txBody>
      </p:sp>
      <p:sp>
        <p:nvSpPr>
          <p:cNvPr id="9" name="Rounded Rectangle 8"/>
          <p:cNvSpPr/>
          <p:nvPr/>
        </p:nvSpPr>
        <p:spPr>
          <a:xfrm>
            <a:off x="640080" y="1737360"/>
            <a:ext cx="2697480" cy="2194560"/>
          </a:xfrm>
          <a:prstGeom prst="roundRect">
            <a:avLst>
              <a:gd name="adj" fmla="val 5500"/>
            </a:avLst>
          </a:prstGeom>
          <a:solidFill>
            <a:srgbClr val="FFFFFF"/>
          </a:solidFill>
          <a:ln w="15240">
            <a:solidFill>
              <a:srgbClr val="E4E3DE"/>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737360"/>
            <a:ext cx="2697480" cy="457200"/>
          </a:xfrm>
          <a:prstGeom prst="rect">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737360"/>
            <a:ext cx="2697480" cy="45720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157355"/>
                </a:solidFill>
                <a:latin typeface="Bricolage Grotesque"/>
              </a:rPr>
              <a:t>🔊  Por la mañana</a:t>
            </a:r>
          </a:p>
        </p:txBody>
      </p:sp>
      <p:sp>
        <p:nvSpPr>
          <p:cNvPr id="12" name="TextBox 11"/>
          <p:cNvSpPr txBox="1"/>
          <p:nvPr/>
        </p:nvSpPr>
        <p:spPr>
          <a:xfrm>
            <a:off x="777240" y="233172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6A6E78"/>
                </a:solidFill>
                <a:latin typeface="Inter"/>
              </a:rPr>
              <a:t>Hora:</a:t>
            </a:r>
          </a:p>
        </p:txBody>
      </p:sp>
      <p:sp>
        <p:nvSpPr>
          <p:cNvPr id="13" name="TextBox 12"/>
          <p:cNvSpPr txBox="1"/>
          <p:nvPr/>
        </p:nvSpPr>
        <p:spPr>
          <a:xfrm>
            <a:off x="777240" y="265176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600" b="1" i="0">
                <a:solidFill>
                  <a:srgbClr val="20242E"/>
                </a:solidFill>
                <a:latin typeface="Bricolage Grotesque"/>
              </a:rPr>
              <a:t>7:00</a:t>
            </a:r>
          </a:p>
        </p:txBody>
      </p:sp>
      <p:sp>
        <p:nvSpPr>
          <p:cNvPr id="14" name="TextBox 13"/>
          <p:cNvSpPr txBox="1"/>
          <p:nvPr/>
        </p:nvSpPr>
        <p:spPr>
          <a:xfrm>
            <a:off x="777240" y="310896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6A6E78"/>
                </a:solidFill>
                <a:latin typeface="Inter"/>
              </a:rPr>
              <a:t>Acción:</a:t>
            </a:r>
          </a:p>
        </p:txBody>
      </p:sp>
      <p:sp>
        <p:nvSpPr>
          <p:cNvPr id="15" name="TextBox 14"/>
          <p:cNvSpPr txBox="1"/>
          <p:nvPr/>
        </p:nvSpPr>
        <p:spPr>
          <a:xfrm>
            <a:off x="777240" y="342900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400" b="1" i="0">
                <a:solidFill>
                  <a:srgbClr val="1E9E74"/>
                </a:solidFill>
                <a:latin typeface="Inter"/>
              </a:rPr>
              <a:t>me levanto</a:t>
            </a:r>
          </a:p>
        </p:txBody>
      </p:sp>
      <p:sp>
        <p:nvSpPr>
          <p:cNvPr id="16" name="Rounded Rectangle 15"/>
          <p:cNvSpPr/>
          <p:nvPr/>
        </p:nvSpPr>
        <p:spPr>
          <a:xfrm>
            <a:off x="3429000" y="1737360"/>
            <a:ext cx="2697480" cy="2194560"/>
          </a:xfrm>
          <a:prstGeom prst="roundRect">
            <a:avLst>
              <a:gd name="adj" fmla="val 5500"/>
            </a:avLst>
          </a:prstGeom>
          <a:solidFill>
            <a:srgbClr val="FFFFFF"/>
          </a:solidFill>
          <a:ln w="15240">
            <a:solidFill>
              <a:srgbClr val="E4E3DE"/>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29000" y="1737360"/>
            <a:ext cx="2697480" cy="457200"/>
          </a:xfrm>
          <a:prstGeom prst="rect">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29000" y="1737360"/>
            <a:ext cx="2697480" cy="45720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157355"/>
                </a:solidFill>
                <a:latin typeface="Bricolage Grotesque"/>
              </a:rPr>
              <a:t>🔊  Al mediodía</a:t>
            </a:r>
          </a:p>
        </p:txBody>
      </p:sp>
      <p:sp>
        <p:nvSpPr>
          <p:cNvPr id="19" name="TextBox 18"/>
          <p:cNvSpPr txBox="1"/>
          <p:nvPr/>
        </p:nvSpPr>
        <p:spPr>
          <a:xfrm>
            <a:off x="3566160" y="233172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6A6E78"/>
                </a:solidFill>
                <a:latin typeface="Inter"/>
              </a:rPr>
              <a:t>Hora:</a:t>
            </a:r>
          </a:p>
        </p:txBody>
      </p:sp>
      <p:sp>
        <p:nvSpPr>
          <p:cNvPr id="20" name="TextBox 19"/>
          <p:cNvSpPr txBox="1"/>
          <p:nvPr/>
        </p:nvSpPr>
        <p:spPr>
          <a:xfrm>
            <a:off x="3566160" y="265176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600" b="1" i="0">
                <a:solidFill>
                  <a:srgbClr val="20242E"/>
                </a:solidFill>
                <a:latin typeface="Bricolage Grotesque"/>
              </a:rPr>
              <a:t>14:30</a:t>
            </a:r>
          </a:p>
        </p:txBody>
      </p:sp>
      <p:sp>
        <p:nvSpPr>
          <p:cNvPr id="21" name="TextBox 20"/>
          <p:cNvSpPr txBox="1"/>
          <p:nvPr/>
        </p:nvSpPr>
        <p:spPr>
          <a:xfrm>
            <a:off x="3566160" y="310896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6A6E78"/>
                </a:solidFill>
                <a:latin typeface="Inter"/>
              </a:rPr>
              <a:t>Acción:</a:t>
            </a:r>
          </a:p>
        </p:txBody>
      </p:sp>
      <p:sp>
        <p:nvSpPr>
          <p:cNvPr id="22" name="TextBox 21"/>
          <p:cNvSpPr txBox="1"/>
          <p:nvPr/>
        </p:nvSpPr>
        <p:spPr>
          <a:xfrm>
            <a:off x="3566160" y="342900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400" b="1" i="0">
                <a:solidFill>
                  <a:srgbClr val="1E9E74"/>
                </a:solidFill>
                <a:latin typeface="Inter"/>
              </a:rPr>
              <a:t>almuerzo</a:t>
            </a:r>
          </a:p>
        </p:txBody>
      </p:sp>
      <p:sp>
        <p:nvSpPr>
          <p:cNvPr id="23" name="Rounded Rectangle 22"/>
          <p:cNvSpPr/>
          <p:nvPr/>
        </p:nvSpPr>
        <p:spPr>
          <a:xfrm>
            <a:off x="6217920" y="1737360"/>
            <a:ext cx="2697480" cy="2194560"/>
          </a:xfrm>
          <a:prstGeom prst="roundRect">
            <a:avLst>
              <a:gd name="adj" fmla="val 5500"/>
            </a:avLst>
          </a:prstGeom>
          <a:solidFill>
            <a:srgbClr val="FFFFFF"/>
          </a:solidFill>
          <a:ln w="15240">
            <a:solidFill>
              <a:srgbClr val="E4E3DE"/>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1737360"/>
            <a:ext cx="2697480" cy="457200"/>
          </a:xfrm>
          <a:prstGeom prst="rect">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0" y="1737360"/>
            <a:ext cx="2697480" cy="45720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157355"/>
                </a:solidFill>
                <a:latin typeface="Bricolage Grotesque"/>
              </a:rPr>
              <a:t>🔊  Por la tarde</a:t>
            </a:r>
          </a:p>
        </p:txBody>
      </p:sp>
      <p:sp>
        <p:nvSpPr>
          <p:cNvPr id="26" name="TextBox 25"/>
          <p:cNvSpPr txBox="1"/>
          <p:nvPr/>
        </p:nvSpPr>
        <p:spPr>
          <a:xfrm>
            <a:off x="6355080" y="233172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6A6E78"/>
                </a:solidFill>
                <a:latin typeface="Inter"/>
              </a:rPr>
              <a:t>Hora:</a:t>
            </a:r>
          </a:p>
        </p:txBody>
      </p:sp>
      <p:sp>
        <p:nvSpPr>
          <p:cNvPr id="27" name="TextBox 26"/>
          <p:cNvSpPr txBox="1"/>
          <p:nvPr/>
        </p:nvSpPr>
        <p:spPr>
          <a:xfrm>
            <a:off x="6355080" y="265176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600" b="1" i="0">
                <a:solidFill>
                  <a:srgbClr val="20242E"/>
                </a:solidFill>
                <a:latin typeface="Bricolage Grotesque"/>
              </a:rPr>
              <a:t>17:00</a:t>
            </a:r>
          </a:p>
        </p:txBody>
      </p:sp>
      <p:sp>
        <p:nvSpPr>
          <p:cNvPr id="28" name="TextBox 27"/>
          <p:cNvSpPr txBox="1"/>
          <p:nvPr/>
        </p:nvSpPr>
        <p:spPr>
          <a:xfrm>
            <a:off x="6355080" y="310896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6A6E78"/>
                </a:solidFill>
                <a:latin typeface="Inter"/>
              </a:rPr>
              <a:t>Acción:</a:t>
            </a:r>
          </a:p>
        </p:txBody>
      </p:sp>
      <p:sp>
        <p:nvSpPr>
          <p:cNvPr id="29" name="TextBox 28"/>
          <p:cNvSpPr txBox="1"/>
          <p:nvPr/>
        </p:nvSpPr>
        <p:spPr>
          <a:xfrm>
            <a:off x="6355080" y="342900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400" b="1" i="0">
                <a:solidFill>
                  <a:srgbClr val="1E9E74"/>
                </a:solidFill>
                <a:latin typeface="Inter"/>
              </a:rPr>
              <a:t>hago los deberes</a:t>
            </a:r>
          </a:p>
        </p:txBody>
      </p:sp>
      <p:sp>
        <p:nvSpPr>
          <p:cNvPr id="30" name="Rounded Rectangle 29"/>
          <p:cNvSpPr/>
          <p:nvPr/>
        </p:nvSpPr>
        <p:spPr>
          <a:xfrm>
            <a:off x="9006840" y="1737360"/>
            <a:ext cx="2697480" cy="2194560"/>
          </a:xfrm>
          <a:prstGeom prst="roundRect">
            <a:avLst>
              <a:gd name="adj" fmla="val 5500"/>
            </a:avLst>
          </a:prstGeom>
          <a:solidFill>
            <a:srgbClr val="FFFFFF"/>
          </a:solidFill>
          <a:ln w="15240">
            <a:solidFill>
              <a:srgbClr val="E4E3DE"/>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06840" y="1737360"/>
            <a:ext cx="2697480" cy="457200"/>
          </a:xfrm>
          <a:prstGeom prst="rect">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06840" y="1737360"/>
            <a:ext cx="2697480" cy="457200"/>
          </a:xfrm>
          <a:prstGeom prst="rect">
            <a:avLst/>
          </a:prstGeom>
          <a:noFill/>
        </p:spPr>
        <p:txBody>
          <a:bodyPr wrap="square" anchor="ctr" lIns="38100" rIns="38100" tIns="25400" bIns="25400">
            <a:spAutoFit/>
          </a:bodyPr>
          <a:lstStyle/>
          <a:p>
            <a:pPr algn="ctr">
              <a:lnSpc>
                <a:spcPct val="106000"/>
              </a:lnSpc>
              <a:spcBef>
                <a:spcPts val="0"/>
              </a:spcBef>
              <a:spcAft>
                <a:spcPts val="200"/>
              </a:spcAft>
            </a:pPr>
            <a:r>
              <a:rPr sz="1300" b="1" i="0">
                <a:solidFill>
                  <a:srgbClr val="157355"/>
                </a:solidFill>
                <a:latin typeface="Bricolage Grotesque"/>
              </a:rPr>
              <a:t>🔊  Por la noche</a:t>
            </a:r>
          </a:p>
        </p:txBody>
      </p:sp>
      <p:sp>
        <p:nvSpPr>
          <p:cNvPr id="33" name="TextBox 32"/>
          <p:cNvSpPr txBox="1"/>
          <p:nvPr/>
        </p:nvSpPr>
        <p:spPr>
          <a:xfrm>
            <a:off x="9144000" y="233172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6A6E78"/>
                </a:solidFill>
                <a:latin typeface="Inter"/>
              </a:rPr>
              <a:t>Hora:</a:t>
            </a:r>
          </a:p>
        </p:txBody>
      </p:sp>
      <p:sp>
        <p:nvSpPr>
          <p:cNvPr id="34" name="TextBox 33"/>
          <p:cNvSpPr txBox="1"/>
          <p:nvPr/>
        </p:nvSpPr>
        <p:spPr>
          <a:xfrm>
            <a:off x="9144000" y="265176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600" b="1" i="0">
                <a:solidFill>
                  <a:srgbClr val="20242E"/>
                </a:solidFill>
                <a:latin typeface="Bricolage Grotesque"/>
              </a:rPr>
              <a:t>23:00</a:t>
            </a:r>
          </a:p>
        </p:txBody>
      </p:sp>
      <p:sp>
        <p:nvSpPr>
          <p:cNvPr id="35" name="TextBox 34"/>
          <p:cNvSpPr txBox="1"/>
          <p:nvPr/>
        </p:nvSpPr>
        <p:spPr>
          <a:xfrm>
            <a:off x="9144000" y="310896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6A6E78"/>
                </a:solidFill>
                <a:latin typeface="Inter"/>
              </a:rPr>
              <a:t>Acción:</a:t>
            </a:r>
          </a:p>
        </p:txBody>
      </p:sp>
      <p:sp>
        <p:nvSpPr>
          <p:cNvPr id="36" name="TextBox 35"/>
          <p:cNvSpPr txBox="1"/>
          <p:nvPr/>
        </p:nvSpPr>
        <p:spPr>
          <a:xfrm>
            <a:off x="9144000" y="3429000"/>
            <a:ext cx="242316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400" b="1" i="0">
                <a:solidFill>
                  <a:srgbClr val="1E9E74"/>
                </a:solidFill>
                <a:latin typeface="Inter"/>
              </a:rPr>
              <a:t>me acuesto</a:t>
            </a:r>
          </a:p>
        </p:txBody>
      </p:sp>
      <p:sp>
        <p:nvSpPr>
          <p:cNvPr id="37" name="Rounded Rectangle 36"/>
          <p:cNvSpPr/>
          <p:nvPr/>
        </p:nvSpPr>
        <p:spPr>
          <a:xfrm>
            <a:off x="457200" y="6053328"/>
            <a:ext cx="2093976" cy="365760"/>
          </a:xfrm>
          <a:prstGeom prst="roundRect">
            <a:avLst>
              <a:gd name="adj" fmla="val 50000"/>
            </a:avLst>
          </a:prstGeom>
          <a:solidFill>
            <a:srgbClr val="1E9E74"/>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38" name="Rounded Rectangle 37"/>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Saltar</a:t>
            </a:r>
          </a:p>
        </p:txBody>
      </p:sp>
      <p:sp>
        <p:nvSpPr>
          <p:cNvPr id="39" name="Rounded Rectangle 38">
            <a:hlinkClick action="ppaction://hlinksldjump" r:id="rId3"/>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Menú (dia 2)</a:t>
            </a:r>
          </a:p>
        </p:txBody>
      </p:sp>
      <p:sp>
        <p:nvSpPr>
          <p:cNvPr id="40" name="TextBox 39"/>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Noodroute (§5): werkt zonder audio/internet</a:t>
            </a:r>
          </a:p>
        </p:txBody>
      </p:sp>
      <p:sp>
        <p:nvSpPr>
          <p:cNvPr id="41" name="Rounded Rectangle 40"/>
          <p:cNvSpPr/>
          <p:nvPr/>
        </p:nvSpPr>
        <p:spPr>
          <a:xfrm>
            <a:off x="457200" y="4480560"/>
            <a:ext cx="11247120" cy="777240"/>
          </a:xfrm>
          <a:prstGeom prst="roundRect">
            <a:avLst>
              <a:gd name="adj" fmla="val 6000"/>
            </a:avLst>
          </a:prstGeom>
          <a:solidFill>
            <a:srgbClr val="E4F4EE"/>
          </a:solidFill>
          <a:ln w="1905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157355"/>
                </a:solidFill>
                <a:latin typeface="Inter"/>
              </a:rPr>
              <a:t>Modelo-audio (docent leest of TTS): </a:t>
            </a:r>
            <a:r>
              <a:rPr sz="1200" b="0" i="0">
                <a:solidFill>
                  <a:srgbClr val="157355"/>
                </a:solidFill>
                <a:latin typeface="Inter"/>
              </a:rPr>
              <a:t>«Por la mañana, a las siete, me levanto.» …</a:t>
            </a:r>
          </a:p>
          <a:p>
            <a:pPr>
              <a:lnSpc>
                <a:spcPct val="102000"/>
              </a:lnSpc>
              <a:spcBef>
                <a:spcPts val="0"/>
              </a:spcBef>
              <a:spcAft>
                <a:spcPts val="300"/>
              </a:spcAft>
            </a:pPr>
            <a:r>
              <a:rPr sz="1200" b="0" i="0">
                <a:solidFill>
                  <a:srgbClr val="157355"/>
                </a:solidFill>
                <a:latin typeface="Inter"/>
              </a:rPr>
              <a:t>de la mañana/tarde/noche = concreet uur · por la mañana/tarde/noche = dagdeel (geen uur).</a:t>
            </a:r>
          </a:p>
        </p:txBody>
      </p:sp>
      <p:sp>
        <p:nvSpPr>
          <p:cNvPr id="42" name="Rounded Rectangle 41"/>
          <p:cNvSpPr/>
          <p:nvPr/>
        </p:nvSpPr>
        <p:spPr>
          <a:xfrm>
            <a:off x="594360" y="4352544"/>
            <a:ext cx="1548993" cy="292608"/>
          </a:xfrm>
          <a:prstGeom prst="roundRect">
            <a:avLst>
              <a:gd name="adj" fmla="val 50000"/>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 · docent</a:t>
            </a:r>
          </a:p>
        </p:txBody>
      </p:sp>
      <p:sp>
        <p:nvSpPr>
          <p:cNvPr id="43" name="Rectangle 42"/>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45" name="TextBox 44"/>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46" name="TextBox 45"/>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500"/>
                                        <p:tgtEl>
                                          <p:spTgt spid="3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500"/>
                                        <p:tgtEl>
                                          <p:spTgt spid="4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fade">
                                      <p:cBhvr>
                                        <p:cTn id="5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801367"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E9E74"/>
                </a:solidFill>
                <a:latin typeface="Inter"/>
              </a:rPr>
              <a:t>WRITING · PRODUCCIÓN</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2</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Un día en mi vida</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4F4EE"/>
                </a:solidFill>
                <a:latin typeface="Inter"/>
              </a:rPr>
              <a:t>Schrijf 6 zinnen over jouw dag. Klik → een modeltekst verschijnt.</a:t>
            </a:r>
          </a:p>
        </p:txBody>
      </p:sp>
      <p:sp>
        <p:nvSpPr>
          <p:cNvPr id="9" name="Rounded Rectangle 8"/>
          <p:cNvSpPr/>
          <p:nvPr/>
        </p:nvSpPr>
        <p:spPr>
          <a:xfrm>
            <a:off x="457200" y="1554480"/>
            <a:ext cx="5486400" cy="3566160"/>
          </a:xfrm>
          <a:prstGeom prst="roundRect">
            <a:avLst>
              <a:gd name="adj" fmla="val 5500"/>
            </a:avLst>
          </a:prstGeom>
          <a:solidFill>
            <a:srgbClr val="FFFFFF"/>
          </a:solidFill>
          <a:ln w="15240">
            <a:solidFill>
              <a:srgbClr val="E4E3DE"/>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512064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1" i="0">
                <a:solidFill>
                  <a:srgbClr val="157355"/>
                </a:solidFill>
                <a:latin typeface="Inter"/>
              </a:rPr>
              <a:t>✍️ Escribe aquí:</a:t>
            </a:r>
          </a:p>
        </p:txBody>
      </p:sp>
      <p:sp>
        <p:nvSpPr>
          <p:cNvPr id="11" name="Rectangle 10"/>
          <p:cNvSpPr/>
          <p:nvPr/>
        </p:nvSpPr>
        <p:spPr>
          <a:xfrm>
            <a:off x="640080" y="2194560"/>
            <a:ext cx="5120640" cy="9144"/>
          </a:xfrm>
          <a:prstGeom prst="rect">
            <a:avLst/>
          </a:prstGeom>
          <a:solidFill>
            <a:srgbClr val="E4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2651760"/>
            <a:ext cx="5120640" cy="9144"/>
          </a:xfrm>
          <a:prstGeom prst="rect">
            <a:avLst/>
          </a:prstGeom>
          <a:solidFill>
            <a:srgbClr val="E4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3108960"/>
            <a:ext cx="5120640" cy="9144"/>
          </a:xfrm>
          <a:prstGeom prst="rect">
            <a:avLst/>
          </a:prstGeom>
          <a:solidFill>
            <a:srgbClr val="E4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3566160"/>
            <a:ext cx="5120640" cy="9144"/>
          </a:xfrm>
          <a:prstGeom prst="rect">
            <a:avLst/>
          </a:prstGeom>
          <a:solidFill>
            <a:srgbClr val="E4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4023360"/>
            <a:ext cx="5120640" cy="9144"/>
          </a:xfrm>
          <a:prstGeom prst="rect">
            <a:avLst/>
          </a:prstGeom>
          <a:solidFill>
            <a:srgbClr val="E4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480560"/>
            <a:ext cx="5120640" cy="9144"/>
          </a:xfrm>
          <a:prstGeom prst="rect">
            <a:avLst/>
          </a:prstGeom>
          <a:solidFill>
            <a:srgbClr val="E4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1554480"/>
            <a:ext cx="548640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157355"/>
                </a:solidFill>
                <a:latin typeface="Bricolage Grotesque"/>
              </a:rPr>
              <a:t>Checklist:</a:t>
            </a:r>
          </a:p>
        </p:txBody>
      </p:sp>
      <p:sp>
        <p:nvSpPr>
          <p:cNvPr id="18" name="TextBox 17"/>
          <p:cNvSpPr txBox="1"/>
          <p:nvPr/>
        </p:nvSpPr>
        <p:spPr>
          <a:xfrm>
            <a:off x="6309360" y="2011680"/>
            <a:ext cx="548640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0" i="0">
                <a:solidFill>
                  <a:srgbClr val="20242E"/>
                </a:solidFill>
                <a:latin typeface="Inter"/>
              </a:rPr>
              <a:t>☐  una hora (es la / son las…)</a:t>
            </a:r>
          </a:p>
        </p:txBody>
      </p:sp>
      <p:sp>
        <p:nvSpPr>
          <p:cNvPr id="19" name="TextBox 18"/>
          <p:cNvSpPr txBox="1"/>
          <p:nvPr/>
        </p:nvSpPr>
        <p:spPr>
          <a:xfrm>
            <a:off x="6309360" y="2423160"/>
            <a:ext cx="548640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0" i="0">
                <a:solidFill>
                  <a:srgbClr val="20242E"/>
                </a:solidFill>
                <a:latin typeface="Inter"/>
              </a:rPr>
              <a:t>☐  un verbo reflexivo (me levanto…)</a:t>
            </a:r>
          </a:p>
        </p:txBody>
      </p:sp>
      <p:sp>
        <p:nvSpPr>
          <p:cNvPr id="20" name="TextBox 19"/>
          <p:cNvSpPr txBox="1"/>
          <p:nvPr/>
        </p:nvSpPr>
        <p:spPr>
          <a:xfrm>
            <a:off x="6309360" y="2834640"/>
            <a:ext cx="548640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0" i="0">
                <a:solidFill>
                  <a:srgbClr val="20242E"/>
                </a:solidFill>
                <a:latin typeface="Inter"/>
              </a:rPr>
              <a:t>☐  un verbo irregular (empiezo…)</a:t>
            </a:r>
          </a:p>
        </p:txBody>
      </p:sp>
      <p:sp>
        <p:nvSpPr>
          <p:cNvPr id="21" name="TextBox 20"/>
          <p:cNvSpPr txBox="1"/>
          <p:nvPr/>
        </p:nvSpPr>
        <p:spPr>
          <a:xfrm>
            <a:off x="6309360" y="3246120"/>
            <a:ext cx="548640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0" i="0">
                <a:solidFill>
                  <a:srgbClr val="20242E"/>
                </a:solidFill>
                <a:latin typeface="Inter"/>
              </a:rPr>
              <a:t>☐  un conector (primero, después…)</a:t>
            </a:r>
          </a:p>
        </p:txBody>
      </p:sp>
      <p:sp>
        <p:nvSpPr>
          <p:cNvPr id="22" name="TextBox 21"/>
          <p:cNvSpPr txBox="1"/>
          <p:nvPr/>
        </p:nvSpPr>
        <p:spPr>
          <a:xfrm>
            <a:off x="6309360" y="3657600"/>
            <a:ext cx="548640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0" i="0">
                <a:solidFill>
                  <a:srgbClr val="20242E"/>
                </a:solidFill>
                <a:latin typeface="Inter"/>
              </a:rPr>
              <a:t>☐  una frecuencia (siempre, a veces)</a:t>
            </a:r>
          </a:p>
        </p:txBody>
      </p:sp>
      <p:sp>
        <p:nvSpPr>
          <p:cNvPr id="23" name="TextBox 22"/>
          <p:cNvSpPr txBox="1"/>
          <p:nvPr/>
        </p:nvSpPr>
        <p:spPr>
          <a:xfrm>
            <a:off x="6309360" y="4069080"/>
            <a:ext cx="548640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0" i="0">
                <a:solidFill>
                  <a:srgbClr val="20242E"/>
                </a:solidFill>
                <a:latin typeface="Inter"/>
              </a:rPr>
              <a:t>☐  mañana + tarde + noche</a:t>
            </a:r>
          </a:p>
        </p:txBody>
      </p:sp>
      <p:sp>
        <p:nvSpPr>
          <p:cNvPr id="24" name="Rounded Rectangle 23"/>
          <p:cNvSpPr/>
          <p:nvPr/>
        </p:nvSpPr>
        <p:spPr>
          <a:xfrm>
            <a:off x="6309360" y="4114800"/>
            <a:ext cx="5486400" cy="1005840"/>
          </a:xfrm>
          <a:prstGeom prst="roundRect">
            <a:avLst>
              <a:gd name="adj" fmla="val 5500"/>
            </a:avLst>
          </a:prstGeom>
          <a:solidFill>
            <a:srgbClr val="E4F4EE"/>
          </a:solidFill>
          <a:ln w="15240">
            <a:solidFill>
              <a:srgbClr val="1E9E74"/>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4160520"/>
            <a:ext cx="5212080" cy="914400"/>
          </a:xfrm>
          <a:prstGeom prst="rect">
            <a:avLst/>
          </a:prstGeom>
          <a:noFill/>
        </p:spPr>
        <p:txBody>
          <a:bodyPr wrap="square" anchor="t" lIns="38100" rIns="38100" tIns="25400" bIns="25400">
            <a:spAutoFit/>
          </a:bodyPr>
          <a:lstStyle/>
          <a:p>
            <a:pPr algn="l">
              <a:lnSpc>
                <a:spcPct val="115000"/>
              </a:lnSpc>
              <a:spcBef>
                <a:spcPts val="0"/>
              </a:spcBef>
              <a:spcAft>
                <a:spcPts val="200"/>
              </a:spcAft>
            </a:pPr>
            <a:r>
              <a:rPr sz="1200" b="1" i="0">
                <a:solidFill>
                  <a:srgbClr val="157355"/>
                </a:solidFill>
                <a:latin typeface="Inter"/>
              </a:rPr>
              <a:t>Modelo: </a:t>
            </a:r>
            <a:r>
              <a:rPr sz="1200" b="0" i="1">
                <a:solidFill>
                  <a:srgbClr val="20242E"/>
                </a:solidFill>
                <a:latin typeface="Inter"/>
              </a:rPr>
              <a:t>«Normalmente me levanto a las siete, me ducho y desayuno. Empiezo el insti a las nueve. Por la tarde hago los deberes y a veces juego al fútbol. Me acuesto a las once.»</a:t>
            </a:r>
          </a:p>
        </p:txBody>
      </p:sp>
      <p:sp>
        <p:nvSpPr>
          <p:cNvPr id="26" name="Rounded Rectangle 25"/>
          <p:cNvSpPr/>
          <p:nvPr/>
        </p:nvSpPr>
        <p:spPr>
          <a:xfrm>
            <a:off x="457200" y="6053328"/>
            <a:ext cx="2093976" cy="365760"/>
          </a:xfrm>
          <a:prstGeom prst="roundRect">
            <a:avLst>
              <a:gd name="adj" fmla="val 50000"/>
            </a:avLst>
          </a:prstGeom>
          <a:solidFill>
            <a:srgbClr val="1E9E74"/>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27" name="Rounded Rectangle 26"/>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Saltar</a:t>
            </a:r>
          </a:p>
        </p:txBody>
      </p:sp>
      <p:sp>
        <p:nvSpPr>
          <p:cNvPr id="28" name="Rounded Rectangle 27">
            <a:hlinkClick action="ppaction://hlinksldjump" r:id="rId3"/>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Menú (dia 2)</a:t>
            </a:r>
          </a:p>
        </p:txBody>
      </p:sp>
      <p:sp>
        <p:nvSpPr>
          <p:cNvPr id="29" name="TextBox 28"/>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Noodroute (§5): werkt zonder audio/internet</a:t>
            </a:r>
          </a:p>
        </p:txBody>
      </p:sp>
      <p:sp>
        <p:nvSpPr>
          <p:cNvPr id="30" name="Rectangle 29"/>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32" name="TextBox 31"/>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33" name="TextBox 32"/>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464868"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E9E74"/>
                </a:solidFill>
                <a:latin typeface="Inter"/>
              </a:rPr>
              <a:t>TALLER DE LENGUA</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2</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Conectores temporales y tildes</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4F4EE"/>
                </a:solidFill>
                <a:latin typeface="Inter"/>
              </a:rPr>
              <a:t>Klik een item → correcte vorm. Twee gereedschappen om je dag te vertellen.</a:t>
            </a:r>
          </a:p>
        </p:txBody>
      </p:sp>
      <p:sp>
        <p:nvSpPr>
          <p:cNvPr id="9" name="TextBox 8"/>
          <p:cNvSpPr txBox="1"/>
          <p:nvPr/>
        </p:nvSpPr>
        <p:spPr>
          <a:xfrm>
            <a:off x="457200" y="1371600"/>
            <a:ext cx="5486400" cy="32004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400" b="1" i="0">
                <a:solidFill>
                  <a:srgbClr val="157355"/>
                </a:solidFill>
                <a:latin typeface="Bricolage Grotesque"/>
              </a:rPr>
              <a:t>A · conectores temporales</a:t>
            </a:r>
          </a:p>
        </p:txBody>
      </p:sp>
      <p:sp>
        <p:nvSpPr>
          <p:cNvPr id="10" name="Rounded Rectangle 9"/>
          <p:cNvSpPr/>
          <p:nvPr/>
        </p:nvSpPr>
        <p:spPr>
          <a:xfrm>
            <a:off x="457200" y="1783080"/>
            <a:ext cx="548640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783080"/>
            <a:ext cx="265176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___ me levanto.</a:t>
            </a:r>
          </a:p>
        </p:txBody>
      </p:sp>
      <p:sp>
        <p:nvSpPr>
          <p:cNvPr id="12" name="TextBox 11"/>
          <p:cNvSpPr txBox="1"/>
          <p:nvPr/>
        </p:nvSpPr>
        <p:spPr>
          <a:xfrm>
            <a:off x="3200400" y="1783080"/>
            <a:ext cx="265176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157355"/>
                </a:solidFill>
                <a:latin typeface="Inter"/>
              </a:rPr>
              <a:t>Primero </a:t>
            </a:r>
            <a:r>
              <a:rPr sz="900" b="0" i="1">
                <a:solidFill>
                  <a:srgbClr val="6A6E78"/>
                </a:solidFill>
                <a:latin typeface="Inter"/>
              </a:rPr>
              <a:t>· eerst</a:t>
            </a:r>
          </a:p>
        </p:txBody>
      </p:sp>
      <p:sp>
        <p:nvSpPr>
          <p:cNvPr id="13" name="Rounded Rectangle 12"/>
          <p:cNvSpPr/>
          <p:nvPr/>
        </p:nvSpPr>
        <p:spPr>
          <a:xfrm>
            <a:off x="457200" y="2441448"/>
            <a:ext cx="548640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441448"/>
            <a:ext cx="265176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___ desayuno.</a:t>
            </a:r>
          </a:p>
        </p:txBody>
      </p:sp>
      <p:sp>
        <p:nvSpPr>
          <p:cNvPr id="15" name="TextBox 14"/>
          <p:cNvSpPr txBox="1"/>
          <p:nvPr/>
        </p:nvSpPr>
        <p:spPr>
          <a:xfrm>
            <a:off x="3200400" y="2441448"/>
            <a:ext cx="265176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157355"/>
                </a:solidFill>
                <a:latin typeface="Inter"/>
              </a:rPr>
              <a:t>Después / Luego </a:t>
            </a:r>
            <a:r>
              <a:rPr sz="900" b="0" i="1">
                <a:solidFill>
                  <a:srgbClr val="6A6E78"/>
                </a:solidFill>
                <a:latin typeface="Inter"/>
              </a:rPr>
              <a:t>· daarna</a:t>
            </a:r>
          </a:p>
        </p:txBody>
      </p:sp>
      <p:sp>
        <p:nvSpPr>
          <p:cNvPr id="16" name="Rounded Rectangle 15"/>
          <p:cNvSpPr/>
          <p:nvPr/>
        </p:nvSpPr>
        <p:spPr>
          <a:xfrm>
            <a:off x="457200" y="3099816"/>
            <a:ext cx="548640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099816"/>
            <a:ext cx="265176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___ hago los deberes.</a:t>
            </a:r>
          </a:p>
        </p:txBody>
      </p:sp>
      <p:sp>
        <p:nvSpPr>
          <p:cNvPr id="18" name="TextBox 17"/>
          <p:cNvSpPr txBox="1"/>
          <p:nvPr/>
        </p:nvSpPr>
        <p:spPr>
          <a:xfrm>
            <a:off x="3200400" y="3099816"/>
            <a:ext cx="265176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157355"/>
                </a:solidFill>
                <a:latin typeface="Inter"/>
              </a:rPr>
              <a:t>Más tarde </a:t>
            </a:r>
            <a:r>
              <a:rPr sz="900" b="0" i="1">
                <a:solidFill>
                  <a:srgbClr val="6A6E78"/>
                </a:solidFill>
                <a:latin typeface="Inter"/>
              </a:rPr>
              <a:t>· later</a:t>
            </a:r>
          </a:p>
        </p:txBody>
      </p:sp>
      <p:sp>
        <p:nvSpPr>
          <p:cNvPr id="19" name="Rounded Rectangle 18"/>
          <p:cNvSpPr/>
          <p:nvPr/>
        </p:nvSpPr>
        <p:spPr>
          <a:xfrm>
            <a:off x="457200" y="3758184"/>
            <a:ext cx="548640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758184"/>
            <a:ext cx="265176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___ me acuesto.</a:t>
            </a:r>
          </a:p>
        </p:txBody>
      </p:sp>
      <p:sp>
        <p:nvSpPr>
          <p:cNvPr id="21" name="TextBox 20"/>
          <p:cNvSpPr txBox="1"/>
          <p:nvPr/>
        </p:nvSpPr>
        <p:spPr>
          <a:xfrm>
            <a:off x="3200400" y="3758184"/>
            <a:ext cx="265176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157355"/>
                </a:solidFill>
                <a:latin typeface="Inter"/>
              </a:rPr>
              <a:t>Por fin </a:t>
            </a:r>
            <a:r>
              <a:rPr sz="900" b="0" i="1">
                <a:solidFill>
                  <a:srgbClr val="6A6E78"/>
                </a:solidFill>
                <a:latin typeface="Inter"/>
              </a:rPr>
              <a:t>· ten slotte</a:t>
            </a:r>
          </a:p>
        </p:txBody>
      </p:sp>
      <p:sp>
        <p:nvSpPr>
          <p:cNvPr id="22" name="TextBox 21"/>
          <p:cNvSpPr txBox="1"/>
          <p:nvPr/>
        </p:nvSpPr>
        <p:spPr>
          <a:xfrm>
            <a:off x="6309360" y="1371600"/>
            <a:ext cx="5486400" cy="32004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400" b="1" i="0">
                <a:solidFill>
                  <a:srgbClr val="157355"/>
                </a:solidFill>
                <a:latin typeface="Bricolage Grotesque"/>
              </a:rPr>
              <a:t>B · pon la tilde</a:t>
            </a:r>
          </a:p>
        </p:txBody>
      </p:sp>
      <p:sp>
        <p:nvSpPr>
          <p:cNvPr id="23" name="Rounded Rectangle 22"/>
          <p:cNvSpPr/>
          <p:nvPr/>
        </p:nvSpPr>
        <p:spPr>
          <a:xfrm>
            <a:off x="6309360" y="1783080"/>
            <a:ext cx="539496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1783080"/>
            <a:ext cx="274320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DC2626"/>
                </a:solidFill>
                <a:latin typeface="Inter"/>
              </a:rPr>
              <a:t>miercoles</a:t>
            </a:r>
          </a:p>
        </p:txBody>
      </p:sp>
      <p:sp>
        <p:nvSpPr>
          <p:cNvPr id="25" name="TextBox 24"/>
          <p:cNvSpPr txBox="1"/>
          <p:nvPr/>
        </p:nvSpPr>
        <p:spPr>
          <a:xfrm>
            <a:off x="9235440" y="1783080"/>
            <a:ext cx="237744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157355"/>
                </a:solidFill>
                <a:latin typeface="Inter"/>
              </a:rPr>
              <a:t>→ miércoles</a:t>
            </a:r>
          </a:p>
        </p:txBody>
      </p:sp>
      <p:sp>
        <p:nvSpPr>
          <p:cNvPr id="26" name="Rounded Rectangle 25"/>
          <p:cNvSpPr/>
          <p:nvPr/>
        </p:nvSpPr>
        <p:spPr>
          <a:xfrm>
            <a:off x="6309360" y="2441448"/>
            <a:ext cx="539496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19088" y="2441448"/>
            <a:ext cx="274320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DC2626"/>
                </a:solidFill>
                <a:latin typeface="Inter"/>
              </a:rPr>
              <a:t>sabado</a:t>
            </a:r>
          </a:p>
        </p:txBody>
      </p:sp>
      <p:sp>
        <p:nvSpPr>
          <p:cNvPr id="28" name="TextBox 27"/>
          <p:cNvSpPr txBox="1"/>
          <p:nvPr/>
        </p:nvSpPr>
        <p:spPr>
          <a:xfrm>
            <a:off x="9235440" y="2441448"/>
            <a:ext cx="237744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157355"/>
                </a:solidFill>
                <a:latin typeface="Inter"/>
              </a:rPr>
              <a:t>→ sábado</a:t>
            </a:r>
          </a:p>
        </p:txBody>
      </p:sp>
      <p:sp>
        <p:nvSpPr>
          <p:cNvPr id="29" name="Rounded Rectangle 28"/>
          <p:cNvSpPr/>
          <p:nvPr/>
        </p:nvSpPr>
        <p:spPr>
          <a:xfrm>
            <a:off x="6309360" y="3099816"/>
            <a:ext cx="539496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3099816"/>
            <a:ext cx="274320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DC2626"/>
                </a:solidFill>
                <a:latin typeface="Inter"/>
              </a:rPr>
              <a:t>despues</a:t>
            </a:r>
          </a:p>
        </p:txBody>
      </p:sp>
      <p:sp>
        <p:nvSpPr>
          <p:cNvPr id="31" name="TextBox 30"/>
          <p:cNvSpPr txBox="1"/>
          <p:nvPr/>
        </p:nvSpPr>
        <p:spPr>
          <a:xfrm>
            <a:off x="9235440" y="3099816"/>
            <a:ext cx="237744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157355"/>
                </a:solidFill>
                <a:latin typeface="Inter"/>
              </a:rPr>
              <a:t>→ después</a:t>
            </a:r>
          </a:p>
        </p:txBody>
      </p:sp>
      <p:sp>
        <p:nvSpPr>
          <p:cNvPr id="32" name="Rounded Rectangle 31"/>
          <p:cNvSpPr/>
          <p:nvPr/>
        </p:nvSpPr>
        <p:spPr>
          <a:xfrm>
            <a:off x="6309360" y="3758184"/>
            <a:ext cx="5394960" cy="54864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19088" y="3758184"/>
            <a:ext cx="274320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DC2626"/>
                </a:solidFill>
                <a:latin typeface="Inter"/>
              </a:rPr>
              <a:t>¿que hora es?</a:t>
            </a:r>
          </a:p>
        </p:txBody>
      </p:sp>
      <p:sp>
        <p:nvSpPr>
          <p:cNvPr id="34" name="TextBox 33"/>
          <p:cNvSpPr txBox="1"/>
          <p:nvPr/>
        </p:nvSpPr>
        <p:spPr>
          <a:xfrm>
            <a:off x="9235440" y="3758184"/>
            <a:ext cx="237744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157355"/>
                </a:solidFill>
                <a:latin typeface="Inter"/>
              </a:rPr>
              <a:t>→ ¿qué hora es?</a:t>
            </a:r>
          </a:p>
        </p:txBody>
      </p:sp>
      <p:sp>
        <p:nvSpPr>
          <p:cNvPr id="35" name="Rounded Rectangle 34"/>
          <p:cNvSpPr/>
          <p:nvPr/>
        </p:nvSpPr>
        <p:spPr>
          <a:xfrm>
            <a:off x="457200" y="6053328"/>
            <a:ext cx="2093976" cy="365760"/>
          </a:xfrm>
          <a:prstGeom prst="roundRect">
            <a:avLst>
              <a:gd name="adj" fmla="val 50000"/>
            </a:avLst>
          </a:prstGeom>
          <a:solidFill>
            <a:srgbClr val="1E9E74"/>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36" name="Rounded Rectangle 35"/>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Saltar</a:t>
            </a:r>
          </a:p>
        </p:txBody>
      </p:sp>
      <p:sp>
        <p:nvSpPr>
          <p:cNvPr id="37" name="Rounded Rectangle 36">
            <a:hlinkClick action="ppaction://hlinksldjump" r:id="rId3"/>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Menú (dia 2)</a:t>
            </a:r>
          </a:p>
        </p:txBody>
      </p:sp>
      <p:sp>
        <p:nvSpPr>
          <p:cNvPr id="38" name="TextBox 37"/>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Noodroute (§5): werkt zonder audio/internet</a:t>
            </a:r>
          </a:p>
        </p:txBody>
      </p:sp>
      <p:sp>
        <p:nvSpPr>
          <p:cNvPr id="39" name="Rounded Rectangle 38"/>
          <p:cNvSpPr/>
          <p:nvPr/>
        </p:nvSpPr>
        <p:spPr>
          <a:xfrm>
            <a:off x="457200" y="4572000"/>
            <a:ext cx="11247120" cy="777240"/>
          </a:xfrm>
          <a:prstGeom prst="roundRect">
            <a:avLst>
              <a:gd name="adj" fmla="val 6000"/>
            </a:avLst>
          </a:prstGeom>
          <a:solidFill>
            <a:srgbClr val="E4F4EE"/>
          </a:solidFill>
          <a:ln w="1905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157355"/>
                </a:solidFill>
                <a:latin typeface="Inter"/>
              </a:rPr>
              <a:t>A: </a:t>
            </a:r>
            <a:r>
              <a:rPr sz="1200" b="0" i="0">
                <a:solidFill>
                  <a:srgbClr val="157355"/>
                </a:solidFill>
                <a:latin typeface="Inter"/>
              </a:rPr>
              <a:t>primero → después/luego → más tarde → por fin. 🔴 «dan» = después/luego, niet «entonces».</a:t>
            </a:r>
          </a:p>
          <a:p>
            <a:pPr>
              <a:lnSpc>
                <a:spcPct val="102000"/>
              </a:lnSpc>
              <a:spcBef>
                <a:spcPts val="0"/>
              </a:spcBef>
              <a:spcAft>
                <a:spcPts val="300"/>
              </a:spcAft>
            </a:pPr>
            <a:r>
              <a:rPr sz="1200" b="1" i="0">
                <a:solidFill>
                  <a:srgbClr val="157355"/>
                </a:solidFill>
                <a:latin typeface="Inter"/>
              </a:rPr>
              <a:t>B: </a:t>
            </a:r>
            <a:r>
              <a:rPr sz="1200" b="0" i="0">
                <a:solidFill>
                  <a:srgbClr val="157355"/>
                </a:solidFill>
                <a:latin typeface="Inter"/>
              </a:rPr>
              <a:t>veel tijdwoorden dragen een tilde: miércoles, sábado, después, mediodía; vraagwoorden altijd (¿qué?).</a:t>
            </a:r>
          </a:p>
        </p:txBody>
      </p:sp>
      <p:sp>
        <p:nvSpPr>
          <p:cNvPr id="40" name="Rounded Rectangle 39"/>
          <p:cNvSpPr/>
          <p:nvPr/>
        </p:nvSpPr>
        <p:spPr>
          <a:xfrm>
            <a:off x="594360" y="4443984"/>
            <a:ext cx="1548993" cy="292608"/>
          </a:xfrm>
          <a:prstGeom prst="roundRect">
            <a:avLst>
              <a:gd name="adj" fmla="val 50000"/>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 · docent</a:t>
            </a:r>
          </a:p>
        </p:txBody>
      </p:sp>
      <p:sp>
        <p:nvSpPr>
          <p:cNvPr id="41" name="Rectangle 40"/>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43" name="TextBox 42"/>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44" name="TextBox 43"/>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14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500"/>
                                        <p:tgtEl>
                                          <p:spTgt spid="3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500"/>
                                        <p:tgtEl>
                                          <p:spTgt spid="3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464868"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E9E74"/>
                </a:solidFill>
                <a:latin typeface="Inter"/>
              </a:rPr>
              <a:t>§4 · VOCABULARIO</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4</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Frecuencia + días, meses y estaciones</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4F4EE"/>
                </a:solidFill>
                <a:latin typeface="Inter"/>
              </a:rPr>
              <a:t>Klik een woord → betekenis/plaats. Días y meses met kleine letter!</a:t>
            </a:r>
          </a:p>
        </p:txBody>
      </p:sp>
      <p:sp>
        <p:nvSpPr>
          <p:cNvPr id="9" name="TextBox 8"/>
          <p:cNvSpPr txBox="1"/>
          <p:nvPr/>
        </p:nvSpPr>
        <p:spPr>
          <a:xfrm>
            <a:off x="457200" y="1371600"/>
            <a:ext cx="10972800" cy="32004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157355"/>
                </a:solidFill>
                <a:latin typeface="Bricolage Grotesque"/>
              </a:rPr>
              <a:t>Escala de frecuencia (100% → 0%):</a:t>
            </a:r>
          </a:p>
        </p:txBody>
      </p:sp>
      <p:sp>
        <p:nvSpPr>
          <p:cNvPr id="10" name="Rounded Rectangle 9"/>
          <p:cNvSpPr/>
          <p:nvPr/>
        </p:nvSpPr>
        <p:spPr>
          <a:xfrm>
            <a:off x="457200" y="1783080"/>
            <a:ext cx="1828800" cy="292608"/>
          </a:xfrm>
          <a:prstGeom prst="roundRect">
            <a:avLst>
              <a:gd name="adj" fmla="val 50000"/>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157355"/>
                </a:solidFill>
                <a:latin typeface="Inter"/>
              </a:rPr>
              <a:t>siempre</a:t>
            </a:r>
          </a:p>
        </p:txBody>
      </p:sp>
      <p:sp>
        <p:nvSpPr>
          <p:cNvPr id="11" name="Rounded Rectangle 10"/>
          <p:cNvSpPr/>
          <p:nvPr/>
        </p:nvSpPr>
        <p:spPr>
          <a:xfrm>
            <a:off x="2340864" y="1783080"/>
            <a:ext cx="1828800" cy="292608"/>
          </a:xfrm>
          <a:prstGeom prst="roundRect">
            <a:avLst>
              <a:gd name="adj" fmla="val 50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157355"/>
                </a:solidFill>
                <a:latin typeface="Inter"/>
              </a:rPr>
              <a:t>normalmente</a:t>
            </a:r>
          </a:p>
        </p:txBody>
      </p:sp>
      <p:sp>
        <p:nvSpPr>
          <p:cNvPr id="12" name="Rounded Rectangle 11"/>
          <p:cNvSpPr/>
          <p:nvPr/>
        </p:nvSpPr>
        <p:spPr>
          <a:xfrm>
            <a:off x="4224528" y="1783080"/>
            <a:ext cx="1828800" cy="292608"/>
          </a:xfrm>
          <a:prstGeom prst="roundRect">
            <a:avLst>
              <a:gd name="adj" fmla="val 50000"/>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157355"/>
                </a:solidFill>
                <a:latin typeface="Inter"/>
              </a:rPr>
              <a:t>a menudo</a:t>
            </a:r>
          </a:p>
        </p:txBody>
      </p:sp>
      <p:sp>
        <p:nvSpPr>
          <p:cNvPr id="13" name="Rounded Rectangle 12"/>
          <p:cNvSpPr/>
          <p:nvPr/>
        </p:nvSpPr>
        <p:spPr>
          <a:xfrm>
            <a:off x="6108192" y="1783080"/>
            <a:ext cx="1828800" cy="292608"/>
          </a:xfrm>
          <a:prstGeom prst="roundRect">
            <a:avLst>
              <a:gd name="adj" fmla="val 50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157355"/>
                </a:solidFill>
                <a:latin typeface="Inter"/>
              </a:rPr>
              <a:t>a veces</a:t>
            </a:r>
          </a:p>
        </p:txBody>
      </p:sp>
      <p:sp>
        <p:nvSpPr>
          <p:cNvPr id="14" name="Rounded Rectangle 13"/>
          <p:cNvSpPr/>
          <p:nvPr/>
        </p:nvSpPr>
        <p:spPr>
          <a:xfrm>
            <a:off x="7991856" y="1783080"/>
            <a:ext cx="1828800" cy="292608"/>
          </a:xfrm>
          <a:prstGeom prst="roundRect">
            <a:avLst>
              <a:gd name="adj" fmla="val 50000"/>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157355"/>
                </a:solidFill>
                <a:latin typeface="Inter"/>
              </a:rPr>
              <a:t>casi nunca</a:t>
            </a:r>
          </a:p>
        </p:txBody>
      </p:sp>
      <p:sp>
        <p:nvSpPr>
          <p:cNvPr id="15" name="Rounded Rectangle 14"/>
          <p:cNvSpPr/>
          <p:nvPr/>
        </p:nvSpPr>
        <p:spPr>
          <a:xfrm>
            <a:off x="9875520" y="1783080"/>
            <a:ext cx="1828800" cy="292608"/>
          </a:xfrm>
          <a:prstGeom prst="roundRect">
            <a:avLst>
              <a:gd name="adj" fmla="val 50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157355"/>
                </a:solidFill>
                <a:latin typeface="Inter"/>
              </a:rPr>
              <a:t>nunca</a:t>
            </a:r>
          </a:p>
        </p:txBody>
      </p:sp>
      <p:sp>
        <p:nvSpPr>
          <p:cNvPr id="16" name="Rounded Rectangle 15"/>
          <p:cNvSpPr/>
          <p:nvPr/>
        </p:nvSpPr>
        <p:spPr>
          <a:xfrm>
            <a:off x="457200" y="2468880"/>
            <a:ext cx="5532120" cy="7315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2468880"/>
            <a:ext cx="2468880" cy="7315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1" i="0">
                <a:solidFill>
                  <a:srgbClr val="157355"/>
                </a:solidFill>
                <a:latin typeface="Inter"/>
              </a:rPr>
              <a:t>lunes … domingo</a:t>
            </a:r>
          </a:p>
        </p:txBody>
      </p:sp>
      <p:sp>
        <p:nvSpPr>
          <p:cNvPr id="18" name="TextBox 17"/>
          <p:cNvSpPr txBox="1"/>
          <p:nvPr/>
        </p:nvSpPr>
        <p:spPr>
          <a:xfrm>
            <a:off x="3108960" y="2468880"/>
            <a:ext cx="2743200" cy="7315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50" b="0" i="0">
                <a:solidFill>
                  <a:srgbClr val="20242E"/>
                </a:solidFill>
                <a:latin typeface="Inter"/>
              </a:rPr>
              <a:t>→ los 7 días (klein!)</a:t>
            </a:r>
          </a:p>
        </p:txBody>
      </p:sp>
      <p:sp>
        <p:nvSpPr>
          <p:cNvPr id="19" name="Rounded Rectangle 18"/>
          <p:cNvSpPr/>
          <p:nvPr/>
        </p:nvSpPr>
        <p:spPr>
          <a:xfrm>
            <a:off x="6172200" y="2468880"/>
            <a:ext cx="5532120" cy="7315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68880"/>
            <a:ext cx="2468880" cy="7315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1" i="0">
                <a:solidFill>
                  <a:srgbClr val="157355"/>
                </a:solidFill>
                <a:latin typeface="Inter"/>
              </a:rPr>
              <a:t>enero … diciembre</a:t>
            </a:r>
          </a:p>
        </p:txBody>
      </p:sp>
      <p:sp>
        <p:nvSpPr>
          <p:cNvPr id="21" name="TextBox 20"/>
          <p:cNvSpPr txBox="1"/>
          <p:nvPr/>
        </p:nvSpPr>
        <p:spPr>
          <a:xfrm>
            <a:off x="8823960" y="2468880"/>
            <a:ext cx="2743200" cy="7315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50" b="0" i="0">
                <a:solidFill>
                  <a:srgbClr val="20242E"/>
                </a:solidFill>
                <a:latin typeface="Inter"/>
              </a:rPr>
              <a:t>→ los 12 meses (klein!)</a:t>
            </a:r>
          </a:p>
        </p:txBody>
      </p:sp>
      <p:sp>
        <p:nvSpPr>
          <p:cNvPr id="22" name="Rounded Rectangle 21"/>
          <p:cNvSpPr/>
          <p:nvPr/>
        </p:nvSpPr>
        <p:spPr>
          <a:xfrm>
            <a:off x="457200" y="3364992"/>
            <a:ext cx="5532120" cy="7315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364992"/>
            <a:ext cx="2468880" cy="7315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1" i="0">
                <a:solidFill>
                  <a:srgbClr val="157355"/>
                </a:solidFill>
                <a:latin typeface="Inter"/>
              </a:rPr>
              <a:t>primavera · verano</a:t>
            </a:r>
          </a:p>
        </p:txBody>
      </p:sp>
      <p:sp>
        <p:nvSpPr>
          <p:cNvPr id="24" name="TextBox 23"/>
          <p:cNvSpPr txBox="1"/>
          <p:nvPr/>
        </p:nvSpPr>
        <p:spPr>
          <a:xfrm>
            <a:off x="3108960" y="3364992"/>
            <a:ext cx="2743200" cy="7315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50" b="0" i="0">
                <a:solidFill>
                  <a:srgbClr val="20242E"/>
                </a:solidFill>
                <a:latin typeface="Inter"/>
              </a:rPr>
              <a:t>→ otoño · invierno = las estaciones</a:t>
            </a:r>
          </a:p>
        </p:txBody>
      </p:sp>
      <p:sp>
        <p:nvSpPr>
          <p:cNvPr id="25" name="Rounded Rectangle 24"/>
          <p:cNvSpPr/>
          <p:nvPr/>
        </p:nvSpPr>
        <p:spPr>
          <a:xfrm>
            <a:off x="6172200" y="3364992"/>
            <a:ext cx="5532120" cy="731520"/>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3364992"/>
            <a:ext cx="2468880" cy="7315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1" i="0">
                <a:solidFill>
                  <a:srgbClr val="157355"/>
                </a:solidFill>
                <a:latin typeface="Inter"/>
              </a:rPr>
              <a:t>el fin de semana</a:t>
            </a:r>
          </a:p>
        </p:txBody>
      </p:sp>
      <p:sp>
        <p:nvSpPr>
          <p:cNvPr id="27" name="TextBox 26"/>
          <p:cNvSpPr txBox="1"/>
          <p:nvPr/>
        </p:nvSpPr>
        <p:spPr>
          <a:xfrm>
            <a:off x="8823960" y="3364992"/>
            <a:ext cx="2743200" cy="7315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50" b="0" i="0">
                <a:solidFill>
                  <a:srgbClr val="20242E"/>
                </a:solidFill>
                <a:latin typeface="Inter"/>
              </a:rPr>
              <a:t>→ todos los días · una vez por semana</a:t>
            </a:r>
          </a:p>
        </p:txBody>
      </p:sp>
      <p:sp>
        <p:nvSpPr>
          <p:cNvPr id="28" name="Rounded Rectangle 27"/>
          <p:cNvSpPr/>
          <p:nvPr/>
        </p:nvSpPr>
        <p:spPr>
          <a:xfrm>
            <a:off x="457200" y="6053328"/>
            <a:ext cx="2093976" cy="365760"/>
          </a:xfrm>
          <a:prstGeom prst="roundRect">
            <a:avLst>
              <a:gd name="adj" fmla="val 50000"/>
            </a:avLst>
          </a:prstGeom>
          <a:solidFill>
            <a:srgbClr val="1E9E74"/>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29" name="Rounded Rectangle 28"/>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Saltar</a:t>
            </a:r>
          </a:p>
        </p:txBody>
      </p:sp>
      <p:sp>
        <p:nvSpPr>
          <p:cNvPr id="30" name="Rounded Rectangle 29">
            <a:hlinkClick action="ppaction://hlinksldjump" r:id="rId3"/>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Menú (dia 2)</a:t>
            </a:r>
          </a:p>
        </p:txBody>
      </p:sp>
      <p:sp>
        <p:nvSpPr>
          <p:cNvPr id="31" name="TextBox 30"/>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Noodroute (§5): werkt zonder audio/internet</a:t>
            </a:r>
          </a:p>
        </p:txBody>
      </p:sp>
      <p:sp>
        <p:nvSpPr>
          <p:cNvPr id="32" name="Rounded Rectangle 31"/>
          <p:cNvSpPr/>
          <p:nvPr/>
        </p:nvSpPr>
        <p:spPr>
          <a:xfrm>
            <a:off x="457200" y="4526280"/>
            <a:ext cx="11247120" cy="777240"/>
          </a:xfrm>
          <a:prstGeom prst="roundRect">
            <a:avLst>
              <a:gd name="adj" fmla="val 6000"/>
            </a:avLst>
          </a:prstGeom>
          <a:solidFill>
            <a:srgbClr val="E4F4EE"/>
          </a:solidFill>
          <a:ln w="1905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DC2626"/>
                </a:solidFill>
                <a:latin typeface="Inter"/>
              </a:rPr>
              <a:t>🔴 días/meses = kleine letter </a:t>
            </a:r>
            <a:r>
              <a:rPr sz="1200" b="0" i="0">
                <a:solidFill>
                  <a:srgbClr val="157355"/>
                </a:solidFill>
                <a:latin typeface="Inter"/>
              </a:rPr>
              <a:t>(lunes, enero) — anders dan landen/steden (Barcelona). </a:t>
            </a:r>
          </a:p>
          <a:p>
            <a:pPr>
              <a:lnSpc>
                <a:spcPct val="102000"/>
              </a:lnSpc>
              <a:spcBef>
                <a:spcPts val="0"/>
              </a:spcBef>
              <a:spcAft>
                <a:spcPts val="300"/>
              </a:spcAft>
            </a:pPr>
            <a:r>
              <a:rPr sz="1200" b="0" i="0">
                <a:solidFill>
                  <a:srgbClr val="157355"/>
                </a:solidFill>
                <a:latin typeface="Inter"/>
              </a:rPr>
              <a:t>«op maandag» = el lunes · «elke maandag» = los lunes. Frecuentie meestal vóór het werkwoord.</a:t>
            </a:r>
          </a:p>
        </p:txBody>
      </p:sp>
      <p:sp>
        <p:nvSpPr>
          <p:cNvPr id="33" name="Rounded Rectangle 32"/>
          <p:cNvSpPr/>
          <p:nvPr/>
        </p:nvSpPr>
        <p:spPr>
          <a:xfrm>
            <a:off x="594360" y="4398264"/>
            <a:ext cx="1548993" cy="292608"/>
          </a:xfrm>
          <a:prstGeom prst="roundRect">
            <a:avLst>
              <a:gd name="adj" fmla="val 50000"/>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 · docent</a:t>
            </a:r>
          </a:p>
        </p:txBody>
      </p:sp>
      <p:sp>
        <p:nvSpPr>
          <p:cNvPr id="34" name="Rectangle 33"/>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36" name="TextBox 35"/>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37" name="TextBox 36"/>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15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2053742"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E9E74"/>
                </a:solidFill>
                <a:latin typeface="Inter"/>
              </a:rPr>
              <a:t>§1 · QUIZ · INTERACCIÓN</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1</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Di la hora</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4F4EE"/>
                </a:solidFill>
                <a:latin typeface="Inter"/>
              </a:rPr>
              <a:t>Bij dit uur — welke zin? Klik → de zin verschijnt.</a:t>
            </a:r>
          </a:p>
        </p:txBody>
      </p:sp>
      <p:sp>
        <p:nvSpPr>
          <p:cNvPr id="9" name="Rounded Rectangle 8"/>
          <p:cNvSpPr/>
          <p:nvPr/>
        </p:nvSpPr>
        <p:spPr>
          <a:xfrm>
            <a:off x="457200" y="1600200"/>
            <a:ext cx="55321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00200"/>
            <a:ext cx="146304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500" b="1" i="0">
                <a:solidFill>
                  <a:srgbClr val="157355"/>
                </a:solidFill>
                <a:latin typeface="Bricolage Grotesque"/>
              </a:rPr>
              <a:t>🕐 1:00</a:t>
            </a:r>
          </a:p>
        </p:txBody>
      </p:sp>
      <p:sp>
        <p:nvSpPr>
          <p:cNvPr id="11" name="TextBox 10"/>
          <p:cNvSpPr txBox="1"/>
          <p:nvPr/>
        </p:nvSpPr>
        <p:spPr>
          <a:xfrm>
            <a:off x="2194560" y="1600200"/>
            <a:ext cx="370332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Es la una.</a:t>
            </a:r>
          </a:p>
        </p:txBody>
      </p:sp>
      <p:sp>
        <p:nvSpPr>
          <p:cNvPr id="12" name="Rounded Rectangle 11"/>
          <p:cNvSpPr/>
          <p:nvPr/>
        </p:nvSpPr>
        <p:spPr>
          <a:xfrm>
            <a:off x="457200" y="2478024"/>
            <a:ext cx="55321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478024"/>
            <a:ext cx="146304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500" b="1" i="0">
                <a:solidFill>
                  <a:srgbClr val="157355"/>
                </a:solidFill>
                <a:latin typeface="Bricolage Grotesque"/>
              </a:rPr>
              <a:t>🕐 2:30</a:t>
            </a:r>
          </a:p>
        </p:txBody>
      </p:sp>
      <p:sp>
        <p:nvSpPr>
          <p:cNvPr id="14" name="TextBox 13"/>
          <p:cNvSpPr txBox="1"/>
          <p:nvPr/>
        </p:nvSpPr>
        <p:spPr>
          <a:xfrm>
            <a:off x="2194560" y="2478024"/>
            <a:ext cx="370332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Son las dos y media.</a:t>
            </a:r>
          </a:p>
        </p:txBody>
      </p:sp>
      <p:sp>
        <p:nvSpPr>
          <p:cNvPr id="15" name="Rounded Rectangle 14"/>
          <p:cNvSpPr/>
          <p:nvPr/>
        </p:nvSpPr>
        <p:spPr>
          <a:xfrm>
            <a:off x="457200" y="3355848"/>
            <a:ext cx="55321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355848"/>
            <a:ext cx="146304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500" b="1" i="0">
                <a:solidFill>
                  <a:srgbClr val="157355"/>
                </a:solidFill>
                <a:latin typeface="Bricolage Grotesque"/>
              </a:rPr>
              <a:t>🕐 7:45</a:t>
            </a:r>
          </a:p>
        </p:txBody>
      </p:sp>
      <p:sp>
        <p:nvSpPr>
          <p:cNvPr id="17" name="TextBox 16"/>
          <p:cNvSpPr txBox="1"/>
          <p:nvPr/>
        </p:nvSpPr>
        <p:spPr>
          <a:xfrm>
            <a:off x="2194560" y="3355848"/>
            <a:ext cx="370332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Son las ocho menos cuarto.</a:t>
            </a:r>
          </a:p>
        </p:txBody>
      </p:sp>
      <p:sp>
        <p:nvSpPr>
          <p:cNvPr id="18" name="Rounded Rectangle 17"/>
          <p:cNvSpPr/>
          <p:nvPr/>
        </p:nvSpPr>
        <p:spPr>
          <a:xfrm>
            <a:off x="6172200" y="1600200"/>
            <a:ext cx="55321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1600200"/>
            <a:ext cx="146304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500" b="1" i="0">
                <a:solidFill>
                  <a:srgbClr val="157355"/>
                </a:solidFill>
                <a:latin typeface="Bricolage Grotesque"/>
              </a:rPr>
              <a:t>🕐 6:15</a:t>
            </a:r>
          </a:p>
        </p:txBody>
      </p:sp>
      <p:sp>
        <p:nvSpPr>
          <p:cNvPr id="20" name="TextBox 19"/>
          <p:cNvSpPr txBox="1"/>
          <p:nvPr/>
        </p:nvSpPr>
        <p:spPr>
          <a:xfrm>
            <a:off x="7909560" y="1600200"/>
            <a:ext cx="370332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Son las seis y cuarto.</a:t>
            </a:r>
          </a:p>
        </p:txBody>
      </p:sp>
      <p:sp>
        <p:nvSpPr>
          <p:cNvPr id="21" name="Rounded Rectangle 20"/>
          <p:cNvSpPr/>
          <p:nvPr/>
        </p:nvSpPr>
        <p:spPr>
          <a:xfrm>
            <a:off x="6172200" y="2478024"/>
            <a:ext cx="55321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2478024"/>
            <a:ext cx="146304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500" b="1" i="0">
                <a:solidFill>
                  <a:srgbClr val="157355"/>
                </a:solidFill>
                <a:latin typeface="Bricolage Grotesque"/>
              </a:rPr>
              <a:t>🕐 12:00</a:t>
            </a:r>
          </a:p>
        </p:txBody>
      </p:sp>
      <p:sp>
        <p:nvSpPr>
          <p:cNvPr id="23" name="TextBox 22"/>
          <p:cNvSpPr txBox="1"/>
          <p:nvPr/>
        </p:nvSpPr>
        <p:spPr>
          <a:xfrm>
            <a:off x="7909560" y="2478024"/>
            <a:ext cx="370332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Son las doce (mediodía).</a:t>
            </a:r>
          </a:p>
        </p:txBody>
      </p:sp>
      <p:sp>
        <p:nvSpPr>
          <p:cNvPr id="24" name="Rounded Rectangle 23"/>
          <p:cNvSpPr/>
          <p:nvPr/>
        </p:nvSpPr>
        <p:spPr>
          <a:xfrm>
            <a:off x="6172200" y="3355848"/>
            <a:ext cx="5532120" cy="713232"/>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3355848"/>
            <a:ext cx="146304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500" b="1" i="0">
                <a:solidFill>
                  <a:srgbClr val="157355"/>
                </a:solidFill>
                <a:latin typeface="Bricolage Grotesque"/>
              </a:rPr>
              <a:t>🕐 9:00</a:t>
            </a:r>
          </a:p>
        </p:txBody>
      </p:sp>
      <p:sp>
        <p:nvSpPr>
          <p:cNvPr id="26" name="TextBox 25"/>
          <p:cNvSpPr txBox="1"/>
          <p:nvPr/>
        </p:nvSpPr>
        <p:spPr>
          <a:xfrm>
            <a:off x="7909560" y="3355848"/>
            <a:ext cx="3703320" cy="713232"/>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0" i="0">
                <a:solidFill>
                  <a:srgbClr val="20242E"/>
                </a:solidFill>
                <a:latin typeface="Inter"/>
              </a:rPr>
              <a:t>Son las nueve en punto.</a:t>
            </a:r>
          </a:p>
        </p:txBody>
      </p:sp>
      <p:sp>
        <p:nvSpPr>
          <p:cNvPr id="27" name="Rounded Rectangle 26"/>
          <p:cNvSpPr/>
          <p:nvPr/>
        </p:nvSpPr>
        <p:spPr>
          <a:xfrm>
            <a:off x="457200" y="6053328"/>
            <a:ext cx="2093976" cy="365760"/>
          </a:xfrm>
          <a:prstGeom prst="roundRect">
            <a:avLst>
              <a:gd name="adj" fmla="val 50000"/>
            </a:avLst>
          </a:prstGeom>
          <a:solidFill>
            <a:srgbClr val="1E9E74"/>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28" name="Rounded Rectangle 27"/>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Saltar</a:t>
            </a:r>
          </a:p>
        </p:txBody>
      </p:sp>
      <p:sp>
        <p:nvSpPr>
          <p:cNvPr id="29" name="Rounded Rectangle 28">
            <a:hlinkClick action="ppaction://hlinksldjump" r:id="rId3"/>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Menú (dia 2)</a:t>
            </a:r>
          </a:p>
        </p:txBody>
      </p:sp>
      <p:sp>
        <p:nvSpPr>
          <p:cNvPr id="30" name="TextBox 29"/>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Noodroute (§5): werkt zonder audio/internet</a:t>
            </a:r>
          </a:p>
        </p:txBody>
      </p:sp>
      <p:sp>
        <p:nvSpPr>
          <p:cNvPr id="31" name="Rounded Rectangle 30"/>
          <p:cNvSpPr/>
          <p:nvPr/>
        </p:nvSpPr>
        <p:spPr>
          <a:xfrm>
            <a:off x="457200" y="4709160"/>
            <a:ext cx="11247120" cy="548640"/>
          </a:xfrm>
          <a:prstGeom prst="roundRect">
            <a:avLst>
              <a:gd name="adj" fmla="val 6000"/>
            </a:avLst>
          </a:prstGeom>
          <a:solidFill>
            <a:srgbClr val="E4F4EE"/>
          </a:solidFill>
          <a:ln w="1905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157355"/>
                </a:solidFill>
                <a:latin typeface="Inter"/>
              </a:rPr>
              <a:t>y (tot half) · menos (na half) · en punto (precies). </a:t>
            </a:r>
            <a:r>
              <a:rPr sz="1200" b="0" i="0">
                <a:solidFill>
                  <a:srgbClr val="157355"/>
                </a:solidFill>
                <a:latin typeface="Inter"/>
              </a:rPr>
              <a:t>Es la una (1u) / Son las… (≥2u).</a:t>
            </a:r>
          </a:p>
        </p:txBody>
      </p:sp>
      <p:sp>
        <p:nvSpPr>
          <p:cNvPr id="32" name="Rounded Rectangle 31"/>
          <p:cNvSpPr/>
          <p:nvPr/>
        </p:nvSpPr>
        <p:spPr>
          <a:xfrm>
            <a:off x="594360" y="4581144"/>
            <a:ext cx="1548993" cy="292608"/>
          </a:xfrm>
          <a:prstGeom prst="roundRect">
            <a:avLst>
              <a:gd name="adj" fmla="val 50000"/>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 · docent</a:t>
            </a:r>
          </a:p>
        </p:txBody>
      </p:sp>
      <p:sp>
        <p:nvSpPr>
          <p:cNvPr id="33" name="Rectangle 32"/>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35" name="TextBox 34"/>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36" name="TextBox 35"/>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16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633118"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E9E74"/>
                </a:solidFill>
                <a:latin typeface="Inter"/>
              </a:rPr>
              <a:t>CULTURA · PARADA 3</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5</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El horario español</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4F4EE"/>
                </a:solidFill>
                <a:latin typeface="Inter"/>
              </a:rPr>
              <a:t>Klik een kaart → het weetje. In España eet en cena men later dan in België.</a:t>
            </a:r>
          </a:p>
        </p:txBody>
      </p:sp>
      <p:sp>
        <p:nvSpPr>
          <p:cNvPr id="9" name="Rounded Rectangle 8"/>
          <p:cNvSpPr/>
          <p:nvPr/>
        </p:nvSpPr>
        <p:spPr>
          <a:xfrm>
            <a:off x="457200" y="1554480"/>
            <a:ext cx="3703320" cy="3108960"/>
          </a:xfrm>
          <a:prstGeom prst="roundRect">
            <a:avLst>
              <a:gd name="adj" fmla="val 5500"/>
            </a:avLst>
          </a:prstGeom>
          <a:solidFill>
            <a:srgbClr val="FFFFFF"/>
          </a:solidFill>
          <a:ln w="16510">
            <a:solidFill>
              <a:srgbClr val="1E9E74"/>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554480"/>
            <a:ext cx="3703320" cy="548640"/>
          </a:xfrm>
          <a:prstGeom prst="rect">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554480"/>
            <a:ext cx="342900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157355"/>
                </a:solidFill>
                <a:latin typeface="Bricolage Grotesque"/>
              </a:rPr>
              <a:t>🍽️ Las comidas</a:t>
            </a:r>
          </a:p>
        </p:txBody>
      </p:sp>
      <p:sp>
        <p:nvSpPr>
          <p:cNvPr id="12" name="TextBox 11"/>
          <p:cNvSpPr txBox="1"/>
          <p:nvPr/>
        </p:nvSpPr>
        <p:spPr>
          <a:xfrm>
            <a:off x="640080" y="2286000"/>
            <a:ext cx="3337560" cy="1645920"/>
          </a:xfrm>
          <a:prstGeom prst="rect">
            <a:avLst/>
          </a:prstGeom>
          <a:noFill/>
        </p:spPr>
        <p:txBody>
          <a:bodyPr wrap="square" anchor="t" lIns="38100" rIns="38100" tIns="25400" bIns="25400">
            <a:spAutoFit/>
          </a:bodyPr>
          <a:lstStyle/>
          <a:p>
            <a:pPr algn="l">
              <a:lnSpc>
                <a:spcPct val="120000"/>
              </a:lnSpc>
              <a:spcBef>
                <a:spcPts val="0"/>
              </a:spcBef>
              <a:spcAft>
                <a:spcPts val="200"/>
              </a:spcAft>
            </a:pPr>
            <a:r>
              <a:rPr sz="1200" b="0" i="0">
                <a:solidFill>
                  <a:srgbClr val="20242E"/>
                </a:solidFill>
                <a:latin typeface="Inter"/>
              </a:rPr>
              <a:t>desayuno (~8h) · comida/almuerzo (~14–15h, ¡la principal!) · merienda (~18h) · cena (~21–22h).</a:t>
            </a:r>
          </a:p>
        </p:txBody>
      </p:sp>
      <p:sp>
        <p:nvSpPr>
          <p:cNvPr id="13" name="TextBox 12"/>
          <p:cNvSpPr txBox="1"/>
          <p:nvPr/>
        </p:nvSpPr>
        <p:spPr>
          <a:xfrm>
            <a:off x="640080" y="4023360"/>
            <a:ext cx="3337560" cy="548640"/>
          </a:xfrm>
          <a:prstGeom prst="rect">
            <a:avLst/>
          </a:prstGeom>
          <a:noFill/>
        </p:spPr>
        <p:txBody>
          <a:bodyPr wrap="square" anchor="t" lIns="38100" rIns="38100" tIns="25400" bIns="25400">
            <a:spAutoFit/>
          </a:bodyPr>
          <a:lstStyle/>
          <a:p>
            <a:pPr algn="l">
              <a:lnSpc>
                <a:spcPct val="110000"/>
              </a:lnSpc>
              <a:spcBef>
                <a:spcPts val="0"/>
              </a:spcBef>
              <a:spcAft>
                <a:spcPts val="200"/>
              </a:spcAft>
            </a:pPr>
            <a:r>
              <a:rPr sz="1050" b="0" i="1">
                <a:solidFill>
                  <a:srgbClr val="6A6E78"/>
                </a:solidFill>
                <a:latin typeface="Inter"/>
              </a:rPr>
              <a:t>In België: eten rond 12h en 18h — een paar uur vroeger.</a:t>
            </a:r>
          </a:p>
        </p:txBody>
      </p:sp>
      <p:sp>
        <p:nvSpPr>
          <p:cNvPr id="14" name="Rounded Rectangle 13"/>
          <p:cNvSpPr/>
          <p:nvPr/>
        </p:nvSpPr>
        <p:spPr>
          <a:xfrm>
            <a:off x="4279392" y="1554480"/>
            <a:ext cx="3703320" cy="3108960"/>
          </a:xfrm>
          <a:prstGeom prst="roundRect">
            <a:avLst>
              <a:gd name="adj" fmla="val 5500"/>
            </a:avLst>
          </a:prstGeom>
          <a:solidFill>
            <a:srgbClr val="FFFFFF"/>
          </a:solidFill>
          <a:ln w="16510">
            <a:solidFill>
              <a:srgbClr val="1E9E74"/>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79392" y="1554480"/>
            <a:ext cx="3703320" cy="548640"/>
          </a:xfrm>
          <a:prstGeom prst="rect">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16552" y="1554480"/>
            <a:ext cx="342900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157355"/>
                </a:solidFill>
                <a:latin typeface="Bricolage Grotesque"/>
              </a:rPr>
              <a:t>🏫 El instituto</a:t>
            </a:r>
          </a:p>
        </p:txBody>
      </p:sp>
      <p:sp>
        <p:nvSpPr>
          <p:cNvPr id="17" name="TextBox 16"/>
          <p:cNvSpPr txBox="1"/>
          <p:nvPr/>
        </p:nvSpPr>
        <p:spPr>
          <a:xfrm>
            <a:off x="4462272" y="2286000"/>
            <a:ext cx="3337560" cy="1645920"/>
          </a:xfrm>
          <a:prstGeom prst="rect">
            <a:avLst/>
          </a:prstGeom>
          <a:noFill/>
        </p:spPr>
        <p:txBody>
          <a:bodyPr wrap="square" anchor="t" lIns="38100" rIns="38100" tIns="25400" bIns="25400">
            <a:spAutoFit/>
          </a:bodyPr>
          <a:lstStyle/>
          <a:p>
            <a:pPr algn="l">
              <a:lnSpc>
                <a:spcPct val="120000"/>
              </a:lnSpc>
              <a:spcBef>
                <a:spcPts val="0"/>
              </a:spcBef>
              <a:spcAft>
                <a:spcPts val="200"/>
              </a:spcAft>
            </a:pPr>
            <a:r>
              <a:rPr sz="1200" b="0" i="0">
                <a:solidFill>
                  <a:srgbClr val="20242E"/>
                </a:solidFill>
                <a:latin typeface="Inter"/>
              </a:rPr>
              <a:t>Van ~8:30 tot ~14:30, soms met pauze. Namiddag: deberes, deporte, amigos.</a:t>
            </a:r>
          </a:p>
        </p:txBody>
      </p:sp>
      <p:sp>
        <p:nvSpPr>
          <p:cNvPr id="18" name="TextBox 17"/>
          <p:cNvSpPr txBox="1"/>
          <p:nvPr/>
        </p:nvSpPr>
        <p:spPr>
          <a:xfrm>
            <a:off x="4462272" y="4023360"/>
            <a:ext cx="3337560" cy="548640"/>
          </a:xfrm>
          <a:prstGeom prst="rect">
            <a:avLst/>
          </a:prstGeom>
          <a:noFill/>
        </p:spPr>
        <p:txBody>
          <a:bodyPr wrap="square" anchor="t" lIns="38100" rIns="38100" tIns="25400" bIns="25400">
            <a:spAutoFit/>
          </a:bodyPr>
          <a:lstStyle/>
          <a:p>
            <a:pPr algn="l">
              <a:lnSpc>
                <a:spcPct val="110000"/>
              </a:lnSpc>
              <a:spcBef>
                <a:spcPts val="0"/>
              </a:spcBef>
              <a:spcAft>
                <a:spcPts val="200"/>
              </a:spcAft>
            </a:pPr>
            <a:r>
              <a:rPr sz="1050" b="0" i="1">
                <a:solidFill>
                  <a:srgbClr val="6A6E78"/>
                </a:solidFill>
                <a:latin typeface="Inter"/>
              </a:rPr>
              <a:t>Ander ritme dan een lange schooldag.</a:t>
            </a:r>
          </a:p>
        </p:txBody>
      </p:sp>
      <p:sp>
        <p:nvSpPr>
          <p:cNvPr id="19" name="Rounded Rectangle 18"/>
          <p:cNvSpPr/>
          <p:nvPr/>
        </p:nvSpPr>
        <p:spPr>
          <a:xfrm>
            <a:off x="8101584" y="1554480"/>
            <a:ext cx="3703320" cy="3108960"/>
          </a:xfrm>
          <a:prstGeom prst="roundRect">
            <a:avLst>
              <a:gd name="adj" fmla="val 5500"/>
            </a:avLst>
          </a:prstGeom>
          <a:solidFill>
            <a:srgbClr val="FFFFFF"/>
          </a:solidFill>
          <a:ln w="16510">
            <a:solidFill>
              <a:srgbClr val="1E9E74"/>
            </a:solid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01584" y="1554480"/>
            <a:ext cx="3703320" cy="548640"/>
          </a:xfrm>
          <a:prstGeom prst="rect">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1554480"/>
            <a:ext cx="3429000" cy="54864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157355"/>
                </a:solidFill>
                <a:latin typeface="Bricolage Grotesque"/>
              </a:rPr>
              <a:t>😴 La siesta</a:t>
            </a:r>
          </a:p>
        </p:txBody>
      </p:sp>
      <p:sp>
        <p:nvSpPr>
          <p:cNvPr id="22" name="TextBox 21"/>
          <p:cNvSpPr txBox="1"/>
          <p:nvPr/>
        </p:nvSpPr>
        <p:spPr>
          <a:xfrm>
            <a:off x="8284464" y="2286000"/>
            <a:ext cx="3337560" cy="1645920"/>
          </a:xfrm>
          <a:prstGeom prst="rect">
            <a:avLst/>
          </a:prstGeom>
          <a:noFill/>
        </p:spPr>
        <p:txBody>
          <a:bodyPr wrap="square" anchor="t" lIns="38100" rIns="38100" tIns="25400" bIns="25400">
            <a:spAutoFit/>
          </a:bodyPr>
          <a:lstStyle/>
          <a:p>
            <a:pPr algn="l">
              <a:lnSpc>
                <a:spcPct val="120000"/>
              </a:lnSpc>
              <a:spcBef>
                <a:spcPts val="0"/>
              </a:spcBef>
              <a:spcAft>
                <a:spcPts val="200"/>
              </a:spcAft>
            </a:pPr>
            <a:r>
              <a:rPr sz="1200" b="0" i="0">
                <a:solidFill>
                  <a:srgbClr val="20242E"/>
                </a:solidFill>
                <a:latin typeface="Inter"/>
              </a:rPr>
              <a:t>Meer mito dan realidad: weinigen doen echt siesta, vooral mayores. De cultuur eet gewoon later.</a:t>
            </a:r>
          </a:p>
        </p:txBody>
      </p:sp>
      <p:sp>
        <p:nvSpPr>
          <p:cNvPr id="23" name="TextBox 22"/>
          <p:cNvSpPr txBox="1"/>
          <p:nvPr/>
        </p:nvSpPr>
        <p:spPr>
          <a:xfrm>
            <a:off x="8284464" y="4023360"/>
            <a:ext cx="3337560" cy="548640"/>
          </a:xfrm>
          <a:prstGeom prst="rect">
            <a:avLst/>
          </a:prstGeom>
          <a:noFill/>
        </p:spPr>
        <p:txBody>
          <a:bodyPr wrap="square" anchor="t" lIns="38100" rIns="38100" tIns="25400" bIns="25400">
            <a:spAutoFit/>
          </a:bodyPr>
          <a:lstStyle/>
          <a:p>
            <a:pPr algn="l">
              <a:lnSpc>
                <a:spcPct val="110000"/>
              </a:lnSpc>
              <a:spcBef>
                <a:spcPts val="0"/>
              </a:spcBef>
              <a:spcAft>
                <a:spcPts val="200"/>
              </a:spcAft>
            </a:pPr>
            <a:r>
              <a:rPr sz="1050" b="0" i="1">
                <a:solidFill>
                  <a:srgbClr val="6A6E78"/>
                </a:solidFill>
                <a:latin typeface="Inter"/>
              </a:rPr>
              <a:t>Vergelijk met je eigen dagritme in Bélgica.</a:t>
            </a:r>
          </a:p>
        </p:txBody>
      </p:sp>
      <p:sp>
        <p:nvSpPr>
          <p:cNvPr id="24" name="Rounded Rectangle 23"/>
          <p:cNvSpPr/>
          <p:nvPr/>
        </p:nvSpPr>
        <p:spPr>
          <a:xfrm>
            <a:off x="457200" y="6053328"/>
            <a:ext cx="2093976" cy="365760"/>
          </a:xfrm>
          <a:prstGeom prst="roundRect">
            <a:avLst>
              <a:gd name="adj" fmla="val 50000"/>
            </a:avLst>
          </a:prstGeom>
          <a:solidFill>
            <a:srgbClr val="1E9E74"/>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25" name="Rounded Rectangle 24"/>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Saltar</a:t>
            </a:r>
          </a:p>
        </p:txBody>
      </p:sp>
      <p:sp>
        <p:nvSpPr>
          <p:cNvPr id="26" name="Rounded Rectangle 25">
            <a:hlinkClick action="ppaction://hlinksldjump" r:id="rId3"/>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Menú (dia 2)</a:t>
            </a:r>
          </a:p>
        </p:txBody>
      </p:sp>
      <p:sp>
        <p:nvSpPr>
          <p:cNvPr id="27" name="TextBox 26"/>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Noodroute (§5): werkt zonder audio/internet</a:t>
            </a:r>
          </a:p>
        </p:txBody>
      </p:sp>
      <p:sp>
        <p:nvSpPr>
          <p:cNvPr id="28" name="Rounded Rectangle 27"/>
          <p:cNvSpPr/>
          <p:nvPr/>
        </p:nvSpPr>
        <p:spPr>
          <a:xfrm>
            <a:off x="457200" y="4892040"/>
            <a:ext cx="11247120" cy="548640"/>
          </a:xfrm>
          <a:prstGeom prst="roundRect">
            <a:avLst>
              <a:gd name="adj" fmla="val 6000"/>
            </a:avLst>
          </a:prstGeom>
          <a:solidFill>
            <a:srgbClr val="E4F4EE"/>
          </a:solidFill>
          <a:ln w="1905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157355"/>
                </a:solidFill>
                <a:latin typeface="Inter"/>
              </a:rPr>
              <a:t>Actividad: </a:t>
            </a:r>
            <a:r>
              <a:rPr sz="1200" b="0" i="0">
                <a:solidFill>
                  <a:srgbClr val="157355"/>
                </a:solidFill>
                <a:latin typeface="Inter"/>
              </a:rPr>
              <a:t>vergelijk: ¿a qué hora comes y cenas TÚ en Bélgica? Schrijf jouw «horario español».</a:t>
            </a:r>
          </a:p>
        </p:txBody>
      </p:sp>
      <p:sp>
        <p:nvSpPr>
          <p:cNvPr id="29" name="Rounded Rectangle 28"/>
          <p:cNvSpPr/>
          <p:nvPr/>
        </p:nvSpPr>
        <p:spPr>
          <a:xfrm>
            <a:off x="594360" y="4764024"/>
            <a:ext cx="1548993" cy="292608"/>
          </a:xfrm>
          <a:prstGeom prst="roundRect">
            <a:avLst>
              <a:gd name="adj" fmla="val 50000"/>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 · docent</a:t>
            </a:r>
          </a:p>
        </p:txBody>
      </p:sp>
      <p:sp>
        <p:nvSpPr>
          <p:cNvPr id="30" name="Rectangle 29"/>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32" name="TextBox 31"/>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33" name="TextBox 32"/>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17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717243"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E9E74"/>
                </a:solidFill>
                <a:latin typeface="Inter"/>
              </a:rPr>
              <a:t>§3 · QUIZ · CONJUGA</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3</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Conjuga el presente irregular</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4F4EE"/>
                </a:solidFill>
                <a:latin typeface="Inter"/>
              </a:rPr>
              <a:t>Klik een cel → de juiste vorm. Let op de «bota» en de yo-vorm.</a:t>
            </a:r>
          </a:p>
        </p:txBody>
      </p:sp>
      <p:sp>
        <p:nvSpPr>
          <p:cNvPr id="9" name="Rounded Rectangle 8"/>
          <p:cNvSpPr/>
          <p:nvPr/>
        </p:nvSpPr>
        <p:spPr>
          <a:xfrm>
            <a:off x="457200" y="1600200"/>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600200"/>
            <a:ext cx="29260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yo · empezar</a:t>
            </a:r>
          </a:p>
        </p:txBody>
      </p:sp>
      <p:sp>
        <p:nvSpPr>
          <p:cNvPr id="11" name="TextBox 10"/>
          <p:cNvSpPr txBox="1"/>
          <p:nvPr/>
        </p:nvSpPr>
        <p:spPr>
          <a:xfrm>
            <a:off x="3520440" y="1600200"/>
            <a:ext cx="23317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1" i="0">
                <a:solidFill>
                  <a:srgbClr val="157355"/>
                </a:solidFill>
                <a:latin typeface="Inter"/>
              </a:rPr>
              <a:t>→ empiezo</a:t>
            </a:r>
          </a:p>
        </p:txBody>
      </p:sp>
      <p:sp>
        <p:nvSpPr>
          <p:cNvPr id="12" name="Rounded Rectangle 11"/>
          <p:cNvSpPr/>
          <p:nvPr/>
        </p:nvSpPr>
        <p:spPr>
          <a:xfrm>
            <a:off x="457200" y="2313432"/>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313432"/>
            <a:ext cx="29260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nosotros · empezar</a:t>
            </a:r>
          </a:p>
        </p:txBody>
      </p:sp>
      <p:sp>
        <p:nvSpPr>
          <p:cNvPr id="14" name="TextBox 13"/>
          <p:cNvSpPr txBox="1"/>
          <p:nvPr/>
        </p:nvSpPr>
        <p:spPr>
          <a:xfrm>
            <a:off x="3520440" y="2313432"/>
            <a:ext cx="23317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1" i="0">
                <a:solidFill>
                  <a:srgbClr val="157355"/>
                </a:solidFill>
                <a:latin typeface="Inter"/>
              </a:rPr>
              <a:t>→ empezamos</a:t>
            </a:r>
          </a:p>
        </p:txBody>
      </p:sp>
      <p:sp>
        <p:nvSpPr>
          <p:cNvPr id="15" name="Rounded Rectangle 14"/>
          <p:cNvSpPr/>
          <p:nvPr/>
        </p:nvSpPr>
        <p:spPr>
          <a:xfrm>
            <a:off x="457200" y="3026664"/>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26664"/>
            <a:ext cx="29260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Pau · dormir</a:t>
            </a:r>
          </a:p>
        </p:txBody>
      </p:sp>
      <p:sp>
        <p:nvSpPr>
          <p:cNvPr id="17" name="TextBox 16"/>
          <p:cNvSpPr txBox="1"/>
          <p:nvPr/>
        </p:nvSpPr>
        <p:spPr>
          <a:xfrm>
            <a:off x="3520440" y="3026664"/>
            <a:ext cx="23317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1" i="0">
                <a:solidFill>
                  <a:srgbClr val="157355"/>
                </a:solidFill>
                <a:latin typeface="Inter"/>
              </a:rPr>
              <a:t>→ duerme</a:t>
            </a:r>
          </a:p>
        </p:txBody>
      </p:sp>
      <p:sp>
        <p:nvSpPr>
          <p:cNvPr id="18" name="Rounded Rectangle 17"/>
          <p:cNvSpPr/>
          <p:nvPr/>
        </p:nvSpPr>
        <p:spPr>
          <a:xfrm>
            <a:off x="457200" y="3739896"/>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739896"/>
            <a:ext cx="29260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yo · hacer</a:t>
            </a:r>
          </a:p>
        </p:txBody>
      </p:sp>
      <p:sp>
        <p:nvSpPr>
          <p:cNvPr id="20" name="TextBox 19"/>
          <p:cNvSpPr txBox="1"/>
          <p:nvPr/>
        </p:nvSpPr>
        <p:spPr>
          <a:xfrm>
            <a:off x="3520440" y="3739896"/>
            <a:ext cx="23317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1" i="0">
                <a:solidFill>
                  <a:srgbClr val="157355"/>
                </a:solidFill>
                <a:latin typeface="Inter"/>
              </a:rPr>
              <a:t>→ hago</a:t>
            </a:r>
          </a:p>
        </p:txBody>
      </p:sp>
      <p:sp>
        <p:nvSpPr>
          <p:cNvPr id="21" name="Rounded Rectangle 20"/>
          <p:cNvSpPr/>
          <p:nvPr/>
        </p:nvSpPr>
        <p:spPr>
          <a:xfrm>
            <a:off x="6172200" y="1600200"/>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1600200"/>
            <a:ext cx="29260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tú · querer</a:t>
            </a:r>
          </a:p>
        </p:txBody>
      </p:sp>
      <p:sp>
        <p:nvSpPr>
          <p:cNvPr id="23" name="TextBox 22"/>
          <p:cNvSpPr txBox="1"/>
          <p:nvPr/>
        </p:nvSpPr>
        <p:spPr>
          <a:xfrm>
            <a:off x="9235440" y="1600200"/>
            <a:ext cx="23317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1" i="0">
                <a:solidFill>
                  <a:srgbClr val="157355"/>
                </a:solidFill>
                <a:latin typeface="Inter"/>
              </a:rPr>
              <a:t>→ quieres</a:t>
            </a:r>
          </a:p>
        </p:txBody>
      </p:sp>
      <p:sp>
        <p:nvSpPr>
          <p:cNvPr id="24" name="Rounded Rectangle 23"/>
          <p:cNvSpPr/>
          <p:nvPr/>
        </p:nvSpPr>
        <p:spPr>
          <a:xfrm>
            <a:off x="6172200" y="2313432"/>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2313432"/>
            <a:ext cx="29260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yo · ir</a:t>
            </a:r>
          </a:p>
        </p:txBody>
      </p:sp>
      <p:sp>
        <p:nvSpPr>
          <p:cNvPr id="26" name="TextBox 25"/>
          <p:cNvSpPr txBox="1"/>
          <p:nvPr/>
        </p:nvSpPr>
        <p:spPr>
          <a:xfrm>
            <a:off x="9235440" y="2313432"/>
            <a:ext cx="23317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1" i="0">
                <a:solidFill>
                  <a:srgbClr val="157355"/>
                </a:solidFill>
                <a:latin typeface="Inter"/>
              </a:rPr>
              <a:t>→ voy</a:t>
            </a:r>
          </a:p>
        </p:txBody>
      </p:sp>
      <p:sp>
        <p:nvSpPr>
          <p:cNvPr id="27" name="Rounded Rectangle 26"/>
          <p:cNvSpPr/>
          <p:nvPr/>
        </p:nvSpPr>
        <p:spPr>
          <a:xfrm>
            <a:off x="6172200" y="3026664"/>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026664"/>
            <a:ext cx="29260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ellos · pedir</a:t>
            </a:r>
          </a:p>
        </p:txBody>
      </p:sp>
      <p:sp>
        <p:nvSpPr>
          <p:cNvPr id="29" name="TextBox 28"/>
          <p:cNvSpPr txBox="1"/>
          <p:nvPr/>
        </p:nvSpPr>
        <p:spPr>
          <a:xfrm>
            <a:off x="9235440" y="3026664"/>
            <a:ext cx="23317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1" i="0">
                <a:solidFill>
                  <a:srgbClr val="157355"/>
                </a:solidFill>
                <a:latin typeface="Inter"/>
              </a:rPr>
              <a:t>→ piden</a:t>
            </a:r>
          </a:p>
        </p:txBody>
      </p:sp>
      <p:sp>
        <p:nvSpPr>
          <p:cNvPr id="30" name="Rounded Rectangle 29"/>
          <p:cNvSpPr/>
          <p:nvPr/>
        </p:nvSpPr>
        <p:spPr>
          <a:xfrm>
            <a:off x="6172200" y="3739896"/>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3739896"/>
            <a:ext cx="29260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yo · salir</a:t>
            </a:r>
          </a:p>
        </p:txBody>
      </p:sp>
      <p:sp>
        <p:nvSpPr>
          <p:cNvPr id="32" name="TextBox 31"/>
          <p:cNvSpPr txBox="1"/>
          <p:nvPr/>
        </p:nvSpPr>
        <p:spPr>
          <a:xfrm>
            <a:off x="9235440" y="3739896"/>
            <a:ext cx="23317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300" b="1" i="0">
                <a:solidFill>
                  <a:srgbClr val="157355"/>
                </a:solidFill>
                <a:latin typeface="Inter"/>
              </a:rPr>
              <a:t>→ salgo</a:t>
            </a:r>
          </a:p>
        </p:txBody>
      </p:sp>
      <p:sp>
        <p:nvSpPr>
          <p:cNvPr id="33" name="Rounded Rectangle 32"/>
          <p:cNvSpPr/>
          <p:nvPr/>
        </p:nvSpPr>
        <p:spPr>
          <a:xfrm>
            <a:off x="457200" y="6053328"/>
            <a:ext cx="2093976" cy="365760"/>
          </a:xfrm>
          <a:prstGeom prst="roundRect">
            <a:avLst>
              <a:gd name="adj" fmla="val 50000"/>
            </a:avLst>
          </a:prstGeom>
          <a:solidFill>
            <a:srgbClr val="1E9E74"/>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34" name="Rounded Rectangle 33"/>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Saltar</a:t>
            </a:r>
          </a:p>
        </p:txBody>
      </p:sp>
      <p:sp>
        <p:nvSpPr>
          <p:cNvPr id="35" name="Rounded Rectangle 34">
            <a:hlinkClick action="ppaction://hlinksldjump" r:id="rId3"/>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Menú (dia 2)</a:t>
            </a:r>
          </a:p>
        </p:txBody>
      </p:sp>
      <p:sp>
        <p:nvSpPr>
          <p:cNvPr id="36" name="TextBox 35"/>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Noodroute (§5): werkt zonder audio/internet</a:t>
            </a:r>
          </a:p>
        </p:txBody>
      </p:sp>
      <p:sp>
        <p:nvSpPr>
          <p:cNvPr id="37" name="Rounded Rectangle 36"/>
          <p:cNvSpPr/>
          <p:nvPr/>
        </p:nvSpPr>
        <p:spPr>
          <a:xfrm>
            <a:off x="457200" y="4617720"/>
            <a:ext cx="11247120" cy="502920"/>
          </a:xfrm>
          <a:prstGeom prst="roundRect">
            <a:avLst>
              <a:gd name="adj" fmla="val 6000"/>
            </a:avLst>
          </a:prstGeom>
          <a:solidFill>
            <a:srgbClr val="E4F4EE"/>
          </a:solidFill>
          <a:ln w="1905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157355"/>
                </a:solidFill>
                <a:latin typeface="Inter"/>
              </a:rPr>
              <a:t>Nosotros = geen wissel (empezamos). Yo speciaal bij hacer/salir/ir (hago/salgo/voy). </a:t>
            </a:r>
            <a:r>
              <a:rPr sz="1200" b="0" i="0">
                <a:solidFill>
                  <a:srgbClr val="157355"/>
                </a:solidFill>
                <a:latin typeface="Inter"/>
              </a:rPr>
              <a:t>Alle vormen nagerekend via de motor-generator.</a:t>
            </a:r>
          </a:p>
        </p:txBody>
      </p:sp>
      <p:sp>
        <p:nvSpPr>
          <p:cNvPr id="38" name="Rounded Rectangle 37"/>
          <p:cNvSpPr/>
          <p:nvPr/>
        </p:nvSpPr>
        <p:spPr>
          <a:xfrm>
            <a:off x="594360" y="4489704"/>
            <a:ext cx="1548993" cy="292608"/>
          </a:xfrm>
          <a:prstGeom prst="roundRect">
            <a:avLst>
              <a:gd name="adj" fmla="val 50000"/>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 · docent</a:t>
            </a:r>
          </a:p>
        </p:txBody>
      </p:sp>
      <p:sp>
        <p:nvSpPr>
          <p:cNvPr id="39" name="Rectangle 38"/>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41" name="TextBox 40"/>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42" name="TextBox 41"/>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18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5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500"/>
                                        <p:tgtEl>
                                          <p:spTgt spid="3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fade">
                                      <p:cBhvr>
                                        <p:cTn id="5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686800" cy="91440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2800" b="1" i="0">
                <a:solidFill>
                  <a:srgbClr val="FFFFFF"/>
                </a:solidFill>
                <a:latin typeface="Bricolage Grotesque"/>
              </a:rPr>
              <a:t>✈ Tarea final · Un día en mi vida</a:t>
            </a:r>
          </a:p>
          <a:p>
            <a:pPr algn="l">
              <a:lnSpc>
                <a:spcPct val="106000"/>
              </a:lnSpc>
              <a:spcBef>
                <a:spcPts val="0"/>
              </a:spcBef>
              <a:spcAft>
                <a:spcPts val="200"/>
              </a:spcAft>
            </a:pPr>
            <a:r>
              <a:rPr sz="1300" b="0" i="1">
                <a:solidFill>
                  <a:srgbClr val="E4F4EE"/>
                </a:solidFill>
                <a:latin typeface="Inter"/>
              </a:rPr>
              <a:t>Maak je vlog of tekst met horario over een dag uit je leven.</a:t>
            </a:r>
          </a:p>
        </p:txBody>
      </p:sp>
      <p:pic>
        <p:nvPicPr>
          <p:cNvPr id="5" name="Picture 4" descr="mochila.png"/>
          <p:cNvPicPr>
            <a:picLocks noChangeAspect="1"/>
          </p:cNvPicPr>
          <p:nvPr/>
        </p:nvPicPr>
        <p:blipFill>
          <a:blip r:embed="rId2"/>
          <a:stretch>
            <a:fillRect/>
          </a:stretch>
        </p:blipFill>
        <p:spPr>
          <a:xfrm>
            <a:off x="10607040" y="182880"/>
            <a:ext cx="914400" cy="914400"/>
          </a:xfrm>
          <a:prstGeom prst="rect">
            <a:avLst/>
          </a:prstGeom>
        </p:spPr>
      </p:pic>
      <p:sp>
        <p:nvSpPr>
          <p:cNvPr id="6" name="Rounded Rectangle 5"/>
          <p:cNvSpPr/>
          <p:nvPr/>
        </p:nvSpPr>
        <p:spPr>
          <a:xfrm>
            <a:off x="457200" y="1554480"/>
            <a:ext cx="457200" cy="457200"/>
          </a:xfrm>
          <a:prstGeom prst="roundRect">
            <a:avLst>
              <a:gd name="adj" fmla="val 50000"/>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Bricolage Grotesque"/>
              </a:rPr>
              <a:t>1</a:t>
            </a:r>
          </a:p>
        </p:txBody>
      </p:sp>
      <p:sp>
        <p:nvSpPr>
          <p:cNvPr id="7" name="TextBox 6"/>
          <p:cNvSpPr txBox="1"/>
          <p:nvPr/>
        </p:nvSpPr>
        <p:spPr>
          <a:xfrm>
            <a:off x="1097280" y="1554480"/>
            <a:ext cx="365760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157355"/>
                </a:solidFill>
                <a:latin typeface="Bricolage Grotesque"/>
              </a:rPr>
              <a:t>Haz tu horario</a:t>
            </a:r>
          </a:p>
        </p:txBody>
      </p:sp>
      <p:sp>
        <p:nvSpPr>
          <p:cNvPr id="8" name="TextBox 7"/>
          <p:cNvSpPr txBox="1"/>
          <p:nvPr/>
        </p:nvSpPr>
        <p:spPr>
          <a:xfrm>
            <a:off x="4846320" y="1554480"/>
            <a:ext cx="676656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de uren van jouw dag</a:t>
            </a:r>
          </a:p>
        </p:txBody>
      </p:sp>
      <p:sp>
        <p:nvSpPr>
          <p:cNvPr id="9" name="Rounded Rectangle 8"/>
          <p:cNvSpPr/>
          <p:nvPr/>
        </p:nvSpPr>
        <p:spPr>
          <a:xfrm>
            <a:off x="457200" y="2121408"/>
            <a:ext cx="457200" cy="457200"/>
          </a:xfrm>
          <a:prstGeom prst="roundRect">
            <a:avLst>
              <a:gd name="adj" fmla="val 50000"/>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Bricolage Grotesque"/>
              </a:rPr>
              <a:t>2</a:t>
            </a:r>
          </a:p>
        </p:txBody>
      </p:sp>
      <p:sp>
        <p:nvSpPr>
          <p:cNvPr id="10" name="TextBox 9"/>
          <p:cNvSpPr txBox="1"/>
          <p:nvPr/>
        </p:nvSpPr>
        <p:spPr>
          <a:xfrm>
            <a:off x="1097280" y="2121408"/>
            <a:ext cx="365760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157355"/>
                </a:solidFill>
                <a:latin typeface="Bricolage Grotesque"/>
              </a:rPr>
              <a:t>Escribe tu día</a:t>
            </a:r>
          </a:p>
        </p:txBody>
      </p:sp>
      <p:sp>
        <p:nvSpPr>
          <p:cNvPr id="11" name="TextBox 10"/>
          <p:cNvSpPr txBox="1"/>
          <p:nvPr/>
        </p:nvSpPr>
        <p:spPr>
          <a:xfrm>
            <a:off x="4846320" y="2121408"/>
            <a:ext cx="676656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6–8 frases: hora + reflexivos + presente irregular + conectores</a:t>
            </a:r>
          </a:p>
        </p:txBody>
      </p:sp>
      <p:sp>
        <p:nvSpPr>
          <p:cNvPr id="12" name="Rounded Rectangle 11"/>
          <p:cNvSpPr/>
          <p:nvPr/>
        </p:nvSpPr>
        <p:spPr>
          <a:xfrm>
            <a:off x="457200" y="2688336"/>
            <a:ext cx="457200" cy="457200"/>
          </a:xfrm>
          <a:prstGeom prst="roundRect">
            <a:avLst>
              <a:gd name="adj" fmla="val 50000"/>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Bricolage Grotesque"/>
              </a:rPr>
              <a:t>3</a:t>
            </a:r>
          </a:p>
        </p:txBody>
      </p:sp>
      <p:sp>
        <p:nvSpPr>
          <p:cNvPr id="13" name="TextBox 12"/>
          <p:cNvSpPr txBox="1"/>
          <p:nvPr/>
        </p:nvSpPr>
        <p:spPr>
          <a:xfrm>
            <a:off x="1097280" y="2688336"/>
            <a:ext cx="365760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157355"/>
                </a:solidFill>
                <a:latin typeface="Bricolage Grotesque"/>
              </a:rPr>
              <a:t>Di la frecuencia</a:t>
            </a:r>
          </a:p>
        </p:txBody>
      </p:sp>
      <p:sp>
        <p:nvSpPr>
          <p:cNvPr id="14" name="TextBox 13"/>
          <p:cNvSpPr txBox="1"/>
          <p:nvPr/>
        </p:nvSpPr>
        <p:spPr>
          <a:xfrm>
            <a:off x="4846320" y="2688336"/>
            <a:ext cx="676656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siempre · a veces · nunca</a:t>
            </a:r>
          </a:p>
        </p:txBody>
      </p:sp>
      <p:sp>
        <p:nvSpPr>
          <p:cNvPr id="15" name="Rounded Rectangle 14"/>
          <p:cNvSpPr/>
          <p:nvPr/>
        </p:nvSpPr>
        <p:spPr>
          <a:xfrm>
            <a:off x="457200" y="3255264"/>
            <a:ext cx="457200" cy="457200"/>
          </a:xfrm>
          <a:prstGeom prst="roundRect">
            <a:avLst>
              <a:gd name="adj" fmla="val 50000"/>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Bricolage Grotesque"/>
              </a:rPr>
              <a:t>4</a:t>
            </a:r>
          </a:p>
        </p:txBody>
      </p:sp>
      <p:sp>
        <p:nvSpPr>
          <p:cNvPr id="16" name="TextBox 15"/>
          <p:cNvSpPr txBox="1"/>
          <p:nvPr/>
        </p:nvSpPr>
        <p:spPr>
          <a:xfrm>
            <a:off x="1097280" y="3255264"/>
            <a:ext cx="365760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157355"/>
                </a:solidFill>
                <a:latin typeface="Bricolage Grotesque"/>
              </a:rPr>
              <a:t>Preséntalo</a:t>
            </a:r>
          </a:p>
        </p:txBody>
      </p:sp>
      <p:sp>
        <p:nvSpPr>
          <p:cNvPr id="17" name="TextBox 16"/>
          <p:cNvSpPr txBox="1"/>
          <p:nvPr/>
        </p:nvSpPr>
        <p:spPr>
          <a:xfrm>
            <a:off x="4846320" y="3255264"/>
            <a:ext cx="676656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a la clase of vlog/audio (digitale pagina)</a:t>
            </a:r>
          </a:p>
        </p:txBody>
      </p:sp>
      <p:sp>
        <p:nvSpPr>
          <p:cNvPr id="18" name="Rounded Rectangle 17"/>
          <p:cNvSpPr/>
          <p:nvPr/>
        </p:nvSpPr>
        <p:spPr>
          <a:xfrm>
            <a:off x="457200" y="3822192"/>
            <a:ext cx="457200" cy="457200"/>
          </a:xfrm>
          <a:prstGeom prst="roundRect">
            <a:avLst>
              <a:gd name="adj" fmla="val 50000"/>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Bricolage Grotesque"/>
              </a:rPr>
              <a:t>5</a:t>
            </a:r>
          </a:p>
        </p:txBody>
      </p:sp>
      <p:sp>
        <p:nvSpPr>
          <p:cNvPr id="19" name="TextBox 18"/>
          <p:cNvSpPr txBox="1"/>
          <p:nvPr/>
        </p:nvSpPr>
        <p:spPr>
          <a:xfrm>
            <a:off x="1097280" y="3822192"/>
            <a:ext cx="365760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400" b="1" i="0">
                <a:solidFill>
                  <a:srgbClr val="157355"/>
                </a:solidFill>
                <a:latin typeface="Bricolage Grotesque"/>
              </a:rPr>
              <a:t>Pregunta a un compañero</a:t>
            </a:r>
          </a:p>
        </p:txBody>
      </p:sp>
      <p:sp>
        <p:nvSpPr>
          <p:cNvPr id="20" name="TextBox 19"/>
          <p:cNvSpPr txBox="1"/>
          <p:nvPr/>
        </p:nvSpPr>
        <p:spPr>
          <a:xfrm>
            <a:off x="4846320" y="3822192"/>
            <a:ext cx="676656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en presenta su día (3ª persona)</a:t>
            </a:r>
          </a:p>
        </p:txBody>
      </p:sp>
      <p:sp>
        <p:nvSpPr>
          <p:cNvPr id="21" name="TextBox 20"/>
          <p:cNvSpPr txBox="1"/>
          <p:nvPr/>
        </p:nvSpPr>
        <p:spPr>
          <a:xfrm>
            <a:off x="457200" y="4572000"/>
            <a:ext cx="10972800" cy="32004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157355"/>
                </a:solidFill>
                <a:latin typeface="Bricolage Grotesque"/>
              </a:rPr>
              <a:t>Rúbrica · ¿lo logré?</a:t>
            </a:r>
          </a:p>
        </p:txBody>
      </p:sp>
      <p:sp>
        <p:nvSpPr>
          <p:cNvPr id="22" name="Rounded Rectangle 21"/>
          <p:cNvSpPr/>
          <p:nvPr/>
        </p:nvSpPr>
        <p:spPr>
          <a:xfrm>
            <a:off x="457200" y="4983480"/>
            <a:ext cx="2743200" cy="292608"/>
          </a:xfrm>
          <a:prstGeom prst="roundRect">
            <a:avLst>
              <a:gd name="adj" fmla="val 50000"/>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57355"/>
                </a:solidFill>
                <a:latin typeface="Inter"/>
              </a:rPr>
              <a:t>☐ la hora correct</a:t>
            </a:r>
          </a:p>
        </p:txBody>
      </p:sp>
      <p:sp>
        <p:nvSpPr>
          <p:cNvPr id="23" name="Rounded Rectangle 22"/>
          <p:cNvSpPr/>
          <p:nvPr/>
        </p:nvSpPr>
        <p:spPr>
          <a:xfrm>
            <a:off x="3291840" y="4983480"/>
            <a:ext cx="2743200" cy="292608"/>
          </a:xfrm>
          <a:prstGeom prst="roundRect">
            <a:avLst>
              <a:gd name="adj" fmla="val 50000"/>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57355"/>
                </a:solidFill>
                <a:latin typeface="Inter"/>
              </a:rPr>
              <a:t>☐ reflexivos (me/te/se)</a:t>
            </a:r>
          </a:p>
        </p:txBody>
      </p:sp>
      <p:sp>
        <p:nvSpPr>
          <p:cNvPr id="24" name="Rounded Rectangle 23"/>
          <p:cNvSpPr/>
          <p:nvPr/>
        </p:nvSpPr>
        <p:spPr>
          <a:xfrm>
            <a:off x="6126480" y="4983480"/>
            <a:ext cx="2743200" cy="292608"/>
          </a:xfrm>
          <a:prstGeom prst="roundRect">
            <a:avLst>
              <a:gd name="adj" fmla="val 50000"/>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57355"/>
                </a:solidFill>
                <a:latin typeface="Inter"/>
              </a:rPr>
              <a:t>☐ presente irregular</a:t>
            </a:r>
          </a:p>
        </p:txBody>
      </p:sp>
      <p:sp>
        <p:nvSpPr>
          <p:cNvPr id="25" name="Rounded Rectangle 24"/>
          <p:cNvSpPr/>
          <p:nvPr/>
        </p:nvSpPr>
        <p:spPr>
          <a:xfrm>
            <a:off x="8961120" y="4983480"/>
            <a:ext cx="2743200" cy="292608"/>
          </a:xfrm>
          <a:prstGeom prst="roundRect">
            <a:avLst>
              <a:gd name="adj" fmla="val 50000"/>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57355"/>
                </a:solidFill>
                <a:latin typeface="Inter"/>
              </a:rPr>
              <a:t>☐ conectores + frecuencia</a:t>
            </a:r>
          </a:p>
        </p:txBody>
      </p:sp>
      <p:sp>
        <p:nvSpPr>
          <p:cNvPr id="26" name="TextBox 25"/>
          <p:cNvSpPr txBox="1"/>
          <p:nvPr/>
        </p:nvSpPr>
        <p:spPr>
          <a:xfrm>
            <a:off x="457200" y="5532120"/>
            <a:ext cx="1097280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00" b="0" i="0">
                <a:solidFill>
                  <a:srgbClr val="20242E"/>
                </a:solidFill>
                <a:latin typeface="Inter"/>
              </a:rPr>
              <a:t>🎯 </a:t>
            </a:r>
            <a:r>
              <a:rPr sz="1150" b="0" i="1">
                <a:solidFill>
                  <a:srgbClr val="6A6E78"/>
                </a:solidFill>
                <a:latin typeface="Inter"/>
              </a:rPr>
              <a:t>Afzender jij · ontvanger de klas/Lucía · doel je dag vertellen · situatie een dag in Barcelona · resultaat: horario + vlog/tekst.</a:t>
            </a:r>
          </a:p>
        </p:txBody>
      </p:sp>
      <p:sp>
        <p:nvSpPr>
          <p:cNvPr id="27" name="Rectangle 26"/>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29" name="TextBox 28"/>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30" name="TextBox 29"/>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464868"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E9E74"/>
                </a:solidFill>
                <a:latin typeface="Inter"/>
              </a:rPr>
              <a:t>QUIZ · LA MEZCLA</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1</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Ophaal door elkaar</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4F4EE"/>
                </a:solidFill>
                <a:latin typeface="Inter"/>
              </a:rPr>
              <a:t>Gemengde ophaal van de hele unit. Klik een vraag → het antwoord. (retrieval)</a:t>
            </a:r>
          </a:p>
        </p:txBody>
      </p:sp>
      <p:sp>
        <p:nvSpPr>
          <p:cNvPr id="9" name="Rounded Rectangle 8"/>
          <p:cNvSpPr/>
          <p:nvPr/>
        </p:nvSpPr>
        <p:spPr>
          <a:xfrm>
            <a:off x="457200" y="1600200"/>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600200"/>
            <a:ext cx="29260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1:00 (frase)</a:t>
            </a:r>
          </a:p>
        </p:txBody>
      </p:sp>
      <p:sp>
        <p:nvSpPr>
          <p:cNvPr id="11" name="TextBox 10"/>
          <p:cNvSpPr txBox="1"/>
          <p:nvPr/>
        </p:nvSpPr>
        <p:spPr>
          <a:xfrm>
            <a:off x="3520440" y="1600200"/>
            <a:ext cx="23317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157355"/>
                </a:solidFill>
                <a:latin typeface="Inter"/>
              </a:rPr>
              <a:t>→ Es la una</a:t>
            </a:r>
          </a:p>
        </p:txBody>
      </p:sp>
      <p:sp>
        <p:nvSpPr>
          <p:cNvPr id="12" name="Rounded Rectangle 11"/>
          <p:cNvSpPr/>
          <p:nvPr/>
        </p:nvSpPr>
        <p:spPr>
          <a:xfrm>
            <a:off x="457200" y="2313432"/>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313432"/>
            <a:ext cx="29260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yo · levantarse</a:t>
            </a:r>
          </a:p>
        </p:txBody>
      </p:sp>
      <p:sp>
        <p:nvSpPr>
          <p:cNvPr id="14" name="TextBox 13"/>
          <p:cNvSpPr txBox="1"/>
          <p:nvPr/>
        </p:nvSpPr>
        <p:spPr>
          <a:xfrm>
            <a:off x="3520440" y="2313432"/>
            <a:ext cx="23317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157355"/>
                </a:solidFill>
                <a:latin typeface="Inter"/>
              </a:rPr>
              <a:t>→ me levanto</a:t>
            </a:r>
          </a:p>
        </p:txBody>
      </p:sp>
      <p:sp>
        <p:nvSpPr>
          <p:cNvPr id="15" name="Rounded Rectangle 14"/>
          <p:cNvSpPr/>
          <p:nvPr/>
        </p:nvSpPr>
        <p:spPr>
          <a:xfrm>
            <a:off x="457200" y="3026664"/>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26664"/>
            <a:ext cx="29260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yo · poder</a:t>
            </a:r>
          </a:p>
        </p:txBody>
      </p:sp>
      <p:sp>
        <p:nvSpPr>
          <p:cNvPr id="17" name="TextBox 16"/>
          <p:cNvSpPr txBox="1"/>
          <p:nvPr/>
        </p:nvSpPr>
        <p:spPr>
          <a:xfrm>
            <a:off x="3520440" y="3026664"/>
            <a:ext cx="23317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157355"/>
                </a:solidFill>
                <a:latin typeface="Inter"/>
              </a:rPr>
              <a:t>→ puedo</a:t>
            </a:r>
          </a:p>
        </p:txBody>
      </p:sp>
      <p:sp>
        <p:nvSpPr>
          <p:cNvPr id="18" name="Rounded Rectangle 17"/>
          <p:cNvSpPr/>
          <p:nvPr/>
        </p:nvSpPr>
        <p:spPr>
          <a:xfrm>
            <a:off x="457200" y="3739896"/>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739896"/>
            <a:ext cx="29260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nosotros · empezar</a:t>
            </a:r>
          </a:p>
        </p:txBody>
      </p:sp>
      <p:sp>
        <p:nvSpPr>
          <p:cNvPr id="20" name="TextBox 19"/>
          <p:cNvSpPr txBox="1"/>
          <p:nvPr/>
        </p:nvSpPr>
        <p:spPr>
          <a:xfrm>
            <a:off x="3520440" y="3739896"/>
            <a:ext cx="23317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157355"/>
                </a:solidFill>
                <a:latin typeface="Inter"/>
              </a:rPr>
              <a:t>→ empezamos</a:t>
            </a:r>
          </a:p>
        </p:txBody>
      </p:sp>
      <p:sp>
        <p:nvSpPr>
          <p:cNvPr id="21" name="Rounded Rectangle 20"/>
          <p:cNvSpPr/>
          <p:nvPr/>
        </p:nvSpPr>
        <p:spPr>
          <a:xfrm>
            <a:off x="6172200" y="1600200"/>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1600200"/>
            <a:ext cx="29260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yo · hacer</a:t>
            </a:r>
          </a:p>
        </p:txBody>
      </p:sp>
      <p:sp>
        <p:nvSpPr>
          <p:cNvPr id="23" name="TextBox 22"/>
          <p:cNvSpPr txBox="1"/>
          <p:nvPr/>
        </p:nvSpPr>
        <p:spPr>
          <a:xfrm>
            <a:off x="9235440" y="1600200"/>
            <a:ext cx="23317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157355"/>
                </a:solidFill>
                <a:latin typeface="Inter"/>
              </a:rPr>
              <a:t>→ hago</a:t>
            </a:r>
          </a:p>
        </p:txBody>
      </p:sp>
      <p:sp>
        <p:nvSpPr>
          <p:cNvPr id="24" name="Rounded Rectangle 23"/>
          <p:cNvSpPr/>
          <p:nvPr/>
        </p:nvSpPr>
        <p:spPr>
          <a:xfrm>
            <a:off x="6172200" y="2313432"/>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2313432"/>
            <a:ext cx="29260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0% frecuencia</a:t>
            </a:r>
          </a:p>
        </p:txBody>
      </p:sp>
      <p:sp>
        <p:nvSpPr>
          <p:cNvPr id="26" name="TextBox 25"/>
          <p:cNvSpPr txBox="1"/>
          <p:nvPr/>
        </p:nvSpPr>
        <p:spPr>
          <a:xfrm>
            <a:off x="9235440" y="2313432"/>
            <a:ext cx="23317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157355"/>
                </a:solidFill>
                <a:latin typeface="Inter"/>
              </a:rPr>
              <a:t>→ nunca</a:t>
            </a:r>
          </a:p>
        </p:txBody>
      </p:sp>
      <p:sp>
        <p:nvSpPr>
          <p:cNvPr id="27" name="Rounded Rectangle 26"/>
          <p:cNvSpPr/>
          <p:nvPr/>
        </p:nvSpPr>
        <p:spPr>
          <a:xfrm>
            <a:off x="6172200" y="3026664"/>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026664"/>
            <a:ext cx="29260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«dan/daarna»</a:t>
            </a:r>
          </a:p>
        </p:txBody>
      </p:sp>
      <p:sp>
        <p:nvSpPr>
          <p:cNvPr id="29" name="TextBox 28"/>
          <p:cNvSpPr txBox="1"/>
          <p:nvPr/>
        </p:nvSpPr>
        <p:spPr>
          <a:xfrm>
            <a:off x="9235440" y="3026664"/>
            <a:ext cx="23317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157355"/>
                </a:solidFill>
                <a:latin typeface="Inter"/>
              </a:rPr>
              <a:t>→ después / luego</a:t>
            </a:r>
          </a:p>
        </p:txBody>
      </p:sp>
      <p:sp>
        <p:nvSpPr>
          <p:cNvPr id="30" name="Rounded Rectangle 29"/>
          <p:cNvSpPr/>
          <p:nvPr/>
        </p:nvSpPr>
        <p:spPr>
          <a:xfrm>
            <a:off x="6172200" y="3739896"/>
            <a:ext cx="5532120" cy="566928"/>
          </a:xfrm>
          <a:prstGeom prst="roundRect">
            <a:avLst>
              <a:gd name="adj" fmla="val 55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3739896"/>
            <a:ext cx="292608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día con tilde</a:t>
            </a:r>
          </a:p>
        </p:txBody>
      </p:sp>
      <p:sp>
        <p:nvSpPr>
          <p:cNvPr id="32" name="TextBox 31"/>
          <p:cNvSpPr txBox="1"/>
          <p:nvPr/>
        </p:nvSpPr>
        <p:spPr>
          <a:xfrm>
            <a:off x="9235440" y="3739896"/>
            <a:ext cx="2331720" cy="566928"/>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1" i="0">
                <a:solidFill>
                  <a:srgbClr val="157355"/>
                </a:solidFill>
                <a:latin typeface="Inter"/>
              </a:rPr>
              <a:t>→ miércoles / sábado</a:t>
            </a:r>
          </a:p>
        </p:txBody>
      </p:sp>
      <p:sp>
        <p:nvSpPr>
          <p:cNvPr id="33" name="Rounded Rectangle 32"/>
          <p:cNvSpPr/>
          <p:nvPr/>
        </p:nvSpPr>
        <p:spPr>
          <a:xfrm>
            <a:off x="457200" y="6053328"/>
            <a:ext cx="2093976" cy="365760"/>
          </a:xfrm>
          <a:prstGeom prst="roundRect">
            <a:avLst>
              <a:gd name="adj" fmla="val 50000"/>
            </a:avLst>
          </a:prstGeom>
          <a:solidFill>
            <a:srgbClr val="1E9E74"/>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Inter"/>
              </a:rPr>
              <a:t>▶  Mostrar solución</a:t>
            </a:r>
          </a:p>
        </p:txBody>
      </p:sp>
      <p:sp>
        <p:nvSpPr>
          <p:cNvPr id="34" name="Rounded Rectangle 33"/>
          <p:cNvSpPr/>
          <p:nvPr/>
        </p:nvSpPr>
        <p:spPr>
          <a:xfrm>
            <a:off x="2697480" y="6053328"/>
            <a:ext cx="1088136"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Saltar</a:t>
            </a:r>
          </a:p>
        </p:txBody>
      </p:sp>
      <p:sp>
        <p:nvSpPr>
          <p:cNvPr id="35" name="Rounded Rectangle 34">
            <a:hlinkClick action="ppaction://hlinksldjump" r:id="rId3"/>
          </p:cNvPr>
          <p:cNvSpPr/>
          <p:nvPr/>
        </p:nvSpPr>
        <p:spPr>
          <a:xfrm>
            <a:off x="3931920" y="6053328"/>
            <a:ext cx="1691639" cy="365760"/>
          </a:xfrm>
          <a:prstGeom prst="roundRect">
            <a:avLst>
              <a:gd name="adj" fmla="val 50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157355"/>
                </a:solidFill>
                <a:latin typeface="Inter"/>
              </a:rPr>
              <a:t>⌂  Menú (dia 2)</a:t>
            </a:r>
          </a:p>
        </p:txBody>
      </p:sp>
      <p:sp>
        <p:nvSpPr>
          <p:cNvPr id="36" name="TextBox 35"/>
          <p:cNvSpPr txBox="1"/>
          <p:nvPr/>
        </p:nvSpPr>
        <p:spPr>
          <a:xfrm>
            <a:off x="8321040" y="6053328"/>
            <a:ext cx="3383280" cy="36576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850" b="0" i="1">
                <a:solidFill>
                  <a:srgbClr val="6A6E78"/>
                </a:solidFill>
                <a:latin typeface="Inter"/>
              </a:rPr>
              <a:t>Noodroute (§5): werkt zonder audio/internet</a:t>
            </a:r>
          </a:p>
        </p:txBody>
      </p:sp>
      <p:sp>
        <p:nvSpPr>
          <p:cNvPr id="37" name="Rounded Rectangle 36"/>
          <p:cNvSpPr/>
          <p:nvPr/>
        </p:nvSpPr>
        <p:spPr>
          <a:xfrm>
            <a:off x="457200" y="4617720"/>
            <a:ext cx="11247120" cy="502920"/>
          </a:xfrm>
          <a:prstGeom prst="roundRect">
            <a:avLst>
              <a:gd name="adj" fmla="val 6000"/>
            </a:avLst>
          </a:prstGeom>
          <a:solidFill>
            <a:srgbClr val="E4F4EE"/>
          </a:solidFill>
          <a:ln w="19050">
            <a:solidFill>
              <a:srgbClr val="1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39700" bIns="76200"/>
          <a:lstStyle/>
          <a:p>
            <a:pPr algn="ctr">
              <a:lnSpc>
                <a:spcPct val="102000"/>
              </a:lnSpc>
              <a:spcBef>
                <a:spcPts val="0"/>
              </a:spcBef>
              <a:spcAft>
                <a:spcPts val="300"/>
              </a:spcAft>
            </a:pPr>
            <a:r>
              <a:rPr sz="1200" b="1" i="0">
                <a:solidFill>
                  <a:srgbClr val="157355"/>
                </a:solidFill>
                <a:latin typeface="Inter"/>
              </a:rPr>
              <a:t>Alles komt terug: </a:t>
            </a:r>
            <a:r>
              <a:rPr sz="1200" b="0" i="0">
                <a:solidFill>
                  <a:srgbClr val="157355"/>
                </a:solidFill>
                <a:latin typeface="Inter"/>
              </a:rPr>
              <a:t>la hora · reflexivos · presente irregular · frecuencia · conectores · tildes.</a:t>
            </a:r>
          </a:p>
        </p:txBody>
      </p:sp>
      <p:sp>
        <p:nvSpPr>
          <p:cNvPr id="38" name="Rounded Rectangle 37"/>
          <p:cNvSpPr/>
          <p:nvPr/>
        </p:nvSpPr>
        <p:spPr>
          <a:xfrm>
            <a:off x="594360" y="4489704"/>
            <a:ext cx="1548993" cy="292608"/>
          </a:xfrm>
          <a:prstGeom prst="roundRect">
            <a:avLst>
              <a:gd name="adj" fmla="val 50000"/>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950" b="1">
                <a:solidFill>
                  <a:srgbClr val="FFFFFF"/>
                </a:solidFill>
                <a:latin typeface="Inter"/>
              </a:rPr>
              <a:t>SOLUCIÓN · docent</a:t>
            </a:r>
          </a:p>
        </p:txBody>
      </p:sp>
      <p:sp>
        <p:nvSpPr>
          <p:cNvPr id="39" name="Rectangle 38"/>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41" name="TextBox 40"/>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42" name="TextBox 41"/>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5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500"/>
                                        <p:tgtEl>
                                          <p:spTgt spid="3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fade">
                                      <p:cBhvr>
                                        <p:cTn id="5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
            <a:ext cx="1801367"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100" b="1">
                <a:solidFill>
                  <a:srgbClr val="1E9E74"/>
                </a:solidFill>
                <a:latin typeface="Inter"/>
              </a:rPr>
              <a:t>REPASO · LO ESENCIAL</a:t>
            </a:r>
          </a:p>
        </p:txBody>
      </p:sp>
      <p:sp>
        <p:nvSpPr>
          <p:cNvPr id="6" name="TextBox 5"/>
          <p:cNvSpPr txBox="1"/>
          <p:nvPr/>
        </p:nvSpPr>
        <p:spPr>
          <a:xfrm>
            <a:off x="10424160" y="-137160"/>
            <a:ext cx="1737360" cy="1371600"/>
          </a:xfrm>
          <a:prstGeom prst="rect">
            <a:avLst/>
          </a:prstGeom>
          <a:noFill/>
        </p:spPr>
        <p:txBody>
          <a:bodyPr wrap="square" anchor="t" lIns="38100" rIns="38100" tIns="25400" bIns="25400">
            <a:spAutoFit/>
          </a:bodyPr>
          <a:lstStyle/>
          <a:p>
            <a:pPr algn="r">
              <a:lnSpc>
                <a:spcPct val="106000"/>
              </a:lnSpc>
              <a:spcBef>
                <a:spcPts val="0"/>
              </a:spcBef>
              <a:spcAft>
                <a:spcPts val="200"/>
              </a:spcAft>
            </a:pPr>
            <a:r>
              <a:rPr sz="8800" b="1" i="0">
                <a:solidFill>
                  <a:srgbClr val="FFFFFF"/>
                </a:solidFill>
                <a:latin typeface="Bricolage Grotesque"/>
              </a:rPr>
              <a:t>5</a:t>
            </a:r>
          </a:p>
        </p:txBody>
      </p:sp>
      <p:sp>
        <p:nvSpPr>
          <p:cNvPr id="7" name="TextBox 6"/>
          <p:cNvSpPr txBox="1"/>
          <p:nvPr/>
        </p:nvSpPr>
        <p:spPr>
          <a:xfrm>
            <a:off x="457200" y="457200"/>
            <a:ext cx="9692640" cy="5029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2700" b="1" i="0">
                <a:solidFill>
                  <a:srgbClr val="FFFFFF"/>
                </a:solidFill>
                <a:latin typeface="Bricolage Grotesque"/>
              </a:rPr>
              <a:t>Lo esencial de un vistazo</a:t>
            </a:r>
          </a:p>
        </p:txBody>
      </p:sp>
      <p:sp>
        <p:nvSpPr>
          <p:cNvPr id="8" name="TextBox 7"/>
          <p:cNvSpPr txBox="1"/>
          <p:nvPr/>
        </p:nvSpPr>
        <p:spPr>
          <a:xfrm>
            <a:off x="502920" y="932688"/>
            <a:ext cx="9692640" cy="2743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250" b="0" i="1">
                <a:solidFill>
                  <a:srgbClr val="E4F4EE"/>
                </a:solidFill>
                <a:latin typeface="Inter"/>
              </a:rPr>
              <a:t>De volledige herhaling (20 spellen, drills) staat online. Hier: de kern + semáforo.</a:t>
            </a:r>
          </a:p>
        </p:txBody>
      </p:sp>
      <p:sp>
        <p:nvSpPr>
          <p:cNvPr id="9" name="Rounded Rectangle 8"/>
          <p:cNvSpPr/>
          <p:nvPr/>
        </p:nvSpPr>
        <p:spPr>
          <a:xfrm>
            <a:off x="457200" y="1463040"/>
            <a:ext cx="11247120" cy="2286000"/>
          </a:xfrm>
          <a:prstGeom prst="roundRect">
            <a:avLst>
              <a:gd name="adj" fmla="val 5500"/>
            </a:avLst>
          </a:prstGeom>
          <a:solidFill>
            <a:srgbClr val="F3EEE4"/>
          </a:solidFill>
          <a:ln>
            <a:no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45920"/>
            <a:ext cx="10789920" cy="41148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157355"/>
                </a:solidFill>
                <a:latin typeface="Inter"/>
              </a:rPr>
              <a:t>• </a:t>
            </a:r>
            <a:r>
              <a:rPr sz="1200" b="0" i="0">
                <a:solidFill>
                  <a:srgbClr val="20242E"/>
                </a:solidFill>
                <a:latin typeface="Inter"/>
              </a:rPr>
              <a:t>La hora: Es la una · Son las dos… · y media/cuarto · menos cuarto · en punto · ¿a qué hora? a las…</a:t>
            </a:r>
          </a:p>
        </p:txBody>
      </p:sp>
      <p:sp>
        <p:nvSpPr>
          <p:cNvPr id="11" name="TextBox 10"/>
          <p:cNvSpPr txBox="1"/>
          <p:nvPr/>
        </p:nvSpPr>
        <p:spPr>
          <a:xfrm>
            <a:off x="731520" y="2066544"/>
            <a:ext cx="10789920" cy="41148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157355"/>
                </a:solidFill>
                <a:latin typeface="Inter"/>
              </a:rPr>
              <a:t>• </a:t>
            </a:r>
            <a:r>
              <a:rPr sz="1200" b="0" i="0">
                <a:solidFill>
                  <a:srgbClr val="20242E"/>
                </a:solidFill>
                <a:latin typeface="Inter"/>
              </a:rPr>
              <a:t>Reflexivos: me/te/se/nos/os/se + verbo (me levanto). Pronombre vóór het werkwoord.</a:t>
            </a:r>
          </a:p>
        </p:txBody>
      </p:sp>
      <p:sp>
        <p:nvSpPr>
          <p:cNvPr id="12" name="TextBox 11"/>
          <p:cNvSpPr txBox="1"/>
          <p:nvPr/>
        </p:nvSpPr>
        <p:spPr>
          <a:xfrm>
            <a:off x="731520" y="2487168"/>
            <a:ext cx="10789920" cy="41148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157355"/>
                </a:solidFill>
                <a:latin typeface="Inter"/>
              </a:rPr>
              <a:t>• </a:t>
            </a:r>
            <a:r>
              <a:rPr sz="1200" b="0" i="0">
                <a:solidFill>
                  <a:srgbClr val="20242E"/>
                </a:solidFill>
                <a:latin typeface="Inter"/>
              </a:rPr>
              <a:t>Presente irregular: o→ue (puedo), e→ie (empiezo), e→i (pido) · hago · voy · salgo. NIET bij nosotros/vosotros.</a:t>
            </a:r>
          </a:p>
        </p:txBody>
      </p:sp>
      <p:sp>
        <p:nvSpPr>
          <p:cNvPr id="13" name="TextBox 12"/>
          <p:cNvSpPr txBox="1"/>
          <p:nvPr/>
        </p:nvSpPr>
        <p:spPr>
          <a:xfrm>
            <a:off x="731520" y="2907792"/>
            <a:ext cx="10789920" cy="41148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157355"/>
                </a:solidFill>
                <a:latin typeface="Inter"/>
              </a:rPr>
              <a:t>• </a:t>
            </a:r>
            <a:r>
              <a:rPr sz="1200" b="0" i="0">
                <a:solidFill>
                  <a:srgbClr val="20242E"/>
                </a:solidFill>
                <a:latin typeface="Inter"/>
              </a:rPr>
              <a:t>Frecuencia: siempre · normalmente · a menudo · a veces · casi nunca · nunca.</a:t>
            </a:r>
          </a:p>
        </p:txBody>
      </p:sp>
      <p:sp>
        <p:nvSpPr>
          <p:cNvPr id="14" name="TextBox 13"/>
          <p:cNvSpPr txBox="1"/>
          <p:nvPr/>
        </p:nvSpPr>
        <p:spPr>
          <a:xfrm>
            <a:off x="731520" y="3328416"/>
            <a:ext cx="10789920" cy="41148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157355"/>
                </a:solidFill>
                <a:latin typeface="Inter"/>
              </a:rPr>
              <a:t>• </a:t>
            </a:r>
            <a:r>
              <a:rPr sz="1200" b="0" i="0">
                <a:solidFill>
                  <a:srgbClr val="20242E"/>
                </a:solidFill>
                <a:latin typeface="Inter"/>
              </a:rPr>
              <a:t>🔴 Trampas: Es la una / Son las… · me levanto (niet levanto me) · podemos (geen ue) · días/meses klein.</a:t>
            </a:r>
          </a:p>
        </p:txBody>
      </p:sp>
      <p:sp>
        <p:nvSpPr>
          <p:cNvPr id="15" name="TextBox 14"/>
          <p:cNvSpPr txBox="1"/>
          <p:nvPr/>
        </p:nvSpPr>
        <p:spPr>
          <a:xfrm>
            <a:off x="457200" y="3931920"/>
            <a:ext cx="10972800" cy="32004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300" b="1" i="0">
                <a:solidFill>
                  <a:srgbClr val="157355"/>
                </a:solidFill>
                <a:latin typeface="Bricolage Grotesque"/>
              </a:rPr>
              <a:t>Semáforo — ¿cómo lo llevas?</a:t>
            </a:r>
          </a:p>
        </p:txBody>
      </p:sp>
      <p:sp>
        <p:nvSpPr>
          <p:cNvPr id="16" name="TextBox 15"/>
          <p:cNvSpPr txBox="1"/>
          <p:nvPr/>
        </p:nvSpPr>
        <p:spPr>
          <a:xfrm>
            <a:off x="731520" y="4343400"/>
            <a:ext cx="640080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de hora zeggen en vragen</a:t>
            </a:r>
          </a:p>
        </p:txBody>
      </p:sp>
      <p:sp>
        <p:nvSpPr>
          <p:cNvPr id="17" name="Rounded Rectangle 16"/>
          <p:cNvSpPr/>
          <p:nvPr/>
        </p:nvSpPr>
        <p:spPr>
          <a:xfrm>
            <a:off x="7315200" y="4370832"/>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DC2626"/>
                </a:solidFill>
                <a:latin typeface="Inter"/>
              </a:rPr>
              <a:t>🔴 </a:t>
            </a:r>
          </a:p>
        </p:txBody>
      </p:sp>
      <p:sp>
        <p:nvSpPr>
          <p:cNvPr id="18" name="Rounded Rectangle 17"/>
          <p:cNvSpPr/>
          <p:nvPr/>
        </p:nvSpPr>
        <p:spPr>
          <a:xfrm>
            <a:off x="8686800" y="4370832"/>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B7860B"/>
                </a:solidFill>
                <a:latin typeface="Inter"/>
              </a:rPr>
              <a:t>🟠 </a:t>
            </a:r>
          </a:p>
        </p:txBody>
      </p:sp>
      <p:sp>
        <p:nvSpPr>
          <p:cNvPr id="19" name="Rounded Rectangle 18"/>
          <p:cNvSpPr/>
          <p:nvPr/>
        </p:nvSpPr>
        <p:spPr>
          <a:xfrm>
            <a:off x="10058400" y="4370832"/>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1E9E74"/>
                </a:solidFill>
                <a:latin typeface="Inter"/>
              </a:rPr>
              <a:t>🟢 </a:t>
            </a:r>
          </a:p>
        </p:txBody>
      </p:sp>
      <p:sp>
        <p:nvSpPr>
          <p:cNvPr id="20" name="TextBox 19"/>
          <p:cNvSpPr txBox="1"/>
          <p:nvPr/>
        </p:nvSpPr>
        <p:spPr>
          <a:xfrm>
            <a:off x="731520" y="4727448"/>
            <a:ext cx="640080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mijn rutina met reflexivos</a:t>
            </a:r>
          </a:p>
        </p:txBody>
      </p:sp>
      <p:sp>
        <p:nvSpPr>
          <p:cNvPr id="21" name="Rounded Rectangle 20"/>
          <p:cNvSpPr/>
          <p:nvPr/>
        </p:nvSpPr>
        <p:spPr>
          <a:xfrm>
            <a:off x="7315200" y="4754880"/>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DC2626"/>
                </a:solidFill>
                <a:latin typeface="Inter"/>
              </a:rPr>
              <a:t>🔴 </a:t>
            </a:r>
          </a:p>
        </p:txBody>
      </p:sp>
      <p:sp>
        <p:nvSpPr>
          <p:cNvPr id="22" name="Rounded Rectangle 21"/>
          <p:cNvSpPr/>
          <p:nvPr/>
        </p:nvSpPr>
        <p:spPr>
          <a:xfrm>
            <a:off x="8686800" y="4754880"/>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B7860B"/>
                </a:solidFill>
                <a:latin typeface="Inter"/>
              </a:rPr>
              <a:t>🟠 </a:t>
            </a:r>
          </a:p>
        </p:txBody>
      </p:sp>
      <p:sp>
        <p:nvSpPr>
          <p:cNvPr id="23" name="Rounded Rectangle 22"/>
          <p:cNvSpPr/>
          <p:nvPr/>
        </p:nvSpPr>
        <p:spPr>
          <a:xfrm>
            <a:off x="10058400" y="4754880"/>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1E9E74"/>
                </a:solidFill>
                <a:latin typeface="Inter"/>
              </a:rPr>
              <a:t>🟢 </a:t>
            </a:r>
          </a:p>
        </p:txBody>
      </p:sp>
      <p:sp>
        <p:nvSpPr>
          <p:cNvPr id="24" name="TextBox 23"/>
          <p:cNvSpPr txBox="1"/>
          <p:nvPr/>
        </p:nvSpPr>
        <p:spPr>
          <a:xfrm>
            <a:off x="731520" y="5111496"/>
            <a:ext cx="640080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presente irregular</a:t>
            </a:r>
          </a:p>
        </p:txBody>
      </p:sp>
      <p:sp>
        <p:nvSpPr>
          <p:cNvPr id="25" name="Rounded Rectangle 24"/>
          <p:cNvSpPr/>
          <p:nvPr/>
        </p:nvSpPr>
        <p:spPr>
          <a:xfrm>
            <a:off x="7315200" y="5138928"/>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DC2626"/>
                </a:solidFill>
                <a:latin typeface="Inter"/>
              </a:rPr>
              <a:t>🔴 </a:t>
            </a:r>
          </a:p>
        </p:txBody>
      </p:sp>
      <p:sp>
        <p:nvSpPr>
          <p:cNvPr id="26" name="Rounded Rectangle 25"/>
          <p:cNvSpPr/>
          <p:nvPr/>
        </p:nvSpPr>
        <p:spPr>
          <a:xfrm>
            <a:off x="8686800" y="5138928"/>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B7860B"/>
                </a:solidFill>
                <a:latin typeface="Inter"/>
              </a:rPr>
              <a:t>🟠 </a:t>
            </a:r>
          </a:p>
        </p:txBody>
      </p:sp>
      <p:sp>
        <p:nvSpPr>
          <p:cNvPr id="27" name="Rounded Rectangle 26"/>
          <p:cNvSpPr/>
          <p:nvPr/>
        </p:nvSpPr>
        <p:spPr>
          <a:xfrm>
            <a:off x="10058400" y="5138928"/>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1E9E74"/>
                </a:solidFill>
                <a:latin typeface="Inter"/>
              </a:rPr>
              <a:t>🟢 </a:t>
            </a:r>
          </a:p>
        </p:txBody>
      </p:sp>
      <p:sp>
        <p:nvSpPr>
          <p:cNvPr id="28" name="TextBox 27"/>
          <p:cNvSpPr txBox="1"/>
          <p:nvPr/>
        </p:nvSpPr>
        <p:spPr>
          <a:xfrm>
            <a:off x="731520" y="5495544"/>
            <a:ext cx="640080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frecuencia</a:t>
            </a:r>
          </a:p>
        </p:txBody>
      </p:sp>
      <p:sp>
        <p:nvSpPr>
          <p:cNvPr id="29" name="Rounded Rectangle 28"/>
          <p:cNvSpPr/>
          <p:nvPr/>
        </p:nvSpPr>
        <p:spPr>
          <a:xfrm>
            <a:off x="7315200" y="5522976"/>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DC2626"/>
                </a:solidFill>
                <a:latin typeface="Inter"/>
              </a:rPr>
              <a:t>🔴 </a:t>
            </a:r>
          </a:p>
        </p:txBody>
      </p:sp>
      <p:sp>
        <p:nvSpPr>
          <p:cNvPr id="30" name="Rounded Rectangle 29"/>
          <p:cNvSpPr/>
          <p:nvPr/>
        </p:nvSpPr>
        <p:spPr>
          <a:xfrm>
            <a:off x="8686800" y="5522976"/>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B7860B"/>
                </a:solidFill>
                <a:latin typeface="Inter"/>
              </a:rPr>
              <a:t>🟠 </a:t>
            </a:r>
          </a:p>
        </p:txBody>
      </p:sp>
      <p:sp>
        <p:nvSpPr>
          <p:cNvPr id="31" name="Rounded Rectangle 30"/>
          <p:cNvSpPr/>
          <p:nvPr/>
        </p:nvSpPr>
        <p:spPr>
          <a:xfrm>
            <a:off x="10058400" y="5522976"/>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1E9E74"/>
                </a:solidFill>
                <a:latin typeface="Inter"/>
              </a:rPr>
              <a:t>🟢 </a:t>
            </a:r>
          </a:p>
        </p:txBody>
      </p:sp>
      <p:sp>
        <p:nvSpPr>
          <p:cNvPr id="32" name="TextBox 31"/>
          <p:cNvSpPr txBox="1"/>
          <p:nvPr/>
        </p:nvSpPr>
        <p:spPr>
          <a:xfrm>
            <a:off x="731520" y="5879592"/>
            <a:ext cx="6400800" cy="36576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200" b="0" i="0">
                <a:solidFill>
                  <a:srgbClr val="20242E"/>
                </a:solidFill>
                <a:latin typeface="Inter"/>
              </a:rPr>
              <a:t>días/meses/estaciones</a:t>
            </a:r>
          </a:p>
        </p:txBody>
      </p:sp>
      <p:sp>
        <p:nvSpPr>
          <p:cNvPr id="33" name="Rounded Rectangle 32"/>
          <p:cNvSpPr/>
          <p:nvPr/>
        </p:nvSpPr>
        <p:spPr>
          <a:xfrm>
            <a:off x="7315200" y="5907024"/>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DC2626"/>
                </a:solidFill>
                <a:latin typeface="Inter"/>
              </a:rPr>
              <a:t>🔴 </a:t>
            </a:r>
          </a:p>
        </p:txBody>
      </p:sp>
      <p:sp>
        <p:nvSpPr>
          <p:cNvPr id="34" name="Rounded Rectangle 33"/>
          <p:cNvSpPr/>
          <p:nvPr/>
        </p:nvSpPr>
        <p:spPr>
          <a:xfrm>
            <a:off x="8686800" y="5907024"/>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B7860B"/>
                </a:solidFill>
                <a:latin typeface="Inter"/>
              </a:rPr>
              <a:t>🟠 </a:t>
            </a:r>
          </a:p>
        </p:txBody>
      </p:sp>
      <p:sp>
        <p:nvSpPr>
          <p:cNvPr id="35" name="Rounded Rectangle 34"/>
          <p:cNvSpPr/>
          <p:nvPr/>
        </p:nvSpPr>
        <p:spPr>
          <a:xfrm>
            <a:off x="10058400" y="5907024"/>
            <a:ext cx="11887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8900" rIns="88900" tIns="12700" bIns="12700"/>
          <a:lstStyle/>
          <a:p>
            <a:pPr algn="ctr"/>
            <a:r>
              <a:rPr sz="1200" b="1">
                <a:solidFill>
                  <a:srgbClr val="1E9E74"/>
                </a:solidFill>
                <a:latin typeface="Inter"/>
              </a:rPr>
              <a:t>🟢 </a:t>
            </a:r>
          </a:p>
        </p:txBody>
      </p:sp>
      <p:sp>
        <p:nvSpPr>
          <p:cNvPr id="36" name="Rectangle 35"/>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38" name="TextBox 37"/>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39" name="TextBox 38"/>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7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2600" b="1" i="0">
                <a:solidFill>
                  <a:srgbClr val="FFFFFF"/>
                </a:solidFill>
                <a:latin typeface="Bricolage Grotesque"/>
              </a:rPr>
              <a:t>TEACHER_NOTES · U3 «El tiempo vuela»</a:t>
            </a:r>
          </a:p>
        </p:txBody>
      </p:sp>
      <p:sp>
        <p:nvSpPr>
          <p:cNvPr id="4" name="Rounded Rectangle 3"/>
          <p:cNvSpPr/>
          <p:nvPr/>
        </p:nvSpPr>
        <p:spPr>
          <a:xfrm>
            <a:off x="457200" y="1280160"/>
            <a:ext cx="11247120" cy="914400"/>
          </a:xfrm>
          <a:prstGeom prst="roundRect">
            <a:avLst>
              <a:gd name="adj" fmla="val 5500"/>
            </a:avLst>
          </a:prstGeom>
          <a:solidFill>
            <a:srgbClr val="1B6349"/>
          </a:solidFill>
          <a:ln>
            <a:no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53312"/>
            <a:ext cx="1078992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400" b="1" i="0">
                <a:solidFill>
                  <a:srgbClr val="FFFFFF"/>
                </a:solidFill>
                <a:latin typeface="Bricolage Grotesque"/>
              </a:rPr>
              <a:t>Timing (50 min)</a:t>
            </a:r>
          </a:p>
        </p:txBody>
      </p:sp>
      <p:sp>
        <p:nvSpPr>
          <p:cNvPr id="6" name="TextBox 5"/>
          <p:cNvSpPr txBox="1"/>
          <p:nvPr/>
        </p:nvSpPr>
        <p:spPr>
          <a:xfrm>
            <a:off x="685800" y="1719072"/>
            <a:ext cx="10789920" cy="457200"/>
          </a:xfrm>
          <a:prstGeom prst="rect">
            <a:avLst/>
          </a:prstGeom>
          <a:noFill/>
        </p:spPr>
        <p:txBody>
          <a:bodyPr wrap="square" anchor="t" lIns="38100" rIns="38100" tIns="25400" bIns="25400">
            <a:spAutoFit/>
          </a:bodyPr>
          <a:lstStyle/>
          <a:p>
            <a:pPr algn="l">
              <a:lnSpc>
                <a:spcPct val="112000"/>
              </a:lnSpc>
              <a:spcBef>
                <a:spcPts val="0"/>
              </a:spcBef>
              <a:spcAft>
                <a:spcPts val="200"/>
              </a:spcAft>
            </a:pPr>
            <a:r>
              <a:rPr sz="1150" b="0" i="0">
                <a:solidFill>
                  <a:srgbClr val="E4F4EE"/>
                </a:solidFill>
                <a:latin typeface="Inter"/>
              </a:rPr>
              <a:t>Menu 2' · la hora 8' · rutina/reflexivos 10' · presente irregular 12' · reading/listening 8' · speaking/writing 6' · Tarea-briefing 4'.</a:t>
            </a:r>
          </a:p>
        </p:txBody>
      </p:sp>
      <p:sp>
        <p:nvSpPr>
          <p:cNvPr id="7" name="Rounded Rectangle 6"/>
          <p:cNvSpPr/>
          <p:nvPr/>
        </p:nvSpPr>
        <p:spPr>
          <a:xfrm>
            <a:off x="457200" y="2304288"/>
            <a:ext cx="11247120" cy="914400"/>
          </a:xfrm>
          <a:prstGeom prst="roundRect">
            <a:avLst>
              <a:gd name="adj" fmla="val 5500"/>
            </a:avLst>
          </a:prstGeom>
          <a:solidFill>
            <a:srgbClr val="1B6349"/>
          </a:solidFill>
          <a:ln>
            <a:no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377440"/>
            <a:ext cx="1078992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400" b="1" i="0">
                <a:solidFill>
                  <a:srgbClr val="FFFFFF"/>
                </a:solidFill>
                <a:latin typeface="Bricolage Grotesque"/>
              </a:rPr>
              <a:t>Kernvalstrikken</a:t>
            </a:r>
          </a:p>
        </p:txBody>
      </p:sp>
      <p:sp>
        <p:nvSpPr>
          <p:cNvPr id="9" name="TextBox 8"/>
          <p:cNvSpPr txBox="1"/>
          <p:nvPr/>
        </p:nvSpPr>
        <p:spPr>
          <a:xfrm>
            <a:off x="685800" y="2743200"/>
            <a:ext cx="10789920" cy="457200"/>
          </a:xfrm>
          <a:prstGeom prst="rect">
            <a:avLst/>
          </a:prstGeom>
          <a:noFill/>
        </p:spPr>
        <p:txBody>
          <a:bodyPr wrap="square" anchor="t" lIns="38100" rIns="38100" tIns="25400" bIns="25400">
            <a:spAutoFit/>
          </a:bodyPr>
          <a:lstStyle/>
          <a:p>
            <a:pPr algn="l">
              <a:lnSpc>
                <a:spcPct val="112000"/>
              </a:lnSpc>
              <a:spcBef>
                <a:spcPts val="0"/>
              </a:spcBef>
              <a:spcAft>
                <a:spcPts val="200"/>
              </a:spcAft>
            </a:pPr>
            <a:r>
              <a:rPr sz="1150" b="0" i="0">
                <a:solidFill>
                  <a:srgbClr val="E4F4EE"/>
                </a:solidFill>
                <a:latin typeface="Inter"/>
              </a:rPr>
              <a:t>Es la una / Son las… · pronomen vóór verbo (me levanto) · nosotros/vosotros géén stamwissel · hago/salgo/voy · de la vs por la · días/meses klein.</a:t>
            </a:r>
          </a:p>
        </p:txBody>
      </p:sp>
      <p:sp>
        <p:nvSpPr>
          <p:cNvPr id="10" name="Rounded Rectangle 9"/>
          <p:cNvSpPr/>
          <p:nvPr/>
        </p:nvSpPr>
        <p:spPr>
          <a:xfrm>
            <a:off x="457200" y="3328416"/>
            <a:ext cx="11247120" cy="914400"/>
          </a:xfrm>
          <a:prstGeom prst="roundRect">
            <a:avLst>
              <a:gd name="adj" fmla="val 5500"/>
            </a:avLst>
          </a:prstGeom>
          <a:solidFill>
            <a:srgbClr val="1B6349"/>
          </a:solidFill>
          <a:ln>
            <a:no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401568"/>
            <a:ext cx="1078992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400" b="1" i="0">
                <a:solidFill>
                  <a:srgbClr val="FFFFFF"/>
                </a:solidFill>
                <a:latin typeface="Bricolage Grotesque"/>
              </a:rPr>
              <a:t>Differentiatie (zij-instromers)</a:t>
            </a:r>
          </a:p>
        </p:txBody>
      </p:sp>
      <p:sp>
        <p:nvSpPr>
          <p:cNvPr id="12" name="TextBox 11"/>
          <p:cNvSpPr txBox="1"/>
          <p:nvPr/>
        </p:nvSpPr>
        <p:spPr>
          <a:xfrm>
            <a:off x="685800" y="3767328"/>
            <a:ext cx="10789920" cy="457200"/>
          </a:xfrm>
          <a:prstGeom prst="rect">
            <a:avLst/>
          </a:prstGeom>
          <a:noFill/>
        </p:spPr>
        <p:txBody>
          <a:bodyPr wrap="square" anchor="t" lIns="38100" rIns="38100" tIns="25400" bIns="25400">
            <a:spAutoFit/>
          </a:bodyPr>
          <a:lstStyle/>
          <a:p>
            <a:pPr algn="l">
              <a:lnSpc>
                <a:spcPct val="112000"/>
              </a:lnSpc>
              <a:spcBef>
                <a:spcPts val="0"/>
              </a:spcBef>
              <a:spcAft>
                <a:spcPts val="200"/>
              </a:spcAft>
            </a:pPr>
            <a:r>
              <a:rPr sz="1150" b="0" i="0">
                <a:solidFill>
                  <a:srgbClr val="E4F4EE"/>
                </a:solidFill>
                <a:latin typeface="Inter"/>
              </a:rPr>
              <a:t>Alles start vanaf nul. Sterker: hele dag + frecuencia. Zwakker: la hora eerst automatiseren, marco/tabel langer open.</a:t>
            </a:r>
          </a:p>
        </p:txBody>
      </p:sp>
      <p:sp>
        <p:nvSpPr>
          <p:cNvPr id="13" name="Rounded Rectangle 12"/>
          <p:cNvSpPr/>
          <p:nvPr/>
        </p:nvSpPr>
        <p:spPr>
          <a:xfrm>
            <a:off x="457200" y="4352544"/>
            <a:ext cx="11247120" cy="914400"/>
          </a:xfrm>
          <a:prstGeom prst="roundRect">
            <a:avLst>
              <a:gd name="adj" fmla="val 5500"/>
            </a:avLst>
          </a:prstGeom>
          <a:solidFill>
            <a:srgbClr val="1B6349"/>
          </a:solidFill>
          <a:ln>
            <a:no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425696"/>
            <a:ext cx="1078992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400" b="1" i="0">
                <a:solidFill>
                  <a:srgbClr val="FFFFFF"/>
                </a:solidFill>
                <a:latin typeface="Bricolage Grotesque"/>
              </a:rPr>
              <a:t>Digitaal</a:t>
            </a:r>
          </a:p>
        </p:txBody>
      </p:sp>
      <p:sp>
        <p:nvSpPr>
          <p:cNvPr id="15" name="TextBox 14"/>
          <p:cNvSpPr txBox="1"/>
          <p:nvPr/>
        </p:nvSpPr>
        <p:spPr>
          <a:xfrm>
            <a:off x="685800" y="4791456"/>
            <a:ext cx="10789920" cy="457200"/>
          </a:xfrm>
          <a:prstGeom prst="rect">
            <a:avLst/>
          </a:prstGeom>
          <a:noFill/>
        </p:spPr>
        <p:txBody>
          <a:bodyPr wrap="square" anchor="t" lIns="38100" rIns="38100" tIns="25400" bIns="25400">
            <a:spAutoFit/>
          </a:bodyPr>
          <a:lstStyle/>
          <a:p>
            <a:pPr algn="l">
              <a:lnSpc>
                <a:spcPct val="112000"/>
              </a:lnSpc>
              <a:spcBef>
                <a:spcPts val="0"/>
              </a:spcBef>
              <a:spcAft>
                <a:spcPts val="200"/>
              </a:spcAft>
            </a:pPr>
            <a:r>
              <a:rPr sz="1150" b="0" i="0">
                <a:solidFill>
                  <a:srgbClr val="E4F4EE"/>
                </a:solidFill>
                <a:latin typeface="Inter"/>
              </a:rPr>
              <a:t>20 spellen + flip cards + klikbare kaart + recorder («la hora», «mi día», «mensaje de voz») op de página digital. QR's → juiste anker. Conjugador = aparte tool.</a:t>
            </a:r>
          </a:p>
        </p:txBody>
      </p:sp>
      <p:sp>
        <p:nvSpPr>
          <p:cNvPr id="16" name="Rounded Rectangle 15"/>
          <p:cNvSpPr/>
          <p:nvPr/>
        </p:nvSpPr>
        <p:spPr>
          <a:xfrm>
            <a:off x="457200" y="5376672"/>
            <a:ext cx="11247120" cy="914400"/>
          </a:xfrm>
          <a:prstGeom prst="roundRect">
            <a:avLst>
              <a:gd name="adj" fmla="val 5500"/>
            </a:avLst>
          </a:prstGeom>
          <a:solidFill>
            <a:srgbClr val="1B6349"/>
          </a:solidFill>
          <a:ln>
            <a:noFill/>
          </a:ln>
          <a:effectLst>
            <a:outerShdw blurRad="90000" dist="38000" dir="5400000" rotWithShape="0">
              <a:srgbClr val="2024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5449824"/>
            <a:ext cx="10789920" cy="365760"/>
          </a:xfrm>
          <a:prstGeom prst="rect">
            <a:avLst/>
          </a:prstGeom>
          <a:noFill/>
        </p:spPr>
        <p:txBody>
          <a:bodyPr wrap="square" anchor="t" lIns="38100" rIns="38100" tIns="25400" bIns="25400">
            <a:spAutoFit/>
          </a:bodyPr>
          <a:lstStyle/>
          <a:p>
            <a:pPr algn="l">
              <a:lnSpc>
                <a:spcPct val="106000"/>
              </a:lnSpc>
              <a:spcBef>
                <a:spcPts val="0"/>
              </a:spcBef>
              <a:spcAft>
                <a:spcPts val="200"/>
              </a:spcAft>
            </a:pPr>
            <a:r>
              <a:rPr sz="1400" b="1" i="0">
                <a:solidFill>
                  <a:srgbClr val="FFFFFF"/>
                </a:solidFill>
                <a:latin typeface="Bricolage Grotesque"/>
              </a:rPr>
              <a:t>Evaluatie</a:t>
            </a:r>
          </a:p>
        </p:txBody>
      </p:sp>
      <p:sp>
        <p:nvSpPr>
          <p:cNvPr id="18" name="TextBox 17"/>
          <p:cNvSpPr txBox="1"/>
          <p:nvPr/>
        </p:nvSpPr>
        <p:spPr>
          <a:xfrm>
            <a:off x="685800" y="5815584"/>
            <a:ext cx="10789920" cy="457200"/>
          </a:xfrm>
          <a:prstGeom prst="rect">
            <a:avLst/>
          </a:prstGeom>
          <a:noFill/>
        </p:spPr>
        <p:txBody>
          <a:bodyPr wrap="square" anchor="t" lIns="38100" rIns="38100" tIns="25400" bIns="25400">
            <a:spAutoFit/>
          </a:bodyPr>
          <a:lstStyle/>
          <a:p>
            <a:pPr algn="l">
              <a:lnSpc>
                <a:spcPct val="112000"/>
              </a:lnSpc>
              <a:spcBef>
                <a:spcPts val="0"/>
              </a:spcBef>
              <a:spcAft>
                <a:spcPts val="200"/>
              </a:spcAft>
            </a:pPr>
            <a:r>
              <a:rPr sz="1150" b="0" i="0">
                <a:solidFill>
                  <a:srgbClr val="E4F4EE"/>
                </a:solidFill>
                <a:latin typeface="Inter"/>
              </a:rPr>
              <a:t>Tarea «Un día en mi vida» met rúbrica (4 criteria). LPD 3·4·7·8 + 5 (cultura: el horario) + 1·2 (receptief: el día de Pau).</a:t>
            </a:r>
          </a:p>
        </p:txBody>
      </p:sp>
      <p:sp>
        <p:nvSpPr>
          <p:cNvPr id="19" name="Rectangle 18"/>
          <p:cNvSpPr/>
          <p:nvPr/>
        </p:nvSpPr>
        <p:spPr>
          <a:xfrm>
            <a:off x="0" y="6547104"/>
            <a:ext cx="12191695" cy="310896"/>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6565392"/>
            <a:ext cx="5486400" cy="274320"/>
          </a:xfrm>
          <a:prstGeom prst="rect">
            <a:avLst/>
          </a:prstGeom>
          <a:noFill/>
        </p:spPr>
        <p:txBody>
          <a:bodyPr wrap="square" anchor="ctr" lIns="38100" rIns="38100" tIns="25400" bIns="25400">
            <a:spAutoFit/>
          </a:bodyPr>
          <a:lstStyle/>
          <a:p>
            <a:pPr algn="l">
              <a:lnSpc>
                <a:spcPct val="106000"/>
              </a:lnSpc>
              <a:spcBef>
                <a:spcPts val="0"/>
              </a:spcBef>
              <a:spcAft>
                <a:spcPts val="200"/>
              </a:spcAft>
            </a:pPr>
            <a:r>
              <a:rPr sz="1100" b="1" i="0">
                <a:solidFill>
                  <a:srgbClr val="1E9E74"/>
                </a:solidFill>
                <a:latin typeface="Inter"/>
              </a:rPr>
              <a:t>● </a:t>
            </a:r>
            <a:r>
              <a:rPr sz="950" b="0" i="0">
                <a:solidFill>
                  <a:srgbClr val="6A6E78"/>
                </a:solidFill>
                <a:latin typeface="Inter"/>
              </a:rPr>
              <a:t>U3 · EL TIEMPO VUELA   ·   C5 · A1 · La Ruta</a:t>
            </a:r>
          </a:p>
        </p:txBody>
      </p:sp>
      <p:sp>
        <p:nvSpPr>
          <p:cNvPr id="21" name="TextBox 20"/>
          <p:cNvSpPr txBox="1"/>
          <p:nvPr/>
        </p:nvSpPr>
        <p:spPr>
          <a:xfrm>
            <a:off x="8686800" y="6565392"/>
            <a:ext cx="306324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00" b="0" i="1">
                <a:solidFill>
                  <a:srgbClr val="6A6E78"/>
                </a:solidFill>
                <a:latin typeface="Inter"/>
              </a:rPr>
              <a:t>Docentenversie — met oplossingen</a:t>
            </a:r>
          </a:p>
        </p:txBody>
      </p:sp>
      <p:sp>
        <p:nvSpPr>
          <p:cNvPr id="22" name="TextBox 21"/>
          <p:cNvSpPr txBox="1"/>
          <p:nvPr/>
        </p:nvSpPr>
        <p:spPr>
          <a:xfrm>
            <a:off x="11475720" y="6565392"/>
            <a:ext cx="457200" cy="274320"/>
          </a:xfrm>
          <a:prstGeom prst="rect">
            <a:avLst/>
          </a:prstGeom>
          <a:noFill/>
        </p:spPr>
        <p:txBody>
          <a:bodyPr wrap="square" anchor="ctr" lIns="38100" rIns="38100" tIns="25400" bIns="25400">
            <a:spAutoFit/>
          </a:bodyPr>
          <a:lstStyle/>
          <a:p>
            <a:pPr algn="r">
              <a:lnSpc>
                <a:spcPct val="106000"/>
              </a:lnSpc>
              <a:spcBef>
                <a:spcPts val="0"/>
              </a:spcBef>
              <a:spcAft>
                <a:spcPts val="200"/>
              </a:spcAft>
            </a:pPr>
            <a:r>
              <a:rPr sz="950" b="1" i="0">
                <a:solidFill>
                  <a:srgbClr val="157355"/>
                </a:solidFill>
                <a:latin typeface="Inter"/>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ndo"/>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abecera"/>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hip"/>
          <p:cNvSpPr/>
          <p:nvPr/>
        </p:nvSpPr>
        <p:spPr>
          <a:xfrm>
            <a:off x="457200" y="182880"/>
            <a:ext cx="30175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hipTxt"/>
          <p:cNvSpPr txBox="1"/>
          <p:nvPr/>
        </p:nvSpPr>
        <p:spPr>
          <a:xfrm>
            <a:off x="457200" y="173736"/>
            <a:ext cx="3017520" cy="310896"/>
          </a:xfrm>
          <a:prstGeom prst="rect">
            <a:avLst/>
          </a:prstGeom>
          <a:noFill/>
        </p:spPr>
        <p:txBody>
          <a:bodyPr wrap="square" anchor="ctr" lIns="45720" rIns="45720" tIns="27432" bIns="27432">
            <a:normAutofit/>
          </a:bodyPr>
          <a:lstStyle/>
          <a:p>
            <a:pPr algn="ctr"/>
            <a:r>
              <a:rPr sz="950" b="1">
                <a:solidFill>
                  <a:srgbClr val="157355"/>
                </a:solidFill>
                <a:latin typeface="Inter"/>
              </a:rPr>
              <a:t>RETO 2 · ONDERZOEK &amp; DATA</a:t>
            </a:r>
          </a:p>
        </p:txBody>
      </p:sp>
      <p:sp>
        <p:nvSpPr>
          <p:cNvPr id="6" name="Titulo"/>
          <p:cNvSpPr txBox="1"/>
          <p:nvPr/>
        </p:nvSpPr>
        <p:spPr>
          <a:xfrm>
            <a:off x="457200" y="502920"/>
            <a:ext cx="8412480" cy="475488"/>
          </a:xfrm>
          <a:prstGeom prst="rect">
            <a:avLst/>
          </a:prstGeom>
          <a:noFill/>
        </p:spPr>
        <p:txBody>
          <a:bodyPr wrap="square" anchor="t" lIns="45720" rIns="45720" tIns="27432" bIns="27432">
            <a:normAutofit/>
          </a:bodyPr>
          <a:lstStyle/>
          <a:p>
            <a:pPr algn="l"/>
            <a:r>
              <a:rPr sz="2700" b="1">
                <a:solidFill>
                  <a:srgbClr val="FFFFFF"/>
                </a:solidFill>
                <a:latin typeface="Bricolage Grotesque"/>
              </a:rPr>
              <a:t>Zona horaria</a:t>
            </a:r>
          </a:p>
        </p:txBody>
      </p:sp>
      <p:sp>
        <p:nvSpPr>
          <p:cNvPr id="7" name="Badges"/>
          <p:cNvSpPr txBox="1"/>
          <p:nvPr/>
        </p:nvSpPr>
        <p:spPr>
          <a:xfrm>
            <a:off x="9052560" y="256032"/>
            <a:ext cx="2651760" cy="640080"/>
          </a:xfrm>
          <a:prstGeom prst="rect">
            <a:avLst/>
          </a:prstGeom>
          <a:noFill/>
        </p:spPr>
        <p:txBody>
          <a:bodyPr wrap="square" anchor="t" lIns="45720" rIns="45720" tIns="27432" bIns="27432">
            <a:normAutofit/>
          </a:bodyPr>
          <a:lstStyle/>
          <a:p>
            <a:pPr algn="r"/>
            <a:r>
              <a:rPr sz="1000">
                <a:solidFill>
                  <a:srgbClr val="E4F4EE"/>
                </a:solidFill>
                <a:latin typeface="Inter"/>
              </a:rPr>
              <a:t>👨‍👩‍👧 En grupos</a:t>
            </a:r>
          </a:p>
          <a:p>
            <a:pPr algn="r"/>
            <a:r>
              <a:rPr sz="1000">
                <a:solidFill>
                  <a:srgbClr val="E4F4EE"/>
                </a:solidFill>
                <a:latin typeface="Inter"/>
              </a:rPr>
              <a:t>± 15 min · ★★★</a:t>
            </a:r>
          </a:p>
        </p:txBody>
      </p:sp>
      <p:sp>
        <p:nvSpPr>
          <p:cNvPr id="8" name="Gancho"/>
          <p:cNvSpPr txBox="1"/>
          <p:nvPr/>
        </p:nvSpPr>
        <p:spPr>
          <a:xfrm>
            <a:off x="457200" y="1225296"/>
            <a:ext cx="11274552" cy="566928"/>
          </a:xfrm>
          <a:prstGeom prst="rect">
            <a:avLst/>
          </a:prstGeom>
          <a:noFill/>
        </p:spPr>
        <p:txBody>
          <a:bodyPr wrap="square" anchor="t" lIns="45720" rIns="45720" tIns="27432" bIns="27432">
            <a:normAutofit/>
          </a:bodyPr>
          <a:lstStyle/>
          <a:p>
            <a:pPr algn="l"/>
            <a:r>
              <a:rPr sz="1600" b="1">
                <a:solidFill>
                  <a:srgbClr val="157355"/>
                </a:solidFill>
                <a:latin typeface="Bricolage Grotesque"/>
              </a:rPr>
              <a:t>Una videollamada con Cusco, CDMX y Sevilla. Alguien siempre está durmiendo.</a:t>
            </a:r>
          </a:p>
          <a:p>
            <a:pPr algn="l"/>
            <a:r>
              <a:rPr sz="1100" i="1">
                <a:solidFill>
                  <a:srgbClr val="6A6E78"/>
                </a:solidFill>
                <a:latin typeface="Inter"/>
              </a:rPr>
              <a:t>Een videogesprek met Cusco, CDMX en Sevilla. Er slaapt altijd iemand.</a:t>
            </a:r>
          </a:p>
        </p:txBody>
      </p:sp>
      <p:sp>
        <p:nvSpPr>
          <p:cNvPr id="9" name="ReglaCaja"/>
          <p:cNvSpPr/>
          <p:nvPr/>
        </p:nvSpPr>
        <p:spPr>
          <a:xfrm>
            <a:off x="457200" y="1847088"/>
            <a:ext cx="11274552" cy="658368"/>
          </a:xfrm>
          <a:prstGeom prst="roundRect">
            <a:avLst>
              <a:gd name="adj" fmla="val 5000"/>
            </a:avLst>
          </a:prstGeom>
          <a:solidFill>
            <a:srgbClr val="FB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glaTxt"/>
          <p:cNvSpPr txBox="1"/>
          <p:nvPr/>
        </p:nvSpPr>
        <p:spPr>
          <a:xfrm>
            <a:off x="603504" y="1883664"/>
            <a:ext cx="10972800" cy="585216"/>
          </a:xfrm>
          <a:prstGeom prst="rect">
            <a:avLst/>
          </a:prstGeom>
          <a:noFill/>
        </p:spPr>
        <p:txBody>
          <a:bodyPr wrap="square" anchor="t" lIns="45720" rIns="45720" tIns="27432" bIns="27432">
            <a:normAutofit/>
          </a:bodyPr>
          <a:lstStyle/>
          <a:p>
            <a:pPr algn="l"/>
            <a:r>
              <a:rPr sz="850" b="1">
                <a:solidFill>
                  <a:srgbClr val="B7860B"/>
                </a:solidFill>
                <a:latin typeface="Inter"/>
              </a:rPr>
              <a:t>LA REGLA DEL RETO</a:t>
            </a:r>
          </a:p>
          <a:p>
            <a:pPr algn="l"/>
            <a:r>
              <a:rPr sz="1100">
                <a:solidFill>
                  <a:srgbClr val="20242E"/>
                </a:solidFill>
                <a:latin typeface="Inter"/>
              </a:rPr>
              <a:t>Iedereen moet tussen 8:00 en 22:00 lokale tijd zitten. Eén persoon buiten dat venster en het voorstel valt af.</a:t>
            </a:r>
          </a:p>
        </p:txBody>
      </p:sp>
      <p:sp>
        <p:nvSpPr>
          <p:cNvPr id="11" name="Tarjeta 0"/>
          <p:cNvSpPr/>
          <p:nvPr/>
        </p:nvSpPr>
        <p:spPr>
          <a:xfrm>
            <a:off x="457200" y="2670048"/>
            <a:ext cx="3660648" cy="1170432"/>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arjetaTxt 0"/>
          <p:cNvSpPr txBox="1"/>
          <p:nvPr/>
        </p:nvSpPr>
        <p:spPr>
          <a:xfrm>
            <a:off x="548640" y="2724912"/>
            <a:ext cx="3477768" cy="1060704"/>
          </a:xfrm>
          <a:prstGeom prst="rect">
            <a:avLst/>
          </a:prstGeom>
          <a:noFill/>
        </p:spPr>
        <p:txBody>
          <a:bodyPr wrap="square" anchor="t" lIns="45720" rIns="45720" tIns="27432" bIns="27432">
            <a:normAutofit/>
          </a:bodyPr>
          <a:lstStyle/>
          <a:p>
            <a:pPr algn="l"/>
            <a:r>
              <a:rPr sz="1100" b="1">
                <a:solidFill>
                  <a:srgbClr val="157355"/>
                </a:solidFill>
                <a:latin typeface="Bricolage Grotesque"/>
              </a:rPr>
              <a:t>Gante (Bélgica)</a:t>
            </a:r>
          </a:p>
          <a:p>
            <a:pPr algn="l"/>
            <a:r>
              <a:rPr sz="1000">
                <a:solidFill>
                  <a:srgbClr val="20242E"/>
                </a:solidFill>
                <a:latin typeface="Inter"/>
              </a:rPr>
              <a:t>misma hora que Gante</a:t>
            </a:r>
          </a:p>
        </p:txBody>
      </p:sp>
      <p:sp>
        <p:nvSpPr>
          <p:cNvPr id="13" name="Tarjeta 1"/>
          <p:cNvSpPr/>
          <p:nvPr/>
        </p:nvSpPr>
        <p:spPr>
          <a:xfrm>
            <a:off x="4264152" y="2670048"/>
            <a:ext cx="3660648" cy="1170432"/>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arjetaTxt 1"/>
          <p:cNvSpPr txBox="1"/>
          <p:nvPr/>
        </p:nvSpPr>
        <p:spPr>
          <a:xfrm>
            <a:off x="4355592" y="2724912"/>
            <a:ext cx="3477768" cy="1060704"/>
          </a:xfrm>
          <a:prstGeom prst="rect">
            <a:avLst/>
          </a:prstGeom>
          <a:noFill/>
        </p:spPr>
        <p:txBody>
          <a:bodyPr wrap="square" anchor="t" lIns="45720" rIns="45720" tIns="27432" bIns="27432">
            <a:normAutofit/>
          </a:bodyPr>
          <a:lstStyle/>
          <a:p>
            <a:pPr algn="l"/>
            <a:r>
              <a:rPr sz="1100" b="1">
                <a:solidFill>
                  <a:srgbClr val="157355"/>
                </a:solidFill>
                <a:latin typeface="Bricolage Grotesque"/>
              </a:rPr>
              <a:t>Sevilla (España)</a:t>
            </a:r>
          </a:p>
          <a:p>
            <a:pPr algn="l"/>
            <a:r>
              <a:rPr sz="1000">
                <a:solidFill>
                  <a:srgbClr val="20242E"/>
                </a:solidFill>
                <a:latin typeface="Inter"/>
              </a:rPr>
              <a:t>misma hora que Gante</a:t>
            </a:r>
          </a:p>
        </p:txBody>
      </p:sp>
      <p:sp>
        <p:nvSpPr>
          <p:cNvPr id="15" name="Tarjeta 2"/>
          <p:cNvSpPr/>
          <p:nvPr/>
        </p:nvSpPr>
        <p:spPr>
          <a:xfrm>
            <a:off x="8071104" y="2670048"/>
            <a:ext cx="3660648" cy="1170432"/>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arjetaTxt 2"/>
          <p:cNvSpPr txBox="1"/>
          <p:nvPr/>
        </p:nvSpPr>
        <p:spPr>
          <a:xfrm>
            <a:off x="8162544" y="2724912"/>
            <a:ext cx="3477768" cy="1060704"/>
          </a:xfrm>
          <a:prstGeom prst="rect">
            <a:avLst/>
          </a:prstGeom>
          <a:noFill/>
        </p:spPr>
        <p:txBody>
          <a:bodyPr wrap="square" anchor="t" lIns="45720" rIns="45720" tIns="27432" bIns="27432">
            <a:normAutofit/>
          </a:bodyPr>
          <a:lstStyle/>
          <a:p>
            <a:pPr algn="l"/>
            <a:r>
              <a:rPr sz="1100" b="1">
                <a:solidFill>
                  <a:srgbClr val="157355"/>
                </a:solidFill>
                <a:latin typeface="Bricolage Grotesque"/>
              </a:rPr>
              <a:t>Ciudad de México</a:t>
            </a:r>
          </a:p>
          <a:p>
            <a:pPr algn="l"/>
            <a:r>
              <a:rPr sz="1000">
                <a:solidFill>
                  <a:srgbClr val="20242E"/>
                </a:solidFill>
                <a:latin typeface="Inter"/>
              </a:rPr>
              <a:t>7 horas menos</a:t>
            </a:r>
          </a:p>
        </p:txBody>
      </p:sp>
      <p:sp>
        <p:nvSpPr>
          <p:cNvPr id="17" name="Tarjeta 3"/>
          <p:cNvSpPr/>
          <p:nvPr/>
        </p:nvSpPr>
        <p:spPr>
          <a:xfrm>
            <a:off x="457200" y="3968496"/>
            <a:ext cx="3660648" cy="1170432"/>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arjetaTxt 3"/>
          <p:cNvSpPr txBox="1"/>
          <p:nvPr/>
        </p:nvSpPr>
        <p:spPr>
          <a:xfrm>
            <a:off x="548640" y="4023360"/>
            <a:ext cx="3477768" cy="1060704"/>
          </a:xfrm>
          <a:prstGeom prst="rect">
            <a:avLst/>
          </a:prstGeom>
          <a:noFill/>
        </p:spPr>
        <p:txBody>
          <a:bodyPr wrap="square" anchor="t" lIns="45720" rIns="45720" tIns="27432" bIns="27432">
            <a:normAutofit/>
          </a:bodyPr>
          <a:lstStyle/>
          <a:p>
            <a:pPr algn="l"/>
            <a:r>
              <a:rPr sz="1100" b="1">
                <a:solidFill>
                  <a:srgbClr val="157355"/>
                </a:solidFill>
                <a:latin typeface="Bricolage Grotesque"/>
              </a:rPr>
              <a:t>Cusco (Perú)</a:t>
            </a:r>
          </a:p>
          <a:p>
            <a:pPr algn="l"/>
            <a:r>
              <a:rPr sz="1000">
                <a:solidFill>
                  <a:srgbClr val="20242E"/>
                </a:solidFill>
                <a:latin typeface="Inter"/>
              </a:rPr>
              <a:t>6 horas menos</a:t>
            </a:r>
          </a:p>
        </p:txBody>
      </p:sp>
      <p:sp>
        <p:nvSpPr>
          <p:cNvPr id="19" name="Tarjeta 4"/>
          <p:cNvSpPr/>
          <p:nvPr/>
        </p:nvSpPr>
        <p:spPr>
          <a:xfrm>
            <a:off x="4264152" y="3968496"/>
            <a:ext cx="3660648" cy="1170432"/>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arjetaTxt 4"/>
          <p:cNvSpPr txBox="1"/>
          <p:nvPr/>
        </p:nvSpPr>
        <p:spPr>
          <a:xfrm>
            <a:off x="4355592" y="4023360"/>
            <a:ext cx="3477768" cy="1060704"/>
          </a:xfrm>
          <a:prstGeom prst="rect">
            <a:avLst/>
          </a:prstGeom>
          <a:noFill/>
        </p:spPr>
        <p:txBody>
          <a:bodyPr wrap="square" anchor="t" lIns="45720" rIns="45720" tIns="27432" bIns="27432">
            <a:normAutofit/>
          </a:bodyPr>
          <a:lstStyle/>
          <a:p>
            <a:pPr algn="l"/>
            <a:r>
              <a:rPr sz="1100" b="1">
                <a:solidFill>
                  <a:srgbClr val="157355"/>
                </a:solidFill>
                <a:latin typeface="Bricolage Grotesque"/>
              </a:rPr>
              <a:t>marco</a:t>
            </a:r>
          </a:p>
          <a:p>
            <a:pPr algn="l"/>
            <a:r>
              <a:rPr sz="1000">
                <a:solidFill>
                  <a:srgbClr val="20242E"/>
                </a:solidFill>
                <a:latin typeface="Inter"/>
              </a:rPr>
              <a:t>En Gante son las …, en México son las … y en Cusco son las …</a:t>
            </a:r>
          </a:p>
        </p:txBody>
      </p:sp>
      <p:sp>
        <p:nvSpPr>
          <p:cNvPr id="21" name="Tarjeta 5"/>
          <p:cNvSpPr/>
          <p:nvPr/>
        </p:nvSpPr>
        <p:spPr>
          <a:xfrm>
            <a:off x="8071104" y="3968496"/>
            <a:ext cx="3660648" cy="1170432"/>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arjetaTxt 5"/>
          <p:cNvSpPr txBox="1"/>
          <p:nvPr/>
        </p:nvSpPr>
        <p:spPr>
          <a:xfrm>
            <a:off x="8162544" y="4023360"/>
            <a:ext cx="3477768" cy="1060704"/>
          </a:xfrm>
          <a:prstGeom prst="rect">
            <a:avLst/>
          </a:prstGeom>
          <a:noFill/>
        </p:spPr>
        <p:txBody>
          <a:bodyPr wrap="square" anchor="t" lIns="45720" rIns="45720" tIns="27432" bIns="27432">
            <a:normAutofit/>
          </a:bodyPr>
          <a:lstStyle/>
          <a:p>
            <a:pPr algn="l"/>
            <a:r>
              <a:rPr sz="1100" b="1">
                <a:solidFill>
                  <a:srgbClr val="157355"/>
                </a:solidFill>
                <a:latin typeface="Bricolage Grotesque"/>
              </a:rPr>
              <a:t>marco</a:t>
            </a:r>
          </a:p>
          <a:p>
            <a:pPr algn="l"/>
            <a:r>
              <a:rPr sz="1000">
                <a:solidFill>
                  <a:srgbClr val="20242E"/>
                </a:solidFill>
                <a:latin typeface="Inter"/>
              </a:rPr>
              <a:t>A las … de Bélgica, en México es demasiado temprano.</a:t>
            </a:r>
          </a:p>
        </p:txBody>
      </p:sp>
      <p:sp>
        <p:nvSpPr>
          <p:cNvPr id="23" name="Tarjeta 6"/>
          <p:cNvSpPr/>
          <p:nvPr/>
        </p:nvSpPr>
        <p:spPr>
          <a:xfrm>
            <a:off x="457200" y="5266944"/>
            <a:ext cx="3660648" cy="1170432"/>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arjetaTxt 6"/>
          <p:cNvSpPr txBox="1"/>
          <p:nvPr/>
        </p:nvSpPr>
        <p:spPr>
          <a:xfrm>
            <a:off x="548640" y="5321808"/>
            <a:ext cx="3477768" cy="1060704"/>
          </a:xfrm>
          <a:prstGeom prst="rect">
            <a:avLst/>
          </a:prstGeom>
          <a:noFill/>
        </p:spPr>
        <p:txBody>
          <a:bodyPr wrap="square" anchor="t" lIns="45720" rIns="45720" tIns="27432" bIns="27432">
            <a:normAutofit/>
          </a:bodyPr>
          <a:lstStyle/>
          <a:p>
            <a:pPr algn="l"/>
            <a:r>
              <a:rPr sz="1100" b="1">
                <a:solidFill>
                  <a:srgbClr val="157355"/>
                </a:solidFill>
                <a:latin typeface="Bricolage Grotesque"/>
              </a:rPr>
              <a:t>marco</a:t>
            </a:r>
          </a:p>
          <a:p>
            <a:pPr algn="l"/>
            <a:r>
              <a:rPr sz="1000">
                <a:solidFill>
                  <a:srgbClr val="20242E"/>
                </a:solidFill>
                <a:latin typeface="Inter"/>
              </a:rPr>
              <a:t>Quedamos a las … hora belga.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ndo"/>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abecera"/>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hip"/>
          <p:cNvSpPr/>
          <p:nvPr/>
        </p:nvSpPr>
        <p:spPr>
          <a:xfrm>
            <a:off x="457200" y="182880"/>
            <a:ext cx="30175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hipTxt"/>
          <p:cNvSpPr txBox="1"/>
          <p:nvPr/>
        </p:nvSpPr>
        <p:spPr>
          <a:xfrm>
            <a:off x="457200" y="173736"/>
            <a:ext cx="3017520" cy="310896"/>
          </a:xfrm>
          <a:prstGeom prst="rect">
            <a:avLst/>
          </a:prstGeom>
          <a:noFill/>
        </p:spPr>
        <p:txBody>
          <a:bodyPr wrap="square" anchor="ctr" lIns="45720" rIns="45720" tIns="27432" bIns="27432">
            <a:normAutofit/>
          </a:bodyPr>
          <a:lstStyle/>
          <a:p>
            <a:pPr algn="ctr"/>
            <a:r>
              <a:rPr sz="950" b="1">
                <a:solidFill>
                  <a:srgbClr val="157355"/>
                </a:solidFill>
                <a:latin typeface="Inter"/>
              </a:rPr>
              <a:t>RETO 8 · ONDERHANDELING &amp; DILEMMA</a:t>
            </a:r>
          </a:p>
        </p:txBody>
      </p:sp>
      <p:sp>
        <p:nvSpPr>
          <p:cNvPr id="6" name="Titulo"/>
          <p:cNvSpPr txBox="1"/>
          <p:nvPr/>
        </p:nvSpPr>
        <p:spPr>
          <a:xfrm>
            <a:off x="457200" y="502920"/>
            <a:ext cx="8412480" cy="475488"/>
          </a:xfrm>
          <a:prstGeom prst="rect">
            <a:avLst/>
          </a:prstGeom>
          <a:noFill/>
        </p:spPr>
        <p:txBody>
          <a:bodyPr wrap="square" anchor="t" lIns="45720" rIns="45720" tIns="27432" bIns="27432">
            <a:normAutofit/>
          </a:bodyPr>
          <a:lstStyle/>
          <a:p>
            <a:pPr algn="l"/>
            <a:r>
              <a:rPr sz="2700" b="1">
                <a:solidFill>
                  <a:srgbClr val="FFFFFF"/>
                </a:solidFill>
                <a:latin typeface="Bricolage Grotesque"/>
              </a:rPr>
              <a:t>Negocia el despertador</a:t>
            </a:r>
          </a:p>
        </p:txBody>
      </p:sp>
      <p:sp>
        <p:nvSpPr>
          <p:cNvPr id="7" name="Badges"/>
          <p:cNvSpPr txBox="1"/>
          <p:nvPr/>
        </p:nvSpPr>
        <p:spPr>
          <a:xfrm>
            <a:off x="9052560" y="256032"/>
            <a:ext cx="2651760" cy="640080"/>
          </a:xfrm>
          <a:prstGeom prst="rect">
            <a:avLst/>
          </a:prstGeom>
          <a:noFill/>
        </p:spPr>
        <p:txBody>
          <a:bodyPr wrap="square" anchor="t" lIns="45720" rIns="45720" tIns="27432" bIns="27432">
            <a:normAutofit/>
          </a:bodyPr>
          <a:lstStyle/>
          <a:p>
            <a:pPr algn="r"/>
            <a:r>
              <a:rPr sz="1000">
                <a:solidFill>
                  <a:srgbClr val="E4F4EE"/>
                </a:solidFill>
                <a:latin typeface="Inter"/>
              </a:rPr>
              <a:t>👥 En parejas</a:t>
            </a:r>
          </a:p>
          <a:p>
            <a:pPr algn="r"/>
            <a:r>
              <a:rPr sz="1000">
                <a:solidFill>
                  <a:srgbClr val="E4F4EE"/>
                </a:solidFill>
                <a:latin typeface="Inter"/>
              </a:rPr>
              <a:t>± 12 min · ★★★</a:t>
            </a:r>
          </a:p>
        </p:txBody>
      </p:sp>
      <p:sp>
        <p:nvSpPr>
          <p:cNvPr id="8" name="Gancho"/>
          <p:cNvSpPr txBox="1"/>
          <p:nvPr/>
        </p:nvSpPr>
        <p:spPr>
          <a:xfrm>
            <a:off x="457200" y="1225296"/>
            <a:ext cx="11274552" cy="566928"/>
          </a:xfrm>
          <a:prstGeom prst="rect">
            <a:avLst/>
          </a:prstGeom>
          <a:noFill/>
        </p:spPr>
        <p:txBody>
          <a:bodyPr wrap="square" anchor="t" lIns="45720" rIns="45720" tIns="27432" bIns="27432">
            <a:normAutofit/>
          </a:bodyPr>
          <a:lstStyle/>
          <a:p>
            <a:pPr algn="l"/>
            <a:r>
              <a:rPr sz="1600" b="1">
                <a:solidFill>
                  <a:srgbClr val="157355"/>
                </a:solidFill>
                <a:latin typeface="Bricolage Grotesque"/>
              </a:rPr>
              <a:t>Dos compañeros de habitación, dos mañanas incompatibles. Una sola alarma.</a:t>
            </a:r>
          </a:p>
          <a:p>
            <a:pPr algn="l"/>
            <a:r>
              <a:rPr sz="1100" i="1">
                <a:solidFill>
                  <a:srgbClr val="6A6E78"/>
                </a:solidFill>
                <a:latin typeface="Inter"/>
              </a:rPr>
              <a:t>Twee kamergenoten, twee onverenigbare ochtenden. Eén wekker.</a:t>
            </a:r>
          </a:p>
        </p:txBody>
      </p:sp>
      <p:sp>
        <p:nvSpPr>
          <p:cNvPr id="9" name="ReglaCaja"/>
          <p:cNvSpPr/>
          <p:nvPr/>
        </p:nvSpPr>
        <p:spPr>
          <a:xfrm>
            <a:off x="457200" y="1847088"/>
            <a:ext cx="11274552" cy="658368"/>
          </a:xfrm>
          <a:prstGeom prst="roundRect">
            <a:avLst>
              <a:gd name="adj" fmla="val 5000"/>
            </a:avLst>
          </a:prstGeom>
          <a:solidFill>
            <a:srgbClr val="FB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glaTxt"/>
          <p:cNvSpPr txBox="1"/>
          <p:nvPr/>
        </p:nvSpPr>
        <p:spPr>
          <a:xfrm>
            <a:off x="603504" y="1883664"/>
            <a:ext cx="10972800" cy="585216"/>
          </a:xfrm>
          <a:prstGeom prst="rect">
            <a:avLst/>
          </a:prstGeom>
          <a:noFill/>
        </p:spPr>
        <p:txBody>
          <a:bodyPr wrap="square" anchor="t" lIns="45720" rIns="45720" tIns="27432" bIns="27432">
            <a:normAutofit/>
          </a:bodyPr>
          <a:lstStyle/>
          <a:p>
            <a:pPr algn="l"/>
            <a:r>
              <a:rPr sz="850" b="1">
                <a:solidFill>
                  <a:srgbClr val="B7860B"/>
                </a:solidFill>
                <a:latin typeface="Inter"/>
              </a:rPr>
              <a:t>LA REGLA DEL RETO</a:t>
            </a:r>
          </a:p>
          <a:p>
            <a:pPr algn="l"/>
            <a:r>
              <a:rPr sz="1100">
                <a:solidFill>
                  <a:srgbClr val="20242E"/>
                </a:solidFill>
                <a:latin typeface="Inter"/>
              </a:rPr>
              <a:t>Elk voorstel bevat een uur én een reden met «porque». Een voorstel zonder reden mag de ander zonder meer weigeren.</a:t>
            </a:r>
          </a:p>
        </p:txBody>
      </p:sp>
      <p:sp>
        <p:nvSpPr>
          <p:cNvPr id="11" name="Tarjeta 0"/>
          <p:cNvSpPr/>
          <p:nvPr/>
        </p:nvSpPr>
        <p:spPr>
          <a:xfrm>
            <a:off x="457200" y="2670048"/>
            <a:ext cx="3660648" cy="1170432"/>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arjetaTxt 0"/>
          <p:cNvSpPr txBox="1"/>
          <p:nvPr/>
        </p:nvSpPr>
        <p:spPr>
          <a:xfrm>
            <a:off x="548640" y="2724912"/>
            <a:ext cx="3477768" cy="1060704"/>
          </a:xfrm>
          <a:prstGeom prst="rect">
            <a:avLst/>
          </a:prstGeom>
          <a:noFill/>
        </p:spPr>
        <p:txBody>
          <a:bodyPr wrap="square" anchor="t" lIns="45720" rIns="45720" tIns="27432" bIns="27432">
            <a:normAutofit/>
          </a:bodyPr>
          <a:lstStyle/>
          <a:p>
            <a:pPr algn="l"/>
            <a:r>
              <a:rPr sz="1100" b="1">
                <a:solidFill>
                  <a:srgbClr val="157355"/>
                </a:solidFill>
                <a:latin typeface="Bricolage Grotesque"/>
              </a:rPr>
              <a:t>Álex</a:t>
            </a:r>
          </a:p>
          <a:p>
            <a:pPr algn="l"/>
            <a:r>
              <a:rPr sz="1000">
                <a:solidFill>
                  <a:srgbClr val="20242E"/>
                </a:solidFill>
                <a:latin typeface="Inter"/>
              </a:rPr>
              <a:t>Entrenas a las siete de la mañana. Necesitas la ducha primero. Te acuestas a las diez.</a:t>
            </a:r>
          </a:p>
        </p:txBody>
      </p:sp>
      <p:sp>
        <p:nvSpPr>
          <p:cNvPr id="13" name="Tarjeta 1"/>
          <p:cNvSpPr/>
          <p:nvPr/>
        </p:nvSpPr>
        <p:spPr>
          <a:xfrm>
            <a:off x="4264152" y="2670048"/>
            <a:ext cx="3660648" cy="1170432"/>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arjetaTxt 1"/>
          <p:cNvSpPr txBox="1"/>
          <p:nvPr/>
        </p:nvSpPr>
        <p:spPr>
          <a:xfrm>
            <a:off x="4355592" y="2724912"/>
            <a:ext cx="3477768" cy="1060704"/>
          </a:xfrm>
          <a:prstGeom prst="rect">
            <a:avLst/>
          </a:prstGeom>
          <a:noFill/>
        </p:spPr>
        <p:txBody>
          <a:bodyPr wrap="square" anchor="t" lIns="45720" rIns="45720" tIns="27432" bIns="27432">
            <a:normAutofit/>
          </a:bodyPr>
          <a:lstStyle/>
          <a:p>
            <a:pPr algn="l"/>
            <a:r>
              <a:rPr sz="1100" b="1">
                <a:solidFill>
                  <a:srgbClr val="157355"/>
                </a:solidFill>
                <a:latin typeface="Bricolage Grotesque"/>
              </a:rPr>
              <a:t>Noa</a:t>
            </a:r>
          </a:p>
          <a:p>
            <a:pPr algn="l"/>
            <a:r>
              <a:rPr sz="1000">
                <a:solidFill>
                  <a:srgbClr val="20242E"/>
                </a:solidFill>
                <a:latin typeface="Inter"/>
              </a:rPr>
              <a:t>Estudias hasta la una de la madrugada. No puedes levantarte antes de las nueve. La luz te despierta.</a:t>
            </a:r>
          </a:p>
        </p:txBody>
      </p:sp>
      <p:sp>
        <p:nvSpPr>
          <p:cNvPr id="15" name="Tarjeta 2"/>
          <p:cNvSpPr/>
          <p:nvPr/>
        </p:nvSpPr>
        <p:spPr>
          <a:xfrm>
            <a:off x="8071104" y="2670048"/>
            <a:ext cx="3660648" cy="1170432"/>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arjetaTxt 2"/>
          <p:cNvSpPr txBox="1"/>
          <p:nvPr/>
        </p:nvSpPr>
        <p:spPr>
          <a:xfrm>
            <a:off x="8162544" y="2724912"/>
            <a:ext cx="3477768" cy="1060704"/>
          </a:xfrm>
          <a:prstGeom prst="rect">
            <a:avLst/>
          </a:prstGeom>
          <a:noFill/>
        </p:spPr>
        <p:txBody>
          <a:bodyPr wrap="square" anchor="t" lIns="45720" rIns="45720" tIns="27432" bIns="27432">
            <a:normAutofit/>
          </a:bodyPr>
          <a:lstStyle/>
          <a:p>
            <a:pPr algn="l"/>
            <a:r>
              <a:rPr sz="1100" b="1">
                <a:solidFill>
                  <a:srgbClr val="157355"/>
                </a:solidFill>
                <a:latin typeface="Bricolage Grotesque"/>
              </a:rPr>
              <a:t>marco</a:t>
            </a:r>
          </a:p>
          <a:p>
            <a:pPr algn="l"/>
            <a:r>
              <a:rPr sz="1000">
                <a:solidFill>
                  <a:srgbClr val="20242E"/>
                </a:solidFill>
                <a:latin typeface="Inter"/>
              </a:rPr>
              <a:t>Quiero levantarme a las … porque …</a:t>
            </a:r>
          </a:p>
        </p:txBody>
      </p:sp>
      <p:sp>
        <p:nvSpPr>
          <p:cNvPr id="17" name="Tarjeta 3"/>
          <p:cNvSpPr/>
          <p:nvPr/>
        </p:nvSpPr>
        <p:spPr>
          <a:xfrm>
            <a:off x="457200" y="3968496"/>
            <a:ext cx="3660648" cy="1170432"/>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arjetaTxt 3"/>
          <p:cNvSpPr txBox="1"/>
          <p:nvPr/>
        </p:nvSpPr>
        <p:spPr>
          <a:xfrm>
            <a:off x="548640" y="4023360"/>
            <a:ext cx="3477768" cy="1060704"/>
          </a:xfrm>
          <a:prstGeom prst="rect">
            <a:avLst/>
          </a:prstGeom>
          <a:noFill/>
        </p:spPr>
        <p:txBody>
          <a:bodyPr wrap="square" anchor="t" lIns="45720" rIns="45720" tIns="27432" bIns="27432">
            <a:normAutofit/>
          </a:bodyPr>
          <a:lstStyle/>
          <a:p>
            <a:pPr algn="l"/>
            <a:r>
              <a:rPr sz="1100" b="1">
                <a:solidFill>
                  <a:srgbClr val="157355"/>
                </a:solidFill>
                <a:latin typeface="Bricolage Grotesque"/>
              </a:rPr>
              <a:t>marco</a:t>
            </a:r>
          </a:p>
          <a:p>
            <a:pPr algn="l"/>
            <a:r>
              <a:rPr sz="1000">
                <a:solidFill>
                  <a:srgbClr val="20242E"/>
                </a:solidFill>
                <a:latin typeface="Inter"/>
              </a:rPr>
              <a:t>No puedo … porque …</a:t>
            </a:r>
          </a:p>
        </p:txBody>
      </p:sp>
      <p:sp>
        <p:nvSpPr>
          <p:cNvPr id="19" name="Tarjeta 4"/>
          <p:cNvSpPr/>
          <p:nvPr/>
        </p:nvSpPr>
        <p:spPr>
          <a:xfrm>
            <a:off x="4264152" y="3968496"/>
            <a:ext cx="3660648" cy="1170432"/>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arjetaTxt 4"/>
          <p:cNvSpPr txBox="1"/>
          <p:nvPr/>
        </p:nvSpPr>
        <p:spPr>
          <a:xfrm>
            <a:off x="4355592" y="4023360"/>
            <a:ext cx="3477768" cy="1060704"/>
          </a:xfrm>
          <a:prstGeom prst="rect">
            <a:avLst/>
          </a:prstGeom>
          <a:noFill/>
        </p:spPr>
        <p:txBody>
          <a:bodyPr wrap="square" anchor="t" lIns="45720" rIns="45720" tIns="27432" bIns="27432">
            <a:normAutofit/>
          </a:bodyPr>
          <a:lstStyle/>
          <a:p>
            <a:pPr algn="l"/>
            <a:r>
              <a:rPr sz="1100" b="1">
                <a:solidFill>
                  <a:srgbClr val="157355"/>
                </a:solidFill>
                <a:latin typeface="Bricolage Grotesque"/>
              </a:rPr>
              <a:t>marco</a:t>
            </a:r>
          </a:p>
          <a:p>
            <a:pPr algn="l"/>
            <a:r>
              <a:rPr sz="1000">
                <a:solidFill>
                  <a:srgbClr val="20242E"/>
                </a:solidFill>
                <a:latin typeface="Inter"/>
              </a:rPr>
              <a:t>¿Y si … a las …?</a:t>
            </a:r>
          </a:p>
        </p:txBody>
      </p:sp>
      <p:sp>
        <p:nvSpPr>
          <p:cNvPr id="21" name="Tarjeta 5"/>
          <p:cNvSpPr/>
          <p:nvPr/>
        </p:nvSpPr>
        <p:spPr>
          <a:xfrm>
            <a:off x="8071104" y="3968496"/>
            <a:ext cx="3660648" cy="1170432"/>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arjetaTxt 5"/>
          <p:cNvSpPr txBox="1"/>
          <p:nvPr/>
        </p:nvSpPr>
        <p:spPr>
          <a:xfrm>
            <a:off x="8162544" y="4023360"/>
            <a:ext cx="3477768" cy="1060704"/>
          </a:xfrm>
          <a:prstGeom prst="rect">
            <a:avLst/>
          </a:prstGeom>
          <a:noFill/>
        </p:spPr>
        <p:txBody>
          <a:bodyPr wrap="square" anchor="t" lIns="45720" rIns="45720" tIns="27432" bIns="27432">
            <a:normAutofit/>
          </a:bodyPr>
          <a:lstStyle/>
          <a:p>
            <a:pPr algn="l"/>
            <a:r>
              <a:rPr sz="1100" b="1">
                <a:solidFill>
                  <a:srgbClr val="157355"/>
                </a:solidFill>
                <a:latin typeface="Bricolage Grotesque"/>
              </a:rPr>
              <a:t>marco</a:t>
            </a:r>
          </a:p>
          <a:p>
            <a:pPr algn="l"/>
            <a:r>
              <a:rPr sz="1000">
                <a:solidFill>
                  <a:srgbClr val="20242E"/>
                </a:solidFill>
                <a:latin typeface="Inter"/>
              </a:rPr>
              <a:t>Vale, pero entonces tú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ndo"/>
          <p:cNvSpPr/>
          <p:nvPr/>
        </p:nvSpPr>
        <p:spPr>
          <a:xfrm>
            <a:off x="0" y="0"/>
            <a:ext cx="12191695"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abecera"/>
          <p:cNvSpPr/>
          <p:nvPr/>
        </p:nvSpPr>
        <p:spPr>
          <a:xfrm>
            <a:off x="0" y="0"/>
            <a:ext cx="12191695" cy="1078992"/>
          </a:xfrm>
          <a:prstGeom prst="rect">
            <a:avLst/>
          </a:prstGeom>
          <a:solidFill>
            <a:srgbClr val="1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hip"/>
          <p:cNvSpPr/>
          <p:nvPr/>
        </p:nvSpPr>
        <p:spPr>
          <a:xfrm>
            <a:off x="457200" y="182880"/>
            <a:ext cx="30175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hipTxt"/>
          <p:cNvSpPr txBox="1"/>
          <p:nvPr/>
        </p:nvSpPr>
        <p:spPr>
          <a:xfrm>
            <a:off x="457200" y="173736"/>
            <a:ext cx="3017520" cy="310896"/>
          </a:xfrm>
          <a:prstGeom prst="rect">
            <a:avLst/>
          </a:prstGeom>
          <a:noFill/>
        </p:spPr>
        <p:txBody>
          <a:bodyPr wrap="square" anchor="ctr" lIns="45720" rIns="45720" tIns="27432" bIns="27432">
            <a:normAutofit/>
          </a:bodyPr>
          <a:lstStyle/>
          <a:p>
            <a:pPr algn="ctr"/>
            <a:r>
              <a:rPr sz="950" b="1">
                <a:solidFill>
                  <a:srgbClr val="157355"/>
                </a:solidFill>
                <a:latin typeface="Inter"/>
              </a:rPr>
              <a:t>RETO 10 · FORENSISCH</a:t>
            </a:r>
          </a:p>
        </p:txBody>
      </p:sp>
      <p:sp>
        <p:nvSpPr>
          <p:cNvPr id="6" name="Titulo"/>
          <p:cNvSpPr txBox="1"/>
          <p:nvPr/>
        </p:nvSpPr>
        <p:spPr>
          <a:xfrm>
            <a:off x="457200" y="502920"/>
            <a:ext cx="8412480" cy="475488"/>
          </a:xfrm>
          <a:prstGeom prst="rect">
            <a:avLst/>
          </a:prstGeom>
          <a:noFill/>
        </p:spPr>
        <p:txBody>
          <a:bodyPr wrap="square" anchor="t" lIns="45720" rIns="45720" tIns="27432" bIns="27432">
            <a:normAutofit/>
          </a:bodyPr>
          <a:lstStyle/>
          <a:p>
            <a:pPr algn="l"/>
            <a:r>
              <a:rPr sz="2700" b="1">
                <a:solidFill>
                  <a:srgbClr val="FFFFFF"/>
                </a:solidFill>
                <a:latin typeface="Bricolage Grotesque"/>
              </a:rPr>
              <a:t>La coartada</a:t>
            </a:r>
          </a:p>
        </p:txBody>
      </p:sp>
      <p:sp>
        <p:nvSpPr>
          <p:cNvPr id="7" name="Badges"/>
          <p:cNvSpPr txBox="1"/>
          <p:nvPr/>
        </p:nvSpPr>
        <p:spPr>
          <a:xfrm>
            <a:off x="9052560" y="256032"/>
            <a:ext cx="2651760" cy="640080"/>
          </a:xfrm>
          <a:prstGeom prst="rect">
            <a:avLst/>
          </a:prstGeom>
          <a:noFill/>
        </p:spPr>
        <p:txBody>
          <a:bodyPr wrap="square" anchor="t" lIns="45720" rIns="45720" tIns="27432" bIns="27432">
            <a:normAutofit/>
          </a:bodyPr>
          <a:lstStyle/>
          <a:p>
            <a:pPr algn="r"/>
            <a:r>
              <a:rPr sz="1000">
                <a:solidFill>
                  <a:srgbClr val="E4F4EE"/>
                </a:solidFill>
                <a:latin typeface="Inter"/>
              </a:rPr>
              <a:t>🏫 Toda la clase</a:t>
            </a:r>
          </a:p>
          <a:p>
            <a:pPr algn="r"/>
            <a:r>
              <a:rPr sz="1000">
                <a:solidFill>
                  <a:srgbClr val="E4F4EE"/>
                </a:solidFill>
                <a:latin typeface="Inter"/>
              </a:rPr>
              <a:t>± 20 min · ★★★</a:t>
            </a:r>
          </a:p>
        </p:txBody>
      </p:sp>
      <p:sp>
        <p:nvSpPr>
          <p:cNvPr id="8" name="Gancho"/>
          <p:cNvSpPr txBox="1"/>
          <p:nvPr/>
        </p:nvSpPr>
        <p:spPr>
          <a:xfrm>
            <a:off x="457200" y="1225296"/>
            <a:ext cx="11274552" cy="566928"/>
          </a:xfrm>
          <a:prstGeom prst="rect">
            <a:avLst/>
          </a:prstGeom>
          <a:noFill/>
        </p:spPr>
        <p:txBody>
          <a:bodyPr wrap="square" anchor="t" lIns="45720" rIns="45720" tIns="27432" bIns="27432">
            <a:normAutofit/>
          </a:bodyPr>
          <a:lstStyle/>
          <a:p>
            <a:pPr algn="l"/>
            <a:r>
              <a:rPr sz="1600" b="1">
                <a:solidFill>
                  <a:srgbClr val="157355"/>
                </a:solidFill>
                <a:latin typeface="Bricolage Grotesque"/>
              </a:rPr>
              <a:t>Ha desaparecido la mascota de la clase. Todos tenéis que dar cuentas.</a:t>
            </a:r>
          </a:p>
          <a:p>
            <a:pPr algn="l"/>
            <a:r>
              <a:rPr sz="1100" i="1">
                <a:solidFill>
                  <a:srgbClr val="6A6E78"/>
                </a:solidFill>
                <a:latin typeface="Inter"/>
              </a:rPr>
              <a:t>De klasmascotte is verdwenen. Iedereen moet rekenschap geven.</a:t>
            </a:r>
          </a:p>
        </p:txBody>
      </p:sp>
      <p:sp>
        <p:nvSpPr>
          <p:cNvPr id="9" name="ReglaCaja"/>
          <p:cNvSpPr/>
          <p:nvPr/>
        </p:nvSpPr>
        <p:spPr>
          <a:xfrm>
            <a:off x="457200" y="1847088"/>
            <a:ext cx="11274552" cy="658368"/>
          </a:xfrm>
          <a:prstGeom prst="roundRect">
            <a:avLst>
              <a:gd name="adj" fmla="val 5000"/>
            </a:avLst>
          </a:prstGeom>
          <a:solidFill>
            <a:srgbClr val="FB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glaTxt"/>
          <p:cNvSpPr txBox="1"/>
          <p:nvPr/>
        </p:nvSpPr>
        <p:spPr>
          <a:xfrm>
            <a:off x="603504" y="1883664"/>
            <a:ext cx="10972800" cy="585216"/>
          </a:xfrm>
          <a:prstGeom prst="rect">
            <a:avLst/>
          </a:prstGeom>
          <a:noFill/>
        </p:spPr>
        <p:txBody>
          <a:bodyPr wrap="square" anchor="t" lIns="45720" rIns="45720" tIns="27432" bIns="27432">
            <a:normAutofit/>
          </a:bodyPr>
          <a:lstStyle/>
          <a:p>
            <a:pPr algn="l"/>
            <a:r>
              <a:rPr sz="850" b="1">
                <a:solidFill>
                  <a:srgbClr val="B7860B"/>
                </a:solidFill>
                <a:latin typeface="Inter"/>
              </a:rPr>
              <a:t>LA REGLA DEL RETO</a:t>
            </a:r>
          </a:p>
          <a:p>
            <a:pPr algn="l"/>
            <a:r>
              <a:rPr sz="1100">
                <a:solidFill>
                  <a:srgbClr val="20242E"/>
                </a:solidFill>
                <a:latin typeface="Inter"/>
              </a:rPr>
              <a:t>Jullie twee verhalen moeten op de vijf uren identiek zijn — maar jullie worden apart ondervraagd. Eén verschil en het alibi valt.</a:t>
            </a:r>
          </a:p>
        </p:txBody>
      </p:sp>
      <p:sp>
        <p:nvSpPr>
          <p:cNvPr id="11" name="Tarjeta 0"/>
          <p:cNvSpPr/>
          <p:nvPr/>
        </p:nvSpPr>
        <p:spPr>
          <a:xfrm>
            <a:off x="457200" y="2670048"/>
            <a:ext cx="3660648" cy="1170432"/>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arjetaTxt 0"/>
          <p:cNvSpPr txBox="1"/>
          <p:nvPr/>
        </p:nvSpPr>
        <p:spPr>
          <a:xfrm>
            <a:off x="548640" y="2724912"/>
            <a:ext cx="3477768" cy="859536"/>
          </a:xfrm>
          <a:prstGeom prst="rect">
            <a:avLst/>
          </a:prstGeom>
          <a:noFill/>
        </p:spPr>
        <p:txBody>
          <a:bodyPr wrap="square" anchor="t" lIns="45720" rIns="45720" tIns="27432" bIns="27432">
            <a:normAutofit/>
          </a:bodyPr>
          <a:lstStyle/>
          <a:p>
            <a:pPr algn="l"/>
            <a:r>
              <a:rPr sz="1100" b="1">
                <a:solidFill>
                  <a:srgbClr val="157355"/>
                </a:solidFill>
                <a:latin typeface="Bricolage Grotesque"/>
              </a:rPr>
              <a:t>Pregunta 1</a:t>
            </a:r>
          </a:p>
          <a:p>
            <a:pPr algn="l"/>
            <a:r>
              <a:rPr sz="1000">
                <a:solidFill>
                  <a:srgbClr val="20242E"/>
                </a:solidFill>
                <a:latin typeface="Inter"/>
              </a:rPr>
              <a:t>¿A qué hora salisteis del instituto?</a:t>
            </a:r>
          </a:p>
        </p:txBody>
      </p:sp>
      <p:sp>
        <p:nvSpPr>
          <p:cNvPr id="13" name="Onthul 0"/>
          <p:cNvSpPr/>
          <p:nvPr/>
        </p:nvSpPr>
        <p:spPr>
          <a:xfrm>
            <a:off x="548640" y="3547872"/>
            <a:ext cx="3477768" cy="237744"/>
          </a:xfrm>
          <a:prstGeom prst="roundRect">
            <a:avLst>
              <a:gd name="adj" fmla="val 20000"/>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nthulTxt 0"/>
          <p:cNvSpPr txBox="1"/>
          <p:nvPr/>
        </p:nvSpPr>
        <p:spPr>
          <a:xfrm>
            <a:off x="566928" y="3547872"/>
            <a:ext cx="3441192" cy="237744"/>
          </a:xfrm>
          <a:prstGeom prst="rect">
            <a:avLst/>
          </a:prstGeom>
          <a:noFill/>
        </p:spPr>
        <p:txBody>
          <a:bodyPr wrap="square" anchor="ctr" lIns="45720" rIns="45720" tIns="27432" bIns="27432">
            <a:normAutofit/>
          </a:bodyPr>
          <a:lstStyle/>
          <a:p>
            <a:pPr algn="l"/>
            <a:r>
              <a:rPr sz="850" b="1">
                <a:solidFill>
                  <a:srgbClr val="157355"/>
                </a:solidFill>
                <a:latin typeface="Inter"/>
              </a:rPr>
              <a:t>vertrek</a:t>
            </a:r>
          </a:p>
        </p:txBody>
      </p:sp>
      <p:sp>
        <p:nvSpPr>
          <p:cNvPr id="15" name="Tarjeta 1"/>
          <p:cNvSpPr/>
          <p:nvPr/>
        </p:nvSpPr>
        <p:spPr>
          <a:xfrm>
            <a:off x="4264152" y="2670048"/>
            <a:ext cx="3660648" cy="1170432"/>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arjetaTxt 1"/>
          <p:cNvSpPr txBox="1"/>
          <p:nvPr/>
        </p:nvSpPr>
        <p:spPr>
          <a:xfrm>
            <a:off x="4355592" y="2724912"/>
            <a:ext cx="3477768" cy="859536"/>
          </a:xfrm>
          <a:prstGeom prst="rect">
            <a:avLst/>
          </a:prstGeom>
          <a:noFill/>
        </p:spPr>
        <p:txBody>
          <a:bodyPr wrap="square" anchor="t" lIns="45720" rIns="45720" tIns="27432" bIns="27432">
            <a:normAutofit/>
          </a:bodyPr>
          <a:lstStyle/>
          <a:p>
            <a:pPr algn="l"/>
            <a:r>
              <a:rPr sz="1100" b="1">
                <a:solidFill>
                  <a:srgbClr val="157355"/>
                </a:solidFill>
                <a:latin typeface="Bricolage Grotesque"/>
              </a:rPr>
              <a:t>Pregunta 2</a:t>
            </a:r>
          </a:p>
          <a:p>
            <a:pPr algn="l"/>
            <a:r>
              <a:rPr sz="1000">
                <a:solidFill>
                  <a:srgbClr val="20242E"/>
                </a:solidFill>
                <a:latin typeface="Inter"/>
              </a:rPr>
              <a:t>¿Dónde estabais a las cinco?</a:t>
            </a:r>
          </a:p>
        </p:txBody>
      </p:sp>
      <p:sp>
        <p:nvSpPr>
          <p:cNvPr id="17" name="Onthul 1"/>
          <p:cNvSpPr/>
          <p:nvPr/>
        </p:nvSpPr>
        <p:spPr>
          <a:xfrm>
            <a:off x="4355592" y="3547872"/>
            <a:ext cx="3477768" cy="237744"/>
          </a:xfrm>
          <a:prstGeom prst="roundRect">
            <a:avLst>
              <a:gd name="adj" fmla="val 20000"/>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nthulTxt 1"/>
          <p:cNvSpPr txBox="1"/>
          <p:nvPr/>
        </p:nvSpPr>
        <p:spPr>
          <a:xfrm>
            <a:off x="4373880" y="3547872"/>
            <a:ext cx="3441192" cy="237744"/>
          </a:xfrm>
          <a:prstGeom prst="rect">
            <a:avLst/>
          </a:prstGeom>
          <a:noFill/>
        </p:spPr>
        <p:txBody>
          <a:bodyPr wrap="square" anchor="ctr" lIns="45720" rIns="45720" tIns="27432" bIns="27432">
            <a:normAutofit/>
          </a:bodyPr>
          <a:lstStyle/>
          <a:p>
            <a:pPr algn="l"/>
            <a:r>
              <a:rPr sz="850" b="1">
                <a:solidFill>
                  <a:srgbClr val="157355"/>
                </a:solidFill>
                <a:latin typeface="Inter"/>
              </a:rPr>
              <a:t>plaats</a:t>
            </a:r>
          </a:p>
        </p:txBody>
      </p:sp>
      <p:sp>
        <p:nvSpPr>
          <p:cNvPr id="19" name="Tarjeta 2"/>
          <p:cNvSpPr/>
          <p:nvPr/>
        </p:nvSpPr>
        <p:spPr>
          <a:xfrm>
            <a:off x="8071104" y="2670048"/>
            <a:ext cx="3660648" cy="1170432"/>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arjetaTxt 2"/>
          <p:cNvSpPr txBox="1"/>
          <p:nvPr/>
        </p:nvSpPr>
        <p:spPr>
          <a:xfrm>
            <a:off x="8162544" y="2724912"/>
            <a:ext cx="3477768" cy="859536"/>
          </a:xfrm>
          <a:prstGeom prst="rect">
            <a:avLst/>
          </a:prstGeom>
          <a:noFill/>
        </p:spPr>
        <p:txBody>
          <a:bodyPr wrap="square" anchor="t" lIns="45720" rIns="45720" tIns="27432" bIns="27432">
            <a:normAutofit/>
          </a:bodyPr>
          <a:lstStyle/>
          <a:p>
            <a:pPr algn="l"/>
            <a:r>
              <a:rPr sz="1100" b="1">
                <a:solidFill>
                  <a:srgbClr val="157355"/>
                </a:solidFill>
                <a:latin typeface="Bricolage Grotesque"/>
              </a:rPr>
              <a:t>Pregunta 3</a:t>
            </a:r>
          </a:p>
          <a:p>
            <a:pPr algn="l"/>
            <a:r>
              <a:rPr sz="1000">
                <a:solidFill>
                  <a:srgbClr val="20242E"/>
                </a:solidFill>
                <a:latin typeface="Inter"/>
              </a:rPr>
              <a:t>¿Qué hacíais a las seis?</a:t>
            </a:r>
          </a:p>
        </p:txBody>
      </p:sp>
      <p:sp>
        <p:nvSpPr>
          <p:cNvPr id="21" name="Onthul 2"/>
          <p:cNvSpPr/>
          <p:nvPr/>
        </p:nvSpPr>
        <p:spPr>
          <a:xfrm>
            <a:off x="8162544" y="3547872"/>
            <a:ext cx="3477768" cy="237744"/>
          </a:xfrm>
          <a:prstGeom prst="roundRect">
            <a:avLst>
              <a:gd name="adj" fmla="val 20000"/>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nthulTxt 2"/>
          <p:cNvSpPr txBox="1"/>
          <p:nvPr/>
        </p:nvSpPr>
        <p:spPr>
          <a:xfrm>
            <a:off x="8180832" y="3547872"/>
            <a:ext cx="3441192" cy="237744"/>
          </a:xfrm>
          <a:prstGeom prst="rect">
            <a:avLst/>
          </a:prstGeom>
          <a:noFill/>
        </p:spPr>
        <p:txBody>
          <a:bodyPr wrap="square" anchor="ctr" lIns="45720" rIns="45720" tIns="27432" bIns="27432">
            <a:normAutofit/>
          </a:bodyPr>
          <a:lstStyle/>
          <a:p>
            <a:pPr algn="l"/>
            <a:r>
              <a:rPr sz="850" b="1">
                <a:solidFill>
                  <a:srgbClr val="157355"/>
                </a:solidFill>
                <a:latin typeface="Inter"/>
              </a:rPr>
              <a:t>bezigheid</a:t>
            </a:r>
          </a:p>
        </p:txBody>
      </p:sp>
      <p:sp>
        <p:nvSpPr>
          <p:cNvPr id="23" name="Tarjeta 3"/>
          <p:cNvSpPr/>
          <p:nvPr/>
        </p:nvSpPr>
        <p:spPr>
          <a:xfrm>
            <a:off x="457200" y="3968496"/>
            <a:ext cx="3660648" cy="1170432"/>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arjetaTxt 3"/>
          <p:cNvSpPr txBox="1"/>
          <p:nvPr/>
        </p:nvSpPr>
        <p:spPr>
          <a:xfrm>
            <a:off x="548640" y="4023360"/>
            <a:ext cx="3477768" cy="859536"/>
          </a:xfrm>
          <a:prstGeom prst="rect">
            <a:avLst/>
          </a:prstGeom>
          <a:noFill/>
        </p:spPr>
        <p:txBody>
          <a:bodyPr wrap="square" anchor="t" lIns="45720" rIns="45720" tIns="27432" bIns="27432">
            <a:normAutofit/>
          </a:bodyPr>
          <a:lstStyle/>
          <a:p>
            <a:pPr algn="l"/>
            <a:r>
              <a:rPr sz="1100" b="1">
                <a:solidFill>
                  <a:srgbClr val="157355"/>
                </a:solidFill>
                <a:latin typeface="Bricolage Grotesque"/>
              </a:rPr>
              <a:t>Pregunta 4</a:t>
            </a:r>
          </a:p>
          <a:p>
            <a:pPr algn="l"/>
            <a:r>
              <a:rPr sz="1000">
                <a:solidFill>
                  <a:srgbClr val="20242E"/>
                </a:solidFill>
                <a:latin typeface="Inter"/>
              </a:rPr>
              <a:t>¿A qué hora volvisteis a casa?</a:t>
            </a:r>
          </a:p>
        </p:txBody>
      </p:sp>
      <p:sp>
        <p:nvSpPr>
          <p:cNvPr id="25" name="Onthul 3"/>
          <p:cNvSpPr/>
          <p:nvPr/>
        </p:nvSpPr>
        <p:spPr>
          <a:xfrm>
            <a:off x="548640" y="4846320"/>
            <a:ext cx="3477768" cy="237744"/>
          </a:xfrm>
          <a:prstGeom prst="roundRect">
            <a:avLst>
              <a:gd name="adj" fmla="val 20000"/>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nthulTxt 3"/>
          <p:cNvSpPr txBox="1"/>
          <p:nvPr/>
        </p:nvSpPr>
        <p:spPr>
          <a:xfrm>
            <a:off x="566928" y="4846320"/>
            <a:ext cx="3441192" cy="237744"/>
          </a:xfrm>
          <a:prstGeom prst="rect">
            <a:avLst/>
          </a:prstGeom>
          <a:noFill/>
        </p:spPr>
        <p:txBody>
          <a:bodyPr wrap="square" anchor="ctr" lIns="45720" rIns="45720" tIns="27432" bIns="27432">
            <a:normAutofit/>
          </a:bodyPr>
          <a:lstStyle/>
          <a:p>
            <a:pPr algn="l"/>
            <a:r>
              <a:rPr sz="850" b="1">
                <a:solidFill>
                  <a:srgbClr val="157355"/>
                </a:solidFill>
                <a:latin typeface="Inter"/>
              </a:rPr>
              <a:t>terugkeer</a:t>
            </a:r>
          </a:p>
        </p:txBody>
      </p:sp>
      <p:sp>
        <p:nvSpPr>
          <p:cNvPr id="27" name="Tarjeta 4"/>
          <p:cNvSpPr/>
          <p:nvPr/>
        </p:nvSpPr>
        <p:spPr>
          <a:xfrm>
            <a:off x="4264152" y="3968496"/>
            <a:ext cx="3660648" cy="1170432"/>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arjetaTxt 4"/>
          <p:cNvSpPr txBox="1"/>
          <p:nvPr/>
        </p:nvSpPr>
        <p:spPr>
          <a:xfrm>
            <a:off x="4355592" y="4023360"/>
            <a:ext cx="3477768" cy="859536"/>
          </a:xfrm>
          <a:prstGeom prst="rect">
            <a:avLst/>
          </a:prstGeom>
          <a:noFill/>
        </p:spPr>
        <p:txBody>
          <a:bodyPr wrap="square" anchor="t" lIns="45720" rIns="45720" tIns="27432" bIns="27432">
            <a:normAutofit/>
          </a:bodyPr>
          <a:lstStyle/>
          <a:p>
            <a:pPr algn="l"/>
            <a:r>
              <a:rPr sz="1100" b="1">
                <a:solidFill>
                  <a:srgbClr val="157355"/>
                </a:solidFill>
                <a:latin typeface="Bricolage Grotesque"/>
              </a:rPr>
              <a:t>Pregunta 5</a:t>
            </a:r>
          </a:p>
          <a:p>
            <a:pPr algn="l"/>
            <a:r>
              <a:rPr sz="1000">
                <a:solidFill>
                  <a:srgbClr val="20242E"/>
                </a:solidFill>
                <a:latin typeface="Inter"/>
              </a:rPr>
              <a:t>¿Con quién estabais?</a:t>
            </a:r>
          </a:p>
        </p:txBody>
      </p:sp>
      <p:sp>
        <p:nvSpPr>
          <p:cNvPr id="29" name="Onthul 4"/>
          <p:cNvSpPr/>
          <p:nvPr/>
        </p:nvSpPr>
        <p:spPr>
          <a:xfrm>
            <a:off x="4355592" y="4846320"/>
            <a:ext cx="3477768" cy="237744"/>
          </a:xfrm>
          <a:prstGeom prst="roundRect">
            <a:avLst>
              <a:gd name="adj" fmla="val 20000"/>
            </a:avLst>
          </a:prstGeom>
          <a:solidFill>
            <a:srgbClr val="E4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nthulTxt 4"/>
          <p:cNvSpPr txBox="1"/>
          <p:nvPr/>
        </p:nvSpPr>
        <p:spPr>
          <a:xfrm>
            <a:off x="4373880" y="4846320"/>
            <a:ext cx="3441192" cy="237744"/>
          </a:xfrm>
          <a:prstGeom prst="rect">
            <a:avLst/>
          </a:prstGeom>
          <a:noFill/>
        </p:spPr>
        <p:txBody>
          <a:bodyPr wrap="square" anchor="ctr" lIns="45720" rIns="45720" tIns="27432" bIns="27432">
            <a:normAutofit/>
          </a:bodyPr>
          <a:lstStyle/>
          <a:p>
            <a:pPr algn="l"/>
            <a:r>
              <a:rPr sz="850" b="1">
                <a:solidFill>
                  <a:srgbClr val="157355"/>
                </a:solidFill>
                <a:latin typeface="Inter"/>
              </a:rPr>
              <a:t>getuige</a:t>
            </a:r>
          </a:p>
        </p:txBody>
      </p:sp>
      <p:sp>
        <p:nvSpPr>
          <p:cNvPr id="31" name="Tarjeta 5"/>
          <p:cNvSpPr/>
          <p:nvPr/>
        </p:nvSpPr>
        <p:spPr>
          <a:xfrm>
            <a:off x="8071104" y="3968496"/>
            <a:ext cx="3660648" cy="1170432"/>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arjetaTxt 5"/>
          <p:cNvSpPr txBox="1"/>
          <p:nvPr/>
        </p:nvSpPr>
        <p:spPr>
          <a:xfrm>
            <a:off x="8162544" y="4023360"/>
            <a:ext cx="3477768" cy="1060704"/>
          </a:xfrm>
          <a:prstGeom prst="rect">
            <a:avLst/>
          </a:prstGeom>
          <a:noFill/>
        </p:spPr>
        <p:txBody>
          <a:bodyPr wrap="square" anchor="t" lIns="45720" rIns="45720" tIns="27432" bIns="27432">
            <a:normAutofit/>
          </a:bodyPr>
          <a:lstStyle/>
          <a:p>
            <a:pPr algn="l"/>
            <a:r>
              <a:rPr sz="1100" b="1">
                <a:solidFill>
                  <a:srgbClr val="157355"/>
                </a:solidFill>
                <a:latin typeface="Bricolage Grotesque"/>
              </a:rPr>
              <a:t>marco</a:t>
            </a:r>
          </a:p>
          <a:p>
            <a:pPr algn="l"/>
            <a:r>
              <a:rPr sz="1000">
                <a:solidFill>
                  <a:srgbClr val="20242E"/>
                </a:solidFill>
                <a:latin typeface="Inter"/>
              </a:rPr>
              <a:t>A las … salimos del instituto.</a:t>
            </a:r>
          </a:p>
        </p:txBody>
      </p:sp>
      <p:sp>
        <p:nvSpPr>
          <p:cNvPr id="33" name="Tarjeta 6"/>
          <p:cNvSpPr/>
          <p:nvPr/>
        </p:nvSpPr>
        <p:spPr>
          <a:xfrm>
            <a:off x="457200" y="5266944"/>
            <a:ext cx="3660648" cy="1170432"/>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arjetaTxt 6"/>
          <p:cNvSpPr txBox="1"/>
          <p:nvPr/>
        </p:nvSpPr>
        <p:spPr>
          <a:xfrm>
            <a:off x="548640" y="5321808"/>
            <a:ext cx="3477768" cy="1060704"/>
          </a:xfrm>
          <a:prstGeom prst="rect">
            <a:avLst/>
          </a:prstGeom>
          <a:noFill/>
        </p:spPr>
        <p:txBody>
          <a:bodyPr wrap="square" anchor="t" lIns="45720" rIns="45720" tIns="27432" bIns="27432">
            <a:normAutofit/>
          </a:bodyPr>
          <a:lstStyle/>
          <a:p>
            <a:pPr algn="l"/>
            <a:r>
              <a:rPr sz="1100" b="1">
                <a:solidFill>
                  <a:srgbClr val="157355"/>
                </a:solidFill>
                <a:latin typeface="Bricolage Grotesque"/>
              </a:rPr>
              <a:t>marco</a:t>
            </a:r>
          </a:p>
          <a:p>
            <a:pPr algn="l"/>
            <a:r>
              <a:rPr sz="1000">
                <a:solidFill>
                  <a:srgbClr val="20242E"/>
                </a:solidFill>
                <a:latin typeface="Inter"/>
              </a:rPr>
              <a:t>A las … estamos en …</a:t>
            </a:r>
          </a:p>
        </p:txBody>
      </p:sp>
      <p:sp>
        <p:nvSpPr>
          <p:cNvPr id="35" name="Tarjeta 7"/>
          <p:cNvSpPr/>
          <p:nvPr/>
        </p:nvSpPr>
        <p:spPr>
          <a:xfrm>
            <a:off x="4264152" y="5266944"/>
            <a:ext cx="3660648" cy="1170432"/>
          </a:xfrm>
          <a:prstGeom prst="roundRect">
            <a:avLst>
              <a:gd name="adj" fmla="val 6000"/>
            </a:avLst>
          </a:prstGeom>
          <a:solidFill>
            <a:srgbClr val="FFFFFF"/>
          </a:solidFill>
          <a:ln w="12700">
            <a:solidFill>
              <a:srgbClr val="E4E3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arjetaTxt 7"/>
          <p:cNvSpPr txBox="1"/>
          <p:nvPr/>
        </p:nvSpPr>
        <p:spPr>
          <a:xfrm>
            <a:off x="4355592" y="5321808"/>
            <a:ext cx="3477768" cy="1060704"/>
          </a:xfrm>
          <a:prstGeom prst="rect">
            <a:avLst/>
          </a:prstGeom>
          <a:noFill/>
        </p:spPr>
        <p:txBody>
          <a:bodyPr wrap="square" anchor="t" lIns="45720" rIns="45720" tIns="27432" bIns="27432">
            <a:normAutofit/>
          </a:bodyPr>
          <a:lstStyle/>
          <a:p>
            <a:pPr algn="l"/>
            <a:r>
              <a:rPr sz="1100" b="1">
                <a:solidFill>
                  <a:srgbClr val="157355"/>
                </a:solidFill>
                <a:latin typeface="Bricolage Grotesque"/>
              </a:rPr>
              <a:t>marco</a:t>
            </a:r>
          </a:p>
          <a:p>
            <a:pPr algn="l"/>
            <a:r>
              <a:rPr sz="1000">
                <a:solidFill>
                  <a:srgbClr val="20242E"/>
                </a:solidFill>
                <a:latin typeface="Inter"/>
              </a:rPr>
              <a:t>Después vamos a … y volvemos a las …</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7" presetID="10" presetClass="entr" presetSubtype="0" fill="hold" grpId="0" nodeType="click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fade">
                                      <p:cBhvr>
                                        <p:cTn id="9" dur="500"/>
                                        <p:tgtEl>
                                          <p:spTgt spid="13"/>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500"/>
                                        <p:tgtEl>
                                          <p:spTgt spid="2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500"/>
                                        <p:tgtEl>
                                          <p:spTgt spid="2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