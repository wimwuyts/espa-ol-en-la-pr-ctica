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7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1.xml"/><Relationship Id="rId9" Type="http://schemas.openxmlformats.org/officeDocument/2006/relationships/slide" Target="slide12.xml"/><Relationship Id="rId10" Type="http://schemas.openxmlformats.org/officeDocument/2006/relationships/slide" Target="slide1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video" Target="https://www.youtube.com/embed/oDu5s6q4YKg" TargetMode="External"/><Relationship Id="rId4" Type="http://schemas.microsoft.com/office/2007/relationships/media" Target="https://www.youtube.com/embed/oDu5s6q4YKg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73152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323148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64550"/>
                </a:solidFill>
                <a:latin typeface="Inter"/>
              </a:rPr>
              <a:t>C4 · LA RUTA · EL DESPEGUE · PARADA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1124712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Bricolage Grotesque"/>
              </a:rPr>
              <a:t>La casa y los lugares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78992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¿Dónde está el bolso? </a:t>
            </a:r>
            <a:r>
              <a:rPr sz="1700" b="0" i="1">
                <a:solidFill>
                  <a:srgbClr val="FBEAEC"/>
                </a:solidFill>
                <a:latin typeface="Inter"/>
              </a:rPr>
              <a:t>— Está encima de la mesa.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FFFFFF"/>
                </a:solidFill>
                <a:latin typeface="Inter"/>
              </a:rPr>
              <a:t>De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kamers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van je huis benoemen en zeggen </a:t>
            </a:r>
            <a:r>
              <a:rPr sz="1600" b="1" i="0">
                <a:solidFill>
                  <a:srgbClr val="FFFFFF"/>
                </a:solidFill>
                <a:latin typeface="Inter"/>
              </a:rPr>
              <a:t>waar alles staat</a:t>
            </a:r>
            <a:r>
              <a:rPr sz="1600" b="0" i="0">
                <a:solidFill>
                  <a:srgbClr val="FFFFFF"/>
                </a:solidFill>
                <a:latin typeface="Inter"/>
              </a:rPr>
              <a:t> (preposiciones · hay/está · ¿puedo?).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FBEAEC"/>
                </a:solidFill>
                <a:latin typeface="Inter"/>
              </a:rPr>
              <a:t>Survival in Spanish — describir la casa y situar las cosas.</a:t>
            </a:r>
          </a:p>
        </p:txBody>
      </p:sp>
      <p:pic>
        <p:nvPicPr>
          <p:cNvPr id="9" name="Picture 8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526280"/>
            <a:ext cx="1554480" cy="1554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800600"/>
            <a:ext cx="8229600" cy="1280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En esta unidad vas a…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Nombrar las habitaciones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la cocina · el salón · el dormitorio…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Usar preposiciones de lugar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encima de · debajo de · al lado del…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• Decir dónde está y pedir permiso 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hay/está · ¿puedo…? / ¿puedes…?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45537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MENÚ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vamos a hacer?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gaan we doen? — klik op een tegel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¡Escucha!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escena + chunks</a:t>
            </a:r>
          </a:p>
        </p:txBody>
      </p:sp>
      <p:sp>
        <p:nvSpPr>
          <p:cNvPr id="11" name="Rounded Rectangle 10">
            <a:hlinkClick action="ppaction://hlinksldjump" r:id="rId3"/>
          </p:cNvPr>
          <p:cNvSpPr/>
          <p:nvPr/>
        </p:nvSpPr>
        <p:spPr>
          <a:xfrm>
            <a:off x="3410712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Suena bien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b = v · llana/aguda</a:t>
            </a:r>
          </a:p>
        </p:txBody>
      </p:sp>
      <p:sp>
        <p:nvSpPr>
          <p:cNvPr id="14" name="Rounded Rectangle 13">
            <a:hlinkClick action="ppaction://hlinksldjump" r:id="rId4"/>
          </p:cNvPr>
          <p:cNvSpPr/>
          <p:nvPr/>
        </p:nvSpPr>
        <p:spPr>
          <a:xfrm>
            <a:off x="6318504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1384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Kit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la casa · habitaciones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9226296" y="155448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166420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12140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Gramática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preposiciones · hay/está · poder</a:t>
            </a:r>
          </a:p>
        </p:txBody>
      </p:sp>
      <p:sp>
        <p:nvSpPr>
          <p:cNvPr id="20" name="Rounded Rectangle 19">
            <a:hlinkClick action="ppaction://hlinksldjump" r:id="rId6"/>
          </p:cNvPr>
          <p:cNvSpPr/>
          <p:nvPr/>
        </p:nvSpPr>
        <p:spPr>
          <a:xfrm>
            <a:off x="502920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Práctica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oefenen samen</a:t>
            </a:r>
          </a:p>
        </p:txBody>
      </p:sp>
      <p:sp>
        <p:nvSpPr>
          <p:cNvPr id="23" name="Rounded Rectangle 22">
            <a:hlinkClick action="ppaction://hlinksldjump" r:id="rId7"/>
          </p:cNvPr>
          <p:cNvSpPr/>
          <p:nvPr/>
        </p:nvSpPr>
        <p:spPr>
          <a:xfrm>
            <a:off x="3410712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93592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Hablar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describe una habitación</a:t>
            </a:r>
          </a:p>
        </p:txBody>
      </p:sp>
      <p:sp>
        <p:nvSpPr>
          <p:cNvPr id="26" name="Rounded Rectangle 25">
            <a:hlinkClick action="ppaction://hlinksldjump" r:id="rId8"/>
          </p:cNvPr>
          <p:cNvSpPr/>
          <p:nvPr/>
        </p:nvSpPr>
        <p:spPr>
          <a:xfrm>
            <a:off x="6318504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1384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Música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casas del mundo hispano</a:t>
            </a:r>
          </a:p>
        </p:txBody>
      </p:sp>
      <p:sp>
        <p:nvSpPr>
          <p:cNvPr id="29" name="Rounded Rectangle 28">
            <a:hlinkClick action="ppaction://hlinksldjump" r:id="rId9"/>
          </p:cNvPr>
          <p:cNvSpPr/>
          <p:nvPr/>
        </p:nvSpPr>
        <p:spPr>
          <a:xfrm>
            <a:off x="9226296" y="278892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09176" y="289864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9176" y="335584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Tarea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Plano de mi casa</a:t>
            </a:r>
          </a:p>
        </p:txBody>
      </p:sp>
      <p:sp>
        <p:nvSpPr>
          <p:cNvPr id="32" name="Rounded Rectangle 31">
            <a:hlinkClick action="ppaction://hlinksldjump" r:id="rId10"/>
          </p:cNvPr>
          <p:cNvSpPr/>
          <p:nvPr/>
        </p:nvSpPr>
        <p:spPr>
          <a:xfrm>
            <a:off x="502920" y="4023360"/>
            <a:ext cx="274320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133088"/>
            <a:ext cx="6400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D64550"/>
                </a:solidFill>
                <a:latin typeface="Bricolage Grotesque"/>
              </a:rP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590288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Repaso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wat kun je nu?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4068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Consejo · Tip.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Teken je huis, benoem de kamers en zeg waar alles staat. Durf raden — fouten maken hoort erbij.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§1 · ¡ESCUCHA!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Bekijk la escena y escucha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Kijk &amp; luister — Julio is nerveus: María's spullen liggen overal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676656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64592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162763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Necesito café urgente, tengo mucho sueño. Estoy nervioso.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6272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15798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María deja su crema en el cuarto de baño, se olvida el bolso en la cocina.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706624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68833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Hay cosas encima de todas las sillas, debajo de la cama.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236976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3218688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Dentro del frigorífico tengo tres botellas de leche.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67328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3749040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Ella quiere una casa, un nido.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297680"/>
            <a:ext cx="539496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Julio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279392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¿Puedo fumar?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2803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809744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Aquí dentro no, pero puedes ir fuera.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3583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FFFFFF"/>
                </a:solidFill>
                <a:latin typeface="Inter"/>
              </a:rPr>
              <a:t>Fernando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5340096"/>
            <a:ext cx="49377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sé qué hace con Paul. Un empresario inglés con mucho éxito.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417320"/>
            <a:ext cx="4206240" cy="22402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79" y="1572768"/>
            <a:ext cx="3749039" cy="2011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Chunks para llevar 🎒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encima de · debajo de · dentro del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la cocina · el cuarto de baño · la cama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¿dónde está…? · está en… · hay…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¿puedo…? · puedes ir fuera · aquí 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767328"/>
            <a:ext cx="42062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A8323B"/>
                </a:solidFill>
                <a:latin typeface="Bricolage Grotesque"/>
              </a:rPr>
              <a:t>🎬 Sitcom · Episodio 6 — klik om af te spelen</a:t>
            </a:r>
          </a:p>
        </p:txBody>
      </p:sp>
      <p:pic>
        <p:nvPicPr>
          <p:cNvPr id="29" name="Picture 28" descr="video_poster_U6.png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tretch>
            <a:fillRect/>
          </a:stretch>
        </p:blipFill>
        <p:spPr>
          <a:xfrm>
            <a:off x="7498079" y="4069080"/>
            <a:ext cx="4206240" cy="233172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9601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SUENA BIEN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b = la v · llana ↔ aguda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 en v klinken hetzelfde &amp; waar ligt de klemtoon — luister en spreek na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b y la v · un solo sonido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bien · vino · bueno · vivir · beber · ventana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b en v klinken nét hetzelfde (betacismo) — één klank.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532120" cy="1965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463040"/>
            <a:ext cx="5532120" cy="128016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Llana ↔ aguda · la fuerza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148840"/>
            <a:ext cx="512064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ca·SA · co·CI·na (llana)  ↔  sa·LÓN · so·FÁ (aguda)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llana = klemtoon voorlaatste · aguda = laatste lettergreep.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566160"/>
            <a:ext cx="11201400" cy="77724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Bricolage Grotesque"/>
              </a:rPr>
              <a:t>¡Ojo!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ba</a:t>
            </a:r>
            <a:r>
              <a:rPr sz="1300" b="1" i="0">
                <a:solidFill>
                  <a:srgbClr val="A8323B"/>
                </a:solidFill>
                <a:latin typeface="Inter"/>
              </a:rPr>
              <a:t>c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 (imperiaal) klinkt als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v</a:t>
            </a:r>
            <a:r>
              <a:rPr sz="1300" b="0" i="0">
                <a:solidFill>
                  <a:srgbClr val="20242E"/>
                </a:solidFill>
                <a:latin typeface="Inter"/>
              </a:rPr>
              <a:t>aca (koe) ·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b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ien = </a:t>
            </a:r>
            <a:r>
              <a:rPr sz="1300" b="1" i="0">
                <a:solidFill>
                  <a:srgbClr val="A8323B"/>
                </a:solidFill>
                <a:latin typeface="Inter"/>
              </a:rPr>
              <a:t>v</a:t>
            </a:r>
            <a:r>
              <a:rPr sz="1300" b="0" i="0">
                <a:solidFill>
                  <a:srgbClr val="20242E"/>
                </a:solidFill>
                <a:latin typeface="Inter"/>
              </a:rPr>
              <a:t>ien-klank. De klank is gelijk — enkel de spelling verschilt!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La tilde · waar ligt de klemtoon? — het accent staat op de sterkste lettergreep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1115568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20242E"/>
                </a:solidFill>
                <a:latin typeface="Bricolage Grotesque"/>
              </a:rPr>
              <a:t>ca·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SA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so·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FÁ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sa·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LÓN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      co·</a:t>
            </a:r>
            <a:r>
              <a:rPr sz="2000" b="1" i="0">
                <a:solidFill>
                  <a:srgbClr val="D64550"/>
                </a:solidFill>
                <a:latin typeface="Bricolage Grotesque"/>
              </a:rPr>
              <a:t>CI</a:t>
            </a:r>
            <a:r>
              <a:rPr sz="2000" b="0" i="0">
                <a:solidFill>
                  <a:srgbClr val="20242E"/>
                </a:solidFill>
                <a:latin typeface="Bricolage Grotesque"/>
              </a:rPr>
              <a:t>·na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🔊 Oefen de klanken online op de hub (tabblad Kit · Suena bien).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casa · habitaciones y muebles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De kamers, de meubels &amp; de plaats-woorden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Las habitaciones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cocina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keuken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salón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woonkamer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dormitorio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slaapkamer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cuarto de baño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badkamer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entrada · el pasillo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hal · gang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En casa · muebles y cosas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cama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sofá · la mesa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bank · tafel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armario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kast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el frigorífico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de koelkast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la ventana · la puerta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raam · deur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1463040"/>
            <a:ext cx="36576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627632"/>
            <a:ext cx="329184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¿Dónde está? · preposiciones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240280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encima de · debajo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op/boven · onder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dentro de · entre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in/binnen · tussen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57016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al lado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naast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15384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delante de · detrás de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voor · achter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73752"/>
            <a:ext cx="320040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aquí · ahí · fuera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· daar · buiten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§2 ·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Situar · ¿dónde está? &amp; pedir permiso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Zeggen waar iets is &amp; om toestemming vragen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Situar · ¿dónde está?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¿Dónde está…?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waar is…?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Está en…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is in/op…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Hay … en la cocina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er is … in de keuken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aquí · ahí · fuera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· daar · buiten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está encima de…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het staat op…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63040"/>
            <a:ext cx="5486400" cy="4480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627632"/>
            <a:ext cx="502920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A8323B"/>
                </a:solidFill>
                <a:latin typeface="Bricolage Grotesque"/>
              </a:rPr>
              <a:t>Pedir permiso · poder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286000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¿Puedo…?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mag/kan ik…?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944368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¿Puedes…?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kan/mag jij…?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02736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Sí, puedes…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ja, je mag…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261104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Aquí no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hier niet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919472"/>
            <a:ext cx="49377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Inter"/>
              </a:rPr>
              <a:t>puedes ir fuera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je mag naar buiten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5212080"/>
            <a:ext cx="50292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de + el = del (encima del sofá) · poder + hele werkwoord (fumar, no fumo).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Las preposiciones de lugar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Plaats-woorden: zeggen waar iets is (turquoise)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280160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07361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1953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3549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8141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86352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50944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2540" y="1316736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47132" y="1271016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1737360"/>
            <a:ext cx="6949440" cy="37490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874519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¿Dónde está? — de plaats-woorden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331720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encima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op / boven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2331720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debajo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onder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2770632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dentro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in / binnen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2770632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al lado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naast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09544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delante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voor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09544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detrás de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achter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48456"/>
            <a:ext cx="3291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E9E97"/>
                </a:solidFill>
                <a:latin typeface="Inter"/>
              </a:rPr>
              <a:t>entre 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tussen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1737360"/>
            <a:ext cx="4023360" cy="3749039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09560" y="1874519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de + el = del · a + el = 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2468880"/>
            <a:ext cx="3566160" cy="2560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encima </a:t>
            </a:r>
            <a:r>
              <a:rPr sz="1400" b="1" i="0">
                <a:solidFill>
                  <a:srgbClr val="0E9E97"/>
                </a:solidFill>
                <a:latin typeface="Inter"/>
              </a:rPr>
              <a:t>de + el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sofá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→ encima </a:t>
            </a:r>
            <a:r>
              <a:rPr sz="1500" b="1" i="0">
                <a:solidFill>
                  <a:srgbClr val="0E9E97"/>
                </a:solidFill>
                <a:latin typeface="Inter"/>
              </a:rPr>
              <a:t>del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sofá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al lado </a:t>
            </a:r>
            <a:r>
              <a:rPr sz="1400" b="1" i="0">
                <a:solidFill>
                  <a:srgbClr val="0E9E97"/>
                </a:solidFill>
                <a:latin typeface="Inter"/>
              </a:rPr>
              <a:t>a + el</a:t>
            </a:r>
            <a:r>
              <a:rPr sz="1400" b="0" i="0">
                <a:solidFill>
                  <a:srgbClr val="20242E"/>
                </a:solidFill>
                <a:latin typeface="Inter"/>
              </a:rPr>
              <a:t> armario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20242E"/>
                </a:solidFill>
                <a:latin typeface="Inter"/>
              </a:rPr>
              <a:t>→ al lado </a:t>
            </a:r>
            <a:r>
              <a:rPr sz="1500" b="1" i="0">
                <a:solidFill>
                  <a:srgbClr val="0E9E97"/>
                </a:solidFill>
                <a:latin typeface="Inter"/>
              </a:rPr>
              <a:t>del</a:t>
            </a:r>
            <a:r>
              <a:rPr sz="1500" b="0" i="0">
                <a:solidFill>
                  <a:srgbClr val="20242E"/>
                </a:solidFill>
                <a:latin typeface="Inter"/>
              </a:rPr>
              <a:t> armario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70916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C2626"/>
                </a:solidFill>
                <a:latin typeface="Inter"/>
              </a:rPr>
              <a:t>¡Ojo! </a:t>
            </a:r>
            <a:r>
              <a:rPr sz="1150" b="0" i="1">
                <a:solidFill>
                  <a:srgbClr val="20242E"/>
                </a:solidFill>
                <a:latin typeface="Inter"/>
              </a:rPr>
              <a:t>nooit «de el» of «a el».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hay vs. está · poder (¿puedo?)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Iets nieuw → hay · waar dat ding staat → está · toestemming → poder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08760"/>
            <a:ext cx="694944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64922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hay vs. está — er is / het staat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hay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iets nieuw (bestaat er)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En el salón hay un sofá.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24328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¿dónde está…?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waar is dat bekende ding?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¿Dónde está el bolso?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9816"/>
            <a:ext cx="65836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EA7317"/>
                </a:solidFill>
                <a:latin typeface="Inter"/>
              </a:rPr>
              <a:t>está / están 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het staat / ze staan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  Está encima de la mesa.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508760"/>
            <a:ext cx="4023360" cy="22860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1645920"/>
            <a:ext cx="3566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8323B"/>
                </a:solidFill>
                <a:latin typeface="Bricolage Grotesque"/>
              </a:rPr>
              <a:t>poder · pedir permiso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148840"/>
            <a:ext cx="356616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400" b="1" i="0">
                <a:solidFill>
                  <a:srgbClr val="EA7317"/>
                </a:solidFill>
                <a:latin typeface="Inter"/>
              </a:rPr>
              <a:t>Puedo</a:t>
            </a:r>
            <a:r>
              <a:rPr sz="1400" b="0" i="0">
                <a:solidFill>
                  <a:srgbClr val="20242E"/>
                </a:solidFill>
                <a:latin typeface="Inter"/>
              </a:rPr>
              <a:t>…?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ik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0242E"/>
                </a:solidFill>
                <a:latin typeface="Inter"/>
              </a:rPr>
              <a:t>¿</a:t>
            </a:r>
            <a:r>
              <a:rPr sz="1400" b="1" i="0">
                <a:solidFill>
                  <a:srgbClr val="EA7317"/>
                </a:solidFill>
                <a:latin typeface="Inter"/>
              </a:rPr>
              <a:t>Puedes</a:t>
            </a:r>
            <a:r>
              <a:rPr sz="1400" b="0" i="0">
                <a:solidFill>
                  <a:srgbClr val="20242E"/>
                </a:solidFill>
                <a:latin typeface="Inter"/>
              </a:rPr>
              <a:t>…?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jij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+ hele werkwoord</a:t>
            </a:r>
            <a:r>
              <a:rPr sz="1100" b="0" i="1">
                <a:solidFill>
                  <a:srgbClr val="6A6E78"/>
                </a:solidFill>
                <a:latin typeface="Inter"/>
              </a:rPr>
              <a:t> (fumar…)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6A6E78"/>
                </a:solidFill>
                <a:latin typeface="Inter"/>
              </a:rPr>
              <a:t>Sí, puedes · Aquí 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11201400" cy="155448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Completa · vul aan (klik voor de oplossing):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¿Dónde ___ el bolso? — ___ encima del sofá.  ¿___ mirar? Sí.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09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A8323B"/>
                </a:solidFill>
                <a:latin typeface="Inter"/>
              </a:rPr>
              <a:t>está · Está · Puedo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23" name="Rounded Rectangle 2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PRÁCTICA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diálogo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Vul samen aan — klik voor de oplossing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4114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¿Dónde ___ mi bolso?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___ encima del sofá.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¿Y las llaves? — Están ___ de la mesa.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649224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— ¿Puedo mirar en la cocina? — Sí, ___.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4023360" cy="3657600"/>
          </a:xfrm>
          <a:prstGeom prst="roundRect">
            <a:avLst>
              <a:gd name="adj" fmla="val 6000"/>
            </a:avLst>
          </a:prstGeom>
          <a:solidFill>
            <a:srgbClr val="FBEAEC"/>
          </a:solidFill>
          <a:ln w="19050">
            <a:solidFill>
              <a:srgbClr val="D64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1. está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2. Está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3. debajo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>
                <a:solidFill>
                  <a:srgbClr val="A8323B"/>
                </a:solidFill>
                <a:latin typeface="Inter"/>
              </a:rPr>
              <a:t>4. puedes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609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⏭  Saltar</a:t>
            </a:r>
          </a:p>
        </p:txBody>
      </p:sp>
      <p:sp>
        <p:nvSpPr>
          <p:cNvPr id="18" name="Rounded Rectangle 1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A8323B"/>
                </a:solidFill>
                <a:latin typeface="Inter"/>
              </a:rPr>
              <a:t>⌂  Menú (dia 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04424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§3 · HABLAR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Describe una habitación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Beschrijf een kamer: wat er is &amp; waar het staat — sin leer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6949440" cy="31089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649224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Modelo · zeg dit hardop: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«— En el salón hay un sofá.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Está encima de una alfombra,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>
                <a:solidFill>
                  <a:srgbClr val="20242E"/>
                </a:solidFill>
                <a:latin typeface="Inter"/>
              </a:rPr>
              <a:t>al lado de la ventana.»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554480"/>
            <a:ext cx="402336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9560" y="1783080"/>
            <a:ext cx="3566160" cy="2743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¿Cómo? · Werkvorm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Kies een kamer (la cocina, el salón…).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¿Qué hay? «En … hay un/una…».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¿Dónde está? «Está + preposición».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Wissel van rol (3×).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Interactie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= beurt nemen, aanwijzen en reageren. Begrijp je iets niet? Zeg: «¿Cómo? / Otra vez, por favor.»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CULTURA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Casas del mundo hispano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Typische huizen &amp; plekken + muziek die jullie kennen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Perla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Shakira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Antología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600200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75904" y="1783080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Juanes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La Camisa Negra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🇨🇴 Colombia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Aitana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Los Ángeles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3712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Luis Fonsi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Despacito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🇵🇷 P. Rico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3136392"/>
            <a:ext cx="3657600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75904" y="3319272"/>
            <a:ext cx="329184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0242E"/>
                </a:solidFill>
                <a:latin typeface="Bricolage Grotesque"/>
              </a:rPr>
              <a:t>Rosalía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🎵 TKN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8323B"/>
                </a:solidFill>
                <a:latin typeface="Inter"/>
              </a:rPr>
              <a:t>🇪🇸 España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5029200"/>
            <a:ext cx="11201400" cy="96012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🏠 Casas y lugares típicos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(el patio andaluz · la casa colonial de Cartagena · el balcón · la hamaca del Caribe). La playlist + LyricsTraining op de digitale hub → tabblad Música.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§5 · TAREA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Plano de mi casa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Teken je plattegrond, benoem de kamers &amp; zeg waar alles staat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54480"/>
            <a:ext cx="5486400" cy="502920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27632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Bricolage Grotesque"/>
              </a:rPr>
              <a:t>PLANO · noteer je frames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86000"/>
            <a:ext cx="4937760" cy="22860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🏠 Aquí está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(la cocina · el salón…).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📦 En … hay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(un sofá · una cama…).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Inter"/>
              </a:rPr>
              <a:t>📍 Está </a:t>
            </a:r>
            <a:r>
              <a:rPr sz="1400" b="0" i="0">
                <a:solidFill>
                  <a:srgbClr val="E4E3DE"/>
                </a:solidFill>
                <a:latin typeface="Inter"/>
              </a:rPr>
              <a:t>____ (encima de · al lado del…).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737360"/>
            <a:ext cx="5029200" cy="2834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Los pasos · stappen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1. Dibuja el plano (4 habitaciones).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2. Etiqueta: «Aquí está la cocina…».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3. Sitúa: «hay un sofá · está encima de…».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4. Preséntalo a la clase — zónder af te lezen.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🏁 Klaar als… </a:t>
            </a:r>
            <a:r>
              <a:rPr sz="1250" b="0" i="0">
                <a:solidFill>
                  <a:srgbClr val="20242E"/>
                </a:solidFill>
                <a:latin typeface="Inter"/>
              </a:rPr>
              <a:t>je 4 kamers benoemt en per kamer zegt wat er is («hay…») én waar het staat (preposición + del) — zónder af te lezen.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FUNCIONES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Mis funciones comunicativas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Lo que ya sé hacer — crece cada unidad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1556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Mi repertorio: 14 / 14 funciones — </a:t>
            </a:r>
            <a:r>
              <a:rPr sz="1200" b="0" i="0">
                <a:solidFill>
                  <a:srgbClr val="6A6E78"/>
                </a:solidFill>
                <a:latin typeface="Inter"/>
              </a:rPr>
              <a:t>no solo palabras: lo que puedo HACER con el español.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Saludar y despedirse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198516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Hola · Adiós · Hasta luego · Buenos días / tardes / noches · ¡Buenas! · Hasta mañana · ¡Nos vemos!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6420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74650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Presentarse y presentar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198516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Me llamo… · (Yo) soy… · Encantado/a · Soy de… (país) · Soy español/a · mexicano/a · belga · Esta es mi madre · Este es mi padre · Es mi hermano/a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34086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42316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y dar información personal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6181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 te llamas? · ¿Y tú? · ¿De dónde eres? · ¿De qué país? · ¿Qué idiomas hablas?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34086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242316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Reaccionar con cortesía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266181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Por favor · Gracias · Muchas gracias · De nada · Perdona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017520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309981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Preguntar y decir cómo estoy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338474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tal? · ¿Cómo estás? · Estoy bien / cansado-a / ocupado-a · Regular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017520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099816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algo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338474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…, por favor · ¿Me da…?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3694176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77647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Contar (números 0–20)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015130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uno · dos · tres · cinco · diez · veinte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694176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76472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Gestionar la comprensión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015130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¿Cómo? · Otra vez, por favor · ¿Puedes repetir? · Más despacio, por favor · No entiendo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4370832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445312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Hablar de la familia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" y="4691786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mi madre · mi padre · mi hermano/a · mi abuelo/a · el tío / la tía · la hermana de María (de + nombre)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370832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64808" y="4453128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Describir a alguien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64808" y="4691786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es alto/a · bajo/a · guapo/a · es simpático/a · divertido/a · inteligente · es muy… · un poco…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04748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" y="51297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Identificar objetos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" y="536844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¿Qué es esto? · Esto es un/una… · Esto son… (meervoud) · un libro · una mesa (el/la)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5047488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8" y="5129784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Decir qué hay y para qué sirve</a:t>
            </a:r>
            <a:r>
              <a:rPr sz="900" b="1" i="0">
                <a:solidFill>
                  <a:srgbClr val="A8323B"/>
                </a:solidFill>
                <a:latin typeface="Inter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64808" y="5368442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¿Hay…? · (No) hay… · Sí que hay… · … que sirve para + infinitivo · sirve para abrir · beber · descansar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72414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4088" y="580644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Ubicar cosas · decir dónde está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" y="604509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¿Dónde está…? · está en… · encima de · debajo de · dentro de · al lado de · delante de · detrás de · Hay … en la cocina · del (de+el)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63640" y="5724144"/>
            <a:ext cx="5394960" cy="530352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64808" y="5806440"/>
            <a:ext cx="49926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Bricolage Grotesque"/>
              </a:rPr>
              <a:t>Pedir y dar permiso</a:t>
            </a:r>
            <a:r>
              <a:rPr sz="900" b="1" i="0">
                <a:solidFill>
                  <a:srgbClr val="A8323B"/>
                </a:solidFill>
                <a:latin typeface="Inter"/>
              </a:rPr>
              <a:t>  ● NUEVA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64808" y="6045098"/>
            <a:ext cx="4992624" cy="265176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¿Puedo…? · ¿Puedes…? · Sí, puedes… · Aquí no · puedes ir fuera · ¿Puedo fumar? · ¿Puedes venir?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D64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A83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6236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D64550"/>
                </a:solidFill>
                <a:latin typeface="Inter"/>
              </a:rPr>
              <a:t>REPASO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FBEAEC"/>
                </a:solidFill>
                <a:latin typeface="Inter"/>
              </a:rPr>
              <a:t>Wat je nu kunt — semáforo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6949440" cy="4023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6492240" cy="3657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Zo zeg je waar iets 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42E"/>
                </a:solidFill>
                <a:latin typeface="Inter"/>
              </a:rPr>
              <a:t>¿Dónde está…? — Está encima de / debajo de / al lado del…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encima · debajo · dentro · al lado · delante · detrás · entre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de + el = del · a + el = al (al lado del armario)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20242E"/>
                </a:solidFill>
                <a:latin typeface="Inter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A8323B"/>
                </a:solidFill>
                <a:latin typeface="Bricolage Grotesque"/>
              </a:rPr>
              <a:t>hay vs. está · pedir permiso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hay = iets nieuw (er is…) · está = waar dat bekende ding staat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¿Puedo…? (ik) · ¿Puedes…? (jij) + hele werkwoord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la cocina · el salón · el dormitorio · el cuarto de baño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1554480"/>
            <a:ext cx="4023360" cy="4023360"/>
          </a:xfrm>
          <a:prstGeom prst="roundRect">
            <a:avLst>
              <a:gd name="adj" fmla="val 5500"/>
            </a:avLst>
          </a:prstGeom>
          <a:solidFill>
            <a:srgbClr val="FBEAEC"/>
          </a:solidFill>
          <a:ln w="15240">
            <a:solidFill>
              <a:srgbClr val="D64550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566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A8323B"/>
                </a:solidFill>
                <a:latin typeface="Bricolage Grotesque"/>
              </a:rPr>
              <a:t>Puedo… · Ik kan…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228600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de kamers benoemen (la cocina, el salón…)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2852928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preposiciones de lugar gebruiken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419856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de+el=del / a+el=al juist maken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3986784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hay / está juist kiezen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553712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🟢🟡🔴  </a:t>
            </a:r>
            <a:r>
              <a:rPr sz="1150" b="0" i="0">
                <a:solidFill>
                  <a:srgbClr val="20242E"/>
                </a:solidFill>
                <a:latin typeface="Inter"/>
              </a:rPr>
              <a:t>toestemming vragen (¿puedo? / ¿puedes?)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5120640"/>
            <a:ext cx="3566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A8323B"/>
                </a:solidFill>
                <a:latin typeface="Bricolage Grotesque"/>
              </a:rPr>
              <a:t>🎮 Repasa jugando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A6E78"/>
                </a:solidFill>
                <a:latin typeface="Inter"/>
              </a:rPr>
              <a:t>online op de hub · plano de mi casa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64550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U6 · LA CASA   ·   C4 · La Ruta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A8323B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0242E"/>
      </a:dk2>
      <a:lt2>
        <a:srgbClr val="F3EEE4"/>
      </a:lt2>
      <a:accent1>
        <a:srgbClr val="D64550"/>
      </a:accent1>
      <a:accent2>
        <a:srgbClr val="A8323B"/>
      </a:accent2>
      <a:accent3>
        <a:srgbClr val="C25A63"/>
      </a:accent3>
      <a:accent4>
        <a:srgbClr val="E08A90"/>
      </a:accent4>
      <a:accent5>
        <a:srgbClr val="9D2A33"/>
      </a:accent5>
      <a:accent6>
        <a:srgbClr val="FBEAEC"/>
      </a:accent6>
      <a:hlink>
        <a:srgbClr val="A8323B"/>
      </a:hlink>
      <a:folHlink>
        <a:srgbClr val="D6455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