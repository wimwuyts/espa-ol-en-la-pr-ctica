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TITLE. U0 = het reencuentro (huidige cohorte, C6+). Diagnostische repaso: geen heronderwijs, wél activeren. Doel: saludar/presentarse (formeel/informeel), el presente (regular + ser/estar/tener/ir/hacer/venir/dar), género &amp; concordancia, países/nacionalidades/lenguas, números. Kernvalstrik: soy ≠ estoy · porque = want én omdat · nacionalidades met kleine letter. Docentdeck = vrije navigatie + oplossing in notities; leerlingdeck (.pptx, F5) = elke klik onthult het volgende antwoord.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LESSON_MENU. Elke tegel = hyperlink; op elke oefendia staat ⌂ Menú terug. Richttijd 50 min. Kern = §2 el presente (diagnostisch). Kruisverwijzing print/HTML: «oefen online — 13 juegos + ~100 oefeningen».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VOCABULARY. Laat presentarse raden zónder de NL-gloss. Contrast tú/usted meteen. Online: flip cards + memoria del reencuentro + ¿formal o informal? (classify).</a:t>
            </a:r>
          </a:p>
          <a:p/>
          <a:p>
            <a:r>
              <a:t>— SOLUCIÓN (docent · presenter view) —</a:t>
            </a:r>
          </a:p>
          <a:p>
            <a:r>
              <a:t>Presentarte (3 werkwoorden): me llamo · soy (de) · tengo … años · vivo en · hablo …</a:t>
            </a:r>
          </a:p>
          <a:p>
            <a:r>
              <a:t>🔴 nacionaliteiten met kleine letter: soy belga, es española (niet Belga/Española).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(color-coding). Maak de raíz+terminación zichtbaar. Kleur nooit als enige drager. Online: «completa: el presente» (cloze) + vervoegingscirkel.</a:t>
            </a:r>
          </a:p>
          <a:p/>
          <a:p>
            <a:r>
              <a:t>— SOLUCIÓN (docent · presenter view) —</a:t>
            </a:r>
          </a:p>
          <a:p>
            <a:r>
              <a:t>Regla: raíz (habl-) + terminación. De terminación verandert met de persoon: yo hablo, tú hablas, él habla…</a:t>
            </a:r>
          </a:p>
          <a:p>
            <a:r>
              <a:t>De 7 onregelmatige (yo): soy · estoy · tengo · voy · hago · vengo · doy (vaak -oy of -go).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(reveal). Laat de klas de vorm roepen vóór de klik. Online: «completa: el presente» (cloze) + señala (yo/tú).</a:t>
            </a:r>
          </a:p>
          <a:p/>
          <a:p>
            <a:r>
              <a:t>— SOLUCIÓN (docent · presenter view) —</a:t>
            </a:r>
          </a:p>
          <a:p>
            <a:r>
              <a:t>yo → -o (hablo, vivo) · soy/estoy/tengo/voy/vengo/hago/doy. tú → -s · él/ella → -a/-e · nosotros → -mos · ellos → -n.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ser (reveal). Coro vóór de klik. soy/estoy is dé U0-valstrik; het volledige ser/estar-contrast is U1. Online: «¿soy o estoy?» (classify).</a:t>
            </a:r>
          </a:p>
          <a:p/>
          <a:p>
            <a:r>
              <a:t>— SOLUCIÓN (docent · presenter view) —</a:t>
            </a:r>
          </a:p>
          <a:p>
            <a:r>
              <a:t>Truc: permanent/eigenschap → ser (soy) · tijdelijk/plaats → estar (estoy). Contrast komt uitgebreid in U1.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género. Toon concordantie fysiek (el chico alto / la chica alta). Online: «¿el o la?» (classify) + concordancia Tetris.</a:t>
            </a:r>
          </a:p>
          <a:p/>
          <a:p>
            <a:r>
              <a:t>— SOLUCIÓN (docent · presenter view) —</a:t>
            </a:r>
          </a:p>
          <a:p>
            <a:r>
              <a:t>Regla: lidwoord + adjectief komen overeen in geslacht én getal. Uitzonderingen: el día/mapa/problema (m), la mano/foto (f).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género (retrieval). Klas roept el/la vóór de klik. Online: «¿el o la?» (classify).</a:t>
            </a:r>
          </a:p>
          <a:p/>
          <a:p>
            <a:r>
              <a:t>— SOLUCIÓN (docent · presenter view) —</a:t>
            </a:r>
          </a:p>
          <a:p>
            <a:r>
              <a:t>Valstrikken: -ma → m (el problema, el idioma) · la mano, la foto (f ondanks -o) · -dad → f (la ciudad).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 (lezen→schrijven-keten). Eerst globaal, dan scannen. Onthul antwoorden pas na de klas. Daarna: leerlingen zeggen met wie ze meer gemeen hebben (transfer → Tarea).</a:t>
            </a:r>
          </a:p>
          <a:p/>
          <a:p>
            <a:r>
              <a:t>— SOLUCIÓN (docent · presenter view) —</a:t>
            </a:r>
          </a:p>
          <a:p>
            <a:r>
              <a:t>🎯 Leesdoel: scannen naar datos (país, edad, lengua, carácter) — niet élk woord.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LISTENING (selectief → spreken). Lees elke presentatie voor (of TTS). Klas noteert país + edad; onthul per klik. Koppel meteen aan de eigen presentación.</a:t>
            </a:r>
          </a:p>
          <a:p/>
          <a:p>
            <a:r>
              <a:t>— SOLUCIÓN (docent · presenter view) —</a:t>
            </a:r>
          </a:p>
          <a:p>
            <a:r>
              <a:t>Modelo-audio (docent leest of TTS): «Hola, me llamo Lucía, soy de España. Tengo dieciséis años y soy alegre.» …</a:t>
            </a:r>
          </a:p>
          <a:p>
            <a:r>
              <a:t>Daarna spreken: elke leerling presenteert zich zoals het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soy/estoy (reveal). Coro vóór de klik. Diagnostisch: enkel yo-vormen. Online: «¿soy o estoy?» (classify).</a:t>
            </a:r>
          </a:p>
          <a:p/>
          <a:p>
            <a:r>
              <a:t>— SOLUCIÓN (docent · presenter view) —</a:t>
            </a:r>
          </a:p>
          <a:p>
            <a:r>
              <a:t>ser (soy): herkomst · nationaliteit · beroep · karakter. estar (estoy): plaats · gevoel · toestand.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SPEAKING (interactie). Automatiseer presentarse in rondes met afbouwende steun. Online: recorder (opname + zelfevaluatie). Print blijft bruikbaar zonder opname.</a:t>
            </a:r>
          </a:p>
          <a:p/>
          <a:p>
            <a:r>
              <a:t>— SOLUCIÓN (docent · presenter view) —</a:t>
            </a:r>
          </a:p>
          <a:p>
            <a:r>
              <a:t>Modelo: «¡Hola! Me llamo … Soy de … Tengo … años. Vivo en … Hablo … ¡Mucho gusto!»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WRITING (lezen→schrijven). Checklist = zichtbare steun; onthul het model pas na het schrijven (retrieval). Nakijkfocus: presente correct, concordancia, één conector. Dit voedt de Tarea «Tarjeta de reencuentro».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 países. Klik onthult; koppel país → nacionalidad → lengua. Online: «país ↔ nacionalidad» (match) + banderas (memory).</a:t>
            </a:r>
          </a:p>
          <a:p/>
          <a:p>
            <a:r>
              <a:t>— SOLUCIÓN (docent · presenter view) —</a:t>
            </a:r>
          </a:p>
          <a:p>
            <a:r>
              <a:t>Zin: Soy de España, soy español/a y hablo español. 🔴 nacionalidades met kleine letter; landen met hoofdletter.</a:t>
            </a:r>
          </a:p>
          <a:p>
            <a:r>
              <a:t>Números: veinte (20) · cincuenta (50) · cien (100).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TALLER. Acentuación = EELP-sterk, kort ophalen. porque/pero = kernvalstrik NL. Online: drills in de hub.</a:t>
            </a:r>
          </a:p>
          <a:p/>
          <a:p>
            <a:r>
              <a:t>— SOLUCIÓN (docent · presenter view) —</a:t>
            </a:r>
          </a:p>
          <a:p>
            <a:r>
              <a:t>A: de meeste woorden zijn llana; draagt het een tilde, volg de tilde (mú-si-ca).</a:t>
            </a:r>
          </a:p>
          <a:p>
            <a:r>
              <a:t>🔴 B: «want» én «omdat» = porque · «maar» = pero · «dus» = así que/por eso (niet luego).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CULTURE (identiteit in diversiteit, LPD 5). Onthul per kaart. Bruggetje naar La Ruta (U1 begint de reis). Online: klikbare wereldkaart.</a:t>
            </a:r>
          </a:p>
          <a:p/>
          <a:p>
            <a:r>
              <a:t>— SOLUCIÓN (docent · presenter view) —</a:t>
            </a:r>
          </a:p>
          <a:p>
            <a:r>
              <a:t>Actividad: ¿Qué país quieres visitar y por qué? Schrijf één zin met «Quiero visitar … porque …».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interactie. Klas vult vóór de klik. Daarna de presentación in parejas.</a:t>
            </a:r>
          </a:p>
          <a:p/>
          <a:p>
            <a:r>
              <a:t>— SOLUCIÓN (docent · presenter view) —</a:t>
            </a:r>
          </a:p>
          <a:p>
            <a:r>
              <a:t>Presentarse: ¿Cómo te llamas? · Soy de … · Tengo … años · ¿De dónde eres? · Vivo en … · Mucho gusto.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FINAL_MISSION (communicatieve eindtaak). Afzender/ontvanger/doel/situatie/resultaat expliciet. Beoordeel met de rúbrica; opname + zelfevaluatie op de digitale pagina.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mezcla (retrieval vóór herlezen). Zonder waarschuwing door elkaar. Exit-ticket. Zwakke punten → terug via menu.</a:t>
            </a:r>
          </a:p>
          <a:p/>
          <a:p>
            <a:r>
              <a:t>— SOLUCIÓN (docent · presenter view) —</a:t>
            </a:r>
          </a:p>
          <a:p>
            <a:r>
              <a:t>Alles komt terug: el presente · género/concordancia · ser/estar · países/nacionalidades · conectores.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FEEDBACK/REPASO. Semáforo = zelfevaluatie. Repaso-drills online (13 spellen). Bruggetje: U1 «El día a día» — rutina, gustos (me gusta) en ser vs estar.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Alleen in het docentdeck. Volledige LPD-dekking en didactische route staan in het cursusdossier (cocktail + outline).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7.xml"/><Relationship Id="rId6" Type="http://schemas.openxmlformats.org/officeDocument/2006/relationships/slide" Target="slide14.xml"/><Relationship Id="rId7" Type="http://schemas.openxmlformats.org/officeDocument/2006/relationships/slide" Target="slide9.xml"/><Relationship Id="rId8" Type="http://schemas.openxmlformats.org/officeDocument/2006/relationships/slide" Target="slide16.xml"/><Relationship Id="rId9" Type="http://schemas.openxmlformats.org/officeDocument/2006/relationships/slide" Target="slide18.xml"/><Relationship Id="rId10" Type="http://schemas.openxmlformats.org/officeDocument/2006/relationships/slide" Target="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9.xml"/><Relationship Id="rId5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Relationship Id="rId4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9374C2"/>
                </a:solidFill>
                <a:latin typeface="Bricolage Grotesque"/>
              </a:rPr>
              <a:t>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390448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5B3E83"/>
                </a:solidFill>
                <a:latin typeface="Inter"/>
              </a:rPr>
              <a:t>LA RUTA · EL REENCUENTRO · EL MUNDO HISPANO 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0" b="1" i="0">
                <a:solidFill>
                  <a:srgbClr val="FFFFFF"/>
                </a:solidFill>
                <a:latin typeface="Bricolage Grotesque"/>
              </a:rPr>
              <a:t>¡Volvemos!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EE8F5"/>
                </a:solidFill>
                <a:latin typeface="Inter"/>
              </a:rPr>
              <a:t>Otra vez juntos: saludar, presentarte y activar tu base (presente · género · países).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¿Quién eres… otra vez?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Wie ben je… opnieuw?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Kies je route — klik een tegel. Alles oefent naar de Tarea «Tarjeta de reencuentro» toe.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3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Saludos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presentarse · tú/usted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4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4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El presente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regular + ser/estar/ir…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4</a:t>
            </a:r>
          </a:p>
        </p:txBody>
      </p:sp>
      <p:sp>
        <p:nvSpPr>
          <p:cNvPr id="21" name="Rounded Rectangle 20">
            <a:hlinkClick action="ppaction://hlinksldjump" r:id="rId5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5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Género y adj.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el/la · -o/-a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7</a:t>
            </a:r>
          </a:p>
        </p:txBody>
      </p:sp>
      <p:sp>
        <p:nvSpPr>
          <p:cNvPr id="27" name="Rounded Rectangle 26">
            <a:hlinkClick action="ppaction://hlinksldjump" r:id="rId6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6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Países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nacionalidad · lengua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14</a:t>
            </a:r>
          </a:p>
        </p:txBody>
      </p:sp>
      <p:sp>
        <p:nvSpPr>
          <p:cNvPr id="33" name="Rounded Rectangle 32">
            <a:hlinkClick action="ppaction://hlinksldjump" r:id="rId7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7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dos perfiles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9</a:t>
            </a:r>
          </a:p>
        </p:txBody>
      </p:sp>
      <p:sp>
        <p:nvSpPr>
          <p:cNvPr id="39" name="Rounded Rectangle 38">
            <a:hlinkClick action="ppaction://hlinksldjump" r:id="rId8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8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mundo hispano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16</a:t>
            </a:r>
          </a:p>
        </p:txBody>
      </p:sp>
      <p:sp>
        <p:nvSpPr>
          <p:cNvPr id="45" name="Rounded Rectangle 44">
            <a:hlinkClick action="ppaction://hlinksldjump" r:id="rId9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9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🪪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Tarjeta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preséntate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18</a:t>
            </a:r>
          </a:p>
        </p:txBody>
      </p:sp>
      <p:sp>
        <p:nvSpPr>
          <p:cNvPr id="51" name="Rounded Rectangle 50">
            <a:hlinkClick action="ppaction://hlinksldjump" r:id="rId10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10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20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C5 · A1 · La Ruta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Saludar y presentarse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woorden van het reencuentro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hola / adiós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hallo / dag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saludo · despedida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buenos días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goedemorgen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buenas tardes/noches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me llamo…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heet…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¿cómo te llamas?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soy de…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kom uit…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¿de dónde eres?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tengo … años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ben … jaar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87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¿cuántos años tienes?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vivo en…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woon in…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87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¿dónde vives?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hablo…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spreek…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lengua / el idioma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encantado/-a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aangenaam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87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mucho gusto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Formal vs. informal: </a:t>
            </a:r>
            <a:r>
              <a:rPr sz="1300" b="1" i="0">
                <a:solidFill>
                  <a:srgbClr val="2563EB"/>
                </a:solidFill>
                <a:latin typeface="Inter"/>
              </a:rPr>
              <a:t>tú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(¿cómo estás?) · </a:t>
            </a:r>
            <a:r>
              <a:rPr sz="1300" b="1" i="0">
                <a:solidFill>
                  <a:srgbClr val="2563EB"/>
                </a:solidFill>
                <a:latin typeface="Inter"/>
              </a:rPr>
              <a:t>usted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(¿cómo está?)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Presentarte (3 werkwoorden):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me llamo · soy (de) · tengo … años · vivo en · hablo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🔴 nacionaliteiten met kleine letter: soy belga, es española (niet Belga/Española).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C5 · A1 · La Ruta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presente — ¿quién hace qué?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Kleur = de functie. Het werkwoord past zich aan de persoon aan.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2563EB"/>
                </a:solidFill>
                <a:latin typeface="Bricolage Grotesque"/>
              </a:rPr>
              <a:t>(Yo) </a:t>
            </a:r>
            <a:r>
              <a:rPr sz="2200" b="1" i="0">
                <a:solidFill>
                  <a:srgbClr val="EA7317"/>
                </a:solidFill>
                <a:latin typeface="Bricolage Grotesque"/>
              </a:rPr>
              <a:t>hablo </a:t>
            </a:r>
            <a:r>
              <a:rPr sz="2200" b="1" i="0">
                <a:solidFill>
                  <a:srgbClr val="1E9E74"/>
                </a:solidFill>
                <a:latin typeface="Bricolage Grotesque"/>
              </a:rPr>
              <a:t>español </a:t>
            </a:r>
            <a:r>
              <a:rPr sz="2200" b="1" i="0">
                <a:solidFill>
                  <a:srgbClr val="20242E"/>
                </a:solidFill>
                <a:latin typeface="Bricolage Grotesque"/>
              </a:rPr>
              <a:t>y </a:t>
            </a:r>
            <a:r>
              <a:rPr sz="2200" b="1" i="0">
                <a:solidFill>
                  <a:srgbClr val="EA7317"/>
                </a:solidFill>
                <a:latin typeface="Bricolage Grotesque"/>
              </a:rPr>
              <a:t>vivo </a:t>
            </a:r>
            <a:r>
              <a:rPr sz="2200" b="1" i="0">
                <a:solidFill>
                  <a:srgbClr val="14B8A6"/>
                </a:solidFill>
                <a:latin typeface="Bricolage Grotesque"/>
              </a:rPr>
              <a:t>en Gante.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Las terminaciones regulares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822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383280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-ar hablar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3712464"/>
            <a:ext cx="33832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o · as · a · amos · áis · 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1960" y="3291840"/>
            <a:ext cx="3657600" cy="822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20" y="3383280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-er comer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712464"/>
            <a:ext cx="33832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o · es · e · emos · éis · 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20" y="3291840"/>
            <a:ext cx="3657600" cy="822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83880" y="3383280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-ir vivir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3880" y="3712464"/>
            <a:ext cx="33832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o · es · e · imos · ís · en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448056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raíz (habl-) + terminación. De terminación verandert met de persoon: yo hablo, tú hablas, él habla…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De 7 onregelmatige (yo): soy · estoy · tengo · voy · hago · vengo · doy (vaak -oy of -go).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4360" y="435254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C5 · A1 · La Ruta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presente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vorm verschijnt. Kijk naar de persoon.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Yo ___ (ser) de Bélgica.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554480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soy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¿Tú ___ (vivir) en Gante?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359152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vives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Nina ___ (tener) 16 años.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163824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tiene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Nosotros ___ (hablar) español.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1554480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hablamos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Diego ___ (ir) al mercado.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2359152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Ellos ___ (venir) de México.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3163824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vienen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7C56A9"/>
                </a:solidFill>
                <a:latin typeface="Inter"/>
              </a:rPr>
              <a:t>yo → -o (hablo, vivo) · soy/estoy/tengo/voy/vengo/hago/doy.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tú → -s · él/ella → -a/-e · nosotros → -mos · ellos → -n.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verbo «ser» + ¡ojo! soy / estoy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de vorm verschijnt. ser = wie/wat je bent.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1737360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1828800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139696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5B3E83"/>
                </a:solidFill>
                <a:latin typeface="Bricolage Grotesque"/>
              </a:rPr>
              <a:t>soy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46320" y="1737360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1828800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139696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5B3E83"/>
                </a:solidFill>
                <a:latin typeface="Bricolage Grotesque"/>
              </a:rPr>
              <a:t>eres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737360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828800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139696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5B3E83"/>
                </a:solidFill>
                <a:latin typeface="Bricolage Grotesque"/>
              </a:rPr>
              <a:t>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63040" y="2852928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3040" y="2944368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3255264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5B3E83"/>
                </a:solidFill>
                <a:latin typeface="Bricolage Grotesque"/>
              </a:rPr>
              <a:t>somos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46320" y="2852928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2944368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3255264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5B3E83"/>
                </a:solidFill>
                <a:latin typeface="Bricolage Grotesque"/>
              </a:rPr>
              <a:t>sois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0" y="2852928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2944368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255264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5B3E83"/>
                </a:solidFill>
                <a:latin typeface="Bricolage Grotesque"/>
              </a:rPr>
              <a:t>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61772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🟡 </a:t>
            </a:r>
            <a:r>
              <a:rPr sz="1300" b="1" i="0">
                <a:solidFill>
                  <a:srgbClr val="2563EB"/>
                </a:solidFill>
                <a:latin typeface="Inter"/>
              </a:rPr>
              <a:t>soy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= identiteit (soy belga, soy estudiante) · </a:t>
            </a:r>
            <a:r>
              <a:rPr sz="1300" b="1" i="0">
                <a:solidFill>
                  <a:srgbClr val="14B8A6"/>
                </a:solidFill>
                <a:latin typeface="Inter"/>
              </a:rPr>
              <a:t>estoy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= plaats/gevoel (estoy en clase, estoy bien).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16636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Truc: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permanent/eigenschap → ser (soy) · tijdelijk/plaats → estar (estoy). Contrast komt uitgebreid in U1.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038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Género y concordancia — el/la · -o/-a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Lidwoord én adjectief volgen het zelfstandig naamwoord (m/v · ev/mv).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563EB"/>
                </a:solidFill>
                <a:latin typeface="Inter"/>
              </a:rPr>
              <a:t>el </a:t>
            </a:r>
            <a:r>
              <a:rPr sz="2000" b="1" i="0">
                <a:solidFill>
                  <a:srgbClr val="20242E"/>
                </a:solidFill>
                <a:latin typeface="Inter"/>
              </a:rPr>
              <a:t>chic</a:t>
            </a:r>
            <a:r>
              <a:rPr sz="2000" b="1" i="0">
                <a:solidFill>
                  <a:srgbClr val="EA7317"/>
                </a:solidFill>
                <a:latin typeface="Inter"/>
              </a:rPr>
              <a:t>o </a:t>
            </a:r>
            <a:r>
              <a:rPr sz="2000" b="1" i="0">
                <a:solidFill>
                  <a:srgbClr val="20242E"/>
                </a:solidFill>
                <a:latin typeface="Inter"/>
              </a:rPr>
              <a:t>alt</a:t>
            </a:r>
            <a:r>
              <a:rPr sz="2000" b="1" i="0">
                <a:solidFill>
                  <a:srgbClr val="EA7317"/>
                </a:solidFill>
                <a:latin typeface="Inter"/>
              </a:rPr>
              <a:t>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563EB"/>
                </a:solidFill>
                <a:latin typeface="Inter"/>
              </a:rPr>
              <a:t>la </a:t>
            </a:r>
            <a:r>
              <a:rPr sz="2000" b="1" i="0">
                <a:solidFill>
                  <a:srgbClr val="20242E"/>
                </a:solidFill>
                <a:latin typeface="Inter"/>
              </a:rPr>
              <a:t>chic</a:t>
            </a:r>
            <a:r>
              <a:rPr sz="2000" b="1" i="0">
                <a:solidFill>
                  <a:srgbClr val="DC2626"/>
                </a:solidFill>
                <a:latin typeface="Inter"/>
              </a:rPr>
              <a:t>a </a:t>
            </a:r>
            <a:r>
              <a:rPr sz="2000" b="1" i="0">
                <a:solidFill>
                  <a:srgbClr val="20242E"/>
                </a:solidFill>
                <a:latin typeface="Inter"/>
              </a:rPr>
              <a:t>alt</a:t>
            </a:r>
            <a:r>
              <a:rPr sz="2000" b="1" i="0">
                <a:solidFill>
                  <a:srgbClr val="DC2626"/>
                </a:solidFill>
                <a:latin typeface="Inter"/>
              </a:rPr>
              <a:t>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880360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el / 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31719" y="2880360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masculino (-o)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557016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la / una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31719" y="3557016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femenino (-a)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233672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los / las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19" y="4233672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plural (+ -s)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4840" y="2880360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-o → -a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2199" y="2880360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chico → chica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9768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34840" y="3557016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🔴 el problema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199" y="3557016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-ma = m.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9768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34840" y="4233672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🔴 la mano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72199" y="4233672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-o = f.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4" name="Rounded Rectangle 43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489204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lidwoord + adjectief komen overeen in geslacht én getal. Uitzonderingen: el día/mapa/problema (m), la mano/foto (f).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0" y="476402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C5 · A1 · La Ruta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¿el o la?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woord → het juiste lidwoord. Let op de valstrikken.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casa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600200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la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problema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478024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día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355848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mano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1600200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la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ciudad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478024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la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mapa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3355848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Valstrikken: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-ma → m (el problema, el idioma) · la mano, la foto (f ondanks -o) · -dad → f (la ciudad).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§5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Dos perfiles — «De vuelta al insti»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Lees en beantwoord.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ie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914400" cy="914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181051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1">
                <a:solidFill>
                  <a:srgbClr val="20242E"/>
                </a:solidFill>
                <a:latin typeface="Inter"/>
              </a:rPr>
              <a:t>«Me llamo Diego, soy de la Ciudad de México. Tengo 16 años. Vivo con mi madre y mi hermana. En clase soy alegre. Hablo español y estudio neerlandés.»</a:t>
            </a:r>
          </a:p>
        </p:txBody>
      </p:sp>
      <p:pic>
        <p:nvPicPr>
          <p:cNvPr id="12" name="Picture 11" descr="ni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337560"/>
            <a:ext cx="914400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36499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1">
                <a:solidFill>
                  <a:srgbClr val="20242E"/>
                </a:solidFill>
                <a:latin typeface="Inter"/>
              </a:rPr>
              <a:t>«Soy Nina, peruana, de Cusco. Tengo 16 años y un hermano pequeño. Soy tranquila. Hablo español y un poco de quechua.»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¿De dónde es Diego?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De México (CDMX)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lengua habla Nina además del español?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Un poco de quechua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¿Cuántos años tienen los dos?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Dieciséis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¿Cómo es Nina?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Tranquila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5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scannen naar datos (país, edad, lengua, carácter) — niet élk woord.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9320" y="5038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C5 · A1 · La Ruta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ESCUCHAR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Escucha las presentaciones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Vier personas se presentan. Klik un nombre → país + dato.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🔊  Lucía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Es de: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España 🇪🇸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Edad · carácter: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C56A9"/>
                </a:solidFill>
                <a:latin typeface="Inter"/>
              </a:rPr>
              <a:t>16 · alegre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🔊  Diego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Es de: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México 🇲🇽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Edad · carácter: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C56A9"/>
                </a:solidFill>
                <a:latin typeface="Inter"/>
              </a:rPr>
              <a:t>16 · hablador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🔊  Valen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Es de: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Colombia 🇨🇴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Edad · carácter: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C56A9"/>
                </a:solidFill>
                <a:latin typeface="Inter"/>
              </a:rPr>
              <a:t>15 · costeña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🔊  Mateo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Es de: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Argentina 🇦🇷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Edad · carácter: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C56A9"/>
                </a:solidFill>
                <a:latin typeface="Inter"/>
              </a:rPr>
              <a:t>17 · voseo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Modelo-audio (docent leest of TTS):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«Hola, me llamo Lucía, soy de España. Tengo dieciséis años y soy alegre.»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Daarna spreken: elke leerling presenteert zich zoals het model.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C5 · A1 · La Ruta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¿soy o estoy?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vorm. ser = identiteit · estar = plaats/gevoel.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1188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709928"/>
            <a:ext cx="33924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___ de Bélgica.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57400"/>
            <a:ext cx="361188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5B3E83"/>
                </a:solidFill>
                <a:latin typeface="Bricolage Grotesque"/>
              </a:rPr>
              <a:t>→ soy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00200"/>
            <a:ext cx="361188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61688" y="1709928"/>
            <a:ext cx="33924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___ en clase.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057400"/>
            <a:ext cx="361188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5B3E83"/>
                </a:solidFill>
                <a:latin typeface="Bricolage Grotesque"/>
              </a:rPr>
              <a:t>→ estoy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61188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6448" y="1709928"/>
            <a:ext cx="33924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___ estudiante.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057400"/>
            <a:ext cx="361188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5B3E83"/>
                </a:solidFill>
                <a:latin typeface="Bricolage Grotesque"/>
              </a:rPr>
              <a:t>→ soy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834640"/>
            <a:ext cx="361188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944368"/>
            <a:ext cx="33924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Hoy ___ contento.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291840"/>
            <a:ext cx="361188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5B3E83"/>
                </a:solidFill>
                <a:latin typeface="Bricolage Grotesque"/>
              </a:rPr>
              <a:t>→ estoy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2834640"/>
            <a:ext cx="361188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61688" y="2944368"/>
            <a:ext cx="33924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___ belga.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3291840"/>
            <a:ext cx="361188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5B3E83"/>
                </a:solidFill>
                <a:latin typeface="Bricolage Grotesque"/>
              </a:rPr>
              <a:t>→ soy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2834640"/>
            <a:ext cx="361188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56448" y="2944368"/>
            <a:ext cx="33924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___ muy bien, gracias.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291840"/>
            <a:ext cx="361188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5B3E83"/>
                </a:solidFill>
                <a:latin typeface="Bricolage Grotesque"/>
              </a:rPr>
              <a:t>→ estoy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ser (soy):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herkomst · nationaliteit · beroep · karakter.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estar (estoy):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plaats · gevoel · toestand.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¡Preséntate!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Speel de scène met de frames.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Saludar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¡Hola! / Buenos días.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Nombre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Me llamo 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Origen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Soy de 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Edad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Tengo … años.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Dónde vives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Vivo en 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Lengua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Hablo 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251960"/>
            <a:ext cx="4156862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5B3E83"/>
                </a:solidFill>
                <a:latin typeface="Inter"/>
              </a:rPr>
              <a:t>🎙️ Grábate online · «Mensaje de voz: preséntate»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61772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alleen beginwoorden.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«¡Hola! Me llamo … Soy de … Tengo … años. Vivo en … Hablo … ¡Mucho gusto!»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tarjeta de reencuentro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Schrijf je kaartje.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✍️ Escribe aquí tu tarjeta: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nombre + edad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de dónde eres (origen)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dónde vives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lengua que hablas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adjetivo de carácter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conector (y/pero/porque)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524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«¡Hola! Me llamo Sara. Soy de Bélgica y tengo 16 años. Vivo en Gante. Soy alegre y trabajadora, y hablo neerlandés y español. ¡Mucho gusto!»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Países, nacionalidades y números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woord → de vertaling/vorm.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España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1554480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español/a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México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1554480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mexicano/a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Colombia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1554480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colombiano/a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Perú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1554480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peruano/a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Argentina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2322576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argentino/a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Bélgica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2322576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belga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veinte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2322576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20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cincuenta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2322576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50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cien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20" y="3090672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100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lengua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37760" y="3090672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de taal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idioma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090672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de taal (m!)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nacionalidad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07040" y="3090672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nationaliteit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Zin: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Soy de España, soy español/a y hablo español. </a:t>
            </a:r>
            <a:r>
              <a:rPr sz="1200" b="0" i="0">
                <a:solidFill>
                  <a:srgbClr val="DC2626"/>
                </a:solidFill>
                <a:latin typeface="Inter"/>
              </a:rPr>
              <a:t>🔴 nacionalidades met kleine letter; landen met hoofdletter.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Números: veinte (20) · cincuenta (50) · cien (100).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C5 · A1 · La Ruta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Acentuación +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item → correcte vorm. Gereedschap voor uitspraak en verbinden.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A · acento: aguda / llana / esdrújula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Ma-drid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783080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aguda (laatste)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ca-sa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441448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llana (voorlaatste)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mú-si-ca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3099816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esdrújula (tilde!)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es-pa-ñol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3758184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aguda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B · conectores: y · pero · porque · también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39319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Soy de Bélgica ___ hablo NL.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1783080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39319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Estudio español ___ me gusta.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2441448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porque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39319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Nina es tranquila, ___ Diego habla mucho.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4160" y="3099816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pero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39319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Tengo un hermano ___ una hermana.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3758184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de meeste woorden zijn llana; draagt het een tilde, volg de tilde (mú-si-ca).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B: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«want» én «omdat» = porque · «maar» = pero · «dus» = así que/por eso (niet luego).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C5 · A1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1378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CULTURA · EL REENCUENTRO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mundo hispano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het weetje verschijnt. 21 países, 500+ miljoen sprekers.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🇪🇸 Europa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España is het enige Spaanstalige land in Europa. Ook catalán, gallego y euskera. Madrid = hoofdstad.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castellano = español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🌎 América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meeste hispanohablantes wonen in Latijns-Amerika: van México (~130 mln) tot Argentina (voseo).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19 landen, veel accenten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🌍 ¿Sabías que…?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Ook in Guinea Ecuatorial (Afrika) is Spaans officieel. En in de VS ~40 mln hispanohablantes.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2ª lengua materna del mundo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¿Qué país quieres visitar y por qué? Schrijf één zin met «Quiero visitar … porque …».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la presentación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Wat past? Klik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¿Cómo te ___? (heten)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1600200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llamas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de Bélgica. (ik kom uit)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478024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Soy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Tengo dieciséis ___.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9" y="3355848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años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¿De ___ eres? (waar)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39" y="1600200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dónde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___ en Gante. (wonen)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478024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vivo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Mucho ___. (aangenaam)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39" y="3355848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gusto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Presentarse: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¿Cómo te llamas? · Soy de … · Tengo … años · ¿De dónde eres? · Vivo en … · Mucho gusto.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Bricolage Grotesque"/>
              </a:rPr>
              <a:t>🪪 Tarea final · Tarjeta de reencuentro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Maak je terugkeer-kaartje voor de klasmuur y preséntate en pareja.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Planifica tus datos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554480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nombre · edad · origen · lengua · carácter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Escribe la tarjeta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121408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4–5 frases con me llamo / soy / tengo / vivo / hablo + conector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Preséntate en pareja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688336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lee en voz alta; tu compañero/a anota un dato y pregunta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Graba tu presentación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255264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la web (recorder) — escúchate y mejora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Cuelga la tarjeta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822192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el muro de la clase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5 datos (nombre·edad·origen·lengua·carácter)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presente correcto (soy/tengo/vivo)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un conector (y/pero/porque)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28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presentar en pareja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 (el muro) · doel jezelf (opnieuw) voorstellen · situatie de eerste les · resultaat: tarjeta + presentación oral.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C5 · A1 · La Ruta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(ser)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1600200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soy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tú (tener)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2313432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tienes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nosotros (vivir)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3026664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vivimos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España → nacionalidad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3739896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español/a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la chica (alto)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1600200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alta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 ___ problema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2313432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«want/omdat» =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3026664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porque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clase → soy/estoy?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3739896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estoy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el presente · género/concordancia · ser/estar · países/nacionalidades · conectores.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volledige herhaling (13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Presentarte: me llamo · soy (de) · tengo … años · vivo en · hablo 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El presente: -ar → o/as/a/amos/áis/an · -er/-ir gelijkaardig · 7 onreg. (soy·estoy·tengo·voy·hago·vengo·doy).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Concordancia: el chico alto / la chica alta · los/las + -os/-as.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Países/nacionalidades: soy de España, soy español/a (kleine letter), hablo español.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soy ≠ estoy · porque = want én omdat · nacionalidad = kleine letter · belga = m/v gelijk.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saludar + presentarse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 presente (regular + ser/estar/tener/ir)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género + concordancia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país/nacionalidad/lengua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leer un perfil + escribir una tarjeta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TEACHER_NOTES · U0 «¡Volvemos!»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53312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Timing (50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EE8F5"/>
                </a:solidFill>
                <a:latin typeface="Inter"/>
              </a:rPr>
              <a:t>Menu 2' · saludos/presentarse 8' · el presente 12' · género 8' · ser/estar 5' · lectura/escucha 8' · cultura 3' · Tarea-briefing 4'.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04288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Kernvalstrikken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EE8F5"/>
                </a:solidFill>
                <a:latin typeface="Inter"/>
              </a:rPr>
              <a:t>soy ≠ estoy (identiteit vs plaats/gevoel) · porque = want én omdat · nacionalidades met kleine letter · belga = m/v gelijk · el problema/día/mapa (m), la mano/foto (f).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28416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01568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Differentiatie (zij-instromers)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67328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EE8F5"/>
                </a:solidFill>
                <a:latin typeface="Inter"/>
              </a:rPr>
              <a:t>U0 = diagnostisch, geen heronderwijs. Sterker: volledige presentación + tarjeta + perfil beschrijven. Zwakker: presente-tabel + soy/estoy-kaart langer open, frames houden.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52544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425696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Digitaal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791456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EE8F5"/>
                </a:solidFill>
                <a:latin typeface="Inter"/>
              </a:rPr>
              <a:t>13 spellen + flip cards + klikbare wereldkaart + recorder (Hablar) + Lectura (dos perfiles) op de página digital. QR's in het boek → juiste anker. Conjugador = aparte tool.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376672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449824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Evaluatie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815584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EE8F5"/>
                </a:solidFill>
                <a:latin typeface="Inter"/>
              </a:rPr>
              <a:t>Tarea «Tarjeta de reencuentro» met rúbrica (4 criteria). LPD 1·2·3·4·7 + 5 (cultura). U0 = opstap, geen zware toetsing.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C5 · A1 · La Ruta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