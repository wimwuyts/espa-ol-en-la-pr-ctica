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TITLE. U0 = het reencuentro (huidige cohorte, C6+). Diagnostische repaso: geen heronderwijs, wél activeren. Doel: saludar/presentarse (formeel/informeel), el presente (regular + ser/estar/tener/ir/hacer/venir/dar), género &amp; concordancia, países/nacionalidades/lenguas, números. Kernvalstrik: soy ≠ estoy · porque = want én omdat · nacionalidades met kleine letter. Docentdeck = vrije navigatie + oplossing in notities; leerlingdeck (.pptx, F5) = elke klik onthult het volgende antwoord.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LESSON_MENU. Elke tegel = hyperlink; op elke oefendia staat ⌂ Menú terug. Richttijd 50 min. Kern = §2 el presente (diagnostisch). Kruisverwijzing print/HTML: «oefen online — 13 juegos + ~100 oefeningen».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VOCABULARY. Laat presentarse raden zónder de NL-gloss. Contrast tú/usted meteen. Online: flip cards + memoria del reencuentro + ¿formal o informal? (classify).</a:t>
            </a:r>
          </a:p>
          <a:p/>
          <a:p>
            <a:r>
              <a:t>— SOLUCIÓN (docent · presenter view) —</a:t>
            </a:r>
          </a:p>
          <a:p>
            <a:r>
              <a:t>Presentarte (3 werkwoorden): me llamo · soy (de) · tengo … años · vivo en · hablo …</a:t>
            </a:r>
          </a:p>
          <a:p>
            <a:r>
              <a:t>🔴 nacionaliteiten met kleine letter: soy belga, es española (niet Belga/Española).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(color-coding). Maak de raíz+terminación zichtbaar. Kleur nooit als enige drager. Online: «completa: el presente» (cloze) + vervoegingscirkel.</a:t>
            </a:r>
          </a:p>
          <a:p/>
          <a:p>
            <a:r>
              <a:t>— SOLUCIÓN (docent · presenter view) —</a:t>
            </a:r>
          </a:p>
          <a:p>
            <a:r>
              <a:t>Regla: raíz (habl-) + terminación. De terminación verandert met de persoon: yo hablo, tú hablas, él habla…</a:t>
            </a:r>
          </a:p>
          <a:p>
            <a:r>
              <a:t>De 7 onregelmatige (yo): soy · estoy · tengo · voy · hago · vengo · doy (vaak -oy of -go).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(reveal). Laat de klas de vorm roepen vóór de klik. Online: «completa: el presente» (cloze) + señala (yo/tú).</a:t>
            </a:r>
          </a:p>
          <a:p/>
          <a:p>
            <a:r>
              <a:t>— SOLUCIÓN (docent · presenter view) —</a:t>
            </a:r>
          </a:p>
          <a:p>
            <a:r>
              <a:t>yo → -o (hablo, vivo) · soy/estoy/tengo/voy/vengo/hago/doy. tú → -s · él/ella → -a/-e · nosotros → -mos · ellos → -n.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ser (reveal). Coro vóór de klik. soy/estoy is dé U0-valstrik; het volledige ser/estar-contrast is U1. Online: «¿soy o estoy?» (classify).</a:t>
            </a:r>
          </a:p>
          <a:p/>
          <a:p>
            <a:r>
              <a:t>— SOLUCIÓN (docent · presenter view) —</a:t>
            </a:r>
          </a:p>
          <a:p>
            <a:r>
              <a:t>Truc: permanent/eigenschap → ser (soy) · tijdelijk/plaats → estar (estoy). Contrast komt uitgebreid in U1.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género. Toon concordantie fysiek (el chico alto / la chica alta). Online: «¿el o la?» (classify) + concordancia Tetris.</a:t>
            </a:r>
          </a:p>
          <a:p/>
          <a:p>
            <a:r>
              <a:t>— SOLUCIÓN (docent · presenter view) —</a:t>
            </a:r>
          </a:p>
          <a:p>
            <a:r>
              <a:t>Regla: lidwoord + adjectief komen overeen in geslacht én getal. Uitzonderingen: el día/mapa/problema (m), la mano/foto (f).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género (retrieval). Klas roept el/la vóór de klik. Online: «¿el o la?» (classify).</a:t>
            </a:r>
          </a:p>
          <a:p/>
          <a:p>
            <a:r>
              <a:t>— SOLUCIÓN (docent · presenter view) —</a:t>
            </a:r>
          </a:p>
          <a:p>
            <a:r>
              <a:t>Valstrikken: -ma → m (el problema, el idioma) · la mano, la foto (f ondanks -o) · -dad → f (la ciudad).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 (lezen→schrijven-keten). Eerst globaal, dan scannen. Onthul antwoorden pas na de klas. Daarna: leerlingen zeggen met wie ze meer gemeen hebben (transfer → Tarea).</a:t>
            </a:r>
          </a:p>
          <a:p/>
          <a:p>
            <a:r>
              <a:t>— SOLUCIÓN (docent · presenter view) —</a:t>
            </a:r>
          </a:p>
          <a:p>
            <a:r>
              <a:t>🎯 Leesdoel: scannen naar datos (país, edad, lengua, carácter) — niet élk woord.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 (selectief → spreken). Lees elke presentatie voor (of TTS). Klas noteert país + edad; onthul per klik. Koppel meteen aan de eigen presentación.</a:t>
            </a:r>
          </a:p>
          <a:p/>
          <a:p>
            <a:r>
              <a:t>— SOLUCIÓN (docent · presenter view) —</a:t>
            </a:r>
          </a:p>
          <a:p>
            <a:r>
              <a:t>Modelo-audio (docent leest of TTS): «Hola, me llamo Lucía, soy de España. Tengo dieciséis años y soy alegre.» …</a:t>
            </a:r>
          </a:p>
          <a:p>
            <a:r>
              <a:t>Daarna spreken: elke leerling presenteert zich zoals het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GRAMMAR soy/estoy (reveal). Coro vóór de klik. Diagnostisch: enkel yo-vormen. Online: «¿soy o estoy?» (classify).</a:t>
            </a:r>
          </a:p>
          <a:p/>
          <a:p>
            <a:r>
              <a:t>— SOLUCIÓN (docent · presenter view) —</a:t>
            </a:r>
          </a:p>
          <a:p>
            <a:r>
              <a:t>ser (soy): herkomst · nationaliteit · beroep · karakter. estar (estoy): plaats · gevoel · toestand.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SPEAKING (interactie). Automatiseer presentarse in rondes met afbouwende steun. Online: recorder (opname + zelfevaluatie). Print blijft bruikbaar zonder opname.</a:t>
            </a:r>
          </a:p>
          <a:p/>
          <a:p>
            <a:r>
              <a:t>— SOLUCIÓN (docent · presenter view) —</a:t>
            </a:r>
          </a:p>
          <a:p>
            <a:r>
              <a:t>Modelo: «¡Hola! Me llamo … Soy de … Tengo … años. Vivo en … Hablo … ¡Mucho gusto!»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WRITING (lezen→schrijven). Checklist = zichtbare steun; onthul het model pas na het schrijven (retrieval). Nakijkfocus: presente correct, concordancia, één conector. Dit voedt de Tarea «Tarjeta de reencuentro».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VOCAB países. Klik onthult; koppel país → nacionalidad → lengua. Online: «país ↔ nacionalidad» (match) + banderas (memory).</a:t>
            </a:r>
          </a:p>
          <a:p/>
          <a:p>
            <a:r>
              <a:t>— SOLUCIÓN (docent · presenter view) —</a:t>
            </a:r>
          </a:p>
          <a:p>
            <a:r>
              <a:t>Zin: Soy de España, soy español/a y hablo español. 🔴 nacionalidades met kleine letter; landen met hoofdletter.</a:t>
            </a:r>
          </a:p>
          <a:p>
            <a:r>
              <a:t>Números: veinte (20) · cincuenta (50) · cien (100).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TALLER. Acentuación = EELP-sterk, kort ophalen. porque/pero = kernvalstrik NL. Online: drills in de hub.</a:t>
            </a:r>
          </a:p>
          <a:p/>
          <a:p>
            <a:r>
              <a:t>— SOLUCIÓN (docent · presenter view) —</a:t>
            </a:r>
          </a:p>
          <a:p>
            <a:r>
              <a:t>A: de meeste woorden zijn llana; draagt het een tilde, volg de tilde (mú-si-ca).</a:t>
            </a:r>
          </a:p>
          <a:p>
            <a:r>
              <a:t>🔴 B: «want» én «omdat» = porque · «maar» = pero · «dus» = así que/por eso (niet luego).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CULTURE (identiteit in diversiteit, LPD 5). Onthul per kaart. Bruggetje naar La Ruta (U1 begint de reis). Online: klikbare wereldkaart.</a:t>
            </a:r>
          </a:p>
          <a:p/>
          <a:p>
            <a:r>
              <a:t>— SOLUCIÓN (docent · presenter view) —</a:t>
            </a:r>
          </a:p>
          <a:p>
            <a:r>
              <a:t>Actividad: ¿Qué país quieres visitar y por qué? Schrijf één zin met «Quiero visitar … porque …».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interactie. Klas vult vóór de klik. Daarna de presentación in parejas.</a:t>
            </a:r>
          </a:p>
          <a:p/>
          <a:p>
            <a:r>
              <a:t>— SOLUCIÓN (docent · presenter view) —</a:t>
            </a:r>
          </a:p>
          <a:p>
            <a:r>
              <a:t>Presentarse: ¿Cómo te llamas? · Soy de … · Tengo … años · ¿De dónde eres? · Vivo en … · Mucho gusto.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READING. Route: voorspellen → globaal → scannen → juist/fout MET BEWIJS → betekenis uit context → zelf schrijven. Laat de tekst staan tijdens het scannen: informatie terugvinden is lezen, uit het hoofd opzeggen is iets anders. Eis bij elke V/F de zin uit de tekst — dat is de stap die gokken onmogelijk maakt. Dezelfde tekst staat in de cursus (met schrijfruimte) en op de hub (zelfcorrigerend, met vertaalknop).</a:t>
            </a:r>
          </a:p>
          <a:p/>
          <a:p>
            <a:r>
              <a:t>— SOLUCIÓN (docent · presenter view) —</a:t>
            </a:r>
          </a:p>
          <a:p>
            <a:r>
              <a:t>Escanear: 1) 15 · 2) miércoles · 3) 8 · 4) 5</a:t>
            </a:r>
          </a:p>
          <a:p>
            <a:r>
              <a:t>1) F — «No soy profesional»</a:t>
            </a:r>
          </a:p>
          <a:p>
            <a:r>
              <a:t>2) F — «Los libros están en muy buen estado»</a:t>
            </a:r>
          </a:p>
          <a:p>
            <a:r>
              <a:t>3) V — «Es gratis»</a:t>
            </a:r>
          </a:p>
          <a:p>
            <a:r>
              <a:t>4) V — «soy nuevo en el instituto»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LISTENING. Zes treden: situatie vooraf → globaal → vijf details → juist/fout MET BEWIJS → transcript pas ná de taken → productieve reactie. Speel het fragment minstens twee keer: één keer globaal (boeken dicht), daarna gericht. Het transcript staat op de hub en gaat daar pas open als de taken gedaan zijn — meelezen tijdens het luisteren maakt er een leesoefening van. Zolang er geen opname is, leest de computerstem het gesprek voor met een eigen stem per spreker. Noodroute: het fragment ook voorlezen kan, met twee leerlingen in de rollen.</a:t>
            </a:r>
          </a:p>
          <a:p/>
          <a:p>
            <a:r>
              <a:t>— SOLUCIÓN (docent · presenter view) —</a:t>
            </a:r>
          </a:p>
          <a:p>
            <a:r>
              <a:t>Detalle: 1) Mateo · 2) De Buenos Aires · 3) 24 · 4) Cansado · 5) Martes y jueves</a:t>
            </a:r>
          </a:p>
          <a:p>
            <a:r>
              <a:t>1) V — «Estuve en Cartagena»</a:t>
            </a:r>
          </a:p>
          <a:p>
            <a:r>
              <a:t>2) F — «Está en nuestra clase»</a:t>
            </a:r>
          </a:p>
          <a:p>
            <a:r>
              <a:t>3) F — «Es la misma»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FINAL_MISSION (communicatieve eindtaak). Afzender/ontvanger/doel/situatie/resultaat expliciet. Beoordeel met de rúbrica; opname + zelfevaluatie op de digitale pagina.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QUIZ mezcla (retrieval vóór herlezen). Zonder waarschuwing door elkaar. Exit-ticket. Zwakke punten → terug via menu.</a:t>
            </a:r>
          </a:p>
          <a:p/>
          <a:p>
            <a:r>
              <a:t>— SOLUCIÓN (docent · presenter view) —</a:t>
            </a:r>
          </a:p>
          <a:p>
            <a:r>
              <a:t>Alles komt terug: el presente · género/concordancia · ser/estar · países/nacionalidades · conectores.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· FEEDBACK/REPASO. Semáforo = zelfevaluatie. Repaso-drills online (13 spellen). Bruggetje: U1 «El día a día» — rutina, gustos (me gusta) en ser vs estar.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Alleen in het docentdeck. Volledige LPD-dekking en didactische route staan in het cursusdossier (cocktail + outline).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7.xml"/><Relationship Id="rId6" Type="http://schemas.openxmlformats.org/officeDocument/2006/relationships/slide" Target="slide14.xml"/><Relationship Id="rId7" Type="http://schemas.openxmlformats.org/officeDocument/2006/relationships/slide" Target="slide9.xml"/><Relationship Id="rId8" Type="http://schemas.openxmlformats.org/officeDocument/2006/relationships/slide" Target="slide16.xml"/><Relationship Id="rId9" Type="http://schemas.openxmlformats.org/officeDocument/2006/relationships/slide" Target="slide18.xml"/><Relationship Id="rId10" Type="http://schemas.openxmlformats.org/officeDocument/2006/relationships/slide" Target="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9.xml"/><Relationship Id="rId5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Relationship Id="rId4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slide" Target="slide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390448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EL REENCUENTRO · EL MUNDO HISPANO 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600" b="1" i="0">
                <a:solidFill>
                  <a:srgbClr val="FFFFFF"/>
                </a:solidFill>
                <a:latin typeface="Bricolage Grotesque"/>
              </a:rPr>
              <a:t>¡Volvemos!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Otra vez juntos: saludar, presentarte y activar tu base (presente · género · países).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Bricolage Grotesque"/>
              </a:rPr>
              <a:t>¿Quién eres… otra vez?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Wie ben je… opnieuw?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je reisgezellen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«Tarjeta de reencuentro» toe.</a:t>
            </a:r>
          </a:p>
        </p:txBody>
      </p:sp>
      <p:sp>
        <p:nvSpPr>
          <p:cNvPr id="9" name="Rounded Rectangle 8">
            <a:hlinkClick action="ppaction://hlinksldjump" r:id="rId3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3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Saludos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presentarse · tú/usted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4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presente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regular + ser/estar/ir…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5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Género y adj.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el/la · -o/-a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27" name="Rounded Rectangle 26">
            <a:hlinkClick action="ppaction://hlinksldjump" r:id="rId6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6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Países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nacionalidad · lengua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14</a:t>
            </a:r>
          </a:p>
        </p:txBody>
      </p:sp>
      <p:sp>
        <p:nvSpPr>
          <p:cNvPr id="33" name="Rounded Rectangle 32">
            <a:hlinkClick action="ppaction://hlinksldjump" r:id="rId7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7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dos perfiles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39" name="Rounded Rectangle 38">
            <a:hlinkClick action="ppaction://hlinksldjump" r:id="rId8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8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mundo hispano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16</a:t>
            </a:r>
          </a:p>
        </p:txBody>
      </p:sp>
      <p:sp>
        <p:nvSpPr>
          <p:cNvPr id="45" name="Rounded Rectangle 44">
            <a:hlinkClick action="ppaction://hlinksldjump" r:id="rId9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9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🪪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Tarjeta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preséntate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1" name="Rounded Rectangle 50">
            <a:hlinkClick action="ppaction://hlinksldjump" r:id="rId10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10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Repaso + semáforo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lo esencial · zelfevaluatie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Saludar y presentarse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het reencuentro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hola / adiós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hallo / dag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saludo · despedida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buenos días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goedemorgen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buenas tardes/noches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me llamo…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heet…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¿cómo te llamas?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soy de…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kom uit…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¿de dónde eres?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tengo … años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ben … jaar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¿cuántos años tienes?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vivo en…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woon in…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¿dónde vives?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hablo…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ik spreek…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lengua / el idioma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encantado/-a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aangenaam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mucho gusto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Formal vs. informal: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tú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(¿cómo estás?) ·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usted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(¿cómo está?)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Presentarte (3 werkwoorden):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me llamo · soy (de) · tengo … años · vivo en · hablo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nacionaliteiten met kleine letter: soy belga, es española (niet Belga/Española).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presente — ¿quién hace qué?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Kleur = de functie. Het werkwoord past zich aan de persoon aan.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Bricolage Grotesque"/>
              </a:rPr>
              <a:t>(Yo)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hablo </a:t>
            </a:r>
            <a:r>
              <a:rPr sz="2200" b="1" i="0">
                <a:solidFill>
                  <a:srgbClr val="B4309A"/>
                </a:solidFill>
                <a:latin typeface="Bricolage Grotesque"/>
              </a:rPr>
              <a:t>español </a:t>
            </a:r>
            <a:r>
              <a:rPr sz="2200" b="1" i="0">
                <a:solidFill>
                  <a:srgbClr val="20242E"/>
                </a:solidFill>
                <a:latin typeface="Bricolage Grotesque"/>
              </a:rPr>
              <a:t>y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vivo </a:t>
            </a:r>
            <a:r>
              <a:rPr sz="2200" b="1" i="0">
                <a:solidFill>
                  <a:srgbClr val="64748B"/>
                </a:solidFill>
                <a:latin typeface="Bricolage Grotesque"/>
              </a:rPr>
              <a:t>en Gante.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Las terminaciones regulares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383280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-ar hablar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712464"/>
            <a:ext cx="3383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o · as · a · amos · áis · 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51960" y="3291840"/>
            <a:ext cx="365760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0" y="3383280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-er comer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3712464"/>
            <a:ext cx="3383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o · es · e · emos · éis · 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291840"/>
            <a:ext cx="3657600" cy="822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383280"/>
            <a:ext cx="338328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-ir vivir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712464"/>
            <a:ext cx="338328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EA7317"/>
                </a:solidFill>
                <a:latin typeface="Inter"/>
              </a:rPr>
              <a:t>o · es · e · imos · ís · en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4" name="Rounded Rectangle 33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48056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raíz (habl-) + terminación. De terminación verandert met de persoon: yo hablo, tú hablas, él habla…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De 7 onregelmatige (yo): soy · estoy · tengo · voy · hago · vengo · doy (vaak -oy of -go).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35254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el presente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 verschijnt. Kijk naar de persoon.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54480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Yo ___ (ser) de Bélgica.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soy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59152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¿Tú ___ (vivir) en Gante?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359152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vives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63824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Nina ___ (tener) 16 años.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163824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tiene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554480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Nosotros ___ (hablar) español.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554480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hablamos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359152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359152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Diego ___ (ir) al mercado.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359152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163824"/>
            <a:ext cx="553212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163824"/>
            <a:ext cx="3931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Ellos ___ (venir) de México.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163824"/>
            <a:ext cx="13258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vienen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48056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yo → -o (hablo, vivo) · soy/estoy/tengo/voy/vengo/hago/doy.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tú → -s · él/ella → -a/-e · nosotros → -mos · ellos → -n.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verbo «ser» + ¡ojo! soy / estoy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de vorm verschijnt. ser = wie/wat je bent.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1737360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1828800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13969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5B3E83"/>
                </a:solidFill>
                <a:latin typeface="Bricolage Grotesque"/>
              </a:rPr>
              <a:t>soy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737360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828800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tú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13969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5B3E83"/>
                </a:solidFill>
                <a:latin typeface="Bricolage Grotesque"/>
              </a:rPr>
              <a:t>eres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737360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828800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él/ella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139696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5B3E83"/>
                </a:solidFill>
                <a:latin typeface="Bricolage Grotesque"/>
              </a:rPr>
              <a:t>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463040" y="2852928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2944368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nosotros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55264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5B3E83"/>
                </a:solidFill>
                <a:latin typeface="Bricolage Grotesque"/>
              </a:rPr>
              <a:t>somos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2852928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944368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vosotros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55264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5B3E83"/>
                </a:solidFill>
                <a:latin typeface="Bricolage Grotesque"/>
              </a:rPr>
              <a:t>sois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852928"/>
            <a:ext cx="3108960" cy="914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2944368"/>
            <a:ext cx="310896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ellos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3255264"/>
            <a:ext cx="31089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5B3E83"/>
                </a:solidFill>
                <a:latin typeface="Bricolage Grotesque"/>
              </a:rPr>
              <a:t>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🟡 </a:t>
            </a:r>
            <a:r>
              <a:rPr sz="1300" b="1" i="0">
                <a:solidFill>
                  <a:srgbClr val="2563EB"/>
                </a:solidFill>
                <a:latin typeface="Inter"/>
              </a:rPr>
              <a:t>soy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= identiteit (soy belga, soy estudiante) · </a:t>
            </a:r>
            <a:r>
              <a:rPr sz="1300" b="1" i="0">
                <a:solidFill>
                  <a:srgbClr val="64748B"/>
                </a:solidFill>
                <a:latin typeface="Inter"/>
              </a:rPr>
              <a:t>estoy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= plaats/gevoel (estoy en clase, estoy bien).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0" name="Rounded Rectangle 29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16636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permanent/eigenschap → ser (soy) · tijdelijk/plaats → estar (estoy). Contrast komt uitgebreid in U1.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Género y concordancia — el/la · -o/-a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Lidwoord én adjectief volgen het zelfstandig naamwoord (m/v · ev/mv).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563EB"/>
                </a:solidFill>
                <a:latin typeface="Inter"/>
              </a:rPr>
              <a:t>el </a:t>
            </a:r>
            <a:r>
              <a:rPr sz="2000" b="1" i="0">
                <a:solidFill>
                  <a:srgbClr val="20242E"/>
                </a:solidFill>
                <a:latin typeface="Inter"/>
              </a:rPr>
              <a:t>chic</a:t>
            </a:r>
            <a:r>
              <a:rPr sz="2000" b="1" i="0">
                <a:solidFill>
                  <a:srgbClr val="EA7317"/>
                </a:solidFill>
                <a:latin typeface="Inter"/>
              </a:rPr>
              <a:t>o </a:t>
            </a:r>
            <a:r>
              <a:rPr sz="2000" b="1" i="0">
                <a:solidFill>
                  <a:srgbClr val="20242E"/>
                </a:solidFill>
                <a:latin typeface="Inter"/>
              </a:rPr>
              <a:t>alt</a:t>
            </a:r>
            <a:r>
              <a:rPr sz="2000" b="1" i="0">
                <a:solidFill>
                  <a:srgbClr val="EA7317"/>
                </a:solidFill>
                <a:latin typeface="Inter"/>
              </a:rPr>
              <a:t>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563EB"/>
                </a:solidFill>
                <a:latin typeface="Inter"/>
              </a:rPr>
              <a:t>la </a:t>
            </a:r>
            <a:r>
              <a:rPr sz="2000" b="1" i="0">
                <a:solidFill>
                  <a:srgbClr val="20242E"/>
                </a:solidFill>
                <a:latin typeface="Inter"/>
              </a:rPr>
              <a:t>chic</a:t>
            </a:r>
            <a:r>
              <a:rPr sz="2000" b="1" i="0">
                <a:solidFill>
                  <a:srgbClr val="DC2626"/>
                </a:solidFill>
                <a:latin typeface="Inter"/>
              </a:rPr>
              <a:t>a </a:t>
            </a:r>
            <a:r>
              <a:rPr sz="2000" b="1" i="0">
                <a:solidFill>
                  <a:srgbClr val="20242E"/>
                </a:solidFill>
                <a:latin typeface="Inter"/>
              </a:rPr>
              <a:t>alt</a:t>
            </a:r>
            <a:r>
              <a:rPr sz="2000" b="1" i="0">
                <a:solidFill>
                  <a:srgbClr val="DC2626"/>
                </a:solidFill>
                <a:latin typeface="Inter"/>
              </a:rPr>
              <a:t>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el / un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31719" y="288036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masculino (-o)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5701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la / una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1719" y="355701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femenino (-a)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los / las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31719" y="423367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plural (+ -s)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880360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-o → -a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199" y="2880360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chico → chica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557016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🔴 el problema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199" y="3557016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-ma = m.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233672"/>
            <a:ext cx="17373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🔴 la mano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199" y="4233672"/>
            <a:ext cx="164592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-o = f.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4" name="Rounded Rectangle 43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89204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lidwoord + adjectief komen overeen in geslacht én getal. Uitzonderingen: el día/mapa/problema (m), la mano/foto (f).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764024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REGLA · docent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¿el o la?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woord → het juiste lidwoord. Let op de valstrikken.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casa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600200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problema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78024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día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55848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mano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20" y="1600200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ciudad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46920" y="2478024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la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29184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___ mapa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46920" y="3355848"/>
            <a:ext cx="19659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Valstrikken: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-ma → m (el problema, el idioma) · la mano, la foto (f ondanks -o) · -dad → f (la ciudad).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perfiles — «De vuelta al insti»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 en beantwoord.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ie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20242E"/>
                </a:solidFill>
                <a:latin typeface="Inter"/>
              </a:rPr>
              <a:t>«Me llamo Diego, soy de la Ciudad de México. Tengo 16 años. Vivo con mi madre y mi hermana. En clase soy alegre. Hablo español y estudio neerlandés.»</a:t>
            </a:r>
          </a:p>
        </p:txBody>
      </p:sp>
      <p:pic>
        <p:nvPicPr>
          <p:cNvPr id="12" name="Picture 11" descr="ni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1">
                <a:solidFill>
                  <a:srgbClr val="20242E"/>
                </a:solidFill>
                <a:latin typeface="Inter"/>
              </a:rPr>
              <a:t>«Soy Nina, peruana, de Cusco. Tengo 16 años y un hermano pequeño. Soy tranquila. Hablo español y un poco de quechua.»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¿De dónde es Diego?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De México (CDMX)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lengua habla Nina además del español?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Un poco de quechua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¿Cuántos años tienen los dos?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Dieciséis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¿Cómo es Nina?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Tranquila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5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datos (país, edad, lengua, carácter) — niet élk woord.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12494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ESCUCHAR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Escucha las presentaciones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Vier personas se presentan. Klik un nombre → país + dato. (audio op de digitale pagina)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🔊  Lucía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Es de: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España 🇪🇸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Edad · carácter: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56A9"/>
                </a:solidFill>
                <a:latin typeface="Inter"/>
              </a:rPr>
              <a:t>16 · alegre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🔊  Diego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Es de: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México 🇲🇽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Edad · carácter: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56A9"/>
                </a:solidFill>
                <a:latin typeface="Inter"/>
              </a:rPr>
              <a:t>16 · hablador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🔊  Valen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Es de: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Colombia 🇨🇴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Edad · carácter: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56A9"/>
                </a:solidFill>
                <a:latin typeface="Inter"/>
              </a:rPr>
              <a:t>15 · costeña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🔊  Mateo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233172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Es de: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2651760"/>
            <a:ext cx="242316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0242E"/>
                </a:solidFill>
                <a:latin typeface="Inter"/>
              </a:rPr>
              <a:t>Argentina 🇦🇷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320040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A6E78"/>
                </a:solidFill>
                <a:latin typeface="Inter"/>
              </a:rPr>
              <a:t>Edad · carácter: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0" y="3520440"/>
            <a:ext cx="242316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7C56A9"/>
                </a:solidFill>
                <a:latin typeface="Inter"/>
              </a:rPr>
              <a:t>17 · voseo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9" name="Rounded Rectangle 3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 leest of 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«Hola, me llamo Lucía, soy de España. Tengo dieciséis años y soy alegre.» …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 spreken: elke leerling presenteert zich zoals het model.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" y="43525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¿soy o estoy?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ser = identiteit · estar = plaats/gevoel.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361188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709928"/>
            <a:ext cx="33924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___ de Bélgica.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361188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5B3E83"/>
                </a:solidFill>
                <a:latin typeface="Bricolage Grotesque"/>
              </a:rPr>
              <a:t>→ soy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61188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61688" y="1709928"/>
            <a:ext cx="33924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___ en clase.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057400"/>
            <a:ext cx="361188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5B3E83"/>
                </a:solidFill>
                <a:latin typeface="Bricolage Grotesque"/>
              </a:rPr>
              <a:t>→ estoy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600200"/>
            <a:ext cx="361188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709928"/>
            <a:ext cx="33924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___ estudiante.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57400"/>
            <a:ext cx="361188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5B3E83"/>
                </a:solidFill>
                <a:latin typeface="Bricolage Grotesque"/>
              </a:rPr>
              <a:t>→ soy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34640"/>
            <a:ext cx="361188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944368"/>
            <a:ext cx="33924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Hoy ___ contento.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361188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5B3E83"/>
                </a:solidFill>
                <a:latin typeface="Bricolage Grotesque"/>
              </a:rPr>
              <a:t>→ estoy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51960" y="2834640"/>
            <a:ext cx="361188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61688" y="2944368"/>
            <a:ext cx="33924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___ belga.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3291840"/>
            <a:ext cx="361188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5B3E83"/>
                </a:solidFill>
                <a:latin typeface="Bricolage Grotesque"/>
              </a:rPr>
              <a:t>→ soy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834640"/>
            <a:ext cx="3611880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8" y="2944368"/>
            <a:ext cx="3392424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___ muy bien, gracias.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291840"/>
            <a:ext cx="3611880" cy="5029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400" b="1" i="0">
                <a:solidFill>
                  <a:srgbClr val="5B3E83"/>
                </a:solidFill>
                <a:latin typeface="Bricolage Grotesque"/>
              </a:rPr>
              <a:t>→ estoy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ser (soy):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herkomst · nationaliteit · beroep · karakter.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estar (estoy):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plaats · gevoel · toestand.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¡Preséntate!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Saludar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¡Hola! / Buenos días.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Nombre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Me llamo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Origen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Soy de 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Edad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Tengo … años.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Dónde vives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Vivo en 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Lengua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Hablo 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4156862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preséntate»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alleen 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«¡Hola! Me llamo … Soy de … Tengo … años. Vivo en … Hablo … ¡Mucho gusto!»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MODELO · docent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tarjeta de reencuentro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je kaartje.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aquí tu tarjeta: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nombre + edad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de dónde eres (origen)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dónde vives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lengua que hablas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adjetivo de carácter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 conector (y/pero/porque)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1">
                <a:solidFill>
                  <a:srgbClr val="20242E"/>
                </a:solidFill>
                <a:latin typeface="Inter"/>
              </a:rPr>
              <a:t>«¡Hola! Me llamo Sara. Soy de Bélgica y tengo 16 años. Vivo en Gante. Soy alegre y trabajadora, y hablo neerlandés y español. ¡Mucho gusto!»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Países, nacionalidades y números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woord → de vertaling/vorm.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España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1554480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español/a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México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554480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mexicano/a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Colombia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1554480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colombiano/a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Perú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1554480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peruano/a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Argentina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2322576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argentino/a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Bélgica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2322576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belga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veinte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322576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20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cincuenta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2322576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50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cien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3090672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100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lengua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3090672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de taal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el idioma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0" y="3090672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de taal (m!)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55448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la nacionalidad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3090672"/>
            <a:ext cx="100584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7C56A9"/>
                </a:solidFill>
                <a:latin typeface="Inter"/>
              </a:rPr>
              <a:t>→ nationaliteit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Zin: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Soy de España, soy español/a y hablo español. </a:t>
            </a:r>
            <a:r>
              <a:rPr sz="1200" b="0" i="0">
                <a:solidFill>
                  <a:srgbClr val="DC2626"/>
                </a:solidFill>
                <a:latin typeface="Inter"/>
              </a:rPr>
              <a:t>🔴 nacionalidades met kleine letter; landen met hoofdletter.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Números: veinte (20) · cincuenta (50) · cien (100).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Acentuación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uitspraak en verbinden.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acento: aguda / llana / esdrújula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Ma-drid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783080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aguda (laatste)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ca-sa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2441448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llana (voorlaatste)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mú-si-ca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099816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esdrújula (tilde!)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es-pa-ñol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3758184"/>
            <a:ext cx="28346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aguda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conectores: y · pero · porque · también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39319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Soy de Bélgica ___ hablo NL.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0" y="1783080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39319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Estudio español ___ me gusta.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24160" y="2441448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porque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39319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Nina es tranquila, ___ Diego habla mucho.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24160" y="3099816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pero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39319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20242E"/>
                </a:solidFill>
                <a:latin typeface="Inter"/>
              </a:rPr>
              <a:t>Tengo un hermano ___ una hermana.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24160" y="3758184"/>
            <a:ext cx="11887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de meeste woorden zijn llana; draagt het een tilde, volg de tilde (mú-si-ca).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🔴 B: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«want» én «omdat» = porque · «maar» = pero · «dus» = así que/por eso (niet luego).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1378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EL REENCUENTRO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mundo hispano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 verschijnt. 21 países, 500+ miljoen sprekers.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🇪🇸 Europa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España is het enige Spaanstalige land in Europa. Ook catalán, gallego y euskera. Madrid = hoofdstad.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castellano = español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🌎 América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meeste hispanohablantes wonen in Latijns-Amerika: van México (~130 mln) tot Argentina (voseo).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19 landen, veel accenten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🌍 ¿Sabías que…?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Ook in Guinea Ecuatorial (Afrika) is Spaans officieel. En in de VS ~40 mln hispanohablantes.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2ª lengua materna del mundo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¿Qué país quieres visitar y por qué? Schrijf één zin met «Quiero visitar … porque …».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QUIZ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Completa la presentación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Wat past? Klik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¿Cómo te ___? (heten)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39" y="1600200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llamas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 de Bélgica. (ik kom uit)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39" y="2478024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Soy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Tengo dieciséis ___.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9" y="3355848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años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¿De ___ eres? (waar)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39" y="1600200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dónde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___ en Gante. (wonen)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2478024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vivo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56616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Mucho ___. (aangenaam)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39" y="3355848"/>
            <a:ext cx="1645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gusto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Presentarse: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¿Cómo te llamas? · Soy de … · Tengo … años · ¿De dónde eres? · Vivo en … · Mucho gusto.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LECTURA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«El tablón de anuncios»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Een echte tekst. Je hoeft niet alles te begrijpen om de informatie eruit te halen.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5577840" cy="4160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778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325880"/>
            <a:ext cx="5577840" cy="384048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44168"/>
            <a:ext cx="53035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Bricolage Grotesque"/>
              </a:rPr>
              <a:t>tablón de anuncios (drie korte berichten)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810512"/>
            <a:ext cx="5212080" cy="35661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TABLÓN DE ANUNCIOS · Instituto Santa Clara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🎸 BUSCO GRUPO DE MÚSICA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Me llamo Mateo, soy argentino y soy nuevo en el instituto. Toco la guitarra desde los ocho años. Busco compañeros para tocar los viernes. No soy profesional, pero soy constante. ¿Te animas?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📚 VENDO LIBROS DE SEGUNDA MANO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Los libros están en muy buen estado. Son de cuarto curso. Cuestan diez euros cada uno, o quince los dos. Estoy en el patio a la hora del recreo. Pregunta por Valen.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🌎 INTERCAMBIO DE LENGUAS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42E"/>
                </a:solidFill>
                <a:latin typeface="Inter"/>
              </a:rPr>
              <a:t>Somos cinco alumnos de México, Colombia y Perú. Queremos hablar neerlandés y vosotros queréis hablar español. Nos reunimos los miércoles en la biblioteca. Es gratis y es divertido. ¡Todos sois bienvenidos!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25880"/>
            <a:ext cx="5468112" cy="196596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417320"/>
            <a:ext cx="5120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Escanea — busca el dato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755648"/>
            <a:ext cx="512064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¿Cuánto cuestan dos libros? (en cifras)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¿Qué día se reúne el intercambio de lenguas?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¿Desde qué edad toca Mateo la guitarra? (en cifras)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4. ¿Cuántos alumnos organizan el intercambio?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29000"/>
            <a:ext cx="5468112" cy="20574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520440"/>
            <a:ext cx="5120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¿Verdadero o falso? — y la prueba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858768"/>
            <a:ext cx="5120640" cy="1554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Mateo es un guitarrista profesional.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Los libros de Valen están estropeados.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El intercambio de lenguas no cuesta nada.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4. Mateo lleva poco tiempo en el instituto.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Escanear: 1) 15 · 2) miércoles · 3) 8 · 4) 5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1) F — «No soy profesional»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2) F — «Los libros están en muy buen estado»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3) V — «Es gratis»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4) V — «soy nuevo en el instituto»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546811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C6+ · el reencuentro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§6 · ESCUCHA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«El primer día de curso»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Eerst de situatie, dan luisteren. Het transcript komt pas ná de taken.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325880"/>
            <a:ext cx="11274552" cy="10515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10881360" cy="8686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¿Dónde?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El patio del instituto, primera semana de septiembre</a:t>
            </a:r>
            <a:r>
              <a:rPr sz="1100" b="1" i="0">
                <a:solidFill>
                  <a:srgbClr val="5B3E83"/>
                </a:solidFill>
                <a:latin typeface="Inter"/>
              </a:rPr>
              <a:t>     ¿Quién?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Diego (de México) y Valen (de Cartagena, Colombia)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¿Qué pasa? </a:t>
            </a:r>
            <a:r>
              <a:rPr sz="1100" b="0" i="0">
                <a:solidFill>
                  <a:srgbClr val="20242E"/>
                </a:solidFill>
                <a:latin typeface="Inter"/>
              </a:rPr>
              <a:t>Se reencuentran y hablan de sus clases y de un compañero nuevo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6A6E78"/>
                </a:solidFill>
                <a:latin typeface="Inter"/>
              </a:rPr>
              <a:t>Palabras clave: </a:t>
            </a:r>
            <a:r>
              <a:rPr sz="1050" b="0" i="1">
                <a:solidFill>
                  <a:srgbClr val="20242E"/>
                </a:solidFill>
                <a:latin typeface="Inter"/>
              </a:rPr>
              <a:t>¿Qué tal el verano? · somos / estamos · el compañero nuevo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14600"/>
            <a:ext cx="5577840" cy="29718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606040"/>
            <a:ext cx="521208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Escucha con detalle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944368"/>
            <a:ext cx="5212080" cy="23774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¿Cómo se llama el compañero nuevo?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¿De dónde es Mateo?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¿Cuántos alumnos son este año?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4. ¿Cómo está Diego?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5. ¿Qué días hay clase de español?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2514600"/>
            <a:ext cx="5468112" cy="29718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 w="15240">
            <a:solidFill>
              <a:srgbClr val="E4E3DE"/>
            </a:solidFill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606040"/>
            <a:ext cx="5120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Bricolage Grotesque"/>
              </a:rPr>
              <a:t>¿Verdadero o falso? — y la prueba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944368"/>
            <a:ext cx="5120640" cy="1463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1. Valen pasó el verano en Colombia.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2. Mateo está en otra clase.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3. La profesora de español es nueva.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572000"/>
            <a:ext cx="512064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5B3E83"/>
                </a:solidFill>
                <a:latin typeface="Inter"/>
              </a:rPr>
              <a:t>Tu reacción: </a:t>
            </a:r>
            <a:r>
              <a:rPr sz="1000" b="0" i="0">
                <a:solidFill>
                  <a:srgbClr val="20242E"/>
                </a:solidFill>
                <a:latin typeface="Inter"/>
              </a:rPr>
              <a:t>Eres el compañero nuevo. Preséntate a Diego y a Valen en cuatro frases: nombre · origen · cómo estás hoy · una cosa que te gusta.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596128"/>
            <a:ext cx="11274552" cy="658368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Detalle: 1) Mateo · 2) De Buenos Aires · 3) 24 · 4) Cansado · 5) Martes y jueves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1) V — «Estuve en Cartagena»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2) F — «Está en nuestra clase»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3) F — «Es la misma»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5468112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¡EMPEZAMOS!   ·   C6+ · el reencuentro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FFFFFF"/>
                </a:solidFill>
                <a:latin typeface="Bricolage Grotesque"/>
              </a:rPr>
              <a:t>🪪 Tarea final · Tarjeta de reencuentro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Maak je terugkeer-kaartje voor de klasmuur y preséntate en pareja.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Planifica tus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554480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nombre · edad · origen · lengua · carácter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Escribe la tarjeta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121408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4–5 frases con me llamo / soy / tengo / vivo / hablo + conector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Preséntate en pareja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688336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lee en voz alta; tu compañero/a anota un dato y pregunta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Graba tu presentación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3255264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38404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Cuelga la tarjeta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822192"/>
            <a:ext cx="658368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el muro de la clase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5 datos (nombre·edad·origen·lengua·carácter)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presente correcto (soy/tengo/vivo)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 conector (y/pero/porque)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presentar en pareja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(el muro) · doel jezelf (opnieuw) voorstellen · situatie de eerste les · resultaat: tarjeta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een vraag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yo (ser)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1600200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soy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tú (tener)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313432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tienes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(vivir)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26664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vivimos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España → nacionalidad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39896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español/a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chica (alto)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1600200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alta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___ problema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313432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«want/omdat» =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3026664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porque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10896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en clase → soy/estoy?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739896"/>
            <a:ext cx="21488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estoy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Noodroute (§5): werkt zonder audio/internet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el presente · género/concordancia · ser/estar · países/nacionalidades · conectores.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1548993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 · docent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(13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Presentarte: me llamo · soy (de) · tengo … años · vivo en · hablo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El presente: -ar → o/as/a/amos/áis/an · -er/-ir gelijkaardig · 7 onreg. (soy·estoy·tengo·voy·hago·vengo·doy).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Concordancia: el chico alto / la chica alta · los/las + -os/-as.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Países/nacionalidades: soy de España, soy español/a (kleine letter), hablo español.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soy ≠ estoy · porque = want én omdat · nacionalidad = kleine letter · belga = m/v gelijk.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saludar + presentarse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presente (regular + ser/estar/tener/ir)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género + concordancia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país/nacionalidad/lengua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leer un perfil + escribir una tarjeta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Bricolage Grotesque"/>
              </a:rPr>
              <a:t>TEACHER_NOTES · U0 «¡Volvemos!»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353312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Timing (50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19072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EE8F5"/>
                </a:solidFill>
                <a:latin typeface="Inter"/>
              </a:rPr>
              <a:t>Menu 2' · saludos/presentarse 8' · el presente 12' · género 8' · ser/estar 5' · lectura/escucha 8' · cultura 3' · Tarea-briefing 4'.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04288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77440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Kernvalstrikken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43200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EE8F5"/>
                </a:solidFill>
                <a:latin typeface="Inter"/>
              </a:rPr>
              <a:t>soy ≠ estoy (identiteit vs plaats/gevoel) · porque = want én omdat · nacionalidades met kleine letter · belga = m/v gelijk · el problema/día/mapa (m), la mano/foto (f).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328416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401568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Differentiatie (zij-instromers)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67328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EE8F5"/>
                </a:solidFill>
                <a:latin typeface="Inter"/>
              </a:rPr>
              <a:t>U0 = diagnostisch, geen heronderwijs. Sterker: volledige presentación + tarjeta + perfil beschrijven. Zwakker: presente-tabel + soy/estoy-kaart langer open, frames houden.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352544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Digitaal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91456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EE8F5"/>
                </a:solidFill>
                <a:latin typeface="Inter"/>
              </a:rPr>
              <a:t>13 spellen + flip cards + klikbare wereldkaart + recorder (Hablar) + Lectura (dos perfiles) op de página digital. QR's in het boek → juiste anker. Conjugador = aparte tool.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76672"/>
            <a:ext cx="11247120" cy="914400"/>
          </a:xfrm>
          <a:prstGeom prst="roundRect">
            <a:avLst>
              <a:gd name="adj" fmla="val 5500"/>
            </a:avLst>
          </a:prstGeom>
          <a:solidFill>
            <a:srgbClr val="473069"/>
          </a:solidFill>
          <a:ln>
            <a:noFill/>
          </a:ln>
          <a:effectLst/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5449824"/>
            <a:ext cx="1078992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Bricolage Grotesque"/>
              </a:rPr>
              <a:t>Evaluatie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815584"/>
            <a:ext cx="107899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EEE8F5"/>
                </a:solidFill>
                <a:latin typeface="Inter"/>
              </a:rPr>
              <a:t>Tarea «Tarjeta de reencuentro» met rúbrica (4 criteria). LPD (III-Spa-d): presentarse 4·5·9 · datos 7·3 · países/nacionalidades 7·8·5 · ser/verbos 8·3 · género 8·7. U0 = opstap, geen zware toetsing.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U0 · ¡VOLVEMOS!   ·   C6+ · el reencuentro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Docentenversie — met oplossingen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