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Override PartName="/ppt/notesSlides/notesSlide24.xml" ContentType="application/vnd.openxmlformats-officedocument.presentationml.notesSlide+xml"/>
  <Override PartName="/ppt/slides/slide24.xml" ContentType="application/vnd.openxmlformats-officedocument.presentationml.slide+xml"/>
  <Override PartName="/ppt/notesSlides/notesSlide25.xml" ContentType="application/vnd.openxmlformats-officedocument.presentationml.notesSlide+xml"/>
  <Override PartName="/ppt/slides/slide25.xml" ContentType="application/vnd.openxmlformats-officedocument.presentationml.slide+xml"/>
  <Override PartName="/ppt/notesSlides/notesSlide26.xml" ContentType="application/vnd.openxmlformats-officedocument.presentationml.notesSlide+xml"/>
  <Override PartName="/ppt/slides/slide26.xml" ContentType="application/vnd.openxmlformats-officedocument.presentationml.slid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79" r:id="rId31"/>
    <p:sldId id="280" r:id="rId32"/>
    <p:sldId id="281" r:id="rId3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TEACHER · TITLE. U0 = het reencuentro (huidige cohorte, C6+). Diagnostische repaso: geen heronderwijs, wél activeren. Doel: saludar/presentarse (formeel/informeel), el presente (regular + ser/estar/tener/ir/hacer/venir/dar), género &amp; concordancia, países/nacionalidades/lenguas, números. Kernvalstrik: soy ≠ estoy · porque = want én omdat · nacionalidades met kleine letter. Docentdeck = vrije navigatie + oplossing in notities; leerlingdeck (.pptx, F5) = elke klik onthult het volgende antwoord.</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TEACHER · LESSON_MENU. Elke tegel = hyperlink; op elke oefendia staat ⌂ Menú terug. Richttijd 50 min. Kern = §2 el presente (diagnostisch). Kruisverwijzing print/HTML: «oefen online — 13 juegos + ~100 oefeningen».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TEACHER · VOCABULARY. Laat presentarse raden zónder de NL-gloss. Contrast tú/usted meteen. Online: flip cards + memoria del reencuentro + ¿formal o informal? (classify).</a:t>
            </a:r>
          </a:p>
          <a:p/>
          <a:p>
            <a:r>
              <a:t>— SOLUCIÓN (docent · presenter view) —</a:t>
            </a:r>
          </a:p>
          <a:p>
            <a:r>
              <a:t>Presentarte (3 werkwoorden): me llamo · soy (de) · tengo … años · vivo en · hablo …</a:t>
            </a:r>
          </a:p>
          <a:p>
            <a:r>
              <a:t>🔴 nacionaliteiten met kleine letter: soy belga, es española (niet Belga/Española).</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TEACHER · GRAMMAR (color-coding). Maak de raíz+terminación zichtbaar. Kleur nooit als enige drager. Online: «completa: el presente» (cloze) + vervoegingscirkel.</a:t>
            </a:r>
          </a:p>
          <a:p/>
          <a:p>
            <a:r>
              <a:t>— SOLUCIÓN (docent · presenter view) —</a:t>
            </a:r>
          </a:p>
          <a:p>
            <a:r>
              <a:t>Regla: raíz (habl-) + terminación. De terminación verandert met de persoon: yo hablo, tú hablas, él habla…</a:t>
            </a:r>
          </a:p>
          <a:p>
            <a:r>
              <a:t>De 7 onregelmatige (yo): soy · estoy · tengo · voy · hago · vengo · doy (vaak -oy of -go).</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TEACHER · QUIZ (reveal). Laat de klas de vorm roepen vóór de klik. Online: «completa: el presente» (cloze) + señala (yo/tú).</a:t>
            </a:r>
          </a:p>
          <a:p/>
          <a:p>
            <a:r>
              <a:t>— SOLUCIÓN (docent · presenter view) —</a:t>
            </a:r>
          </a:p>
          <a:p>
            <a:r>
              <a:t>yo → -o (hablo, vivo) · soy/estoy/tengo/voy/vengo/hago/doy. tú → -s · él/ella → -a/-e · nosotros → -mos · ellos → -n.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TEACHER · GRAMMAR ser (reveal). Coro vóór de klik. soy/estoy is dé U0-valstrik; het volledige ser/estar-contrast is U1. Online: «¿soy o estoy?» (classify).</a:t>
            </a:r>
          </a:p>
          <a:p/>
          <a:p>
            <a:r>
              <a:t>— SOLUCIÓN (docent · presenter view) —</a:t>
            </a:r>
          </a:p>
          <a:p>
            <a:r>
              <a:t>Truc: permanent/eigenschap → ser (soy) · tijdelijk/plaats → estar (estoy). Contrast komt uitgebreid in U1.</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TEACHER · GRAMMAR género. Toon concordantie fysiek (el chico alto / la chica alta). Online: «¿el o la?» (classify) + concordancia Tetris.</a:t>
            </a:r>
          </a:p>
          <a:p/>
          <a:p>
            <a:r>
              <a:t>— SOLUCIÓN (docent · presenter view) —</a:t>
            </a:r>
          </a:p>
          <a:p>
            <a:r>
              <a:t>Regla: lidwoord + adjectief komen overeen in geslacht én getal. Uitzonderingen: el día/mapa/problema (m), la mano/foto (f).</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TEACHER · QUIZ género (retrieval). Klas roept el/la vóór de klik. Online: «¿el o la?» (classify).</a:t>
            </a:r>
          </a:p>
          <a:p/>
          <a:p>
            <a:r>
              <a:t>— SOLUCIÓN (docent · presenter view) —</a:t>
            </a:r>
          </a:p>
          <a:p>
            <a:r>
              <a:t>Valstrikken: -ma → m (el problema, el idioma) · la mano, la foto (f ondanks -o) · -dad → f (la ciudad).</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TEACHER · READING (lezen→schrijven-keten). Eerst globaal, dan scannen. Onthul antwoorden pas na de klas. Daarna: leerlingen zeggen met wie ze meer gemeen hebben (transfer → Tarea).</a:t>
            </a:r>
          </a:p>
          <a:p/>
          <a:p>
            <a:r>
              <a:t>— SOLUCIÓN (docent · presenter view) —</a:t>
            </a:r>
          </a:p>
          <a:p>
            <a:r>
              <a:t>🎯 Leesdoel: scannen naar datos (país, edad, lengua, carácter) — niet élk woord.</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TEACHER · LISTENING (selectief → spreken). Lees elke presentatie voor (of TTS). Klas noteert país + edad; onthul per klik. Koppel meteen aan de eigen presentación.</a:t>
            </a:r>
          </a:p>
          <a:p/>
          <a:p>
            <a:r>
              <a:t>— SOLUCIÓN (docent · presenter view) —</a:t>
            </a:r>
          </a:p>
          <a:p>
            <a:r>
              <a:t>Modelo-audio (docent leest of TTS): «Hola, me llamo Lucía, soy de España. Tengo dieciséis años y soy alegre.» …</a:t>
            </a:r>
          </a:p>
          <a:p>
            <a:r>
              <a:t>Daarna spreken: elke leerling presenteert zich zoals het model.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TEACHER · GRAMMAR soy/estoy (reveal). Coro vóór de klik. Diagnostisch: enkel yo-vormen. Online: «¿soy o estoy?» (classify).</a:t>
            </a:r>
          </a:p>
          <a:p/>
          <a:p>
            <a:r>
              <a:t>— SOLUCIÓN (docent · presenter view) —</a:t>
            </a:r>
          </a:p>
          <a:p>
            <a:r>
              <a:t>ser (soy): herkomst · nationaliteit · beroep · karakter. estar (estoy): plaats · gevoel · toestand.</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TEACHER · SPEAKING (interactie). Automatiseer presentarse in rondes met afbouwende steun. Online: recorder (opname + zelfevaluatie). Print blijft bruikbaar zonder opname.</a:t>
            </a:r>
          </a:p>
          <a:p/>
          <a:p>
            <a:r>
              <a:t>— SOLUCIÓN (docent · presenter view) —</a:t>
            </a:r>
          </a:p>
          <a:p>
            <a:r>
              <a:t>Modelo: «¡Hola! Me llamo … Soy de … Tengo … años. Vivo en … Hablo … ¡Mucho gusto!»</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TEACHER · WRITING (lezen→schrijven). Checklist = zichtbare steun; onthul het model pas na het schrijven (retrieval). Nakijkfocus: presente correct, concordancia, één conector. Dit voedt de Tarea «Tarjeta de reencuentro».</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TEACHER · VOCAB países. Klik onthult; koppel país → nacionalidad → lengua. Online: «país ↔ nacionalidad» (match) + banderas (memory).</a:t>
            </a:r>
          </a:p>
          <a:p/>
          <a:p>
            <a:r>
              <a:t>— SOLUCIÓN (docent · presenter view) —</a:t>
            </a:r>
          </a:p>
          <a:p>
            <a:r>
              <a:t>Zin: Soy de España, soy español/a y hablo español. 🔴 nacionalidades met kleine letter; landen met hoofdletter.</a:t>
            </a:r>
          </a:p>
          <a:p>
            <a:r>
              <a:t>Números: veinte (20) · cincuenta (50) · cien (100).</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TEACHER · TALLER. Acentuación = EELP-sterk, kort ophalen. porque/pero = kernvalstrik NL. Online: drills in de hub.</a:t>
            </a:r>
          </a:p>
          <a:p/>
          <a:p>
            <a:r>
              <a:t>— SOLUCIÓN (docent · presenter view) —</a:t>
            </a:r>
          </a:p>
          <a:p>
            <a:r>
              <a:t>A: de meeste woorden zijn llana; draagt het een tilde, volg de tilde (mú-si-ca).</a:t>
            </a:r>
          </a:p>
          <a:p>
            <a:r>
              <a:t>🔴 B: «want» én «omdat» = porque · «maar» = pero · «dus» = así que/por eso (niet luego).</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TEACHER · CULTURE (identiteit in diversiteit, LPD 5). Onthul per kaart. Bruggetje naar La Ruta (U1 begint de reis). Online: klikbare wereldkaart.</a:t>
            </a:r>
          </a:p>
          <a:p/>
          <a:p>
            <a:r>
              <a:t>— SOLUCIÓN (docent · presenter view) —</a:t>
            </a:r>
          </a:p>
          <a:p>
            <a:r>
              <a:t>Actividad: ¿Qué país quieres visitar y por qué? Schrijf één zin met «Quiero visitar … porque …».</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TEACHER · QUIZ interactie. Klas vult vóór de klik. Daarna de presentación in parejas.</a:t>
            </a:r>
          </a:p>
          <a:p/>
          <a:p>
            <a:r>
              <a:t>— SOLUCIÓN (docent · presenter view) —</a:t>
            </a:r>
          </a:p>
          <a:p>
            <a:r>
              <a:t>Presentarse: ¿Cómo te llamas? · Soy de … · Tengo … años · ¿De dónde eres? · Vivo en … · Mucho gusto.</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TEACHER · READING. Route: voorspellen → globaal → scannen → juist/fout MET BEWIJS → betekenis uit context → zelf schrijven. Laat de tekst staan tijdens het scannen: informatie terugvinden is lezen, uit het hoofd opzeggen is iets anders. Eis bij elke V/F de zin uit de tekst — dat is de stap die gokken onmogelijk maakt. Dezelfde tekst staat in de cursus (met schrijfruimte) en op de hub (zelfcorrigerend, met vertaalknop).</a:t>
            </a:r>
          </a:p>
          <a:p/>
          <a:p>
            <a:r>
              <a:t>— SOLUCIÓN (docent · presenter view) —</a:t>
            </a:r>
          </a:p>
          <a:p>
            <a:r>
              <a:t>Escanear: 1) 15 · 2) miércoles · 3) 8 · 4) 5</a:t>
            </a:r>
          </a:p>
          <a:p>
            <a:r>
              <a:t>1) F — «No soy profesional»</a:t>
            </a:r>
          </a:p>
          <a:p>
            <a:r>
              <a:t>2) F — «Los libros están en muy buen estado»</a:t>
            </a:r>
          </a:p>
          <a:p>
            <a:r>
              <a:t>3) V — «Es gratis»</a:t>
            </a:r>
          </a:p>
          <a:p>
            <a:r>
              <a:t>4) V — «soy nuevo en el instituto»</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TEACHER · LISTENING. Zes treden: situatie vooraf → globaal → vijf details → juist/fout MET BEWIJS → transcript pas ná de taken → productieve reactie. Speel het fragment minstens twee keer: één keer globaal (boeken dicht), daarna gericht. Het transcript staat op de hub en gaat daar pas open als de taken gedaan zijn — meelezen tijdens het luisteren maakt er een leesoefening van. Zolang er geen opname is, leest de computerstem het gesprek voor met een eigen stem per spreker. Noodroute: het fragment ook voorlezen kan, met twee leerlingen in de rollen.</a:t>
            </a:r>
          </a:p>
          <a:p/>
          <a:p>
            <a:r>
              <a:t>— SOLUCIÓN (docent · presenter view) —</a:t>
            </a:r>
          </a:p>
          <a:p>
            <a:r>
              <a:t>Detalle: 1) Mateo · 2) De Buenos Aires · 3) 24 · 4) Cansado · 5) Martes y jueves</a:t>
            </a:r>
          </a:p>
          <a:p>
            <a:r>
              <a:t>1) V — «Estuve en Cartagena»</a:t>
            </a:r>
          </a:p>
          <a:p>
            <a:r>
              <a:t>2) F — «Está en nuestra clase»</a:t>
            </a:r>
          </a:p>
          <a:p>
            <a:r>
              <a:t>3) F — «Es la misma»</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TEACHER · FINAL_MISSION (communicatieve eindtaak). Afzender/ontvanger/doel/situatie/resultaat expliciet. Beoordeel met de rúbrica; opname + zelfevaluatie op de digitale pagina.</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TEACHER · QUIZ mezcla (retrieval vóór herlezen). Zonder waarschuwing door elkaar. Exit-ticket. Zwakke punten → terug via menu.</a:t>
            </a:r>
          </a:p>
          <a:p/>
          <a:p>
            <a:r>
              <a:t>— SOLUCIÓN (docent · presenter view) —</a:t>
            </a:r>
          </a:p>
          <a:p>
            <a:r>
              <a:t>Alles komt terug: el presente · género/concordancia · ser/estar · países/nacionalidades · conectores.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TEACHER · FEEDBACK/REPASO. Semáforo = zelfevaluatie. Repaso-drills online (13 spellen). Bruggetje: U1 «El día a día» — rutina, gustos (me gusta) en ser vs estar.</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Alleen in het docentdeck. Volledige LPD-dekking en didactische route staan in het cursusdossier (cocktail + outline).</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RETO 3 · La entrevista de trabajo absurda — 🎭 simulatie met beperking</a:t>
            </a:r>
          </a:p>
          <a:p>
            <a:r>
              <a:t>OPDRACHT: Doe het sollicitatiegesprek. Alles in het presente, met één argument per antwoord.</a:t>
            </a:r>
          </a:p>
          <a:p>
            <a:r>
              <a:t>DE REGEL: Alles in het presente — geen verleden, geen toekomst. En op elke vraag antwoord je met een reden («porque…»), nooit met alleen «sí».</a:t>
            </a:r>
          </a:p>
          <a:p>
            <a:r>
              <a:t>VERLOOP: Elegid un trabajo absurdo. | El entrevistador elige cinco preguntas. | El candidato contesta en presente, con porque. | Cambiad de papel. | La clase decide quién contrata a quién.</a:t>
            </a:r>
          </a:p>
          <a:p>
            <a:r>
              <a:t>SLEUTEL: De usted-vorm in de vragen tegenover de yo-vorm in de antwoorden is de eigenlijke drill: elke beurt oefent twee persoonsvormen tegelijk.  ||  «¿Cuál es su mayor defecto?» is de moeilijkste: het antwoord vraagt om een «pero»-zin, en dat is precies de conector die het leerplan wil.  ||  Het absurde is geen decor maar een didactisch middel: niemand kan een voorbereid antwoord uit het hoofd opzeggen over pandaverzorging, dus iedereen moet echt formuleren.</a:t>
            </a:r>
          </a:p>
          <a:p>
            <a:r>
              <a:t>NOTA: Werkt sterk in de eerste weken: er is geen goed antwoord, dus zij-instromers en doorstromers staan even sterk.</a:t>
            </a:r>
          </a:p>
        </p:txBody>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RETO 9 · Un país en cinco datos — 🔬 onderzoek &amp; data</a:t>
            </a:r>
          </a:p>
          <a:p>
            <a:r>
              <a:t>OPDRACHT: Presenteer je land in vijf cijfers. De klas raadt welk het is.</a:t>
            </a:r>
          </a:p>
          <a:p>
            <a:r>
              <a:t>DE REGEL: De landnaam, de hoofdstad en de vlag zijn verboden. Alleen cijfers, en elk cijfer krijgt een zin met een werkwoord — een lijstje getallen is geen presentatie.</a:t>
            </a:r>
          </a:p>
          <a:p>
            <a:r>
              <a:t>VERLOOP: Elige un país hispanohablante. | Busca cinco cifras de verdad. | Escribe una frase por cifra. | Presenta. La clase adivina. | ¿Han acertado antes del quinto dato? Eran demasiado fáciles.</a:t>
            </a:r>
          </a:p>
          <a:p>
            <a:r>
              <a:t>SLEUTEL: Het voorbeeld is Paraguay: binnenland, twee officiële talen, guaraní bij bijna iedereen. Laat het pas zien ná de eerste ronde, anders kiest de halve klas datzelfde land.  ||  Van makkelijk naar moeilijk ordenen is de kunst: begin met het cijfer dat het minst verraadt en houd het meest kenmerkende voor het laatst.  ||  Toets de vijf zinnen (werkwoord plus cijfer), niet of het geraden wordt. Te snel geraden betekent alleen dat de volgorde beter kon.</a:t>
            </a:r>
          </a:p>
          <a:p>
            <a:r>
              <a:t>NOTA: Laat elk land maar één keer kiezen: zo dekt de klas samen de hele Spaanstalige wereld af in één les.</a:t>
            </a:r>
          </a:p>
        </p:txBody>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RETO 10 · La clase perfecta — ⚖️ onderhandeling &amp; dilemma</a:t>
            </a:r>
          </a:p>
          <a:p>
            <a:r>
              <a:t>OPDRACHT: Stel voor, onderhandel en stem over tien afspraken. Elk voorstel met ser of estar.</a:t>
            </a:r>
          </a:p>
          <a:p>
            <a:r>
              <a:t>DE REGEL: Elk voorstel bevat een zin met «es» of «está» — «es importante que hablemos español» mag niet, want dat is subjuntivo; «es importante hablar español» wel. Een voorstel zonder ser of estar komt niet op het bord.</a:t>
            </a:r>
          </a:p>
          <a:p>
            <a:r>
              <a:t>VERLOOP: Cada uno escribe dos propuestas. | Se leen en voz alta. Solo las que llevan ser o estar. | Se negocian las parecidas. | Se vota. Diez reglas, ni una más. | Se cuelgan en la pared, en español.</a:t>
            </a:r>
          </a:p>
          <a:p>
            <a:r>
              <a:t>SLEUTEL: De grammaticale grens is hier de leerstof: «es importante + infinitivo» werkt, «es importante que + subjuntivo» niet — en subjuntivo hoort niet in dit leerplan. Dat verschil is meteen een echte les.  ||  Het derde dilemma is voor deze groep het belangrijkste: de klas zit vol zij-instromers. Laat de afspraak daarover écht gemaakt worden, niet weggestemd.  ||  Toets de tien afspraken op vorm (ser of estar) en op het feit dat ze in het Spaans aan de muur hangen. De inhoud is van de klas, niet van de leerkracht.</a:t>
            </a:r>
          </a:p>
          <a:p>
            <a:r>
              <a:t>NOTA: Hang ze echt op en verwijs er het hele jaar naar. Een afspraak die na één les verdwijnt, leert de klas dat de reto een spelletje was.</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image" Target="../media/image5.png"/><Relationship Id="rId7" Type="http://schemas.openxmlformats.org/officeDocument/2006/relationships/image" Target="../media/image6.png"/><Relationship Id="rId8"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slide" Target="slide3.xml"/><Relationship Id="rId4" Type="http://schemas.openxmlformats.org/officeDocument/2006/relationships/slide" Target="slide4.xml"/><Relationship Id="rId5" Type="http://schemas.openxmlformats.org/officeDocument/2006/relationships/slide" Target="slide7.xml"/><Relationship Id="rId6" Type="http://schemas.openxmlformats.org/officeDocument/2006/relationships/slide" Target="slide14.xml"/><Relationship Id="rId7" Type="http://schemas.openxmlformats.org/officeDocument/2006/relationships/slide" Target="slide9.xml"/><Relationship Id="rId8" Type="http://schemas.openxmlformats.org/officeDocument/2006/relationships/slide" Target="slide16.xml"/><Relationship Id="rId9" Type="http://schemas.openxmlformats.org/officeDocument/2006/relationships/slide" Target="slide18.xml"/><Relationship Id="rId10" Type="http://schemas.openxmlformats.org/officeDocument/2006/relationships/slide" Target="slide20.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 Id="rId3" Type="http://schemas.openxmlformats.org/officeDocument/2006/relationships/slide" Target="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 Id="rId3" Type="http://schemas.openxmlformats.org/officeDocument/2006/relationships/slide" Target="slide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slide" Target="slide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slide" Target="slide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slide" Target="slide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slide" Target="slide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4.png"/><Relationship Id="rId4" Type="http://schemas.openxmlformats.org/officeDocument/2006/relationships/notesSlide" Target="../notesSlides/notesSlide9.xml"/><Relationship Id="rId5" Type="http://schemas.openxmlformats.org/officeDocument/2006/relationships/slide" Target="slide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slide" Target="slide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 Id="rId3" Type="http://schemas.openxmlformats.org/officeDocument/2006/relationships/slide" Target="slide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2.xml"/><Relationship Id="rId4" Type="http://schemas.openxmlformats.org/officeDocument/2006/relationships/slide" Target="slide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 Id="rId3" Type="http://schemas.openxmlformats.org/officeDocument/2006/relationships/slide" Target="slide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 Id="rId3" Type="http://schemas.openxmlformats.org/officeDocument/2006/relationships/slide" Target="slide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 Id="rId3" Type="http://schemas.openxmlformats.org/officeDocument/2006/relationships/slide" Target="slide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 Id="rId3" Type="http://schemas.openxmlformats.org/officeDocument/2006/relationships/slide" Target="slide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 Id="rId3" Type="http://schemas.openxmlformats.org/officeDocument/2006/relationships/slide" Target="slide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 Id="rId3" Type="http://schemas.openxmlformats.org/officeDocument/2006/relationships/slide" Target="slide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C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4297680"/>
          </a:xfrm>
          <a:prstGeom prst="rect">
            <a:avLst/>
          </a:prstGeom>
          <a:solidFill>
            <a:srgbClr val="7C56A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4297680"/>
            <a:ext cx="12191695" cy="82296"/>
          </a:xfrm>
          <a:prstGeom prst="rect">
            <a:avLst/>
          </a:prstGeom>
          <a:solidFill>
            <a:srgbClr val="5B3E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320040"/>
            <a:ext cx="3108960" cy="3291840"/>
          </a:xfrm>
          <a:prstGeom prst="rect">
            <a:avLst/>
          </a:prstGeom>
          <a:noFill/>
        </p:spPr>
        <p:txBody>
          <a:bodyPr wrap="square" anchor="ctr" lIns="38100" rIns="38100" tIns="25400" bIns="25400">
            <a:spAutoFit/>
          </a:bodyPr>
          <a:lstStyle/>
          <a:p>
            <a:pPr algn="l">
              <a:lnSpc>
                <a:spcPct val="106000"/>
              </a:lnSpc>
              <a:spcBef>
                <a:spcPts val="0"/>
              </a:spcBef>
              <a:spcAft>
                <a:spcPts val="200"/>
              </a:spcAft>
            </a:pPr>
            <a:r>
              <a:rPr sz="26000" b="1" i="0">
                <a:solidFill>
                  <a:srgbClr val="9374C2"/>
                </a:solidFill>
                <a:latin typeface="Bricolage Grotesque"/>
              </a:rPr>
              <a:t>0</a:t>
            </a:r>
          </a:p>
        </p:txBody>
      </p:sp>
      <p:sp>
        <p:nvSpPr>
          <p:cNvPr id="6" name="Rounded Rectangle 5"/>
          <p:cNvSpPr/>
          <p:nvPr/>
        </p:nvSpPr>
        <p:spPr>
          <a:xfrm>
            <a:off x="3977639" y="777240"/>
            <a:ext cx="3904487" cy="292608"/>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88900" rIns="88900" tIns="12700" bIns="12700"/>
          <a:lstStyle/>
          <a:p>
            <a:pPr algn="ctr"/>
            <a:r>
              <a:rPr sz="1200" b="1">
                <a:solidFill>
                  <a:srgbClr val="5B3E83"/>
                </a:solidFill>
                <a:latin typeface="Inter"/>
              </a:rPr>
              <a:t>LA RUTA · EL REENCUENTRO · EL MUNDO HISPANO 🧭</a:t>
            </a:r>
          </a:p>
        </p:txBody>
      </p:sp>
      <p:sp>
        <p:nvSpPr>
          <p:cNvPr id="7" name="TextBox 6"/>
          <p:cNvSpPr txBox="1"/>
          <p:nvPr/>
        </p:nvSpPr>
        <p:spPr>
          <a:xfrm>
            <a:off x="3931920" y="1234440"/>
            <a:ext cx="7863840" cy="1371600"/>
          </a:xfrm>
          <a:prstGeom prst="rect">
            <a:avLst/>
          </a:prstGeom>
          <a:noFill/>
        </p:spPr>
        <p:txBody>
          <a:bodyPr wrap="square" anchor="t" lIns="38100" rIns="38100" tIns="25400" bIns="25400">
            <a:spAutoFit/>
          </a:bodyPr>
          <a:lstStyle/>
          <a:p>
            <a:pPr algn="l">
              <a:lnSpc>
                <a:spcPct val="106000"/>
              </a:lnSpc>
              <a:spcBef>
                <a:spcPts val="0"/>
              </a:spcBef>
              <a:spcAft>
                <a:spcPts val="200"/>
              </a:spcAft>
            </a:pPr>
            <a:r>
              <a:rPr sz="6600" b="1" i="0">
                <a:solidFill>
                  <a:srgbClr val="FFFFFF"/>
                </a:solidFill>
                <a:latin typeface="Bricolage Grotesque"/>
              </a:rPr>
              <a:t>¡Volvemos!</a:t>
            </a:r>
          </a:p>
        </p:txBody>
      </p:sp>
      <p:sp>
        <p:nvSpPr>
          <p:cNvPr id="8" name="TextBox 7"/>
          <p:cNvSpPr txBox="1"/>
          <p:nvPr/>
        </p:nvSpPr>
        <p:spPr>
          <a:xfrm>
            <a:off x="3977639" y="2468880"/>
            <a:ext cx="7680960" cy="548640"/>
          </a:xfrm>
          <a:prstGeom prst="rect">
            <a:avLst/>
          </a:prstGeom>
          <a:noFill/>
        </p:spPr>
        <p:txBody>
          <a:bodyPr wrap="square" anchor="t" lIns="38100" rIns="38100" tIns="25400" bIns="25400">
            <a:spAutoFit/>
          </a:bodyPr>
          <a:lstStyle/>
          <a:p>
            <a:pPr algn="l">
              <a:lnSpc>
                <a:spcPct val="106000"/>
              </a:lnSpc>
              <a:spcBef>
                <a:spcPts val="0"/>
              </a:spcBef>
              <a:spcAft>
                <a:spcPts val="200"/>
              </a:spcAft>
            </a:pPr>
            <a:r>
              <a:rPr sz="1500" b="0" i="1">
                <a:solidFill>
                  <a:srgbClr val="EEE8F5"/>
                </a:solidFill>
                <a:latin typeface="Inter"/>
              </a:rPr>
              <a:t>Otra vez juntos: saludar, presentarte y activar tu base (presente · género · países).</a:t>
            </a:r>
          </a:p>
        </p:txBody>
      </p:sp>
      <p:sp>
        <p:nvSpPr>
          <p:cNvPr id="9" name="TextBox 8"/>
          <p:cNvSpPr txBox="1"/>
          <p:nvPr/>
        </p:nvSpPr>
        <p:spPr>
          <a:xfrm>
            <a:off x="3977639" y="3063240"/>
            <a:ext cx="7680960" cy="822960"/>
          </a:xfrm>
          <a:prstGeom prst="rect">
            <a:avLst/>
          </a:prstGeom>
          <a:noFill/>
        </p:spPr>
        <p:txBody>
          <a:bodyPr wrap="square" anchor="t" lIns="38100" rIns="38100" tIns="25400" bIns="25400">
            <a:spAutoFit/>
          </a:bodyPr>
          <a:lstStyle/>
          <a:p>
            <a:pPr algn="l">
              <a:lnSpc>
                <a:spcPct val="106000"/>
              </a:lnSpc>
              <a:spcBef>
                <a:spcPts val="0"/>
              </a:spcBef>
              <a:spcAft>
                <a:spcPts val="200"/>
              </a:spcAft>
            </a:pPr>
            <a:r>
              <a:rPr sz="2400" b="1" i="0">
                <a:solidFill>
                  <a:srgbClr val="FFFFFF"/>
                </a:solidFill>
                <a:latin typeface="Bricolage Grotesque"/>
              </a:rPr>
              <a:t>¿Quién eres… otra vez?</a:t>
            </a:r>
          </a:p>
          <a:p>
            <a:pPr algn="l">
              <a:lnSpc>
                <a:spcPct val="106000"/>
              </a:lnSpc>
              <a:spcBef>
                <a:spcPts val="0"/>
              </a:spcBef>
              <a:spcAft>
                <a:spcPts val="200"/>
              </a:spcAft>
            </a:pPr>
            <a:r>
              <a:rPr sz="1300" b="0" i="1">
                <a:solidFill>
                  <a:srgbClr val="EEE8F5"/>
                </a:solidFill>
                <a:latin typeface="Inter"/>
              </a:rPr>
              <a:t>Wie ben je… opnieuw?</a:t>
            </a:r>
          </a:p>
        </p:txBody>
      </p:sp>
      <p:sp>
        <p:nvSpPr>
          <p:cNvPr id="10" name="TextBox 9"/>
          <p:cNvSpPr txBox="1"/>
          <p:nvPr/>
        </p:nvSpPr>
        <p:spPr>
          <a:xfrm>
            <a:off x="548640" y="4526280"/>
            <a:ext cx="5486400" cy="365760"/>
          </a:xfrm>
          <a:prstGeom prst="rect">
            <a:avLst/>
          </a:prstGeom>
          <a:noFill/>
        </p:spPr>
        <p:txBody>
          <a:bodyPr wrap="square" anchor="t" lIns="38100" rIns="38100" tIns="25400" bIns="25400">
            <a:spAutoFit/>
          </a:bodyPr>
          <a:lstStyle/>
          <a:p>
            <a:pPr algn="l">
              <a:lnSpc>
                <a:spcPct val="106000"/>
              </a:lnSpc>
              <a:spcBef>
                <a:spcPts val="0"/>
              </a:spcBef>
              <a:spcAft>
                <a:spcPts val="200"/>
              </a:spcAft>
            </a:pPr>
            <a:r>
              <a:rPr sz="1300" b="1" i="0">
                <a:solidFill>
                  <a:srgbClr val="5B3E83"/>
                </a:solidFill>
                <a:latin typeface="Bricolage Grotesque"/>
              </a:rPr>
              <a:t>La gente de la ruta — je reisgezellen</a:t>
            </a:r>
          </a:p>
        </p:txBody>
      </p:sp>
      <p:pic>
        <p:nvPicPr>
          <p:cNvPr id="11" name="Picture 10" descr="lucia.png"/>
          <p:cNvPicPr>
            <a:picLocks noChangeAspect="1"/>
          </p:cNvPicPr>
          <p:nvPr/>
        </p:nvPicPr>
        <p:blipFill>
          <a:blip r:embed="rId2"/>
          <a:stretch>
            <a:fillRect/>
          </a:stretch>
        </p:blipFill>
        <p:spPr>
          <a:xfrm>
            <a:off x="548640" y="4937760"/>
            <a:ext cx="914400" cy="914400"/>
          </a:xfrm>
          <a:prstGeom prst="rect">
            <a:avLst/>
          </a:prstGeom>
        </p:spPr>
      </p:pic>
      <p:sp>
        <p:nvSpPr>
          <p:cNvPr id="12" name="TextBox 11"/>
          <p:cNvSpPr txBox="1"/>
          <p:nvPr/>
        </p:nvSpPr>
        <p:spPr>
          <a:xfrm>
            <a:off x="411480" y="5870448"/>
            <a:ext cx="1188720" cy="457200"/>
          </a:xfrm>
          <a:prstGeom prst="rect">
            <a:avLst/>
          </a:prstGeom>
          <a:noFill/>
        </p:spPr>
        <p:txBody>
          <a:bodyPr wrap="square" anchor="t" lIns="38100" rIns="38100" tIns="25400" bIns="25400">
            <a:spAutoFit/>
          </a:bodyPr>
          <a:lstStyle/>
          <a:p>
            <a:pPr algn="ctr">
              <a:lnSpc>
                <a:spcPct val="106000"/>
              </a:lnSpc>
              <a:spcBef>
                <a:spcPts val="0"/>
              </a:spcBef>
              <a:spcAft>
                <a:spcPts val="200"/>
              </a:spcAft>
            </a:pPr>
            <a:r>
              <a:rPr sz="1050" b="1" i="0">
                <a:solidFill>
                  <a:srgbClr val="20242E"/>
                </a:solidFill>
                <a:latin typeface="Inter"/>
              </a:rPr>
              <a:t>Lucia</a:t>
            </a:r>
          </a:p>
          <a:p>
            <a:pPr algn="ctr">
              <a:lnSpc>
                <a:spcPct val="106000"/>
              </a:lnSpc>
              <a:spcBef>
                <a:spcPts val="0"/>
              </a:spcBef>
              <a:spcAft>
                <a:spcPts val="200"/>
              </a:spcAft>
            </a:pPr>
            <a:r>
              <a:rPr sz="850" b="0" i="0">
                <a:solidFill>
                  <a:srgbClr val="6A6E78"/>
                </a:solidFill>
                <a:latin typeface="Inter"/>
              </a:rPr>
              <a:t>Sevilla 🇪🇸</a:t>
            </a:r>
          </a:p>
        </p:txBody>
      </p:sp>
      <p:pic>
        <p:nvPicPr>
          <p:cNvPr id="13" name="Picture 12" descr="diego.png"/>
          <p:cNvPicPr>
            <a:picLocks noChangeAspect="1"/>
          </p:cNvPicPr>
          <p:nvPr/>
        </p:nvPicPr>
        <p:blipFill>
          <a:blip r:embed="rId3"/>
          <a:stretch>
            <a:fillRect/>
          </a:stretch>
        </p:blipFill>
        <p:spPr>
          <a:xfrm>
            <a:off x="2423159" y="4937760"/>
            <a:ext cx="914400" cy="914400"/>
          </a:xfrm>
          <a:prstGeom prst="rect">
            <a:avLst/>
          </a:prstGeom>
        </p:spPr>
      </p:pic>
      <p:sp>
        <p:nvSpPr>
          <p:cNvPr id="14" name="TextBox 13"/>
          <p:cNvSpPr txBox="1"/>
          <p:nvPr/>
        </p:nvSpPr>
        <p:spPr>
          <a:xfrm>
            <a:off x="2285999" y="5870448"/>
            <a:ext cx="1188720" cy="457200"/>
          </a:xfrm>
          <a:prstGeom prst="rect">
            <a:avLst/>
          </a:prstGeom>
          <a:noFill/>
        </p:spPr>
        <p:txBody>
          <a:bodyPr wrap="square" anchor="t" lIns="38100" rIns="38100" tIns="25400" bIns="25400">
            <a:spAutoFit/>
          </a:bodyPr>
          <a:lstStyle/>
          <a:p>
            <a:pPr algn="ctr">
              <a:lnSpc>
                <a:spcPct val="106000"/>
              </a:lnSpc>
              <a:spcBef>
                <a:spcPts val="0"/>
              </a:spcBef>
              <a:spcAft>
                <a:spcPts val="200"/>
              </a:spcAft>
            </a:pPr>
            <a:r>
              <a:rPr sz="1050" b="1" i="0">
                <a:solidFill>
                  <a:srgbClr val="20242E"/>
                </a:solidFill>
                <a:latin typeface="Inter"/>
              </a:rPr>
              <a:t>Diego</a:t>
            </a:r>
          </a:p>
          <a:p>
            <a:pPr algn="ctr">
              <a:lnSpc>
                <a:spcPct val="106000"/>
              </a:lnSpc>
              <a:spcBef>
                <a:spcPts val="0"/>
              </a:spcBef>
              <a:spcAft>
                <a:spcPts val="200"/>
              </a:spcAft>
            </a:pPr>
            <a:r>
              <a:rPr sz="850" b="0" i="0">
                <a:solidFill>
                  <a:srgbClr val="6A6E78"/>
                </a:solidFill>
                <a:latin typeface="Inter"/>
              </a:rPr>
              <a:t>CDMX 🇲🇽</a:t>
            </a:r>
          </a:p>
        </p:txBody>
      </p:sp>
      <p:pic>
        <p:nvPicPr>
          <p:cNvPr id="15" name="Picture 14" descr="valen.png"/>
          <p:cNvPicPr>
            <a:picLocks noChangeAspect="1"/>
          </p:cNvPicPr>
          <p:nvPr/>
        </p:nvPicPr>
        <p:blipFill>
          <a:blip r:embed="rId4"/>
          <a:stretch>
            <a:fillRect/>
          </a:stretch>
        </p:blipFill>
        <p:spPr>
          <a:xfrm>
            <a:off x="4297678" y="4937760"/>
            <a:ext cx="914400" cy="914400"/>
          </a:xfrm>
          <a:prstGeom prst="rect">
            <a:avLst/>
          </a:prstGeom>
        </p:spPr>
      </p:pic>
      <p:sp>
        <p:nvSpPr>
          <p:cNvPr id="16" name="TextBox 15"/>
          <p:cNvSpPr txBox="1"/>
          <p:nvPr/>
        </p:nvSpPr>
        <p:spPr>
          <a:xfrm>
            <a:off x="4160518" y="5870448"/>
            <a:ext cx="1188720" cy="457200"/>
          </a:xfrm>
          <a:prstGeom prst="rect">
            <a:avLst/>
          </a:prstGeom>
          <a:noFill/>
        </p:spPr>
        <p:txBody>
          <a:bodyPr wrap="square" anchor="t" lIns="38100" rIns="38100" tIns="25400" bIns="25400">
            <a:spAutoFit/>
          </a:bodyPr>
          <a:lstStyle/>
          <a:p>
            <a:pPr algn="ctr">
              <a:lnSpc>
                <a:spcPct val="106000"/>
              </a:lnSpc>
              <a:spcBef>
                <a:spcPts val="0"/>
              </a:spcBef>
              <a:spcAft>
                <a:spcPts val="200"/>
              </a:spcAft>
            </a:pPr>
            <a:r>
              <a:rPr sz="1050" b="1" i="0">
                <a:solidFill>
                  <a:srgbClr val="20242E"/>
                </a:solidFill>
                <a:latin typeface="Inter"/>
              </a:rPr>
              <a:t>Valen</a:t>
            </a:r>
          </a:p>
          <a:p>
            <a:pPr algn="ctr">
              <a:lnSpc>
                <a:spcPct val="106000"/>
              </a:lnSpc>
              <a:spcBef>
                <a:spcPts val="0"/>
              </a:spcBef>
              <a:spcAft>
                <a:spcPts val="200"/>
              </a:spcAft>
            </a:pPr>
            <a:r>
              <a:rPr sz="850" b="0" i="0">
                <a:solidFill>
                  <a:srgbClr val="6A6E78"/>
                </a:solidFill>
                <a:latin typeface="Inter"/>
              </a:rPr>
              <a:t>Cartagena 🇨🇴</a:t>
            </a:r>
          </a:p>
        </p:txBody>
      </p:sp>
      <p:pic>
        <p:nvPicPr>
          <p:cNvPr id="17" name="Picture 16" descr="nina.png"/>
          <p:cNvPicPr>
            <a:picLocks noChangeAspect="1"/>
          </p:cNvPicPr>
          <p:nvPr/>
        </p:nvPicPr>
        <p:blipFill>
          <a:blip r:embed="rId5"/>
          <a:stretch>
            <a:fillRect/>
          </a:stretch>
        </p:blipFill>
        <p:spPr>
          <a:xfrm>
            <a:off x="6172197" y="4937760"/>
            <a:ext cx="914400" cy="914400"/>
          </a:xfrm>
          <a:prstGeom prst="rect">
            <a:avLst/>
          </a:prstGeom>
        </p:spPr>
      </p:pic>
      <p:sp>
        <p:nvSpPr>
          <p:cNvPr id="18" name="TextBox 17"/>
          <p:cNvSpPr txBox="1"/>
          <p:nvPr/>
        </p:nvSpPr>
        <p:spPr>
          <a:xfrm>
            <a:off x="6035037" y="5870448"/>
            <a:ext cx="1188720" cy="457200"/>
          </a:xfrm>
          <a:prstGeom prst="rect">
            <a:avLst/>
          </a:prstGeom>
          <a:noFill/>
        </p:spPr>
        <p:txBody>
          <a:bodyPr wrap="square" anchor="t" lIns="38100" rIns="38100" tIns="25400" bIns="25400">
            <a:spAutoFit/>
          </a:bodyPr>
          <a:lstStyle/>
          <a:p>
            <a:pPr algn="ctr">
              <a:lnSpc>
                <a:spcPct val="106000"/>
              </a:lnSpc>
              <a:spcBef>
                <a:spcPts val="0"/>
              </a:spcBef>
              <a:spcAft>
                <a:spcPts val="200"/>
              </a:spcAft>
            </a:pPr>
            <a:r>
              <a:rPr sz="1050" b="1" i="0">
                <a:solidFill>
                  <a:srgbClr val="20242E"/>
                </a:solidFill>
                <a:latin typeface="Inter"/>
              </a:rPr>
              <a:t>Nina</a:t>
            </a:r>
          </a:p>
          <a:p>
            <a:pPr algn="ctr">
              <a:lnSpc>
                <a:spcPct val="106000"/>
              </a:lnSpc>
              <a:spcBef>
                <a:spcPts val="0"/>
              </a:spcBef>
              <a:spcAft>
                <a:spcPts val="200"/>
              </a:spcAft>
            </a:pPr>
            <a:r>
              <a:rPr sz="850" b="0" i="0">
                <a:solidFill>
                  <a:srgbClr val="6A6E78"/>
                </a:solidFill>
                <a:latin typeface="Inter"/>
              </a:rPr>
              <a:t>Cusco 🇵🇪</a:t>
            </a:r>
          </a:p>
        </p:txBody>
      </p:sp>
      <p:pic>
        <p:nvPicPr>
          <p:cNvPr id="19" name="Picture 18" descr="tu.png"/>
          <p:cNvPicPr>
            <a:picLocks noChangeAspect="1"/>
          </p:cNvPicPr>
          <p:nvPr/>
        </p:nvPicPr>
        <p:blipFill>
          <a:blip r:embed="rId6"/>
          <a:stretch>
            <a:fillRect/>
          </a:stretch>
        </p:blipFill>
        <p:spPr>
          <a:xfrm>
            <a:off x="8046716" y="4937760"/>
            <a:ext cx="914400" cy="914400"/>
          </a:xfrm>
          <a:prstGeom prst="rect">
            <a:avLst/>
          </a:prstGeom>
        </p:spPr>
      </p:pic>
      <p:sp>
        <p:nvSpPr>
          <p:cNvPr id="20" name="TextBox 19"/>
          <p:cNvSpPr txBox="1"/>
          <p:nvPr/>
        </p:nvSpPr>
        <p:spPr>
          <a:xfrm>
            <a:off x="7909556" y="5870448"/>
            <a:ext cx="1188720" cy="457200"/>
          </a:xfrm>
          <a:prstGeom prst="rect">
            <a:avLst/>
          </a:prstGeom>
          <a:noFill/>
        </p:spPr>
        <p:txBody>
          <a:bodyPr wrap="square" anchor="t" lIns="38100" rIns="38100" tIns="25400" bIns="25400">
            <a:spAutoFit/>
          </a:bodyPr>
          <a:lstStyle/>
          <a:p>
            <a:pPr algn="ctr">
              <a:lnSpc>
                <a:spcPct val="106000"/>
              </a:lnSpc>
              <a:spcBef>
                <a:spcPts val="0"/>
              </a:spcBef>
              <a:spcAft>
                <a:spcPts val="200"/>
              </a:spcAft>
            </a:pPr>
            <a:r>
              <a:rPr sz="1050" b="1" i="0">
                <a:solidFill>
                  <a:srgbClr val="20242E"/>
                </a:solidFill>
                <a:latin typeface="Inter"/>
              </a:rPr>
              <a:t>Tú</a:t>
            </a:r>
          </a:p>
          <a:p>
            <a:pPr algn="ctr">
              <a:lnSpc>
                <a:spcPct val="106000"/>
              </a:lnSpc>
              <a:spcBef>
                <a:spcPts val="0"/>
              </a:spcBef>
              <a:spcAft>
                <a:spcPts val="200"/>
              </a:spcAft>
            </a:pPr>
            <a:r>
              <a:rPr sz="850" b="0" i="0">
                <a:solidFill>
                  <a:srgbClr val="6A6E78"/>
                </a:solidFill>
                <a:latin typeface="Inter"/>
              </a:rPr>
              <a:t>de reiziger = jij</a:t>
            </a:r>
          </a:p>
        </p:txBody>
      </p:sp>
      <p:pic>
        <p:nvPicPr>
          <p:cNvPr id="21" name="Picture 20" descr="mochila.png"/>
          <p:cNvPicPr>
            <a:picLocks noChangeAspect="1"/>
          </p:cNvPicPr>
          <p:nvPr/>
        </p:nvPicPr>
        <p:blipFill>
          <a:blip r:embed="rId7"/>
          <a:stretch>
            <a:fillRect/>
          </a:stretch>
        </p:blipFill>
        <p:spPr>
          <a:xfrm>
            <a:off x="9921235" y="4937760"/>
            <a:ext cx="914400" cy="914400"/>
          </a:xfrm>
          <a:prstGeom prst="rect">
            <a:avLst/>
          </a:prstGeom>
        </p:spPr>
      </p:pic>
      <p:sp>
        <p:nvSpPr>
          <p:cNvPr id="22" name="TextBox 21"/>
          <p:cNvSpPr txBox="1"/>
          <p:nvPr/>
        </p:nvSpPr>
        <p:spPr>
          <a:xfrm>
            <a:off x="9784075" y="5870448"/>
            <a:ext cx="1188720" cy="457200"/>
          </a:xfrm>
          <a:prstGeom prst="rect">
            <a:avLst/>
          </a:prstGeom>
          <a:noFill/>
        </p:spPr>
        <p:txBody>
          <a:bodyPr wrap="square" anchor="t" lIns="38100" rIns="38100" tIns="25400" bIns="25400">
            <a:spAutoFit/>
          </a:bodyPr>
          <a:lstStyle/>
          <a:p>
            <a:pPr algn="ctr">
              <a:lnSpc>
                <a:spcPct val="106000"/>
              </a:lnSpc>
              <a:spcBef>
                <a:spcPts val="0"/>
              </a:spcBef>
              <a:spcAft>
                <a:spcPts val="200"/>
              </a:spcAft>
            </a:pPr>
            <a:r>
              <a:rPr sz="1050" b="1" i="0">
                <a:solidFill>
                  <a:srgbClr val="20242E"/>
                </a:solidFill>
                <a:latin typeface="Inter"/>
              </a:rPr>
              <a:t>Mochila</a:t>
            </a:r>
          </a:p>
          <a:p>
            <a:pPr algn="ctr">
              <a:lnSpc>
                <a:spcPct val="106000"/>
              </a:lnSpc>
              <a:spcBef>
                <a:spcPts val="0"/>
              </a:spcBef>
              <a:spcAft>
                <a:spcPts val="200"/>
              </a:spcAft>
            </a:pPr>
            <a:r>
              <a:rPr sz="850" b="0" i="0">
                <a:solidFill>
                  <a:srgbClr val="6A6E78"/>
                </a:solidFill>
                <a:latin typeface="Inter"/>
              </a:rPr>
              <a:t>La mochila</a:t>
            </a:r>
          </a:p>
        </p:txBody>
      </p:sp>
      <p:sp>
        <p:nvSpPr>
          <p:cNvPr id="23" name="Rectangle 22"/>
          <p:cNvSpPr/>
          <p:nvPr/>
        </p:nvSpPr>
        <p:spPr>
          <a:xfrm>
            <a:off x="0" y="6547104"/>
            <a:ext cx="12191695" cy="310896"/>
          </a:xfrm>
          <a:prstGeom prst="rect">
            <a:avLst/>
          </a:prstGeom>
          <a:solidFill>
            <a:srgbClr val="F3EE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11480" y="6565392"/>
            <a:ext cx="5486400" cy="274320"/>
          </a:xfrm>
          <a:prstGeom prst="rect">
            <a:avLst/>
          </a:prstGeom>
          <a:noFill/>
        </p:spPr>
        <p:txBody>
          <a:bodyPr wrap="square" anchor="ctr" lIns="38100" rIns="38100" tIns="25400" bIns="25400">
            <a:spAutoFit/>
          </a:bodyPr>
          <a:lstStyle/>
          <a:p>
            <a:pPr algn="l">
              <a:lnSpc>
                <a:spcPct val="106000"/>
              </a:lnSpc>
              <a:spcBef>
                <a:spcPts val="0"/>
              </a:spcBef>
              <a:spcAft>
                <a:spcPts val="200"/>
              </a:spcAft>
            </a:pPr>
            <a:r>
              <a:rPr sz="1100" b="1" i="0">
                <a:solidFill>
                  <a:srgbClr val="7C56A9"/>
                </a:solidFill>
                <a:latin typeface="Inter"/>
              </a:rPr>
              <a:t>● </a:t>
            </a:r>
            <a:r>
              <a:rPr sz="950" b="0" i="0">
                <a:solidFill>
                  <a:srgbClr val="6A6E78"/>
                </a:solidFill>
                <a:latin typeface="Inter"/>
              </a:rPr>
              <a:t>U0 · ¡VOLVEMOS!   ·   C6+ · el reencuentro</a:t>
            </a:r>
          </a:p>
        </p:txBody>
      </p:sp>
      <p:sp>
        <p:nvSpPr>
          <p:cNvPr id="25" name="TextBox 24"/>
          <p:cNvSpPr txBox="1"/>
          <p:nvPr/>
        </p:nvSpPr>
        <p:spPr>
          <a:xfrm>
            <a:off x="8686800" y="6565392"/>
            <a:ext cx="3063240" cy="274320"/>
          </a:xfrm>
          <a:prstGeom prst="rect">
            <a:avLst/>
          </a:prstGeom>
          <a:noFill/>
        </p:spPr>
        <p:txBody>
          <a:bodyPr wrap="square" anchor="ctr" lIns="38100" rIns="38100" tIns="25400" bIns="25400">
            <a:spAutoFit/>
          </a:bodyPr>
          <a:lstStyle/>
          <a:p>
            <a:pPr algn="r">
              <a:lnSpc>
                <a:spcPct val="106000"/>
              </a:lnSpc>
              <a:spcBef>
                <a:spcPts val="0"/>
              </a:spcBef>
              <a:spcAft>
                <a:spcPts val="200"/>
              </a:spcAft>
            </a:pPr>
            <a:r>
              <a:rPr sz="900" b="0" i="1">
                <a:solidFill>
                  <a:srgbClr val="6A6E78"/>
                </a:solidFill>
                <a:latin typeface="Inter"/>
              </a:rPr>
              <a:t>Docentenversie — met oplossingen</a:t>
            </a:r>
          </a:p>
        </p:txBody>
      </p:sp>
      <p:sp>
        <p:nvSpPr>
          <p:cNvPr id="26" name="TextBox 25"/>
          <p:cNvSpPr txBox="1"/>
          <p:nvPr/>
        </p:nvSpPr>
        <p:spPr>
          <a:xfrm>
            <a:off x="11475720" y="6565392"/>
            <a:ext cx="457200" cy="274320"/>
          </a:xfrm>
          <a:prstGeom prst="rect">
            <a:avLst/>
          </a:prstGeom>
          <a:noFill/>
        </p:spPr>
        <p:txBody>
          <a:bodyPr wrap="square" anchor="ctr" lIns="38100" rIns="38100" tIns="25400" bIns="25400">
            <a:spAutoFit/>
          </a:bodyPr>
          <a:lstStyle/>
          <a:p>
            <a:pPr algn="r">
              <a:lnSpc>
                <a:spcPct val="106000"/>
              </a:lnSpc>
              <a:spcBef>
                <a:spcPts val="0"/>
              </a:spcBef>
              <a:spcAft>
                <a:spcPts val="200"/>
              </a:spcAft>
            </a:pPr>
            <a:r>
              <a:rPr sz="950" b="1" i="0">
                <a:solidFill>
                  <a:srgbClr val="5B3E83"/>
                </a:solidFill>
                <a:latin typeface="Inter"/>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C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78992"/>
          </a:xfrm>
          <a:prstGeom prst="rect">
            <a:avLst/>
          </a:prstGeom>
          <a:solidFill>
            <a:srgbClr val="7C56A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78992"/>
            <a:ext cx="12191695" cy="54864"/>
          </a:xfrm>
          <a:prstGeom prst="rect">
            <a:avLst/>
          </a:prstGeom>
          <a:solidFill>
            <a:srgbClr val="5B3E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02920" y="182880"/>
            <a:ext cx="1633118" cy="292608"/>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88900" rIns="88900" tIns="12700" bIns="12700"/>
          <a:lstStyle/>
          <a:p>
            <a:pPr algn="ctr"/>
            <a:r>
              <a:rPr sz="1100" b="1">
                <a:solidFill>
                  <a:srgbClr val="7C56A9"/>
                </a:solidFill>
                <a:latin typeface="Inter"/>
              </a:rPr>
              <a:t>MENÚ DE LA LECCIÓN</a:t>
            </a:r>
          </a:p>
        </p:txBody>
      </p:sp>
      <p:sp>
        <p:nvSpPr>
          <p:cNvPr id="6" name="TextBox 5"/>
          <p:cNvSpPr txBox="1"/>
          <p:nvPr/>
        </p:nvSpPr>
        <p:spPr>
          <a:xfrm>
            <a:off x="10424160" y="-137160"/>
            <a:ext cx="1737360" cy="1371600"/>
          </a:xfrm>
          <a:prstGeom prst="rect">
            <a:avLst/>
          </a:prstGeom>
          <a:noFill/>
        </p:spPr>
        <p:txBody>
          <a:bodyPr wrap="square" anchor="t" lIns="38100" rIns="38100" tIns="25400" bIns="25400">
            <a:spAutoFit/>
          </a:bodyPr>
          <a:lstStyle/>
          <a:p>
            <a:pPr algn="r">
              <a:lnSpc>
                <a:spcPct val="106000"/>
              </a:lnSpc>
              <a:spcBef>
                <a:spcPts val="0"/>
              </a:spcBef>
              <a:spcAft>
                <a:spcPts val="200"/>
              </a:spcAft>
            </a:pPr>
            <a:r>
              <a:rPr sz="8800" b="1" i="0">
                <a:solidFill>
                  <a:srgbClr val="FFFFFF"/>
                </a:solidFill>
                <a:latin typeface="Bricolage Grotesque"/>
              </a:rPr>
              <a:t>0</a:t>
            </a:r>
          </a:p>
        </p:txBody>
      </p:sp>
      <p:sp>
        <p:nvSpPr>
          <p:cNvPr id="7" name="TextBox 6"/>
          <p:cNvSpPr txBox="1"/>
          <p:nvPr/>
        </p:nvSpPr>
        <p:spPr>
          <a:xfrm>
            <a:off x="457200" y="457200"/>
            <a:ext cx="9692640" cy="502920"/>
          </a:xfrm>
          <a:prstGeom prst="rect">
            <a:avLst/>
          </a:prstGeom>
          <a:noFill/>
        </p:spPr>
        <p:txBody>
          <a:bodyPr wrap="square" anchor="ctr" lIns="38100" rIns="38100" tIns="25400" bIns="25400">
            <a:spAutoFit/>
          </a:bodyPr>
          <a:lstStyle/>
          <a:p>
            <a:pPr algn="l">
              <a:lnSpc>
                <a:spcPct val="106000"/>
              </a:lnSpc>
              <a:spcBef>
                <a:spcPts val="0"/>
              </a:spcBef>
              <a:spcAft>
                <a:spcPts val="200"/>
              </a:spcAft>
            </a:pPr>
            <a:r>
              <a:rPr sz="2700" b="1" i="0">
                <a:solidFill>
                  <a:srgbClr val="FFFFFF"/>
                </a:solidFill>
                <a:latin typeface="Bricolage Grotesque"/>
              </a:rPr>
              <a:t>El mapa de la Unidad 0</a:t>
            </a:r>
          </a:p>
        </p:txBody>
      </p:sp>
      <p:sp>
        <p:nvSpPr>
          <p:cNvPr id="8" name="TextBox 7"/>
          <p:cNvSpPr txBox="1"/>
          <p:nvPr/>
        </p:nvSpPr>
        <p:spPr>
          <a:xfrm>
            <a:off x="502920" y="932688"/>
            <a:ext cx="9692640" cy="274320"/>
          </a:xfrm>
          <a:prstGeom prst="rect">
            <a:avLst/>
          </a:prstGeom>
          <a:noFill/>
        </p:spPr>
        <p:txBody>
          <a:bodyPr wrap="square" anchor="t" lIns="38100" rIns="38100" tIns="25400" bIns="25400">
            <a:spAutoFit/>
          </a:bodyPr>
          <a:lstStyle/>
          <a:p>
            <a:pPr algn="l">
              <a:lnSpc>
                <a:spcPct val="106000"/>
              </a:lnSpc>
              <a:spcBef>
                <a:spcPts val="0"/>
              </a:spcBef>
              <a:spcAft>
                <a:spcPts val="200"/>
              </a:spcAft>
            </a:pPr>
            <a:r>
              <a:rPr sz="1250" b="0" i="1">
                <a:solidFill>
                  <a:srgbClr val="EEE8F5"/>
                </a:solidFill>
                <a:latin typeface="Inter"/>
              </a:rPr>
              <a:t>Kies je route — klik een tegel. Alles oefent naar de Tarea «Tarjeta de reencuentro» toe.</a:t>
            </a:r>
          </a:p>
        </p:txBody>
      </p:sp>
      <p:sp>
        <p:nvSpPr>
          <p:cNvPr id="9" name="Rounded Rectangle 8">
            <a:hlinkClick action="ppaction://hlinksldjump" r:id="rId3"/>
          </p:cNvPr>
          <p:cNvSpPr/>
          <p:nvPr/>
        </p:nvSpPr>
        <p:spPr>
          <a:xfrm>
            <a:off x="457200" y="1417320"/>
            <a:ext cx="2743200" cy="2240280"/>
          </a:xfrm>
          <a:prstGeom prst="roundRect">
            <a:avLst>
              <a:gd name="adj" fmla="val 5500"/>
            </a:avLst>
          </a:prstGeom>
          <a:solidFill>
            <a:srgbClr val="FFFFFF"/>
          </a:solidFill>
          <a:ln w="20320">
            <a:solidFill>
              <a:srgbClr val="7C56A9"/>
            </a:solidFill>
          </a:ln>
          <a:effectLst>
            <a:outerShdw blurRad="90000" dist="38000" dir="5400000" rotWithShape="0">
              <a:srgbClr val="20242E">
                <a:alpha val="2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a:hlinkClick action="ppaction://hlinksldjump" r:id="rId3"/>
          </p:cNvPr>
          <p:cNvSpPr/>
          <p:nvPr/>
        </p:nvSpPr>
        <p:spPr>
          <a:xfrm>
            <a:off x="457200" y="1417320"/>
            <a:ext cx="2743200" cy="457200"/>
          </a:xfrm>
          <a:prstGeom prst="rect">
            <a:avLst/>
          </a:prstGeom>
          <a:solidFill>
            <a:srgbClr val="7C56A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566928" y="1490472"/>
            <a:ext cx="310896" cy="310896"/>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200" b="1">
                <a:solidFill>
                  <a:srgbClr val="7C56A9"/>
                </a:solidFill>
                <a:latin typeface="Bricolage Grotesque"/>
              </a:rPr>
              <a:t>§1</a:t>
            </a:r>
          </a:p>
        </p:txBody>
      </p:sp>
      <p:sp>
        <p:nvSpPr>
          <p:cNvPr id="12" name="TextBox 11"/>
          <p:cNvSpPr txBox="1"/>
          <p:nvPr/>
        </p:nvSpPr>
        <p:spPr>
          <a:xfrm>
            <a:off x="987552" y="1472184"/>
            <a:ext cx="2103120" cy="365760"/>
          </a:xfrm>
          <a:prstGeom prst="rect">
            <a:avLst/>
          </a:prstGeom>
          <a:noFill/>
        </p:spPr>
        <p:txBody>
          <a:bodyPr wrap="square" anchor="ctr" lIns="38100" rIns="38100" tIns="25400" bIns="25400">
            <a:spAutoFit/>
          </a:bodyPr>
          <a:lstStyle/>
          <a:p>
            <a:pPr algn="l">
              <a:lnSpc>
                <a:spcPct val="106000"/>
              </a:lnSpc>
              <a:spcBef>
                <a:spcPts val="0"/>
              </a:spcBef>
              <a:spcAft>
                <a:spcPts val="200"/>
              </a:spcAft>
            </a:pPr>
            <a:r>
              <a:rPr sz="1450" b="1" i="0">
                <a:solidFill>
                  <a:srgbClr val="FFFFFF"/>
                </a:solidFill>
                <a:latin typeface="Bricolage Grotesque"/>
              </a:rPr>
              <a:t>Saludos</a:t>
            </a:r>
          </a:p>
        </p:txBody>
      </p:sp>
      <p:sp>
        <p:nvSpPr>
          <p:cNvPr id="13" name="TextBox 12"/>
          <p:cNvSpPr txBox="1"/>
          <p:nvPr/>
        </p:nvSpPr>
        <p:spPr>
          <a:xfrm>
            <a:off x="621792" y="2039112"/>
            <a:ext cx="2414016" cy="1097280"/>
          </a:xfrm>
          <a:prstGeom prst="rect">
            <a:avLst/>
          </a:prstGeom>
          <a:noFill/>
        </p:spPr>
        <p:txBody>
          <a:bodyPr wrap="square" anchor="t" lIns="38100" rIns="38100" tIns="25400" bIns="25400">
            <a:spAutoFit/>
          </a:bodyPr>
          <a:lstStyle/>
          <a:p>
            <a:pPr algn="l">
              <a:lnSpc>
                <a:spcPct val="112000"/>
              </a:lnSpc>
              <a:spcBef>
                <a:spcPts val="0"/>
              </a:spcBef>
              <a:spcAft>
                <a:spcPts val="200"/>
              </a:spcAft>
            </a:pPr>
            <a:r>
              <a:rPr sz="1150" b="0" i="0">
                <a:solidFill>
                  <a:srgbClr val="20242E"/>
                </a:solidFill>
                <a:latin typeface="Inter"/>
              </a:rPr>
              <a:t>presentarse · tú/usted</a:t>
            </a:r>
          </a:p>
        </p:txBody>
      </p:sp>
      <p:sp>
        <p:nvSpPr>
          <p:cNvPr id="14" name="Rounded Rectangle 13"/>
          <p:cNvSpPr/>
          <p:nvPr/>
        </p:nvSpPr>
        <p:spPr>
          <a:xfrm>
            <a:off x="621792" y="3246120"/>
            <a:ext cx="707745" cy="292608"/>
          </a:xfrm>
          <a:prstGeom prst="roundRect">
            <a:avLst>
              <a:gd name="adj" fmla="val 50000"/>
            </a:avLst>
          </a:prstGeom>
          <a:solidFill>
            <a:srgbClr val="EEE8F5"/>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88900" rIns="88900" tIns="12700" bIns="12700"/>
          <a:lstStyle/>
          <a:p>
            <a:pPr algn="ctr"/>
            <a:r>
              <a:rPr sz="950" b="1">
                <a:solidFill>
                  <a:srgbClr val="5B3E83"/>
                </a:solidFill>
                <a:latin typeface="Inter"/>
              </a:rPr>
              <a:t>→ dia 3</a:t>
            </a:r>
          </a:p>
        </p:txBody>
      </p:sp>
      <p:sp>
        <p:nvSpPr>
          <p:cNvPr id="15" name="Rounded Rectangle 14">
            <a:hlinkClick action="ppaction://hlinksldjump" r:id="rId4"/>
          </p:cNvPr>
          <p:cNvSpPr/>
          <p:nvPr/>
        </p:nvSpPr>
        <p:spPr>
          <a:xfrm>
            <a:off x="3328416" y="1417320"/>
            <a:ext cx="2743200" cy="2240280"/>
          </a:xfrm>
          <a:prstGeom prst="roundRect">
            <a:avLst>
              <a:gd name="adj" fmla="val 5500"/>
            </a:avLst>
          </a:prstGeom>
          <a:solidFill>
            <a:srgbClr val="FFFFFF"/>
          </a:solidFill>
          <a:ln w="20320">
            <a:solidFill>
              <a:srgbClr val="7C56A9"/>
            </a:solidFill>
          </a:ln>
          <a:effectLst>
            <a:outerShdw blurRad="90000" dist="38000" dir="5400000" rotWithShape="0">
              <a:srgbClr val="20242E">
                <a:alpha val="2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a:hlinkClick action="ppaction://hlinksldjump" r:id="rId4"/>
          </p:cNvPr>
          <p:cNvSpPr/>
          <p:nvPr/>
        </p:nvSpPr>
        <p:spPr>
          <a:xfrm>
            <a:off x="3328416" y="1417320"/>
            <a:ext cx="2743200" cy="457200"/>
          </a:xfrm>
          <a:prstGeom prst="rect">
            <a:avLst/>
          </a:prstGeom>
          <a:solidFill>
            <a:srgbClr val="7C56A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3438144" y="1490472"/>
            <a:ext cx="310896" cy="310896"/>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200" b="1">
                <a:solidFill>
                  <a:srgbClr val="7C56A9"/>
                </a:solidFill>
                <a:latin typeface="Bricolage Grotesque"/>
              </a:rPr>
              <a:t>§2</a:t>
            </a:r>
          </a:p>
        </p:txBody>
      </p:sp>
      <p:sp>
        <p:nvSpPr>
          <p:cNvPr id="18" name="TextBox 17"/>
          <p:cNvSpPr txBox="1"/>
          <p:nvPr/>
        </p:nvSpPr>
        <p:spPr>
          <a:xfrm>
            <a:off x="3858768" y="1472184"/>
            <a:ext cx="2103120" cy="365760"/>
          </a:xfrm>
          <a:prstGeom prst="rect">
            <a:avLst/>
          </a:prstGeom>
          <a:noFill/>
        </p:spPr>
        <p:txBody>
          <a:bodyPr wrap="square" anchor="ctr" lIns="38100" rIns="38100" tIns="25400" bIns="25400">
            <a:spAutoFit/>
          </a:bodyPr>
          <a:lstStyle/>
          <a:p>
            <a:pPr algn="l">
              <a:lnSpc>
                <a:spcPct val="106000"/>
              </a:lnSpc>
              <a:spcBef>
                <a:spcPts val="0"/>
              </a:spcBef>
              <a:spcAft>
                <a:spcPts val="200"/>
              </a:spcAft>
            </a:pPr>
            <a:r>
              <a:rPr sz="1450" b="1" i="0">
                <a:solidFill>
                  <a:srgbClr val="FFFFFF"/>
                </a:solidFill>
                <a:latin typeface="Bricolage Grotesque"/>
              </a:rPr>
              <a:t>El presente</a:t>
            </a:r>
          </a:p>
        </p:txBody>
      </p:sp>
      <p:sp>
        <p:nvSpPr>
          <p:cNvPr id="19" name="TextBox 18"/>
          <p:cNvSpPr txBox="1"/>
          <p:nvPr/>
        </p:nvSpPr>
        <p:spPr>
          <a:xfrm>
            <a:off x="3493008" y="2039112"/>
            <a:ext cx="2414016" cy="1097280"/>
          </a:xfrm>
          <a:prstGeom prst="rect">
            <a:avLst/>
          </a:prstGeom>
          <a:noFill/>
        </p:spPr>
        <p:txBody>
          <a:bodyPr wrap="square" anchor="t" lIns="38100" rIns="38100" tIns="25400" bIns="25400">
            <a:spAutoFit/>
          </a:bodyPr>
          <a:lstStyle/>
          <a:p>
            <a:pPr algn="l">
              <a:lnSpc>
                <a:spcPct val="112000"/>
              </a:lnSpc>
              <a:spcBef>
                <a:spcPts val="0"/>
              </a:spcBef>
              <a:spcAft>
                <a:spcPts val="200"/>
              </a:spcAft>
            </a:pPr>
            <a:r>
              <a:rPr sz="1150" b="0" i="0">
                <a:solidFill>
                  <a:srgbClr val="20242E"/>
                </a:solidFill>
                <a:latin typeface="Inter"/>
              </a:rPr>
              <a:t>regular + ser/estar/ir…</a:t>
            </a:r>
          </a:p>
        </p:txBody>
      </p:sp>
      <p:sp>
        <p:nvSpPr>
          <p:cNvPr id="20" name="Rounded Rectangle 19"/>
          <p:cNvSpPr/>
          <p:nvPr/>
        </p:nvSpPr>
        <p:spPr>
          <a:xfrm>
            <a:off x="3493008" y="3246120"/>
            <a:ext cx="707745" cy="292608"/>
          </a:xfrm>
          <a:prstGeom prst="roundRect">
            <a:avLst>
              <a:gd name="adj" fmla="val 50000"/>
            </a:avLst>
          </a:prstGeom>
          <a:solidFill>
            <a:srgbClr val="EEE8F5"/>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88900" rIns="88900" tIns="12700" bIns="12700"/>
          <a:lstStyle/>
          <a:p>
            <a:pPr algn="ctr"/>
            <a:r>
              <a:rPr sz="950" b="1">
                <a:solidFill>
                  <a:srgbClr val="5B3E83"/>
                </a:solidFill>
                <a:latin typeface="Inter"/>
              </a:rPr>
              <a:t>→ dia 4</a:t>
            </a:r>
          </a:p>
        </p:txBody>
      </p:sp>
      <p:sp>
        <p:nvSpPr>
          <p:cNvPr id="21" name="Rounded Rectangle 20">
            <a:hlinkClick action="ppaction://hlinksldjump" r:id="rId5"/>
          </p:cNvPr>
          <p:cNvSpPr/>
          <p:nvPr/>
        </p:nvSpPr>
        <p:spPr>
          <a:xfrm>
            <a:off x="6199632" y="1417320"/>
            <a:ext cx="2743200" cy="2240280"/>
          </a:xfrm>
          <a:prstGeom prst="roundRect">
            <a:avLst>
              <a:gd name="adj" fmla="val 5500"/>
            </a:avLst>
          </a:prstGeom>
          <a:solidFill>
            <a:srgbClr val="FFFFFF"/>
          </a:solidFill>
          <a:ln w="20320">
            <a:solidFill>
              <a:srgbClr val="7C56A9"/>
            </a:solidFill>
          </a:ln>
          <a:effectLst>
            <a:outerShdw blurRad="90000" dist="38000" dir="5400000" rotWithShape="0">
              <a:srgbClr val="20242E">
                <a:alpha val="2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a:hlinkClick action="ppaction://hlinksldjump" r:id="rId5"/>
          </p:cNvPr>
          <p:cNvSpPr/>
          <p:nvPr/>
        </p:nvSpPr>
        <p:spPr>
          <a:xfrm>
            <a:off x="6199632" y="1417320"/>
            <a:ext cx="2743200" cy="457200"/>
          </a:xfrm>
          <a:prstGeom prst="rect">
            <a:avLst/>
          </a:prstGeom>
          <a:solidFill>
            <a:srgbClr val="7C56A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6309360" y="1490472"/>
            <a:ext cx="310896" cy="310896"/>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200" b="1">
                <a:solidFill>
                  <a:srgbClr val="7C56A9"/>
                </a:solidFill>
                <a:latin typeface="Bricolage Grotesque"/>
              </a:rPr>
              <a:t>§3</a:t>
            </a:r>
          </a:p>
        </p:txBody>
      </p:sp>
      <p:sp>
        <p:nvSpPr>
          <p:cNvPr id="24" name="TextBox 23"/>
          <p:cNvSpPr txBox="1"/>
          <p:nvPr/>
        </p:nvSpPr>
        <p:spPr>
          <a:xfrm>
            <a:off x="6729984" y="1472184"/>
            <a:ext cx="2103120" cy="365760"/>
          </a:xfrm>
          <a:prstGeom prst="rect">
            <a:avLst/>
          </a:prstGeom>
          <a:noFill/>
        </p:spPr>
        <p:txBody>
          <a:bodyPr wrap="square" anchor="ctr" lIns="38100" rIns="38100" tIns="25400" bIns="25400">
            <a:spAutoFit/>
          </a:bodyPr>
          <a:lstStyle/>
          <a:p>
            <a:pPr algn="l">
              <a:lnSpc>
                <a:spcPct val="106000"/>
              </a:lnSpc>
              <a:spcBef>
                <a:spcPts val="0"/>
              </a:spcBef>
              <a:spcAft>
                <a:spcPts val="200"/>
              </a:spcAft>
            </a:pPr>
            <a:r>
              <a:rPr sz="1450" b="1" i="0">
                <a:solidFill>
                  <a:srgbClr val="FFFFFF"/>
                </a:solidFill>
                <a:latin typeface="Bricolage Grotesque"/>
              </a:rPr>
              <a:t>Género y adj.</a:t>
            </a:r>
          </a:p>
        </p:txBody>
      </p:sp>
      <p:sp>
        <p:nvSpPr>
          <p:cNvPr id="25" name="TextBox 24"/>
          <p:cNvSpPr txBox="1"/>
          <p:nvPr/>
        </p:nvSpPr>
        <p:spPr>
          <a:xfrm>
            <a:off x="6364224" y="2039112"/>
            <a:ext cx="2414016" cy="1097280"/>
          </a:xfrm>
          <a:prstGeom prst="rect">
            <a:avLst/>
          </a:prstGeom>
          <a:noFill/>
        </p:spPr>
        <p:txBody>
          <a:bodyPr wrap="square" anchor="t" lIns="38100" rIns="38100" tIns="25400" bIns="25400">
            <a:spAutoFit/>
          </a:bodyPr>
          <a:lstStyle/>
          <a:p>
            <a:pPr algn="l">
              <a:lnSpc>
                <a:spcPct val="112000"/>
              </a:lnSpc>
              <a:spcBef>
                <a:spcPts val="0"/>
              </a:spcBef>
              <a:spcAft>
                <a:spcPts val="200"/>
              </a:spcAft>
            </a:pPr>
            <a:r>
              <a:rPr sz="1150" b="0" i="0">
                <a:solidFill>
                  <a:srgbClr val="20242E"/>
                </a:solidFill>
                <a:latin typeface="Inter"/>
              </a:rPr>
              <a:t>el/la · -o/-a</a:t>
            </a:r>
          </a:p>
        </p:txBody>
      </p:sp>
      <p:sp>
        <p:nvSpPr>
          <p:cNvPr id="26" name="Rounded Rectangle 25"/>
          <p:cNvSpPr/>
          <p:nvPr/>
        </p:nvSpPr>
        <p:spPr>
          <a:xfrm>
            <a:off x="6364224" y="3246120"/>
            <a:ext cx="707745" cy="292608"/>
          </a:xfrm>
          <a:prstGeom prst="roundRect">
            <a:avLst>
              <a:gd name="adj" fmla="val 50000"/>
            </a:avLst>
          </a:prstGeom>
          <a:solidFill>
            <a:srgbClr val="EEE8F5"/>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88900" rIns="88900" tIns="12700" bIns="12700"/>
          <a:lstStyle/>
          <a:p>
            <a:pPr algn="ctr"/>
            <a:r>
              <a:rPr sz="950" b="1">
                <a:solidFill>
                  <a:srgbClr val="5B3E83"/>
                </a:solidFill>
                <a:latin typeface="Inter"/>
              </a:rPr>
              <a:t>→ dia 7</a:t>
            </a:r>
          </a:p>
        </p:txBody>
      </p:sp>
      <p:sp>
        <p:nvSpPr>
          <p:cNvPr id="27" name="Rounded Rectangle 26">
            <a:hlinkClick action="ppaction://hlinksldjump" r:id="rId6"/>
          </p:cNvPr>
          <p:cNvSpPr/>
          <p:nvPr/>
        </p:nvSpPr>
        <p:spPr>
          <a:xfrm>
            <a:off x="9070848" y="1417320"/>
            <a:ext cx="2743200" cy="2240280"/>
          </a:xfrm>
          <a:prstGeom prst="roundRect">
            <a:avLst>
              <a:gd name="adj" fmla="val 5500"/>
            </a:avLst>
          </a:prstGeom>
          <a:solidFill>
            <a:srgbClr val="FFFFFF"/>
          </a:solidFill>
          <a:ln w="20320">
            <a:solidFill>
              <a:srgbClr val="7C56A9"/>
            </a:solidFill>
          </a:ln>
          <a:effectLst>
            <a:outerShdw blurRad="90000" dist="38000" dir="5400000" rotWithShape="0">
              <a:srgbClr val="20242E">
                <a:alpha val="2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a:hlinkClick action="ppaction://hlinksldjump" r:id="rId6"/>
          </p:cNvPr>
          <p:cNvSpPr/>
          <p:nvPr/>
        </p:nvSpPr>
        <p:spPr>
          <a:xfrm>
            <a:off x="9070848" y="1417320"/>
            <a:ext cx="2743200" cy="457200"/>
          </a:xfrm>
          <a:prstGeom prst="rect">
            <a:avLst/>
          </a:prstGeom>
          <a:solidFill>
            <a:srgbClr val="7C56A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9180576" y="1490472"/>
            <a:ext cx="310896" cy="310896"/>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200" b="1">
                <a:solidFill>
                  <a:srgbClr val="7C56A9"/>
                </a:solidFill>
                <a:latin typeface="Bricolage Grotesque"/>
              </a:rPr>
              <a:t>§4</a:t>
            </a:r>
          </a:p>
        </p:txBody>
      </p:sp>
      <p:sp>
        <p:nvSpPr>
          <p:cNvPr id="30" name="TextBox 29"/>
          <p:cNvSpPr txBox="1"/>
          <p:nvPr/>
        </p:nvSpPr>
        <p:spPr>
          <a:xfrm>
            <a:off x="9601200" y="1472184"/>
            <a:ext cx="2103120" cy="365760"/>
          </a:xfrm>
          <a:prstGeom prst="rect">
            <a:avLst/>
          </a:prstGeom>
          <a:noFill/>
        </p:spPr>
        <p:txBody>
          <a:bodyPr wrap="square" anchor="ctr" lIns="38100" rIns="38100" tIns="25400" bIns="25400">
            <a:spAutoFit/>
          </a:bodyPr>
          <a:lstStyle/>
          <a:p>
            <a:pPr algn="l">
              <a:lnSpc>
                <a:spcPct val="106000"/>
              </a:lnSpc>
              <a:spcBef>
                <a:spcPts val="0"/>
              </a:spcBef>
              <a:spcAft>
                <a:spcPts val="200"/>
              </a:spcAft>
            </a:pPr>
            <a:r>
              <a:rPr sz="1450" b="1" i="0">
                <a:solidFill>
                  <a:srgbClr val="FFFFFF"/>
                </a:solidFill>
                <a:latin typeface="Bricolage Grotesque"/>
              </a:rPr>
              <a:t>Países</a:t>
            </a:r>
          </a:p>
        </p:txBody>
      </p:sp>
      <p:sp>
        <p:nvSpPr>
          <p:cNvPr id="31" name="TextBox 30"/>
          <p:cNvSpPr txBox="1"/>
          <p:nvPr/>
        </p:nvSpPr>
        <p:spPr>
          <a:xfrm>
            <a:off x="9235440" y="2039112"/>
            <a:ext cx="2414016" cy="1097280"/>
          </a:xfrm>
          <a:prstGeom prst="rect">
            <a:avLst/>
          </a:prstGeom>
          <a:noFill/>
        </p:spPr>
        <p:txBody>
          <a:bodyPr wrap="square" anchor="t" lIns="38100" rIns="38100" tIns="25400" bIns="25400">
            <a:spAutoFit/>
          </a:bodyPr>
          <a:lstStyle/>
          <a:p>
            <a:pPr algn="l">
              <a:lnSpc>
                <a:spcPct val="112000"/>
              </a:lnSpc>
              <a:spcBef>
                <a:spcPts val="0"/>
              </a:spcBef>
              <a:spcAft>
                <a:spcPts val="200"/>
              </a:spcAft>
            </a:pPr>
            <a:r>
              <a:rPr sz="1150" b="0" i="0">
                <a:solidFill>
                  <a:srgbClr val="20242E"/>
                </a:solidFill>
                <a:latin typeface="Inter"/>
              </a:rPr>
              <a:t>nacionalidad · lengua</a:t>
            </a:r>
          </a:p>
        </p:txBody>
      </p:sp>
      <p:sp>
        <p:nvSpPr>
          <p:cNvPr id="32" name="Rounded Rectangle 31"/>
          <p:cNvSpPr/>
          <p:nvPr/>
        </p:nvSpPr>
        <p:spPr>
          <a:xfrm>
            <a:off x="9235440" y="3246120"/>
            <a:ext cx="791870" cy="292608"/>
          </a:xfrm>
          <a:prstGeom prst="roundRect">
            <a:avLst>
              <a:gd name="adj" fmla="val 50000"/>
            </a:avLst>
          </a:prstGeom>
          <a:solidFill>
            <a:srgbClr val="EEE8F5"/>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88900" rIns="88900" tIns="12700" bIns="12700"/>
          <a:lstStyle/>
          <a:p>
            <a:pPr algn="ctr"/>
            <a:r>
              <a:rPr sz="950" b="1">
                <a:solidFill>
                  <a:srgbClr val="5B3E83"/>
                </a:solidFill>
                <a:latin typeface="Inter"/>
              </a:rPr>
              <a:t>→ dia 14</a:t>
            </a:r>
          </a:p>
        </p:txBody>
      </p:sp>
      <p:sp>
        <p:nvSpPr>
          <p:cNvPr id="33" name="Rounded Rectangle 32">
            <a:hlinkClick action="ppaction://hlinksldjump" r:id="rId7"/>
          </p:cNvPr>
          <p:cNvSpPr/>
          <p:nvPr/>
        </p:nvSpPr>
        <p:spPr>
          <a:xfrm>
            <a:off x="457200" y="3840480"/>
            <a:ext cx="2743200" cy="2240280"/>
          </a:xfrm>
          <a:prstGeom prst="roundRect">
            <a:avLst>
              <a:gd name="adj" fmla="val 5500"/>
            </a:avLst>
          </a:prstGeom>
          <a:solidFill>
            <a:srgbClr val="FFFFFF"/>
          </a:solidFill>
          <a:ln w="20320">
            <a:solidFill>
              <a:srgbClr val="7C56A9"/>
            </a:solidFill>
          </a:ln>
          <a:effectLst>
            <a:outerShdw blurRad="90000" dist="38000" dir="5400000" rotWithShape="0">
              <a:srgbClr val="20242E">
                <a:alpha val="2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a:hlinkClick action="ppaction://hlinksldjump" r:id="rId7"/>
          </p:cNvPr>
          <p:cNvSpPr/>
          <p:nvPr/>
        </p:nvSpPr>
        <p:spPr>
          <a:xfrm>
            <a:off x="457200" y="3840480"/>
            <a:ext cx="2743200" cy="457200"/>
          </a:xfrm>
          <a:prstGeom prst="rect">
            <a:avLst/>
          </a:prstGeom>
          <a:solidFill>
            <a:srgbClr val="7C56A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ounded Rectangle 34"/>
          <p:cNvSpPr/>
          <p:nvPr/>
        </p:nvSpPr>
        <p:spPr>
          <a:xfrm>
            <a:off x="566928" y="3913632"/>
            <a:ext cx="310896" cy="310896"/>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200" b="1">
                <a:solidFill>
                  <a:srgbClr val="7C56A9"/>
                </a:solidFill>
                <a:latin typeface="Bricolage Grotesque"/>
              </a:rPr>
              <a:t>§5</a:t>
            </a:r>
          </a:p>
        </p:txBody>
      </p:sp>
      <p:sp>
        <p:nvSpPr>
          <p:cNvPr id="36" name="TextBox 35"/>
          <p:cNvSpPr txBox="1"/>
          <p:nvPr/>
        </p:nvSpPr>
        <p:spPr>
          <a:xfrm>
            <a:off x="987552" y="3895344"/>
            <a:ext cx="2103120" cy="365760"/>
          </a:xfrm>
          <a:prstGeom prst="rect">
            <a:avLst/>
          </a:prstGeom>
          <a:noFill/>
        </p:spPr>
        <p:txBody>
          <a:bodyPr wrap="square" anchor="ctr" lIns="38100" rIns="38100" tIns="25400" bIns="25400">
            <a:spAutoFit/>
          </a:bodyPr>
          <a:lstStyle/>
          <a:p>
            <a:pPr algn="l">
              <a:lnSpc>
                <a:spcPct val="106000"/>
              </a:lnSpc>
              <a:spcBef>
                <a:spcPts val="0"/>
              </a:spcBef>
              <a:spcAft>
                <a:spcPts val="200"/>
              </a:spcAft>
            </a:pPr>
            <a:r>
              <a:rPr sz="1450" b="1" i="0">
                <a:solidFill>
                  <a:srgbClr val="FFFFFF"/>
                </a:solidFill>
                <a:latin typeface="Bricolage Grotesque"/>
              </a:rPr>
              <a:t>Lectura + escucha</a:t>
            </a:r>
          </a:p>
        </p:txBody>
      </p:sp>
      <p:sp>
        <p:nvSpPr>
          <p:cNvPr id="37" name="TextBox 36"/>
          <p:cNvSpPr txBox="1"/>
          <p:nvPr/>
        </p:nvSpPr>
        <p:spPr>
          <a:xfrm>
            <a:off x="621792" y="4462272"/>
            <a:ext cx="2414016" cy="1097280"/>
          </a:xfrm>
          <a:prstGeom prst="rect">
            <a:avLst/>
          </a:prstGeom>
          <a:noFill/>
        </p:spPr>
        <p:txBody>
          <a:bodyPr wrap="square" anchor="t" lIns="38100" rIns="38100" tIns="25400" bIns="25400">
            <a:spAutoFit/>
          </a:bodyPr>
          <a:lstStyle/>
          <a:p>
            <a:pPr algn="l">
              <a:lnSpc>
                <a:spcPct val="112000"/>
              </a:lnSpc>
              <a:spcBef>
                <a:spcPts val="0"/>
              </a:spcBef>
              <a:spcAft>
                <a:spcPts val="200"/>
              </a:spcAft>
            </a:pPr>
            <a:r>
              <a:rPr sz="1150" b="0" i="0">
                <a:solidFill>
                  <a:srgbClr val="20242E"/>
                </a:solidFill>
                <a:latin typeface="Inter"/>
              </a:rPr>
              <a:t>dos perfiles</a:t>
            </a:r>
          </a:p>
        </p:txBody>
      </p:sp>
      <p:sp>
        <p:nvSpPr>
          <p:cNvPr id="38" name="Rounded Rectangle 37"/>
          <p:cNvSpPr/>
          <p:nvPr/>
        </p:nvSpPr>
        <p:spPr>
          <a:xfrm>
            <a:off x="621792" y="5669280"/>
            <a:ext cx="707745" cy="292608"/>
          </a:xfrm>
          <a:prstGeom prst="roundRect">
            <a:avLst>
              <a:gd name="adj" fmla="val 50000"/>
            </a:avLst>
          </a:prstGeom>
          <a:solidFill>
            <a:srgbClr val="EEE8F5"/>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88900" rIns="88900" tIns="12700" bIns="12700"/>
          <a:lstStyle/>
          <a:p>
            <a:pPr algn="ctr"/>
            <a:r>
              <a:rPr sz="950" b="1">
                <a:solidFill>
                  <a:srgbClr val="5B3E83"/>
                </a:solidFill>
                <a:latin typeface="Inter"/>
              </a:rPr>
              <a:t>→ dia 9</a:t>
            </a:r>
          </a:p>
        </p:txBody>
      </p:sp>
      <p:sp>
        <p:nvSpPr>
          <p:cNvPr id="39" name="Rounded Rectangle 38">
            <a:hlinkClick action="ppaction://hlinksldjump" r:id="rId8"/>
          </p:cNvPr>
          <p:cNvSpPr/>
          <p:nvPr/>
        </p:nvSpPr>
        <p:spPr>
          <a:xfrm>
            <a:off x="3328416" y="3840480"/>
            <a:ext cx="2743200" cy="2240280"/>
          </a:xfrm>
          <a:prstGeom prst="roundRect">
            <a:avLst>
              <a:gd name="adj" fmla="val 5500"/>
            </a:avLst>
          </a:prstGeom>
          <a:solidFill>
            <a:srgbClr val="FFFFFF"/>
          </a:solidFill>
          <a:ln w="20320">
            <a:solidFill>
              <a:srgbClr val="5B3E83"/>
            </a:solidFill>
          </a:ln>
          <a:effectLst>
            <a:outerShdw blurRad="90000" dist="38000" dir="5400000" rotWithShape="0">
              <a:srgbClr val="20242E">
                <a:alpha val="2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a:hlinkClick action="ppaction://hlinksldjump" r:id="rId8"/>
          </p:cNvPr>
          <p:cNvSpPr/>
          <p:nvPr/>
        </p:nvSpPr>
        <p:spPr>
          <a:xfrm>
            <a:off x="3328416" y="3840480"/>
            <a:ext cx="2743200" cy="457200"/>
          </a:xfrm>
          <a:prstGeom prst="rect">
            <a:avLst/>
          </a:prstGeom>
          <a:solidFill>
            <a:srgbClr val="5B3E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ounded Rectangle 40"/>
          <p:cNvSpPr/>
          <p:nvPr/>
        </p:nvSpPr>
        <p:spPr>
          <a:xfrm>
            <a:off x="3438144" y="3913632"/>
            <a:ext cx="310896" cy="310896"/>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200" b="1">
                <a:solidFill>
                  <a:srgbClr val="5B3E83"/>
                </a:solidFill>
                <a:latin typeface="Bricolage Grotesque"/>
              </a:rPr>
              <a:t>★</a:t>
            </a:r>
          </a:p>
        </p:txBody>
      </p:sp>
      <p:sp>
        <p:nvSpPr>
          <p:cNvPr id="42" name="TextBox 41"/>
          <p:cNvSpPr txBox="1"/>
          <p:nvPr/>
        </p:nvSpPr>
        <p:spPr>
          <a:xfrm>
            <a:off x="3858768" y="3895344"/>
            <a:ext cx="2103120" cy="365760"/>
          </a:xfrm>
          <a:prstGeom prst="rect">
            <a:avLst/>
          </a:prstGeom>
          <a:noFill/>
        </p:spPr>
        <p:txBody>
          <a:bodyPr wrap="square" anchor="ctr" lIns="38100" rIns="38100" tIns="25400" bIns="25400">
            <a:spAutoFit/>
          </a:bodyPr>
          <a:lstStyle/>
          <a:p>
            <a:pPr algn="l">
              <a:lnSpc>
                <a:spcPct val="106000"/>
              </a:lnSpc>
              <a:spcBef>
                <a:spcPts val="0"/>
              </a:spcBef>
              <a:spcAft>
                <a:spcPts val="200"/>
              </a:spcAft>
            </a:pPr>
            <a:r>
              <a:rPr sz="1450" b="1" i="0">
                <a:solidFill>
                  <a:srgbClr val="FFFFFF"/>
                </a:solidFill>
                <a:latin typeface="Bricolage Grotesque"/>
              </a:rPr>
              <a:t>Cultura</a:t>
            </a:r>
          </a:p>
        </p:txBody>
      </p:sp>
      <p:sp>
        <p:nvSpPr>
          <p:cNvPr id="43" name="TextBox 42"/>
          <p:cNvSpPr txBox="1"/>
          <p:nvPr/>
        </p:nvSpPr>
        <p:spPr>
          <a:xfrm>
            <a:off x="3493008" y="4462272"/>
            <a:ext cx="2414016" cy="1097280"/>
          </a:xfrm>
          <a:prstGeom prst="rect">
            <a:avLst/>
          </a:prstGeom>
          <a:noFill/>
        </p:spPr>
        <p:txBody>
          <a:bodyPr wrap="square" anchor="t" lIns="38100" rIns="38100" tIns="25400" bIns="25400">
            <a:spAutoFit/>
          </a:bodyPr>
          <a:lstStyle/>
          <a:p>
            <a:pPr algn="l">
              <a:lnSpc>
                <a:spcPct val="112000"/>
              </a:lnSpc>
              <a:spcBef>
                <a:spcPts val="0"/>
              </a:spcBef>
              <a:spcAft>
                <a:spcPts val="200"/>
              </a:spcAft>
            </a:pPr>
            <a:r>
              <a:rPr sz="1150" b="0" i="0">
                <a:solidFill>
                  <a:srgbClr val="20242E"/>
                </a:solidFill>
                <a:latin typeface="Inter"/>
              </a:rPr>
              <a:t>el mundo hispano</a:t>
            </a:r>
          </a:p>
        </p:txBody>
      </p:sp>
      <p:sp>
        <p:nvSpPr>
          <p:cNvPr id="44" name="Rounded Rectangle 43"/>
          <p:cNvSpPr/>
          <p:nvPr/>
        </p:nvSpPr>
        <p:spPr>
          <a:xfrm>
            <a:off x="3493008" y="5669280"/>
            <a:ext cx="791870" cy="292608"/>
          </a:xfrm>
          <a:prstGeom prst="roundRect">
            <a:avLst>
              <a:gd name="adj" fmla="val 50000"/>
            </a:avLst>
          </a:prstGeom>
          <a:solidFill>
            <a:srgbClr val="EEE8F5"/>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88900" rIns="88900" tIns="12700" bIns="12700"/>
          <a:lstStyle/>
          <a:p>
            <a:pPr algn="ctr"/>
            <a:r>
              <a:rPr sz="950" b="1">
                <a:solidFill>
                  <a:srgbClr val="5B3E83"/>
                </a:solidFill>
                <a:latin typeface="Inter"/>
              </a:rPr>
              <a:t>→ dia 16</a:t>
            </a:r>
          </a:p>
        </p:txBody>
      </p:sp>
      <p:sp>
        <p:nvSpPr>
          <p:cNvPr id="45" name="Rounded Rectangle 44">
            <a:hlinkClick action="ppaction://hlinksldjump" r:id="rId9"/>
          </p:cNvPr>
          <p:cNvSpPr/>
          <p:nvPr/>
        </p:nvSpPr>
        <p:spPr>
          <a:xfrm>
            <a:off x="6199632" y="3840480"/>
            <a:ext cx="2743200" cy="2240280"/>
          </a:xfrm>
          <a:prstGeom prst="roundRect">
            <a:avLst>
              <a:gd name="adj" fmla="val 5500"/>
            </a:avLst>
          </a:prstGeom>
          <a:solidFill>
            <a:srgbClr val="FFFFFF"/>
          </a:solidFill>
          <a:ln w="20320">
            <a:solidFill>
              <a:srgbClr val="5B3E83"/>
            </a:solidFill>
          </a:ln>
          <a:effectLst>
            <a:outerShdw blurRad="90000" dist="38000" dir="5400000" rotWithShape="0">
              <a:srgbClr val="20242E">
                <a:alpha val="2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a:hlinkClick action="ppaction://hlinksldjump" r:id="rId9"/>
          </p:cNvPr>
          <p:cNvSpPr/>
          <p:nvPr/>
        </p:nvSpPr>
        <p:spPr>
          <a:xfrm>
            <a:off x="6199632" y="3840480"/>
            <a:ext cx="2743200" cy="457200"/>
          </a:xfrm>
          <a:prstGeom prst="rect">
            <a:avLst/>
          </a:prstGeom>
          <a:solidFill>
            <a:srgbClr val="5B3E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ounded Rectangle 46"/>
          <p:cNvSpPr/>
          <p:nvPr/>
        </p:nvSpPr>
        <p:spPr>
          <a:xfrm>
            <a:off x="6309360" y="3913632"/>
            <a:ext cx="310896" cy="310896"/>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200" b="1">
                <a:solidFill>
                  <a:srgbClr val="5B3E83"/>
                </a:solidFill>
                <a:latin typeface="Bricolage Grotesque"/>
              </a:rPr>
              <a:t>🪪</a:t>
            </a:r>
          </a:p>
        </p:txBody>
      </p:sp>
      <p:sp>
        <p:nvSpPr>
          <p:cNvPr id="48" name="TextBox 47"/>
          <p:cNvSpPr txBox="1"/>
          <p:nvPr/>
        </p:nvSpPr>
        <p:spPr>
          <a:xfrm>
            <a:off x="6729984" y="3895344"/>
            <a:ext cx="2103120" cy="365760"/>
          </a:xfrm>
          <a:prstGeom prst="rect">
            <a:avLst/>
          </a:prstGeom>
          <a:noFill/>
        </p:spPr>
        <p:txBody>
          <a:bodyPr wrap="square" anchor="ctr" lIns="38100" rIns="38100" tIns="25400" bIns="25400">
            <a:spAutoFit/>
          </a:bodyPr>
          <a:lstStyle/>
          <a:p>
            <a:pPr algn="l">
              <a:lnSpc>
                <a:spcPct val="106000"/>
              </a:lnSpc>
              <a:spcBef>
                <a:spcPts val="0"/>
              </a:spcBef>
              <a:spcAft>
                <a:spcPts val="200"/>
              </a:spcAft>
            </a:pPr>
            <a:r>
              <a:rPr sz="1450" b="1" i="0">
                <a:solidFill>
                  <a:srgbClr val="FFFFFF"/>
                </a:solidFill>
                <a:latin typeface="Bricolage Grotesque"/>
              </a:rPr>
              <a:t>Tarea · Tarjeta</a:t>
            </a:r>
          </a:p>
        </p:txBody>
      </p:sp>
      <p:sp>
        <p:nvSpPr>
          <p:cNvPr id="49" name="TextBox 48"/>
          <p:cNvSpPr txBox="1"/>
          <p:nvPr/>
        </p:nvSpPr>
        <p:spPr>
          <a:xfrm>
            <a:off x="6364224" y="4462272"/>
            <a:ext cx="2414016" cy="1097280"/>
          </a:xfrm>
          <a:prstGeom prst="rect">
            <a:avLst/>
          </a:prstGeom>
          <a:noFill/>
        </p:spPr>
        <p:txBody>
          <a:bodyPr wrap="square" anchor="t" lIns="38100" rIns="38100" tIns="25400" bIns="25400">
            <a:spAutoFit/>
          </a:bodyPr>
          <a:lstStyle/>
          <a:p>
            <a:pPr algn="l">
              <a:lnSpc>
                <a:spcPct val="112000"/>
              </a:lnSpc>
              <a:spcBef>
                <a:spcPts val="0"/>
              </a:spcBef>
              <a:spcAft>
                <a:spcPts val="200"/>
              </a:spcAft>
            </a:pPr>
            <a:r>
              <a:rPr sz="1150" b="0" i="0">
                <a:solidFill>
                  <a:srgbClr val="20242E"/>
                </a:solidFill>
                <a:latin typeface="Inter"/>
              </a:rPr>
              <a:t>preséntate</a:t>
            </a:r>
          </a:p>
        </p:txBody>
      </p:sp>
      <p:sp>
        <p:nvSpPr>
          <p:cNvPr id="50" name="Rounded Rectangle 49"/>
          <p:cNvSpPr/>
          <p:nvPr/>
        </p:nvSpPr>
        <p:spPr>
          <a:xfrm>
            <a:off x="6364224" y="5669280"/>
            <a:ext cx="791870" cy="292608"/>
          </a:xfrm>
          <a:prstGeom prst="roundRect">
            <a:avLst>
              <a:gd name="adj" fmla="val 50000"/>
            </a:avLst>
          </a:prstGeom>
          <a:solidFill>
            <a:srgbClr val="EEE8F5"/>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88900" rIns="88900" tIns="12700" bIns="12700"/>
          <a:lstStyle/>
          <a:p>
            <a:pPr algn="ctr"/>
            <a:r>
              <a:rPr sz="950" b="1">
                <a:solidFill>
                  <a:srgbClr val="5B3E83"/>
                </a:solidFill>
                <a:latin typeface="Inter"/>
              </a:rPr>
              <a:t>→ dia 18</a:t>
            </a:r>
          </a:p>
        </p:txBody>
      </p:sp>
      <p:sp>
        <p:nvSpPr>
          <p:cNvPr id="51" name="Rounded Rectangle 50">
            <a:hlinkClick action="ppaction://hlinksldjump" r:id="rId10"/>
          </p:cNvPr>
          <p:cNvSpPr/>
          <p:nvPr/>
        </p:nvSpPr>
        <p:spPr>
          <a:xfrm>
            <a:off x="9070848" y="3840480"/>
            <a:ext cx="2743200" cy="2240280"/>
          </a:xfrm>
          <a:prstGeom prst="roundRect">
            <a:avLst>
              <a:gd name="adj" fmla="val 5500"/>
            </a:avLst>
          </a:prstGeom>
          <a:solidFill>
            <a:srgbClr val="FFFFFF"/>
          </a:solidFill>
          <a:ln w="20320">
            <a:solidFill>
              <a:srgbClr val="5B3E83"/>
            </a:solidFill>
          </a:ln>
          <a:effectLst>
            <a:outerShdw blurRad="90000" dist="38000" dir="5400000" rotWithShape="0">
              <a:srgbClr val="20242E">
                <a:alpha val="2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Rectangle 51">
            <a:hlinkClick action="ppaction://hlinksldjump" r:id="rId10"/>
          </p:cNvPr>
          <p:cNvSpPr/>
          <p:nvPr/>
        </p:nvSpPr>
        <p:spPr>
          <a:xfrm>
            <a:off x="9070848" y="3840480"/>
            <a:ext cx="2743200" cy="457200"/>
          </a:xfrm>
          <a:prstGeom prst="rect">
            <a:avLst/>
          </a:prstGeom>
          <a:solidFill>
            <a:srgbClr val="5B3E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Rounded Rectangle 52"/>
          <p:cNvSpPr/>
          <p:nvPr/>
        </p:nvSpPr>
        <p:spPr>
          <a:xfrm>
            <a:off x="9180576" y="3913632"/>
            <a:ext cx="310896" cy="310896"/>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200" b="1">
                <a:solidFill>
                  <a:srgbClr val="5B3E83"/>
                </a:solidFill>
                <a:latin typeface="Bricolage Grotesque"/>
              </a:rPr>
              <a:t>◎</a:t>
            </a:r>
          </a:p>
        </p:txBody>
      </p:sp>
      <p:sp>
        <p:nvSpPr>
          <p:cNvPr id="54" name="TextBox 53"/>
          <p:cNvSpPr txBox="1"/>
          <p:nvPr/>
        </p:nvSpPr>
        <p:spPr>
          <a:xfrm>
            <a:off x="9601200" y="3895344"/>
            <a:ext cx="2103120" cy="365760"/>
          </a:xfrm>
          <a:prstGeom prst="rect">
            <a:avLst/>
          </a:prstGeom>
          <a:noFill/>
        </p:spPr>
        <p:txBody>
          <a:bodyPr wrap="square" anchor="ctr" lIns="38100" rIns="38100" tIns="25400" bIns="25400">
            <a:spAutoFit/>
          </a:bodyPr>
          <a:lstStyle/>
          <a:p>
            <a:pPr algn="l">
              <a:lnSpc>
                <a:spcPct val="106000"/>
              </a:lnSpc>
              <a:spcBef>
                <a:spcPts val="0"/>
              </a:spcBef>
              <a:spcAft>
                <a:spcPts val="200"/>
              </a:spcAft>
            </a:pPr>
            <a:r>
              <a:rPr sz="1450" b="1" i="0">
                <a:solidFill>
                  <a:srgbClr val="FFFFFF"/>
                </a:solidFill>
                <a:latin typeface="Bricolage Grotesque"/>
              </a:rPr>
              <a:t>Repaso + semáforo</a:t>
            </a:r>
          </a:p>
        </p:txBody>
      </p:sp>
      <p:sp>
        <p:nvSpPr>
          <p:cNvPr id="55" name="TextBox 54"/>
          <p:cNvSpPr txBox="1"/>
          <p:nvPr/>
        </p:nvSpPr>
        <p:spPr>
          <a:xfrm>
            <a:off x="9235440" y="4462272"/>
            <a:ext cx="2414016" cy="1097280"/>
          </a:xfrm>
          <a:prstGeom prst="rect">
            <a:avLst/>
          </a:prstGeom>
          <a:noFill/>
        </p:spPr>
        <p:txBody>
          <a:bodyPr wrap="square" anchor="t" lIns="38100" rIns="38100" tIns="25400" bIns="25400">
            <a:spAutoFit/>
          </a:bodyPr>
          <a:lstStyle/>
          <a:p>
            <a:pPr algn="l">
              <a:lnSpc>
                <a:spcPct val="112000"/>
              </a:lnSpc>
              <a:spcBef>
                <a:spcPts val="0"/>
              </a:spcBef>
              <a:spcAft>
                <a:spcPts val="200"/>
              </a:spcAft>
            </a:pPr>
            <a:r>
              <a:rPr sz="1150" b="0" i="0">
                <a:solidFill>
                  <a:srgbClr val="20242E"/>
                </a:solidFill>
                <a:latin typeface="Inter"/>
              </a:rPr>
              <a:t>lo esencial · zelfevaluatie</a:t>
            </a:r>
          </a:p>
        </p:txBody>
      </p:sp>
      <p:sp>
        <p:nvSpPr>
          <p:cNvPr id="56" name="Rounded Rectangle 55"/>
          <p:cNvSpPr/>
          <p:nvPr/>
        </p:nvSpPr>
        <p:spPr>
          <a:xfrm>
            <a:off x="9235440" y="5669280"/>
            <a:ext cx="791870" cy="292608"/>
          </a:xfrm>
          <a:prstGeom prst="roundRect">
            <a:avLst>
              <a:gd name="adj" fmla="val 50000"/>
            </a:avLst>
          </a:prstGeom>
          <a:solidFill>
            <a:srgbClr val="EEE8F5"/>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88900" rIns="88900" tIns="12700" bIns="12700"/>
          <a:lstStyle/>
          <a:p>
            <a:pPr algn="ctr"/>
            <a:r>
              <a:rPr sz="950" b="1">
                <a:solidFill>
                  <a:srgbClr val="5B3E83"/>
                </a:solidFill>
                <a:latin typeface="Inter"/>
              </a:rPr>
              <a:t>→ dia 20</a:t>
            </a:r>
          </a:p>
        </p:txBody>
      </p:sp>
      <p:sp>
        <p:nvSpPr>
          <p:cNvPr id="57" name="Rectangle 56"/>
          <p:cNvSpPr/>
          <p:nvPr/>
        </p:nvSpPr>
        <p:spPr>
          <a:xfrm>
            <a:off x="0" y="6547104"/>
            <a:ext cx="12191695" cy="310896"/>
          </a:xfrm>
          <a:prstGeom prst="rect">
            <a:avLst/>
          </a:prstGeom>
          <a:solidFill>
            <a:srgbClr val="F3EE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411480" y="6565392"/>
            <a:ext cx="5486400" cy="274320"/>
          </a:xfrm>
          <a:prstGeom prst="rect">
            <a:avLst/>
          </a:prstGeom>
          <a:noFill/>
        </p:spPr>
        <p:txBody>
          <a:bodyPr wrap="square" anchor="ctr" lIns="38100" rIns="38100" tIns="25400" bIns="25400">
            <a:spAutoFit/>
          </a:bodyPr>
          <a:lstStyle/>
          <a:p>
            <a:pPr algn="l">
              <a:lnSpc>
                <a:spcPct val="106000"/>
              </a:lnSpc>
              <a:spcBef>
                <a:spcPts val="0"/>
              </a:spcBef>
              <a:spcAft>
                <a:spcPts val="200"/>
              </a:spcAft>
            </a:pPr>
            <a:r>
              <a:rPr sz="1100" b="1" i="0">
                <a:solidFill>
                  <a:srgbClr val="7C56A9"/>
                </a:solidFill>
                <a:latin typeface="Inter"/>
              </a:rPr>
              <a:t>● </a:t>
            </a:r>
            <a:r>
              <a:rPr sz="950" b="0" i="0">
                <a:solidFill>
                  <a:srgbClr val="6A6E78"/>
                </a:solidFill>
                <a:latin typeface="Inter"/>
              </a:rPr>
              <a:t>U0 · ¡VOLVEMOS!   ·   C6+ · el reencuentro</a:t>
            </a:r>
          </a:p>
        </p:txBody>
      </p:sp>
      <p:sp>
        <p:nvSpPr>
          <p:cNvPr id="59" name="TextBox 58"/>
          <p:cNvSpPr txBox="1"/>
          <p:nvPr/>
        </p:nvSpPr>
        <p:spPr>
          <a:xfrm>
            <a:off x="8686800" y="6565392"/>
            <a:ext cx="3063240" cy="274320"/>
          </a:xfrm>
          <a:prstGeom prst="rect">
            <a:avLst/>
          </a:prstGeom>
          <a:noFill/>
        </p:spPr>
        <p:txBody>
          <a:bodyPr wrap="square" anchor="ctr" lIns="38100" rIns="38100" tIns="25400" bIns="25400">
            <a:spAutoFit/>
          </a:bodyPr>
          <a:lstStyle/>
          <a:p>
            <a:pPr algn="r">
              <a:lnSpc>
                <a:spcPct val="106000"/>
              </a:lnSpc>
              <a:spcBef>
                <a:spcPts val="0"/>
              </a:spcBef>
              <a:spcAft>
                <a:spcPts val="200"/>
              </a:spcAft>
            </a:pPr>
            <a:r>
              <a:rPr sz="900" b="0" i="1">
                <a:solidFill>
                  <a:srgbClr val="6A6E78"/>
                </a:solidFill>
                <a:latin typeface="Inter"/>
              </a:rPr>
              <a:t>Docentenversie — met oplossingen</a:t>
            </a:r>
          </a:p>
        </p:txBody>
      </p:sp>
      <p:sp>
        <p:nvSpPr>
          <p:cNvPr id="60" name="TextBox 59"/>
          <p:cNvSpPr txBox="1"/>
          <p:nvPr/>
        </p:nvSpPr>
        <p:spPr>
          <a:xfrm>
            <a:off x="11475720" y="6565392"/>
            <a:ext cx="457200" cy="274320"/>
          </a:xfrm>
          <a:prstGeom prst="rect">
            <a:avLst/>
          </a:prstGeom>
          <a:noFill/>
        </p:spPr>
        <p:txBody>
          <a:bodyPr wrap="square" anchor="ctr" lIns="38100" rIns="38100" tIns="25400" bIns="25400">
            <a:spAutoFit/>
          </a:bodyPr>
          <a:lstStyle/>
          <a:p>
            <a:pPr algn="r">
              <a:lnSpc>
                <a:spcPct val="106000"/>
              </a:lnSpc>
              <a:spcBef>
                <a:spcPts val="0"/>
              </a:spcBef>
              <a:spcAft>
                <a:spcPts val="200"/>
              </a:spcAft>
            </a:pPr>
            <a:r>
              <a:rPr sz="950" b="1" i="0">
                <a:solidFill>
                  <a:srgbClr val="5B3E83"/>
                </a:solidFill>
                <a:latin typeface="Inter"/>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C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78992"/>
          </a:xfrm>
          <a:prstGeom prst="rect">
            <a:avLst/>
          </a:prstGeom>
          <a:solidFill>
            <a:srgbClr val="7C56A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78992"/>
            <a:ext cx="12191695" cy="54864"/>
          </a:xfrm>
          <a:prstGeom prst="rect">
            <a:avLst/>
          </a:prstGeom>
          <a:solidFill>
            <a:srgbClr val="5B3E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02920" y="182880"/>
            <a:ext cx="1464868" cy="292608"/>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88900" rIns="88900" tIns="12700" bIns="12700"/>
          <a:lstStyle/>
          <a:p>
            <a:pPr algn="ctr"/>
            <a:r>
              <a:rPr sz="1100" b="1">
                <a:solidFill>
                  <a:srgbClr val="7C56A9"/>
                </a:solidFill>
                <a:latin typeface="Inter"/>
              </a:rPr>
              <a:t>§1 · VOCABULARIO</a:t>
            </a:r>
          </a:p>
        </p:txBody>
      </p:sp>
      <p:sp>
        <p:nvSpPr>
          <p:cNvPr id="6" name="TextBox 5"/>
          <p:cNvSpPr txBox="1"/>
          <p:nvPr/>
        </p:nvSpPr>
        <p:spPr>
          <a:xfrm>
            <a:off x="10424160" y="-137160"/>
            <a:ext cx="1737360" cy="1371600"/>
          </a:xfrm>
          <a:prstGeom prst="rect">
            <a:avLst/>
          </a:prstGeom>
          <a:noFill/>
        </p:spPr>
        <p:txBody>
          <a:bodyPr wrap="square" anchor="t" lIns="38100" rIns="38100" tIns="25400" bIns="25400">
            <a:spAutoFit/>
          </a:bodyPr>
          <a:lstStyle/>
          <a:p>
            <a:pPr algn="r">
              <a:lnSpc>
                <a:spcPct val="106000"/>
              </a:lnSpc>
              <a:spcBef>
                <a:spcPts val="0"/>
              </a:spcBef>
              <a:spcAft>
                <a:spcPts val="200"/>
              </a:spcAft>
            </a:pPr>
            <a:r>
              <a:rPr sz="8800" b="1" i="0">
                <a:solidFill>
                  <a:srgbClr val="FFFFFF"/>
                </a:solidFill>
                <a:latin typeface="Bricolage Grotesque"/>
              </a:rPr>
              <a:t>1</a:t>
            </a:r>
          </a:p>
        </p:txBody>
      </p:sp>
      <p:sp>
        <p:nvSpPr>
          <p:cNvPr id="7" name="TextBox 6"/>
          <p:cNvSpPr txBox="1"/>
          <p:nvPr/>
        </p:nvSpPr>
        <p:spPr>
          <a:xfrm>
            <a:off x="457200" y="457200"/>
            <a:ext cx="9692640" cy="502920"/>
          </a:xfrm>
          <a:prstGeom prst="rect">
            <a:avLst/>
          </a:prstGeom>
          <a:noFill/>
        </p:spPr>
        <p:txBody>
          <a:bodyPr wrap="square" anchor="ctr" lIns="38100" rIns="38100" tIns="25400" bIns="25400">
            <a:spAutoFit/>
          </a:bodyPr>
          <a:lstStyle/>
          <a:p>
            <a:pPr algn="l">
              <a:lnSpc>
                <a:spcPct val="106000"/>
              </a:lnSpc>
              <a:spcBef>
                <a:spcPts val="0"/>
              </a:spcBef>
              <a:spcAft>
                <a:spcPts val="200"/>
              </a:spcAft>
            </a:pPr>
            <a:r>
              <a:rPr sz="2700" b="1" i="0">
                <a:solidFill>
                  <a:srgbClr val="FFFFFF"/>
                </a:solidFill>
                <a:latin typeface="Bricolage Grotesque"/>
              </a:rPr>
              <a:t>Saludar y presentarse</a:t>
            </a:r>
          </a:p>
        </p:txBody>
      </p:sp>
      <p:sp>
        <p:nvSpPr>
          <p:cNvPr id="8" name="TextBox 7"/>
          <p:cNvSpPr txBox="1"/>
          <p:nvPr/>
        </p:nvSpPr>
        <p:spPr>
          <a:xfrm>
            <a:off x="502920" y="932688"/>
            <a:ext cx="9692640" cy="274320"/>
          </a:xfrm>
          <a:prstGeom prst="rect">
            <a:avLst/>
          </a:prstGeom>
          <a:noFill/>
        </p:spPr>
        <p:txBody>
          <a:bodyPr wrap="square" anchor="t" lIns="38100" rIns="38100" tIns="25400" bIns="25400">
            <a:spAutoFit/>
          </a:bodyPr>
          <a:lstStyle/>
          <a:p>
            <a:pPr algn="l">
              <a:lnSpc>
                <a:spcPct val="106000"/>
              </a:lnSpc>
              <a:spcBef>
                <a:spcPts val="0"/>
              </a:spcBef>
              <a:spcAft>
                <a:spcPts val="200"/>
              </a:spcAft>
            </a:pPr>
            <a:r>
              <a:rPr sz="1250" b="0" i="1">
                <a:solidFill>
                  <a:srgbClr val="EEE8F5"/>
                </a:solidFill>
                <a:latin typeface="Inter"/>
              </a:rPr>
              <a:t>De woorden van het reencuentro — observa. Herken ze, dan gebruik je ze.</a:t>
            </a:r>
          </a:p>
        </p:txBody>
      </p:sp>
      <p:sp>
        <p:nvSpPr>
          <p:cNvPr id="9" name="TextBox 8"/>
          <p:cNvSpPr txBox="1"/>
          <p:nvPr/>
        </p:nvSpPr>
        <p:spPr>
          <a:xfrm>
            <a:off x="8869680" y="484632"/>
            <a:ext cx="1188720" cy="274320"/>
          </a:xfrm>
          <a:prstGeom prst="rect">
            <a:avLst/>
          </a:prstGeom>
          <a:noFill/>
        </p:spPr>
        <p:txBody>
          <a:bodyPr wrap="square" anchor="t" lIns="38100" rIns="38100" tIns="25400" bIns="25400">
            <a:spAutoFit/>
          </a:bodyPr>
          <a:lstStyle/>
          <a:p>
            <a:pPr algn="l">
              <a:lnSpc>
                <a:spcPct val="106000"/>
              </a:lnSpc>
              <a:spcBef>
                <a:spcPts val="0"/>
              </a:spcBef>
              <a:spcAft>
                <a:spcPts val="200"/>
              </a:spcAft>
            </a:pPr>
            <a:r>
              <a:rPr sz="900" b="1" i="0">
                <a:solidFill>
                  <a:srgbClr val="6A6E78"/>
                </a:solidFill>
                <a:latin typeface="Inter"/>
              </a:rPr>
              <a:t>Kleurcode:</a:t>
            </a:r>
          </a:p>
        </p:txBody>
      </p:sp>
      <p:sp>
        <p:nvSpPr>
          <p:cNvPr id="10" name="Rounded Rectangle 9"/>
          <p:cNvSpPr/>
          <p:nvPr/>
        </p:nvSpPr>
        <p:spPr>
          <a:xfrm>
            <a:off x="9921240" y="521208"/>
            <a:ext cx="128016" cy="128016"/>
          </a:xfrm>
          <a:prstGeom prst="roundRect">
            <a:avLst>
              <a:gd name="adj" fmla="val 50000"/>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85832" y="475488"/>
            <a:ext cx="914400" cy="274320"/>
          </a:xfrm>
          <a:prstGeom prst="rect">
            <a:avLst/>
          </a:prstGeom>
          <a:noFill/>
        </p:spPr>
        <p:txBody>
          <a:bodyPr wrap="square" anchor="t" lIns="38100" rIns="38100" tIns="25400" bIns="25400">
            <a:spAutoFit/>
          </a:bodyPr>
          <a:lstStyle/>
          <a:p>
            <a:pPr algn="l">
              <a:lnSpc>
                <a:spcPct val="106000"/>
              </a:lnSpc>
              <a:spcBef>
                <a:spcPts val="0"/>
              </a:spcBef>
              <a:spcAft>
                <a:spcPts val="200"/>
              </a:spcAft>
            </a:pPr>
            <a:r>
              <a:rPr sz="900" b="0" i="0">
                <a:solidFill>
                  <a:srgbClr val="20242E"/>
                </a:solidFill>
                <a:latin typeface="Inter"/>
              </a:rPr>
              <a:t>persoon</a:t>
            </a:r>
          </a:p>
        </p:txBody>
      </p:sp>
      <p:sp>
        <p:nvSpPr>
          <p:cNvPr id="12" name="Rounded Rectangle 11"/>
          <p:cNvSpPr/>
          <p:nvPr/>
        </p:nvSpPr>
        <p:spPr>
          <a:xfrm>
            <a:off x="10574121" y="521208"/>
            <a:ext cx="128016" cy="128016"/>
          </a:xfrm>
          <a:prstGeom prst="roundRect">
            <a:avLst>
              <a:gd name="adj" fmla="val 50000"/>
            </a:avLst>
          </a:prstGeom>
          <a:solidFill>
            <a:srgbClr val="EA73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738713" y="475488"/>
            <a:ext cx="914400" cy="274320"/>
          </a:xfrm>
          <a:prstGeom prst="rect">
            <a:avLst/>
          </a:prstGeom>
          <a:noFill/>
        </p:spPr>
        <p:txBody>
          <a:bodyPr wrap="square" anchor="t" lIns="38100" rIns="38100" tIns="25400" bIns="25400">
            <a:spAutoFit/>
          </a:bodyPr>
          <a:lstStyle/>
          <a:p>
            <a:pPr algn="l">
              <a:lnSpc>
                <a:spcPct val="106000"/>
              </a:lnSpc>
              <a:spcBef>
                <a:spcPts val="0"/>
              </a:spcBef>
              <a:spcAft>
                <a:spcPts val="200"/>
              </a:spcAft>
            </a:pPr>
            <a:r>
              <a:rPr sz="900" b="0" i="0">
                <a:solidFill>
                  <a:srgbClr val="20242E"/>
                </a:solidFill>
                <a:latin typeface="Inter"/>
              </a:rPr>
              <a:t>werkw.</a:t>
            </a:r>
          </a:p>
        </p:txBody>
      </p:sp>
      <p:sp>
        <p:nvSpPr>
          <p:cNvPr id="14" name="Rounded Rectangle 13"/>
          <p:cNvSpPr/>
          <p:nvPr/>
        </p:nvSpPr>
        <p:spPr>
          <a:xfrm>
            <a:off x="11170309" y="521208"/>
            <a:ext cx="128016" cy="128016"/>
          </a:xfrm>
          <a:prstGeom prst="roundRect">
            <a:avLst>
              <a:gd name="adj" fmla="val 50000"/>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1334901" y="475488"/>
            <a:ext cx="914400" cy="274320"/>
          </a:xfrm>
          <a:prstGeom prst="rect">
            <a:avLst/>
          </a:prstGeom>
          <a:noFill/>
        </p:spPr>
        <p:txBody>
          <a:bodyPr wrap="square" anchor="t" lIns="38100" rIns="38100" tIns="25400" bIns="25400">
            <a:spAutoFit/>
          </a:bodyPr>
          <a:lstStyle/>
          <a:p>
            <a:pPr algn="l">
              <a:lnSpc>
                <a:spcPct val="106000"/>
              </a:lnSpc>
              <a:spcBef>
                <a:spcPts val="0"/>
              </a:spcBef>
              <a:spcAft>
                <a:spcPts val="200"/>
              </a:spcAft>
            </a:pPr>
            <a:r>
              <a:rPr sz="900" b="0" i="0">
                <a:solidFill>
                  <a:srgbClr val="20242E"/>
                </a:solidFill>
                <a:latin typeface="Inter"/>
              </a:rPr>
              <a:t>tijd</a:t>
            </a:r>
          </a:p>
        </p:txBody>
      </p:sp>
      <p:sp>
        <p:nvSpPr>
          <p:cNvPr id="16" name="Rounded Rectangle 15"/>
          <p:cNvSpPr/>
          <p:nvPr/>
        </p:nvSpPr>
        <p:spPr>
          <a:xfrm>
            <a:off x="11653112" y="521208"/>
            <a:ext cx="128016" cy="128016"/>
          </a:xfrm>
          <a:prstGeom prst="roundRect">
            <a:avLst>
              <a:gd name="adj" fmla="val 50000"/>
            </a:avLst>
          </a:prstGeom>
          <a:solidFill>
            <a:srgbClr val="6474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1817704" y="475488"/>
            <a:ext cx="914400" cy="274320"/>
          </a:xfrm>
          <a:prstGeom prst="rect">
            <a:avLst/>
          </a:prstGeom>
          <a:noFill/>
        </p:spPr>
        <p:txBody>
          <a:bodyPr wrap="square" anchor="t" lIns="38100" rIns="38100" tIns="25400" bIns="25400">
            <a:spAutoFit/>
          </a:bodyPr>
          <a:lstStyle/>
          <a:p>
            <a:pPr algn="l">
              <a:lnSpc>
                <a:spcPct val="106000"/>
              </a:lnSpc>
              <a:spcBef>
                <a:spcPts val="0"/>
              </a:spcBef>
              <a:spcAft>
                <a:spcPts val="200"/>
              </a:spcAft>
            </a:pPr>
            <a:r>
              <a:rPr sz="900" b="0" i="0">
                <a:solidFill>
                  <a:srgbClr val="20242E"/>
                </a:solidFill>
                <a:latin typeface="Inter"/>
              </a:rPr>
              <a:t>plaats</a:t>
            </a:r>
          </a:p>
        </p:txBody>
      </p:sp>
      <p:sp>
        <p:nvSpPr>
          <p:cNvPr id="18" name="Rounded Rectangle 17"/>
          <p:cNvSpPr/>
          <p:nvPr/>
        </p:nvSpPr>
        <p:spPr>
          <a:xfrm>
            <a:off x="12249300" y="521208"/>
            <a:ext cx="128016" cy="128016"/>
          </a:xfrm>
          <a:prstGeom prst="roundRect">
            <a:avLst>
              <a:gd name="adj" fmla="val 50000"/>
            </a:avLst>
          </a:prstGeom>
          <a:solidFill>
            <a:srgbClr val="DC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2413892" y="475488"/>
            <a:ext cx="914400" cy="274320"/>
          </a:xfrm>
          <a:prstGeom prst="rect">
            <a:avLst/>
          </a:prstGeom>
          <a:noFill/>
        </p:spPr>
        <p:txBody>
          <a:bodyPr wrap="square" anchor="t" lIns="38100" rIns="38100" tIns="25400" bIns="25400">
            <a:spAutoFit/>
          </a:bodyPr>
          <a:lstStyle/>
          <a:p>
            <a:pPr algn="l">
              <a:lnSpc>
                <a:spcPct val="106000"/>
              </a:lnSpc>
              <a:spcBef>
                <a:spcPts val="0"/>
              </a:spcBef>
              <a:spcAft>
                <a:spcPts val="200"/>
              </a:spcAft>
            </a:pPr>
            <a:r>
              <a:rPr sz="900" b="0" i="0">
                <a:solidFill>
                  <a:srgbClr val="20242E"/>
                </a:solidFill>
                <a:latin typeface="Inter"/>
              </a:rPr>
              <a:t>valstrik</a:t>
            </a:r>
          </a:p>
        </p:txBody>
      </p:sp>
      <p:sp>
        <p:nvSpPr>
          <p:cNvPr id="20" name="Rounded Rectangle 19"/>
          <p:cNvSpPr/>
          <p:nvPr/>
        </p:nvSpPr>
        <p:spPr>
          <a:xfrm>
            <a:off x="457200" y="1463040"/>
            <a:ext cx="5577840" cy="548640"/>
          </a:xfrm>
          <a:prstGeom prst="roundRect">
            <a:avLst>
              <a:gd name="adj" fmla="val 5500"/>
            </a:avLst>
          </a:prstGeom>
          <a:solidFill>
            <a:srgbClr val="FFFFFF"/>
          </a:solidFill>
          <a:ln w="12700">
            <a:solidFill>
              <a:srgbClr val="E4E3D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94360" y="1463040"/>
            <a:ext cx="2194560" cy="548640"/>
          </a:xfrm>
          <a:prstGeom prst="rect">
            <a:avLst/>
          </a:prstGeom>
          <a:noFill/>
        </p:spPr>
        <p:txBody>
          <a:bodyPr wrap="square" anchor="ctr" lIns="38100" rIns="38100" tIns="25400" bIns="25400">
            <a:spAutoFit/>
          </a:bodyPr>
          <a:lstStyle/>
          <a:p>
            <a:pPr algn="l">
              <a:lnSpc>
                <a:spcPct val="106000"/>
              </a:lnSpc>
              <a:spcBef>
                <a:spcPts val="0"/>
              </a:spcBef>
              <a:spcAft>
                <a:spcPts val="200"/>
              </a:spcAft>
            </a:pPr>
            <a:r>
              <a:rPr sz="1300" b="1" i="0">
                <a:solidFill>
                  <a:srgbClr val="5B3E83"/>
                </a:solidFill>
                <a:latin typeface="Inter"/>
              </a:rPr>
              <a:t>hola / adiós</a:t>
            </a:r>
          </a:p>
        </p:txBody>
      </p:sp>
      <p:sp>
        <p:nvSpPr>
          <p:cNvPr id="22" name="TextBox 21"/>
          <p:cNvSpPr txBox="1"/>
          <p:nvPr/>
        </p:nvSpPr>
        <p:spPr>
          <a:xfrm>
            <a:off x="2743200" y="1463040"/>
            <a:ext cx="1920240" cy="548640"/>
          </a:xfrm>
          <a:prstGeom prst="rect">
            <a:avLst/>
          </a:prstGeom>
          <a:noFill/>
        </p:spPr>
        <p:txBody>
          <a:bodyPr wrap="square" anchor="ctr" lIns="38100" rIns="38100" tIns="25400" bIns="25400">
            <a:spAutoFit/>
          </a:bodyPr>
          <a:lstStyle/>
          <a:p>
            <a:pPr algn="l">
              <a:lnSpc>
                <a:spcPct val="106000"/>
              </a:lnSpc>
              <a:spcBef>
                <a:spcPts val="0"/>
              </a:spcBef>
              <a:spcAft>
                <a:spcPts val="200"/>
              </a:spcAft>
            </a:pPr>
            <a:r>
              <a:rPr sz="1200" b="0" i="0">
                <a:solidFill>
                  <a:srgbClr val="20242E"/>
                </a:solidFill>
                <a:latin typeface="Inter"/>
              </a:rPr>
              <a:t>hallo / dag</a:t>
            </a:r>
          </a:p>
        </p:txBody>
      </p:sp>
      <p:sp>
        <p:nvSpPr>
          <p:cNvPr id="23" name="TextBox 22"/>
          <p:cNvSpPr txBox="1"/>
          <p:nvPr/>
        </p:nvSpPr>
        <p:spPr>
          <a:xfrm>
            <a:off x="4572000" y="1463040"/>
            <a:ext cx="1371600" cy="548640"/>
          </a:xfrm>
          <a:prstGeom prst="rect">
            <a:avLst/>
          </a:prstGeom>
          <a:noFill/>
        </p:spPr>
        <p:txBody>
          <a:bodyPr wrap="square" anchor="ctr" lIns="38100" rIns="38100" tIns="25400" bIns="25400">
            <a:spAutoFit/>
          </a:bodyPr>
          <a:lstStyle/>
          <a:p>
            <a:pPr algn="l">
              <a:lnSpc>
                <a:spcPct val="106000"/>
              </a:lnSpc>
              <a:spcBef>
                <a:spcPts val="0"/>
              </a:spcBef>
              <a:spcAft>
                <a:spcPts val="200"/>
              </a:spcAft>
            </a:pPr>
            <a:r>
              <a:rPr sz="900" b="0" i="1">
                <a:solidFill>
                  <a:srgbClr val="6A6E78"/>
                </a:solidFill>
                <a:latin typeface="Inter"/>
              </a:rPr>
              <a:t>saludo · despedida</a:t>
            </a:r>
          </a:p>
        </p:txBody>
      </p:sp>
      <p:sp>
        <p:nvSpPr>
          <p:cNvPr id="24" name="Rounded Rectangle 23"/>
          <p:cNvSpPr/>
          <p:nvPr/>
        </p:nvSpPr>
        <p:spPr>
          <a:xfrm>
            <a:off x="457200" y="2121408"/>
            <a:ext cx="5577840" cy="548640"/>
          </a:xfrm>
          <a:prstGeom prst="roundRect">
            <a:avLst>
              <a:gd name="adj" fmla="val 5500"/>
            </a:avLst>
          </a:prstGeom>
          <a:solidFill>
            <a:srgbClr val="FFFFFF"/>
          </a:solidFill>
          <a:ln w="12700">
            <a:solidFill>
              <a:srgbClr val="E4E3D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94360" y="2121408"/>
            <a:ext cx="2194560" cy="548640"/>
          </a:xfrm>
          <a:prstGeom prst="rect">
            <a:avLst/>
          </a:prstGeom>
          <a:noFill/>
        </p:spPr>
        <p:txBody>
          <a:bodyPr wrap="square" anchor="ctr" lIns="38100" rIns="38100" tIns="25400" bIns="25400">
            <a:spAutoFit/>
          </a:bodyPr>
          <a:lstStyle/>
          <a:p>
            <a:pPr algn="l">
              <a:lnSpc>
                <a:spcPct val="106000"/>
              </a:lnSpc>
              <a:spcBef>
                <a:spcPts val="0"/>
              </a:spcBef>
              <a:spcAft>
                <a:spcPts val="200"/>
              </a:spcAft>
            </a:pPr>
            <a:r>
              <a:rPr sz="1300" b="1" i="0">
                <a:solidFill>
                  <a:srgbClr val="5B3E83"/>
                </a:solidFill>
                <a:latin typeface="Inter"/>
              </a:rPr>
              <a:t>buenos días</a:t>
            </a:r>
          </a:p>
        </p:txBody>
      </p:sp>
      <p:sp>
        <p:nvSpPr>
          <p:cNvPr id="26" name="TextBox 25"/>
          <p:cNvSpPr txBox="1"/>
          <p:nvPr/>
        </p:nvSpPr>
        <p:spPr>
          <a:xfrm>
            <a:off x="2743200" y="2121408"/>
            <a:ext cx="1920240" cy="548640"/>
          </a:xfrm>
          <a:prstGeom prst="rect">
            <a:avLst/>
          </a:prstGeom>
          <a:noFill/>
        </p:spPr>
        <p:txBody>
          <a:bodyPr wrap="square" anchor="ctr" lIns="38100" rIns="38100" tIns="25400" bIns="25400">
            <a:spAutoFit/>
          </a:bodyPr>
          <a:lstStyle/>
          <a:p>
            <a:pPr algn="l">
              <a:lnSpc>
                <a:spcPct val="106000"/>
              </a:lnSpc>
              <a:spcBef>
                <a:spcPts val="0"/>
              </a:spcBef>
              <a:spcAft>
                <a:spcPts val="200"/>
              </a:spcAft>
            </a:pPr>
            <a:r>
              <a:rPr sz="1200" b="0" i="0">
                <a:solidFill>
                  <a:srgbClr val="20242E"/>
                </a:solidFill>
                <a:latin typeface="Inter"/>
              </a:rPr>
              <a:t>goedemorgen</a:t>
            </a:r>
          </a:p>
        </p:txBody>
      </p:sp>
      <p:sp>
        <p:nvSpPr>
          <p:cNvPr id="27" name="TextBox 26"/>
          <p:cNvSpPr txBox="1"/>
          <p:nvPr/>
        </p:nvSpPr>
        <p:spPr>
          <a:xfrm>
            <a:off x="4572000" y="2121408"/>
            <a:ext cx="1371600" cy="548640"/>
          </a:xfrm>
          <a:prstGeom prst="rect">
            <a:avLst/>
          </a:prstGeom>
          <a:noFill/>
        </p:spPr>
        <p:txBody>
          <a:bodyPr wrap="square" anchor="ctr" lIns="38100" rIns="38100" tIns="25400" bIns="25400">
            <a:spAutoFit/>
          </a:bodyPr>
          <a:lstStyle/>
          <a:p>
            <a:pPr algn="l">
              <a:lnSpc>
                <a:spcPct val="106000"/>
              </a:lnSpc>
              <a:spcBef>
                <a:spcPts val="0"/>
              </a:spcBef>
              <a:spcAft>
                <a:spcPts val="200"/>
              </a:spcAft>
            </a:pPr>
            <a:r>
              <a:rPr sz="900" b="0" i="1">
                <a:solidFill>
                  <a:srgbClr val="6A6E78"/>
                </a:solidFill>
                <a:latin typeface="Inter"/>
              </a:rPr>
              <a:t>buenas tardes/noches</a:t>
            </a:r>
          </a:p>
        </p:txBody>
      </p:sp>
      <p:sp>
        <p:nvSpPr>
          <p:cNvPr id="28" name="Rounded Rectangle 27"/>
          <p:cNvSpPr/>
          <p:nvPr/>
        </p:nvSpPr>
        <p:spPr>
          <a:xfrm>
            <a:off x="457200" y="2779776"/>
            <a:ext cx="5577840" cy="548640"/>
          </a:xfrm>
          <a:prstGeom prst="roundRect">
            <a:avLst>
              <a:gd name="adj" fmla="val 5500"/>
            </a:avLst>
          </a:prstGeom>
          <a:solidFill>
            <a:srgbClr val="FFFFFF"/>
          </a:solidFill>
          <a:ln w="12700">
            <a:solidFill>
              <a:srgbClr val="E4E3D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94360" y="2779776"/>
            <a:ext cx="2194560" cy="548640"/>
          </a:xfrm>
          <a:prstGeom prst="rect">
            <a:avLst/>
          </a:prstGeom>
          <a:noFill/>
        </p:spPr>
        <p:txBody>
          <a:bodyPr wrap="square" anchor="ctr" lIns="38100" rIns="38100" tIns="25400" bIns="25400">
            <a:spAutoFit/>
          </a:bodyPr>
          <a:lstStyle/>
          <a:p>
            <a:pPr algn="l">
              <a:lnSpc>
                <a:spcPct val="106000"/>
              </a:lnSpc>
              <a:spcBef>
                <a:spcPts val="0"/>
              </a:spcBef>
              <a:spcAft>
                <a:spcPts val="200"/>
              </a:spcAft>
            </a:pPr>
            <a:r>
              <a:rPr sz="1300" b="1" i="0">
                <a:solidFill>
                  <a:srgbClr val="5B3E83"/>
                </a:solidFill>
                <a:latin typeface="Inter"/>
              </a:rPr>
              <a:t>me llamo…</a:t>
            </a:r>
          </a:p>
        </p:txBody>
      </p:sp>
      <p:sp>
        <p:nvSpPr>
          <p:cNvPr id="30" name="TextBox 29"/>
          <p:cNvSpPr txBox="1"/>
          <p:nvPr/>
        </p:nvSpPr>
        <p:spPr>
          <a:xfrm>
            <a:off x="2743200" y="2779776"/>
            <a:ext cx="1920240" cy="548640"/>
          </a:xfrm>
          <a:prstGeom prst="rect">
            <a:avLst/>
          </a:prstGeom>
          <a:noFill/>
        </p:spPr>
        <p:txBody>
          <a:bodyPr wrap="square" anchor="ctr" lIns="38100" rIns="38100" tIns="25400" bIns="25400">
            <a:spAutoFit/>
          </a:bodyPr>
          <a:lstStyle/>
          <a:p>
            <a:pPr algn="l">
              <a:lnSpc>
                <a:spcPct val="106000"/>
              </a:lnSpc>
              <a:spcBef>
                <a:spcPts val="0"/>
              </a:spcBef>
              <a:spcAft>
                <a:spcPts val="200"/>
              </a:spcAft>
            </a:pPr>
            <a:r>
              <a:rPr sz="1200" b="0" i="0">
                <a:solidFill>
                  <a:srgbClr val="20242E"/>
                </a:solidFill>
                <a:latin typeface="Inter"/>
              </a:rPr>
              <a:t>ik heet…</a:t>
            </a:r>
          </a:p>
        </p:txBody>
      </p:sp>
      <p:sp>
        <p:nvSpPr>
          <p:cNvPr id="31" name="TextBox 30"/>
          <p:cNvSpPr txBox="1"/>
          <p:nvPr/>
        </p:nvSpPr>
        <p:spPr>
          <a:xfrm>
            <a:off x="4572000" y="2779776"/>
            <a:ext cx="1371600" cy="548640"/>
          </a:xfrm>
          <a:prstGeom prst="rect">
            <a:avLst/>
          </a:prstGeom>
          <a:noFill/>
        </p:spPr>
        <p:txBody>
          <a:bodyPr wrap="square" anchor="ctr" lIns="38100" rIns="38100" tIns="25400" bIns="25400">
            <a:spAutoFit/>
          </a:bodyPr>
          <a:lstStyle/>
          <a:p>
            <a:pPr algn="l">
              <a:lnSpc>
                <a:spcPct val="106000"/>
              </a:lnSpc>
              <a:spcBef>
                <a:spcPts val="0"/>
              </a:spcBef>
              <a:spcAft>
                <a:spcPts val="200"/>
              </a:spcAft>
            </a:pPr>
            <a:r>
              <a:rPr sz="900" b="0" i="1">
                <a:solidFill>
                  <a:srgbClr val="6A6E78"/>
                </a:solidFill>
                <a:latin typeface="Inter"/>
              </a:rPr>
              <a:t>¿cómo te llamas?</a:t>
            </a:r>
          </a:p>
        </p:txBody>
      </p:sp>
      <p:sp>
        <p:nvSpPr>
          <p:cNvPr id="32" name="Rounded Rectangle 31"/>
          <p:cNvSpPr/>
          <p:nvPr/>
        </p:nvSpPr>
        <p:spPr>
          <a:xfrm>
            <a:off x="457200" y="3438144"/>
            <a:ext cx="5577840" cy="548640"/>
          </a:xfrm>
          <a:prstGeom prst="roundRect">
            <a:avLst>
              <a:gd name="adj" fmla="val 5500"/>
            </a:avLst>
          </a:prstGeom>
          <a:solidFill>
            <a:srgbClr val="FFFFFF"/>
          </a:solidFill>
          <a:ln w="12700">
            <a:solidFill>
              <a:srgbClr val="E4E3D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594360" y="3438144"/>
            <a:ext cx="2194560" cy="548640"/>
          </a:xfrm>
          <a:prstGeom prst="rect">
            <a:avLst/>
          </a:prstGeom>
          <a:noFill/>
        </p:spPr>
        <p:txBody>
          <a:bodyPr wrap="square" anchor="ctr" lIns="38100" rIns="38100" tIns="25400" bIns="25400">
            <a:spAutoFit/>
          </a:bodyPr>
          <a:lstStyle/>
          <a:p>
            <a:pPr algn="l">
              <a:lnSpc>
                <a:spcPct val="106000"/>
              </a:lnSpc>
              <a:spcBef>
                <a:spcPts val="0"/>
              </a:spcBef>
              <a:spcAft>
                <a:spcPts val="200"/>
              </a:spcAft>
            </a:pPr>
            <a:r>
              <a:rPr sz="1300" b="1" i="0">
                <a:solidFill>
                  <a:srgbClr val="5B3E83"/>
                </a:solidFill>
                <a:latin typeface="Inter"/>
              </a:rPr>
              <a:t>soy de…</a:t>
            </a:r>
          </a:p>
        </p:txBody>
      </p:sp>
      <p:sp>
        <p:nvSpPr>
          <p:cNvPr id="34" name="TextBox 33"/>
          <p:cNvSpPr txBox="1"/>
          <p:nvPr/>
        </p:nvSpPr>
        <p:spPr>
          <a:xfrm>
            <a:off x="2743200" y="3438144"/>
            <a:ext cx="1920240" cy="548640"/>
          </a:xfrm>
          <a:prstGeom prst="rect">
            <a:avLst/>
          </a:prstGeom>
          <a:noFill/>
        </p:spPr>
        <p:txBody>
          <a:bodyPr wrap="square" anchor="ctr" lIns="38100" rIns="38100" tIns="25400" bIns="25400">
            <a:spAutoFit/>
          </a:bodyPr>
          <a:lstStyle/>
          <a:p>
            <a:pPr algn="l">
              <a:lnSpc>
                <a:spcPct val="106000"/>
              </a:lnSpc>
              <a:spcBef>
                <a:spcPts val="0"/>
              </a:spcBef>
              <a:spcAft>
                <a:spcPts val="200"/>
              </a:spcAft>
            </a:pPr>
            <a:r>
              <a:rPr sz="1200" b="0" i="0">
                <a:solidFill>
                  <a:srgbClr val="20242E"/>
                </a:solidFill>
                <a:latin typeface="Inter"/>
              </a:rPr>
              <a:t>ik kom uit…</a:t>
            </a:r>
          </a:p>
        </p:txBody>
      </p:sp>
      <p:sp>
        <p:nvSpPr>
          <p:cNvPr id="35" name="TextBox 34"/>
          <p:cNvSpPr txBox="1"/>
          <p:nvPr/>
        </p:nvSpPr>
        <p:spPr>
          <a:xfrm>
            <a:off x="4572000" y="3438144"/>
            <a:ext cx="1371600" cy="548640"/>
          </a:xfrm>
          <a:prstGeom prst="rect">
            <a:avLst/>
          </a:prstGeom>
          <a:noFill/>
        </p:spPr>
        <p:txBody>
          <a:bodyPr wrap="square" anchor="ctr" lIns="38100" rIns="38100" tIns="25400" bIns="25400">
            <a:spAutoFit/>
          </a:bodyPr>
          <a:lstStyle/>
          <a:p>
            <a:pPr algn="l">
              <a:lnSpc>
                <a:spcPct val="106000"/>
              </a:lnSpc>
              <a:spcBef>
                <a:spcPts val="0"/>
              </a:spcBef>
              <a:spcAft>
                <a:spcPts val="200"/>
              </a:spcAft>
            </a:pPr>
            <a:r>
              <a:rPr sz="900" b="0" i="1">
                <a:solidFill>
                  <a:srgbClr val="6A6E78"/>
                </a:solidFill>
                <a:latin typeface="Inter"/>
              </a:rPr>
              <a:t>¿de dónde eres?</a:t>
            </a:r>
          </a:p>
        </p:txBody>
      </p:sp>
      <p:sp>
        <p:nvSpPr>
          <p:cNvPr id="36" name="Rounded Rectangle 35"/>
          <p:cNvSpPr/>
          <p:nvPr/>
        </p:nvSpPr>
        <p:spPr>
          <a:xfrm>
            <a:off x="6172200" y="1463040"/>
            <a:ext cx="5577840" cy="548640"/>
          </a:xfrm>
          <a:prstGeom prst="roundRect">
            <a:avLst>
              <a:gd name="adj" fmla="val 5500"/>
            </a:avLst>
          </a:prstGeom>
          <a:solidFill>
            <a:srgbClr val="FFFFFF"/>
          </a:solidFill>
          <a:ln w="12700">
            <a:solidFill>
              <a:srgbClr val="E4E3D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309360" y="1463040"/>
            <a:ext cx="2194560" cy="548640"/>
          </a:xfrm>
          <a:prstGeom prst="rect">
            <a:avLst/>
          </a:prstGeom>
          <a:noFill/>
        </p:spPr>
        <p:txBody>
          <a:bodyPr wrap="square" anchor="ctr" lIns="38100" rIns="38100" tIns="25400" bIns="25400">
            <a:spAutoFit/>
          </a:bodyPr>
          <a:lstStyle/>
          <a:p>
            <a:pPr algn="l">
              <a:lnSpc>
                <a:spcPct val="106000"/>
              </a:lnSpc>
              <a:spcBef>
                <a:spcPts val="0"/>
              </a:spcBef>
              <a:spcAft>
                <a:spcPts val="200"/>
              </a:spcAft>
            </a:pPr>
            <a:r>
              <a:rPr sz="1300" b="1" i="0">
                <a:solidFill>
                  <a:srgbClr val="5B3E83"/>
                </a:solidFill>
                <a:latin typeface="Inter"/>
              </a:rPr>
              <a:t>tengo … años</a:t>
            </a:r>
          </a:p>
        </p:txBody>
      </p:sp>
      <p:sp>
        <p:nvSpPr>
          <p:cNvPr id="38" name="TextBox 37"/>
          <p:cNvSpPr txBox="1"/>
          <p:nvPr/>
        </p:nvSpPr>
        <p:spPr>
          <a:xfrm>
            <a:off x="8458200" y="1463040"/>
            <a:ext cx="1920240" cy="548640"/>
          </a:xfrm>
          <a:prstGeom prst="rect">
            <a:avLst/>
          </a:prstGeom>
          <a:noFill/>
        </p:spPr>
        <p:txBody>
          <a:bodyPr wrap="square" anchor="ctr" lIns="38100" rIns="38100" tIns="25400" bIns="25400">
            <a:spAutoFit/>
          </a:bodyPr>
          <a:lstStyle/>
          <a:p>
            <a:pPr algn="l">
              <a:lnSpc>
                <a:spcPct val="106000"/>
              </a:lnSpc>
              <a:spcBef>
                <a:spcPts val="0"/>
              </a:spcBef>
              <a:spcAft>
                <a:spcPts val="200"/>
              </a:spcAft>
            </a:pPr>
            <a:r>
              <a:rPr sz="1200" b="0" i="0">
                <a:solidFill>
                  <a:srgbClr val="20242E"/>
                </a:solidFill>
                <a:latin typeface="Inter"/>
              </a:rPr>
              <a:t>ik ben … jaar</a:t>
            </a:r>
          </a:p>
        </p:txBody>
      </p:sp>
      <p:sp>
        <p:nvSpPr>
          <p:cNvPr id="39" name="TextBox 38"/>
          <p:cNvSpPr txBox="1"/>
          <p:nvPr/>
        </p:nvSpPr>
        <p:spPr>
          <a:xfrm>
            <a:off x="10287000" y="1463040"/>
            <a:ext cx="1371600" cy="548640"/>
          </a:xfrm>
          <a:prstGeom prst="rect">
            <a:avLst/>
          </a:prstGeom>
          <a:noFill/>
        </p:spPr>
        <p:txBody>
          <a:bodyPr wrap="square" anchor="ctr" lIns="38100" rIns="38100" tIns="25400" bIns="25400">
            <a:spAutoFit/>
          </a:bodyPr>
          <a:lstStyle/>
          <a:p>
            <a:pPr algn="l">
              <a:lnSpc>
                <a:spcPct val="106000"/>
              </a:lnSpc>
              <a:spcBef>
                <a:spcPts val="0"/>
              </a:spcBef>
              <a:spcAft>
                <a:spcPts val="200"/>
              </a:spcAft>
            </a:pPr>
            <a:r>
              <a:rPr sz="900" b="0" i="1">
                <a:solidFill>
                  <a:srgbClr val="6A6E78"/>
                </a:solidFill>
                <a:latin typeface="Inter"/>
              </a:rPr>
              <a:t>¿cuántos años tienes?</a:t>
            </a:r>
          </a:p>
        </p:txBody>
      </p:sp>
      <p:sp>
        <p:nvSpPr>
          <p:cNvPr id="40" name="Rounded Rectangle 39"/>
          <p:cNvSpPr/>
          <p:nvPr/>
        </p:nvSpPr>
        <p:spPr>
          <a:xfrm>
            <a:off x="6172200" y="2121408"/>
            <a:ext cx="5577840" cy="548640"/>
          </a:xfrm>
          <a:prstGeom prst="roundRect">
            <a:avLst>
              <a:gd name="adj" fmla="val 5500"/>
            </a:avLst>
          </a:prstGeom>
          <a:solidFill>
            <a:srgbClr val="FFFFFF"/>
          </a:solidFill>
          <a:ln w="12700">
            <a:solidFill>
              <a:srgbClr val="E4E3D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309360" y="2121408"/>
            <a:ext cx="2194560" cy="548640"/>
          </a:xfrm>
          <a:prstGeom prst="rect">
            <a:avLst/>
          </a:prstGeom>
          <a:noFill/>
        </p:spPr>
        <p:txBody>
          <a:bodyPr wrap="square" anchor="ctr" lIns="38100" rIns="38100" tIns="25400" bIns="25400">
            <a:spAutoFit/>
          </a:bodyPr>
          <a:lstStyle/>
          <a:p>
            <a:pPr algn="l">
              <a:lnSpc>
                <a:spcPct val="106000"/>
              </a:lnSpc>
              <a:spcBef>
                <a:spcPts val="0"/>
              </a:spcBef>
              <a:spcAft>
                <a:spcPts val="200"/>
              </a:spcAft>
            </a:pPr>
            <a:r>
              <a:rPr sz="1300" b="1" i="0">
                <a:solidFill>
                  <a:srgbClr val="5B3E83"/>
                </a:solidFill>
                <a:latin typeface="Inter"/>
              </a:rPr>
              <a:t>vivo en…</a:t>
            </a:r>
          </a:p>
        </p:txBody>
      </p:sp>
      <p:sp>
        <p:nvSpPr>
          <p:cNvPr id="42" name="TextBox 41"/>
          <p:cNvSpPr txBox="1"/>
          <p:nvPr/>
        </p:nvSpPr>
        <p:spPr>
          <a:xfrm>
            <a:off x="8458200" y="2121408"/>
            <a:ext cx="1920240" cy="548640"/>
          </a:xfrm>
          <a:prstGeom prst="rect">
            <a:avLst/>
          </a:prstGeom>
          <a:noFill/>
        </p:spPr>
        <p:txBody>
          <a:bodyPr wrap="square" anchor="ctr" lIns="38100" rIns="38100" tIns="25400" bIns="25400">
            <a:spAutoFit/>
          </a:bodyPr>
          <a:lstStyle/>
          <a:p>
            <a:pPr algn="l">
              <a:lnSpc>
                <a:spcPct val="106000"/>
              </a:lnSpc>
              <a:spcBef>
                <a:spcPts val="0"/>
              </a:spcBef>
              <a:spcAft>
                <a:spcPts val="200"/>
              </a:spcAft>
            </a:pPr>
            <a:r>
              <a:rPr sz="1200" b="0" i="0">
                <a:solidFill>
                  <a:srgbClr val="20242E"/>
                </a:solidFill>
                <a:latin typeface="Inter"/>
              </a:rPr>
              <a:t>ik woon in…</a:t>
            </a:r>
          </a:p>
        </p:txBody>
      </p:sp>
      <p:sp>
        <p:nvSpPr>
          <p:cNvPr id="43" name="TextBox 42"/>
          <p:cNvSpPr txBox="1"/>
          <p:nvPr/>
        </p:nvSpPr>
        <p:spPr>
          <a:xfrm>
            <a:off x="10287000" y="2121408"/>
            <a:ext cx="1371600" cy="548640"/>
          </a:xfrm>
          <a:prstGeom prst="rect">
            <a:avLst/>
          </a:prstGeom>
          <a:noFill/>
        </p:spPr>
        <p:txBody>
          <a:bodyPr wrap="square" anchor="ctr" lIns="38100" rIns="38100" tIns="25400" bIns="25400">
            <a:spAutoFit/>
          </a:bodyPr>
          <a:lstStyle/>
          <a:p>
            <a:pPr algn="l">
              <a:lnSpc>
                <a:spcPct val="106000"/>
              </a:lnSpc>
              <a:spcBef>
                <a:spcPts val="0"/>
              </a:spcBef>
              <a:spcAft>
                <a:spcPts val="200"/>
              </a:spcAft>
            </a:pPr>
            <a:r>
              <a:rPr sz="900" b="0" i="1">
                <a:solidFill>
                  <a:srgbClr val="6A6E78"/>
                </a:solidFill>
                <a:latin typeface="Inter"/>
              </a:rPr>
              <a:t>¿dónde vives?</a:t>
            </a:r>
          </a:p>
        </p:txBody>
      </p:sp>
      <p:sp>
        <p:nvSpPr>
          <p:cNvPr id="44" name="Rounded Rectangle 43"/>
          <p:cNvSpPr/>
          <p:nvPr/>
        </p:nvSpPr>
        <p:spPr>
          <a:xfrm>
            <a:off x="6172200" y="2779776"/>
            <a:ext cx="5577840" cy="548640"/>
          </a:xfrm>
          <a:prstGeom prst="roundRect">
            <a:avLst>
              <a:gd name="adj" fmla="val 5500"/>
            </a:avLst>
          </a:prstGeom>
          <a:solidFill>
            <a:srgbClr val="FFFFFF"/>
          </a:solidFill>
          <a:ln w="12700">
            <a:solidFill>
              <a:srgbClr val="E4E3D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6309360" y="2779776"/>
            <a:ext cx="2194560" cy="548640"/>
          </a:xfrm>
          <a:prstGeom prst="rect">
            <a:avLst/>
          </a:prstGeom>
          <a:noFill/>
        </p:spPr>
        <p:txBody>
          <a:bodyPr wrap="square" anchor="ctr" lIns="38100" rIns="38100" tIns="25400" bIns="25400">
            <a:spAutoFit/>
          </a:bodyPr>
          <a:lstStyle/>
          <a:p>
            <a:pPr algn="l">
              <a:lnSpc>
                <a:spcPct val="106000"/>
              </a:lnSpc>
              <a:spcBef>
                <a:spcPts val="0"/>
              </a:spcBef>
              <a:spcAft>
                <a:spcPts val="200"/>
              </a:spcAft>
            </a:pPr>
            <a:r>
              <a:rPr sz="1300" b="1" i="0">
                <a:solidFill>
                  <a:srgbClr val="5B3E83"/>
                </a:solidFill>
                <a:latin typeface="Inter"/>
              </a:rPr>
              <a:t>hablo…</a:t>
            </a:r>
          </a:p>
        </p:txBody>
      </p:sp>
      <p:sp>
        <p:nvSpPr>
          <p:cNvPr id="46" name="TextBox 45"/>
          <p:cNvSpPr txBox="1"/>
          <p:nvPr/>
        </p:nvSpPr>
        <p:spPr>
          <a:xfrm>
            <a:off x="8458200" y="2779776"/>
            <a:ext cx="1920240" cy="548640"/>
          </a:xfrm>
          <a:prstGeom prst="rect">
            <a:avLst/>
          </a:prstGeom>
          <a:noFill/>
        </p:spPr>
        <p:txBody>
          <a:bodyPr wrap="square" anchor="ctr" lIns="38100" rIns="38100" tIns="25400" bIns="25400">
            <a:spAutoFit/>
          </a:bodyPr>
          <a:lstStyle/>
          <a:p>
            <a:pPr algn="l">
              <a:lnSpc>
                <a:spcPct val="106000"/>
              </a:lnSpc>
              <a:spcBef>
                <a:spcPts val="0"/>
              </a:spcBef>
              <a:spcAft>
                <a:spcPts val="200"/>
              </a:spcAft>
            </a:pPr>
            <a:r>
              <a:rPr sz="1200" b="0" i="0">
                <a:solidFill>
                  <a:srgbClr val="20242E"/>
                </a:solidFill>
                <a:latin typeface="Inter"/>
              </a:rPr>
              <a:t>ik spreek…</a:t>
            </a:r>
          </a:p>
        </p:txBody>
      </p:sp>
      <p:sp>
        <p:nvSpPr>
          <p:cNvPr id="47" name="TextBox 46"/>
          <p:cNvSpPr txBox="1"/>
          <p:nvPr/>
        </p:nvSpPr>
        <p:spPr>
          <a:xfrm>
            <a:off x="10287000" y="2779776"/>
            <a:ext cx="1371600" cy="548640"/>
          </a:xfrm>
          <a:prstGeom prst="rect">
            <a:avLst/>
          </a:prstGeom>
          <a:noFill/>
        </p:spPr>
        <p:txBody>
          <a:bodyPr wrap="square" anchor="ctr" lIns="38100" rIns="38100" tIns="25400" bIns="25400">
            <a:spAutoFit/>
          </a:bodyPr>
          <a:lstStyle/>
          <a:p>
            <a:pPr algn="l">
              <a:lnSpc>
                <a:spcPct val="106000"/>
              </a:lnSpc>
              <a:spcBef>
                <a:spcPts val="0"/>
              </a:spcBef>
              <a:spcAft>
                <a:spcPts val="200"/>
              </a:spcAft>
            </a:pPr>
            <a:r>
              <a:rPr sz="900" b="0" i="1">
                <a:solidFill>
                  <a:srgbClr val="6A6E78"/>
                </a:solidFill>
                <a:latin typeface="Inter"/>
              </a:rPr>
              <a:t>la lengua / el idioma</a:t>
            </a:r>
          </a:p>
        </p:txBody>
      </p:sp>
      <p:sp>
        <p:nvSpPr>
          <p:cNvPr id="48" name="Rounded Rectangle 47"/>
          <p:cNvSpPr/>
          <p:nvPr/>
        </p:nvSpPr>
        <p:spPr>
          <a:xfrm>
            <a:off x="6172200" y="3438144"/>
            <a:ext cx="5577840" cy="548640"/>
          </a:xfrm>
          <a:prstGeom prst="roundRect">
            <a:avLst>
              <a:gd name="adj" fmla="val 5500"/>
            </a:avLst>
          </a:prstGeom>
          <a:solidFill>
            <a:srgbClr val="FFFFFF"/>
          </a:solidFill>
          <a:ln w="12700">
            <a:solidFill>
              <a:srgbClr val="E4E3D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6309360" y="3438144"/>
            <a:ext cx="2194560" cy="548640"/>
          </a:xfrm>
          <a:prstGeom prst="rect">
            <a:avLst/>
          </a:prstGeom>
          <a:noFill/>
        </p:spPr>
        <p:txBody>
          <a:bodyPr wrap="square" anchor="ctr" lIns="38100" rIns="38100" tIns="25400" bIns="25400">
            <a:spAutoFit/>
          </a:bodyPr>
          <a:lstStyle/>
          <a:p>
            <a:pPr algn="l">
              <a:lnSpc>
                <a:spcPct val="106000"/>
              </a:lnSpc>
              <a:spcBef>
                <a:spcPts val="0"/>
              </a:spcBef>
              <a:spcAft>
                <a:spcPts val="200"/>
              </a:spcAft>
            </a:pPr>
            <a:r>
              <a:rPr sz="1300" b="1" i="0">
                <a:solidFill>
                  <a:srgbClr val="5B3E83"/>
                </a:solidFill>
                <a:latin typeface="Inter"/>
              </a:rPr>
              <a:t>encantado/-a</a:t>
            </a:r>
          </a:p>
        </p:txBody>
      </p:sp>
      <p:sp>
        <p:nvSpPr>
          <p:cNvPr id="50" name="TextBox 49"/>
          <p:cNvSpPr txBox="1"/>
          <p:nvPr/>
        </p:nvSpPr>
        <p:spPr>
          <a:xfrm>
            <a:off x="8458200" y="3438144"/>
            <a:ext cx="1920240" cy="548640"/>
          </a:xfrm>
          <a:prstGeom prst="rect">
            <a:avLst/>
          </a:prstGeom>
          <a:noFill/>
        </p:spPr>
        <p:txBody>
          <a:bodyPr wrap="square" anchor="ctr" lIns="38100" rIns="38100" tIns="25400" bIns="25400">
            <a:spAutoFit/>
          </a:bodyPr>
          <a:lstStyle/>
          <a:p>
            <a:pPr algn="l">
              <a:lnSpc>
                <a:spcPct val="106000"/>
              </a:lnSpc>
              <a:spcBef>
                <a:spcPts val="0"/>
              </a:spcBef>
              <a:spcAft>
                <a:spcPts val="200"/>
              </a:spcAft>
            </a:pPr>
            <a:r>
              <a:rPr sz="1200" b="0" i="0">
                <a:solidFill>
                  <a:srgbClr val="20242E"/>
                </a:solidFill>
                <a:latin typeface="Inter"/>
              </a:rPr>
              <a:t>aangenaam</a:t>
            </a:r>
          </a:p>
        </p:txBody>
      </p:sp>
      <p:sp>
        <p:nvSpPr>
          <p:cNvPr id="51" name="TextBox 50"/>
          <p:cNvSpPr txBox="1"/>
          <p:nvPr/>
        </p:nvSpPr>
        <p:spPr>
          <a:xfrm>
            <a:off x="10287000" y="3438144"/>
            <a:ext cx="1371600" cy="548640"/>
          </a:xfrm>
          <a:prstGeom prst="rect">
            <a:avLst/>
          </a:prstGeom>
          <a:noFill/>
        </p:spPr>
        <p:txBody>
          <a:bodyPr wrap="square" anchor="ctr" lIns="38100" rIns="38100" tIns="25400" bIns="25400">
            <a:spAutoFit/>
          </a:bodyPr>
          <a:lstStyle/>
          <a:p>
            <a:pPr algn="l">
              <a:lnSpc>
                <a:spcPct val="106000"/>
              </a:lnSpc>
              <a:spcBef>
                <a:spcPts val="0"/>
              </a:spcBef>
              <a:spcAft>
                <a:spcPts val="200"/>
              </a:spcAft>
            </a:pPr>
            <a:r>
              <a:rPr sz="900" b="0" i="1">
                <a:solidFill>
                  <a:srgbClr val="6A6E78"/>
                </a:solidFill>
                <a:latin typeface="Inter"/>
              </a:rPr>
              <a:t>mucho gusto</a:t>
            </a:r>
          </a:p>
        </p:txBody>
      </p:sp>
      <p:sp>
        <p:nvSpPr>
          <p:cNvPr id="52" name="TextBox 51"/>
          <p:cNvSpPr txBox="1"/>
          <p:nvPr/>
        </p:nvSpPr>
        <p:spPr>
          <a:xfrm>
            <a:off x="457200" y="4343400"/>
            <a:ext cx="11247120" cy="457200"/>
          </a:xfrm>
          <a:prstGeom prst="rect">
            <a:avLst/>
          </a:prstGeom>
          <a:noFill/>
        </p:spPr>
        <p:txBody>
          <a:bodyPr wrap="square" anchor="t" lIns="38100" rIns="38100" tIns="25400" bIns="25400">
            <a:spAutoFit/>
          </a:bodyPr>
          <a:lstStyle/>
          <a:p>
            <a:pPr algn="l">
              <a:lnSpc>
                <a:spcPct val="106000"/>
              </a:lnSpc>
              <a:spcBef>
                <a:spcPts val="0"/>
              </a:spcBef>
              <a:spcAft>
                <a:spcPts val="200"/>
              </a:spcAft>
            </a:pPr>
            <a:r>
              <a:rPr sz="1300" b="1" i="0">
                <a:solidFill>
                  <a:srgbClr val="5B3E83"/>
                </a:solidFill>
                <a:latin typeface="Bricolage Grotesque"/>
              </a:rPr>
              <a:t>Formal vs. informal: </a:t>
            </a:r>
            <a:r>
              <a:rPr sz="1300" b="1" i="0">
                <a:solidFill>
                  <a:srgbClr val="2563EB"/>
                </a:solidFill>
                <a:latin typeface="Inter"/>
              </a:rPr>
              <a:t>tú </a:t>
            </a:r>
            <a:r>
              <a:rPr sz="1300" b="0" i="0">
                <a:solidFill>
                  <a:srgbClr val="20242E"/>
                </a:solidFill>
                <a:latin typeface="Inter"/>
              </a:rPr>
              <a:t>(¿cómo estás?) · </a:t>
            </a:r>
            <a:r>
              <a:rPr sz="1300" b="1" i="0">
                <a:solidFill>
                  <a:srgbClr val="2563EB"/>
                </a:solidFill>
                <a:latin typeface="Inter"/>
              </a:rPr>
              <a:t>usted </a:t>
            </a:r>
            <a:r>
              <a:rPr sz="1300" b="0" i="0">
                <a:solidFill>
                  <a:srgbClr val="20242E"/>
                </a:solidFill>
                <a:latin typeface="Inter"/>
              </a:rPr>
              <a:t>(¿cómo está?)</a:t>
            </a:r>
          </a:p>
        </p:txBody>
      </p:sp>
      <p:sp>
        <p:nvSpPr>
          <p:cNvPr id="53" name="Rounded Rectangle 52"/>
          <p:cNvSpPr/>
          <p:nvPr/>
        </p:nvSpPr>
        <p:spPr>
          <a:xfrm>
            <a:off x="457200" y="6053328"/>
            <a:ext cx="2093976" cy="365760"/>
          </a:xfrm>
          <a:prstGeom prst="roundRect">
            <a:avLst>
              <a:gd name="adj" fmla="val 50000"/>
            </a:avLst>
          </a:prstGeom>
          <a:solidFill>
            <a:srgbClr val="7C56A9"/>
          </a:solidFill>
          <a:ln w="12700">
            <a:solidFill>
              <a:srgbClr val="E4E3DE"/>
            </a:solidFill>
          </a:ln>
          <a:effectLst/>
        </p:spPr>
        <p:style>
          <a:lnRef idx="1">
            <a:schemeClr val="accent1"/>
          </a:lnRef>
          <a:fillRef idx="3">
            <a:schemeClr val="accent1"/>
          </a:fillRef>
          <a:effectRef idx="2">
            <a:schemeClr val="accent1"/>
          </a:effectRef>
          <a:fontRef idx="minor">
            <a:schemeClr val="lt1"/>
          </a:fontRef>
        </p:style>
        <p:txBody>
          <a:bodyPr rtlCol="0" anchor="ctr" tIns="12700" bIns="12700"/>
          <a:lstStyle/>
          <a:p>
            <a:pPr algn="ctr"/>
            <a:r>
              <a:rPr sz="1050" b="1">
                <a:solidFill>
                  <a:srgbClr val="FFFFFF"/>
                </a:solidFill>
                <a:latin typeface="Inter"/>
              </a:rPr>
              <a:t>▶  Mostrar solución</a:t>
            </a:r>
          </a:p>
        </p:txBody>
      </p:sp>
      <p:sp>
        <p:nvSpPr>
          <p:cNvPr id="54" name="Rounded Rectangle 53"/>
          <p:cNvSpPr/>
          <p:nvPr/>
        </p:nvSpPr>
        <p:spPr>
          <a:xfrm>
            <a:off x="2697480" y="6053328"/>
            <a:ext cx="1088136" cy="365760"/>
          </a:xfrm>
          <a:prstGeom prst="roundRect">
            <a:avLst>
              <a:gd name="adj" fmla="val 50000"/>
            </a:avLst>
          </a:prstGeom>
          <a:solidFill>
            <a:srgbClr val="FFFFFF"/>
          </a:solidFill>
          <a:ln w="12700">
            <a:solidFill>
              <a:srgbClr val="E4E3DE"/>
            </a:solidFill>
          </a:ln>
          <a:effectLst/>
        </p:spPr>
        <p:style>
          <a:lnRef idx="1">
            <a:schemeClr val="accent1"/>
          </a:lnRef>
          <a:fillRef idx="3">
            <a:schemeClr val="accent1"/>
          </a:fillRef>
          <a:effectRef idx="2">
            <a:schemeClr val="accent1"/>
          </a:effectRef>
          <a:fontRef idx="minor">
            <a:schemeClr val="lt1"/>
          </a:fontRef>
        </p:style>
        <p:txBody>
          <a:bodyPr rtlCol="0" anchor="ctr" tIns="12700" bIns="12700"/>
          <a:lstStyle/>
          <a:p>
            <a:pPr algn="ctr"/>
            <a:r>
              <a:rPr sz="1050" b="1">
                <a:solidFill>
                  <a:srgbClr val="5B3E83"/>
                </a:solidFill>
                <a:latin typeface="Inter"/>
              </a:rPr>
              <a:t>⏭  Saltar</a:t>
            </a:r>
          </a:p>
        </p:txBody>
      </p:sp>
      <p:sp>
        <p:nvSpPr>
          <p:cNvPr id="55" name="Rounded Rectangle 54">
            <a:hlinkClick action="ppaction://hlinksldjump" r:id="rId3"/>
          </p:cNvPr>
          <p:cNvSpPr/>
          <p:nvPr/>
        </p:nvSpPr>
        <p:spPr>
          <a:xfrm>
            <a:off x="3931920" y="6053328"/>
            <a:ext cx="1691639" cy="365760"/>
          </a:xfrm>
          <a:prstGeom prst="roundRect">
            <a:avLst>
              <a:gd name="adj" fmla="val 50000"/>
            </a:avLst>
          </a:prstGeom>
          <a:solidFill>
            <a:srgbClr val="FFFFFF"/>
          </a:solidFill>
          <a:ln w="12700">
            <a:solidFill>
              <a:srgbClr val="E4E3DE"/>
            </a:solidFill>
          </a:ln>
          <a:effectLst/>
        </p:spPr>
        <p:style>
          <a:lnRef idx="1">
            <a:schemeClr val="accent1"/>
          </a:lnRef>
          <a:fillRef idx="3">
            <a:schemeClr val="accent1"/>
          </a:fillRef>
          <a:effectRef idx="2">
            <a:schemeClr val="accent1"/>
          </a:effectRef>
          <a:fontRef idx="minor">
            <a:schemeClr val="lt1"/>
          </a:fontRef>
        </p:style>
        <p:txBody>
          <a:bodyPr rtlCol="0" anchor="ctr" tIns="12700" bIns="12700"/>
          <a:lstStyle/>
          <a:p>
            <a:pPr algn="ctr"/>
            <a:r>
              <a:rPr sz="1050" b="1">
                <a:solidFill>
                  <a:srgbClr val="5B3E83"/>
                </a:solidFill>
                <a:latin typeface="Inter"/>
              </a:rPr>
              <a:t>⌂  Menú (dia 2)</a:t>
            </a:r>
          </a:p>
        </p:txBody>
      </p:sp>
      <p:sp>
        <p:nvSpPr>
          <p:cNvPr id="56" name="TextBox 55"/>
          <p:cNvSpPr txBox="1"/>
          <p:nvPr/>
        </p:nvSpPr>
        <p:spPr>
          <a:xfrm>
            <a:off x="8321040" y="6053328"/>
            <a:ext cx="3383280" cy="365760"/>
          </a:xfrm>
          <a:prstGeom prst="rect">
            <a:avLst/>
          </a:prstGeom>
          <a:noFill/>
        </p:spPr>
        <p:txBody>
          <a:bodyPr wrap="square" anchor="ctr" lIns="38100" rIns="38100" tIns="25400" bIns="25400">
            <a:spAutoFit/>
          </a:bodyPr>
          <a:lstStyle/>
          <a:p>
            <a:pPr algn="r">
              <a:lnSpc>
                <a:spcPct val="106000"/>
              </a:lnSpc>
              <a:spcBef>
                <a:spcPts val="0"/>
              </a:spcBef>
              <a:spcAft>
                <a:spcPts val="200"/>
              </a:spcAft>
            </a:pPr>
            <a:r>
              <a:rPr sz="850" b="0" i="1">
                <a:solidFill>
                  <a:srgbClr val="6A6E78"/>
                </a:solidFill>
                <a:latin typeface="Inter"/>
              </a:rPr>
              <a:t>Noodroute (§5): werkt zonder audio/internet</a:t>
            </a:r>
          </a:p>
        </p:txBody>
      </p:sp>
      <p:sp>
        <p:nvSpPr>
          <p:cNvPr id="57" name="Rounded Rectangle 56"/>
          <p:cNvSpPr/>
          <p:nvPr/>
        </p:nvSpPr>
        <p:spPr>
          <a:xfrm>
            <a:off x="457200" y="4892040"/>
            <a:ext cx="11247120" cy="868680"/>
          </a:xfrm>
          <a:prstGeom prst="roundRect">
            <a:avLst>
              <a:gd name="adj" fmla="val 6000"/>
            </a:avLst>
          </a:prstGeom>
          <a:solidFill>
            <a:srgbClr val="EEE8F5"/>
          </a:solidFill>
          <a:ln w="19050">
            <a:solidFill>
              <a:srgbClr val="7C56A9"/>
            </a:solidFill>
          </a:ln>
          <a:effectLst/>
        </p:spPr>
        <p:style>
          <a:lnRef idx="1">
            <a:schemeClr val="accent1"/>
          </a:lnRef>
          <a:fillRef idx="3">
            <a:schemeClr val="accent1"/>
          </a:fillRef>
          <a:effectRef idx="2">
            <a:schemeClr val="accent1"/>
          </a:effectRef>
          <a:fontRef idx="minor">
            <a:schemeClr val="lt1"/>
          </a:fontRef>
        </p:style>
        <p:txBody>
          <a:bodyPr rtlCol="0" anchor="ctr" wrap="square" lIns="127000" rIns="127000" tIns="139700" bIns="76200"/>
          <a:lstStyle/>
          <a:p>
            <a:pPr algn="ctr">
              <a:lnSpc>
                <a:spcPct val="102000"/>
              </a:lnSpc>
              <a:spcBef>
                <a:spcPts val="0"/>
              </a:spcBef>
              <a:spcAft>
                <a:spcPts val="300"/>
              </a:spcAft>
            </a:pPr>
            <a:r>
              <a:rPr sz="1200" b="1" i="0">
                <a:solidFill>
                  <a:srgbClr val="5B3E83"/>
                </a:solidFill>
                <a:latin typeface="Inter"/>
              </a:rPr>
              <a:t>Presentarte (3 werkwoorden): </a:t>
            </a:r>
            <a:r>
              <a:rPr sz="1200" b="1" i="0">
                <a:solidFill>
                  <a:srgbClr val="5B3E83"/>
                </a:solidFill>
                <a:latin typeface="Inter"/>
              </a:rPr>
              <a:t>me llamo · soy (de) · tengo … años · vivo en · hablo …</a:t>
            </a:r>
          </a:p>
          <a:p>
            <a:pPr>
              <a:lnSpc>
                <a:spcPct val="102000"/>
              </a:lnSpc>
              <a:spcBef>
                <a:spcPts val="0"/>
              </a:spcBef>
              <a:spcAft>
                <a:spcPts val="300"/>
              </a:spcAft>
            </a:pPr>
            <a:r>
              <a:rPr sz="1200" b="0" i="0">
                <a:solidFill>
                  <a:srgbClr val="DC2626"/>
                </a:solidFill>
                <a:latin typeface="Inter"/>
              </a:rPr>
              <a:t>🔴 nacionaliteiten met kleine letter: soy belga, es española (niet Belga/Española).</a:t>
            </a:r>
          </a:p>
        </p:txBody>
      </p:sp>
      <p:sp>
        <p:nvSpPr>
          <p:cNvPr id="58" name="Rounded Rectangle 57"/>
          <p:cNvSpPr/>
          <p:nvPr/>
        </p:nvSpPr>
        <p:spPr>
          <a:xfrm>
            <a:off x="594360" y="4764024"/>
            <a:ext cx="1548993" cy="292608"/>
          </a:xfrm>
          <a:prstGeom prst="roundRect">
            <a:avLst>
              <a:gd name="adj" fmla="val 50000"/>
            </a:avLst>
          </a:prstGeom>
          <a:solidFill>
            <a:srgbClr val="7C56A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88900" rIns="88900" tIns="12700" bIns="12700"/>
          <a:lstStyle/>
          <a:p>
            <a:pPr algn="ctr"/>
            <a:r>
              <a:rPr sz="950" b="1">
                <a:solidFill>
                  <a:srgbClr val="FFFFFF"/>
                </a:solidFill>
                <a:latin typeface="Inter"/>
              </a:rPr>
              <a:t>SOLUCIÓN · docent</a:t>
            </a:r>
          </a:p>
        </p:txBody>
      </p:sp>
      <p:sp>
        <p:nvSpPr>
          <p:cNvPr id="59" name="Rectangle 58"/>
          <p:cNvSpPr/>
          <p:nvPr/>
        </p:nvSpPr>
        <p:spPr>
          <a:xfrm>
            <a:off x="0" y="6547104"/>
            <a:ext cx="12191695" cy="310896"/>
          </a:xfrm>
          <a:prstGeom prst="rect">
            <a:avLst/>
          </a:prstGeom>
          <a:solidFill>
            <a:srgbClr val="F3EE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411480" y="6565392"/>
            <a:ext cx="5486400" cy="274320"/>
          </a:xfrm>
          <a:prstGeom prst="rect">
            <a:avLst/>
          </a:prstGeom>
          <a:noFill/>
        </p:spPr>
        <p:txBody>
          <a:bodyPr wrap="square" anchor="ctr" lIns="38100" rIns="38100" tIns="25400" bIns="25400">
            <a:spAutoFit/>
          </a:bodyPr>
          <a:lstStyle/>
          <a:p>
            <a:pPr algn="l">
              <a:lnSpc>
                <a:spcPct val="106000"/>
              </a:lnSpc>
              <a:spcBef>
                <a:spcPts val="0"/>
              </a:spcBef>
              <a:spcAft>
                <a:spcPts val="200"/>
              </a:spcAft>
            </a:pPr>
            <a:r>
              <a:rPr sz="1100" b="1" i="0">
                <a:solidFill>
                  <a:srgbClr val="7C56A9"/>
                </a:solidFill>
                <a:latin typeface="Inter"/>
              </a:rPr>
              <a:t>● </a:t>
            </a:r>
            <a:r>
              <a:rPr sz="950" b="0" i="0">
                <a:solidFill>
                  <a:srgbClr val="6A6E78"/>
                </a:solidFill>
                <a:latin typeface="Inter"/>
              </a:rPr>
              <a:t>U0 · ¡VOLVEMOS!   ·   C6+ · el reencuentro</a:t>
            </a:r>
          </a:p>
        </p:txBody>
      </p:sp>
      <p:sp>
        <p:nvSpPr>
          <p:cNvPr id="61" name="TextBox 60"/>
          <p:cNvSpPr txBox="1"/>
          <p:nvPr/>
        </p:nvSpPr>
        <p:spPr>
          <a:xfrm>
            <a:off x="8686800" y="6565392"/>
            <a:ext cx="3063240" cy="274320"/>
          </a:xfrm>
          <a:prstGeom prst="rect">
            <a:avLst/>
          </a:prstGeom>
          <a:noFill/>
        </p:spPr>
        <p:txBody>
          <a:bodyPr wrap="square" anchor="ctr" lIns="38100" rIns="38100" tIns="25400" bIns="25400">
            <a:spAutoFit/>
          </a:bodyPr>
          <a:lstStyle/>
          <a:p>
            <a:pPr algn="r">
              <a:lnSpc>
                <a:spcPct val="106000"/>
              </a:lnSpc>
              <a:spcBef>
                <a:spcPts val="0"/>
              </a:spcBef>
              <a:spcAft>
                <a:spcPts val="200"/>
              </a:spcAft>
            </a:pPr>
            <a:r>
              <a:rPr sz="900" b="0" i="1">
                <a:solidFill>
                  <a:srgbClr val="6A6E78"/>
                </a:solidFill>
                <a:latin typeface="Inter"/>
              </a:rPr>
              <a:t>Docentenversie — met oplossingen</a:t>
            </a:r>
          </a:p>
        </p:txBody>
      </p:sp>
      <p:sp>
        <p:nvSpPr>
          <p:cNvPr id="62" name="TextBox 61"/>
          <p:cNvSpPr txBox="1"/>
          <p:nvPr/>
        </p:nvSpPr>
        <p:spPr>
          <a:xfrm>
            <a:off x="11475720" y="6565392"/>
            <a:ext cx="457200" cy="274320"/>
          </a:xfrm>
          <a:prstGeom prst="rect">
            <a:avLst/>
          </a:prstGeom>
          <a:noFill/>
        </p:spPr>
        <p:txBody>
          <a:bodyPr wrap="square" anchor="ctr" lIns="38100" rIns="38100" tIns="25400" bIns="25400">
            <a:spAutoFit/>
          </a:bodyPr>
          <a:lstStyle/>
          <a:p>
            <a:pPr algn="r">
              <a:lnSpc>
                <a:spcPct val="106000"/>
              </a:lnSpc>
              <a:spcBef>
                <a:spcPts val="0"/>
              </a:spcBef>
              <a:spcAft>
                <a:spcPts val="200"/>
              </a:spcAft>
            </a:pPr>
            <a:r>
              <a:rPr sz="950" b="1" i="0">
                <a:solidFill>
                  <a:srgbClr val="5B3E83"/>
                </a:solidFill>
                <a:latin typeface="Inter"/>
              </a:rPr>
              <a:t>3</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7"/>
                                        </p:tgtEl>
                                        <p:attrNameLst>
                                          <p:attrName>style.visibility</p:attrName>
                                        </p:attrNameLst>
                                      </p:cBhvr>
                                      <p:to>
                                        <p:strVal val="visible"/>
                                      </p:to>
                                    </p:set>
                                    <p:animEffect transition="in" filter="fade">
                                      <p:cBhvr>
                                        <p:cTn id="7" dur="500"/>
                                        <p:tgtEl>
                                          <p:spTgt spid="5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58"/>
                                        </p:tgtEl>
                                        <p:attrNameLst>
                                          <p:attrName>style.visibility</p:attrName>
                                        </p:attrNameLst>
                                      </p:cBhvr>
                                      <p:to>
                                        <p:strVal val="visible"/>
                                      </p:to>
                                    </p:set>
                                    <p:animEffect transition="in" filter="fade">
                                      <p:cBhvr>
                                        <p:cTn id="12" dur="500"/>
                                        <p:tgtEl>
                                          <p:spTgt spid="5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C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78992"/>
          </a:xfrm>
          <a:prstGeom prst="rect">
            <a:avLst/>
          </a:prstGeom>
          <a:solidFill>
            <a:srgbClr val="7C56A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78992"/>
            <a:ext cx="12191695" cy="54864"/>
          </a:xfrm>
          <a:prstGeom prst="rect">
            <a:avLst/>
          </a:prstGeom>
          <a:solidFill>
            <a:srgbClr val="5B3E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02920" y="182880"/>
            <a:ext cx="1885492" cy="292608"/>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88900" rIns="88900" tIns="12700" bIns="12700"/>
          <a:lstStyle/>
          <a:p>
            <a:pPr algn="ctr"/>
            <a:r>
              <a:rPr sz="1100" b="1">
                <a:solidFill>
                  <a:srgbClr val="7C56A9"/>
                </a:solidFill>
                <a:latin typeface="Inter"/>
              </a:rPr>
              <a:t>§2 · GRAMÁTICA VISUAL</a:t>
            </a:r>
          </a:p>
        </p:txBody>
      </p:sp>
      <p:sp>
        <p:nvSpPr>
          <p:cNvPr id="6" name="TextBox 5"/>
          <p:cNvSpPr txBox="1"/>
          <p:nvPr/>
        </p:nvSpPr>
        <p:spPr>
          <a:xfrm>
            <a:off x="10424160" y="-137160"/>
            <a:ext cx="1737360" cy="1371600"/>
          </a:xfrm>
          <a:prstGeom prst="rect">
            <a:avLst/>
          </a:prstGeom>
          <a:noFill/>
        </p:spPr>
        <p:txBody>
          <a:bodyPr wrap="square" anchor="t" lIns="38100" rIns="38100" tIns="25400" bIns="25400">
            <a:spAutoFit/>
          </a:bodyPr>
          <a:lstStyle/>
          <a:p>
            <a:pPr algn="r">
              <a:lnSpc>
                <a:spcPct val="106000"/>
              </a:lnSpc>
              <a:spcBef>
                <a:spcPts val="0"/>
              </a:spcBef>
              <a:spcAft>
                <a:spcPts val="200"/>
              </a:spcAft>
            </a:pPr>
            <a:r>
              <a:rPr sz="8800" b="1" i="0">
                <a:solidFill>
                  <a:srgbClr val="FFFFFF"/>
                </a:solidFill>
                <a:latin typeface="Bricolage Grotesque"/>
              </a:rPr>
              <a:t>2</a:t>
            </a:r>
          </a:p>
        </p:txBody>
      </p:sp>
      <p:sp>
        <p:nvSpPr>
          <p:cNvPr id="7" name="TextBox 6"/>
          <p:cNvSpPr txBox="1"/>
          <p:nvPr/>
        </p:nvSpPr>
        <p:spPr>
          <a:xfrm>
            <a:off x="457200" y="457200"/>
            <a:ext cx="9692640" cy="502920"/>
          </a:xfrm>
          <a:prstGeom prst="rect">
            <a:avLst/>
          </a:prstGeom>
          <a:noFill/>
        </p:spPr>
        <p:txBody>
          <a:bodyPr wrap="square" anchor="ctr" lIns="38100" rIns="38100" tIns="25400" bIns="25400">
            <a:spAutoFit/>
          </a:bodyPr>
          <a:lstStyle/>
          <a:p>
            <a:pPr algn="l">
              <a:lnSpc>
                <a:spcPct val="106000"/>
              </a:lnSpc>
              <a:spcBef>
                <a:spcPts val="0"/>
              </a:spcBef>
              <a:spcAft>
                <a:spcPts val="200"/>
              </a:spcAft>
            </a:pPr>
            <a:r>
              <a:rPr sz="2700" b="1" i="0">
                <a:solidFill>
                  <a:srgbClr val="FFFFFF"/>
                </a:solidFill>
                <a:latin typeface="Bricolage Grotesque"/>
              </a:rPr>
              <a:t>El presente — ¿quién hace qué?</a:t>
            </a:r>
          </a:p>
        </p:txBody>
      </p:sp>
      <p:sp>
        <p:nvSpPr>
          <p:cNvPr id="8" name="TextBox 7"/>
          <p:cNvSpPr txBox="1"/>
          <p:nvPr/>
        </p:nvSpPr>
        <p:spPr>
          <a:xfrm>
            <a:off x="502920" y="932688"/>
            <a:ext cx="9692640" cy="274320"/>
          </a:xfrm>
          <a:prstGeom prst="rect">
            <a:avLst/>
          </a:prstGeom>
          <a:noFill/>
        </p:spPr>
        <p:txBody>
          <a:bodyPr wrap="square" anchor="t" lIns="38100" rIns="38100" tIns="25400" bIns="25400">
            <a:spAutoFit/>
          </a:bodyPr>
          <a:lstStyle/>
          <a:p>
            <a:pPr algn="l">
              <a:lnSpc>
                <a:spcPct val="106000"/>
              </a:lnSpc>
              <a:spcBef>
                <a:spcPts val="0"/>
              </a:spcBef>
              <a:spcAft>
                <a:spcPts val="200"/>
              </a:spcAft>
            </a:pPr>
            <a:r>
              <a:rPr sz="1250" b="0" i="1">
                <a:solidFill>
                  <a:srgbClr val="EEE8F5"/>
                </a:solidFill>
                <a:latin typeface="Inter"/>
              </a:rPr>
              <a:t>Kleur = de functie. Het werkwoord past zich aan de persoon aan.</a:t>
            </a:r>
          </a:p>
        </p:txBody>
      </p:sp>
      <p:sp>
        <p:nvSpPr>
          <p:cNvPr id="9" name="TextBox 8"/>
          <p:cNvSpPr txBox="1"/>
          <p:nvPr/>
        </p:nvSpPr>
        <p:spPr>
          <a:xfrm>
            <a:off x="8869680" y="484632"/>
            <a:ext cx="1188720" cy="274320"/>
          </a:xfrm>
          <a:prstGeom prst="rect">
            <a:avLst/>
          </a:prstGeom>
          <a:noFill/>
        </p:spPr>
        <p:txBody>
          <a:bodyPr wrap="square" anchor="t" lIns="38100" rIns="38100" tIns="25400" bIns="25400">
            <a:spAutoFit/>
          </a:bodyPr>
          <a:lstStyle/>
          <a:p>
            <a:pPr algn="l">
              <a:lnSpc>
                <a:spcPct val="106000"/>
              </a:lnSpc>
              <a:spcBef>
                <a:spcPts val="0"/>
              </a:spcBef>
              <a:spcAft>
                <a:spcPts val="200"/>
              </a:spcAft>
            </a:pPr>
            <a:r>
              <a:rPr sz="900" b="1" i="0">
                <a:solidFill>
                  <a:srgbClr val="6A6E78"/>
                </a:solidFill>
                <a:latin typeface="Inter"/>
              </a:rPr>
              <a:t>Kleurcode:</a:t>
            </a:r>
          </a:p>
        </p:txBody>
      </p:sp>
      <p:sp>
        <p:nvSpPr>
          <p:cNvPr id="10" name="Rounded Rectangle 9"/>
          <p:cNvSpPr/>
          <p:nvPr/>
        </p:nvSpPr>
        <p:spPr>
          <a:xfrm>
            <a:off x="9921240" y="521208"/>
            <a:ext cx="128016" cy="128016"/>
          </a:xfrm>
          <a:prstGeom prst="roundRect">
            <a:avLst>
              <a:gd name="adj" fmla="val 50000"/>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85832" y="475488"/>
            <a:ext cx="914400" cy="274320"/>
          </a:xfrm>
          <a:prstGeom prst="rect">
            <a:avLst/>
          </a:prstGeom>
          <a:noFill/>
        </p:spPr>
        <p:txBody>
          <a:bodyPr wrap="square" anchor="t" lIns="38100" rIns="38100" tIns="25400" bIns="25400">
            <a:spAutoFit/>
          </a:bodyPr>
          <a:lstStyle/>
          <a:p>
            <a:pPr algn="l">
              <a:lnSpc>
                <a:spcPct val="106000"/>
              </a:lnSpc>
              <a:spcBef>
                <a:spcPts val="0"/>
              </a:spcBef>
              <a:spcAft>
                <a:spcPts val="200"/>
              </a:spcAft>
            </a:pPr>
            <a:r>
              <a:rPr sz="900" b="0" i="0">
                <a:solidFill>
                  <a:srgbClr val="20242E"/>
                </a:solidFill>
                <a:latin typeface="Inter"/>
              </a:rPr>
              <a:t>persoon</a:t>
            </a:r>
          </a:p>
        </p:txBody>
      </p:sp>
      <p:sp>
        <p:nvSpPr>
          <p:cNvPr id="12" name="Rounded Rectangle 11"/>
          <p:cNvSpPr/>
          <p:nvPr/>
        </p:nvSpPr>
        <p:spPr>
          <a:xfrm>
            <a:off x="10574121" y="521208"/>
            <a:ext cx="128016" cy="128016"/>
          </a:xfrm>
          <a:prstGeom prst="roundRect">
            <a:avLst>
              <a:gd name="adj" fmla="val 50000"/>
            </a:avLst>
          </a:prstGeom>
          <a:solidFill>
            <a:srgbClr val="EA73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738713" y="475488"/>
            <a:ext cx="914400" cy="274320"/>
          </a:xfrm>
          <a:prstGeom prst="rect">
            <a:avLst/>
          </a:prstGeom>
          <a:noFill/>
        </p:spPr>
        <p:txBody>
          <a:bodyPr wrap="square" anchor="t" lIns="38100" rIns="38100" tIns="25400" bIns="25400">
            <a:spAutoFit/>
          </a:bodyPr>
          <a:lstStyle/>
          <a:p>
            <a:pPr algn="l">
              <a:lnSpc>
                <a:spcPct val="106000"/>
              </a:lnSpc>
              <a:spcBef>
                <a:spcPts val="0"/>
              </a:spcBef>
              <a:spcAft>
                <a:spcPts val="200"/>
              </a:spcAft>
            </a:pPr>
            <a:r>
              <a:rPr sz="900" b="0" i="0">
                <a:solidFill>
                  <a:srgbClr val="20242E"/>
                </a:solidFill>
                <a:latin typeface="Inter"/>
              </a:rPr>
              <a:t>werkw.</a:t>
            </a:r>
          </a:p>
        </p:txBody>
      </p:sp>
      <p:sp>
        <p:nvSpPr>
          <p:cNvPr id="14" name="Rounded Rectangle 13"/>
          <p:cNvSpPr/>
          <p:nvPr/>
        </p:nvSpPr>
        <p:spPr>
          <a:xfrm>
            <a:off x="11170309" y="521208"/>
            <a:ext cx="128016" cy="128016"/>
          </a:xfrm>
          <a:prstGeom prst="roundRect">
            <a:avLst>
              <a:gd name="adj" fmla="val 50000"/>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1334901" y="475488"/>
            <a:ext cx="914400" cy="274320"/>
          </a:xfrm>
          <a:prstGeom prst="rect">
            <a:avLst/>
          </a:prstGeom>
          <a:noFill/>
        </p:spPr>
        <p:txBody>
          <a:bodyPr wrap="square" anchor="t" lIns="38100" rIns="38100" tIns="25400" bIns="25400">
            <a:spAutoFit/>
          </a:bodyPr>
          <a:lstStyle/>
          <a:p>
            <a:pPr algn="l">
              <a:lnSpc>
                <a:spcPct val="106000"/>
              </a:lnSpc>
              <a:spcBef>
                <a:spcPts val="0"/>
              </a:spcBef>
              <a:spcAft>
                <a:spcPts val="200"/>
              </a:spcAft>
            </a:pPr>
            <a:r>
              <a:rPr sz="900" b="0" i="0">
                <a:solidFill>
                  <a:srgbClr val="20242E"/>
                </a:solidFill>
                <a:latin typeface="Inter"/>
              </a:rPr>
              <a:t>tijd</a:t>
            </a:r>
          </a:p>
        </p:txBody>
      </p:sp>
      <p:sp>
        <p:nvSpPr>
          <p:cNvPr id="16" name="Rounded Rectangle 15"/>
          <p:cNvSpPr/>
          <p:nvPr/>
        </p:nvSpPr>
        <p:spPr>
          <a:xfrm>
            <a:off x="11653112" y="521208"/>
            <a:ext cx="128016" cy="128016"/>
          </a:xfrm>
          <a:prstGeom prst="roundRect">
            <a:avLst>
              <a:gd name="adj" fmla="val 50000"/>
            </a:avLst>
          </a:prstGeom>
          <a:solidFill>
            <a:srgbClr val="6474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1817704" y="475488"/>
            <a:ext cx="914400" cy="274320"/>
          </a:xfrm>
          <a:prstGeom prst="rect">
            <a:avLst/>
          </a:prstGeom>
          <a:noFill/>
        </p:spPr>
        <p:txBody>
          <a:bodyPr wrap="square" anchor="t" lIns="38100" rIns="38100" tIns="25400" bIns="25400">
            <a:spAutoFit/>
          </a:bodyPr>
          <a:lstStyle/>
          <a:p>
            <a:pPr algn="l">
              <a:lnSpc>
                <a:spcPct val="106000"/>
              </a:lnSpc>
              <a:spcBef>
                <a:spcPts val="0"/>
              </a:spcBef>
              <a:spcAft>
                <a:spcPts val="200"/>
              </a:spcAft>
            </a:pPr>
            <a:r>
              <a:rPr sz="900" b="0" i="0">
                <a:solidFill>
                  <a:srgbClr val="20242E"/>
                </a:solidFill>
                <a:latin typeface="Inter"/>
              </a:rPr>
              <a:t>plaats</a:t>
            </a:r>
          </a:p>
        </p:txBody>
      </p:sp>
      <p:sp>
        <p:nvSpPr>
          <p:cNvPr id="18" name="Rounded Rectangle 17"/>
          <p:cNvSpPr/>
          <p:nvPr/>
        </p:nvSpPr>
        <p:spPr>
          <a:xfrm>
            <a:off x="12249300" y="521208"/>
            <a:ext cx="128016" cy="128016"/>
          </a:xfrm>
          <a:prstGeom prst="roundRect">
            <a:avLst>
              <a:gd name="adj" fmla="val 50000"/>
            </a:avLst>
          </a:prstGeom>
          <a:solidFill>
            <a:srgbClr val="DC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2413892" y="475488"/>
            <a:ext cx="914400" cy="274320"/>
          </a:xfrm>
          <a:prstGeom prst="rect">
            <a:avLst/>
          </a:prstGeom>
          <a:noFill/>
        </p:spPr>
        <p:txBody>
          <a:bodyPr wrap="square" anchor="t" lIns="38100" rIns="38100" tIns="25400" bIns="25400">
            <a:spAutoFit/>
          </a:bodyPr>
          <a:lstStyle/>
          <a:p>
            <a:pPr algn="l">
              <a:lnSpc>
                <a:spcPct val="106000"/>
              </a:lnSpc>
              <a:spcBef>
                <a:spcPts val="0"/>
              </a:spcBef>
              <a:spcAft>
                <a:spcPts val="200"/>
              </a:spcAft>
            </a:pPr>
            <a:r>
              <a:rPr sz="900" b="0" i="0">
                <a:solidFill>
                  <a:srgbClr val="20242E"/>
                </a:solidFill>
                <a:latin typeface="Inter"/>
              </a:rPr>
              <a:t>valstrik</a:t>
            </a:r>
          </a:p>
        </p:txBody>
      </p:sp>
      <p:sp>
        <p:nvSpPr>
          <p:cNvPr id="20" name="Rounded Rectangle 19"/>
          <p:cNvSpPr/>
          <p:nvPr/>
        </p:nvSpPr>
        <p:spPr>
          <a:xfrm>
            <a:off x="457200" y="1554480"/>
            <a:ext cx="11247120" cy="1097280"/>
          </a:xfrm>
          <a:prstGeom prst="roundRect">
            <a:avLst>
              <a:gd name="adj" fmla="val 5500"/>
            </a:avLst>
          </a:prstGeom>
          <a:solidFill>
            <a:srgbClr val="EEE8F5"/>
          </a:solidFill>
          <a:ln>
            <a:noFill/>
          </a:ln>
          <a:effectLst>
            <a:outerShdw blurRad="90000" dist="38000" dir="5400000" rotWithShape="0">
              <a:srgbClr val="20242E">
                <a:alpha val="2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31520" y="1554480"/>
            <a:ext cx="10698480" cy="1097280"/>
          </a:xfrm>
          <a:prstGeom prst="rect">
            <a:avLst/>
          </a:prstGeom>
          <a:noFill/>
        </p:spPr>
        <p:txBody>
          <a:bodyPr wrap="square" anchor="ctr" lIns="38100" rIns="38100" tIns="25400" bIns="25400">
            <a:spAutoFit/>
          </a:bodyPr>
          <a:lstStyle/>
          <a:p>
            <a:pPr algn="l">
              <a:lnSpc>
                <a:spcPct val="106000"/>
              </a:lnSpc>
              <a:spcBef>
                <a:spcPts val="0"/>
              </a:spcBef>
              <a:spcAft>
                <a:spcPts val="200"/>
              </a:spcAft>
            </a:pPr>
            <a:r>
              <a:rPr sz="2200" b="1" i="0">
                <a:solidFill>
                  <a:srgbClr val="2563EB"/>
                </a:solidFill>
                <a:latin typeface="Bricolage Grotesque"/>
              </a:rPr>
              <a:t>(Yo) </a:t>
            </a:r>
            <a:r>
              <a:rPr sz="2200" b="1" i="0">
                <a:solidFill>
                  <a:srgbClr val="EA7317"/>
                </a:solidFill>
                <a:latin typeface="Bricolage Grotesque"/>
              </a:rPr>
              <a:t>hablo </a:t>
            </a:r>
            <a:r>
              <a:rPr sz="2200" b="1" i="0">
                <a:solidFill>
                  <a:srgbClr val="B4309A"/>
                </a:solidFill>
                <a:latin typeface="Bricolage Grotesque"/>
              </a:rPr>
              <a:t>español </a:t>
            </a:r>
            <a:r>
              <a:rPr sz="2200" b="1" i="0">
                <a:solidFill>
                  <a:srgbClr val="20242E"/>
                </a:solidFill>
                <a:latin typeface="Bricolage Grotesque"/>
              </a:rPr>
              <a:t>y </a:t>
            </a:r>
            <a:r>
              <a:rPr sz="2200" b="1" i="0">
                <a:solidFill>
                  <a:srgbClr val="EA7317"/>
                </a:solidFill>
                <a:latin typeface="Bricolage Grotesque"/>
              </a:rPr>
              <a:t>vivo </a:t>
            </a:r>
            <a:r>
              <a:rPr sz="2200" b="1" i="0">
                <a:solidFill>
                  <a:srgbClr val="64748B"/>
                </a:solidFill>
                <a:latin typeface="Bricolage Grotesque"/>
              </a:rPr>
              <a:t>en Gante.</a:t>
            </a:r>
          </a:p>
        </p:txBody>
      </p:sp>
      <p:sp>
        <p:nvSpPr>
          <p:cNvPr id="22" name="TextBox 21"/>
          <p:cNvSpPr txBox="1"/>
          <p:nvPr/>
        </p:nvSpPr>
        <p:spPr>
          <a:xfrm>
            <a:off x="457200" y="2880360"/>
            <a:ext cx="10972800" cy="365760"/>
          </a:xfrm>
          <a:prstGeom prst="rect">
            <a:avLst/>
          </a:prstGeom>
          <a:noFill/>
        </p:spPr>
        <p:txBody>
          <a:bodyPr wrap="square" anchor="t" lIns="38100" rIns="38100" tIns="25400" bIns="25400">
            <a:spAutoFit/>
          </a:bodyPr>
          <a:lstStyle/>
          <a:p>
            <a:pPr algn="l">
              <a:lnSpc>
                <a:spcPct val="106000"/>
              </a:lnSpc>
              <a:spcBef>
                <a:spcPts val="0"/>
              </a:spcBef>
              <a:spcAft>
                <a:spcPts val="200"/>
              </a:spcAft>
            </a:pPr>
            <a:r>
              <a:rPr sz="1300" b="1" i="0">
                <a:solidFill>
                  <a:srgbClr val="5B3E83"/>
                </a:solidFill>
                <a:latin typeface="Bricolage Grotesque"/>
              </a:rPr>
              <a:t>Las terminaciones regulares</a:t>
            </a:r>
          </a:p>
        </p:txBody>
      </p:sp>
      <p:sp>
        <p:nvSpPr>
          <p:cNvPr id="23" name="Rounded Rectangle 22"/>
          <p:cNvSpPr/>
          <p:nvPr/>
        </p:nvSpPr>
        <p:spPr>
          <a:xfrm>
            <a:off x="457200" y="3291840"/>
            <a:ext cx="3657600" cy="822960"/>
          </a:xfrm>
          <a:prstGeom prst="roundRect">
            <a:avLst>
              <a:gd name="adj" fmla="val 5500"/>
            </a:avLst>
          </a:prstGeom>
          <a:solidFill>
            <a:srgbClr val="FFFFFF"/>
          </a:solidFill>
          <a:ln w="12700">
            <a:solidFill>
              <a:srgbClr val="E4E3D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94360" y="3383280"/>
            <a:ext cx="3383280" cy="320040"/>
          </a:xfrm>
          <a:prstGeom prst="rect">
            <a:avLst/>
          </a:prstGeom>
          <a:noFill/>
        </p:spPr>
        <p:txBody>
          <a:bodyPr wrap="square" anchor="t" lIns="38100" rIns="38100" tIns="25400" bIns="25400">
            <a:spAutoFit/>
          </a:bodyPr>
          <a:lstStyle/>
          <a:p>
            <a:pPr algn="l">
              <a:lnSpc>
                <a:spcPct val="106000"/>
              </a:lnSpc>
              <a:spcBef>
                <a:spcPts val="0"/>
              </a:spcBef>
              <a:spcAft>
                <a:spcPts val="200"/>
              </a:spcAft>
            </a:pPr>
            <a:r>
              <a:rPr sz="1300" b="1" i="0">
                <a:solidFill>
                  <a:srgbClr val="5B3E83"/>
                </a:solidFill>
                <a:latin typeface="Inter"/>
              </a:rPr>
              <a:t>-ar hablar</a:t>
            </a:r>
          </a:p>
        </p:txBody>
      </p:sp>
      <p:sp>
        <p:nvSpPr>
          <p:cNvPr id="25" name="TextBox 24"/>
          <p:cNvSpPr txBox="1"/>
          <p:nvPr/>
        </p:nvSpPr>
        <p:spPr>
          <a:xfrm>
            <a:off x="594360" y="3712464"/>
            <a:ext cx="3383280" cy="365760"/>
          </a:xfrm>
          <a:prstGeom prst="rect">
            <a:avLst/>
          </a:prstGeom>
          <a:noFill/>
        </p:spPr>
        <p:txBody>
          <a:bodyPr wrap="square" anchor="t" lIns="38100" rIns="38100" tIns="25400" bIns="25400">
            <a:spAutoFit/>
          </a:bodyPr>
          <a:lstStyle/>
          <a:p>
            <a:pPr algn="l">
              <a:lnSpc>
                <a:spcPct val="106000"/>
              </a:lnSpc>
              <a:spcBef>
                <a:spcPts val="0"/>
              </a:spcBef>
              <a:spcAft>
                <a:spcPts val="200"/>
              </a:spcAft>
            </a:pPr>
            <a:r>
              <a:rPr sz="1200" b="1" i="0">
                <a:solidFill>
                  <a:srgbClr val="EA7317"/>
                </a:solidFill>
                <a:latin typeface="Inter"/>
              </a:rPr>
              <a:t>o · as · a · amos · áis · an</a:t>
            </a:r>
          </a:p>
        </p:txBody>
      </p:sp>
      <p:sp>
        <p:nvSpPr>
          <p:cNvPr id="26" name="Rounded Rectangle 25"/>
          <p:cNvSpPr/>
          <p:nvPr/>
        </p:nvSpPr>
        <p:spPr>
          <a:xfrm>
            <a:off x="4251960" y="3291840"/>
            <a:ext cx="3657600" cy="822960"/>
          </a:xfrm>
          <a:prstGeom prst="roundRect">
            <a:avLst>
              <a:gd name="adj" fmla="val 5500"/>
            </a:avLst>
          </a:prstGeom>
          <a:solidFill>
            <a:srgbClr val="FFFFFF"/>
          </a:solidFill>
          <a:ln w="12700">
            <a:solidFill>
              <a:srgbClr val="E4E3D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389120" y="3383280"/>
            <a:ext cx="3383280" cy="320040"/>
          </a:xfrm>
          <a:prstGeom prst="rect">
            <a:avLst/>
          </a:prstGeom>
          <a:noFill/>
        </p:spPr>
        <p:txBody>
          <a:bodyPr wrap="square" anchor="t" lIns="38100" rIns="38100" tIns="25400" bIns="25400">
            <a:spAutoFit/>
          </a:bodyPr>
          <a:lstStyle/>
          <a:p>
            <a:pPr algn="l">
              <a:lnSpc>
                <a:spcPct val="106000"/>
              </a:lnSpc>
              <a:spcBef>
                <a:spcPts val="0"/>
              </a:spcBef>
              <a:spcAft>
                <a:spcPts val="200"/>
              </a:spcAft>
            </a:pPr>
            <a:r>
              <a:rPr sz="1300" b="1" i="0">
                <a:solidFill>
                  <a:srgbClr val="5B3E83"/>
                </a:solidFill>
                <a:latin typeface="Inter"/>
              </a:rPr>
              <a:t>-er comer</a:t>
            </a:r>
          </a:p>
        </p:txBody>
      </p:sp>
      <p:sp>
        <p:nvSpPr>
          <p:cNvPr id="28" name="TextBox 27"/>
          <p:cNvSpPr txBox="1"/>
          <p:nvPr/>
        </p:nvSpPr>
        <p:spPr>
          <a:xfrm>
            <a:off x="4389120" y="3712464"/>
            <a:ext cx="3383280" cy="365760"/>
          </a:xfrm>
          <a:prstGeom prst="rect">
            <a:avLst/>
          </a:prstGeom>
          <a:noFill/>
        </p:spPr>
        <p:txBody>
          <a:bodyPr wrap="square" anchor="t" lIns="38100" rIns="38100" tIns="25400" bIns="25400">
            <a:spAutoFit/>
          </a:bodyPr>
          <a:lstStyle/>
          <a:p>
            <a:pPr algn="l">
              <a:lnSpc>
                <a:spcPct val="106000"/>
              </a:lnSpc>
              <a:spcBef>
                <a:spcPts val="0"/>
              </a:spcBef>
              <a:spcAft>
                <a:spcPts val="200"/>
              </a:spcAft>
            </a:pPr>
            <a:r>
              <a:rPr sz="1200" b="1" i="0">
                <a:solidFill>
                  <a:srgbClr val="EA7317"/>
                </a:solidFill>
                <a:latin typeface="Inter"/>
              </a:rPr>
              <a:t>o · es · e · emos · éis · en</a:t>
            </a:r>
          </a:p>
        </p:txBody>
      </p:sp>
      <p:sp>
        <p:nvSpPr>
          <p:cNvPr id="29" name="Rounded Rectangle 28"/>
          <p:cNvSpPr/>
          <p:nvPr/>
        </p:nvSpPr>
        <p:spPr>
          <a:xfrm>
            <a:off x="8046720" y="3291840"/>
            <a:ext cx="3657600" cy="822960"/>
          </a:xfrm>
          <a:prstGeom prst="roundRect">
            <a:avLst>
              <a:gd name="adj" fmla="val 5500"/>
            </a:avLst>
          </a:prstGeom>
          <a:solidFill>
            <a:srgbClr val="FFFFFF"/>
          </a:solidFill>
          <a:ln w="12700">
            <a:solidFill>
              <a:srgbClr val="E4E3D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183880" y="3383280"/>
            <a:ext cx="3383280" cy="320040"/>
          </a:xfrm>
          <a:prstGeom prst="rect">
            <a:avLst/>
          </a:prstGeom>
          <a:noFill/>
        </p:spPr>
        <p:txBody>
          <a:bodyPr wrap="square" anchor="t" lIns="38100" rIns="38100" tIns="25400" bIns="25400">
            <a:spAutoFit/>
          </a:bodyPr>
          <a:lstStyle/>
          <a:p>
            <a:pPr algn="l">
              <a:lnSpc>
                <a:spcPct val="106000"/>
              </a:lnSpc>
              <a:spcBef>
                <a:spcPts val="0"/>
              </a:spcBef>
              <a:spcAft>
                <a:spcPts val="200"/>
              </a:spcAft>
            </a:pPr>
            <a:r>
              <a:rPr sz="1300" b="1" i="0">
                <a:solidFill>
                  <a:srgbClr val="5B3E83"/>
                </a:solidFill>
                <a:latin typeface="Inter"/>
              </a:rPr>
              <a:t>-ir vivir</a:t>
            </a:r>
          </a:p>
        </p:txBody>
      </p:sp>
      <p:sp>
        <p:nvSpPr>
          <p:cNvPr id="31" name="TextBox 30"/>
          <p:cNvSpPr txBox="1"/>
          <p:nvPr/>
        </p:nvSpPr>
        <p:spPr>
          <a:xfrm>
            <a:off x="8183880" y="3712464"/>
            <a:ext cx="3383280" cy="365760"/>
          </a:xfrm>
          <a:prstGeom prst="rect">
            <a:avLst/>
          </a:prstGeom>
          <a:noFill/>
        </p:spPr>
        <p:txBody>
          <a:bodyPr wrap="square" anchor="t" lIns="38100" rIns="38100" tIns="25400" bIns="25400">
            <a:spAutoFit/>
          </a:bodyPr>
          <a:lstStyle/>
          <a:p>
            <a:pPr algn="l">
              <a:lnSpc>
                <a:spcPct val="106000"/>
              </a:lnSpc>
              <a:spcBef>
                <a:spcPts val="0"/>
              </a:spcBef>
              <a:spcAft>
                <a:spcPts val="200"/>
              </a:spcAft>
            </a:pPr>
            <a:r>
              <a:rPr sz="1200" b="1" i="0">
                <a:solidFill>
                  <a:srgbClr val="EA7317"/>
                </a:solidFill>
                <a:latin typeface="Inter"/>
              </a:rPr>
              <a:t>o · es · e · imos · ís · en</a:t>
            </a:r>
          </a:p>
        </p:txBody>
      </p:sp>
      <p:sp>
        <p:nvSpPr>
          <p:cNvPr id="32" name="Rounded Rectangle 31"/>
          <p:cNvSpPr/>
          <p:nvPr/>
        </p:nvSpPr>
        <p:spPr>
          <a:xfrm>
            <a:off x="457200" y="6053328"/>
            <a:ext cx="2093976" cy="365760"/>
          </a:xfrm>
          <a:prstGeom prst="roundRect">
            <a:avLst>
              <a:gd name="adj" fmla="val 50000"/>
            </a:avLst>
          </a:prstGeom>
          <a:solidFill>
            <a:srgbClr val="7C56A9"/>
          </a:solidFill>
          <a:ln w="12700">
            <a:solidFill>
              <a:srgbClr val="E4E3DE"/>
            </a:solidFill>
          </a:ln>
          <a:effectLst/>
        </p:spPr>
        <p:style>
          <a:lnRef idx="1">
            <a:schemeClr val="accent1"/>
          </a:lnRef>
          <a:fillRef idx="3">
            <a:schemeClr val="accent1"/>
          </a:fillRef>
          <a:effectRef idx="2">
            <a:schemeClr val="accent1"/>
          </a:effectRef>
          <a:fontRef idx="minor">
            <a:schemeClr val="lt1"/>
          </a:fontRef>
        </p:style>
        <p:txBody>
          <a:bodyPr rtlCol="0" anchor="ctr" tIns="12700" bIns="12700"/>
          <a:lstStyle/>
          <a:p>
            <a:pPr algn="ctr"/>
            <a:r>
              <a:rPr sz="1050" b="1">
                <a:solidFill>
                  <a:srgbClr val="FFFFFF"/>
                </a:solidFill>
                <a:latin typeface="Inter"/>
              </a:rPr>
              <a:t>▶  Mostrar solución</a:t>
            </a:r>
          </a:p>
        </p:txBody>
      </p:sp>
      <p:sp>
        <p:nvSpPr>
          <p:cNvPr id="33" name="Rounded Rectangle 32"/>
          <p:cNvSpPr/>
          <p:nvPr/>
        </p:nvSpPr>
        <p:spPr>
          <a:xfrm>
            <a:off x="2697480" y="6053328"/>
            <a:ext cx="1088136" cy="365760"/>
          </a:xfrm>
          <a:prstGeom prst="roundRect">
            <a:avLst>
              <a:gd name="adj" fmla="val 50000"/>
            </a:avLst>
          </a:prstGeom>
          <a:solidFill>
            <a:srgbClr val="FFFFFF"/>
          </a:solidFill>
          <a:ln w="12700">
            <a:solidFill>
              <a:srgbClr val="E4E3DE"/>
            </a:solidFill>
          </a:ln>
          <a:effectLst/>
        </p:spPr>
        <p:style>
          <a:lnRef idx="1">
            <a:schemeClr val="accent1"/>
          </a:lnRef>
          <a:fillRef idx="3">
            <a:schemeClr val="accent1"/>
          </a:fillRef>
          <a:effectRef idx="2">
            <a:schemeClr val="accent1"/>
          </a:effectRef>
          <a:fontRef idx="minor">
            <a:schemeClr val="lt1"/>
          </a:fontRef>
        </p:style>
        <p:txBody>
          <a:bodyPr rtlCol="0" anchor="ctr" tIns="12700" bIns="12700"/>
          <a:lstStyle/>
          <a:p>
            <a:pPr algn="ctr"/>
            <a:r>
              <a:rPr sz="1050" b="1">
                <a:solidFill>
                  <a:srgbClr val="5B3E83"/>
                </a:solidFill>
                <a:latin typeface="Inter"/>
              </a:rPr>
              <a:t>⏭  Saltar</a:t>
            </a:r>
          </a:p>
        </p:txBody>
      </p:sp>
      <p:sp>
        <p:nvSpPr>
          <p:cNvPr id="34" name="Rounded Rectangle 33">
            <a:hlinkClick action="ppaction://hlinksldjump" r:id="rId3"/>
          </p:cNvPr>
          <p:cNvSpPr/>
          <p:nvPr/>
        </p:nvSpPr>
        <p:spPr>
          <a:xfrm>
            <a:off x="3931920" y="6053328"/>
            <a:ext cx="1691639" cy="365760"/>
          </a:xfrm>
          <a:prstGeom prst="roundRect">
            <a:avLst>
              <a:gd name="adj" fmla="val 50000"/>
            </a:avLst>
          </a:prstGeom>
          <a:solidFill>
            <a:srgbClr val="FFFFFF"/>
          </a:solidFill>
          <a:ln w="12700">
            <a:solidFill>
              <a:srgbClr val="E4E3DE"/>
            </a:solidFill>
          </a:ln>
          <a:effectLst/>
        </p:spPr>
        <p:style>
          <a:lnRef idx="1">
            <a:schemeClr val="accent1"/>
          </a:lnRef>
          <a:fillRef idx="3">
            <a:schemeClr val="accent1"/>
          </a:fillRef>
          <a:effectRef idx="2">
            <a:schemeClr val="accent1"/>
          </a:effectRef>
          <a:fontRef idx="minor">
            <a:schemeClr val="lt1"/>
          </a:fontRef>
        </p:style>
        <p:txBody>
          <a:bodyPr rtlCol="0" anchor="ctr" tIns="12700" bIns="12700"/>
          <a:lstStyle/>
          <a:p>
            <a:pPr algn="ctr"/>
            <a:r>
              <a:rPr sz="1050" b="1">
                <a:solidFill>
                  <a:srgbClr val="5B3E83"/>
                </a:solidFill>
                <a:latin typeface="Inter"/>
              </a:rPr>
              <a:t>⌂  Menú (dia 2)</a:t>
            </a:r>
          </a:p>
        </p:txBody>
      </p:sp>
      <p:sp>
        <p:nvSpPr>
          <p:cNvPr id="35" name="TextBox 34"/>
          <p:cNvSpPr txBox="1"/>
          <p:nvPr/>
        </p:nvSpPr>
        <p:spPr>
          <a:xfrm>
            <a:off x="8321040" y="6053328"/>
            <a:ext cx="3383280" cy="365760"/>
          </a:xfrm>
          <a:prstGeom prst="rect">
            <a:avLst/>
          </a:prstGeom>
          <a:noFill/>
        </p:spPr>
        <p:txBody>
          <a:bodyPr wrap="square" anchor="ctr" lIns="38100" rIns="38100" tIns="25400" bIns="25400">
            <a:spAutoFit/>
          </a:bodyPr>
          <a:lstStyle/>
          <a:p>
            <a:pPr algn="r">
              <a:lnSpc>
                <a:spcPct val="106000"/>
              </a:lnSpc>
              <a:spcBef>
                <a:spcPts val="0"/>
              </a:spcBef>
              <a:spcAft>
                <a:spcPts val="200"/>
              </a:spcAft>
            </a:pPr>
            <a:r>
              <a:rPr sz="850" b="0" i="1">
                <a:solidFill>
                  <a:srgbClr val="6A6E78"/>
                </a:solidFill>
                <a:latin typeface="Inter"/>
              </a:rPr>
              <a:t>Noodroute (§5): werkt zonder audio/internet</a:t>
            </a:r>
          </a:p>
        </p:txBody>
      </p:sp>
      <p:sp>
        <p:nvSpPr>
          <p:cNvPr id="36" name="Rounded Rectangle 35"/>
          <p:cNvSpPr/>
          <p:nvPr/>
        </p:nvSpPr>
        <p:spPr>
          <a:xfrm>
            <a:off x="457200" y="4480560"/>
            <a:ext cx="11247120" cy="822960"/>
          </a:xfrm>
          <a:prstGeom prst="roundRect">
            <a:avLst>
              <a:gd name="adj" fmla="val 6000"/>
            </a:avLst>
          </a:prstGeom>
          <a:solidFill>
            <a:srgbClr val="EEE8F5"/>
          </a:solidFill>
          <a:ln w="19050">
            <a:solidFill>
              <a:srgbClr val="7C56A9"/>
            </a:solidFill>
          </a:ln>
          <a:effectLst/>
        </p:spPr>
        <p:style>
          <a:lnRef idx="1">
            <a:schemeClr val="accent1"/>
          </a:lnRef>
          <a:fillRef idx="3">
            <a:schemeClr val="accent1"/>
          </a:fillRef>
          <a:effectRef idx="2">
            <a:schemeClr val="accent1"/>
          </a:effectRef>
          <a:fontRef idx="minor">
            <a:schemeClr val="lt1"/>
          </a:fontRef>
        </p:style>
        <p:txBody>
          <a:bodyPr rtlCol="0" anchor="ctr" wrap="square" lIns="127000" rIns="127000" tIns="139700" bIns="76200"/>
          <a:lstStyle/>
          <a:p>
            <a:pPr algn="ctr">
              <a:lnSpc>
                <a:spcPct val="102000"/>
              </a:lnSpc>
              <a:spcBef>
                <a:spcPts val="0"/>
              </a:spcBef>
              <a:spcAft>
                <a:spcPts val="300"/>
              </a:spcAft>
            </a:pPr>
            <a:r>
              <a:rPr sz="1200" b="1" i="0">
                <a:solidFill>
                  <a:srgbClr val="5B3E83"/>
                </a:solidFill>
                <a:latin typeface="Inter"/>
              </a:rPr>
              <a:t>Regla: </a:t>
            </a:r>
            <a:r>
              <a:rPr sz="1200" b="0" i="0">
                <a:solidFill>
                  <a:srgbClr val="5B3E83"/>
                </a:solidFill>
                <a:latin typeface="Inter"/>
              </a:rPr>
              <a:t>raíz (habl-) + terminación. De terminación verandert met de persoon: yo hablo, tú hablas, él habla…</a:t>
            </a:r>
          </a:p>
          <a:p>
            <a:pPr>
              <a:lnSpc>
                <a:spcPct val="102000"/>
              </a:lnSpc>
              <a:spcBef>
                <a:spcPts val="0"/>
              </a:spcBef>
              <a:spcAft>
                <a:spcPts val="300"/>
              </a:spcAft>
            </a:pPr>
            <a:r>
              <a:rPr sz="1200" b="0" i="0">
                <a:solidFill>
                  <a:srgbClr val="5B3E83"/>
                </a:solidFill>
                <a:latin typeface="Inter"/>
              </a:rPr>
              <a:t>De 7 onregelmatige (yo): soy · estoy · tengo · voy · hago · vengo · doy (vaak -oy of -go).</a:t>
            </a:r>
          </a:p>
        </p:txBody>
      </p:sp>
      <p:sp>
        <p:nvSpPr>
          <p:cNvPr id="37" name="Rounded Rectangle 36"/>
          <p:cNvSpPr/>
          <p:nvPr/>
        </p:nvSpPr>
        <p:spPr>
          <a:xfrm>
            <a:off x="594360" y="4352544"/>
            <a:ext cx="1296619" cy="292608"/>
          </a:xfrm>
          <a:prstGeom prst="roundRect">
            <a:avLst>
              <a:gd name="adj" fmla="val 50000"/>
            </a:avLst>
          </a:prstGeom>
          <a:solidFill>
            <a:srgbClr val="7C56A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88900" rIns="88900" tIns="12700" bIns="12700"/>
          <a:lstStyle/>
          <a:p>
            <a:pPr algn="ctr"/>
            <a:r>
              <a:rPr sz="950" b="1">
                <a:solidFill>
                  <a:srgbClr val="FFFFFF"/>
                </a:solidFill>
                <a:latin typeface="Inter"/>
              </a:rPr>
              <a:t>REGLA · docent</a:t>
            </a:r>
          </a:p>
        </p:txBody>
      </p:sp>
      <p:sp>
        <p:nvSpPr>
          <p:cNvPr id="38" name="Rectangle 37"/>
          <p:cNvSpPr/>
          <p:nvPr/>
        </p:nvSpPr>
        <p:spPr>
          <a:xfrm>
            <a:off x="0" y="6547104"/>
            <a:ext cx="12191695" cy="310896"/>
          </a:xfrm>
          <a:prstGeom prst="rect">
            <a:avLst/>
          </a:prstGeom>
          <a:solidFill>
            <a:srgbClr val="F3EE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411480" y="6565392"/>
            <a:ext cx="5486400" cy="274320"/>
          </a:xfrm>
          <a:prstGeom prst="rect">
            <a:avLst/>
          </a:prstGeom>
          <a:noFill/>
        </p:spPr>
        <p:txBody>
          <a:bodyPr wrap="square" anchor="ctr" lIns="38100" rIns="38100" tIns="25400" bIns="25400">
            <a:spAutoFit/>
          </a:bodyPr>
          <a:lstStyle/>
          <a:p>
            <a:pPr algn="l">
              <a:lnSpc>
                <a:spcPct val="106000"/>
              </a:lnSpc>
              <a:spcBef>
                <a:spcPts val="0"/>
              </a:spcBef>
              <a:spcAft>
                <a:spcPts val="200"/>
              </a:spcAft>
            </a:pPr>
            <a:r>
              <a:rPr sz="1100" b="1" i="0">
                <a:solidFill>
                  <a:srgbClr val="7C56A9"/>
                </a:solidFill>
                <a:latin typeface="Inter"/>
              </a:rPr>
              <a:t>● </a:t>
            </a:r>
            <a:r>
              <a:rPr sz="950" b="0" i="0">
                <a:solidFill>
                  <a:srgbClr val="6A6E78"/>
                </a:solidFill>
                <a:latin typeface="Inter"/>
              </a:rPr>
              <a:t>U0 · ¡VOLVEMOS!   ·   C6+ · el reencuentro</a:t>
            </a:r>
          </a:p>
        </p:txBody>
      </p:sp>
      <p:sp>
        <p:nvSpPr>
          <p:cNvPr id="40" name="TextBox 39"/>
          <p:cNvSpPr txBox="1"/>
          <p:nvPr/>
        </p:nvSpPr>
        <p:spPr>
          <a:xfrm>
            <a:off x="8686800" y="6565392"/>
            <a:ext cx="3063240" cy="274320"/>
          </a:xfrm>
          <a:prstGeom prst="rect">
            <a:avLst/>
          </a:prstGeom>
          <a:noFill/>
        </p:spPr>
        <p:txBody>
          <a:bodyPr wrap="square" anchor="ctr" lIns="38100" rIns="38100" tIns="25400" bIns="25400">
            <a:spAutoFit/>
          </a:bodyPr>
          <a:lstStyle/>
          <a:p>
            <a:pPr algn="r">
              <a:lnSpc>
                <a:spcPct val="106000"/>
              </a:lnSpc>
              <a:spcBef>
                <a:spcPts val="0"/>
              </a:spcBef>
              <a:spcAft>
                <a:spcPts val="200"/>
              </a:spcAft>
            </a:pPr>
            <a:r>
              <a:rPr sz="900" b="0" i="1">
                <a:solidFill>
                  <a:srgbClr val="6A6E78"/>
                </a:solidFill>
                <a:latin typeface="Inter"/>
              </a:rPr>
              <a:t>Docentenversie — met oplossingen</a:t>
            </a:r>
          </a:p>
        </p:txBody>
      </p:sp>
      <p:sp>
        <p:nvSpPr>
          <p:cNvPr id="41" name="TextBox 40"/>
          <p:cNvSpPr txBox="1"/>
          <p:nvPr/>
        </p:nvSpPr>
        <p:spPr>
          <a:xfrm>
            <a:off x="11475720" y="6565392"/>
            <a:ext cx="457200" cy="274320"/>
          </a:xfrm>
          <a:prstGeom prst="rect">
            <a:avLst/>
          </a:prstGeom>
          <a:noFill/>
        </p:spPr>
        <p:txBody>
          <a:bodyPr wrap="square" anchor="ctr" lIns="38100" rIns="38100" tIns="25400" bIns="25400">
            <a:spAutoFit/>
          </a:bodyPr>
          <a:lstStyle/>
          <a:p>
            <a:pPr algn="r">
              <a:lnSpc>
                <a:spcPct val="106000"/>
              </a:lnSpc>
              <a:spcBef>
                <a:spcPts val="0"/>
              </a:spcBef>
              <a:spcAft>
                <a:spcPts val="200"/>
              </a:spcAft>
            </a:pPr>
            <a:r>
              <a:rPr sz="950" b="1" i="0">
                <a:solidFill>
                  <a:srgbClr val="5B3E83"/>
                </a:solidFill>
                <a:latin typeface="Inter"/>
              </a:rPr>
              <a:t>4</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6"/>
                                        </p:tgtEl>
                                        <p:attrNameLst>
                                          <p:attrName>style.visibility</p:attrName>
                                        </p:attrNameLst>
                                      </p:cBhvr>
                                      <p:to>
                                        <p:strVal val="visible"/>
                                      </p:to>
                                    </p:set>
                                    <p:animEffect transition="in" filter="fade">
                                      <p:cBhvr>
                                        <p:cTn id="7" dur="500"/>
                                        <p:tgtEl>
                                          <p:spTgt spid="36"/>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37"/>
                                        </p:tgtEl>
                                        <p:attrNameLst>
                                          <p:attrName>style.visibility</p:attrName>
                                        </p:attrNameLst>
                                      </p:cBhvr>
                                      <p:to>
                                        <p:strVal val="visible"/>
                                      </p:to>
                                    </p:set>
                                    <p:animEffect transition="in" filter="fade">
                                      <p:cBhvr>
                                        <p:cTn id="12" dur="500"/>
                                        <p:tgtEl>
                                          <p:spTgt spid="3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C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78992"/>
          </a:xfrm>
          <a:prstGeom prst="rect">
            <a:avLst/>
          </a:prstGeom>
          <a:solidFill>
            <a:srgbClr val="7C56A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78992"/>
            <a:ext cx="12191695" cy="54864"/>
          </a:xfrm>
          <a:prstGeom prst="rect">
            <a:avLst/>
          </a:prstGeom>
          <a:solidFill>
            <a:srgbClr val="5B3E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02920" y="182880"/>
            <a:ext cx="875995" cy="292608"/>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88900" rIns="88900" tIns="12700" bIns="12700"/>
          <a:lstStyle/>
          <a:p>
            <a:pPr algn="ctr"/>
            <a:r>
              <a:rPr sz="1100" b="1">
                <a:solidFill>
                  <a:srgbClr val="7C56A9"/>
                </a:solidFill>
                <a:latin typeface="Inter"/>
              </a:rPr>
              <a:t>§2 · QUIZ</a:t>
            </a:r>
          </a:p>
        </p:txBody>
      </p:sp>
      <p:sp>
        <p:nvSpPr>
          <p:cNvPr id="6" name="TextBox 5"/>
          <p:cNvSpPr txBox="1"/>
          <p:nvPr/>
        </p:nvSpPr>
        <p:spPr>
          <a:xfrm>
            <a:off x="10424160" y="-137160"/>
            <a:ext cx="1737360" cy="1371600"/>
          </a:xfrm>
          <a:prstGeom prst="rect">
            <a:avLst/>
          </a:prstGeom>
          <a:noFill/>
        </p:spPr>
        <p:txBody>
          <a:bodyPr wrap="square" anchor="t" lIns="38100" rIns="38100" tIns="25400" bIns="25400">
            <a:spAutoFit/>
          </a:bodyPr>
          <a:lstStyle/>
          <a:p>
            <a:pPr algn="r">
              <a:lnSpc>
                <a:spcPct val="106000"/>
              </a:lnSpc>
              <a:spcBef>
                <a:spcPts val="0"/>
              </a:spcBef>
              <a:spcAft>
                <a:spcPts val="200"/>
              </a:spcAft>
            </a:pPr>
            <a:r>
              <a:rPr sz="8800" b="1" i="0">
                <a:solidFill>
                  <a:srgbClr val="FFFFFF"/>
                </a:solidFill>
                <a:latin typeface="Bricolage Grotesque"/>
              </a:rPr>
              <a:t>2</a:t>
            </a:r>
          </a:p>
        </p:txBody>
      </p:sp>
      <p:sp>
        <p:nvSpPr>
          <p:cNvPr id="7" name="TextBox 6"/>
          <p:cNvSpPr txBox="1"/>
          <p:nvPr/>
        </p:nvSpPr>
        <p:spPr>
          <a:xfrm>
            <a:off x="457200" y="457200"/>
            <a:ext cx="9692640" cy="502920"/>
          </a:xfrm>
          <a:prstGeom prst="rect">
            <a:avLst/>
          </a:prstGeom>
          <a:noFill/>
        </p:spPr>
        <p:txBody>
          <a:bodyPr wrap="square" anchor="ctr" lIns="38100" rIns="38100" tIns="25400" bIns="25400">
            <a:spAutoFit/>
          </a:bodyPr>
          <a:lstStyle/>
          <a:p>
            <a:pPr algn="l">
              <a:lnSpc>
                <a:spcPct val="106000"/>
              </a:lnSpc>
              <a:spcBef>
                <a:spcPts val="0"/>
              </a:spcBef>
              <a:spcAft>
                <a:spcPts val="200"/>
              </a:spcAft>
            </a:pPr>
            <a:r>
              <a:rPr sz="2700" b="1" i="0">
                <a:solidFill>
                  <a:srgbClr val="FFFFFF"/>
                </a:solidFill>
                <a:latin typeface="Bricolage Grotesque"/>
              </a:rPr>
              <a:t>Completa el presente</a:t>
            </a:r>
          </a:p>
        </p:txBody>
      </p:sp>
      <p:sp>
        <p:nvSpPr>
          <p:cNvPr id="8" name="TextBox 7"/>
          <p:cNvSpPr txBox="1"/>
          <p:nvPr/>
        </p:nvSpPr>
        <p:spPr>
          <a:xfrm>
            <a:off x="502920" y="932688"/>
            <a:ext cx="9692640" cy="274320"/>
          </a:xfrm>
          <a:prstGeom prst="rect">
            <a:avLst/>
          </a:prstGeom>
          <a:noFill/>
        </p:spPr>
        <p:txBody>
          <a:bodyPr wrap="square" anchor="t" lIns="38100" rIns="38100" tIns="25400" bIns="25400">
            <a:spAutoFit/>
          </a:bodyPr>
          <a:lstStyle/>
          <a:p>
            <a:pPr algn="l">
              <a:lnSpc>
                <a:spcPct val="106000"/>
              </a:lnSpc>
              <a:spcBef>
                <a:spcPts val="0"/>
              </a:spcBef>
              <a:spcAft>
                <a:spcPts val="200"/>
              </a:spcAft>
            </a:pPr>
            <a:r>
              <a:rPr sz="1250" b="0" i="1">
                <a:solidFill>
                  <a:srgbClr val="EEE8F5"/>
                </a:solidFill>
                <a:latin typeface="Inter"/>
              </a:rPr>
              <a:t>Klik een zin → de juiste vorm verschijnt. Kijk naar de persoon.</a:t>
            </a:r>
          </a:p>
        </p:txBody>
      </p:sp>
      <p:sp>
        <p:nvSpPr>
          <p:cNvPr id="9" name="Rounded Rectangle 8"/>
          <p:cNvSpPr/>
          <p:nvPr/>
        </p:nvSpPr>
        <p:spPr>
          <a:xfrm>
            <a:off x="457200" y="1554480"/>
            <a:ext cx="5532120" cy="640080"/>
          </a:xfrm>
          <a:prstGeom prst="roundRect">
            <a:avLst>
              <a:gd name="adj" fmla="val 5500"/>
            </a:avLst>
          </a:prstGeom>
          <a:solidFill>
            <a:srgbClr val="FFFFFF"/>
          </a:solidFill>
          <a:ln w="12700">
            <a:solidFill>
              <a:srgbClr val="E4E3D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94360" y="1554480"/>
            <a:ext cx="3931920" cy="640080"/>
          </a:xfrm>
          <a:prstGeom prst="rect">
            <a:avLst/>
          </a:prstGeom>
          <a:noFill/>
        </p:spPr>
        <p:txBody>
          <a:bodyPr wrap="square" anchor="ctr" lIns="38100" rIns="38100" tIns="25400" bIns="25400">
            <a:spAutoFit/>
          </a:bodyPr>
          <a:lstStyle/>
          <a:p>
            <a:pPr algn="l">
              <a:lnSpc>
                <a:spcPct val="106000"/>
              </a:lnSpc>
              <a:spcBef>
                <a:spcPts val="0"/>
              </a:spcBef>
              <a:spcAft>
                <a:spcPts val="200"/>
              </a:spcAft>
            </a:pPr>
            <a:r>
              <a:rPr sz="1250" b="0" i="0">
                <a:solidFill>
                  <a:srgbClr val="20242E"/>
                </a:solidFill>
                <a:latin typeface="Inter"/>
              </a:rPr>
              <a:t>Yo ___ (ser) de Bélgica.</a:t>
            </a:r>
          </a:p>
        </p:txBody>
      </p:sp>
      <p:sp>
        <p:nvSpPr>
          <p:cNvPr id="11" name="TextBox 10"/>
          <p:cNvSpPr txBox="1"/>
          <p:nvPr/>
        </p:nvSpPr>
        <p:spPr>
          <a:xfrm>
            <a:off x="4572000" y="1554480"/>
            <a:ext cx="1325880" cy="640080"/>
          </a:xfrm>
          <a:prstGeom prst="rect">
            <a:avLst/>
          </a:prstGeom>
          <a:noFill/>
        </p:spPr>
        <p:txBody>
          <a:bodyPr wrap="square" anchor="ctr" lIns="38100" rIns="38100" tIns="25400" bIns="25400">
            <a:spAutoFit/>
          </a:bodyPr>
          <a:lstStyle/>
          <a:p>
            <a:pPr algn="l">
              <a:lnSpc>
                <a:spcPct val="106000"/>
              </a:lnSpc>
              <a:spcBef>
                <a:spcPts val="0"/>
              </a:spcBef>
              <a:spcAft>
                <a:spcPts val="200"/>
              </a:spcAft>
            </a:pPr>
            <a:r>
              <a:rPr sz="1400" b="1" i="0">
                <a:solidFill>
                  <a:srgbClr val="5B3E83"/>
                </a:solidFill>
                <a:latin typeface="Inter"/>
              </a:rPr>
              <a:t>→ soy</a:t>
            </a:r>
          </a:p>
        </p:txBody>
      </p:sp>
      <p:sp>
        <p:nvSpPr>
          <p:cNvPr id="12" name="Rounded Rectangle 11"/>
          <p:cNvSpPr/>
          <p:nvPr/>
        </p:nvSpPr>
        <p:spPr>
          <a:xfrm>
            <a:off x="457200" y="2359152"/>
            <a:ext cx="5532120" cy="640080"/>
          </a:xfrm>
          <a:prstGeom prst="roundRect">
            <a:avLst>
              <a:gd name="adj" fmla="val 5500"/>
            </a:avLst>
          </a:prstGeom>
          <a:solidFill>
            <a:srgbClr val="FFFFFF"/>
          </a:solidFill>
          <a:ln w="12700">
            <a:solidFill>
              <a:srgbClr val="E4E3D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94360" y="2359152"/>
            <a:ext cx="3931920" cy="640080"/>
          </a:xfrm>
          <a:prstGeom prst="rect">
            <a:avLst/>
          </a:prstGeom>
          <a:noFill/>
        </p:spPr>
        <p:txBody>
          <a:bodyPr wrap="square" anchor="ctr" lIns="38100" rIns="38100" tIns="25400" bIns="25400">
            <a:spAutoFit/>
          </a:bodyPr>
          <a:lstStyle/>
          <a:p>
            <a:pPr algn="l">
              <a:lnSpc>
                <a:spcPct val="106000"/>
              </a:lnSpc>
              <a:spcBef>
                <a:spcPts val="0"/>
              </a:spcBef>
              <a:spcAft>
                <a:spcPts val="200"/>
              </a:spcAft>
            </a:pPr>
            <a:r>
              <a:rPr sz="1250" b="0" i="0">
                <a:solidFill>
                  <a:srgbClr val="20242E"/>
                </a:solidFill>
                <a:latin typeface="Inter"/>
              </a:rPr>
              <a:t>¿Tú ___ (vivir) en Gante?</a:t>
            </a:r>
          </a:p>
        </p:txBody>
      </p:sp>
      <p:sp>
        <p:nvSpPr>
          <p:cNvPr id="14" name="TextBox 13"/>
          <p:cNvSpPr txBox="1"/>
          <p:nvPr/>
        </p:nvSpPr>
        <p:spPr>
          <a:xfrm>
            <a:off x="4572000" y="2359152"/>
            <a:ext cx="1325880" cy="640080"/>
          </a:xfrm>
          <a:prstGeom prst="rect">
            <a:avLst/>
          </a:prstGeom>
          <a:noFill/>
        </p:spPr>
        <p:txBody>
          <a:bodyPr wrap="square" anchor="ctr" lIns="38100" rIns="38100" tIns="25400" bIns="25400">
            <a:spAutoFit/>
          </a:bodyPr>
          <a:lstStyle/>
          <a:p>
            <a:pPr algn="l">
              <a:lnSpc>
                <a:spcPct val="106000"/>
              </a:lnSpc>
              <a:spcBef>
                <a:spcPts val="0"/>
              </a:spcBef>
              <a:spcAft>
                <a:spcPts val="200"/>
              </a:spcAft>
            </a:pPr>
            <a:r>
              <a:rPr sz="1400" b="1" i="0">
                <a:solidFill>
                  <a:srgbClr val="5B3E83"/>
                </a:solidFill>
                <a:latin typeface="Inter"/>
              </a:rPr>
              <a:t>→ vives</a:t>
            </a:r>
          </a:p>
        </p:txBody>
      </p:sp>
      <p:sp>
        <p:nvSpPr>
          <p:cNvPr id="15" name="Rounded Rectangle 14"/>
          <p:cNvSpPr/>
          <p:nvPr/>
        </p:nvSpPr>
        <p:spPr>
          <a:xfrm>
            <a:off x="457200" y="3163824"/>
            <a:ext cx="5532120" cy="640080"/>
          </a:xfrm>
          <a:prstGeom prst="roundRect">
            <a:avLst>
              <a:gd name="adj" fmla="val 5500"/>
            </a:avLst>
          </a:prstGeom>
          <a:solidFill>
            <a:srgbClr val="FFFFFF"/>
          </a:solidFill>
          <a:ln w="12700">
            <a:solidFill>
              <a:srgbClr val="E4E3D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94360" y="3163824"/>
            <a:ext cx="3931920" cy="640080"/>
          </a:xfrm>
          <a:prstGeom prst="rect">
            <a:avLst/>
          </a:prstGeom>
          <a:noFill/>
        </p:spPr>
        <p:txBody>
          <a:bodyPr wrap="square" anchor="ctr" lIns="38100" rIns="38100" tIns="25400" bIns="25400">
            <a:spAutoFit/>
          </a:bodyPr>
          <a:lstStyle/>
          <a:p>
            <a:pPr algn="l">
              <a:lnSpc>
                <a:spcPct val="106000"/>
              </a:lnSpc>
              <a:spcBef>
                <a:spcPts val="0"/>
              </a:spcBef>
              <a:spcAft>
                <a:spcPts val="200"/>
              </a:spcAft>
            </a:pPr>
            <a:r>
              <a:rPr sz="1250" b="0" i="0">
                <a:solidFill>
                  <a:srgbClr val="20242E"/>
                </a:solidFill>
                <a:latin typeface="Inter"/>
              </a:rPr>
              <a:t>Nina ___ (tener) 16 años.</a:t>
            </a:r>
          </a:p>
        </p:txBody>
      </p:sp>
      <p:sp>
        <p:nvSpPr>
          <p:cNvPr id="17" name="TextBox 16"/>
          <p:cNvSpPr txBox="1"/>
          <p:nvPr/>
        </p:nvSpPr>
        <p:spPr>
          <a:xfrm>
            <a:off x="4572000" y="3163824"/>
            <a:ext cx="1325880" cy="640080"/>
          </a:xfrm>
          <a:prstGeom prst="rect">
            <a:avLst/>
          </a:prstGeom>
          <a:noFill/>
        </p:spPr>
        <p:txBody>
          <a:bodyPr wrap="square" anchor="ctr" lIns="38100" rIns="38100" tIns="25400" bIns="25400">
            <a:spAutoFit/>
          </a:bodyPr>
          <a:lstStyle/>
          <a:p>
            <a:pPr algn="l">
              <a:lnSpc>
                <a:spcPct val="106000"/>
              </a:lnSpc>
              <a:spcBef>
                <a:spcPts val="0"/>
              </a:spcBef>
              <a:spcAft>
                <a:spcPts val="200"/>
              </a:spcAft>
            </a:pPr>
            <a:r>
              <a:rPr sz="1400" b="1" i="0">
                <a:solidFill>
                  <a:srgbClr val="5B3E83"/>
                </a:solidFill>
                <a:latin typeface="Inter"/>
              </a:rPr>
              <a:t>→ tiene</a:t>
            </a:r>
          </a:p>
        </p:txBody>
      </p:sp>
      <p:sp>
        <p:nvSpPr>
          <p:cNvPr id="18" name="Rounded Rectangle 17"/>
          <p:cNvSpPr/>
          <p:nvPr/>
        </p:nvSpPr>
        <p:spPr>
          <a:xfrm>
            <a:off x="6172200" y="1554480"/>
            <a:ext cx="5532120" cy="640080"/>
          </a:xfrm>
          <a:prstGeom prst="roundRect">
            <a:avLst>
              <a:gd name="adj" fmla="val 5500"/>
            </a:avLst>
          </a:prstGeom>
          <a:solidFill>
            <a:srgbClr val="FFFFFF"/>
          </a:solidFill>
          <a:ln w="12700">
            <a:solidFill>
              <a:srgbClr val="E4E3D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309360" y="1554480"/>
            <a:ext cx="3931920" cy="640080"/>
          </a:xfrm>
          <a:prstGeom prst="rect">
            <a:avLst/>
          </a:prstGeom>
          <a:noFill/>
        </p:spPr>
        <p:txBody>
          <a:bodyPr wrap="square" anchor="ctr" lIns="38100" rIns="38100" tIns="25400" bIns="25400">
            <a:spAutoFit/>
          </a:bodyPr>
          <a:lstStyle/>
          <a:p>
            <a:pPr algn="l">
              <a:lnSpc>
                <a:spcPct val="106000"/>
              </a:lnSpc>
              <a:spcBef>
                <a:spcPts val="0"/>
              </a:spcBef>
              <a:spcAft>
                <a:spcPts val="200"/>
              </a:spcAft>
            </a:pPr>
            <a:r>
              <a:rPr sz="1250" b="0" i="0">
                <a:solidFill>
                  <a:srgbClr val="20242E"/>
                </a:solidFill>
                <a:latin typeface="Inter"/>
              </a:rPr>
              <a:t>Nosotros ___ (hablar) español.</a:t>
            </a:r>
          </a:p>
        </p:txBody>
      </p:sp>
      <p:sp>
        <p:nvSpPr>
          <p:cNvPr id="20" name="TextBox 19"/>
          <p:cNvSpPr txBox="1"/>
          <p:nvPr/>
        </p:nvSpPr>
        <p:spPr>
          <a:xfrm>
            <a:off x="10287000" y="1554480"/>
            <a:ext cx="1325880" cy="640080"/>
          </a:xfrm>
          <a:prstGeom prst="rect">
            <a:avLst/>
          </a:prstGeom>
          <a:noFill/>
        </p:spPr>
        <p:txBody>
          <a:bodyPr wrap="square" anchor="ctr" lIns="38100" rIns="38100" tIns="25400" bIns="25400">
            <a:spAutoFit/>
          </a:bodyPr>
          <a:lstStyle/>
          <a:p>
            <a:pPr algn="l">
              <a:lnSpc>
                <a:spcPct val="106000"/>
              </a:lnSpc>
              <a:spcBef>
                <a:spcPts val="0"/>
              </a:spcBef>
              <a:spcAft>
                <a:spcPts val="200"/>
              </a:spcAft>
            </a:pPr>
            <a:r>
              <a:rPr sz="1400" b="1" i="0">
                <a:solidFill>
                  <a:srgbClr val="5B3E83"/>
                </a:solidFill>
                <a:latin typeface="Inter"/>
              </a:rPr>
              <a:t>→ hablamos</a:t>
            </a:r>
          </a:p>
        </p:txBody>
      </p:sp>
      <p:sp>
        <p:nvSpPr>
          <p:cNvPr id="21" name="Rounded Rectangle 20"/>
          <p:cNvSpPr/>
          <p:nvPr/>
        </p:nvSpPr>
        <p:spPr>
          <a:xfrm>
            <a:off x="6172200" y="2359152"/>
            <a:ext cx="5532120" cy="640080"/>
          </a:xfrm>
          <a:prstGeom prst="roundRect">
            <a:avLst>
              <a:gd name="adj" fmla="val 5500"/>
            </a:avLst>
          </a:prstGeom>
          <a:solidFill>
            <a:srgbClr val="FFFFFF"/>
          </a:solidFill>
          <a:ln w="12700">
            <a:solidFill>
              <a:srgbClr val="E4E3D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09360" y="2359152"/>
            <a:ext cx="3931920" cy="640080"/>
          </a:xfrm>
          <a:prstGeom prst="rect">
            <a:avLst/>
          </a:prstGeom>
          <a:noFill/>
        </p:spPr>
        <p:txBody>
          <a:bodyPr wrap="square" anchor="ctr" lIns="38100" rIns="38100" tIns="25400" bIns="25400">
            <a:spAutoFit/>
          </a:bodyPr>
          <a:lstStyle/>
          <a:p>
            <a:pPr algn="l">
              <a:lnSpc>
                <a:spcPct val="106000"/>
              </a:lnSpc>
              <a:spcBef>
                <a:spcPts val="0"/>
              </a:spcBef>
              <a:spcAft>
                <a:spcPts val="200"/>
              </a:spcAft>
            </a:pPr>
            <a:r>
              <a:rPr sz="1250" b="0" i="0">
                <a:solidFill>
                  <a:srgbClr val="20242E"/>
                </a:solidFill>
                <a:latin typeface="Inter"/>
              </a:rPr>
              <a:t>Diego ___ (ir) al mercado.</a:t>
            </a:r>
          </a:p>
        </p:txBody>
      </p:sp>
      <p:sp>
        <p:nvSpPr>
          <p:cNvPr id="23" name="TextBox 22"/>
          <p:cNvSpPr txBox="1"/>
          <p:nvPr/>
        </p:nvSpPr>
        <p:spPr>
          <a:xfrm>
            <a:off x="10287000" y="2359152"/>
            <a:ext cx="1325880" cy="640080"/>
          </a:xfrm>
          <a:prstGeom prst="rect">
            <a:avLst/>
          </a:prstGeom>
          <a:noFill/>
        </p:spPr>
        <p:txBody>
          <a:bodyPr wrap="square" anchor="ctr" lIns="38100" rIns="38100" tIns="25400" bIns="25400">
            <a:spAutoFit/>
          </a:bodyPr>
          <a:lstStyle/>
          <a:p>
            <a:pPr algn="l">
              <a:lnSpc>
                <a:spcPct val="106000"/>
              </a:lnSpc>
              <a:spcBef>
                <a:spcPts val="0"/>
              </a:spcBef>
              <a:spcAft>
                <a:spcPts val="200"/>
              </a:spcAft>
            </a:pPr>
            <a:r>
              <a:rPr sz="1400" b="1" i="0">
                <a:solidFill>
                  <a:srgbClr val="5B3E83"/>
                </a:solidFill>
                <a:latin typeface="Inter"/>
              </a:rPr>
              <a:t>→ va</a:t>
            </a:r>
          </a:p>
        </p:txBody>
      </p:sp>
      <p:sp>
        <p:nvSpPr>
          <p:cNvPr id="24" name="Rounded Rectangle 23"/>
          <p:cNvSpPr/>
          <p:nvPr/>
        </p:nvSpPr>
        <p:spPr>
          <a:xfrm>
            <a:off x="6172200" y="3163824"/>
            <a:ext cx="5532120" cy="640080"/>
          </a:xfrm>
          <a:prstGeom prst="roundRect">
            <a:avLst>
              <a:gd name="adj" fmla="val 5500"/>
            </a:avLst>
          </a:prstGeom>
          <a:solidFill>
            <a:srgbClr val="FFFFFF"/>
          </a:solidFill>
          <a:ln w="12700">
            <a:solidFill>
              <a:srgbClr val="E4E3D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309360" y="3163824"/>
            <a:ext cx="3931920" cy="640080"/>
          </a:xfrm>
          <a:prstGeom prst="rect">
            <a:avLst/>
          </a:prstGeom>
          <a:noFill/>
        </p:spPr>
        <p:txBody>
          <a:bodyPr wrap="square" anchor="ctr" lIns="38100" rIns="38100" tIns="25400" bIns="25400">
            <a:spAutoFit/>
          </a:bodyPr>
          <a:lstStyle/>
          <a:p>
            <a:pPr algn="l">
              <a:lnSpc>
                <a:spcPct val="106000"/>
              </a:lnSpc>
              <a:spcBef>
                <a:spcPts val="0"/>
              </a:spcBef>
              <a:spcAft>
                <a:spcPts val="200"/>
              </a:spcAft>
            </a:pPr>
            <a:r>
              <a:rPr sz="1250" b="0" i="0">
                <a:solidFill>
                  <a:srgbClr val="20242E"/>
                </a:solidFill>
                <a:latin typeface="Inter"/>
              </a:rPr>
              <a:t>Ellos ___ (venir) de México.</a:t>
            </a:r>
          </a:p>
        </p:txBody>
      </p:sp>
      <p:sp>
        <p:nvSpPr>
          <p:cNvPr id="26" name="TextBox 25"/>
          <p:cNvSpPr txBox="1"/>
          <p:nvPr/>
        </p:nvSpPr>
        <p:spPr>
          <a:xfrm>
            <a:off x="10287000" y="3163824"/>
            <a:ext cx="1325880" cy="640080"/>
          </a:xfrm>
          <a:prstGeom prst="rect">
            <a:avLst/>
          </a:prstGeom>
          <a:noFill/>
        </p:spPr>
        <p:txBody>
          <a:bodyPr wrap="square" anchor="ctr" lIns="38100" rIns="38100" tIns="25400" bIns="25400">
            <a:spAutoFit/>
          </a:bodyPr>
          <a:lstStyle/>
          <a:p>
            <a:pPr algn="l">
              <a:lnSpc>
                <a:spcPct val="106000"/>
              </a:lnSpc>
              <a:spcBef>
                <a:spcPts val="0"/>
              </a:spcBef>
              <a:spcAft>
                <a:spcPts val="200"/>
              </a:spcAft>
            </a:pPr>
            <a:r>
              <a:rPr sz="1400" b="1" i="0">
                <a:solidFill>
                  <a:srgbClr val="5B3E83"/>
                </a:solidFill>
                <a:latin typeface="Inter"/>
              </a:rPr>
              <a:t>→ vienen</a:t>
            </a:r>
          </a:p>
        </p:txBody>
      </p:sp>
      <p:sp>
        <p:nvSpPr>
          <p:cNvPr id="27" name="Rounded Rectangle 26"/>
          <p:cNvSpPr/>
          <p:nvPr/>
        </p:nvSpPr>
        <p:spPr>
          <a:xfrm>
            <a:off x="457200" y="6053328"/>
            <a:ext cx="2093976" cy="365760"/>
          </a:xfrm>
          <a:prstGeom prst="roundRect">
            <a:avLst>
              <a:gd name="adj" fmla="val 50000"/>
            </a:avLst>
          </a:prstGeom>
          <a:solidFill>
            <a:srgbClr val="7C56A9"/>
          </a:solidFill>
          <a:ln w="12700">
            <a:solidFill>
              <a:srgbClr val="E4E3DE"/>
            </a:solidFill>
          </a:ln>
          <a:effectLst/>
        </p:spPr>
        <p:style>
          <a:lnRef idx="1">
            <a:schemeClr val="accent1"/>
          </a:lnRef>
          <a:fillRef idx="3">
            <a:schemeClr val="accent1"/>
          </a:fillRef>
          <a:effectRef idx="2">
            <a:schemeClr val="accent1"/>
          </a:effectRef>
          <a:fontRef idx="minor">
            <a:schemeClr val="lt1"/>
          </a:fontRef>
        </p:style>
        <p:txBody>
          <a:bodyPr rtlCol="0" anchor="ctr" tIns="12700" bIns="12700"/>
          <a:lstStyle/>
          <a:p>
            <a:pPr algn="ctr"/>
            <a:r>
              <a:rPr sz="1050" b="1">
                <a:solidFill>
                  <a:srgbClr val="FFFFFF"/>
                </a:solidFill>
                <a:latin typeface="Inter"/>
              </a:rPr>
              <a:t>▶  Mostrar solución</a:t>
            </a:r>
          </a:p>
        </p:txBody>
      </p:sp>
      <p:sp>
        <p:nvSpPr>
          <p:cNvPr id="28" name="Rounded Rectangle 27"/>
          <p:cNvSpPr/>
          <p:nvPr/>
        </p:nvSpPr>
        <p:spPr>
          <a:xfrm>
            <a:off x="2697480" y="6053328"/>
            <a:ext cx="1088136" cy="365760"/>
          </a:xfrm>
          <a:prstGeom prst="roundRect">
            <a:avLst>
              <a:gd name="adj" fmla="val 50000"/>
            </a:avLst>
          </a:prstGeom>
          <a:solidFill>
            <a:srgbClr val="FFFFFF"/>
          </a:solidFill>
          <a:ln w="12700">
            <a:solidFill>
              <a:srgbClr val="E4E3DE"/>
            </a:solidFill>
          </a:ln>
          <a:effectLst/>
        </p:spPr>
        <p:style>
          <a:lnRef idx="1">
            <a:schemeClr val="accent1"/>
          </a:lnRef>
          <a:fillRef idx="3">
            <a:schemeClr val="accent1"/>
          </a:fillRef>
          <a:effectRef idx="2">
            <a:schemeClr val="accent1"/>
          </a:effectRef>
          <a:fontRef idx="minor">
            <a:schemeClr val="lt1"/>
          </a:fontRef>
        </p:style>
        <p:txBody>
          <a:bodyPr rtlCol="0" anchor="ctr" tIns="12700" bIns="12700"/>
          <a:lstStyle/>
          <a:p>
            <a:pPr algn="ctr"/>
            <a:r>
              <a:rPr sz="1050" b="1">
                <a:solidFill>
                  <a:srgbClr val="5B3E83"/>
                </a:solidFill>
                <a:latin typeface="Inter"/>
              </a:rPr>
              <a:t>⏭  Saltar</a:t>
            </a:r>
          </a:p>
        </p:txBody>
      </p:sp>
      <p:sp>
        <p:nvSpPr>
          <p:cNvPr id="29" name="Rounded Rectangle 28">
            <a:hlinkClick action="ppaction://hlinksldjump" r:id="rId3"/>
          </p:cNvPr>
          <p:cNvSpPr/>
          <p:nvPr/>
        </p:nvSpPr>
        <p:spPr>
          <a:xfrm>
            <a:off x="3931920" y="6053328"/>
            <a:ext cx="1691639" cy="365760"/>
          </a:xfrm>
          <a:prstGeom prst="roundRect">
            <a:avLst>
              <a:gd name="adj" fmla="val 50000"/>
            </a:avLst>
          </a:prstGeom>
          <a:solidFill>
            <a:srgbClr val="FFFFFF"/>
          </a:solidFill>
          <a:ln w="12700">
            <a:solidFill>
              <a:srgbClr val="E4E3DE"/>
            </a:solidFill>
          </a:ln>
          <a:effectLst/>
        </p:spPr>
        <p:style>
          <a:lnRef idx="1">
            <a:schemeClr val="accent1"/>
          </a:lnRef>
          <a:fillRef idx="3">
            <a:schemeClr val="accent1"/>
          </a:fillRef>
          <a:effectRef idx="2">
            <a:schemeClr val="accent1"/>
          </a:effectRef>
          <a:fontRef idx="minor">
            <a:schemeClr val="lt1"/>
          </a:fontRef>
        </p:style>
        <p:txBody>
          <a:bodyPr rtlCol="0" anchor="ctr" tIns="12700" bIns="12700"/>
          <a:lstStyle/>
          <a:p>
            <a:pPr algn="ctr"/>
            <a:r>
              <a:rPr sz="1050" b="1">
                <a:solidFill>
                  <a:srgbClr val="5B3E83"/>
                </a:solidFill>
                <a:latin typeface="Inter"/>
              </a:rPr>
              <a:t>⌂  Menú (dia 2)</a:t>
            </a:r>
          </a:p>
        </p:txBody>
      </p:sp>
      <p:sp>
        <p:nvSpPr>
          <p:cNvPr id="30" name="TextBox 29"/>
          <p:cNvSpPr txBox="1"/>
          <p:nvPr/>
        </p:nvSpPr>
        <p:spPr>
          <a:xfrm>
            <a:off x="8321040" y="6053328"/>
            <a:ext cx="3383280" cy="365760"/>
          </a:xfrm>
          <a:prstGeom prst="rect">
            <a:avLst/>
          </a:prstGeom>
          <a:noFill/>
        </p:spPr>
        <p:txBody>
          <a:bodyPr wrap="square" anchor="ctr" lIns="38100" rIns="38100" tIns="25400" bIns="25400">
            <a:spAutoFit/>
          </a:bodyPr>
          <a:lstStyle/>
          <a:p>
            <a:pPr algn="r">
              <a:lnSpc>
                <a:spcPct val="106000"/>
              </a:lnSpc>
              <a:spcBef>
                <a:spcPts val="0"/>
              </a:spcBef>
              <a:spcAft>
                <a:spcPts val="200"/>
              </a:spcAft>
            </a:pPr>
            <a:r>
              <a:rPr sz="850" b="0" i="1">
                <a:solidFill>
                  <a:srgbClr val="6A6E78"/>
                </a:solidFill>
                <a:latin typeface="Inter"/>
              </a:rPr>
              <a:t>Noodroute (§5): werkt zonder audio/internet</a:t>
            </a:r>
          </a:p>
        </p:txBody>
      </p:sp>
      <p:sp>
        <p:nvSpPr>
          <p:cNvPr id="31" name="Rounded Rectangle 30"/>
          <p:cNvSpPr/>
          <p:nvPr/>
        </p:nvSpPr>
        <p:spPr>
          <a:xfrm>
            <a:off x="457200" y="4480560"/>
            <a:ext cx="11247120" cy="868680"/>
          </a:xfrm>
          <a:prstGeom prst="roundRect">
            <a:avLst>
              <a:gd name="adj" fmla="val 6000"/>
            </a:avLst>
          </a:prstGeom>
          <a:solidFill>
            <a:srgbClr val="EEE8F5"/>
          </a:solidFill>
          <a:ln w="19050">
            <a:solidFill>
              <a:srgbClr val="7C56A9"/>
            </a:solidFill>
          </a:ln>
          <a:effectLst/>
        </p:spPr>
        <p:style>
          <a:lnRef idx="1">
            <a:schemeClr val="accent1"/>
          </a:lnRef>
          <a:fillRef idx="3">
            <a:schemeClr val="accent1"/>
          </a:fillRef>
          <a:effectRef idx="2">
            <a:schemeClr val="accent1"/>
          </a:effectRef>
          <a:fontRef idx="minor">
            <a:schemeClr val="lt1"/>
          </a:fontRef>
        </p:style>
        <p:txBody>
          <a:bodyPr rtlCol="0" anchor="ctr" wrap="square" lIns="127000" rIns="127000" tIns="139700" bIns="76200"/>
          <a:lstStyle/>
          <a:p>
            <a:pPr algn="ctr">
              <a:lnSpc>
                <a:spcPct val="102000"/>
              </a:lnSpc>
              <a:spcBef>
                <a:spcPts val="0"/>
              </a:spcBef>
              <a:spcAft>
                <a:spcPts val="300"/>
              </a:spcAft>
            </a:pPr>
            <a:r>
              <a:rPr sz="1200" b="1" i="0">
                <a:solidFill>
                  <a:srgbClr val="7C56A9"/>
                </a:solidFill>
                <a:latin typeface="Inter"/>
              </a:rPr>
              <a:t>yo → -o (hablo, vivo) · soy/estoy/tengo/voy/vengo/hago/doy. </a:t>
            </a:r>
            <a:r>
              <a:rPr sz="1200" b="0" i="0">
                <a:solidFill>
                  <a:srgbClr val="5B3E83"/>
                </a:solidFill>
                <a:latin typeface="Inter"/>
              </a:rPr>
              <a:t>tú → -s · él/ella → -a/-e · nosotros → -mos · ellos → -n.</a:t>
            </a:r>
          </a:p>
        </p:txBody>
      </p:sp>
      <p:sp>
        <p:nvSpPr>
          <p:cNvPr id="32" name="Rounded Rectangle 31"/>
          <p:cNvSpPr/>
          <p:nvPr/>
        </p:nvSpPr>
        <p:spPr>
          <a:xfrm>
            <a:off x="594360" y="4352544"/>
            <a:ext cx="1548993" cy="292608"/>
          </a:xfrm>
          <a:prstGeom prst="roundRect">
            <a:avLst>
              <a:gd name="adj" fmla="val 50000"/>
            </a:avLst>
          </a:prstGeom>
          <a:solidFill>
            <a:srgbClr val="7C56A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88900" rIns="88900" tIns="12700" bIns="12700"/>
          <a:lstStyle/>
          <a:p>
            <a:pPr algn="ctr"/>
            <a:r>
              <a:rPr sz="950" b="1">
                <a:solidFill>
                  <a:srgbClr val="FFFFFF"/>
                </a:solidFill>
                <a:latin typeface="Inter"/>
              </a:rPr>
              <a:t>SOLUCIÓN · docent</a:t>
            </a:r>
          </a:p>
        </p:txBody>
      </p:sp>
      <p:sp>
        <p:nvSpPr>
          <p:cNvPr id="33" name="Rectangle 32"/>
          <p:cNvSpPr/>
          <p:nvPr/>
        </p:nvSpPr>
        <p:spPr>
          <a:xfrm>
            <a:off x="0" y="6547104"/>
            <a:ext cx="12191695" cy="310896"/>
          </a:xfrm>
          <a:prstGeom prst="rect">
            <a:avLst/>
          </a:prstGeom>
          <a:solidFill>
            <a:srgbClr val="F3EE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411480" y="6565392"/>
            <a:ext cx="5486400" cy="274320"/>
          </a:xfrm>
          <a:prstGeom prst="rect">
            <a:avLst/>
          </a:prstGeom>
          <a:noFill/>
        </p:spPr>
        <p:txBody>
          <a:bodyPr wrap="square" anchor="ctr" lIns="38100" rIns="38100" tIns="25400" bIns="25400">
            <a:spAutoFit/>
          </a:bodyPr>
          <a:lstStyle/>
          <a:p>
            <a:pPr algn="l">
              <a:lnSpc>
                <a:spcPct val="106000"/>
              </a:lnSpc>
              <a:spcBef>
                <a:spcPts val="0"/>
              </a:spcBef>
              <a:spcAft>
                <a:spcPts val="200"/>
              </a:spcAft>
            </a:pPr>
            <a:r>
              <a:rPr sz="1100" b="1" i="0">
                <a:solidFill>
                  <a:srgbClr val="7C56A9"/>
                </a:solidFill>
                <a:latin typeface="Inter"/>
              </a:rPr>
              <a:t>● </a:t>
            </a:r>
            <a:r>
              <a:rPr sz="950" b="0" i="0">
                <a:solidFill>
                  <a:srgbClr val="6A6E78"/>
                </a:solidFill>
                <a:latin typeface="Inter"/>
              </a:rPr>
              <a:t>U0 · ¡VOLVEMOS!   ·   C6+ · el reencuentro</a:t>
            </a:r>
          </a:p>
        </p:txBody>
      </p:sp>
      <p:sp>
        <p:nvSpPr>
          <p:cNvPr id="35" name="TextBox 34"/>
          <p:cNvSpPr txBox="1"/>
          <p:nvPr/>
        </p:nvSpPr>
        <p:spPr>
          <a:xfrm>
            <a:off x="8686800" y="6565392"/>
            <a:ext cx="3063240" cy="274320"/>
          </a:xfrm>
          <a:prstGeom prst="rect">
            <a:avLst/>
          </a:prstGeom>
          <a:noFill/>
        </p:spPr>
        <p:txBody>
          <a:bodyPr wrap="square" anchor="ctr" lIns="38100" rIns="38100" tIns="25400" bIns="25400">
            <a:spAutoFit/>
          </a:bodyPr>
          <a:lstStyle/>
          <a:p>
            <a:pPr algn="r">
              <a:lnSpc>
                <a:spcPct val="106000"/>
              </a:lnSpc>
              <a:spcBef>
                <a:spcPts val="0"/>
              </a:spcBef>
              <a:spcAft>
                <a:spcPts val="200"/>
              </a:spcAft>
            </a:pPr>
            <a:r>
              <a:rPr sz="900" b="0" i="1">
                <a:solidFill>
                  <a:srgbClr val="6A6E78"/>
                </a:solidFill>
                <a:latin typeface="Inter"/>
              </a:rPr>
              <a:t>Docentenversie — met oplossingen</a:t>
            </a:r>
          </a:p>
        </p:txBody>
      </p:sp>
      <p:sp>
        <p:nvSpPr>
          <p:cNvPr id="36" name="TextBox 35"/>
          <p:cNvSpPr txBox="1"/>
          <p:nvPr/>
        </p:nvSpPr>
        <p:spPr>
          <a:xfrm>
            <a:off x="11475720" y="6565392"/>
            <a:ext cx="457200" cy="274320"/>
          </a:xfrm>
          <a:prstGeom prst="rect">
            <a:avLst/>
          </a:prstGeom>
          <a:noFill/>
        </p:spPr>
        <p:txBody>
          <a:bodyPr wrap="square" anchor="ctr" lIns="38100" rIns="38100" tIns="25400" bIns="25400">
            <a:spAutoFit/>
          </a:bodyPr>
          <a:lstStyle/>
          <a:p>
            <a:pPr algn="r">
              <a:lnSpc>
                <a:spcPct val="106000"/>
              </a:lnSpc>
              <a:spcBef>
                <a:spcPts val="0"/>
              </a:spcBef>
              <a:spcAft>
                <a:spcPts val="200"/>
              </a:spcAft>
            </a:pPr>
            <a:r>
              <a:rPr sz="950" b="1" i="0">
                <a:solidFill>
                  <a:srgbClr val="5B3E83"/>
                </a:solidFill>
                <a:latin typeface="Inter"/>
              </a:rPr>
              <a:t>5</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500"/>
                                        <p:tgtEl>
                                          <p:spTgt spid="11"/>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4"/>
                                        </p:tgtEl>
                                        <p:attrNameLst>
                                          <p:attrName>style.visibility</p:attrName>
                                        </p:attrNameLst>
                                      </p:cBhvr>
                                      <p:to>
                                        <p:strVal val="visible"/>
                                      </p:to>
                                    </p:set>
                                    <p:animEffect transition="in" filter="fade">
                                      <p:cBhvr>
                                        <p:cTn id="12" dur="500"/>
                                        <p:tgtEl>
                                          <p:spTgt spid="1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17"/>
                                        </p:tgtEl>
                                        <p:attrNameLst>
                                          <p:attrName>style.visibility</p:attrName>
                                        </p:attrNameLst>
                                      </p:cBhvr>
                                      <p:to>
                                        <p:strVal val="visible"/>
                                      </p:to>
                                    </p:set>
                                    <p:animEffect transition="in" filter="fade">
                                      <p:cBhvr>
                                        <p:cTn id="17" dur="500"/>
                                        <p:tgtEl>
                                          <p:spTgt spid="17"/>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20"/>
                                        </p:tgtEl>
                                        <p:attrNameLst>
                                          <p:attrName>style.visibility</p:attrName>
                                        </p:attrNameLst>
                                      </p:cBhvr>
                                      <p:to>
                                        <p:strVal val="visible"/>
                                      </p:to>
                                    </p:set>
                                    <p:animEffect transition="in" filter="fade">
                                      <p:cBhvr>
                                        <p:cTn id="22" dur="500"/>
                                        <p:tgtEl>
                                          <p:spTgt spid="20"/>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23"/>
                                        </p:tgtEl>
                                        <p:attrNameLst>
                                          <p:attrName>style.visibility</p:attrName>
                                        </p:attrNameLst>
                                      </p:cBhvr>
                                      <p:to>
                                        <p:strVal val="visible"/>
                                      </p:to>
                                    </p:set>
                                    <p:animEffect transition="in" filter="fade">
                                      <p:cBhvr>
                                        <p:cTn id="27" dur="500"/>
                                        <p:tgtEl>
                                          <p:spTgt spid="23"/>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26"/>
                                        </p:tgtEl>
                                        <p:attrNameLst>
                                          <p:attrName>style.visibility</p:attrName>
                                        </p:attrNameLst>
                                      </p:cBhvr>
                                      <p:to>
                                        <p:strVal val="visible"/>
                                      </p:to>
                                    </p:set>
                                    <p:animEffect transition="in" filter="fade">
                                      <p:cBhvr>
                                        <p:cTn id="32" dur="500"/>
                                        <p:tgtEl>
                                          <p:spTgt spid="26"/>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grpId="0" nodeType="clickEffect">
                                  <p:stCondLst>
                                    <p:cond delay="0"/>
                                  </p:stCondLst>
                                  <p:childTnLst>
                                    <p:set>
                                      <p:cBhvr>
                                        <p:cTn id="36" dur="1" fill="hold">
                                          <p:stCondLst>
                                            <p:cond delay="0"/>
                                          </p:stCondLst>
                                        </p:cTn>
                                        <p:tgtEl>
                                          <p:spTgt spid="31"/>
                                        </p:tgtEl>
                                        <p:attrNameLst>
                                          <p:attrName>style.visibility</p:attrName>
                                        </p:attrNameLst>
                                      </p:cBhvr>
                                      <p:to>
                                        <p:strVal val="visible"/>
                                      </p:to>
                                    </p:set>
                                    <p:animEffect transition="in" filter="fade">
                                      <p:cBhvr>
                                        <p:cTn id="37" dur="500"/>
                                        <p:tgtEl>
                                          <p:spTgt spid="31"/>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grpId="0" nodeType="clickEffect">
                                  <p:stCondLst>
                                    <p:cond delay="0"/>
                                  </p:stCondLst>
                                  <p:childTnLst>
                                    <p:set>
                                      <p:cBhvr>
                                        <p:cTn id="41" dur="1" fill="hold">
                                          <p:stCondLst>
                                            <p:cond delay="0"/>
                                          </p:stCondLst>
                                        </p:cTn>
                                        <p:tgtEl>
                                          <p:spTgt spid="32"/>
                                        </p:tgtEl>
                                        <p:attrNameLst>
                                          <p:attrName>style.visibility</p:attrName>
                                        </p:attrNameLst>
                                      </p:cBhvr>
                                      <p:to>
                                        <p:strVal val="visible"/>
                                      </p:to>
                                    </p:set>
                                    <p:animEffect transition="in" filter="fade">
                                      <p:cBhvr>
                                        <p:cTn id="42" dur="500"/>
                                        <p:tgtEl>
                                          <p:spTgt spid="3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C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78992"/>
          </a:xfrm>
          <a:prstGeom prst="rect">
            <a:avLst/>
          </a:prstGeom>
          <a:solidFill>
            <a:srgbClr val="7C56A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78992"/>
            <a:ext cx="12191695" cy="54864"/>
          </a:xfrm>
          <a:prstGeom prst="rect">
            <a:avLst/>
          </a:prstGeom>
          <a:solidFill>
            <a:srgbClr val="5B3E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02920" y="182880"/>
            <a:ext cx="1296619" cy="292608"/>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88900" rIns="88900" tIns="12700" bIns="12700"/>
          <a:lstStyle/>
          <a:p>
            <a:pPr algn="ctr"/>
            <a:r>
              <a:rPr sz="1100" b="1">
                <a:solidFill>
                  <a:srgbClr val="7C56A9"/>
                </a:solidFill>
                <a:latin typeface="Inter"/>
              </a:rPr>
              <a:t>§2 · GRAMÁTICA</a:t>
            </a:r>
          </a:p>
        </p:txBody>
      </p:sp>
      <p:sp>
        <p:nvSpPr>
          <p:cNvPr id="6" name="TextBox 5"/>
          <p:cNvSpPr txBox="1"/>
          <p:nvPr/>
        </p:nvSpPr>
        <p:spPr>
          <a:xfrm>
            <a:off x="10424160" y="-137160"/>
            <a:ext cx="1737360" cy="1371600"/>
          </a:xfrm>
          <a:prstGeom prst="rect">
            <a:avLst/>
          </a:prstGeom>
          <a:noFill/>
        </p:spPr>
        <p:txBody>
          <a:bodyPr wrap="square" anchor="t" lIns="38100" rIns="38100" tIns="25400" bIns="25400">
            <a:spAutoFit/>
          </a:bodyPr>
          <a:lstStyle/>
          <a:p>
            <a:pPr algn="r">
              <a:lnSpc>
                <a:spcPct val="106000"/>
              </a:lnSpc>
              <a:spcBef>
                <a:spcPts val="0"/>
              </a:spcBef>
              <a:spcAft>
                <a:spcPts val="200"/>
              </a:spcAft>
            </a:pPr>
            <a:r>
              <a:rPr sz="8800" b="1" i="0">
                <a:solidFill>
                  <a:srgbClr val="FFFFFF"/>
                </a:solidFill>
                <a:latin typeface="Bricolage Grotesque"/>
              </a:rPr>
              <a:t>2</a:t>
            </a:r>
          </a:p>
        </p:txBody>
      </p:sp>
      <p:sp>
        <p:nvSpPr>
          <p:cNvPr id="7" name="TextBox 6"/>
          <p:cNvSpPr txBox="1"/>
          <p:nvPr/>
        </p:nvSpPr>
        <p:spPr>
          <a:xfrm>
            <a:off x="457200" y="457200"/>
            <a:ext cx="9692640" cy="502920"/>
          </a:xfrm>
          <a:prstGeom prst="rect">
            <a:avLst/>
          </a:prstGeom>
          <a:noFill/>
        </p:spPr>
        <p:txBody>
          <a:bodyPr wrap="square" anchor="ctr" lIns="38100" rIns="38100" tIns="25400" bIns="25400">
            <a:spAutoFit/>
          </a:bodyPr>
          <a:lstStyle/>
          <a:p>
            <a:pPr algn="l">
              <a:lnSpc>
                <a:spcPct val="106000"/>
              </a:lnSpc>
              <a:spcBef>
                <a:spcPts val="0"/>
              </a:spcBef>
              <a:spcAft>
                <a:spcPts val="200"/>
              </a:spcAft>
            </a:pPr>
            <a:r>
              <a:rPr sz="2700" b="1" i="0">
                <a:solidFill>
                  <a:srgbClr val="FFFFFF"/>
                </a:solidFill>
                <a:latin typeface="Bricolage Grotesque"/>
              </a:rPr>
              <a:t>El verbo «ser» + ¡ojo! soy / estoy</a:t>
            </a:r>
          </a:p>
        </p:txBody>
      </p:sp>
      <p:sp>
        <p:nvSpPr>
          <p:cNvPr id="8" name="TextBox 7"/>
          <p:cNvSpPr txBox="1"/>
          <p:nvPr/>
        </p:nvSpPr>
        <p:spPr>
          <a:xfrm>
            <a:off x="502920" y="932688"/>
            <a:ext cx="9692640" cy="274320"/>
          </a:xfrm>
          <a:prstGeom prst="rect">
            <a:avLst/>
          </a:prstGeom>
          <a:noFill/>
        </p:spPr>
        <p:txBody>
          <a:bodyPr wrap="square" anchor="t" lIns="38100" rIns="38100" tIns="25400" bIns="25400">
            <a:spAutoFit/>
          </a:bodyPr>
          <a:lstStyle/>
          <a:p>
            <a:pPr algn="l">
              <a:lnSpc>
                <a:spcPct val="106000"/>
              </a:lnSpc>
              <a:spcBef>
                <a:spcPts val="0"/>
              </a:spcBef>
              <a:spcAft>
                <a:spcPts val="200"/>
              </a:spcAft>
            </a:pPr>
            <a:r>
              <a:rPr sz="1250" b="0" i="1">
                <a:solidFill>
                  <a:srgbClr val="EEE8F5"/>
                </a:solidFill>
                <a:latin typeface="Inter"/>
              </a:rPr>
              <a:t>Klik een kaart → de vorm verschijnt. ser = wie/wat je bent.</a:t>
            </a:r>
          </a:p>
        </p:txBody>
      </p:sp>
      <p:sp>
        <p:nvSpPr>
          <p:cNvPr id="9" name="Rounded Rectangle 8"/>
          <p:cNvSpPr/>
          <p:nvPr/>
        </p:nvSpPr>
        <p:spPr>
          <a:xfrm>
            <a:off x="1463040" y="1737360"/>
            <a:ext cx="3108960" cy="914400"/>
          </a:xfrm>
          <a:prstGeom prst="roundRect">
            <a:avLst>
              <a:gd name="adj" fmla="val 5500"/>
            </a:avLst>
          </a:prstGeom>
          <a:solidFill>
            <a:srgbClr val="FFFFFF"/>
          </a:solidFill>
          <a:ln w="17780">
            <a:solidFill>
              <a:srgbClr val="7C56A9"/>
            </a:solidFill>
          </a:ln>
          <a:effectLst>
            <a:outerShdw blurRad="90000" dist="38000" dir="5400000" rotWithShape="0">
              <a:srgbClr val="20242E">
                <a:alpha val="2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463040" y="1828800"/>
            <a:ext cx="3108960" cy="292608"/>
          </a:xfrm>
          <a:prstGeom prst="rect">
            <a:avLst/>
          </a:prstGeom>
          <a:noFill/>
        </p:spPr>
        <p:txBody>
          <a:bodyPr wrap="square" anchor="t" lIns="38100" rIns="38100" tIns="25400" bIns="25400">
            <a:spAutoFit/>
          </a:bodyPr>
          <a:lstStyle/>
          <a:p>
            <a:pPr algn="ctr">
              <a:lnSpc>
                <a:spcPct val="106000"/>
              </a:lnSpc>
              <a:spcBef>
                <a:spcPts val="0"/>
              </a:spcBef>
              <a:spcAft>
                <a:spcPts val="200"/>
              </a:spcAft>
            </a:pPr>
            <a:r>
              <a:rPr sz="1200" b="0" i="0">
                <a:solidFill>
                  <a:srgbClr val="6A6E78"/>
                </a:solidFill>
                <a:latin typeface="Inter"/>
              </a:rPr>
              <a:t>yo</a:t>
            </a:r>
          </a:p>
        </p:txBody>
      </p:sp>
      <p:sp>
        <p:nvSpPr>
          <p:cNvPr id="11" name="TextBox 10"/>
          <p:cNvSpPr txBox="1"/>
          <p:nvPr/>
        </p:nvSpPr>
        <p:spPr>
          <a:xfrm>
            <a:off x="1463040" y="2139696"/>
            <a:ext cx="3108960" cy="457200"/>
          </a:xfrm>
          <a:prstGeom prst="rect">
            <a:avLst/>
          </a:prstGeom>
          <a:noFill/>
        </p:spPr>
        <p:txBody>
          <a:bodyPr wrap="square" anchor="t" lIns="38100" rIns="38100" tIns="25400" bIns="25400">
            <a:spAutoFit/>
          </a:bodyPr>
          <a:lstStyle/>
          <a:p>
            <a:pPr algn="ctr">
              <a:lnSpc>
                <a:spcPct val="106000"/>
              </a:lnSpc>
              <a:spcBef>
                <a:spcPts val="0"/>
              </a:spcBef>
              <a:spcAft>
                <a:spcPts val="200"/>
              </a:spcAft>
            </a:pPr>
            <a:r>
              <a:rPr sz="2200" b="1" i="0">
                <a:solidFill>
                  <a:srgbClr val="5B3E83"/>
                </a:solidFill>
                <a:latin typeface="Bricolage Grotesque"/>
              </a:rPr>
              <a:t>soy</a:t>
            </a:r>
          </a:p>
        </p:txBody>
      </p:sp>
      <p:sp>
        <p:nvSpPr>
          <p:cNvPr id="12" name="Rounded Rectangle 11"/>
          <p:cNvSpPr/>
          <p:nvPr/>
        </p:nvSpPr>
        <p:spPr>
          <a:xfrm>
            <a:off x="4846320" y="1737360"/>
            <a:ext cx="3108960" cy="914400"/>
          </a:xfrm>
          <a:prstGeom prst="roundRect">
            <a:avLst>
              <a:gd name="adj" fmla="val 5500"/>
            </a:avLst>
          </a:prstGeom>
          <a:solidFill>
            <a:srgbClr val="FFFFFF"/>
          </a:solidFill>
          <a:ln w="17780">
            <a:solidFill>
              <a:srgbClr val="7C56A9"/>
            </a:solidFill>
          </a:ln>
          <a:effectLst>
            <a:outerShdw blurRad="90000" dist="38000" dir="5400000" rotWithShape="0">
              <a:srgbClr val="20242E">
                <a:alpha val="2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846320" y="1828800"/>
            <a:ext cx="3108960" cy="292608"/>
          </a:xfrm>
          <a:prstGeom prst="rect">
            <a:avLst/>
          </a:prstGeom>
          <a:noFill/>
        </p:spPr>
        <p:txBody>
          <a:bodyPr wrap="square" anchor="t" lIns="38100" rIns="38100" tIns="25400" bIns="25400">
            <a:spAutoFit/>
          </a:bodyPr>
          <a:lstStyle/>
          <a:p>
            <a:pPr algn="ctr">
              <a:lnSpc>
                <a:spcPct val="106000"/>
              </a:lnSpc>
              <a:spcBef>
                <a:spcPts val="0"/>
              </a:spcBef>
              <a:spcAft>
                <a:spcPts val="200"/>
              </a:spcAft>
            </a:pPr>
            <a:r>
              <a:rPr sz="1200" b="0" i="0">
                <a:solidFill>
                  <a:srgbClr val="6A6E78"/>
                </a:solidFill>
                <a:latin typeface="Inter"/>
              </a:rPr>
              <a:t>tú</a:t>
            </a:r>
          </a:p>
        </p:txBody>
      </p:sp>
      <p:sp>
        <p:nvSpPr>
          <p:cNvPr id="14" name="TextBox 13"/>
          <p:cNvSpPr txBox="1"/>
          <p:nvPr/>
        </p:nvSpPr>
        <p:spPr>
          <a:xfrm>
            <a:off x="4846320" y="2139696"/>
            <a:ext cx="3108960" cy="457200"/>
          </a:xfrm>
          <a:prstGeom prst="rect">
            <a:avLst/>
          </a:prstGeom>
          <a:noFill/>
        </p:spPr>
        <p:txBody>
          <a:bodyPr wrap="square" anchor="t" lIns="38100" rIns="38100" tIns="25400" bIns="25400">
            <a:spAutoFit/>
          </a:bodyPr>
          <a:lstStyle/>
          <a:p>
            <a:pPr algn="ctr">
              <a:lnSpc>
                <a:spcPct val="106000"/>
              </a:lnSpc>
              <a:spcBef>
                <a:spcPts val="0"/>
              </a:spcBef>
              <a:spcAft>
                <a:spcPts val="200"/>
              </a:spcAft>
            </a:pPr>
            <a:r>
              <a:rPr sz="2200" b="1" i="0">
                <a:solidFill>
                  <a:srgbClr val="5B3E83"/>
                </a:solidFill>
                <a:latin typeface="Bricolage Grotesque"/>
              </a:rPr>
              <a:t>eres</a:t>
            </a:r>
          </a:p>
        </p:txBody>
      </p:sp>
      <p:sp>
        <p:nvSpPr>
          <p:cNvPr id="15" name="Rounded Rectangle 14"/>
          <p:cNvSpPr/>
          <p:nvPr/>
        </p:nvSpPr>
        <p:spPr>
          <a:xfrm>
            <a:off x="8229600" y="1737360"/>
            <a:ext cx="3108960" cy="914400"/>
          </a:xfrm>
          <a:prstGeom prst="roundRect">
            <a:avLst>
              <a:gd name="adj" fmla="val 5500"/>
            </a:avLst>
          </a:prstGeom>
          <a:solidFill>
            <a:srgbClr val="FFFFFF"/>
          </a:solidFill>
          <a:ln w="17780">
            <a:solidFill>
              <a:srgbClr val="7C56A9"/>
            </a:solidFill>
          </a:ln>
          <a:effectLst>
            <a:outerShdw blurRad="90000" dist="38000" dir="5400000" rotWithShape="0">
              <a:srgbClr val="20242E">
                <a:alpha val="2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29600" y="1828800"/>
            <a:ext cx="3108960" cy="292608"/>
          </a:xfrm>
          <a:prstGeom prst="rect">
            <a:avLst/>
          </a:prstGeom>
          <a:noFill/>
        </p:spPr>
        <p:txBody>
          <a:bodyPr wrap="square" anchor="t" lIns="38100" rIns="38100" tIns="25400" bIns="25400">
            <a:spAutoFit/>
          </a:bodyPr>
          <a:lstStyle/>
          <a:p>
            <a:pPr algn="ctr">
              <a:lnSpc>
                <a:spcPct val="106000"/>
              </a:lnSpc>
              <a:spcBef>
                <a:spcPts val="0"/>
              </a:spcBef>
              <a:spcAft>
                <a:spcPts val="200"/>
              </a:spcAft>
            </a:pPr>
            <a:r>
              <a:rPr sz="1200" b="0" i="0">
                <a:solidFill>
                  <a:srgbClr val="6A6E78"/>
                </a:solidFill>
                <a:latin typeface="Inter"/>
              </a:rPr>
              <a:t>él/ella</a:t>
            </a:r>
          </a:p>
        </p:txBody>
      </p:sp>
      <p:sp>
        <p:nvSpPr>
          <p:cNvPr id="17" name="TextBox 16"/>
          <p:cNvSpPr txBox="1"/>
          <p:nvPr/>
        </p:nvSpPr>
        <p:spPr>
          <a:xfrm>
            <a:off x="8229600" y="2139696"/>
            <a:ext cx="3108960" cy="457200"/>
          </a:xfrm>
          <a:prstGeom prst="rect">
            <a:avLst/>
          </a:prstGeom>
          <a:noFill/>
        </p:spPr>
        <p:txBody>
          <a:bodyPr wrap="square" anchor="t" lIns="38100" rIns="38100" tIns="25400" bIns="25400">
            <a:spAutoFit/>
          </a:bodyPr>
          <a:lstStyle/>
          <a:p>
            <a:pPr algn="ctr">
              <a:lnSpc>
                <a:spcPct val="106000"/>
              </a:lnSpc>
              <a:spcBef>
                <a:spcPts val="0"/>
              </a:spcBef>
              <a:spcAft>
                <a:spcPts val="200"/>
              </a:spcAft>
            </a:pPr>
            <a:r>
              <a:rPr sz="2200" b="1" i="0">
                <a:solidFill>
                  <a:srgbClr val="5B3E83"/>
                </a:solidFill>
                <a:latin typeface="Bricolage Grotesque"/>
              </a:rPr>
              <a:t>es</a:t>
            </a:r>
          </a:p>
        </p:txBody>
      </p:sp>
      <p:sp>
        <p:nvSpPr>
          <p:cNvPr id="18" name="Rounded Rectangle 17"/>
          <p:cNvSpPr/>
          <p:nvPr/>
        </p:nvSpPr>
        <p:spPr>
          <a:xfrm>
            <a:off x="1463040" y="2852928"/>
            <a:ext cx="3108960" cy="914400"/>
          </a:xfrm>
          <a:prstGeom prst="roundRect">
            <a:avLst>
              <a:gd name="adj" fmla="val 5500"/>
            </a:avLst>
          </a:prstGeom>
          <a:solidFill>
            <a:srgbClr val="FFFFFF"/>
          </a:solidFill>
          <a:ln w="17780">
            <a:solidFill>
              <a:srgbClr val="7C56A9"/>
            </a:solidFill>
          </a:ln>
          <a:effectLst>
            <a:outerShdw blurRad="90000" dist="38000" dir="5400000" rotWithShape="0">
              <a:srgbClr val="20242E">
                <a:alpha val="2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463040" y="2944368"/>
            <a:ext cx="3108960" cy="292608"/>
          </a:xfrm>
          <a:prstGeom prst="rect">
            <a:avLst/>
          </a:prstGeom>
          <a:noFill/>
        </p:spPr>
        <p:txBody>
          <a:bodyPr wrap="square" anchor="t" lIns="38100" rIns="38100" tIns="25400" bIns="25400">
            <a:spAutoFit/>
          </a:bodyPr>
          <a:lstStyle/>
          <a:p>
            <a:pPr algn="ctr">
              <a:lnSpc>
                <a:spcPct val="106000"/>
              </a:lnSpc>
              <a:spcBef>
                <a:spcPts val="0"/>
              </a:spcBef>
              <a:spcAft>
                <a:spcPts val="200"/>
              </a:spcAft>
            </a:pPr>
            <a:r>
              <a:rPr sz="1200" b="0" i="0">
                <a:solidFill>
                  <a:srgbClr val="6A6E78"/>
                </a:solidFill>
                <a:latin typeface="Inter"/>
              </a:rPr>
              <a:t>nosotros</a:t>
            </a:r>
          </a:p>
        </p:txBody>
      </p:sp>
      <p:sp>
        <p:nvSpPr>
          <p:cNvPr id="20" name="TextBox 19"/>
          <p:cNvSpPr txBox="1"/>
          <p:nvPr/>
        </p:nvSpPr>
        <p:spPr>
          <a:xfrm>
            <a:off x="1463040" y="3255264"/>
            <a:ext cx="3108960" cy="457200"/>
          </a:xfrm>
          <a:prstGeom prst="rect">
            <a:avLst/>
          </a:prstGeom>
          <a:noFill/>
        </p:spPr>
        <p:txBody>
          <a:bodyPr wrap="square" anchor="t" lIns="38100" rIns="38100" tIns="25400" bIns="25400">
            <a:spAutoFit/>
          </a:bodyPr>
          <a:lstStyle/>
          <a:p>
            <a:pPr algn="ctr">
              <a:lnSpc>
                <a:spcPct val="106000"/>
              </a:lnSpc>
              <a:spcBef>
                <a:spcPts val="0"/>
              </a:spcBef>
              <a:spcAft>
                <a:spcPts val="200"/>
              </a:spcAft>
            </a:pPr>
            <a:r>
              <a:rPr sz="2200" b="1" i="0">
                <a:solidFill>
                  <a:srgbClr val="5B3E83"/>
                </a:solidFill>
                <a:latin typeface="Bricolage Grotesque"/>
              </a:rPr>
              <a:t>somos</a:t>
            </a:r>
          </a:p>
        </p:txBody>
      </p:sp>
      <p:sp>
        <p:nvSpPr>
          <p:cNvPr id="21" name="Rounded Rectangle 20"/>
          <p:cNvSpPr/>
          <p:nvPr/>
        </p:nvSpPr>
        <p:spPr>
          <a:xfrm>
            <a:off x="4846320" y="2852928"/>
            <a:ext cx="3108960" cy="914400"/>
          </a:xfrm>
          <a:prstGeom prst="roundRect">
            <a:avLst>
              <a:gd name="adj" fmla="val 5500"/>
            </a:avLst>
          </a:prstGeom>
          <a:solidFill>
            <a:srgbClr val="FFFFFF"/>
          </a:solidFill>
          <a:ln w="17780">
            <a:solidFill>
              <a:srgbClr val="7C56A9"/>
            </a:solidFill>
          </a:ln>
          <a:effectLst>
            <a:outerShdw blurRad="90000" dist="38000" dir="5400000" rotWithShape="0">
              <a:srgbClr val="20242E">
                <a:alpha val="2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846320" y="2944368"/>
            <a:ext cx="3108960" cy="292608"/>
          </a:xfrm>
          <a:prstGeom prst="rect">
            <a:avLst/>
          </a:prstGeom>
          <a:noFill/>
        </p:spPr>
        <p:txBody>
          <a:bodyPr wrap="square" anchor="t" lIns="38100" rIns="38100" tIns="25400" bIns="25400">
            <a:spAutoFit/>
          </a:bodyPr>
          <a:lstStyle/>
          <a:p>
            <a:pPr algn="ctr">
              <a:lnSpc>
                <a:spcPct val="106000"/>
              </a:lnSpc>
              <a:spcBef>
                <a:spcPts val="0"/>
              </a:spcBef>
              <a:spcAft>
                <a:spcPts val="200"/>
              </a:spcAft>
            </a:pPr>
            <a:r>
              <a:rPr sz="1200" b="0" i="0">
                <a:solidFill>
                  <a:srgbClr val="6A6E78"/>
                </a:solidFill>
                <a:latin typeface="Inter"/>
              </a:rPr>
              <a:t>vosotros</a:t>
            </a:r>
          </a:p>
        </p:txBody>
      </p:sp>
      <p:sp>
        <p:nvSpPr>
          <p:cNvPr id="23" name="TextBox 22"/>
          <p:cNvSpPr txBox="1"/>
          <p:nvPr/>
        </p:nvSpPr>
        <p:spPr>
          <a:xfrm>
            <a:off x="4846320" y="3255264"/>
            <a:ext cx="3108960" cy="457200"/>
          </a:xfrm>
          <a:prstGeom prst="rect">
            <a:avLst/>
          </a:prstGeom>
          <a:noFill/>
        </p:spPr>
        <p:txBody>
          <a:bodyPr wrap="square" anchor="t" lIns="38100" rIns="38100" tIns="25400" bIns="25400">
            <a:spAutoFit/>
          </a:bodyPr>
          <a:lstStyle/>
          <a:p>
            <a:pPr algn="ctr">
              <a:lnSpc>
                <a:spcPct val="106000"/>
              </a:lnSpc>
              <a:spcBef>
                <a:spcPts val="0"/>
              </a:spcBef>
              <a:spcAft>
                <a:spcPts val="200"/>
              </a:spcAft>
            </a:pPr>
            <a:r>
              <a:rPr sz="2200" b="1" i="0">
                <a:solidFill>
                  <a:srgbClr val="5B3E83"/>
                </a:solidFill>
                <a:latin typeface="Bricolage Grotesque"/>
              </a:rPr>
              <a:t>sois</a:t>
            </a:r>
          </a:p>
        </p:txBody>
      </p:sp>
      <p:sp>
        <p:nvSpPr>
          <p:cNvPr id="24" name="Rounded Rectangle 23"/>
          <p:cNvSpPr/>
          <p:nvPr/>
        </p:nvSpPr>
        <p:spPr>
          <a:xfrm>
            <a:off x="8229600" y="2852928"/>
            <a:ext cx="3108960" cy="914400"/>
          </a:xfrm>
          <a:prstGeom prst="roundRect">
            <a:avLst>
              <a:gd name="adj" fmla="val 5500"/>
            </a:avLst>
          </a:prstGeom>
          <a:solidFill>
            <a:srgbClr val="FFFFFF"/>
          </a:solidFill>
          <a:ln w="17780">
            <a:solidFill>
              <a:srgbClr val="7C56A9"/>
            </a:solidFill>
          </a:ln>
          <a:effectLst>
            <a:outerShdw blurRad="90000" dist="38000" dir="5400000" rotWithShape="0">
              <a:srgbClr val="20242E">
                <a:alpha val="2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229600" y="2944368"/>
            <a:ext cx="3108960" cy="292608"/>
          </a:xfrm>
          <a:prstGeom prst="rect">
            <a:avLst/>
          </a:prstGeom>
          <a:noFill/>
        </p:spPr>
        <p:txBody>
          <a:bodyPr wrap="square" anchor="t" lIns="38100" rIns="38100" tIns="25400" bIns="25400">
            <a:spAutoFit/>
          </a:bodyPr>
          <a:lstStyle/>
          <a:p>
            <a:pPr algn="ctr">
              <a:lnSpc>
                <a:spcPct val="106000"/>
              </a:lnSpc>
              <a:spcBef>
                <a:spcPts val="0"/>
              </a:spcBef>
              <a:spcAft>
                <a:spcPts val="200"/>
              </a:spcAft>
            </a:pPr>
            <a:r>
              <a:rPr sz="1200" b="0" i="0">
                <a:solidFill>
                  <a:srgbClr val="6A6E78"/>
                </a:solidFill>
                <a:latin typeface="Inter"/>
              </a:rPr>
              <a:t>ellos</a:t>
            </a:r>
          </a:p>
        </p:txBody>
      </p:sp>
      <p:sp>
        <p:nvSpPr>
          <p:cNvPr id="26" name="TextBox 25"/>
          <p:cNvSpPr txBox="1"/>
          <p:nvPr/>
        </p:nvSpPr>
        <p:spPr>
          <a:xfrm>
            <a:off x="8229600" y="3255264"/>
            <a:ext cx="3108960" cy="457200"/>
          </a:xfrm>
          <a:prstGeom prst="rect">
            <a:avLst/>
          </a:prstGeom>
          <a:noFill/>
        </p:spPr>
        <p:txBody>
          <a:bodyPr wrap="square" anchor="t" lIns="38100" rIns="38100" tIns="25400" bIns="25400">
            <a:spAutoFit/>
          </a:bodyPr>
          <a:lstStyle/>
          <a:p>
            <a:pPr algn="ctr">
              <a:lnSpc>
                <a:spcPct val="106000"/>
              </a:lnSpc>
              <a:spcBef>
                <a:spcPts val="0"/>
              </a:spcBef>
              <a:spcAft>
                <a:spcPts val="200"/>
              </a:spcAft>
            </a:pPr>
            <a:r>
              <a:rPr sz="2200" b="1" i="0">
                <a:solidFill>
                  <a:srgbClr val="5B3E83"/>
                </a:solidFill>
                <a:latin typeface="Bricolage Grotesque"/>
              </a:rPr>
              <a:t>son</a:t>
            </a:r>
          </a:p>
        </p:txBody>
      </p:sp>
      <p:sp>
        <p:nvSpPr>
          <p:cNvPr id="27" name="TextBox 26"/>
          <p:cNvSpPr txBox="1"/>
          <p:nvPr/>
        </p:nvSpPr>
        <p:spPr>
          <a:xfrm>
            <a:off x="457200" y="4617720"/>
            <a:ext cx="11247120" cy="457200"/>
          </a:xfrm>
          <a:prstGeom prst="rect">
            <a:avLst/>
          </a:prstGeom>
          <a:noFill/>
        </p:spPr>
        <p:txBody>
          <a:bodyPr wrap="square" anchor="t" lIns="38100" rIns="38100" tIns="25400" bIns="25400">
            <a:spAutoFit/>
          </a:bodyPr>
          <a:lstStyle/>
          <a:p>
            <a:pPr algn="l">
              <a:lnSpc>
                <a:spcPct val="106000"/>
              </a:lnSpc>
              <a:spcBef>
                <a:spcPts val="0"/>
              </a:spcBef>
              <a:spcAft>
                <a:spcPts val="200"/>
              </a:spcAft>
            </a:pPr>
            <a:r>
              <a:rPr sz="1200" b="0" i="0">
                <a:solidFill>
                  <a:srgbClr val="20242E"/>
                </a:solidFill>
                <a:latin typeface="Inter"/>
              </a:rPr>
              <a:t>🟡 </a:t>
            </a:r>
            <a:r>
              <a:rPr sz="1300" b="1" i="0">
                <a:solidFill>
                  <a:srgbClr val="2563EB"/>
                </a:solidFill>
                <a:latin typeface="Inter"/>
              </a:rPr>
              <a:t>soy </a:t>
            </a:r>
            <a:r>
              <a:rPr sz="1200" b="0" i="0">
                <a:solidFill>
                  <a:srgbClr val="20242E"/>
                </a:solidFill>
                <a:latin typeface="Inter"/>
              </a:rPr>
              <a:t>= identiteit (soy belga, soy estudiante) · </a:t>
            </a:r>
            <a:r>
              <a:rPr sz="1300" b="1" i="0">
                <a:solidFill>
                  <a:srgbClr val="64748B"/>
                </a:solidFill>
                <a:latin typeface="Inter"/>
              </a:rPr>
              <a:t>estoy </a:t>
            </a:r>
            <a:r>
              <a:rPr sz="1200" b="0" i="0">
                <a:solidFill>
                  <a:srgbClr val="20242E"/>
                </a:solidFill>
                <a:latin typeface="Inter"/>
              </a:rPr>
              <a:t>= plaats/gevoel (estoy en clase, estoy bien).</a:t>
            </a:r>
          </a:p>
        </p:txBody>
      </p:sp>
      <p:sp>
        <p:nvSpPr>
          <p:cNvPr id="28" name="Rounded Rectangle 27"/>
          <p:cNvSpPr/>
          <p:nvPr/>
        </p:nvSpPr>
        <p:spPr>
          <a:xfrm>
            <a:off x="457200" y="6053328"/>
            <a:ext cx="2093976" cy="365760"/>
          </a:xfrm>
          <a:prstGeom prst="roundRect">
            <a:avLst>
              <a:gd name="adj" fmla="val 50000"/>
            </a:avLst>
          </a:prstGeom>
          <a:solidFill>
            <a:srgbClr val="7C56A9"/>
          </a:solidFill>
          <a:ln w="12700">
            <a:solidFill>
              <a:srgbClr val="E4E3DE"/>
            </a:solidFill>
          </a:ln>
          <a:effectLst/>
        </p:spPr>
        <p:style>
          <a:lnRef idx="1">
            <a:schemeClr val="accent1"/>
          </a:lnRef>
          <a:fillRef idx="3">
            <a:schemeClr val="accent1"/>
          </a:fillRef>
          <a:effectRef idx="2">
            <a:schemeClr val="accent1"/>
          </a:effectRef>
          <a:fontRef idx="minor">
            <a:schemeClr val="lt1"/>
          </a:fontRef>
        </p:style>
        <p:txBody>
          <a:bodyPr rtlCol="0" anchor="ctr" tIns="12700" bIns="12700"/>
          <a:lstStyle/>
          <a:p>
            <a:pPr algn="ctr"/>
            <a:r>
              <a:rPr sz="1050" b="1">
                <a:solidFill>
                  <a:srgbClr val="FFFFFF"/>
                </a:solidFill>
                <a:latin typeface="Inter"/>
              </a:rPr>
              <a:t>▶  Mostrar solución</a:t>
            </a:r>
          </a:p>
        </p:txBody>
      </p:sp>
      <p:sp>
        <p:nvSpPr>
          <p:cNvPr id="29" name="Rounded Rectangle 28"/>
          <p:cNvSpPr/>
          <p:nvPr/>
        </p:nvSpPr>
        <p:spPr>
          <a:xfrm>
            <a:off x="2697480" y="6053328"/>
            <a:ext cx="1088136" cy="365760"/>
          </a:xfrm>
          <a:prstGeom prst="roundRect">
            <a:avLst>
              <a:gd name="adj" fmla="val 50000"/>
            </a:avLst>
          </a:prstGeom>
          <a:solidFill>
            <a:srgbClr val="FFFFFF"/>
          </a:solidFill>
          <a:ln w="12700">
            <a:solidFill>
              <a:srgbClr val="E4E3DE"/>
            </a:solidFill>
          </a:ln>
          <a:effectLst/>
        </p:spPr>
        <p:style>
          <a:lnRef idx="1">
            <a:schemeClr val="accent1"/>
          </a:lnRef>
          <a:fillRef idx="3">
            <a:schemeClr val="accent1"/>
          </a:fillRef>
          <a:effectRef idx="2">
            <a:schemeClr val="accent1"/>
          </a:effectRef>
          <a:fontRef idx="minor">
            <a:schemeClr val="lt1"/>
          </a:fontRef>
        </p:style>
        <p:txBody>
          <a:bodyPr rtlCol="0" anchor="ctr" tIns="12700" bIns="12700"/>
          <a:lstStyle/>
          <a:p>
            <a:pPr algn="ctr"/>
            <a:r>
              <a:rPr sz="1050" b="1">
                <a:solidFill>
                  <a:srgbClr val="5B3E83"/>
                </a:solidFill>
                <a:latin typeface="Inter"/>
              </a:rPr>
              <a:t>⏭  Saltar</a:t>
            </a:r>
          </a:p>
        </p:txBody>
      </p:sp>
      <p:sp>
        <p:nvSpPr>
          <p:cNvPr id="30" name="Rounded Rectangle 29">
            <a:hlinkClick action="ppaction://hlinksldjump" r:id="rId3"/>
          </p:cNvPr>
          <p:cNvSpPr/>
          <p:nvPr/>
        </p:nvSpPr>
        <p:spPr>
          <a:xfrm>
            <a:off x="3931920" y="6053328"/>
            <a:ext cx="1691639" cy="365760"/>
          </a:xfrm>
          <a:prstGeom prst="roundRect">
            <a:avLst>
              <a:gd name="adj" fmla="val 50000"/>
            </a:avLst>
          </a:prstGeom>
          <a:solidFill>
            <a:srgbClr val="FFFFFF"/>
          </a:solidFill>
          <a:ln w="12700">
            <a:solidFill>
              <a:srgbClr val="E4E3DE"/>
            </a:solidFill>
          </a:ln>
          <a:effectLst/>
        </p:spPr>
        <p:style>
          <a:lnRef idx="1">
            <a:schemeClr val="accent1"/>
          </a:lnRef>
          <a:fillRef idx="3">
            <a:schemeClr val="accent1"/>
          </a:fillRef>
          <a:effectRef idx="2">
            <a:schemeClr val="accent1"/>
          </a:effectRef>
          <a:fontRef idx="minor">
            <a:schemeClr val="lt1"/>
          </a:fontRef>
        </p:style>
        <p:txBody>
          <a:bodyPr rtlCol="0" anchor="ctr" tIns="12700" bIns="12700"/>
          <a:lstStyle/>
          <a:p>
            <a:pPr algn="ctr"/>
            <a:r>
              <a:rPr sz="1050" b="1">
                <a:solidFill>
                  <a:srgbClr val="5B3E83"/>
                </a:solidFill>
                <a:latin typeface="Inter"/>
              </a:rPr>
              <a:t>⌂  Menú (dia 2)</a:t>
            </a:r>
          </a:p>
        </p:txBody>
      </p:sp>
      <p:sp>
        <p:nvSpPr>
          <p:cNvPr id="31" name="TextBox 30"/>
          <p:cNvSpPr txBox="1"/>
          <p:nvPr/>
        </p:nvSpPr>
        <p:spPr>
          <a:xfrm>
            <a:off x="8321040" y="6053328"/>
            <a:ext cx="3383280" cy="365760"/>
          </a:xfrm>
          <a:prstGeom prst="rect">
            <a:avLst/>
          </a:prstGeom>
          <a:noFill/>
        </p:spPr>
        <p:txBody>
          <a:bodyPr wrap="square" anchor="ctr" lIns="38100" rIns="38100" tIns="25400" bIns="25400">
            <a:spAutoFit/>
          </a:bodyPr>
          <a:lstStyle/>
          <a:p>
            <a:pPr algn="r">
              <a:lnSpc>
                <a:spcPct val="106000"/>
              </a:lnSpc>
              <a:spcBef>
                <a:spcPts val="0"/>
              </a:spcBef>
              <a:spcAft>
                <a:spcPts val="200"/>
              </a:spcAft>
            </a:pPr>
            <a:r>
              <a:rPr sz="850" b="0" i="1">
                <a:solidFill>
                  <a:srgbClr val="6A6E78"/>
                </a:solidFill>
                <a:latin typeface="Inter"/>
              </a:rPr>
              <a:t>Noodroute (§5): werkt zonder audio/internet</a:t>
            </a:r>
          </a:p>
        </p:txBody>
      </p:sp>
      <p:sp>
        <p:nvSpPr>
          <p:cNvPr id="32" name="Rounded Rectangle 31"/>
          <p:cNvSpPr/>
          <p:nvPr/>
        </p:nvSpPr>
        <p:spPr>
          <a:xfrm>
            <a:off x="457200" y="5166360"/>
            <a:ext cx="11247120" cy="640080"/>
          </a:xfrm>
          <a:prstGeom prst="roundRect">
            <a:avLst>
              <a:gd name="adj" fmla="val 6000"/>
            </a:avLst>
          </a:prstGeom>
          <a:solidFill>
            <a:srgbClr val="EEE8F5"/>
          </a:solidFill>
          <a:ln w="19050">
            <a:solidFill>
              <a:srgbClr val="7C56A9"/>
            </a:solidFill>
          </a:ln>
          <a:effectLst/>
        </p:spPr>
        <p:style>
          <a:lnRef idx="1">
            <a:schemeClr val="accent1"/>
          </a:lnRef>
          <a:fillRef idx="3">
            <a:schemeClr val="accent1"/>
          </a:fillRef>
          <a:effectRef idx="2">
            <a:schemeClr val="accent1"/>
          </a:effectRef>
          <a:fontRef idx="minor">
            <a:schemeClr val="lt1"/>
          </a:fontRef>
        </p:style>
        <p:txBody>
          <a:bodyPr rtlCol="0" anchor="ctr" wrap="square" lIns="127000" rIns="127000" tIns="139700" bIns="76200"/>
          <a:lstStyle/>
          <a:p>
            <a:pPr algn="ctr">
              <a:lnSpc>
                <a:spcPct val="102000"/>
              </a:lnSpc>
              <a:spcBef>
                <a:spcPts val="0"/>
              </a:spcBef>
              <a:spcAft>
                <a:spcPts val="300"/>
              </a:spcAft>
            </a:pPr>
            <a:r>
              <a:rPr sz="1200" b="1" i="0">
                <a:solidFill>
                  <a:srgbClr val="5B3E83"/>
                </a:solidFill>
                <a:latin typeface="Inter"/>
              </a:rPr>
              <a:t>Truc: </a:t>
            </a:r>
            <a:r>
              <a:rPr sz="1200" b="0" i="0">
                <a:solidFill>
                  <a:srgbClr val="5B3E83"/>
                </a:solidFill>
                <a:latin typeface="Inter"/>
              </a:rPr>
              <a:t>permanent/eigenschap → ser (soy) · tijdelijk/plaats → estar (estoy). Contrast komt uitgebreid in U1.</a:t>
            </a:r>
          </a:p>
        </p:txBody>
      </p:sp>
      <p:sp>
        <p:nvSpPr>
          <p:cNvPr id="33" name="Rounded Rectangle 32"/>
          <p:cNvSpPr/>
          <p:nvPr/>
        </p:nvSpPr>
        <p:spPr>
          <a:xfrm>
            <a:off x="594360" y="5038344"/>
            <a:ext cx="1548993" cy="292608"/>
          </a:xfrm>
          <a:prstGeom prst="roundRect">
            <a:avLst>
              <a:gd name="adj" fmla="val 50000"/>
            </a:avLst>
          </a:prstGeom>
          <a:solidFill>
            <a:srgbClr val="7C56A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88900" rIns="88900" tIns="12700" bIns="12700"/>
          <a:lstStyle/>
          <a:p>
            <a:pPr algn="ctr"/>
            <a:r>
              <a:rPr sz="950" b="1">
                <a:solidFill>
                  <a:srgbClr val="FFFFFF"/>
                </a:solidFill>
                <a:latin typeface="Inter"/>
              </a:rPr>
              <a:t>SOLUCIÓN · docent</a:t>
            </a:r>
          </a:p>
        </p:txBody>
      </p:sp>
      <p:sp>
        <p:nvSpPr>
          <p:cNvPr id="34" name="Rectangle 33"/>
          <p:cNvSpPr/>
          <p:nvPr/>
        </p:nvSpPr>
        <p:spPr>
          <a:xfrm>
            <a:off x="0" y="6547104"/>
            <a:ext cx="12191695" cy="310896"/>
          </a:xfrm>
          <a:prstGeom prst="rect">
            <a:avLst/>
          </a:prstGeom>
          <a:solidFill>
            <a:srgbClr val="F3EE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411480" y="6565392"/>
            <a:ext cx="5486400" cy="274320"/>
          </a:xfrm>
          <a:prstGeom prst="rect">
            <a:avLst/>
          </a:prstGeom>
          <a:noFill/>
        </p:spPr>
        <p:txBody>
          <a:bodyPr wrap="square" anchor="ctr" lIns="38100" rIns="38100" tIns="25400" bIns="25400">
            <a:spAutoFit/>
          </a:bodyPr>
          <a:lstStyle/>
          <a:p>
            <a:pPr algn="l">
              <a:lnSpc>
                <a:spcPct val="106000"/>
              </a:lnSpc>
              <a:spcBef>
                <a:spcPts val="0"/>
              </a:spcBef>
              <a:spcAft>
                <a:spcPts val="200"/>
              </a:spcAft>
            </a:pPr>
            <a:r>
              <a:rPr sz="1100" b="1" i="0">
                <a:solidFill>
                  <a:srgbClr val="7C56A9"/>
                </a:solidFill>
                <a:latin typeface="Inter"/>
              </a:rPr>
              <a:t>● </a:t>
            </a:r>
            <a:r>
              <a:rPr sz="950" b="0" i="0">
                <a:solidFill>
                  <a:srgbClr val="6A6E78"/>
                </a:solidFill>
                <a:latin typeface="Inter"/>
              </a:rPr>
              <a:t>U0 · ¡VOLVEMOS!   ·   C6+ · el reencuentro</a:t>
            </a:r>
          </a:p>
        </p:txBody>
      </p:sp>
      <p:sp>
        <p:nvSpPr>
          <p:cNvPr id="36" name="TextBox 35"/>
          <p:cNvSpPr txBox="1"/>
          <p:nvPr/>
        </p:nvSpPr>
        <p:spPr>
          <a:xfrm>
            <a:off x="8686800" y="6565392"/>
            <a:ext cx="3063240" cy="274320"/>
          </a:xfrm>
          <a:prstGeom prst="rect">
            <a:avLst/>
          </a:prstGeom>
          <a:noFill/>
        </p:spPr>
        <p:txBody>
          <a:bodyPr wrap="square" anchor="ctr" lIns="38100" rIns="38100" tIns="25400" bIns="25400">
            <a:spAutoFit/>
          </a:bodyPr>
          <a:lstStyle/>
          <a:p>
            <a:pPr algn="r">
              <a:lnSpc>
                <a:spcPct val="106000"/>
              </a:lnSpc>
              <a:spcBef>
                <a:spcPts val="0"/>
              </a:spcBef>
              <a:spcAft>
                <a:spcPts val="200"/>
              </a:spcAft>
            </a:pPr>
            <a:r>
              <a:rPr sz="900" b="0" i="1">
                <a:solidFill>
                  <a:srgbClr val="6A6E78"/>
                </a:solidFill>
                <a:latin typeface="Inter"/>
              </a:rPr>
              <a:t>Docentenversie — met oplossingen</a:t>
            </a:r>
          </a:p>
        </p:txBody>
      </p:sp>
      <p:sp>
        <p:nvSpPr>
          <p:cNvPr id="37" name="TextBox 36"/>
          <p:cNvSpPr txBox="1"/>
          <p:nvPr/>
        </p:nvSpPr>
        <p:spPr>
          <a:xfrm>
            <a:off x="11475720" y="6565392"/>
            <a:ext cx="457200" cy="274320"/>
          </a:xfrm>
          <a:prstGeom prst="rect">
            <a:avLst/>
          </a:prstGeom>
          <a:noFill/>
        </p:spPr>
        <p:txBody>
          <a:bodyPr wrap="square" anchor="ctr" lIns="38100" rIns="38100" tIns="25400" bIns="25400">
            <a:spAutoFit/>
          </a:bodyPr>
          <a:lstStyle/>
          <a:p>
            <a:pPr algn="r">
              <a:lnSpc>
                <a:spcPct val="106000"/>
              </a:lnSpc>
              <a:spcBef>
                <a:spcPts val="0"/>
              </a:spcBef>
              <a:spcAft>
                <a:spcPts val="200"/>
              </a:spcAft>
            </a:pPr>
            <a:r>
              <a:rPr sz="950" b="1" i="0">
                <a:solidFill>
                  <a:srgbClr val="5B3E83"/>
                </a:solidFill>
                <a:latin typeface="Inter"/>
              </a:rPr>
              <a:t>6</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500"/>
                                        <p:tgtEl>
                                          <p:spTgt spid="11"/>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4"/>
                                        </p:tgtEl>
                                        <p:attrNameLst>
                                          <p:attrName>style.visibility</p:attrName>
                                        </p:attrNameLst>
                                      </p:cBhvr>
                                      <p:to>
                                        <p:strVal val="visible"/>
                                      </p:to>
                                    </p:set>
                                    <p:animEffect transition="in" filter="fade">
                                      <p:cBhvr>
                                        <p:cTn id="12" dur="500"/>
                                        <p:tgtEl>
                                          <p:spTgt spid="1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17"/>
                                        </p:tgtEl>
                                        <p:attrNameLst>
                                          <p:attrName>style.visibility</p:attrName>
                                        </p:attrNameLst>
                                      </p:cBhvr>
                                      <p:to>
                                        <p:strVal val="visible"/>
                                      </p:to>
                                    </p:set>
                                    <p:animEffect transition="in" filter="fade">
                                      <p:cBhvr>
                                        <p:cTn id="17" dur="500"/>
                                        <p:tgtEl>
                                          <p:spTgt spid="17"/>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20"/>
                                        </p:tgtEl>
                                        <p:attrNameLst>
                                          <p:attrName>style.visibility</p:attrName>
                                        </p:attrNameLst>
                                      </p:cBhvr>
                                      <p:to>
                                        <p:strVal val="visible"/>
                                      </p:to>
                                    </p:set>
                                    <p:animEffect transition="in" filter="fade">
                                      <p:cBhvr>
                                        <p:cTn id="22" dur="500"/>
                                        <p:tgtEl>
                                          <p:spTgt spid="20"/>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23"/>
                                        </p:tgtEl>
                                        <p:attrNameLst>
                                          <p:attrName>style.visibility</p:attrName>
                                        </p:attrNameLst>
                                      </p:cBhvr>
                                      <p:to>
                                        <p:strVal val="visible"/>
                                      </p:to>
                                    </p:set>
                                    <p:animEffect transition="in" filter="fade">
                                      <p:cBhvr>
                                        <p:cTn id="27" dur="500"/>
                                        <p:tgtEl>
                                          <p:spTgt spid="23"/>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26"/>
                                        </p:tgtEl>
                                        <p:attrNameLst>
                                          <p:attrName>style.visibility</p:attrName>
                                        </p:attrNameLst>
                                      </p:cBhvr>
                                      <p:to>
                                        <p:strVal val="visible"/>
                                      </p:to>
                                    </p:set>
                                    <p:animEffect transition="in" filter="fade">
                                      <p:cBhvr>
                                        <p:cTn id="32" dur="500"/>
                                        <p:tgtEl>
                                          <p:spTgt spid="26"/>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grpId="0" nodeType="clickEffect">
                                  <p:stCondLst>
                                    <p:cond delay="0"/>
                                  </p:stCondLst>
                                  <p:childTnLst>
                                    <p:set>
                                      <p:cBhvr>
                                        <p:cTn id="36" dur="1" fill="hold">
                                          <p:stCondLst>
                                            <p:cond delay="0"/>
                                          </p:stCondLst>
                                        </p:cTn>
                                        <p:tgtEl>
                                          <p:spTgt spid="32"/>
                                        </p:tgtEl>
                                        <p:attrNameLst>
                                          <p:attrName>style.visibility</p:attrName>
                                        </p:attrNameLst>
                                      </p:cBhvr>
                                      <p:to>
                                        <p:strVal val="visible"/>
                                      </p:to>
                                    </p:set>
                                    <p:animEffect transition="in" filter="fade">
                                      <p:cBhvr>
                                        <p:cTn id="37" dur="500"/>
                                        <p:tgtEl>
                                          <p:spTgt spid="32"/>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grpId="0" nodeType="clickEffect">
                                  <p:stCondLst>
                                    <p:cond delay="0"/>
                                  </p:stCondLst>
                                  <p:childTnLst>
                                    <p:set>
                                      <p:cBhvr>
                                        <p:cTn id="41" dur="1" fill="hold">
                                          <p:stCondLst>
                                            <p:cond delay="0"/>
                                          </p:stCondLst>
                                        </p:cTn>
                                        <p:tgtEl>
                                          <p:spTgt spid="33"/>
                                        </p:tgtEl>
                                        <p:attrNameLst>
                                          <p:attrName>style.visibility</p:attrName>
                                        </p:attrNameLst>
                                      </p:cBhvr>
                                      <p:to>
                                        <p:strVal val="visible"/>
                                      </p:to>
                                    </p:set>
                                    <p:animEffect transition="in" filter="fade">
                                      <p:cBhvr>
                                        <p:cTn id="42" dur="500"/>
                                        <p:tgtEl>
                                          <p:spTgt spid="3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C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78992"/>
          </a:xfrm>
          <a:prstGeom prst="rect">
            <a:avLst/>
          </a:prstGeom>
          <a:solidFill>
            <a:srgbClr val="7C56A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78992"/>
            <a:ext cx="12191695" cy="54864"/>
          </a:xfrm>
          <a:prstGeom prst="rect">
            <a:avLst/>
          </a:prstGeom>
          <a:solidFill>
            <a:srgbClr val="5B3E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02920" y="182880"/>
            <a:ext cx="1885492" cy="292608"/>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88900" rIns="88900" tIns="12700" bIns="12700"/>
          <a:lstStyle/>
          <a:p>
            <a:pPr algn="ctr"/>
            <a:r>
              <a:rPr sz="1100" b="1">
                <a:solidFill>
                  <a:srgbClr val="7C56A9"/>
                </a:solidFill>
                <a:latin typeface="Inter"/>
              </a:rPr>
              <a:t>§3 · GRAMÁTICA VISUAL</a:t>
            </a:r>
          </a:p>
        </p:txBody>
      </p:sp>
      <p:sp>
        <p:nvSpPr>
          <p:cNvPr id="6" name="TextBox 5"/>
          <p:cNvSpPr txBox="1"/>
          <p:nvPr/>
        </p:nvSpPr>
        <p:spPr>
          <a:xfrm>
            <a:off x="10424160" y="-137160"/>
            <a:ext cx="1737360" cy="1371600"/>
          </a:xfrm>
          <a:prstGeom prst="rect">
            <a:avLst/>
          </a:prstGeom>
          <a:noFill/>
        </p:spPr>
        <p:txBody>
          <a:bodyPr wrap="square" anchor="t" lIns="38100" rIns="38100" tIns="25400" bIns="25400">
            <a:spAutoFit/>
          </a:bodyPr>
          <a:lstStyle/>
          <a:p>
            <a:pPr algn="r">
              <a:lnSpc>
                <a:spcPct val="106000"/>
              </a:lnSpc>
              <a:spcBef>
                <a:spcPts val="0"/>
              </a:spcBef>
              <a:spcAft>
                <a:spcPts val="200"/>
              </a:spcAft>
            </a:pPr>
            <a:r>
              <a:rPr sz="8800" b="1" i="0">
                <a:solidFill>
                  <a:srgbClr val="FFFFFF"/>
                </a:solidFill>
                <a:latin typeface="Bricolage Grotesque"/>
              </a:rPr>
              <a:t>3</a:t>
            </a:r>
          </a:p>
        </p:txBody>
      </p:sp>
      <p:sp>
        <p:nvSpPr>
          <p:cNvPr id="7" name="TextBox 6"/>
          <p:cNvSpPr txBox="1"/>
          <p:nvPr/>
        </p:nvSpPr>
        <p:spPr>
          <a:xfrm>
            <a:off x="457200" y="457200"/>
            <a:ext cx="9692640" cy="502920"/>
          </a:xfrm>
          <a:prstGeom prst="rect">
            <a:avLst/>
          </a:prstGeom>
          <a:noFill/>
        </p:spPr>
        <p:txBody>
          <a:bodyPr wrap="square" anchor="ctr" lIns="38100" rIns="38100" tIns="25400" bIns="25400">
            <a:spAutoFit/>
          </a:bodyPr>
          <a:lstStyle/>
          <a:p>
            <a:pPr algn="l">
              <a:lnSpc>
                <a:spcPct val="106000"/>
              </a:lnSpc>
              <a:spcBef>
                <a:spcPts val="0"/>
              </a:spcBef>
              <a:spcAft>
                <a:spcPts val="200"/>
              </a:spcAft>
            </a:pPr>
            <a:r>
              <a:rPr sz="2700" b="1" i="0">
                <a:solidFill>
                  <a:srgbClr val="FFFFFF"/>
                </a:solidFill>
                <a:latin typeface="Bricolage Grotesque"/>
              </a:rPr>
              <a:t>Género y concordancia — el/la · -o/-a</a:t>
            </a:r>
          </a:p>
        </p:txBody>
      </p:sp>
      <p:sp>
        <p:nvSpPr>
          <p:cNvPr id="8" name="TextBox 7"/>
          <p:cNvSpPr txBox="1"/>
          <p:nvPr/>
        </p:nvSpPr>
        <p:spPr>
          <a:xfrm>
            <a:off x="502920" y="932688"/>
            <a:ext cx="9692640" cy="274320"/>
          </a:xfrm>
          <a:prstGeom prst="rect">
            <a:avLst/>
          </a:prstGeom>
          <a:noFill/>
        </p:spPr>
        <p:txBody>
          <a:bodyPr wrap="square" anchor="t" lIns="38100" rIns="38100" tIns="25400" bIns="25400">
            <a:spAutoFit/>
          </a:bodyPr>
          <a:lstStyle/>
          <a:p>
            <a:pPr algn="l">
              <a:lnSpc>
                <a:spcPct val="106000"/>
              </a:lnSpc>
              <a:spcBef>
                <a:spcPts val="0"/>
              </a:spcBef>
              <a:spcAft>
                <a:spcPts val="200"/>
              </a:spcAft>
            </a:pPr>
            <a:r>
              <a:rPr sz="1250" b="0" i="1">
                <a:solidFill>
                  <a:srgbClr val="EEE8F5"/>
                </a:solidFill>
                <a:latin typeface="Inter"/>
              </a:rPr>
              <a:t>Lidwoord én adjectief volgen het zelfstandig naamwoord (m/v · ev/mv).</a:t>
            </a:r>
          </a:p>
        </p:txBody>
      </p:sp>
      <p:sp>
        <p:nvSpPr>
          <p:cNvPr id="9" name="TextBox 8"/>
          <p:cNvSpPr txBox="1"/>
          <p:nvPr/>
        </p:nvSpPr>
        <p:spPr>
          <a:xfrm>
            <a:off x="8869680" y="484632"/>
            <a:ext cx="1188720" cy="274320"/>
          </a:xfrm>
          <a:prstGeom prst="rect">
            <a:avLst/>
          </a:prstGeom>
          <a:noFill/>
        </p:spPr>
        <p:txBody>
          <a:bodyPr wrap="square" anchor="t" lIns="38100" rIns="38100" tIns="25400" bIns="25400">
            <a:spAutoFit/>
          </a:bodyPr>
          <a:lstStyle/>
          <a:p>
            <a:pPr algn="l">
              <a:lnSpc>
                <a:spcPct val="106000"/>
              </a:lnSpc>
              <a:spcBef>
                <a:spcPts val="0"/>
              </a:spcBef>
              <a:spcAft>
                <a:spcPts val="200"/>
              </a:spcAft>
            </a:pPr>
            <a:r>
              <a:rPr sz="900" b="1" i="0">
                <a:solidFill>
                  <a:srgbClr val="6A6E78"/>
                </a:solidFill>
                <a:latin typeface="Inter"/>
              </a:rPr>
              <a:t>Kleurcode:</a:t>
            </a:r>
          </a:p>
        </p:txBody>
      </p:sp>
      <p:sp>
        <p:nvSpPr>
          <p:cNvPr id="10" name="Rounded Rectangle 9"/>
          <p:cNvSpPr/>
          <p:nvPr/>
        </p:nvSpPr>
        <p:spPr>
          <a:xfrm>
            <a:off x="9921240" y="521208"/>
            <a:ext cx="128016" cy="128016"/>
          </a:xfrm>
          <a:prstGeom prst="roundRect">
            <a:avLst>
              <a:gd name="adj" fmla="val 50000"/>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85832" y="475488"/>
            <a:ext cx="914400" cy="274320"/>
          </a:xfrm>
          <a:prstGeom prst="rect">
            <a:avLst/>
          </a:prstGeom>
          <a:noFill/>
        </p:spPr>
        <p:txBody>
          <a:bodyPr wrap="square" anchor="t" lIns="38100" rIns="38100" tIns="25400" bIns="25400">
            <a:spAutoFit/>
          </a:bodyPr>
          <a:lstStyle/>
          <a:p>
            <a:pPr algn="l">
              <a:lnSpc>
                <a:spcPct val="106000"/>
              </a:lnSpc>
              <a:spcBef>
                <a:spcPts val="0"/>
              </a:spcBef>
              <a:spcAft>
                <a:spcPts val="200"/>
              </a:spcAft>
            </a:pPr>
            <a:r>
              <a:rPr sz="900" b="0" i="0">
                <a:solidFill>
                  <a:srgbClr val="20242E"/>
                </a:solidFill>
                <a:latin typeface="Inter"/>
              </a:rPr>
              <a:t>persoon</a:t>
            </a:r>
          </a:p>
        </p:txBody>
      </p:sp>
      <p:sp>
        <p:nvSpPr>
          <p:cNvPr id="12" name="Rounded Rectangle 11"/>
          <p:cNvSpPr/>
          <p:nvPr/>
        </p:nvSpPr>
        <p:spPr>
          <a:xfrm>
            <a:off x="10574121" y="521208"/>
            <a:ext cx="128016" cy="128016"/>
          </a:xfrm>
          <a:prstGeom prst="roundRect">
            <a:avLst>
              <a:gd name="adj" fmla="val 50000"/>
            </a:avLst>
          </a:prstGeom>
          <a:solidFill>
            <a:srgbClr val="EA73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738713" y="475488"/>
            <a:ext cx="914400" cy="274320"/>
          </a:xfrm>
          <a:prstGeom prst="rect">
            <a:avLst/>
          </a:prstGeom>
          <a:noFill/>
        </p:spPr>
        <p:txBody>
          <a:bodyPr wrap="square" anchor="t" lIns="38100" rIns="38100" tIns="25400" bIns="25400">
            <a:spAutoFit/>
          </a:bodyPr>
          <a:lstStyle/>
          <a:p>
            <a:pPr algn="l">
              <a:lnSpc>
                <a:spcPct val="106000"/>
              </a:lnSpc>
              <a:spcBef>
                <a:spcPts val="0"/>
              </a:spcBef>
              <a:spcAft>
                <a:spcPts val="200"/>
              </a:spcAft>
            </a:pPr>
            <a:r>
              <a:rPr sz="900" b="0" i="0">
                <a:solidFill>
                  <a:srgbClr val="20242E"/>
                </a:solidFill>
                <a:latin typeface="Inter"/>
              </a:rPr>
              <a:t>werkw.</a:t>
            </a:r>
          </a:p>
        </p:txBody>
      </p:sp>
      <p:sp>
        <p:nvSpPr>
          <p:cNvPr id="14" name="Rounded Rectangle 13"/>
          <p:cNvSpPr/>
          <p:nvPr/>
        </p:nvSpPr>
        <p:spPr>
          <a:xfrm>
            <a:off x="11170309" y="521208"/>
            <a:ext cx="128016" cy="128016"/>
          </a:xfrm>
          <a:prstGeom prst="roundRect">
            <a:avLst>
              <a:gd name="adj" fmla="val 50000"/>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1334901" y="475488"/>
            <a:ext cx="914400" cy="274320"/>
          </a:xfrm>
          <a:prstGeom prst="rect">
            <a:avLst/>
          </a:prstGeom>
          <a:noFill/>
        </p:spPr>
        <p:txBody>
          <a:bodyPr wrap="square" anchor="t" lIns="38100" rIns="38100" tIns="25400" bIns="25400">
            <a:spAutoFit/>
          </a:bodyPr>
          <a:lstStyle/>
          <a:p>
            <a:pPr algn="l">
              <a:lnSpc>
                <a:spcPct val="106000"/>
              </a:lnSpc>
              <a:spcBef>
                <a:spcPts val="0"/>
              </a:spcBef>
              <a:spcAft>
                <a:spcPts val="200"/>
              </a:spcAft>
            </a:pPr>
            <a:r>
              <a:rPr sz="900" b="0" i="0">
                <a:solidFill>
                  <a:srgbClr val="20242E"/>
                </a:solidFill>
                <a:latin typeface="Inter"/>
              </a:rPr>
              <a:t>tijd</a:t>
            </a:r>
          </a:p>
        </p:txBody>
      </p:sp>
      <p:sp>
        <p:nvSpPr>
          <p:cNvPr id="16" name="Rounded Rectangle 15"/>
          <p:cNvSpPr/>
          <p:nvPr/>
        </p:nvSpPr>
        <p:spPr>
          <a:xfrm>
            <a:off x="11653112" y="521208"/>
            <a:ext cx="128016" cy="128016"/>
          </a:xfrm>
          <a:prstGeom prst="roundRect">
            <a:avLst>
              <a:gd name="adj" fmla="val 50000"/>
            </a:avLst>
          </a:prstGeom>
          <a:solidFill>
            <a:srgbClr val="6474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1817704" y="475488"/>
            <a:ext cx="914400" cy="274320"/>
          </a:xfrm>
          <a:prstGeom prst="rect">
            <a:avLst/>
          </a:prstGeom>
          <a:noFill/>
        </p:spPr>
        <p:txBody>
          <a:bodyPr wrap="square" anchor="t" lIns="38100" rIns="38100" tIns="25400" bIns="25400">
            <a:spAutoFit/>
          </a:bodyPr>
          <a:lstStyle/>
          <a:p>
            <a:pPr algn="l">
              <a:lnSpc>
                <a:spcPct val="106000"/>
              </a:lnSpc>
              <a:spcBef>
                <a:spcPts val="0"/>
              </a:spcBef>
              <a:spcAft>
                <a:spcPts val="200"/>
              </a:spcAft>
            </a:pPr>
            <a:r>
              <a:rPr sz="900" b="0" i="0">
                <a:solidFill>
                  <a:srgbClr val="20242E"/>
                </a:solidFill>
                <a:latin typeface="Inter"/>
              </a:rPr>
              <a:t>plaats</a:t>
            </a:r>
          </a:p>
        </p:txBody>
      </p:sp>
      <p:sp>
        <p:nvSpPr>
          <p:cNvPr id="18" name="Rounded Rectangle 17"/>
          <p:cNvSpPr/>
          <p:nvPr/>
        </p:nvSpPr>
        <p:spPr>
          <a:xfrm>
            <a:off x="12249300" y="521208"/>
            <a:ext cx="128016" cy="128016"/>
          </a:xfrm>
          <a:prstGeom prst="roundRect">
            <a:avLst>
              <a:gd name="adj" fmla="val 50000"/>
            </a:avLst>
          </a:prstGeom>
          <a:solidFill>
            <a:srgbClr val="DC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2413892" y="475488"/>
            <a:ext cx="914400" cy="274320"/>
          </a:xfrm>
          <a:prstGeom prst="rect">
            <a:avLst/>
          </a:prstGeom>
          <a:noFill/>
        </p:spPr>
        <p:txBody>
          <a:bodyPr wrap="square" anchor="t" lIns="38100" rIns="38100" tIns="25400" bIns="25400">
            <a:spAutoFit/>
          </a:bodyPr>
          <a:lstStyle/>
          <a:p>
            <a:pPr algn="l">
              <a:lnSpc>
                <a:spcPct val="106000"/>
              </a:lnSpc>
              <a:spcBef>
                <a:spcPts val="0"/>
              </a:spcBef>
              <a:spcAft>
                <a:spcPts val="200"/>
              </a:spcAft>
            </a:pPr>
            <a:r>
              <a:rPr sz="900" b="0" i="0">
                <a:solidFill>
                  <a:srgbClr val="20242E"/>
                </a:solidFill>
                <a:latin typeface="Inter"/>
              </a:rPr>
              <a:t>valstrik</a:t>
            </a:r>
          </a:p>
        </p:txBody>
      </p:sp>
      <p:sp>
        <p:nvSpPr>
          <p:cNvPr id="20" name="Rounded Rectangle 19"/>
          <p:cNvSpPr/>
          <p:nvPr/>
        </p:nvSpPr>
        <p:spPr>
          <a:xfrm>
            <a:off x="457200" y="1554480"/>
            <a:ext cx="5486400" cy="1005840"/>
          </a:xfrm>
          <a:prstGeom prst="roundRect">
            <a:avLst>
              <a:gd name="adj" fmla="val 5500"/>
            </a:avLst>
          </a:prstGeom>
          <a:solidFill>
            <a:srgbClr val="EEE8F5"/>
          </a:solidFill>
          <a:ln>
            <a:noFill/>
          </a:ln>
          <a:effectLst>
            <a:outerShdw blurRad="90000" dist="38000" dir="5400000" rotWithShape="0">
              <a:srgbClr val="20242E">
                <a:alpha val="2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0080" y="1554480"/>
            <a:ext cx="5120640" cy="1005840"/>
          </a:xfrm>
          <a:prstGeom prst="rect">
            <a:avLst/>
          </a:prstGeom>
          <a:noFill/>
        </p:spPr>
        <p:txBody>
          <a:bodyPr wrap="square" anchor="ctr" lIns="38100" rIns="38100" tIns="25400" bIns="25400">
            <a:spAutoFit/>
          </a:bodyPr>
          <a:lstStyle/>
          <a:p>
            <a:pPr algn="l">
              <a:lnSpc>
                <a:spcPct val="106000"/>
              </a:lnSpc>
              <a:spcBef>
                <a:spcPts val="0"/>
              </a:spcBef>
              <a:spcAft>
                <a:spcPts val="200"/>
              </a:spcAft>
            </a:pPr>
            <a:r>
              <a:rPr sz="2000" b="1" i="0">
                <a:solidFill>
                  <a:srgbClr val="2563EB"/>
                </a:solidFill>
                <a:latin typeface="Inter"/>
              </a:rPr>
              <a:t>el </a:t>
            </a:r>
            <a:r>
              <a:rPr sz="2000" b="1" i="0">
                <a:solidFill>
                  <a:srgbClr val="20242E"/>
                </a:solidFill>
                <a:latin typeface="Inter"/>
              </a:rPr>
              <a:t>chic</a:t>
            </a:r>
            <a:r>
              <a:rPr sz="2000" b="1" i="0">
                <a:solidFill>
                  <a:srgbClr val="EA7317"/>
                </a:solidFill>
                <a:latin typeface="Inter"/>
              </a:rPr>
              <a:t>o </a:t>
            </a:r>
            <a:r>
              <a:rPr sz="2000" b="1" i="0">
                <a:solidFill>
                  <a:srgbClr val="20242E"/>
                </a:solidFill>
                <a:latin typeface="Inter"/>
              </a:rPr>
              <a:t>alt</a:t>
            </a:r>
            <a:r>
              <a:rPr sz="2000" b="1" i="0">
                <a:solidFill>
                  <a:srgbClr val="EA7317"/>
                </a:solidFill>
                <a:latin typeface="Inter"/>
              </a:rPr>
              <a:t>o</a:t>
            </a:r>
          </a:p>
        </p:txBody>
      </p:sp>
      <p:sp>
        <p:nvSpPr>
          <p:cNvPr id="22" name="Rounded Rectangle 21"/>
          <p:cNvSpPr/>
          <p:nvPr/>
        </p:nvSpPr>
        <p:spPr>
          <a:xfrm>
            <a:off x="6217920" y="1554480"/>
            <a:ext cx="5486400" cy="1005840"/>
          </a:xfrm>
          <a:prstGeom prst="roundRect">
            <a:avLst>
              <a:gd name="adj" fmla="val 5500"/>
            </a:avLst>
          </a:prstGeom>
          <a:solidFill>
            <a:srgbClr val="EEE8F5"/>
          </a:solidFill>
          <a:ln>
            <a:noFill/>
          </a:ln>
          <a:effectLst>
            <a:outerShdw blurRad="90000" dist="38000" dir="5400000" rotWithShape="0">
              <a:srgbClr val="20242E">
                <a:alpha val="2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00800" y="1554480"/>
            <a:ext cx="5120640" cy="1005840"/>
          </a:xfrm>
          <a:prstGeom prst="rect">
            <a:avLst/>
          </a:prstGeom>
          <a:noFill/>
        </p:spPr>
        <p:txBody>
          <a:bodyPr wrap="square" anchor="ctr" lIns="38100" rIns="38100" tIns="25400" bIns="25400">
            <a:spAutoFit/>
          </a:bodyPr>
          <a:lstStyle/>
          <a:p>
            <a:pPr algn="l">
              <a:lnSpc>
                <a:spcPct val="106000"/>
              </a:lnSpc>
              <a:spcBef>
                <a:spcPts val="0"/>
              </a:spcBef>
              <a:spcAft>
                <a:spcPts val="200"/>
              </a:spcAft>
            </a:pPr>
            <a:r>
              <a:rPr sz="2000" b="1" i="0">
                <a:solidFill>
                  <a:srgbClr val="2563EB"/>
                </a:solidFill>
                <a:latin typeface="Inter"/>
              </a:rPr>
              <a:t>la </a:t>
            </a:r>
            <a:r>
              <a:rPr sz="2000" b="1" i="0">
                <a:solidFill>
                  <a:srgbClr val="20242E"/>
                </a:solidFill>
                <a:latin typeface="Inter"/>
              </a:rPr>
              <a:t>chic</a:t>
            </a:r>
            <a:r>
              <a:rPr sz="2000" b="1" i="0">
                <a:solidFill>
                  <a:srgbClr val="DC2626"/>
                </a:solidFill>
                <a:latin typeface="Inter"/>
              </a:rPr>
              <a:t>a </a:t>
            </a:r>
            <a:r>
              <a:rPr sz="2000" b="1" i="0">
                <a:solidFill>
                  <a:srgbClr val="20242E"/>
                </a:solidFill>
                <a:latin typeface="Inter"/>
              </a:rPr>
              <a:t>alt</a:t>
            </a:r>
            <a:r>
              <a:rPr sz="2000" b="1" i="0">
                <a:solidFill>
                  <a:srgbClr val="DC2626"/>
                </a:solidFill>
                <a:latin typeface="Inter"/>
              </a:rPr>
              <a:t>a</a:t>
            </a:r>
          </a:p>
        </p:txBody>
      </p:sp>
      <p:sp>
        <p:nvSpPr>
          <p:cNvPr id="24" name="Rounded Rectangle 23"/>
          <p:cNvSpPr/>
          <p:nvPr/>
        </p:nvSpPr>
        <p:spPr>
          <a:xfrm>
            <a:off x="457200" y="2880360"/>
            <a:ext cx="3657600" cy="566928"/>
          </a:xfrm>
          <a:prstGeom prst="roundRect">
            <a:avLst>
              <a:gd name="adj" fmla="val 5500"/>
            </a:avLst>
          </a:prstGeom>
          <a:solidFill>
            <a:srgbClr val="FFFFFF"/>
          </a:solidFill>
          <a:ln w="12700">
            <a:solidFill>
              <a:srgbClr val="E4E3D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94360" y="2880360"/>
            <a:ext cx="1737360" cy="566928"/>
          </a:xfrm>
          <a:prstGeom prst="rect">
            <a:avLst/>
          </a:prstGeom>
          <a:noFill/>
        </p:spPr>
        <p:txBody>
          <a:bodyPr wrap="square" anchor="ctr" lIns="38100" rIns="38100" tIns="25400" bIns="25400">
            <a:spAutoFit/>
          </a:bodyPr>
          <a:lstStyle/>
          <a:p>
            <a:pPr algn="l">
              <a:lnSpc>
                <a:spcPct val="106000"/>
              </a:lnSpc>
              <a:spcBef>
                <a:spcPts val="0"/>
              </a:spcBef>
              <a:spcAft>
                <a:spcPts val="200"/>
              </a:spcAft>
            </a:pPr>
            <a:r>
              <a:rPr sz="1250" b="1" i="0">
                <a:solidFill>
                  <a:srgbClr val="5B3E83"/>
                </a:solidFill>
                <a:latin typeface="Inter"/>
              </a:rPr>
              <a:t>el / un</a:t>
            </a:r>
          </a:p>
        </p:txBody>
      </p:sp>
      <p:sp>
        <p:nvSpPr>
          <p:cNvPr id="26" name="TextBox 25"/>
          <p:cNvSpPr txBox="1"/>
          <p:nvPr/>
        </p:nvSpPr>
        <p:spPr>
          <a:xfrm>
            <a:off x="2331719" y="2880360"/>
            <a:ext cx="1645920" cy="566928"/>
          </a:xfrm>
          <a:prstGeom prst="rect">
            <a:avLst/>
          </a:prstGeom>
          <a:noFill/>
        </p:spPr>
        <p:txBody>
          <a:bodyPr wrap="square" anchor="ctr" lIns="38100" rIns="38100" tIns="25400" bIns="25400">
            <a:spAutoFit/>
          </a:bodyPr>
          <a:lstStyle/>
          <a:p>
            <a:pPr algn="l">
              <a:lnSpc>
                <a:spcPct val="106000"/>
              </a:lnSpc>
              <a:spcBef>
                <a:spcPts val="0"/>
              </a:spcBef>
              <a:spcAft>
                <a:spcPts val="200"/>
              </a:spcAft>
            </a:pPr>
            <a:r>
              <a:rPr sz="1100" b="0" i="0">
                <a:solidFill>
                  <a:srgbClr val="20242E"/>
                </a:solidFill>
                <a:latin typeface="Inter"/>
              </a:rPr>
              <a:t>masculino (-o)</a:t>
            </a:r>
          </a:p>
        </p:txBody>
      </p:sp>
      <p:sp>
        <p:nvSpPr>
          <p:cNvPr id="27" name="Rounded Rectangle 26"/>
          <p:cNvSpPr/>
          <p:nvPr/>
        </p:nvSpPr>
        <p:spPr>
          <a:xfrm>
            <a:off x="457200" y="3557016"/>
            <a:ext cx="3657600" cy="566928"/>
          </a:xfrm>
          <a:prstGeom prst="roundRect">
            <a:avLst>
              <a:gd name="adj" fmla="val 5500"/>
            </a:avLst>
          </a:prstGeom>
          <a:solidFill>
            <a:srgbClr val="FFFFFF"/>
          </a:solidFill>
          <a:ln w="12700">
            <a:solidFill>
              <a:srgbClr val="E4E3D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94360" y="3557016"/>
            <a:ext cx="1737360" cy="566928"/>
          </a:xfrm>
          <a:prstGeom prst="rect">
            <a:avLst/>
          </a:prstGeom>
          <a:noFill/>
        </p:spPr>
        <p:txBody>
          <a:bodyPr wrap="square" anchor="ctr" lIns="38100" rIns="38100" tIns="25400" bIns="25400">
            <a:spAutoFit/>
          </a:bodyPr>
          <a:lstStyle/>
          <a:p>
            <a:pPr algn="l">
              <a:lnSpc>
                <a:spcPct val="106000"/>
              </a:lnSpc>
              <a:spcBef>
                <a:spcPts val="0"/>
              </a:spcBef>
              <a:spcAft>
                <a:spcPts val="200"/>
              </a:spcAft>
            </a:pPr>
            <a:r>
              <a:rPr sz="1250" b="1" i="0">
                <a:solidFill>
                  <a:srgbClr val="5B3E83"/>
                </a:solidFill>
                <a:latin typeface="Inter"/>
              </a:rPr>
              <a:t>la / una</a:t>
            </a:r>
          </a:p>
        </p:txBody>
      </p:sp>
      <p:sp>
        <p:nvSpPr>
          <p:cNvPr id="29" name="TextBox 28"/>
          <p:cNvSpPr txBox="1"/>
          <p:nvPr/>
        </p:nvSpPr>
        <p:spPr>
          <a:xfrm>
            <a:off x="2331719" y="3557016"/>
            <a:ext cx="1645920" cy="566928"/>
          </a:xfrm>
          <a:prstGeom prst="rect">
            <a:avLst/>
          </a:prstGeom>
          <a:noFill/>
        </p:spPr>
        <p:txBody>
          <a:bodyPr wrap="square" anchor="ctr" lIns="38100" rIns="38100" tIns="25400" bIns="25400">
            <a:spAutoFit/>
          </a:bodyPr>
          <a:lstStyle/>
          <a:p>
            <a:pPr algn="l">
              <a:lnSpc>
                <a:spcPct val="106000"/>
              </a:lnSpc>
              <a:spcBef>
                <a:spcPts val="0"/>
              </a:spcBef>
              <a:spcAft>
                <a:spcPts val="200"/>
              </a:spcAft>
            </a:pPr>
            <a:r>
              <a:rPr sz="1100" b="0" i="0">
                <a:solidFill>
                  <a:srgbClr val="20242E"/>
                </a:solidFill>
                <a:latin typeface="Inter"/>
              </a:rPr>
              <a:t>femenino (-a)</a:t>
            </a:r>
          </a:p>
        </p:txBody>
      </p:sp>
      <p:sp>
        <p:nvSpPr>
          <p:cNvPr id="30" name="Rounded Rectangle 29"/>
          <p:cNvSpPr/>
          <p:nvPr/>
        </p:nvSpPr>
        <p:spPr>
          <a:xfrm>
            <a:off x="457200" y="4233672"/>
            <a:ext cx="3657600" cy="566928"/>
          </a:xfrm>
          <a:prstGeom prst="roundRect">
            <a:avLst>
              <a:gd name="adj" fmla="val 5500"/>
            </a:avLst>
          </a:prstGeom>
          <a:solidFill>
            <a:srgbClr val="FFFFFF"/>
          </a:solidFill>
          <a:ln w="12700">
            <a:solidFill>
              <a:srgbClr val="E4E3D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594360" y="4233672"/>
            <a:ext cx="1737360" cy="566928"/>
          </a:xfrm>
          <a:prstGeom prst="rect">
            <a:avLst/>
          </a:prstGeom>
          <a:noFill/>
        </p:spPr>
        <p:txBody>
          <a:bodyPr wrap="square" anchor="ctr" lIns="38100" rIns="38100" tIns="25400" bIns="25400">
            <a:spAutoFit/>
          </a:bodyPr>
          <a:lstStyle/>
          <a:p>
            <a:pPr algn="l">
              <a:lnSpc>
                <a:spcPct val="106000"/>
              </a:lnSpc>
              <a:spcBef>
                <a:spcPts val="0"/>
              </a:spcBef>
              <a:spcAft>
                <a:spcPts val="200"/>
              </a:spcAft>
            </a:pPr>
            <a:r>
              <a:rPr sz="1250" b="1" i="0">
                <a:solidFill>
                  <a:srgbClr val="5B3E83"/>
                </a:solidFill>
                <a:latin typeface="Inter"/>
              </a:rPr>
              <a:t>los / las</a:t>
            </a:r>
          </a:p>
        </p:txBody>
      </p:sp>
      <p:sp>
        <p:nvSpPr>
          <p:cNvPr id="32" name="TextBox 31"/>
          <p:cNvSpPr txBox="1"/>
          <p:nvPr/>
        </p:nvSpPr>
        <p:spPr>
          <a:xfrm>
            <a:off x="2331719" y="4233672"/>
            <a:ext cx="1645920" cy="566928"/>
          </a:xfrm>
          <a:prstGeom prst="rect">
            <a:avLst/>
          </a:prstGeom>
          <a:noFill/>
        </p:spPr>
        <p:txBody>
          <a:bodyPr wrap="square" anchor="ctr" lIns="38100" rIns="38100" tIns="25400" bIns="25400">
            <a:spAutoFit/>
          </a:bodyPr>
          <a:lstStyle/>
          <a:p>
            <a:pPr algn="l">
              <a:lnSpc>
                <a:spcPct val="106000"/>
              </a:lnSpc>
              <a:spcBef>
                <a:spcPts val="0"/>
              </a:spcBef>
              <a:spcAft>
                <a:spcPts val="200"/>
              </a:spcAft>
            </a:pPr>
            <a:r>
              <a:rPr sz="1100" b="0" i="0">
                <a:solidFill>
                  <a:srgbClr val="20242E"/>
                </a:solidFill>
                <a:latin typeface="Inter"/>
              </a:rPr>
              <a:t>plural (+ -s)</a:t>
            </a:r>
          </a:p>
        </p:txBody>
      </p:sp>
      <p:sp>
        <p:nvSpPr>
          <p:cNvPr id="33" name="Rounded Rectangle 32"/>
          <p:cNvSpPr/>
          <p:nvPr/>
        </p:nvSpPr>
        <p:spPr>
          <a:xfrm>
            <a:off x="4297680" y="2880360"/>
            <a:ext cx="3657600" cy="566928"/>
          </a:xfrm>
          <a:prstGeom prst="roundRect">
            <a:avLst>
              <a:gd name="adj" fmla="val 5500"/>
            </a:avLst>
          </a:prstGeom>
          <a:solidFill>
            <a:srgbClr val="FFFFFF"/>
          </a:solidFill>
          <a:ln w="12700">
            <a:solidFill>
              <a:srgbClr val="E4E3D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4434840" y="2880360"/>
            <a:ext cx="1737360" cy="566928"/>
          </a:xfrm>
          <a:prstGeom prst="rect">
            <a:avLst/>
          </a:prstGeom>
          <a:noFill/>
        </p:spPr>
        <p:txBody>
          <a:bodyPr wrap="square" anchor="ctr" lIns="38100" rIns="38100" tIns="25400" bIns="25400">
            <a:spAutoFit/>
          </a:bodyPr>
          <a:lstStyle/>
          <a:p>
            <a:pPr algn="l">
              <a:lnSpc>
                <a:spcPct val="106000"/>
              </a:lnSpc>
              <a:spcBef>
                <a:spcPts val="0"/>
              </a:spcBef>
              <a:spcAft>
                <a:spcPts val="200"/>
              </a:spcAft>
            </a:pPr>
            <a:r>
              <a:rPr sz="1250" b="1" i="0">
                <a:solidFill>
                  <a:srgbClr val="5B3E83"/>
                </a:solidFill>
                <a:latin typeface="Inter"/>
              </a:rPr>
              <a:t>-o → -a</a:t>
            </a:r>
          </a:p>
        </p:txBody>
      </p:sp>
      <p:sp>
        <p:nvSpPr>
          <p:cNvPr id="35" name="TextBox 34"/>
          <p:cNvSpPr txBox="1"/>
          <p:nvPr/>
        </p:nvSpPr>
        <p:spPr>
          <a:xfrm>
            <a:off x="6172199" y="2880360"/>
            <a:ext cx="1645920" cy="566928"/>
          </a:xfrm>
          <a:prstGeom prst="rect">
            <a:avLst/>
          </a:prstGeom>
          <a:noFill/>
        </p:spPr>
        <p:txBody>
          <a:bodyPr wrap="square" anchor="ctr" lIns="38100" rIns="38100" tIns="25400" bIns="25400">
            <a:spAutoFit/>
          </a:bodyPr>
          <a:lstStyle/>
          <a:p>
            <a:pPr algn="l">
              <a:lnSpc>
                <a:spcPct val="106000"/>
              </a:lnSpc>
              <a:spcBef>
                <a:spcPts val="0"/>
              </a:spcBef>
              <a:spcAft>
                <a:spcPts val="200"/>
              </a:spcAft>
            </a:pPr>
            <a:r>
              <a:rPr sz="1100" b="0" i="0">
                <a:solidFill>
                  <a:srgbClr val="20242E"/>
                </a:solidFill>
                <a:latin typeface="Inter"/>
              </a:rPr>
              <a:t>chico → chica</a:t>
            </a:r>
          </a:p>
        </p:txBody>
      </p:sp>
      <p:sp>
        <p:nvSpPr>
          <p:cNvPr id="36" name="Rounded Rectangle 35"/>
          <p:cNvSpPr/>
          <p:nvPr/>
        </p:nvSpPr>
        <p:spPr>
          <a:xfrm>
            <a:off x="4297680" y="3557016"/>
            <a:ext cx="3657600" cy="566928"/>
          </a:xfrm>
          <a:prstGeom prst="roundRect">
            <a:avLst>
              <a:gd name="adj" fmla="val 5500"/>
            </a:avLst>
          </a:prstGeom>
          <a:solidFill>
            <a:srgbClr val="FFFFFF"/>
          </a:solidFill>
          <a:ln w="12700">
            <a:solidFill>
              <a:srgbClr val="E4E3D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4434840" y="3557016"/>
            <a:ext cx="1737360" cy="566928"/>
          </a:xfrm>
          <a:prstGeom prst="rect">
            <a:avLst/>
          </a:prstGeom>
          <a:noFill/>
        </p:spPr>
        <p:txBody>
          <a:bodyPr wrap="square" anchor="ctr" lIns="38100" rIns="38100" tIns="25400" bIns="25400">
            <a:spAutoFit/>
          </a:bodyPr>
          <a:lstStyle/>
          <a:p>
            <a:pPr algn="l">
              <a:lnSpc>
                <a:spcPct val="106000"/>
              </a:lnSpc>
              <a:spcBef>
                <a:spcPts val="0"/>
              </a:spcBef>
              <a:spcAft>
                <a:spcPts val="200"/>
              </a:spcAft>
            </a:pPr>
            <a:r>
              <a:rPr sz="1250" b="1" i="0">
                <a:solidFill>
                  <a:srgbClr val="5B3E83"/>
                </a:solidFill>
                <a:latin typeface="Inter"/>
              </a:rPr>
              <a:t>🔴 el problema</a:t>
            </a:r>
          </a:p>
        </p:txBody>
      </p:sp>
      <p:sp>
        <p:nvSpPr>
          <p:cNvPr id="38" name="TextBox 37"/>
          <p:cNvSpPr txBox="1"/>
          <p:nvPr/>
        </p:nvSpPr>
        <p:spPr>
          <a:xfrm>
            <a:off x="6172199" y="3557016"/>
            <a:ext cx="1645920" cy="566928"/>
          </a:xfrm>
          <a:prstGeom prst="rect">
            <a:avLst/>
          </a:prstGeom>
          <a:noFill/>
        </p:spPr>
        <p:txBody>
          <a:bodyPr wrap="square" anchor="ctr" lIns="38100" rIns="38100" tIns="25400" bIns="25400">
            <a:spAutoFit/>
          </a:bodyPr>
          <a:lstStyle/>
          <a:p>
            <a:pPr algn="l">
              <a:lnSpc>
                <a:spcPct val="106000"/>
              </a:lnSpc>
              <a:spcBef>
                <a:spcPts val="0"/>
              </a:spcBef>
              <a:spcAft>
                <a:spcPts val="200"/>
              </a:spcAft>
            </a:pPr>
            <a:r>
              <a:rPr sz="1100" b="0" i="0">
                <a:solidFill>
                  <a:srgbClr val="20242E"/>
                </a:solidFill>
                <a:latin typeface="Inter"/>
              </a:rPr>
              <a:t>-ma = m.</a:t>
            </a:r>
          </a:p>
        </p:txBody>
      </p:sp>
      <p:sp>
        <p:nvSpPr>
          <p:cNvPr id="39" name="Rounded Rectangle 38"/>
          <p:cNvSpPr/>
          <p:nvPr/>
        </p:nvSpPr>
        <p:spPr>
          <a:xfrm>
            <a:off x="4297680" y="4233672"/>
            <a:ext cx="3657600" cy="566928"/>
          </a:xfrm>
          <a:prstGeom prst="roundRect">
            <a:avLst>
              <a:gd name="adj" fmla="val 5500"/>
            </a:avLst>
          </a:prstGeom>
          <a:solidFill>
            <a:srgbClr val="FFFFFF"/>
          </a:solidFill>
          <a:ln w="12700">
            <a:solidFill>
              <a:srgbClr val="E4E3D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4434840" y="4233672"/>
            <a:ext cx="1737360" cy="566928"/>
          </a:xfrm>
          <a:prstGeom prst="rect">
            <a:avLst/>
          </a:prstGeom>
          <a:noFill/>
        </p:spPr>
        <p:txBody>
          <a:bodyPr wrap="square" anchor="ctr" lIns="38100" rIns="38100" tIns="25400" bIns="25400">
            <a:spAutoFit/>
          </a:bodyPr>
          <a:lstStyle/>
          <a:p>
            <a:pPr algn="l">
              <a:lnSpc>
                <a:spcPct val="106000"/>
              </a:lnSpc>
              <a:spcBef>
                <a:spcPts val="0"/>
              </a:spcBef>
              <a:spcAft>
                <a:spcPts val="200"/>
              </a:spcAft>
            </a:pPr>
            <a:r>
              <a:rPr sz="1250" b="1" i="0">
                <a:solidFill>
                  <a:srgbClr val="5B3E83"/>
                </a:solidFill>
                <a:latin typeface="Inter"/>
              </a:rPr>
              <a:t>🔴 la mano</a:t>
            </a:r>
          </a:p>
        </p:txBody>
      </p:sp>
      <p:sp>
        <p:nvSpPr>
          <p:cNvPr id="41" name="TextBox 40"/>
          <p:cNvSpPr txBox="1"/>
          <p:nvPr/>
        </p:nvSpPr>
        <p:spPr>
          <a:xfrm>
            <a:off x="6172199" y="4233672"/>
            <a:ext cx="1645920" cy="566928"/>
          </a:xfrm>
          <a:prstGeom prst="rect">
            <a:avLst/>
          </a:prstGeom>
          <a:noFill/>
        </p:spPr>
        <p:txBody>
          <a:bodyPr wrap="square" anchor="ctr" lIns="38100" rIns="38100" tIns="25400" bIns="25400">
            <a:spAutoFit/>
          </a:bodyPr>
          <a:lstStyle/>
          <a:p>
            <a:pPr algn="l">
              <a:lnSpc>
                <a:spcPct val="106000"/>
              </a:lnSpc>
              <a:spcBef>
                <a:spcPts val="0"/>
              </a:spcBef>
              <a:spcAft>
                <a:spcPts val="200"/>
              </a:spcAft>
            </a:pPr>
            <a:r>
              <a:rPr sz="1100" b="0" i="0">
                <a:solidFill>
                  <a:srgbClr val="20242E"/>
                </a:solidFill>
                <a:latin typeface="Inter"/>
              </a:rPr>
              <a:t>-o = f.</a:t>
            </a:r>
          </a:p>
        </p:txBody>
      </p:sp>
      <p:sp>
        <p:nvSpPr>
          <p:cNvPr id="42" name="Rounded Rectangle 41"/>
          <p:cNvSpPr/>
          <p:nvPr/>
        </p:nvSpPr>
        <p:spPr>
          <a:xfrm>
            <a:off x="457200" y="6053328"/>
            <a:ext cx="2093976" cy="365760"/>
          </a:xfrm>
          <a:prstGeom prst="roundRect">
            <a:avLst>
              <a:gd name="adj" fmla="val 50000"/>
            </a:avLst>
          </a:prstGeom>
          <a:solidFill>
            <a:srgbClr val="7C56A9"/>
          </a:solidFill>
          <a:ln w="12700">
            <a:solidFill>
              <a:srgbClr val="E4E3DE"/>
            </a:solidFill>
          </a:ln>
          <a:effectLst/>
        </p:spPr>
        <p:style>
          <a:lnRef idx="1">
            <a:schemeClr val="accent1"/>
          </a:lnRef>
          <a:fillRef idx="3">
            <a:schemeClr val="accent1"/>
          </a:fillRef>
          <a:effectRef idx="2">
            <a:schemeClr val="accent1"/>
          </a:effectRef>
          <a:fontRef idx="minor">
            <a:schemeClr val="lt1"/>
          </a:fontRef>
        </p:style>
        <p:txBody>
          <a:bodyPr rtlCol="0" anchor="ctr" tIns="12700" bIns="12700"/>
          <a:lstStyle/>
          <a:p>
            <a:pPr algn="ctr"/>
            <a:r>
              <a:rPr sz="1050" b="1">
                <a:solidFill>
                  <a:srgbClr val="FFFFFF"/>
                </a:solidFill>
                <a:latin typeface="Inter"/>
              </a:rPr>
              <a:t>▶  Mostrar solución</a:t>
            </a:r>
          </a:p>
        </p:txBody>
      </p:sp>
      <p:sp>
        <p:nvSpPr>
          <p:cNvPr id="43" name="Rounded Rectangle 42"/>
          <p:cNvSpPr/>
          <p:nvPr/>
        </p:nvSpPr>
        <p:spPr>
          <a:xfrm>
            <a:off x="2697480" y="6053328"/>
            <a:ext cx="1088136" cy="365760"/>
          </a:xfrm>
          <a:prstGeom prst="roundRect">
            <a:avLst>
              <a:gd name="adj" fmla="val 50000"/>
            </a:avLst>
          </a:prstGeom>
          <a:solidFill>
            <a:srgbClr val="FFFFFF"/>
          </a:solidFill>
          <a:ln w="12700">
            <a:solidFill>
              <a:srgbClr val="E4E3DE"/>
            </a:solidFill>
          </a:ln>
          <a:effectLst/>
        </p:spPr>
        <p:style>
          <a:lnRef idx="1">
            <a:schemeClr val="accent1"/>
          </a:lnRef>
          <a:fillRef idx="3">
            <a:schemeClr val="accent1"/>
          </a:fillRef>
          <a:effectRef idx="2">
            <a:schemeClr val="accent1"/>
          </a:effectRef>
          <a:fontRef idx="minor">
            <a:schemeClr val="lt1"/>
          </a:fontRef>
        </p:style>
        <p:txBody>
          <a:bodyPr rtlCol="0" anchor="ctr" tIns="12700" bIns="12700"/>
          <a:lstStyle/>
          <a:p>
            <a:pPr algn="ctr"/>
            <a:r>
              <a:rPr sz="1050" b="1">
                <a:solidFill>
                  <a:srgbClr val="5B3E83"/>
                </a:solidFill>
                <a:latin typeface="Inter"/>
              </a:rPr>
              <a:t>⏭  Saltar</a:t>
            </a:r>
          </a:p>
        </p:txBody>
      </p:sp>
      <p:sp>
        <p:nvSpPr>
          <p:cNvPr id="44" name="Rounded Rectangle 43">
            <a:hlinkClick action="ppaction://hlinksldjump" r:id="rId3"/>
          </p:cNvPr>
          <p:cNvSpPr/>
          <p:nvPr/>
        </p:nvSpPr>
        <p:spPr>
          <a:xfrm>
            <a:off x="3931920" y="6053328"/>
            <a:ext cx="1691639" cy="365760"/>
          </a:xfrm>
          <a:prstGeom prst="roundRect">
            <a:avLst>
              <a:gd name="adj" fmla="val 50000"/>
            </a:avLst>
          </a:prstGeom>
          <a:solidFill>
            <a:srgbClr val="FFFFFF"/>
          </a:solidFill>
          <a:ln w="12700">
            <a:solidFill>
              <a:srgbClr val="E4E3DE"/>
            </a:solidFill>
          </a:ln>
          <a:effectLst/>
        </p:spPr>
        <p:style>
          <a:lnRef idx="1">
            <a:schemeClr val="accent1"/>
          </a:lnRef>
          <a:fillRef idx="3">
            <a:schemeClr val="accent1"/>
          </a:fillRef>
          <a:effectRef idx="2">
            <a:schemeClr val="accent1"/>
          </a:effectRef>
          <a:fontRef idx="minor">
            <a:schemeClr val="lt1"/>
          </a:fontRef>
        </p:style>
        <p:txBody>
          <a:bodyPr rtlCol="0" anchor="ctr" tIns="12700" bIns="12700"/>
          <a:lstStyle/>
          <a:p>
            <a:pPr algn="ctr"/>
            <a:r>
              <a:rPr sz="1050" b="1">
                <a:solidFill>
                  <a:srgbClr val="5B3E83"/>
                </a:solidFill>
                <a:latin typeface="Inter"/>
              </a:rPr>
              <a:t>⌂  Menú (dia 2)</a:t>
            </a:r>
          </a:p>
        </p:txBody>
      </p:sp>
      <p:sp>
        <p:nvSpPr>
          <p:cNvPr id="45" name="TextBox 44"/>
          <p:cNvSpPr txBox="1"/>
          <p:nvPr/>
        </p:nvSpPr>
        <p:spPr>
          <a:xfrm>
            <a:off x="8321040" y="6053328"/>
            <a:ext cx="3383280" cy="365760"/>
          </a:xfrm>
          <a:prstGeom prst="rect">
            <a:avLst/>
          </a:prstGeom>
          <a:noFill/>
        </p:spPr>
        <p:txBody>
          <a:bodyPr wrap="square" anchor="ctr" lIns="38100" rIns="38100" tIns="25400" bIns="25400">
            <a:spAutoFit/>
          </a:bodyPr>
          <a:lstStyle/>
          <a:p>
            <a:pPr algn="r">
              <a:lnSpc>
                <a:spcPct val="106000"/>
              </a:lnSpc>
              <a:spcBef>
                <a:spcPts val="0"/>
              </a:spcBef>
              <a:spcAft>
                <a:spcPts val="200"/>
              </a:spcAft>
            </a:pPr>
            <a:r>
              <a:rPr sz="850" b="0" i="1">
                <a:solidFill>
                  <a:srgbClr val="6A6E78"/>
                </a:solidFill>
                <a:latin typeface="Inter"/>
              </a:rPr>
              <a:t>Noodroute (§5): werkt zonder audio/internet</a:t>
            </a:r>
          </a:p>
        </p:txBody>
      </p:sp>
      <p:sp>
        <p:nvSpPr>
          <p:cNvPr id="46" name="Rounded Rectangle 45"/>
          <p:cNvSpPr/>
          <p:nvPr/>
        </p:nvSpPr>
        <p:spPr>
          <a:xfrm>
            <a:off x="457200" y="4892040"/>
            <a:ext cx="11247120" cy="685800"/>
          </a:xfrm>
          <a:prstGeom prst="roundRect">
            <a:avLst>
              <a:gd name="adj" fmla="val 6000"/>
            </a:avLst>
          </a:prstGeom>
          <a:solidFill>
            <a:srgbClr val="EEE8F5"/>
          </a:solidFill>
          <a:ln w="19050">
            <a:solidFill>
              <a:srgbClr val="7C56A9"/>
            </a:solidFill>
          </a:ln>
          <a:effectLst/>
        </p:spPr>
        <p:style>
          <a:lnRef idx="1">
            <a:schemeClr val="accent1"/>
          </a:lnRef>
          <a:fillRef idx="3">
            <a:schemeClr val="accent1"/>
          </a:fillRef>
          <a:effectRef idx="2">
            <a:schemeClr val="accent1"/>
          </a:effectRef>
          <a:fontRef idx="minor">
            <a:schemeClr val="lt1"/>
          </a:fontRef>
        </p:style>
        <p:txBody>
          <a:bodyPr rtlCol="0" anchor="ctr" wrap="square" lIns="127000" rIns="127000" tIns="139700" bIns="76200"/>
          <a:lstStyle/>
          <a:p>
            <a:pPr algn="ctr">
              <a:lnSpc>
                <a:spcPct val="102000"/>
              </a:lnSpc>
              <a:spcBef>
                <a:spcPts val="0"/>
              </a:spcBef>
              <a:spcAft>
                <a:spcPts val="300"/>
              </a:spcAft>
            </a:pPr>
            <a:r>
              <a:rPr sz="1200" b="1" i="0">
                <a:solidFill>
                  <a:srgbClr val="5B3E83"/>
                </a:solidFill>
                <a:latin typeface="Inter"/>
              </a:rPr>
              <a:t>Regla: </a:t>
            </a:r>
            <a:r>
              <a:rPr sz="1200" b="0" i="0">
                <a:solidFill>
                  <a:srgbClr val="5B3E83"/>
                </a:solidFill>
                <a:latin typeface="Inter"/>
              </a:rPr>
              <a:t>lidwoord + adjectief komen overeen in geslacht én getal. Uitzonderingen: el día/mapa/problema (m), la mano/foto (f).</a:t>
            </a:r>
          </a:p>
        </p:txBody>
      </p:sp>
      <p:sp>
        <p:nvSpPr>
          <p:cNvPr id="47" name="Rounded Rectangle 46"/>
          <p:cNvSpPr/>
          <p:nvPr/>
        </p:nvSpPr>
        <p:spPr>
          <a:xfrm>
            <a:off x="594360" y="4764024"/>
            <a:ext cx="1296619" cy="292608"/>
          </a:xfrm>
          <a:prstGeom prst="roundRect">
            <a:avLst>
              <a:gd name="adj" fmla="val 50000"/>
            </a:avLst>
          </a:prstGeom>
          <a:solidFill>
            <a:srgbClr val="7C56A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88900" rIns="88900" tIns="12700" bIns="12700"/>
          <a:lstStyle/>
          <a:p>
            <a:pPr algn="ctr"/>
            <a:r>
              <a:rPr sz="950" b="1">
                <a:solidFill>
                  <a:srgbClr val="FFFFFF"/>
                </a:solidFill>
                <a:latin typeface="Inter"/>
              </a:rPr>
              <a:t>REGLA · docent</a:t>
            </a:r>
          </a:p>
        </p:txBody>
      </p:sp>
      <p:sp>
        <p:nvSpPr>
          <p:cNvPr id="48" name="Rectangle 47"/>
          <p:cNvSpPr/>
          <p:nvPr/>
        </p:nvSpPr>
        <p:spPr>
          <a:xfrm>
            <a:off x="0" y="6547104"/>
            <a:ext cx="12191695" cy="310896"/>
          </a:xfrm>
          <a:prstGeom prst="rect">
            <a:avLst/>
          </a:prstGeom>
          <a:solidFill>
            <a:srgbClr val="F3EE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411480" y="6565392"/>
            <a:ext cx="5486400" cy="274320"/>
          </a:xfrm>
          <a:prstGeom prst="rect">
            <a:avLst/>
          </a:prstGeom>
          <a:noFill/>
        </p:spPr>
        <p:txBody>
          <a:bodyPr wrap="square" anchor="ctr" lIns="38100" rIns="38100" tIns="25400" bIns="25400">
            <a:spAutoFit/>
          </a:bodyPr>
          <a:lstStyle/>
          <a:p>
            <a:pPr algn="l">
              <a:lnSpc>
                <a:spcPct val="106000"/>
              </a:lnSpc>
              <a:spcBef>
                <a:spcPts val="0"/>
              </a:spcBef>
              <a:spcAft>
                <a:spcPts val="200"/>
              </a:spcAft>
            </a:pPr>
            <a:r>
              <a:rPr sz="1100" b="1" i="0">
                <a:solidFill>
                  <a:srgbClr val="7C56A9"/>
                </a:solidFill>
                <a:latin typeface="Inter"/>
              </a:rPr>
              <a:t>● </a:t>
            </a:r>
            <a:r>
              <a:rPr sz="950" b="0" i="0">
                <a:solidFill>
                  <a:srgbClr val="6A6E78"/>
                </a:solidFill>
                <a:latin typeface="Inter"/>
              </a:rPr>
              <a:t>U0 · ¡VOLVEMOS!   ·   C6+ · el reencuentro</a:t>
            </a:r>
          </a:p>
        </p:txBody>
      </p:sp>
      <p:sp>
        <p:nvSpPr>
          <p:cNvPr id="50" name="TextBox 49"/>
          <p:cNvSpPr txBox="1"/>
          <p:nvPr/>
        </p:nvSpPr>
        <p:spPr>
          <a:xfrm>
            <a:off x="8686800" y="6565392"/>
            <a:ext cx="3063240" cy="274320"/>
          </a:xfrm>
          <a:prstGeom prst="rect">
            <a:avLst/>
          </a:prstGeom>
          <a:noFill/>
        </p:spPr>
        <p:txBody>
          <a:bodyPr wrap="square" anchor="ctr" lIns="38100" rIns="38100" tIns="25400" bIns="25400">
            <a:spAutoFit/>
          </a:bodyPr>
          <a:lstStyle/>
          <a:p>
            <a:pPr algn="r">
              <a:lnSpc>
                <a:spcPct val="106000"/>
              </a:lnSpc>
              <a:spcBef>
                <a:spcPts val="0"/>
              </a:spcBef>
              <a:spcAft>
                <a:spcPts val="200"/>
              </a:spcAft>
            </a:pPr>
            <a:r>
              <a:rPr sz="900" b="0" i="1">
                <a:solidFill>
                  <a:srgbClr val="6A6E78"/>
                </a:solidFill>
                <a:latin typeface="Inter"/>
              </a:rPr>
              <a:t>Docentenversie — met oplossingen</a:t>
            </a:r>
          </a:p>
        </p:txBody>
      </p:sp>
      <p:sp>
        <p:nvSpPr>
          <p:cNvPr id="51" name="TextBox 50"/>
          <p:cNvSpPr txBox="1"/>
          <p:nvPr/>
        </p:nvSpPr>
        <p:spPr>
          <a:xfrm>
            <a:off x="11475720" y="6565392"/>
            <a:ext cx="457200" cy="274320"/>
          </a:xfrm>
          <a:prstGeom prst="rect">
            <a:avLst/>
          </a:prstGeom>
          <a:noFill/>
        </p:spPr>
        <p:txBody>
          <a:bodyPr wrap="square" anchor="ctr" lIns="38100" rIns="38100" tIns="25400" bIns="25400">
            <a:spAutoFit/>
          </a:bodyPr>
          <a:lstStyle/>
          <a:p>
            <a:pPr algn="r">
              <a:lnSpc>
                <a:spcPct val="106000"/>
              </a:lnSpc>
              <a:spcBef>
                <a:spcPts val="0"/>
              </a:spcBef>
              <a:spcAft>
                <a:spcPts val="200"/>
              </a:spcAft>
            </a:pPr>
            <a:r>
              <a:rPr sz="950" b="1" i="0">
                <a:solidFill>
                  <a:srgbClr val="5B3E83"/>
                </a:solidFill>
                <a:latin typeface="Inter"/>
              </a:rPr>
              <a:t>7</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46"/>
                                        </p:tgtEl>
                                        <p:attrNameLst>
                                          <p:attrName>style.visibility</p:attrName>
                                        </p:attrNameLst>
                                      </p:cBhvr>
                                      <p:to>
                                        <p:strVal val="visible"/>
                                      </p:to>
                                    </p:set>
                                    <p:animEffect transition="in" filter="fade">
                                      <p:cBhvr>
                                        <p:cTn id="7" dur="500"/>
                                        <p:tgtEl>
                                          <p:spTgt spid="46"/>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47"/>
                                        </p:tgtEl>
                                        <p:attrNameLst>
                                          <p:attrName>style.visibility</p:attrName>
                                        </p:attrNameLst>
                                      </p:cBhvr>
                                      <p:to>
                                        <p:strVal val="visible"/>
                                      </p:to>
                                    </p:set>
                                    <p:animEffect transition="in" filter="fade">
                                      <p:cBhvr>
                                        <p:cTn id="12" dur="500"/>
                                        <p:tgtEl>
                                          <p:spTgt spid="4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C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78992"/>
          </a:xfrm>
          <a:prstGeom prst="rect">
            <a:avLst/>
          </a:prstGeom>
          <a:solidFill>
            <a:srgbClr val="7C56A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78992"/>
            <a:ext cx="12191695" cy="54864"/>
          </a:xfrm>
          <a:prstGeom prst="rect">
            <a:avLst/>
          </a:prstGeom>
          <a:solidFill>
            <a:srgbClr val="5B3E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02920" y="182880"/>
            <a:ext cx="875995" cy="292608"/>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88900" rIns="88900" tIns="12700" bIns="12700"/>
          <a:lstStyle/>
          <a:p>
            <a:pPr algn="ctr"/>
            <a:r>
              <a:rPr sz="1100" b="1">
                <a:solidFill>
                  <a:srgbClr val="7C56A9"/>
                </a:solidFill>
                <a:latin typeface="Inter"/>
              </a:rPr>
              <a:t>§3 · QUIZ</a:t>
            </a:r>
          </a:p>
        </p:txBody>
      </p:sp>
      <p:sp>
        <p:nvSpPr>
          <p:cNvPr id="6" name="TextBox 5"/>
          <p:cNvSpPr txBox="1"/>
          <p:nvPr/>
        </p:nvSpPr>
        <p:spPr>
          <a:xfrm>
            <a:off x="10424160" y="-137160"/>
            <a:ext cx="1737360" cy="1371600"/>
          </a:xfrm>
          <a:prstGeom prst="rect">
            <a:avLst/>
          </a:prstGeom>
          <a:noFill/>
        </p:spPr>
        <p:txBody>
          <a:bodyPr wrap="square" anchor="t" lIns="38100" rIns="38100" tIns="25400" bIns="25400">
            <a:spAutoFit/>
          </a:bodyPr>
          <a:lstStyle/>
          <a:p>
            <a:pPr algn="r">
              <a:lnSpc>
                <a:spcPct val="106000"/>
              </a:lnSpc>
              <a:spcBef>
                <a:spcPts val="0"/>
              </a:spcBef>
              <a:spcAft>
                <a:spcPts val="200"/>
              </a:spcAft>
            </a:pPr>
            <a:r>
              <a:rPr sz="8800" b="1" i="0">
                <a:solidFill>
                  <a:srgbClr val="FFFFFF"/>
                </a:solidFill>
                <a:latin typeface="Bricolage Grotesque"/>
              </a:rPr>
              <a:t>3</a:t>
            </a:r>
          </a:p>
        </p:txBody>
      </p:sp>
      <p:sp>
        <p:nvSpPr>
          <p:cNvPr id="7" name="TextBox 6"/>
          <p:cNvSpPr txBox="1"/>
          <p:nvPr/>
        </p:nvSpPr>
        <p:spPr>
          <a:xfrm>
            <a:off x="457200" y="457200"/>
            <a:ext cx="9692640" cy="502920"/>
          </a:xfrm>
          <a:prstGeom prst="rect">
            <a:avLst/>
          </a:prstGeom>
          <a:noFill/>
        </p:spPr>
        <p:txBody>
          <a:bodyPr wrap="square" anchor="ctr" lIns="38100" rIns="38100" tIns="25400" bIns="25400">
            <a:spAutoFit/>
          </a:bodyPr>
          <a:lstStyle/>
          <a:p>
            <a:pPr algn="l">
              <a:lnSpc>
                <a:spcPct val="106000"/>
              </a:lnSpc>
              <a:spcBef>
                <a:spcPts val="0"/>
              </a:spcBef>
              <a:spcAft>
                <a:spcPts val="200"/>
              </a:spcAft>
            </a:pPr>
            <a:r>
              <a:rPr sz="2700" b="1" i="0">
                <a:solidFill>
                  <a:srgbClr val="FFFFFF"/>
                </a:solidFill>
                <a:latin typeface="Bricolage Grotesque"/>
              </a:rPr>
              <a:t>¿el o la?</a:t>
            </a:r>
          </a:p>
        </p:txBody>
      </p:sp>
      <p:sp>
        <p:nvSpPr>
          <p:cNvPr id="8" name="TextBox 7"/>
          <p:cNvSpPr txBox="1"/>
          <p:nvPr/>
        </p:nvSpPr>
        <p:spPr>
          <a:xfrm>
            <a:off x="502920" y="932688"/>
            <a:ext cx="9692640" cy="274320"/>
          </a:xfrm>
          <a:prstGeom prst="rect">
            <a:avLst/>
          </a:prstGeom>
          <a:noFill/>
        </p:spPr>
        <p:txBody>
          <a:bodyPr wrap="square" anchor="t" lIns="38100" rIns="38100" tIns="25400" bIns="25400">
            <a:spAutoFit/>
          </a:bodyPr>
          <a:lstStyle/>
          <a:p>
            <a:pPr algn="l">
              <a:lnSpc>
                <a:spcPct val="106000"/>
              </a:lnSpc>
              <a:spcBef>
                <a:spcPts val="0"/>
              </a:spcBef>
              <a:spcAft>
                <a:spcPts val="200"/>
              </a:spcAft>
            </a:pPr>
            <a:r>
              <a:rPr sz="1250" b="0" i="1">
                <a:solidFill>
                  <a:srgbClr val="EEE8F5"/>
                </a:solidFill>
                <a:latin typeface="Inter"/>
              </a:rPr>
              <a:t>Klik een woord → het juiste lidwoord. Let op de valstrikken.</a:t>
            </a:r>
          </a:p>
        </p:txBody>
      </p:sp>
      <p:sp>
        <p:nvSpPr>
          <p:cNvPr id="9" name="Rounded Rectangle 8"/>
          <p:cNvSpPr/>
          <p:nvPr/>
        </p:nvSpPr>
        <p:spPr>
          <a:xfrm>
            <a:off x="457200" y="1600200"/>
            <a:ext cx="5532120" cy="713232"/>
          </a:xfrm>
          <a:prstGeom prst="roundRect">
            <a:avLst>
              <a:gd name="adj" fmla="val 5500"/>
            </a:avLst>
          </a:prstGeom>
          <a:solidFill>
            <a:srgbClr val="FFFFFF"/>
          </a:solidFill>
          <a:ln w="12700">
            <a:solidFill>
              <a:srgbClr val="E4E3D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94360" y="1600200"/>
            <a:ext cx="3291840" cy="713232"/>
          </a:xfrm>
          <a:prstGeom prst="rect">
            <a:avLst/>
          </a:prstGeom>
          <a:noFill/>
        </p:spPr>
        <p:txBody>
          <a:bodyPr wrap="square" anchor="ctr" lIns="38100" rIns="38100" tIns="25400" bIns="25400">
            <a:spAutoFit/>
          </a:bodyPr>
          <a:lstStyle/>
          <a:p>
            <a:pPr algn="l">
              <a:lnSpc>
                <a:spcPct val="106000"/>
              </a:lnSpc>
              <a:spcBef>
                <a:spcPts val="0"/>
              </a:spcBef>
              <a:spcAft>
                <a:spcPts val="200"/>
              </a:spcAft>
            </a:pPr>
            <a:r>
              <a:rPr sz="1300" b="0" i="0">
                <a:solidFill>
                  <a:srgbClr val="20242E"/>
                </a:solidFill>
                <a:latin typeface="Inter"/>
              </a:rPr>
              <a:t>___ casa</a:t>
            </a:r>
          </a:p>
        </p:txBody>
      </p:sp>
      <p:sp>
        <p:nvSpPr>
          <p:cNvPr id="11" name="TextBox 10"/>
          <p:cNvSpPr txBox="1"/>
          <p:nvPr/>
        </p:nvSpPr>
        <p:spPr>
          <a:xfrm>
            <a:off x="3931920" y="1600200"/>
            <a:ext cx="1965960" cy="713232"/>
          </a:xfrm>
          <a:prstGeom prst="rect">
            <a:avLst/>
          </a:prstGeom>
          <a:noFill/>
        </p:spPr>
        <p:txBody>
          <a:bodyPr wrap="square" anchor="ctr" lIns="38100" rIns="38100" tIns="25400" bIns="25400">
            <a:spAutoFit/>
          </a:bodyPr>
          <a:lstStyle/>
          <a:p>
            <a:pPr algn="l">
              <a:lnSpc>
                <a:spcPct val="106000"/>
              </a:lnSpc>
              <a:spcBef>
                <a:spcPts val="0"/>
              </a:spcBef>
              <a:spcAft>
                <a:spcPts val="200"/>
              </a:spcAft>
            </a:pPr>
            <a:r>
              <a:rPr sz="1400" b="1" i="0">
                <a:solidFill>
                  <a:srgbClr val="5B3E83"/>
                </a:solidFill>
                <a:latin typeface="Inter"/>
              </a:rPr>
              <a:t>→ la</a:t>
            </a:r>
          </a:p>
        </p:txBody>
      </p:sp>
      <p:sp>
        <p:nvSpPr>
          <p:cNvPr id="12" name="Rounded Rectangle 11"/>
          <p:cNvSpPr/>
          <p:nvPr/>
        </p:nvSpPr>
        <p:spPr>
          <a:xfrm>
            <a:off x="457200" y="2478024"/>
            <a:ext cx="5532120" cy="713232"/>
          </a:xfrm>
          <a:prstGeom prst="roundRect">
            <a:avLst>
              <a:gd name="adj" fmla="val 5500"/>
            </a:avLst>
          </a:prstGeom>
          <a:solidFill>
            <a:srgbClr val="FFFFFF"/>
          </a:solidFill>
          <a:ln w="12700">
            <a:solidFill>
              <a:srgbClr val="E4E3D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94360" y="2478024"/>
            <a:ext cx="3291840" cy="713232"/>
          </a:xfrm>
          <a:prstGeom prst="rect">
            <a:avLst/>
          </a:prstGeom>
          <a:noFill/>
        </p:spPr>
        <p:txBody>
          <a:bodyPr wrap="square" anchor="ctr" lIns="38100" rIns="38100" tIns="25400" bIns="25400">
            <a:spAutoFit/>
          </a:bodyPr>
          <a:lstStyle/>
          <a:p>
            <a:pPr algn="l">
              <a:lnSpc>
                <a:spcPct val="106000"/>
              </a:lnSpc>
              <a:spcBef>
                <a:spcPts val="0"/>
              </a:spcBef>
              <a:spcAft>
                <a:spcPts val="200"/>
              </a:spcAft>
            </a:pPr>
            <a:r>
              <a:rPr sz="1300" b="0" i="0">
                <a:solidFill>
                  <a:srgbClr val="20242E"/>
                </a:solidFill>
                <a:latin typeface="Inter"/>
              </a:rPr>
              <a:t>___ problema</a:t>
            </a:r>
          </a:p>
        </p:txBody>
      </p:sp>
      <p:sp>
        <p:nvSpPr>
          <p:cNvPr id="14" name="TextBox 13"/>
          <p:cNvSpPr txBox="1"/>
          <p:nvPr/>
        </p:nvSpPr>
        <p:spPr>
          <a:xfrm>
            <a:off x="3931920" y="2478024"/>
            <a:ext cx="1965960" cy="713232"/>
          </a:xfrm>
          <a:prstGeom prst="rect">
            <a:avLst/>
          </a:prstGeom>
          <a:noFill/>
        </p:spPr>
        <p:txBody>
          <a:bodyPr wrap="square" anchor="ctr" lIns="38100" rIns="38100" tIns="25400" bIns="25400">
            <a:spAutoFit/>
          </a:bodyPr>
          <a:lstStyle/>
          <a:p>
            <a:pPr algn="l">
              <a:lnSpc>
                <a:spcPct val="106000"/>
              </a:lnSpc>
              <a:spcBef>
                <a:spcPts val="0"/>
              </a:spcBef>
              <a:spcAft>
                <a:spcPts val="200"/>
              </a:spcAft>
            </a:pPr>
            <a:r>
              <a:rPr sz="1400" b="1" i="0">
                <a:solidFill>
                  <a:srgbClr val="5B3E83"/>
                </a:solidFill>
                <a:latin typeface="Inter"/>
              </a:rPr>
              <a:t>→ el</a:t>
            </a:r>
          </a:p>
        </p:txBody>
      </p:sp>
      <p:sp>
        <p:nvSpPr>
          <p:cNvPr id="15" name="Rounded Rectangle 14"/>
          <p:cNvSpPr/>
          <p:nvPr/>
        </p:nvSpPr>
        <p:spPr>
          <a:xfrm>
            <a:off x="457200" y="3355848"/>
            <a:ext cx="5532120" cy="713232"/>
          </a:xfrm>
          <a:prstGeom prst="roundRect">
            <a:avLst>
              <a:gd name="adj" fmla="val 5500"/>
            </a:avLst>
          </a:prstGeom>
          <a:solidFill>
            <a:srgbClr val="FFFFFF"/>
          </a:solidFill>
          <a:ln w="12700">
            <a:solidFill>
              <a:srgbClr val="E4E3D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94360" y="3355848"/>
            <a:ext cx="3291840" cy="713232"/>
          </a:xfrm>
          <a:prstGeom prst="rect">
            <a:avLst/>
          </a:prstGeom>
          <a:noFill/>
        </p:spPr>
        <p:txBody>
          <a:bodyPr wrap="square" anchor="ctr" lIns="38100" rIns="38100" tIns="25400" bIns="25400">
            <a:spAutoFit/>
          </a:bodyPr>
          <a:lstStyle/>
          <a:p>
            <a:pPr algn="l">
              <a:lnSpc>
                <a:spcPct val="106000"/>
              </a:lnSpc>
              <a:spcBef>
                <a:spcPts val="0"/>
              </a:spcBef>
              <a:spcAft>
                <a:spcPts val="200"/>
              </a:spcAft>
            </a:pPr>
            <a:r>
              <a:rPr sz="1300" b="0" i="0">
                <a:solidFill>
                  <a:srgbClr val="20242E"/>
                </a:solidFill>
                <a:latin typeface="Inter"/>
              </a:rPr>
              <a:t>___ día</a:t>
            </a:r>
          </a:p>
        </p:txBody>
      </p:sp>
      <p:sp>
        <p:nvSpPr>
          <p:cNvPr id="17" name="TextBox 16"/>
          <p:cNvSpPr txBox="1"/>
          <p:nvPr/>
        </p:nvSpPr>
        <p:spPr>
          <a:xfrm>
            <a:off x="3931920" y="3355848"/>
            <a:ext cx="1965960" cy="713232"/>
          </a:xfrm>
          <a:prstGeom prst="rect">
            <a:avLst/>
          </a:prstGeom>
          <a:noFill/>
        </p:spPr>
        <p:txBody>
          <a:bodyPr wrap="square" anchor="ctr" lIns="38100" rIns="38100" tIns="25400" bIns="25400">
            <a:spAutoFit/>
          </a:bodyPr>
          <a:lstStyle/>
          <a:p>
            <a:pPr algn="l">
              <a:lnSpc>
                <a:spcPct val="106000"/>
              </a:lnSpc>
              <a:spcBef>
                <a:spcPts val="0"/>
              </a:spcBef>
              <a:spcAft>
                <a:spcPts val="200"/>
              </a:spcAft>
            </a:pPr>
            <a:r>
              <a:rPr sz="1400" b="1" i="0">
                <a:solidFill>
                  <a:srgbClr val="5B3E83"/>
                </a:solidFill>
                <a:latin typeface="Inter"/>
              </a:rPr>
              <a:t>→ el</a:t>
            </a:r>
          </a:p>
        </p:txBody>
      </p:sp>
      <p:sp>
        <p:nvSpPr>
          <p:cNvPr id="18" name="Rounded Rectangle 17"/>
          <p:cNvSpPr/>
          <p:nvPr/>
        </p:nvSpPr>
        <p:spPr>
          <a:xfrm>
            <a:off x="6172200" y="1600200"/>
            <a:ext cx="5532120" cy="713232"/>
          </a:xfrm>
          <a:prstGeom prst="roundRect">
            <a:avLst>
              <a:gd name="adj" fmla="val 5500"/>
            </a:avLst>
          </a:prstGeom>
          <a:solidFill>
            <a:srgbClr val="FFFFFF"/>
          </a:solidFill>
          <a:ln w="12700">
            <a:solidFill>
              <a:srgbClr val="E4E3D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309360" y="1600200"/>
            <a:ext cx="3291840" cy="713232"/>
          </a:xfrm>
          <a:prstGeom prst="rect">
            <a:avLst/>
          </a:prstGeom>
          <a:noFill/>
        </p:spPr>
        <p:txBody>
          <a:bodyPr wrap="square" anchor="ctr" lIns="38100" rIns="38100" tIns="25400" bIns="25400">
            <a:spAutoFit/>
          </a:bodyPr>
          <a:lstStyle/>
          <a:p>
            <a:pPr algn="l">
              <a:lnSpc>
                <a:spcPct val="106000"/>
              </a:lnSpc>
              <a:spcBef>
                <a:spcPts val="0"/>
              </a:spcBef>
              <a:spcAft>
                <a:spcPts val="200"/>
              </a:spcAft>
            </a:pPr>
            <a:r>
              <a:rPr sz="1300" b="0" i="0">
                <a:solidFill>
                  <a:srgbClr val="20242E"/>
                </a:solidFill>
                <a:latin typeface="Inter"/>
              </a:rPr>
              <a:t>___ mano</a:t>
            </a:r>
          </a:p>
        </p:txBody>
      </p:sp>
      <p:sp>
        <p:nvSpPr>
          <p:cNvPr id="20" name="TextBox 19"/>
          <p:cNvSpPr txBox="1"/>
          <p:nvPr/>
        </p:nvSpPr>
        <p:spPr>
          <a:xfrm>
            <a:off x="9646920" y="1600200"/>
            <a:ext cx="1965960" cy="713232"/>
          </a:xfrm>
          <a:prstGeom prst="rect">
            <a:avLst/>
          </a:prstGeom>
          <a:noFill/>
        </p:spPr>
        <p:txBody>
          <a:bodyPr wrap="square" anchor="ctr" lIns="38100" rIns="38100" tIns="25400" bIns="25400">
            <a:spAutoFit/>
          </a:bodyPr>
          <a:lstStyle/>
          <a:p>
            <a:pPr algn="l">
              <a:lnSpc>
                <a:spcPct val="106000"/>
              </a:lnSpc>
              <a:spcBef>
                <a:spcPts val="0"/>
              </a:spcBef>
              <a:spcAft>
                <a:spcPts val="200"/>
              </a:spcAft>
            </a:pPr>
            <a:r>
              <a:rPr sz="1400" b="1" i="0">
                <a:solidFill>
                  <a:srgbClr val="5B3E83"/>
                </a:solidFill>
                <a:latin typeface="Inter"/>
              </a:rPr>
              <a:t>→ la</a:t>
            </a:r>
          </a:p>
        </p:txBody>
      </p:sp>
      <p:sp>
        <p:nvSpPr>
          <p:cNvPr id="21" name="Rounded Rectangle 20"/>
          <p:cNvSpPr/>
          <p:nvPr/>
        </p:nvSpPr>
        <p:spPr>
          <a:xfrm>
            <a:off x="6172200" y="2478024"/>
            <a:ext cx="5532120" cy="713232"/>
          </a:xfrm>
          <a:prstGeom prst="roundRect">
            <a:avLst>
              <a:gd name="adj" fmla="val 5500"/>
            </a:avLst>
          </a:prstGeom>
          <a:solidFill>
            <a:srgbClr val="FFFFFF"/>
          </a:solidFill>
          <a:ln w="12700">
            <a:solidFill>
              <a:srgbClr val="E4E3D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09360" y="2478024"/>
            <a:ext cx="3291840" cy="713232"/>
          </a:xfrm>
          <a:prstGeom prst="rect">
            <a:avLst/>
          </a:prstGeom>
          <a:noFill/>
        </p:spPr>
        <p:txBody>
          <a:bodyPr wrap="square" anchor="ctr" lIns="38100" rIns="38100" tIns="25400" bIns="25400">
            <a:spAutoFit/>
          </a:bodyPr>
          <a:lstStyle/>
          <a:p>
            <a:pPr algn="l">
              <a:lnSpc>
                <a:spcPct val="106000"/>
              </a:lnSpc>
              <a:spcBef>
                <a:spcPts val="0"/>
              </a:spcBef>
              <a:spcAft>
                <a:spcPts val="200"/>
              </a:spcAft>
            </a:pPr>
            <a:r>
              <a:rPr sz="1300" b="0" i="0">
                <a:solidFill>
                  <a:srgbClr val="20242E"/>
                </a:solidFill>
                <a:latin typeface="Inter"/>
              </a:rPr>
              <a:t>___ ciudad</a:t>
            </a:r>
          </a:p>
        </p:txBody>
      </p:sp>
      <p:sp>
        <p:nvSpPr>
          <p:cNvPr id="23" name="TextBox 22"/>
          <p:cNvSpPr txBox="1"/>
          <p:nvPr/>
        </p:nvSpPr>
        <p:spPr>
          <a:xfrm>
            <a:off x="9646920" y="2478024"/>
            <a:ext cx="1965960" cy="713232"/>
          </a:xfrm>
          <a:prstGeom prst="rect">
            <a:avLst/>
          </a:prstGeom>
          <a:noFill/>
        </p:spPr>
        <p:txBody>
          <a:bodyPr wrap="square" anchor="ctr" lIns="38100" rIns="38100" tIns="25400" bIns="25400">
            <a:spAutoFit/>
          </a:bodyPr>
          <a:lstStyle/>
          <a:p>
            <a:pPr algn="l">
              <a:lnSpc>
                <a:spcPct val="106000"/>
              </a:lnSpc>
              <a:spcBef>
                <a:spcPts val="0"/>
              </a:spcBef>
              <a:spcAft>
                <a:spcPts val="200"/>
              </a:spcAft>
            </a:pPr>
            <a:r>
              <a:rPr sz="1400" b="1" i="0">
                <a:solidFill>
                  <a:srgbClr val="5B3E83"/>
                </a:solidFill>
                <a:latin typeface="Inter"/>
              </a:rPr>
              <a:t>→ la</a:t>
            </a:r>
          </a:p>
        </p:txBody>
      </p:sp>
      <p:sp>
        <p:nvSpPr>
          <p:cNvPr id="24" name="Rounded Rectangle 23"/>
          <p:cNvSpPr/>
          <p:nvPr/>
        </p:nvSpPr>
        <p:spPr>
          <a:xfrm>
            <a:off x="6172200" y="3355848"/>
            <a:ext cx="5532120" cy="713232"/>
          </a:xfrm>
          <a:prstGeom prst="roundRect">
            <a:avLst>
              <a:gd name="adj" fmla="val 5500"/>
            </a:avLst>
          </a:prstGeom>
          <a:solidFill>
            <a:srgbClr val="FFFFFF"/>
          </a:solidFill>
          <a:ln w="12700">
            <a:solidFill>
              <a:srgbClr val="E4E3D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309360" y="3355848"/>
            <a:ext cx="3291840" cy="713232"/>
          </a:xfrm>
          <a:prstGeom prst="rect">
            <a:avLst/>
          </a:prstGeom>
          <a:noFill/>
        </p:spPr>
        <p:txBody>
          <a:bodyPr wrap="square" anchor="ctr" lIns="38100" rIns="38100" tIns="25400" bIns="25400">
            <a:spAutoFit/>
          </a:bodyPr>
          <a:lstStyle/>
          <a:p>
            <a:pPr algn="l">
              <a:lnSpc>
                <a:spcPct val="106000"/>
              </a:lnSpc>
              <a:spcBef>
                <a:spcPts val="0"/>
              </a:spcBef>
              <a:spcAft>
                <a:spcPts val="200"/>
              </a:spcAft>
            </a:pPr>
            <a:r>
              <a:rPr sz="1300" b="0" i="0">
                <a:solidFill>
                  <a:srgbClr val="20242E"/>
                </a:solidFill>
                <a:latin typeface="Inter"/>
              </a:rPr>
              <a:t>___ mapa</a:t>
            </a:r>
          </a:p>
        </p:txBody>
      </p:sp>
      <p:sp>
        <p:nvSpPr>
          <p:cNvPr id="26" name="TextBox 25"/>
          <p:cNvSpPr txBox="1"/>
          <p:nvPr/>
        </p:nvSpPr>
        <p:spPr>
          <a:xfrm>
            <a:off x="9646920" y="3355848"/>
            <a:ext cx="1965960" cy="713232"/>
          </a:xfrm>
          <a:prstGeom prst="rect">
            <a:avLst/>
          </a:prstGeom>
          <a:noFill/>
        </p:spPr>
        <p:txBody>
          <a:bodyPr wrap="square" anchor="ctr" lIns="38100" rIns="38100" tIns="25400" bIns="25400">
            <a:spAutoFit/>
          </a:bodyPr>
          <a:lstStyle/>
          <a:p>
            <a:pPr algn="l">
              <a:lnSpc>
                <a:spcPct val="106000"/>
              </a:lnSpc>
              <a:spcBef>
                <a:spcPts val="0"/>
              </a:spcBef>
              <a:spcAft>
                <a:spcPts val="200"/>
              </a:spcAft>
            </a:pPr>
            <a:r>
              <a:rPr sz="1400" b="1" i="0">
                <a:solidFill>
                  <a:srgbClr val="5B3E83"/>
                </a:solidFill>
                <a:latin typeface="Inter"/>
              </a:rPr>
              <a:t>→ el</a:t>
            </a:r>
          </a:p>
        </p:txBody>
      </p:sp>
      <p:sp>
        <p:nvSpPr>
          <p:cNvPr id="27" name="Rounded Rectangle 26"/>
          <p:cNvSpPr/>
          <p:nvPr/>
        </p:nvSpPr>
        <p:spPr>
          <a:xfrm>
            <a:off x="457200" y="6053328"/>
            <a:ext cx="2093976" cy="365760"/>
          </a:xfrm>
          <a:prstGeom prst="roundRect">
            <a:avLst>
              <a:gd name="adj" fmla="val 50000"/>
            </a:avLst>
          </a:prstGeom>
          <a:solidFill>
            <a:srgbClr val="7C56A9"/>
          </a:solidFill>
          <a:ln w="12700">
            <a:solidFill>
              <a:srgbClr val="E4E3DE"/>
            </a:solidFill>
          </a:ln>
          <a:effectLst/>
        </p:spPr>
        <p:style>
          <a:lnRef idx="1">
            <a:schemeClr val="accent1"/>
          </a:lnRef>
          <a:fillRef idx="3">
            <a:schemeClr val="accent1"/>
          </a:fillRef>
          <a:effectRef idx="2">
            <a:schemeClr val="accent1"/>
          </a:effectRef>
          <a:fontRef idx="minor">
            <a:schemeClr val="lt1"/>
          </a:fontRef>
        </p:style>
        <p:txBody>
          <a:bodyPr rtlCol="0" anchor="ctr" tIns="12700" bIns="12700"/>
          <a:lstStyle/>
          <a:p>
            <a:pPr algn="ctr"/>
            <a:r>
              <a:rPr sz="1050" b="1">
                <a:solidFill>
                  <a:srgbClr val="FFFFFF"/>
                </a:solidFill>
                <a:latin typeface="Inter"/>
              </a:rPr>
              <a:t>▶  Mostrar solución</a:t>
            </a:r>
          </a:p>
        </p:txBody>
      </p:sp>
      <p:sp>
        <p:nvSpPr>
          <p:cNvPr id="28" name="Rounded Rectangle 27"/>
          <p:cNvSpPr/>
          <p:nvPr/>
        </p:nvSpPr>
        <p:spPr>
          <a:xfrm>
            <a:off x="2697480" y="6053328"/>
            <a:ext cx="1088136" cy="365760"/>
          </a:xfrm>
          <a:prstGeom prst="roundRect">
            <a:avLst>
              <a:gd name="adj" fmla="val 50000"/>
            </a:avLst>
          </a:prstGeom>
          <a:solidFill>
            <a:srgbClr val="FFFFFF"/>
          </a:solidFill>
          <a:ln w="12700">
            <a:solidFill>
              <a:srgbClr val="E4E3DE"/>
            </a:solidFill>
          </a:ln>
          <a:effectLst/>
        </p:spPr>
        <p:style>
          <a:lnRef idx="1">
            <a:schemeClr val="accent1"/>
          </a:lnRef>
          <a:fillRef idx="3">
            <a:schemeClr val="accent1"/>
          </a:fillRef>
          <a:effectRef idx="2">
            <a:schemeClr val="accent1"/>
          </a:effectRef>
          <a:fontRef idx="minor">
            <a:schemeClr val="lt1"/>
          </a:fontRef>
        </p:style>
        <p:txBody>
          <a:bodyPr rtlCol="0" anchor="ctr" tIns="12700" bIns="12700"/>
          <a:lstStyle/>
          <a:p>
            <a:pPr algn="ctr"/>
            <a:r>
              <a:rPr sz="1050" b="1">
                <a:solidFill>
                  <a:srgbClr val="5B3E83"/>
                </a:solidFill>
                <a:latin typeface="Inter"/>
              </a:rPr>
              <a:t>⏭  Saltar</a:t>
            </a:r>
          </a:p>
        </p:txBody>
      </p:sp>
      <p:sp>
        <p:nvSpPr>
          <p:cNvPr id="29" name="Rounded Rectangle 28">
            <a:hlinkClick action="ppaction://hlinksldjump" r:id="rId3"/>
          </p:cNvPr>
          <p:cNvSpPr/>
          <p:nvPr/>
        </p:nvSpPr>
        <p:spPr>
          <a:xfrm>
            <a:off x="3931920" y="6053328"/>
            <a:ext cx="1691639" cy="365760"/>
          </a:xfrm>
          <a:prstGeom prst="roundRect">
            <a:avLst>
              <a:gd name="adj" fmla="val 50000"/>
            </a:avLst>
          </a:prstGeom>
          <a:solidFill>
            <a:srgbClr val="FFFFFF"/>
          </a:solidFill>
          <a:ln w="12700">
            <a:solidFill>
              <a:srgbClr val="E4E3DE"/>
            </a:solidFill>
          </a:ln>
          <a:effectLst/>
        </p:spPr>
        <p:style>
          <a:lnRef idx="1">
            <a:schemeClr val="accent1"/>
          </a:lnRef>
          <a:fillRef idx="3">
            <a:schemeClr val="accent1"/>
          </a:fillRef>
          <a:effectRef idx="2">
            <a:schemeClr val="accent1"/>
          </a:effectRef>
          <a:fontRef idx="minor">
            <a:schemeClr val="lt1"/>
          </a:fontRef>
        </p:style>
        <p:txBody>
          <a:bodyPr rtlCol="0" anchor="ctr" tIns="12700" bIns="12700"/>
          <a:lstStyle/>
          <a:p>
            <a:pPr algn="ctr"/>
            <a:r>
              <a:rPr sz="1050" b="1">
                <a:solidFill>
                  <a:srgbClr val="5B3E83"/>
                </a:solidFill>
                <a:latin typeface="Inter"/>
              </a:rPr>
              <a:t>⌂  Menú (dia 2)</a:t>
            </a:r>
          </a:p>
        </p:txBody>
      </p:sp>
      <p:sp>
        <p:nvSpPr>
          <p:cNvPr id="30" name="TextBox 29"/>
          <p:cNvSpPr txBox="1"/>
          <p:nvPr/>
        </p:nvSpPr>
        <p:spPr>
          <a:xfrm>
            <a:off x="8321040" y="6053328"/>
            <a:ext cx="3383280" cy="365760"/>
          </a:xfrm>
          <a:prstGeom prst="rect">
            <a:avLst/>
          </a:prstGeom>
          <a:noFill/>
        </p:spPr>
        <p:txBody>
          <a:bodyPr wrap="square" anchor="ctr" lIns="38100" rIns="38100" tIns="25400" bIns="25400">
            <a:spAutoFit/>
          </a:bodyPr>
          <a:lstStyle/>
          <a:p>
            <a:pPr algn="r">
              <a:lnSpc>
                <a:spcPct val="106000"/>
              </a:lnSpc>
              <a:spcBef>
                <a:spcPts val="0"/>
              </a:spcBef>
              <a:spcAft>
                <a:spcPts val="200"/>
              </a:spcAft>
            </a:pPr>
            <a:r>
              <a:rPr sz="850" b="0" i="1">
                <a:solidFill>
                  <a:srgbClr val="6A6E78"/>
                </a:solidFill>
                <a:latin typeface="Inter"/>
              </a:rPr>
              <a:t>Noodroute (§5): werkt zonder audio/internet</a:t>
            </a:r>
          </a:p>
        </p:txBody>
      </p:sp>
      <p:sp>
        <p:nvSpPr>
          <p:cNvPr id="31" name="Rounded Rectangle 30"/>
          <p:cNvSpPr/>
          <p:nvPr/>
        </p:nvSpPr>
        <p:spPr>
          <a:xfrm>
            <a:off x="457200" y="4709160"/>
            <a:ext cx="11247120" cy="548640"/>
          </a:xfrm>
          <a:prstGeom prst="roundRect">
            <a:avLst>
              <a:gd name="adj" fmla="val 6000"/>
            </a:avLst>
          </a:prstGeom>
          <a:solidFill>
            <a:srgbClr val="EEE8F5"/>
          </a:solidFill>
          <a:ln w="19050">
            <a:solidFill>
              <a:srgbClr val="7C56A9"/>
            </a:solidFill>
          </a:ln>
          <a:effectLst/>
        </p:spPr>
        <p:style>
          <a:lnRef idx="1">
            <a:schemeClr val="accent1"/>
          </a:lnRef>
          <a:fillRef idx="3">
            <a:schemeClr val="accent1"/>
          </a:fillRef>
          <a:effectRef idx="2">
            <a:schemeClr val="accent1"/>
          </a:effectRef>
          <a:fontRef idx="minor">
            <a:schemeClr val="lt1"/>
          </a:fontRef>
        </p:style>
        <p:txBody>
          <a:bodyPr rtlCol="0" anchor="ctr" wrap="square" lIns="127000" rIns="127000" tIns="139700" bIns="76200"/>
          <a:lstStyle/>
          <a:p>
            <a:pPr algn="ctr">
              <a:lnSpc>
                <a:spcPct val="102000"/>
              </a:lnSpc>
              <a:spcBef>
                <a:spcPts val="0"/>
              </a:spcBef>
              <a:spcAft>
                <a:spcPts val="300"/>
              </a:spcAft>
            </a:pPr>
            <a:r>
              <a:rPr sz="1200" b="1" i="0">
                <a:solidFill>
                  <a:srgbClr val="DC2626"/>
                </a:solidFill>
                <a:latin typeface="Inter"/>
              </a:rPr>
              <a:t>Valstrikken: </a:t>
            </a:r>
            <a:r>
              <a:rPr sz="1200" b="0" i="0">
                <a:solidFill>
                  <a:srgbClr val="5B3E83"/>
                </a:solidFill>
                <a:latin typeface="Inter"/>
              </a:rPr>
              <a:t>-ma → m (el problema, el idioma) · la mano, la foto (f ondanks -o) · -dad → f (la ciudad).</a:t>
            </a:r>
          </a:p>
        </p:txBody>
      </p:sp>
      <p:sp>
        <p:nvSpPr>
          <p:cNvPr id="32" name="Rounded Rectangle 31"/>
          <p:cNvSpPr/>
          <p:nvPr/>
        </p:nvSpPr>
        <p:spPr>
          <a:xfrm>
            <a:off x="594360" y="4581144"/>
            <a:ext cx="1548993" cy="292608"/>
          </a:xfrm>
          <a:prstGeom prst="roundRect">
            <a:avLst>
              <a:gd name="adj" fmla="val 50000"/>
            </a:avLst>
          </a:prstGeom>
          <a:solidFill>
            <a:srgbClr val="7C56A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88900" rIns="88900" tIns="12700" bIns="12700"/>
          <a:lstStyle/>
          <a:p>
            <a:pPr algn="ctr"/>
            <a:r>
              <a:rPr sz="950" b="1">
                <a:solidFill>
                  <a:srgbClr val="FFFFFF"/>
                </a:solidFill>
                <a:latin typeface="Inter"/>
              </a:rPr>
              <a:t>SOLUCIÓN · docent</a:t>
            </a:r>
          </a:p>
        </p:txBody>
      </p:sp>
      <p:sp>
        <p:nvSpPr>
          <p:cNvPr id="33" name="Rectangle 32"/>
          <p:cNvSpPr/>
          <p:nvPr/>
        </p:nvSpPr>
        <p:spPr>
          <a:xfrm>
            <a:off x="0" y="6547104"/>
            <a:ext cx="12191695" cy="310896"/>
          </a:xfrm>
          <a:prstGeom prst="rect">
            <a:avLst/>
          </a:prstGeom>
          <a:solidFill>
            <a:srgbClr val="F3EE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411480" y="6565392"/>
            <a:ext cx="5486400" cy="274320"/>
          </a:xfrm>
          <a:prstGeom prst="rect">
            <a:avLst/>
          </a:prstGeom>
          <a:noFill/>
        </p:spPr>
        <p:txBody>
          <a:bodyPr wrap="square" anchor="ctr" lIns="38100" rIns="38100" tIns="25400" bIns="25400">
            <a:spAutoFit/>
          </a:bodyPr>
          <a:lstStyle/>
          <a:p>
            <a:pPr algn="l">
              <a:lnSpc>
                <a:spcPct val="106000"/>
              </a:lnSpc>
              <a:spcBef>
                <a:spcPts val="0"/>
              </a:spcBef>
              <a:spcAft>
                <a:spcPts val="200"/>
              </a:spcAft>
            </a:pPr>
            <a:r>
              <a:rPr sz="1100" b="1" i="0">
                <a:solidFill>
                  <a:srgbClr val="7C56A9"/>
                </a:solidFill>
                <a:latin typeface="Inter"/>
              </a:rPr>
              <a:t>● </a:t>
            </a:r>
            <a:r>
              <a:rPr sz="950" b="0" i="0">
                <a:solidFill>
                  <a:srgbClr val="6A6E78"/>
                </a:solidFill>
                <a:latin typeface="Inter"/>
              </a:rPr>
              <a:t>U0 · ¡VOLVEMOS!   ·   C6+ · el reencuentro</a:t>
            </a:r>
          </a:p>
        </p:txBody>
      </p:sp>
      <p:sp>
        <p:nvSpPr>
          <p:cNvPr id="35" name="TextBox 34"/>
          <p:cNvSpPr txBox="1"/>
          <p:nvPr/>
        </p:nvSpPr>
        <p:spPr>
          <a:xfrm>
            <a:off x="8686800" y="6565392"/>
            <a:ext cx="3063240" cy="274320"/>
          </a:xfrm>
          <a:prstGeom prst="rect">
            <a:avLst/>
          </a:prstGeom>
          <a:noFill/>
        </p:spPr>
        <p:txBody>
          <a:bodyPr wrap="square" anchor="ctr" lIns="38100" rIns="38100" tIns="25400" bIns="25400">
            <a:spAutoFit/>
          </a:bodyPr>
          <a:lstStyle/>
          <a:p>
            <a:pPr algn="r">
              <a:lnSpc>
                <a:spcPct val="106000"/>
              </a:lnSpc>
              <a:spcBef>
                <a:spcPts val="0"/>
              </a:spcBef>
              <a:spcAft>
                <a:spcPts val="200"/>
              </a:spcAft>
            </a:pPr>
            <a:r>
              <a:rPr sz="900" b="0" i="1">
                <a:solidFill>
                  <a:srgbClr val="6A6E78"/>
                </a:solidFill>
                <a:latin typeface="Inter"/>
              </a:rPr>
              <a:t>Docentenversie — met oplossingen</a:t>
            </a:r>
          </a:p>
        </p:txBody>
      </p:sp>
      <p:sp>
        <p:nvSpPr>
          <p:cNvPr id="36" name="TextBox 35"/>
          <p:cNvSpPr txBox="1"/>
          <p:nvPr/>
        </p:nvSpPr>
        <p:spPr>
          <a:xfrm>
            <a:off x="11475720" y="6565392"/>
            <a:ext cx="457200" cy="274320"/>
          </a:xfrm>
          <a:prstGeom prst="rect">
            <a:avLst/>
          </a:prstGeom>
          <a:noFill/>
        </p:spPr>
        <p:txBody>
          <a:bodyPr wrap="square" anchor="ctr" lIns="38100" rIns="38100" tIns="25400" bIns="25400">
            <a:spAutoFit/>
          </a:bodyPr>
          <a:lstStyle/>
          <a:p>
            <a:pPr algn="r">
              <a:lnSpc>
                <a:spcPct val="106000"/>
              </a:lnSpc>
              <a:spcBef>
                <a:spcPts val="0"/>
              </a:spcBef>
              <a:spcAft>
                <a:spcPts val="200"/>
              </a:spcAft>
            </a:pPr>
            <a:r>
              <a:rPr sz="950" b="1" i="0">
                <a:solidFill>
                  <a:srgbClr val="5B3E83"/>
                </a:solidFill>
                <a:latin typeface="Inter"/>
              </a:rPr>
              <a:t>8</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500"/>
                                        <p:tgtEl>
                                          <p:spTgt spid="11"/>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4"/>
                                        </p:tgtEl>
                                        <p:attrNameLst>
                                          <p:attrName>style.visibility</p:attrName>
                                        </p:attrNameLst>
                                      </p:cBhvr>
                                      <p:to>
                                        <p:strVal val="visible"/>
                                      </p:to>
                                    </p:set>
                                    <p:animEffect transition="in" filter="fade">
                                      <p:cBhvr>
                                        <p:cTn id="12" dur="500"/>
                                        <p:tgtEl>
                                          <p:spTgt spid="1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17"/>
                                        </p:tgtEl>
                                        <p:attrNameLst>
                                          <p:attrName>style.visibility</p:attrName>
                                        </p:attrNameLst>
                                      </p:cBhvr>
                                      <p:to>
                                        <p:strVal val="visible"/>
                                      </p:to>
                                    </p:set>
                                    <p:animEffect transition="in" filter="fade">
                                      <p:cBhvr>
                                        <p:cTn id="17" dur="500"/>
                                        <p:tgtEl>
                                          <p:spTgt spid="17"/>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20"/>
                                        </p:tgtEl>
                                        <p:attrNameLst>
                                          <p:attrName>style.visibility</p:attrName>
                                        </p:attrNameLst>
                                      </p:cBhvr>
                                      <p:to>
                                        <p:strVal val="visible"/>
                                      </p:to>
                                    </p:set>
                                    <p:animEffect transition="in" filter="fade">
                                      <p:cBhvr>
                                        <p:cTn id="22" dur="500"/>
                                        <p:tgtEl>
                                          <p:spTgt spid="20"/>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23"/>
                                        </p:tgtEl>
                                        <p:attrNameLst>
                                          <p:attrName>style.visibility</p:attrName>
                                        </p:attrNameLst>
                                      </p:cBhvr>
                                      <p:to>
                                        <p:strVal val="visible"/>
                                      </p:to>
                                    </p:set>
                                    <p:animEffect transition="in" filter="fade">
                                      <p:cBhvr>
                                        <p:cTn id="27" dur="500"/>
                                        <p:tgtEl>
                                          <p:spTgt spid="23"/>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26"/>
                                        </p:tgtEl>
                                        <p:attrNameLst>
                                          <p:attrName>style.visibility</p:attrName>
                                        </p:attrNameLst>
                                      </p:cBhvr>
                                      <p:to>
                                        <p:strVal val="visible"/>
                                      </p:to>
                                    </p:set>
                                    <p:animEffect transition="in" filter="fade">
                                      <p:cBhvr>
                                        <p:cTn id="32" dur="500"/>
                                        <p:tgtEl>
                                          <p:spTgt spid="26"/>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grpId="0" nodeType="clickEffect">
                                  <p:stCondLst>
                                    <p:cond delay="0"/>
                                  </p:stCondLst>
                                  <p:childTnLst>
                                    <p:set>
                                      <p:cBhvr>
                                        <p:cTn id="36" dur="1" fill="hold">
                                          <p:stCondLst>
                                            <p:cond delay="0"/>
                                          </p:stCondLst>
                                        </p:cTn>
                                        <p:tgtEl>
                                          <p:spTgt spid="31"/>
                                        </p:tgtEl>
                                        <p:attrNameLst>
                                          <p:attrName>style.visibility</p:attrName>
                                        </p:attrNameLst>
                                      </p:cBhvr>
                                      <p:to>
                                        <p:strVal val="visible"/>
                                      </p:to>
                                    </p:set>
                                    <p:animEffect transition="in" filter="fade">
                                      <p:cBhvr>
                                        <p:cTn id="37" dur="500"/>
                                        <p:tgtEl>
                                          <p:spTgt spid="31"/>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grpId="0" nodeType="clickEffect">
                                  <p:stCondLst>
                                    <p:cond delay="0"/>
                                  </p:stCondLst>
                                  <p:childTnLst>
                                    <p:set>
                                      <p:cBhvr>
                                        <p:cTn id="41" dur="1" fill="hold">
                                          <p:stCondLst>
                                            <p:cond delay="0"/>
                                          </p:stCondLst>
                                        </p:cTn>
                                        <p:tgtEl>
                                          <p:spTgt spid="32"/>
                                        </p:tgtEl>
                                        <p:attrNameLst>
                                          <p:attrName>style.visibility</p:attrName>
                                        </p:attrNameLst>
                                      </p:cBhvr>
                                      <p:to>
                                        <p:strVal val="visible"/>
                                      </p:to>
                                    </p:set>
                                    <p:animEffect transition="in" filter="fade">
                                      <p:cBhvr>
                                        <p:cTn id="42" dur="500"/>
                                        <p:tgtEl>
                                          <p:spTgt spid="3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C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78992"/>
          </a:xfrm>
          <a:prstGeom prst="rect">
            <a:avLst/>
          </a:prstGeom>
          <a:solidFill>
            <a:srgbClr val="7C56A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78992"/>
            <a:ext cx="12191695" cy="54864"/>
          </a:xfrm>
          <a:prstGeom prst="rect">
            <a:avLst/>
          </a:prstGeom>
          <a:solidFill>
            <a:srgbClr val="5B3E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02920" y="182880"/>
            <a:ext cx="2053742" cy="292608"/>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88900" rIns="88900" tIns="12700" bIns="12700"/>
          <a:lstStyle/>
          <a:p>
            <a:pPr algn="ctr"/>
            <a:r>
              <a:rPr sz="1100" b="1">
                <a:solidFill>
                  <a:srgbClr val="7C56A9"/>
                </a:solidFill>
                <a:latin typeface="Inter"/>
              </a:rPr>
              <a:t>§5 · LEER · COMPRENSIÓN</a:t>
            </a:r>
          </a:p>
        </p:txBody>
      </p:sp>
      <p:sp>
        <p:nvSpPr>
          <p:cNvPr id="6" name="TextBox 5"/>
          <p:cNvSpPr txBox="1"/>
          <p:nvPr/>
        </p:nvSpPr>
        <p:spPr>
          <a:xfrm>
            <a:off x="10424160" y="-137160"/>
            <a:ext cx="1737360" cy="1371600"/>
          </a:xfrm>
          <a:prstGeom prst="rect">
            <a:avLst/>
          </a:prstGeom>
          <a:noFill/>
        </p:spPr>
        <p:txBody>
          <a:bodyPr wrap="square" anchor="t" lIns="38100" rIns="38100" tIns="25400" bIns="25400">
            <a:spAutoFit/>
          </a:bodyPr>
          <a:lstStyle/>
          <a:p>
            <a:pPr algn="r">
              <a:lnSpc>
                <a:spcPct val="106000"/>
              </a:lnSpc>
              <a:spcBef>
                <a:spcPts val="0"/>
              </a:spcBef>
              <a:spcAft>
                <a:spcPts val="200"/>
              </a:spcAft>
            </a:pPr>
            <a:r>
              <a:rPr sz="8800" b="1" i="0">
                <a:solidFill>
                  <a:srgbClr val="FFFFFF"/>
                </a:solidFill>
                <a:latin typeface="Bricolage Grotesque"/>
              </a:rPr>
              <a:t>5</a:t>
            </a:r>
          </a:p>
        </p:txBody>
      </p:sp>
      <p:sp>
        <p:nvSpPr>
          <p:cNvPr id="7" name="TextBox 6"/>
          <p:cNvSpPr txBox="1"/>
          <p:nvPr/>
        </p:nvSpPr>
        <p:spPr>
          <a:xfrm>
            <a:off x="457200" y="457200"/>
            <a:ext cx="9692640" cy="502920"/>
          </a:xfrm>
          <a:prstGeom prst="rect">
            <a:avLst/>
          </a:prstGeom>
          <a:noFill/>
        </p:spPr>
        <p:txBody>
          <a:bodyPr wrap="square" anchor="ctr" lIns="38100" rIns="38100" tIns="25400" bIns="25400">
            <a:spAutoFit/>
          </a:bodyPr>
          <a:lstStyle/>
          <a:p>
            <a:pPr algn="l">
              <a:lnSpc>
                <a:spcPct val="106000"/>
              </a:lnSpc>
              <a:spcBef>
                <a:spcPts val="0"/>
              </a:spcBef>
              <a:spcAft>
                <a:spcPts val="200"/>
              </a:spcAft>
            </a:pPr>
            <a:r>
              <a:rPr sz="2700" b="1" i="0">
                <a:solidFill>
                  <a:srgbClr val="FFFFFF"/>
                </a:solidFill>
                <a:latin typeface="Bricolage Grotesque"/>
              </a:rPr>
              <a:t>Dos perfiles — «De vuelta al insti»</a:t>
            </a:r>
          </a:p>
        </p:txBody>
      </p:sp>
      <p:sp>
        <p:nvSpPr>
          <p:cNvPr id="8" name="TextBox 7"/>
          <p:cNvSpPr txBox="1"/>
          <p:nvPr/>
        </p:nvSpPr>
        <p:spPr>
          <a:xfrm>
            <a:off x="502920" y="932688"/>
            <a:ext cx="9692640" cy="274320"/>
          </a:xfrm>
          <a:prstGeom prst="rect">
            <a:avLst/>
          </a:prstGeom>
          <a:noFill/>
        </p:spPr>
        <p:txBody>
          <a:bodyPr wrap="square" anchor="t" lIns="38100" rIns="38100" tIns="25400" bIns="25400">
            <a:spAutoFit/>
          </a:bodyPr>
          <a:lstStyle/>
          <a:p>
            <a:pPr algn="l">
              <a:lnSpc>
                <a:spcPct val="106000"/>
              </a:lnSpc>
              <a:spcBef>
                <a:spcPts val="0"/>
              </a:spcBef>
              <a:spcAft>
                <a:spcPts val="200"/>
              </a:spcAft>
            </a:pPr>
            <a:r>
              <a:rPr sz="1250" b="0" i="1">
                <a:solidFill>
                  <a:srgbClr val="EEE8F5"/>
                </a:solidFill>
                <a:latin typeface="Inter"/>
              </a:rPr>
              <a:t>Lees en beantwoord. Klik een vraag → het antwoord verschijnt.</a:t>
            </a:r>
          </a:p>
        </p:txBody>
      </p:sp>
      <p:sp>
        <p:nvSpPr>
          <p:cNvPr id="9" name="Rounded Rectangle 8"/>
          <p:cNvSpPr/>
          <p:nvPr/>
        </p:nvSpPr>
        <p:spPr>
          <a:xfrm>
            <a:off x="457200" y="1508760"/>
            <a:ext cx="5120640" cy="3566160"/>
          </a:xfrm>
          <a:prstGeom prst="roundRect">
            <a:avLst>
              <a:gd name="adj" fmla="val 5500"/>
            </a:avLst>
          </a:prstGeom>
          <a:solidFill>
            <a:srgbClr val="EEE8F5"/>
          </a:solidFill>
          <a:ln w="17780">
            <a:solidFill>
              <a:srgbClr val="7C56A9"/>
            </a:solidFill>
          </a:ln>
          <a:effectLst>
            <a:outerShdw blurRad="90000" dist="38000" dir="5400000" rotWithShape="0">
              <a:srgbClr val="20242E">
                <a:alpha val="2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diego.png"/>
          <p:cNvPicPr>
            <a:picLocks noChangeAspect="1"/>
          </p:cNvPicPr>
          <p:nvPr/>
        </p:nvPicPr>
        <p:blipFill>
          <a:blip r:embed="rId2"/>
          <a:stretch>
            <a:fillRect/>
          </a:stretch>
        </p:blipFill>
        <p:spPr>
          <a:xfrm>
            <a:off x="777240" y="1783080"/>
            <a:ext cx="914400" cy="914400"/>
          </a:xfrm>
          <a:prstGeom prst="rect">
            <a:avLst/>
          </a:prstGeom>
        </p:spPr>
      </p:pic>
      <p:sp>
        <p:nvSpPr>
          <p:cNvPr id="11" name="TextBox 10"/>
          <p:cNvSpPr txBox="1"/>
          <p:nvPr/>
        </p:nvSpPr>
        <p:spPr>
          <a:xfrm>
            <a:off x="1874519" y="1810512"/>
            <a:ext cx="3566160" cy="1371600"/>
          </a:xfrm>
          <a:prstGeom prst="rect">
            <a:avLst/>
          </a:prstGeom>
          <a:noFill/>
        </p:spPr>
        <p:txBody>
          <a:bodyPr wrap="square" anchor="t" lIns="38100" rIns="38100" tIns="25400" bIns="25400">
            <a:spAutoFit/>
          </a:bodyPr>
          <a:lstStyle/>
          <a:p>
            <a:pPr algn="l">
              <a:lnSpc>
                <a:spcPct val="118000"/>
              </a:lnSpc>
              <a:spcBef>
                <a:spcPts val="0"/>
              </a:spcBef>
              <a:spcAft>
                <a:spcPts val="200"/>
              </a:spcAft>
            </a:pPr>
            <a:r>
              <a:rPr sz="1150" b="0" i="1">
                <a:solidFill>
                  <a:srgbClr val="20242E"/>
                </a:solidFill>
                <a:latin typeface="Inter"/>
              </a:rPr>
              <a:t>«Me llamo Diego, soy de la Ciudad de México. Tengo 16 años. Vivo con mi madre y mi hermana. En clase soy alegre. Hablo español y estudio neerlandés.»</a:t>
            </a:r>
          </a:p>
        </p:txBody>
      </p:sp>
      <p:pic>
        <p:nvPicPr>
          <p:cNvPr id="12" name="Picture 11" descr="nina.png"/>
          <p:cNvPicPr>
            <a:picLocks noChangeAspect="1"/>
          </p:cNvPicPr>
          <p:nvPr/>
        </p:nvPicPr>
        <p:blipFill>
          <a:blip r:embed="rId3"/>
          <a:stretch>
            <a:fillRect/>
          </a:stretch>
        </p:blipFill>
        <p:spPr>
          <a:xfrm>
            <a:off x="777240" y="3337560"/>
            <a:ext cx="914400" cy="914400"/>
          </a:xfrm>
          <a:prstGeom prst="rect">
            <a:avLst/>
          </a:prstGeom>
        </p:spPr>
      </p:pic>
      <p:sp>
        <p:nvSpPr>
          <p:cNvPr id="13" name="TextBox 12"/>
          <p:cNvSpPr txBox="1"/>
          <p:nvPr/>
        </p:nvSpPr>
        <p:spPr>
          <a:xfrm>
            <a:off x="1874519" y="3364992"/>
            <a:ext cx="3566160" cy="1371600"/>
          </a:xfrm>
          <a:prstGeom prst="rect">
            <a:avLst/>
          </a:prstGeom>
          <a:noFill/>
        </p:spPr>
        <p:txBody>
          <a:bodyPr wrap="square" anchor="t" lIns="38100" rIns="38100" tIns="25400" bIns="25400">
            <a:spAutoFit/>
          </a:bodyPr>
          <a:lstStyle/>
          <a:p>
            <a:pPr algn="l">
              <a:lnSpc>
                <a:spcPct val="118000"/>
              </a:lnSpc>
              <a:spcBef>
                <a:spcPts val="0"/>
              </a:spcBef>
              <a:spcAft>
                <a:spcPts val="200"/>
              </a:spcAft>
            </a:pPr>
            <a:r>
              <a:rPr sz="1150" b="0" i="1">
                <a:solidFill>
                  <a:srgbClr val="20242E"/>
                </a:solidFill>
                <a:latin typeface="Inter"/>
              </a:rPr>
              <a:t>«Soy Nina, peruana, de Cusco. Tengo 16 años y un hermano pequeño. Soy tranquila. Hablo español y un poco de quechua.»</a:t>
            </a:r>
          </a:p>
        </p:txBody>
      </p:sp>
      <p:sp>
        <p:nvSpPr>
          <p:cNvPr id="14" name="Rounded Rectangle 13"/>
          <p:cNvSpPr/>
          <p:nvPr/>
        </p:nvSpPr>
        <p:spPr>
          <a:xfrm>
            <a:off x="5852160" y="1554480"/>
            <a:ext cx="5852160" cy="777240"/>
          </a:xfrm>
          <a:prstGeom prst="roundRect">
            <a:avLst>
              <a:gd name="adj" fmla="val 5500"/>
            </a:avLst>
          </a:prstGeom>
          <a:solidFill>
            <a:srgbClr val="FFFFFF"/>
          </a:solidFill>
          <a:ln w="12700">
            <a:solidFill>
              <a:srgbClr val="E4E3D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89320" y="1609344"/>
            <a:ext cx="5577840" cy="365760"/>
          </a:xfrm>
          <a:prstGeom prst="rect">
            <a:avLst/>
          </a:prstGeom>
          <a:noFill/>
        </p:spPr>
        <p:txBody>
          <a:bodyPr wrap="square" anchor="t" lIns="38100" rIns="38100" tIns="25400" bIns="25400">
            <a:spAutoFit/>
          </a:bodyPr>
          <a:lstStyle/>
          <a:p>
            <a:pPr algn="l">
              <a:lnSpc>
                <a:spcPct val="106000"/>
              </a:lnSpc>
              <a:spcBef>
                <a:spcPts val="0"/>
              </a:spcBef>
              <a:spcAft>
                <a:spcPts val="200"/>
              </a:spcAft>
            </a:pPr>
            <a:r>
              <a:rPr sz="1250" b="1" i="0">
                <a:solidFill>
                  <a:srgbClr val="5B3E83"/>
                </a:solidFill>
                <a:latin typeface="Inter"/>
              </a:rPr>
              <a:t>¿De dónde es Diego?</a:t>
            </a:r>
          </a:p>
        </p:txBody>
      </p:sp>
      <p:sp>
        <p:nvSpPr>
          <p:cNvPr id="16" name="TextBox 15"/>
          <p:cNvSpPr txBox="1"/>
          <p:nvPr/>
        </p:nvSpPr>
        <p:spPr>
          <a:xfrm>
            <a:off x="5989320" y="1956816"/>
            <a:ext cx="5577840" cy="320040"/>
          </a:xfrm>
          <a:prstGeom prst="rect">
            <a:avLst/>
          </a:prstGeom>
          <a:noFill/>
        </p:spPr>
        <p:txBody>
          <a:bodyPr wrap="square" anchor="t" lIns="38100" rIns="38100" tIns="25400" bIns="25400">
            <a:spAutoFit/>
          </a:bodyPr>
          <a:lstStyle/>
          <a:p>
            <a:pPr algn="l">
              <a:lnSpc>
                <a:spcPct val="106000"/>
              </a:lnSpc>
              <a:spcBef>
                <a:spcPts val="0"/>
              </a:spcBef>
              <a:spcAft>
                <a:spcPts val="200"/>
              </a:spcAft>
            </a:pPr>
            <a:r>
              <a:rPr sz="1200" b="0" i="0">
                <a:solidFill>
                  <a:srgbClr val="20242E"/>
                </a:solidFill>
                <a:latin typeface="Inter"/>
              </a:rPr>
              <a:t>→ De México (CDMX)</a:t>
            </a:r>
          </a:p>
        </p:txBody>
      </p:sp>
      <p:sp>
        <p:nvSpPr>
          <p:cNvPr id="17" name="Rounded Rectangle 16"/>
          <p:cNvSpPr/>
          <p:nvPr/>
        </p:nvSpPr>
        <p:spPr>
          <a:xfrm>
            <a:off x="5852160" y="2450592"/>
            <a:ext cx="5852160" cy="777240"/>
          </a:xfrm>
          <a:prstGeom prst="roundRect">
            <a:avLst>
              <a:gd name="adj" fmla="val 5500"/>
            </a:avLst>
          </a:prstGeom>
          <a:solidFill>
            <a:srgbClr val="FFFFFF"/>
          </a:solidFill>
          <a:ln w="12700">
            <a:solidFill>
              <a:srgbClr val="E4E3D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89320" y="2505456"/>
            <a:ext cx="5577840" cy="365760"/>
          </a:xfrm>
          <a:prstGeom prst="rect">
            <a:avLst/>
          </a:prstGeom>
          <a:noFill/>
        </p:spPr>
        <p:txBody>
          <a:bodyPr wrap="square" anchor="t" lIns="38100" rIns="38100" tIns="25400" bIns="25400">
            <a:spAutoFit/>
          </a:bodyPr>
          <a:lstStyle/>
          <a:p>
            <a:pPr algn="l">
              <a:lnSpc>
                <a:spcPct val="106000"/>
              </a:lnSpc>
              <a:spcBef>
                <a:spcPts val="0"/>
              </a:spcBef>
              <a:spcAft>
                <a:spcPts val="200"/>
              </a:spcAft>
            </a:pPr>
            <a:r>
              <a:rPr sz="1250" b="1" i="0">
                <a:solidFill>
                  <a:srgbClr val="5B3E83"/>
                </a:solidFill>
                <a:latin typeface="Inter"/>
              </a:rPr>
              <a:t>¿Qué lengua habla Nina además del español?</a:t>
            </a:r>
          </a:p>
        </p:txBody>
      </p:sp>
      <p:sp>
        <p:nvSpPr>
          <p:cNvPr id="19" name="TextBox 18"/>
          <p:cNvSpPr txBox="1"/>
          <p:nvPr/>
        </p:nvSpPr>
        <p:spPr>
          <a:xfrm>
            <a:off x="5989320" y="2852928"/>
            <a:ext cx="5577840" cy="320040"/>
          </a:xfrm>
          <a:prstGeom prst="rect">
            <a:avLst/>
          </a:prstGeom>
          <a:noFill/>
        </p:spPr>
        <p:txBody>
          <a:bodyPr wrap="square" anchor="t" lIns="38100" rIns="38100" tIns="25400" bIns="25400">
            <a:spAutoFit/>
          </a:bodyPr>
          <a:lstStyle/>
          <a:p>
            <a:pPr algn="l">
              <a:lnSpc>
                <a:spcPct val="106000"/>
              </a:lnSpc>
              <a:spcBef>
                <a:spcPts val="0"/>
              </a:spcBef>
              <a:spcAft>
                <a:spcPts val="200"/>
              </a:spcAft>
            </a:pPr>
            <a:r>
              <a:rPr sz="1200" b="0" i="0">
                <a:solidFill>
                  <a:srgbClr val="20242E"/>
                </a:solidFill>
                <a:latin typeface="Inter"/>
              </a:rPr>
              <a:t>→ Un poco de quechua</a:t>
            </a:r>
          </a:p>
        </p:txBody>
      </p:sp>
      <p:sp>
        <p:nvSpPr>
          <p:cNvPr id="20" name="Rounded Rectangle 19"/>
          <p:cNvSpPr/>
          <p:nvPr/>
        </p:nvSpPr>
        <p:spPr>
          <a:xfrm>
            <a:off x="5852160" y="3346704"/>
            <a:ext cx="5852160" cy="777240"/>
          </a:xfrm>
          <a:prstGeom prst="roundRect">
            <a:avLst>
              <a:gd name="adj" fmla="val 5500"/>
            </a:avLst>
          </a:prstGeom>
          <a:solidFill>
            <a:srgbClr val="FFFFFF"/>
          </a:solidFill>
          <a:ln w="12700">
            <a:solidFill>
              <a:srgbClr val="E4E3D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989320" y="3401568"/>
            <a:ext cx="5577840" cy="365760"/>
          </a:xfrm>
          <a:prstGeom prst="rect">
            <a:avLst/>
          </a:prstGeom>
          <a:noFill/>
        </p:spPr>
        <p:txBody>
          <a:bodyPr wrap="square" anchor="t" lIns="38100" rIns="38100" tIns="25400" bIns="25400">
            <a:spAutoFit/>
          </a:bodyPr>
          <a:lstStyle/>
          <a:p>
            <a:pPr algn="l">
              <a:lnSpc>
                <a:spcPct val="106000"/>
              </a:lnSpc>
              <a:spcBef>
                <a:spcPts val="0"/>
              </a:spcBef>
              <a:spcAft>
                <a:spcPts val="200"/>
              </a:spcAft>
            </a:pPr>
            <a:r>
              <a:rPr sz="1250" b="1" i="0">
                <a:solidFill>
                  <a:srgbClr val="5B3E83"/>
                </a:solidFill>
                <a:latin typeface="Inter"/>
              </a:rPr>
              <a:t>¿Cuántos años tienen los dos?</a:t>
            </a:r>
          </a:p>
        </p:txBody>
      </p:sp>
      <p:sp>
        <p:nvSpPr>
          <p:cNvPr id="22" name="TextBox 21"/>
          <p:cNvSpPr txBox="1"/>
          <p:nvPr/>
        </p:nvSpPr>
        <p:spPr>
          <a:xfrm>
            <a:off x="5989320" y="3749040"/>
            <a:ext cx="5577840" cy="320040"/>
          </a:xfrm>
          <a:prstGeom prst="rect">
            <a:avLst/>
          </a:prstGeom>
          <a:noFill/>
        </p:spPr>
        <p:txBody>
          <a:bodyPr wrap="square" anchor="t" lIns="38100" rIns="38100" tIns="25400" bIns="25400">
            <a:spAutoFit/>
          </a:bodyPr>
          <a:lstStyle/>
          <a:p>
            <a:pPr algn="l">
              <a:lnSpc>
                <a:spcPct val="106000"/>
              </a:lnSpc>
              <a:spcBef>
                <a:spcPts val="0"/>
              </a:spcBef>
              <a:spcAft>
                <a:spcPts val="200"/>
              </a:spcAft>
            </a:pPr>
            <a:r>
              <a:rPr sz="1200" b="0" i="0">
                <a:solidFill>
                  <a:srgbClr val="20242E"/>
                </a:solidFill>
                <a:latin typeface="Inter"/>
              </a:rPr>
              <a:t>→ Dieciséis</a:t>
            </a:r>
          </a:p>
        </p:txBody>
      </p:sp>
      <p:sp>
        <p:nvSpPr>
          <p:cNvPr id="23" name="Rounded Rectangle 22"/>
          <p:cNvSpPr/>
          <p:nvPr/>
        </p:nvSpPr>
        <p:spPr>
          <a:xfrm>
            <a:off x="5852160" y="4242816"/>
            <a:ext cx="5852160" cy="777240"/>
          </a:xfrm>
          <a:prstGeom prst="roundRect">
            <a:avLst>
              <a:gd name="adj" fmla="val 5500"/>
            </a:avLst>
          </a:prstGeom>
          <a:solidFill>
            <a:srgbClr val="FFFFFF"/>
          </a:solidFill>
          <a:ln w="12700">
            <a:solidFill>
              <a:srgbClr val="E4E3D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989320" y="4297680"/>
            <a:ext cx="5577840" cy="365760"/>
          </a:xfrm>
          <a:prstGeom prst="rect">
            <a:avLst/>
          </a:prstGeom>
          <a:noFill/>
        </p:spPr>
        <p:txBody>
          <a:bodyPr wrap="square" anchor="t" lIns="38100" rIns="38100" tIns="25400" bIns="25400">
            <a:spAutoFit/>
          </a:bodyPr>
          <a:lstStyle/>
          <a:p>
            <a:pPr algn="l">
              <a:lnSpc>
                <a:spcPct val="106000"/>
              </a:lnSpc>
              <a:spcBef>
                <a:spcPts val="0"/>
              </a:spcBef>
              <a:spcAft>
                <a:spcPts val="200"/>
              </a:spcAft>
            </a:pPr>
            <a:r>
              <a:rPr sz="1250" b="1" i="0">
                <a:solidFill>
                  <a:srgbClr val="5B3E83"/>
                </a:solidFill>
                <a:latin typeface="Inter"/>
              </a:rPr>
              <a:t>¿Cómo es Nina?</a:t>
            </a:r>
          </a:p>
        </p:txBody>
      </p:sp>
      <p:sp>
        <p:nvSpPr>
          <p:cNvPr id="25" name="TextBox 24"/>
          <p:cNvSpPr txBox="1"/>
          <p:nvPr/>
        </p:nvSpPr>
        <p:spPr>
          <a:xfrm>
            <a:off x="5989320" y="4645152"/>
            <a:ext cx="5577840" cy="320040"/>
          </a:xfrm>
          <a:prstGeom prst="rect">
            <a:avLst/>
          </a:prstGeom>
          <a:noFill/>
        </p:spPr>
        <p:txBody>
          <a:bodyPr wrap="square" anchor="t" lIns="38100" rIns="38100" tIns="25400" bIns="25400">
            <a:spAutoFit/>
          </a:bodyPr>
          <a:lstStyle/>
          <a:p>
            <a:pPr algn="l">
              <a:lnSpc>
                <a:spcPct val="106000"/>
              </a:lnSpc>
              <a:spcBef>
                <a:spcPts val="0"/>
              </a:spcBef>
              <a:spcAft>
                <a:spcPts val="200"/>
              </a:spcAft>
            </a:pPr>
            <a:r>
              <a:rPr sz="1200" b="0" i="0">
                <a:solidFill>
                  <a:srgbClr val="20242E"/>
                </a:solidFill>
                <a:latin typeface="Inter"/>
              </a:rPr>
              <a:t>→ Tranquila</a:t>
            </a:r>
          </a:p>
        </p:txBody>
      </p:sp>
      <p:sp>
        <p:nvSpPr>
          <p:cNvPr id="26" name="Rounded Rectangle 25"/>
          <p:cNvSpPr/>
          <p:nvPr/>
        </p:nvSpPr>
        <p:spPr>
          <a:xfrm>
            <a:off x="457200" y="6053328"/>
            <a:ext cx="2093976" cy="365760"/>
          </a:xfrm>
          <a:prstGeom prst="roundRect">
            <a:avLst>
              <a:gd name="adj" fmla="val 50000"/>
            </a:avLst>
          </a:prstGeom>
          <a:solidFill>
            <a:srgbClr val="7C56A9"/>
          </a:solidFill>
          <a:ln w="12700">
            <a:solidFill>
              <a:srgbClr val="E4E3DE"/>
            </a:solidFill>
          </a:ln>
          <a:effectLst/>
        </p:spPr>
        <p:style>
          <a:lnRef idx="1">
            <a:schemeClr val="accent1"/>
          </a:lnRef>
          <a:fillRef idx="3">
            <a:schemeClr val="accent1"/>
          </a:fillRef>
          <a:effectRef idx="2">
            <a:schemeClr val="accent1"/>
          </a:effectRef>
          <a:fontRef idx="minor">
            <a:schemeClr val="lt1"/>
          </a:fontRef>
        </p:style>
        <p:txBody>
          <a:bodyPr rtlCol="0" anchor="ctr" tIns="12700" bIns="12700"/>
          <a:lstStyle/>
          <a:p>
            <a:pPr algn="ctr"/>
            <a:r>
              <a:rPr sz="1050" b="1">
                <a:solidFill>
                  <a:srgbClr val="FFFFFF"/>
                </a:solidFill>
                <a:latin typeface="Inter"/>
              </a:rPr>
              <a:t>▶  Mostrar solución</a:t>
            </a:r>
          </a:p>
        </p:txBody>
      </p:sp>
      <p:sp>
        <p:nvSpPr>
          <p:cNvPr id="27" name="Rounded Rectangle 26"/>
          <p:cNvSpPr/>
          <p:nvPr/>
        </p:nvSpPr>
        <p:spPr>
          <a:xfrm>
            <a:off x="2697480" y="6053328"/>
            <a:ext cx="1088136" cy="365760"/>
          </a:xfrm>
          <a:prstGeom prst="roundRect">
            <a:avLst>
              <a:gd name="adj" fmla="val 50000"/>
            </a:avLst>
          </a:prstGeom>
          <a:solidFill>
            <a:srgbClr val="FFFFFF"/>
          </a:solidFill>
          <a:ln w="12700">
            <a:solidFill>
              <a:srgbClr val="E4E3DE"/>
            </a:solidFill>
          </a:ln>
          <a:effectLst/>
        </p:spPr>
        <p:style>
          <a:lnRef idx="1">
            <a:schemeClr val="accent1"/>
          </a:lnRef>
          <a:fillRef idx="3">
            <a:schemeClr val="accent1"/>
          </a:fillRef>
          <a:effectRef idx="2">
            <a:schemeClr val="accent1"/>
          </a:effectRef>
          <a:fontRef idx="minor">
            <a:schemeClr val="lt1"/>
          </a:fontRef>
        </p:style>
        <p:txBody>
          <a:bodyPr rtlCol="0" anchor="ctr" tIns="12700" bIns="12700"/>
          <a:lstStyle/>
          <a:p>
            <a:pPr algn="ctr"/>
            <a:r>
              <a:rPr sz="1050" b="1">
                <a:solidFill>
                  <a:srgbClr val="5B3E83"/>
                </a:solidFill>
                <a:latin typeface="Inter"/>
              </a:rPr>
              <a:t>⏭  Saltar</a:t>
            </a:r>
          </a:p>
        </p:txBody>
      </p:sp>
      <p:sp>
        <p:nvSpPr>
          <p:cNvPr id="28" name="Rounded Rectangle 27">
            <a:hlinkClick action="ppaction://hlinksldjump" r:id="rId5"/>
          </p:cNvPr>
          <p:cNvSpPr/>
          <p:nvPr/>
        </p:nvSpPr>
        <p:spPr>
          <a:xfrm>
            <a:off x="3931920" y="6053328"/>
            <a:ext cx="1691639" cy="365760"/>
          </a:xfrm>
          <a:prstGeom prst="roundRect">
            <a:avLst>
              <a:gd name="adj" fmla="val 50000"/>
            </a:avLst>
          </a:prstGeom>
          <a:solidFill>
            <a:srgbClr val="FFFFFF"/>
          </a:solidFill>
          <a:ln w="12700">
            <a:solidFill>
              <a:srgbClr val="E4E3DE"/>
            </a:solidFill>
          </a:ln>
          <a:effectLst/>
        </p:spPr>
        <p:style>
          <a:lnRef idx="1">
            <a:schemeClr val="accent1"/>
          </a:lnRef>
          <a:fillRef idx="3">
            <a:schemeClr val="accent1"/>
          </a:fillRef>
          <a:effectRef idx="2">
            <a:schemeClr val="accent1"/>
          </a:effectRef>
          <a:fontRef idx="minor">
            <a:schemeClr val="lt1"/>
          </a:fontRef>
        </p:style>
        <p:txBody>
          <a:bodyPr rtlCol="0" anchor="ctr" tIns="12700" bIns="12700"/>
          <a:lstStyle/>
          <a:p>
            <a:pPr algn="ctr"/>
            <a:r>
              <a:rPr sz="1050" b="1">
                <a:solidFill>
                  <a:srgbClr val="5B3E83"/>
                </a:solidFill>
                <a:latin typeface="Inter"/>
              </a:rPr>
              <a:t>⌂  Menú (dia 2)</a:t>
            </a:r>
          </a:p>
        </p:txBody>
      </p:sp>
      <p:sp>
        <p:nvSpPr>
          <p:cNvPr id="29" name="TextBox 28"/>
          <p:cNvSpPr txBox="1"/>
          <p:nvPr/>
        </p:nvSpPr>
        <p:spPr>
          <a:xfrm>
            <a:off x="8321040" y="6053328"/>
            <a:ext cx="3383280" cy="365760"/>
          </a:xfrm>
          <a:prstGeom prst="rect">
            <a:avLst/>
          </a:prstGeom>
          <a:noFill/>
        </p:spPr>
        <p:txBody>
          <a:bodyPr wrap="square" anchor="ctr" lIns="38100" rIns="38100" tIns="25400" bIns="25400">
            <a:spAutoFit/>
          </a:bodyPr>
          <a:lstStyle/>
          <a:p>
            <a:pPr algn="r">
              <a:lnSpc>
                <a:spcPct val="106000"/>
              </a:lnSpc>
              <a:spcBef>
                <a:spcPts val="0"/>
              </a:spcBef>
              <a:spcAft>
                <a:spcPts val="200"/>
              </a:spcAft>
            </a:pPr>
            <a:r>
              <a:rPr sz="850" b="0" i="1">
                <a:solidFill>
                  <a:srgbClr val="6A6E78"/>
                </a:solidFill>
                <a:latin typeface="Inter"/>
              </a:rPr>
              <a:t>Noodroute (§5): werkt zonder audio/internet</a:t>
            </a:r>
          </a:p>
        </p:txBody>
      </p:sp>
      <p:sp>
        <p:nvSpPr>
          <p:cNvPr id="30" name="Rounded Rectangle 29"/>
          <p:cNvSpPr/>
          <p:nvPr/>
        </p:nvSpPr>
        <p:spPr>
          <a:xfrm>
            <a:off x="5852160" y="5166360"/>
            <a:ext cx="5852160" cy="548640"/>
          </a:xfrm>
          <a:prstGeom prst="roundRect">
            <a:avLst>
              <a:gd name="adj" fmla="val 6000"/>
            </a:avLst>
          </a:prstGeom>
          <a:solidFill>
            <a:srgbClr val="EEE8F5"/>
          </a:solidFill>
          <a:ln w="19050">
            <a:solidFill>
              <a:srgbClr val="7C56A9"/>
            </a:solidFill>
          </a:ln>
          <a:effectLst/>
        </p:spPr>
        <p:style>
          <a:lnRef idx="1">
            <a:schemeClr val="accent1"/>
          </a:lnRef>
          <a:fillRef idx="3">
            <a:schemeClr val="accent1"/>
          </a:fillRef>
          <a:effectRef idx="2">
            <a:schemeClr val="accent1"/>
          </a:effectRef>
          <a:fontRef idx="minor">
            <a:schemeClr val="lt1"/>
          </a:fontRef>
        </p:style>
        <p:txBody>
          <a:bodyPr rtlCol="0" anchor="ctr" wrap="square" lIns="127000" rIns="127000" tIns="139700" bIns="76200"/>
          <a:lstStyle/>
          <a:p>
            <a:pPr algn="ctr">
              <a:lnSpc>
                <a:spcPct val="102000"/>
              </a:lnSpc>
              <a:spcBef>
                <a:spcPts val="0"/>
              </a:spcBef>
              <a:spcAft>
                <a:spcPts val="300"/>
              </a:spcAft>
            </a:pPr>
            <a:r>
              <a:rPr sz="1200" b="1" i="0">
                <a:solidFill>
                  <a:srgbClr val="5B3E83"/>
                </a:solidFill>
                <a:latin typeface="Inter"/>
              </a:rPr>
              <a:t>🎯 Leesdoel: </a:t>
            </a:r>
            <a:r>
              <a:rPr sz="1200" b="0" i="0">
                <a:solidFill>
                  <a:srgbClr val="5B3E83"/>
                </a:solidFill>
                <a:latin typeface="Inter"/>
              </a:rPr>
              <a:t>scannen naar datos (país, edad, lengua, carácter) — niet élk woord.</a:t>
            </a:r>
          </a:p>
        </p:txBody>
      </p:sp>
      <p:sp>
        <p:nvSpPr>
          <p:cNvPr id="31" name="Rounded Rectangle 30"/>
          <p:cNvSpPr/>
          <p:nvPr/>
        </p:nvSpPr>
        <p:spPr>
          <a:xfrm>
            <a:off x="5989320" y="5038344"/>
            <a:ext cx="1548993" cy="292608"/>
          </a:xfrm>
          <a:prstGeom prst="roundRect">
            <a:avLst>
              <a:gd name="adj" fmla="val 50000"/>
            </a:avLst>
          </a:prstGeom>
          <a:solidFill>
            <a:srgbClr val="7C56A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88900" rIns="88900" tIns="12700" bIns="12700"/>
          <a:lstStyle/>
          <a:p>
            <a:pPr algn="ctr"/>
            <a:r>
              <a:rPr sz="950" b="1">
                <a:solidFill>
                  <a:srgbClr val="FFFFFF"/>
                </a:solidFill>
                <a:latin typeface="Inter"/>
              </a:rPr>
              <a:t>SOLUCIÓN · docent</a:t>
            </a:r>
          </a:p>
        </p:txBody>
      </p:sp>
      <p:sp>
        <p:nvSpPr>
          <p:cNvPr id="32" name="Rectangle 31"/>
          <p:cNvSpPr/>
          <p:nvPr/>
        </p:nvSpPr>
        <p:spPr>
          <a:xfrm>
            <a:off x="0" y="6547104"/>
            <a:ext cx="12191695" cy="310896"/>
          </a:xfrm>
          <a:prstGeom prst="rect">
            <a:avLst/>
          </a:prstGeom>
          <a:solidFill>
            <a:srgbClr val="F3EE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411480" y="6565392"/>
            <a:ext cx="5486400" cy="274320"/>
          </a:xfrm>
          <a:prstGeom prst="rect">
            <a:avLst/>
          </a:prstGeom>
          <a:noFill/>
        </p:spPr>
        <p:txBody>
          <a:bodyPr wrap="square" anchor="ctr" lIns="38100" rIns="38100" tIns="25400" bIns="25400">
            <a:spAutoFit/>
          </a:bodyPr>
          <a:lstStyle/>
          <a:p>
            <a:pPr algn="l">
              <a:lnSpc>
                <a:spcPct val="106000"/>
              </a:lnSpc>
              <a:spcBef>
                <a:spcPts val="0"/>
              </a:spcBef>
              <a:spcAft>
                <a:spcPts val="200"/>
              </a:spcAft>
            </a:pPr>
            <a:r>
              <a:rPr sz="1100" b="1" i="0">
                <a:solidFill>
                  <a:srgbClr val="7C56A9"/>
                </a:solidFill>
                <a:latin typeface="Inter"/>
              </a:rPr>
              <a:t>● </a:t>
            </a:r>
            <a:r>
              <a:rPr sz="950" b="0" i="0">
                <a:solidFill>
                  <a:srgbClr val="6A6E78"/>
                </a:solidFill>
                <a:latin typeface="Inter"/>
              </a:rPr>
              <a:t>U0 · ¡VOLVEMOS!   ·   C6+ · el reencuentro</a:t>
            </a:r>
          </a:p>
        </p:txBody>
      </p:sp>
      <p:sp>
        <p:nvSpPr>
          <p:cNvPr id="34" name="TextBox 33"/>
          <p:cNvSpPr txBox="1"/>
          <p:nvPr/>
        </p:nvSpPr>
        <p:spPr>
          <a:xfrm>
            <a:off x="8686800" y="6565392"/>
            <a:ext cx="3063240" cy="274320"/>
          </a:xfrm>
          <a:prstGeom prst="rect">
            <a:avLst/>
          </a:prstGeom>
          <a:noFill/>
        </p:spPr>
        <p:txBody>
          <a:bodyPr wrap="square" anchor="ctr" lIns="38100" rIns="38100" tIns="25400" bIns="25400">
            <a:spAutoFit/>
          </a:bodyPr>
          <a:lstStyle/>
          <a:p>
            <a:pPr algn="r">
              <a:lnSpc>
                <a:spcPct val="106000"/>
              </a:lnSpc>
              <a:spcBef>
                <a:spcPts val="0"/>
              </a:spcBef>
              <a:spcAft>
                <a:spcPts val="200"/>
              </a:spcAft>
            </a:pPr>
            <a:r>
              <a:rPr sz="900" b="0" i="1">
                <a:solidFill>
                  <a:srgbClr val="6A6E78"/>
                </a:solidFill>
                <a:latin typeface="Inter"/>
              </a:rPr>
              <a:t>Docentenversie — met oplossingen</a:t>
            </a:r>
          </a:p>
        </p:txBody>
      </p:sp>
      <p:sp>
        <p:nvSpPr>
          <p:cNvPr id="35" name="TextBox 34"/>
          <p:cNvSpPr txBox="1"/>
          <p:nvPr/>
        </p:nvSpPr>
        <p:spPr>
          <a:xfrm>
            <a:off x="11475720" y="6565392"/>
            <a:ext cx="457200" cy="274320"/>
          </a:xfrm>
          <a:prstGeom prst="rect">
            <a:avLst/>
          </a:prstGeom>
          <a:noFill/>
        </p:spPr>
        <p:txBody>
          <a:bodyPr wrap="square" anchor="ctr" lIns="38100" rIns="38100" tIns="25400" bIns="25400">
            <a:spAutoFit/>
          </a:bodyPr>
          <a:lstStyle/>
          <a:p>
            <a:pPr algn="r">
              <a:lnSpc>
                <a:spcPct val="106000"/>
              </a:lnSpc>
              <a:spcBef>
                <a:spcPts val="0"/>
              </a:spcBef>
              <a:spcAft>
                <a:spcPts val="200"/>
              </a:spcAft>
            </a:pPr>
            <a:r>
              <a:rPr sz="950" b="1" i="0">
                <a:solidFill>
                  <a:srgbClr val="5B3E83"/>
                </a:solidFill>
                <a:latin typeface="Inter"/>
              </a:rPr>
              <a:t>9</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6"/>
                                        </p:tgtEl>
                                        <p:attrNameLst>
                                          <p:attrName>style.visibility</p:attrName>
                                        </p:attrNameLst>
                                      </p:cBhvr>
                                      <p:to>
                                        <p:strVal val="visible"/>
                                      </p:to>
                                    </p:set>
                                    <p:animEffect transition="in" filter="fade">
                                      <p:cBhvr>
                                        <p:cTn id="7" dur="500"/>
                                        <p:tgtEl>
                                          <p:spTgt spid="16"/>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9"/>
                                        </p:tgtEl>
                                        <p:attrNameLst>
                                          <p:attrName>style.visibility</p:attrName>
                                        </p:attrNameLst>
                                      </p:cBhvr>
                                      <p:to>
                                        <p:strVal val="visible"/>
                                      </p:to>
                                    </p:set>
                                    <p:animEffect transition="in" filter="fade">
                                      <p:cBhvr>
                                        <p:cTn id="12" dur="500"/>
                                        <p:tgtEl>
                                          <p:spTgt spid="19"/>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22"/>
                                        </p:tgtEl>
                                        <p:attrNameLst>
                                          <p:attrName>style.visibility</p:attrName>
                                        </p:attrNameLst>
                                      </p:cBhvr>
                                      <p:to>
                                        <p:strVal val="visible"/>
                                      </p:to>
                                    </p:set>
                                    <p:animEffect transition="in" filter="fade">
                                      <p:cBhvr>
                                        <p:cTn id="17" dur="500"/>
                                        <p:tgtEl>
                                          <p:spTgt spid="22"/>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25"/>
                                        </p:tgtEl>
                                        <p:attrNameLst>
                                          <p:attrName>style.visibility</p:attrName>
                                        </p:attrNameLst>
                                      </p:cBhvr>
                                      <p:to>
                                        <p:strVal val="visible"/>
                                      </p:to>
                                    </p:set>
                                    <p:animEffect transition="in" filter="fade">
                                      <p:cBhvr>
                                        <p:cTn id="22" dur="500"/>
                                        <p:tgtEl>
                                          <p:spTgt spid="25"/>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30"/>
                                        </p:tgtEl>
                                        <p:attrNameLst>
                                          <p:attrName>style.visibility</p:attrName>
                                        </p:attrNameLst>
                                      </p:cBhvr>
                                      <p:to>
                                        <p:strVal val="visible"/>
                                      </p:to>
                                    </p:set>
                                    <p:animEffect transition="in" filter="fade">
                                      <p:cBhvr>
                                        <p:cTn id="27" dur="500"/>
                                        <p:tgtEl>
                                          <p:spTgt spid="30"/>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31"/>
                                        </p:tgtEl>
                                        <p:attrNameLst>
                                          <p:attrName>style.visibility</p:attrName>
                                        </p:attrNameLst>
                                      </p:cBhvr>
                                      <p:to>
                                        <p:strVal val="visible"/>
                                      </p:to>
                                    </p:set>
                                    <p:animEffect transition="in" filter="fade">
                                      <p:cBhvr>
                                        <p:cTn id="32" dur="500"/>
                                        <p:tgtEl>
                                          <p:spTgt spid="3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C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78992"/>
          </a:xfrm>
          <a:prstGeom prst="rect">
            <a:avLst/>
          </a:prstGeom>
          <a:solidFill>
            <a:srgbClr val="7C56A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78992"/>
            <a:ext cx="12191695" cy="54864"/>
          </a:xfrm>
          <a:prstGeom prst="rect">
            <a:avLst/>
          </a:prstGeom>
          <a:solidFill>
            <a:srgbClr val="5B3E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02920" y="182880"/>
            <a:ext cx="1212494" cy="292608"/>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88900" rIns="88900" tIns="12700" bIns="12700"/>
          <a:lstStyle/>
          <a:p>
            <a:pPr algn="ctr"/>
            <a:r>
              <a:rPr sz="1100" b="1">
                <a:solidFill>
                  <a:srgbClr val="7C56A9"/>
                </a:solidFill>
                <a:latin typeface="Inter"/>
              </a:rPr>
              <a:t>§4 · ESCUCHAR</a:t>
            </a:r>
          </a:p>
        </p:txBody>
      </p:sp>
      <p:sp>
        <p:nvSpPr>
          <p:cNvPr id="6" name="TextBox 5"/>
          <p:cNvSpPr txBox="1"/>
          <p:nvPr/>
        </p:nvSpPr>
        <p:spPr>
          <a:xfrm>
            <a:off x="10424160" y="-137160"/>
            <a:ext cx="1737360" cy="1371600"/>
          </a:xfrm>
          <a:prstGeom prst="rect">
            <a:avLst/>
          </a:prstGeom>
          <a:noFill/>
        </p:spPr>
        <p:txBody>
          <a:bodyPr wrap="square" anchor="t" lIns="38100" rIns="38100" tIns="25400" bIns="25400">
            <a:spAutoFit/>
          </a:bodyPr>
          <a:lstStyle/>
          <a:p>
            <a:pPr algn="r">
              <a:lnSpc>
                <a:spcPct val="106000"/>
              </a:lnSpc>
              <a:spcBef>
                <a:spcPts val="0"/>
              </a:spcBef>
              <a:spcAft>
                <a:spcPts val="200"/>
              </a:spcAft>
            </a:pPr>
            <a:r>
              <a:rPr sz="8800" b="1" i="0">
                <a:solidFill>
                  <a:srgbClr val="FFFFFF"/>
                </a:solidFill>
                <a:latin typeface="Bricolage Grotesque"/>
              </a:rPr>
              <a:t>4</a:t>
            </a:r>
          </a:p>
        </p:txBody>
      </p:sp>
      <p:sp>
        <p:nvSpPr>
          <p:cNvPr id="7" name="TextBox 6"/>
          <p:cNvSpPr txBox="1"/>
          <p:nvPr/>
        </p:nvSpPr>
        <p:spPr>
          <a:xfrm>
            <a:off x="457200" y="457200"/>
            <a:ext cx="9692640" cy="502920"/>
          </a:xfrm>
          <a:prstGeom prst="rect">
            <a:avLst/>
          </a:prstGeom>
          <a:noFill/>
        </p:spPr>
        <p:txBody>
          <a:bodyPr wrap="square" anchor="ctr" lIns="38100" rIns="38100" tIns="25400" bIns="25400">
            <a:spAutoFit/>
          </a:bodyPr>
          <a:lstStyle/>
          <a:p>
            <a:pPr algn="l">
              <a:lnSpc>
                <a:spcPct val="106000"/>
              </a:lnSpc>
              <a:spcBef>
                <a:spcPts val="0"/>
              </a:spcBef>
              <a:spcAft>
                <a:spcPts val="200"/>
              </a:spcAft>
            </a:pPr>
            <a:r>
              <a:rPr sz="2700" b="1" i="0">
                <a:solidFill>
                  <a:srgbClr val="FFFFFF"/>
                </a:solidFill>
                <a:latin typeface="Bricolage Grotesque"/>
              </a:rPr>
              <a:t>Escucha las presentaciones</a:t>
            </a:r>
          </a:p>
        </p:txBody>
      </p:sp>
      <p:sp>
        <p:nvSpPr>
          <p:cNvPr id="8" name="TextBox 7"/>
          <p:cNvSpPr txBox="1"/>
          <p:nvPr/>
        </p:nvSpPr>
        <p:spPr>
          <a:xfrm>
            <a:off x="502920" y="932688"/>
            <a:ext cx="9692640" cy="274320"/>
          </a:xfrm>
          <a:prstGeom prst="rect">
            <a:avLst/>
          </a:prstGeom>
          <a:noFill/>
        </p:spPr>
        <p:txBody>
          <a:bodyPr wrap="square" anchor="t" lIns="38100" rIns="38100" tIns="25400" bIns="25400">
            <a:spAutoFit/>
          </a:bodyPr>
          <a:lstStyle/>
          <a:p>
            <a:pPr algn="l">
              <a:lnSpc>
                <a:spcPct val="106000"/>
              </a:lnSpc>
              <a:spcBef>
                <a:spcPts val="0"/>
              </a:spcBef>
              <a:spcAft>
                <a:spcPts val="200"/>
              </a:spcAft>
            </a:pPr>
            <a:r>
              <a:rPr sz="1250" b="0" i="1">
                <a:solidFill>
                  <a:srgbClr val="EEE8F5"/>
                </a:solidFill>
                <a:latin typeface="Inter"/>
              </a:rPr>
              <a:t>Vier personas se presentan. Klik un nombre → país + dato. (audio op de digitale pagina)</a:t>
            </a:r>
          </a:p>
        </p:txBody>
      </p:sp>
      <p:sp>
        <p:nvSpPr>
          <p:cNvPr id="9" name="Rounded Rectangle 8"/>
          <p:cNvSpPr/>
          <p:nvPr/>
        </p:nvSpPr>
        <p:spPr>
          <a:xfrm>
            <a:off x="640080" y="1737360"/>
            <a:ext cx="2697480" cy="2194560"/>
          </a:xfrm>
          <a:prstGeom prst="roundRect">
            <a:avLst>
              <a:gd name="adj" fmla="val 5500"/>
            </a:avLst>
          </a:prstGeom>
          <a:solidFill>
            <a:srgbClr val="FFFFFF"/>
          </a:solidFill>
          <a:ln w="15240">
            <a:solidFill>
              <a:srgbClr val="E4E3DE"/>
            </a:solidFill>
          </a:ln>
          <a:effectLst>
            <a:outerShdw blurRad="90000" dist="38000" dir="5400000" rotWithShape="0">
              <a:srgbClr val="20242E">
                <a:alpha val="2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40080" y="1737360"/>
            <a:ext cx="2697480" cy="457200"/>
          </a:xfrm>
          <a:prstGeom prst="rect">
            <a:avLst/>
          </a:prstGeom>
          <a:solidFill>
            <a:srgbClr val="EEE8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0080" y="1737360"/>
            <a:ext cx="2697480" cy="457200"/>
          </a:xfrm>
          <a:prstGeom prst="rect">
            <a:avLst/>
          </a:prstGeom>
          <a:noFill/>
        </p:spPr>
        <p:txBody>
          <a:bodyPr wrap="square" anchor="ctr" lIns="38100" rIns="38100" tIns="25400" bIns="25400">
            <a:spAutoFit/>
          </a:bodyPr>
          <a:lstStyle/>
          <a:p>
            <a:pPr algn="ctr">
              <a:lnSpc>
                <a:spcPct val="106000"/>
              </a:lnSpc>
              <a:spcBef>
                <a:spcPts val="0"/>
              </a:spcBef>
              <a:spcAft>
                <a:spcPts val="200"/>
              </a:spcAft>
            </a:pPr>
            <a:r>
              <a:rPr sz="1400" b="1" i="0">
                <a:solidFill>
                  <a:srgbClr val="5B3E83"/>
                </a:solidFill>
                <a:latin typeface="Bricolage Grotesque"/>
              </a:rPr>
              <a:t>🔊  Lucía</a:t>
            </a:r>
          </a:p>
        </p:txBody>
      </p:sp>
      <p:sp>
        <p:nvSpPr>
          <p:cNvPr id="12" name="TextBox 11"/>
          <p:cNvSpPr txBox="1"/>
          <p:nvPr/>
        </p:nvSpPr>
        <p:spPr>
          <a:xfrm>
            <a:off x="777240" y="2331720"/>
            <a:ext cx="2423160" cy="365760"/>
          </a:xfrm>
          <a:prstGeom prst="rect">
            <a:avLst/>
          </a:prstGeom>
          <a:noFill/>
        </p:spPr>
        <p:txBody>
          <a:bodyPr wrap="square" anchor="t" lIns="38100" rIns="38100" tIns="25400" bIns="25400">
            <a:spAutoFit/>
          </a:bodyPr>
          <a:lstStyle/>
          <a:p>
            <a:pPr algn="l">
              <a:lnSpc>
                <a:spcPct val="106000"/>
              </a:lnSpc>
              <a:spcBef>
                <a:spcPts val="0"/>
              </a:spcBef>
              <a:spcAft>
                <a:spcPts val="200"/>
              </a:spcAft>
            </a:pPr>
            <a:r>
              <a:rPr sz="1200" b="0" i="0">
                <a:solidFill>
                  <a:srgbClr val="6A6E78"/>
                </a:solidFill>
                <a:latin typeface="Inter"/>
              </a:rPr>
              <a:t>Es de:</a:t>
            </a:r>
          </a:p>
        </p:txBody>
      </p:sp>
      <p:sp>
        <p:nvSpPr>
          <p:cNvPr id="13" name="TextBox 12"/>
          <p:cNvSpPr txBox="1"/>
          <p:nvPr/>
        </p:nvSpPr>
        <p:spPr>
          <a:xfrm>
            <a:off x="777240" y="2651760"/>
            <a:ext cx="2423160" cy="457200"/>
          </a:xfrm>
          <a:prstGeom prst="rect">
            <a:avLst/>
          </a:prstGeom>
          <a:noFill/>
        </p:spPr>
        <p:txBody>
          <a:bodyPr wrap="square" anchor="t" lIns="38100" rIns="38100" tIns="25400" bIns="25400">
            <a:spAutoFit/>
          </a:bodyPr>
          <a:lstStyle/>
          <a:p>
            <a:pPr algn="l">
              <a:lnSpc>
                <a:spcPct val="105000"/>
              </a:lnSpc>
              <a:spcBef>
                <a:spcPts val="0"/>
              </a:spcBef>
              <a:spcAft>
                <a:spcPts val="200"/>
              </a:spcAft>
            </a:pPr>
            <a:r>
              <a:rPr sz="1300" b="1" i="0">
                <a:solidFill>
                  <a:srgbClr val="20242E"/>
                </a:solidFill>
                <a:latin typeface="Inter"/>
              </a:rPr>
              <a:t>España 🇪🇸</a:t>
            </a:r>
          </a:p>
        </p:txBody>
      </p:sp>
      <p:sp>
        <p:nvSpPr>
          <p:cNvPr id="14" name="TextBox 13"/>
          <p:cNvSpPr txBox="1"/>
          <p:nvPr/>
        </p:nvSpPr>
        <p:spPr>
          <a:xfrm>
            <a:off x="777240" y="3200400"/>
            <a:ext cx="2423160" cy="365760"/>
          </a:xfrm>
          <a:prstGeom prst="rect">
            <a:avLst/>
          </a:prstGeom>
          <a:noFill/>
        </p:spPr>
        <p:txBody>
          <a:bodyPr wrap="square" anchor="t" lIns="38100" rIns="38100" tIns="25400" bIns="25400">
            <a:spAutoFit/>
          </a:bodyPr>
          <a:lstStyle/>
          <a:p>
            <a:pPr algn="l">
              <a:lnSpc>
                <a:spcPct val="106000"/>
              </a:lnSpc>
              <a:spcBef>
                <a:spcPts val="0"/>
              </a:spcBef>
              <a:spcAft>
                <a:spcPts val="200"/>
              </a:spcAft>
            </a:pPr>
            <a:r>
              <a:rPr sz="1100" b="0" i="0">
                <a:solidFill>
                  <a:srgbClr val="6A6E78"/>
                </a:solidFill>
                <a:latin typeface="Inter"/>
              </a:rPr>
              <a:t>Edad · carácter:</a:t>
            </a:r>
          </a:p>
        </p:txBody>
      </p:sp>
      <p:sp>
        <p:nvSpPr>
          <p:cNvPr id="15" name="TextBox 14"/>
          <p:cNvSpPr txBox="1"/>
          <p:nvPr/>
        </p:nvSpPr>
        <p:spPr>
          <a:xfrm>
            <a:off x="777240" y="3520440"/>
            <a:ext cx="2423160" cy="365760"/>
          </a:xfrm>
          <a:prstGeom prst="rect">
            <a:avLst/>
          </a:prstGeom>
          <a:noFill/>
        </p:spPr>
        <p:txBody>
          <a:bodyPr wrap="square" anchor="t" lIns="38100" rIns="38100" tIns="25400" bIns="25400">
            <a:spAutoFit/>
          </a:bodyPr>
          <a:lstStyle/>
          <a:p>
            <a:pPr algn="l">
              <a:lnSpc>
                <a:spcPct val="106000"/>
              </a:lnSpc>
              <a:spcBef>
                <a:spcPts val="0"/>
              </a:spcBef>
              <a:spcAft>
                <a:spcPts val="200"/>
              </a:spcAft>
            </a:pPr>
            <a:r>
              <a:rPr sz="1300" b="1" i="0">
                <a:solidFill>
                  <a:srgbClr val="7C56A9"/>
                </a:solidFill>
                <a:latin typeface="Inter"/>
              </a:rPr>
              <a:t>16 · alegre</a:t>
            </a:r>
          </a:p>
        </p:txBody>
      </p:sp>
      <p:sp>
        <p:nvSpPr>
          <p:cNvPr id="16" name="Rounded Rectangle 15"/>
          <p:cNvSpPr/>
          <p:nvPr/>
        </p:nvSpPr>
        <p:spPr>
          <a:xfrm>
            <a:off x="3429000" y="1737360"/>
            <a:ext cx="2697480" cy="2194560"/>
          </a:xfrm>
          <a:prstGeom prst="roundRect">
            <a:avLst>
              <a:gd name="adj" fmla="val 5500"/>
            </a:avLst>
          </a:prstGeom>
          <a:solidFill>
            <a:srgbClr val="FFFFFF"/>
          </a:solidFill>
          <a:ln w="15240">
            <a:solidFill>
              <a:srgbClr val="E4E3DE"/>
            </a:solidFill>
          </a:ln>
          <a:effectLst>
            <a:outerShdw blurRad="90000" dist="38000" dir="5400000" rotWithShape="0">
              <a:srgbClr val="20242E">
                <a:alpha val="2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429000" y="1737360"/>
            <a:ext cx="2697480" cy="457200"/>
          </a:xfrm>
          <a:prstGeom prst="rect">
            <a:avLst/>
          </a:prstGeom>
          <a:solidFill>
            <a:srgbClr val="EEE8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429000" y="1737360"/>
            <a:ext cx="2697480" cy="457200"/>
          </a:xfrm>
          <a:prstGeom prst="rect">
            <a:avLst/>
          </a:prstGeom>
          <a:noFill/>
        </p:spPr>
        <p:txBody>
          <a:bodyPr wrap="square" anchor="ctr" lIns="38100" rIns="38100" tIns="25400" bIns="25400">
            <a:spAutoFit/>
          </a:bodyPr>
          <a:lstStyle/>
          <a:p>
            <a:pPr algn="ctr">
              <a:lnSpc>
                <a:spcPct val="106000"/>
              </a:lnSpc>
              <a:spcBef>
                <a:spcPts val="0"/>
              </a:spcBef>
              <a:spcAft>
                <a:spcPts val="200"/>
              </a:spcAft>
            </a:pPr>
            <a:r>
              <a:rPr sz="1400" b="1" i="0">
                <a:solidFill>
                  <a:srgbClr val="5B3E83"/>
                </a:solidFill>
                <a:latin typeface="Bricolage Grotesque"/>
              </a:rPr>
              <a:t>🔊  Diego</a:t>
            </a:r>
          </a:p>
        </p:txBody>
      </p:sp>
      <p:sp>
        <p:nvSpPr>
          <p:cNvPr id="19" name="TextBox 18"/>
          <p:cNvSpPr txBox="1"/>
          <p:nvPr/>
        </p:nvSpPr>
        <p:spPr>
          <a:xfrm>
            <a:off x="3566160" y="2331720"/>
            <a:ext cx="2423160" cy="365760"/>
          </a:xfrm>
          <a:prstGeom prst="rect">
            <a:avLst/>
          </a:prstGeom>
          <a:noFill/>
        </p:spPr>
        <p:txBody>
          <a:bodyPr wrap="square" anchor="t" lIns="38100" rIns="38100" tIns="25400" bIns="25400">
            <a:spAutoFit/>
          </a:bodyPr>
          <a:lstStyle/>
          <a:p>
            <a:pPr algn="l">
              <a:lnSpc>
                <a:spcPct val="106000"/>
              </a:lnSpc>
              <a:spcBef>
                <a:spcPts val="0"/>
              </a:spcBef>
              <a:spcAft>
                <a:spcPts val="200"/>
              </a:spcAft>
            </a:pPr>
            <a:r>
              <a:rPr sz="1200" b="0" i="0">
                <a:solidFill>
                  <a:srgbClr val="6A6E78"/>
                </a:solidFill>
                <a:latin typeface="Inter"/>
              </a:rPr>
              <a:t>Es de:</a:t>
            </a:r>
          </a:p>
        </p:txBody>
      </p:sp>
      <p:sp>
        <p:nvSpPr>
          <p:cNvPr id="20" name="TextBox 19"/>
          <p:cNvSpPr txBox="1"/>
          <p:nvPr/>
        </p:nvSpPr>
        <p:spPr>
          <a:xfrm>
            <a:off x="3566160" y="2651760"/>
            <a:ext cx="2423160" cy="457200"/>
          </a:xfrm>
          <a:prstGeom prst="rect">
            <a:avLst/>
          </a:prstGeom>
          <a:noFill/>
        </p:spPr>
        <p:txBody>
          <a:bodyPr wrap="square" anchor="t" lIns="38100" rIns="38100" tIns="25400" bIns="25400">
            <a:spAutoFit/>
          </a:bodyPr>
          <a:lstStyle/>
          <a:p>
            <a:pPr algn="l">
              <a:lnSpc>
                <a:spcPct val="105000"/>
              </a:lnSpc>
              <a:spcBef>
                <a:spcPts val="0"/>
              </a:spcBef>
              <a:spcAft>
                <a:spcPts val="200"/>
              </a:spcAft>
            </a:pPr>
            <a:r>
              <a:rPr sz="1300" b="1" i="0">
                <a:solidFill>
                  <a:srgbClr val="20242E"/>
                </a:solidFill>
                <a:latin typeface="Inter"/>
              </a:rPr>
              <a:t>México 🇲🇽</a:t>
            </a:r>
          </a:p>
        </p:txBody>
      </p:sp>
      <p:sp>
        <p:nvSpPr>
          <p:cNvPr id="21" name="TextBox 20"/>
          <p:cNvSpPr txBox="1"/>
          <p:nvPr/>
        </p:nvSpPr>
        <p:spPr>
          <a:xfrm>
            <a:off x="3566160" y="3200400"/>
            <a:ext cx="2423160" cy="365760"/>
          </a:xfrm>
          <a:prstGeom prst="rect">
            <a:avLst/>
          </a:prstGeom>
          <a:noFill/>
        </p:spPr>
        <p:txBody>
          <a:bodyPr wrap="square" anchor="t" lIns="38100" rIns="38100" tIns="25400" bIns="25400">
            <a:spAutoFit/>
          </a:bodyPr>
          <a:lstStyle/>
          <a:p>
            <a:pPr algn="l">
              <a:lnSpc>
                <a:spcPct val="106000"/>
              </a:lnSpc>
              <a:spcBef>
                <a:spcPts val="0"/>
              </a:spcBef>
              <a:spcAft>
                <a:spcPts val="200"/>
              </a:spcAft>
            </a:pPr>
            <a:r>
              <a:rPr sz="1100" b="0" i="0">
                <a:solidFill>
                  <a:srgbClr val="6A6E78"/>
                </a:solidFill>
                <a:latin typeface="Inter"/>
              </a:rPr>
              <a:t>Edad · carácter:</a:t>
            </a:r>
          </a:p>
        </p:txBody>
      </p:sp>
      <p:sp>
        <p:nvSpPr>
          <p:cNvPr id="22" name="TextBox 21"/>
          <p:cNvSpPr txBox="1"/>
          <p:nvPr/>
        </p:nvSpPr>
        <p:spPr>
          <a:xfrm>
            <a:off x="3566160" y="3520440"/>
            <a:ext cx="2423160" cy="365760"/>
          </a:xfrm>
          <a:prstGeom prst="rect">
            <a:avLst/>
          </a:prstGeom>
          <a:noFill/>
        </p:spPr>
        <p:txBody>
          <a:bodyPr wrap="square" anchor="t" lIns="38100" rIns="38100" tIns="25400" bIns="25400">
            <a:spAutoFit/>
          </a:bodyPr>
          <a:lstStyle/>
          <a:p>
            <a:pPr algn="l">
              <a:lnSpc>
                <a:spcPct val="106000"/>
              </a:lnSpc>
              <a:spcBef>
                <a:spcPts val="0"/>
              </a:spcBef>
              <a:spcAft>
                <a:spcPts val="200"/>
              </a:spcAft>
            </a:pPr>
            <a:r>
              <a:rPr sz="1300" b="1" i="0">
                <a:solidFill>
                  <a:srgbClr val="7C56A9"/>
                </a:solidFill>
                <a:latin typeface="Inter"/>
              </a:rPr>
              <a:t>16 · hablador</a:t>
            </a:r>
          </a:p>
        </p:txBody>
      </p:sp>
      <p:sp>
        <p:nvSpPr>
          <p:cNvPr id="23" name="Rounded Rectangle 22"/>
          <p:cNvSpPr/>
          <p:nvPr/>
        </p:nvSpPr>
        <p:spPr>
          <a:xfrm>
            <a:off x="6217920" y="1737360"/>
            <a:ext cx="2697480" cy="2194560"/>
          </a:xfrm>
          <a:prstGeom prst="roundRect">
            <a:avLst>
              <a:gd name="adj" fmla="val 5500"/>
            </a:avLst>
          </a:prstGeom>
          <a:solidFill>
            <a:srgbClr val="FFFFFF"/>
          </a:solidFill>
          <a:ln w="15240">
            <a:solidFill>
              <a:srgbClr val="E4E3DE"/>
            </a:solidFill>
          </a:ln>
          <a:effectLst>
            <a:outerShdw blurRad="90000" dist="38000" dir="5400000" rotWithShape="0">
              <a:srgbClr val="20242E">
                <a:alpha val="2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217920" y="1737360"/>
            <a:ext cx="2697480" cy="457200"/>
          </a:xfrm>
          <a:prstGeom prst="rect">
            <a:avLst/>
          </a:prstGeom>
          <a:solidFill>
            <a:srgbClr val="EEE8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217920" y="1737360"/>
            <a:ext cx="2697480" cy="457200"/>
          </a:xfrm>
          <a:prstGeom prst="rect">
            <a:avLst/>
          </a:prstGeom>
          <a:noFill/>
        </p:spPr>
        <p:txBody>
          <a:bodyPr wrap="square" anchor="ctr" lIns="38100" rIns="38100" tIns="25400" bIns="25400">
            <a:spAutoFit/>
          </a:bodyPr>
          <a:lstStyle/>
          <a:p>
            <a:pPr algn="ctr">
              <a:lnSpc>
                <a:spcPct val="106000"/>
              </a:lnSpc>
              <a:spcBef>
                <a:spcPts val="0"/>
              </a:spcBef>
              <a:spcAft>
                <a:spcPts val="200"/>
              </a:spcAft>
            </a:pPr>
            <a:r>
              <a:rPr sz="1400" b="1" i="0">
                <a:solidFill>
                  <a:srgbClr val="5B3E83"/>
                </a:solidFill>
                <a:latin typeface="Bricolage Grotesque"/>
              </a:rPr>
              <a:t>🔊  Valen</a:t>
            </a:r>
          </a:p>
        </p:txBody>
      </p:sp>
      <p:sp>
        <p:nvSpPr>
          <p:cNvPr id="26" name="TextBox 25"/>
          <p:cNvSpPr txBox="1"/>
          <p:nvPr/>
        </p:nvSpPr>
        <p:spPr>
          <a:xfrm>
            <a:off x="6355080" y="2331720"/>
            <a:ext cx="2423160" cy="365760"/>
          </a:xfrm>
          <a:prstGeom prst="rect">
            <a:avLst/>
          </a:prstGeom>
          <a:noFill/>
        </p:spPr>
        <p:txBody>
          <a:bodyPr wrap="square" anchor="t" lIns="38100" rIns="38100" tIns="25400" bIns="25400">
            <a:spAutoFit/>
          </a:bodyPr>
          <a:lstStyle/>
          <a:p>
            <a:pPr algn="l">
              <a:lnSpc>
                <a:spcPct val="106000"/>
              </a:lnSpc>
              <a:spcBef>
                <a:spcPts val="0"/>
              </a:spcBef>
              <a:spcAft>
                <a:spcPts val="200"/>
              </a:spcAft>
            </a:pPr>
            <a:r>
              <a:rPr sz="1200" b="0" i="0">
                <a:solidFill>
                  <a:srgbClr val="6A6E78"/>
                </a:solidFill>
                <a:latin typeface="Inter"/>
              </a:rPr>
              <a:t>Es de:</a:t>
            </a:r>
          </a:p>
        </p:txBody>
      </p:sp>
      <p:sp>
        <p:nvSpPr>
          <p:cNvPr id="27" name="TextBox 26"/>
          <p:cNvSpPr txBox="1"/>
          <p:nvPr/>
        </p:nvSpPr>
        <p:spPr>
          <a:xfrm>
            <a:off x="6355080" y="2651760"/>
            <a:ext cx="2423160" cy="457200"/>
          </a:xfrm>
          <a:prstGeom prst="rect">
            <a:avLst/>
          </a:prstGeom>
          <a:noFill/>
        </p:spPr>
        <p:txBody>
          <a:bodyPr wrap="square" anchor="t" lIns="38100" rIns="38100" tIns="25400" bIns="25400">
            <a:spAutoFit/>
          </a:bodyPr>
          <a:lstStyle/>
          <a:p>
            <a:pPr algn="l">
              <a:lnSpc>
                <a:spcPct val="105000"/>
              </a:lnSpc>
              <a:spcBef>
                <a:spcPts val="0"/>
              </a:spcBef>
              <a:spcAft>
                <a:spcPts val="200"/>
              </a:spcAft>
            </a:pPr>
            <a:r>
              <a:rPr sz="1300" b="1" i="0">
                <a:solidFill>
                  <a:srgbClr val="20242E"/>
                </a:solidFill>
                <a:latin typeface="Inter"/>
              </a:rPr>
              <a:t>Colombia 🇨🇴</a:t>
            </a:r>
          </a:p>
        </p:txBody>
      </p:sp>
      <p:sp>
        <p:nvSpPr>
          <p:cNvPr id="28" name="TextBox 27"/>
          <p:cNvSpPr txBox="1"/>
          <p:nvPr/>
        </p:nvSpPr>
        <p:spPr>
          <a:xfrm>
            <a:off x="6355080" y="3200400"/>
            <a:ext cx="2423160" cy="365760"/>
          </a:xfrm>
          <a:prstGeom prst="rect">
            <a:avLst/>
          </a:prstGeom>
          <a:noFill/>
        </p:spPr>
        <p:txBody>
          <a:bodyPr wrap="square" anchor="t" lIns="38100" rIns="38100" tIns="25400" bIns="25400">
            <a:spAutoFit/>
          </a:bodyPr>
          <a:lstStyle/>
          <a:p>
            <a:pPr algn="l">
              <a:lnSpc>
                <a:spcPct val="106000"/>
              </a:lnSpc>
              <a:spcBef>
                <a:spcPts val="0"/>
              </a:spcBef>
              <a:spcAft>
                <a:spcPts val="200"/>
              </a:spcAft>
            </a:pPr>
            <a:r>
              <a:rPr sz="1100" b="0" i="0">
                <a:solidFill>
                  <a:srgbClr val="6A6E78"/>
                </a:solidFill>
                <a:latin typeface="Inter"/>
              </a:rPr>
              <a:t>Edad · carácter:</a:t>
            </a:r>
          </a:p>
        </p:txBody>
      </p:sp>
      <p:sp>
        <p:nvSpPr>
          <p:cNvPr id="29" name="TextBox 28"/>
          <p:cNvSpPr txBox="1"/>
          <p:nvPr/>
        </p:nvSpPr>
        <p:spPr>
          <a:xfrm>
            <a:off x="6355080" y="3520440"/>
            <a:ext cx="2423160" cy="365760"/>
          </a:xfrm>
          <a:prstGeom prst="rect">
            <a:avLst/>
          </a:prstGeom>
          <a:noFill/>
        </p:spPr>
        <p:txBody>
          <a:bodyPr wrap="square" anchor="t" lIns="38100" rIns="38100" tIns="25400" bIns="25400">
            <a:spAutoFit/>
          </a:bodyPr>
          <a:lstStyle/>
          <a:p>
            <a:pPr algn="l">
              <a:lnSpc>
                <a:spcPct val="106000"/>
              </a:lnSpc>
              <a:spcBef>
                <a:spcPts val="0"/>
              </a:spcBef>
              <a:spcAft>
                <a:spcPts val="200"/>
              </a:spcAft>
            </a:pPr>
            <a:r>
              <a:rPr sz="1300" b="1" i="0">
                <a:solidFill>
                  <a:srgbClr val="7C56A9"/>
                </a:solidFill>
                <a:latin typeface="Inter"/>
              </a:rPr>
              <a:t>15 · costeña</a:t>
            </a:r>
          </a:p>
        </p:txBody>
      </p:sp>
      <p:sp>
        <p:nvSpPr>
          <p:cNvPr id="30" name="Rounded Rectangle 29"/>
          <p:cNvSpPr/>
          <p:nvPr/>
        </p:nvSpPr>
        <p:spPr>
          <a:xfrm>
            <a:off x="9006840" y="1737360"/>
            <a:ext cx="2697480" cy="2194560"/>
          </a:xfrm>
          <a:prstGeom prst="roundRect">
            <a:avLst>
              <a:gd name="adj" fmla="val 5500"/>
            </a:avLst>
          </a:prstGeom>
          <a:solidFill>
            <a:srgbClr val="FFFFFF"/>
          </a:solidFill>
          <a:ln w="15240">
            <a:solidFill>
              <a:srgbClr val="E4E3DE"/>
            </a:solidFill>
          </a:ln>
          <a:effectLst>
            <a:outerShdw blurRad="90000" dist="38000" dir="5400000" rotWithShape="0">
              <a:srgbClr val="20242E">
                <a:alpha val="2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9006840" y="1737360"/>
            <a:ext cx="2697480" cy="457200"/>
          </a:xfrm>
          <a:prstGeom prst="rect">
            <a:avLst/>
          </a:prstGeom>
          <a:solidFill>
            <a:srgbClr val="EEE8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9006840" y="1737360"/>
            <a:ext cx="2697480" cy="457200"/>
          </a:xfrm>
          <a:prstGeom prst="rect">
            <a:avLst/>
          </a:prstGeom>
          <a:noFill/>
        </p:spPr>
        <p:txBody>
          <a:bodyPr wrap="square" anchor="ctr" lIns="38100" rIns="38100" tIns="25400" bIns="25400">
            <a:spAutoFit/>
          </a:bodyPr>
          <a:lstStyle/>
          <a:p>
            <a:pPr algn="ctr">
              <a:lnSpc>
                <a:spcPct val="106000"/>
              </a:lnSpc>
              <a:spcBef>
                <a:spcPts val="0"/>
              </a:spcBef>
              <a:spcAft>
                <a:spcPts val="200"/>
              </a:spcAft>
            </a:pPr>
            <a:r>
              <a:rPr sz="1400" b="1" i="0">
                <a:solidFill>
                  <a:srgbClr val="5B3E83"/>
                </a:solidFill>
                <a:latin typeface="Bricolage Grotesque"/>
              </a:rPr>
              <a:t>🔊  Mateo</a:t>
            </a:r>
          </a:p>
        </p:txBody>
      </p:sp>
      <p:sp>
        <p:nvSpPr>
          <p:cNvPr id="33" name="TextBox 32"/>
          <p:cNvSpPr txBox="1"/>
          <p:nvPr/>
        </p:nvSpPr>
        <p:spPr>
          <a:xfrm>
            <a:off x="9144000" y="2331720"/>
            <a:ext cx="2423160" cy="365760"/>
          </a:xfrm>
          <a:prstGeom prst="rect">
            <a:avLst/>
          </a:prstGeom>
          <a:noFill/>
        </p:spPr>
        <p:txBody>
          <a:bodyPr wrap="square" anchor="t" lIns="38100" rIns="38100" tIns="25400" bIns="25400">
            <a:spAutoFit/>
          </a:bodyPr>
          <a:lstStyle/>
          <a:p>
            <a:pPr algn="l">
              <a:lnSpc>
                <a:spcPct val="106000"/>
              </a:lnSpc>
              <a:spcBef>
                <a:spcPts val="0"/>
              </a:spcBef>
              <a:spcAft>
                <a:spcPts val="200"/>
              </a:spcAft>
            </a:pPr>
            <a:r>
              <a:rPr sz="1200" b="0" i="0">
                <a:solidFill>
                  <a:srgbClr val="6A6E78"/>
                </a:solidFill>
                <a:latin typeface="Inter"/>
              </a:rPr>
              <a:t>Es de:</a:t>
            </a:r>
          </a:p>
        </p:txBody>
      </p:sp>
      <p:sp>
        <p:nvSpPr>
          <p:cNvPr id="34" name="TextBox 33"/>
          <p:cNvSpPr txBox="1"/>
          <p:nvPr/>
        </p:nvSpPr>
        <p:spPr>
          <a:xfrm>
            <a:off x="9144000" y="2651760"/>
            <a:ext cx="2423160" cy="457200"/>
          </a:xfrm>
          <a:prstGeom prst="rect">
            <a:avLst/>
          </a:prstGeom>
          <a:noFill/>
        </p:spPr>
        <p:txBody>
          <a:bodyPr wrap="square" anchor="t" lIns="38100" rIns="38100" tIns="25400" bIns="25400">
            <a:spAutoFit/>
          </a:bodyPr>
          <a:lstStyle/>
          <a:p>
            <a:pPr algn="l">
              <a:lnSpc>
                <a:spcPct val="105000"/>
              </a:lnSpc>
              <a:spcBef>
                <a:spcPts val="0"/>
              </a:spcBef>
              <a:spcAft>
                <a:spcPts val="200"/>
              </a:spcAft>
            </a:pPr>
            <a:r>
              <a:rPr sz="1300" b="1" i="0">
                <a:solidFill>
                  <a:srgbClr val="20242E"/>
                </a:solidFill>
                <a:latin typeface="Inter"/>
              </a:rPr>
              <a:t>Argentina 🇦🇷</a:t>
            </a:r>
          </a:p>
        </p:txBody>
      </p:sp>
      <p:sp>
        <p:nvSpPr>
          <p:cNvPr id="35" name="TextBox 34"/>
          <p:cNvSpPr txBox="1"/>
          <p:nvPr/>
        </p:nvSpPr>
        <p:spPr>
          <a:xfrm>
            <a:off x="9144000" y="3200400"/>
            <a:ext cx="2423160" cy="365760"/>
          </a:xfrm>
          <a:prstGeom prst="rect">
            <a:avLst/>
          </a:prstGeom>
          <a:noFill/>
        </p:spPr>
        <p:txBody>
          <a:bodyPr wrap="square" anchor="t" lIns="38100" rIns="38100" tIns="25400" bIns="25400">
            <a:spAutoFit/>
          </a:bodyPr>
          <a:lstStyle/>
          <a:p>
            <a:pPr algn="l">
              <a:lnSpc>
                <a:spcPct val="106000"/>
              </a:lnSpc>
              <a:spcBef>
                <a:spcPts val="0"/>
              </a:spcBef>
              <a:spcAft>
                <a:spcPts val="200"/>
              </a:spcAft>
            </a:pPr>
            <a:r>
              <a:rPr sz="1100" b="0" i="0">
                <a:solidFill>
                  <a:srgbClr val="6A6E78"/>
                </a:solidFill>
                <a:latin typeface="Inter"/>
              </a:rPr>
              <a:t>Edad · carácter:</a:t>
            </a:r>
          </a:p>
        </p:txBody>
      </p:sp>
      <p:sp>
        <p:nvSpPr>
          <p:cNvPr id="36" name="TextBox 35"/>
          <p:cNvSpPr txBox="1"/>
          <p:nvPr/>
        </p:nvSpPr>
        <p:spPr>
          <a:xfrm>
            <a:off x="9144000" y="3520440"/>
            <a:ext cx="2423160" cy="365760"/>
          </a:xfrm>
          <a:prstGeom prst="rect">
            <a:avLst/>
          </a:prstGeom>
          <a:noFill/>
        </p:spPr>
        <p:txBody>
          <a:bodyPr wrap="square" anchor="t" lIns="38100" rIns="38100" tIns="25400" bIns="25400">
            <a:spAutoFit/>
          </a:bodyPr>
          <a:lstStyle/>
          <a:p>
            <a:pPr algn="l">
              <a:lnSpc>
                <a:spcPct val="106000"/>
              </a:lnSpc>
              <a:spcBef>
                <a:spcPts val="0"/>
              </a:spcBef>
              <a:spcAft>
                <a:spcPts val="200"/>
              </a:spcAft>
            </a:pPr>
            <a:r>
              <a:rPr sz="1300" b="1" i="0">
                <a:solidFill>
                  <a:srgbClr val="7C56A9"/>
                </a:solidFill>
                <a:latin typeface="Inter"/>
              </a:rPr>
              <a:t>17 · voseo</a:t>
            </a:r>
          </a:p>
        </p:txBody>
      </p:sp>
      <p:sp>
        <p:nvSpPr>
          <p:cNvPr id="37" name="Rounded Rectangle 36"/>
          <p:cNvSpPr/>
          <p:nvPr/>
        </p:nvSpPr>
        <p:spPr>
          <a:xfrm>
            <a:off x="457200" y="6053328"/>
            <a:ext cx="2093976" cy="365760"/>
          </a:xfrm>
          <a:prstGeom prst="roundRect">
            <a:avLst>
              <a:gd name="adj" fmla="val 50000"/>
            </a:avLst>
          </a:prstGeom>
          <a:solidFill>
            <a:srgbClr val="7C56A9"/>
          </a:solidFill>
          <a:ln w="12700">
            <a:solidFill>
              <a:srgbClr val="E4E3DE"/>
            </a:solidFill>
          </a:ln>
          <a:effectLst/>
        </p:spPr>
        <p:style>
          <a:lnRef idx="1">
            <a:schemeClr val="accent1"/>
          </a:lnRef>
          <a:fillRef idx="3">
            <a:schemeClr val="accent1"/>
          </a:fillRef>
          <a:effectRef idx="2">
            <a:schemeClr val="accent1"/>
          </a:effectRef>
          <a:fontRef idx="minor">
            <a:schemeClr val="lt1"/>
          </a:fontRef>
        </p:style>
        <p:txBody>
          <a:bodyPr rtlCol="0" anchor="ctr" tIns="12700" bIns="12700"/>
          <a:lstStyle/>
          <a:p>
            <a:pPr algn="ctr"/>
            <a:r>
              <a:rPr sz="1050" b="1">
                <a:solidFill>
                  <a:srgbClr val="FFFFFF"/>
                </a:solidFill>
                <a:latin typeface="Inter"/>
              </a:rPr>
              <a:t>▶  Mostrar solución</a:t>
            </a:r>
          </a:p>
        </p:txBody>
      </p:sp>
      <p:sp>
        <p:nvSpPr>
          <p:cNvPr id="38" name="Rounded Rectangle 37"/>
          <p:cNvSpPr/>
          <p:nvPr/>
        </p:nvSpPr>
        <p:spPr>
          <a:xfrm>
            <a:off x="2697480" y="6053328"/>
            <a:ext cx="1088136" cy="365760"/>
          </a:xfrm>
          <a:prstGeom prst="roundRect">
            <a:avLst>
              <a:gd name="adj" fmla="val 50000"/>
            </a:avLst>
          </a:prstGeom>
          <a:solidFill>
            <a:srgbClr val="FFFFFF"/>
          </a:solidFill>
          <a:ln w="12700">
            <a:solidFill>
              <a:srgbClr val="E4E3DE"/>
            </a:solidFill>
          </a:ln>
          <a:effectLst/>
        </p:spPr>
        <p:style>
          <a:lnRef idx="1">
            <a:schemeClr val="accent1"/>
          </a:lnRef>
          <a:fillRef idx="3">
            <a:schemeClr val="accent1"/>
          </a:fillRef>
          <a:effectRef idx="2">
            <a:schemeClr val="accent1"/>
          </a:effectRef>
          <a:fontRef idx="minor">
            <a:schemeClr val="lt1"/>
          </a:fontRef>
        </p:style>
        <p:txBody>
          <a:bodyPr rtlCol="0" anchor="ctr" tIns="12700" bIns="12700"/>
          <a:lstStyle/>
          <a:p>
            <a:pPr algn="ctr"/>
            <a:r>
              <a:rPr sz="1050" b="1">
                <a:solidFill>
                  <a:srgbClr val="5B3E83"/>
                </a:solidFill>
                <a:latin typeface="Inter"/>
              </a:rPr>
              <a:t>⏭  Saltar</a:t>
            </a:r>
          </a:p>
        </p:txBody>
      </p:sp>
      <p:sp>
        <p:nvSpPr>
          <p:cNvPr id="39" name="Rounded Rectangle 38">
            <a:hlinkClick action="ppaction://hlinksldjump" r:id="rId3"/>
          </p:cNvPr>
          <p:cNvSpPr/>
          <p:nvPr/>
        </p:nvSpPr>
        <p:spPr>
          <a:xfrm>
            <a:off x="3931920" y="6053328"/>
            <a:ext cx="1691639" cy="365760"/>
          </a:xfrm>
          <a:prstGeom prst="roundRect">
            <a:avLst>
              <a:gd name="adj" fmla="val 50000"/>
            </a:avLst>
          </a:prstGeom>
          <a:solidFill>
            <a:srgbClr val="FFFFFF"/>
          </a:solidFill>
          <a:ln w="12700">
            <a:solidFill>
              <a:srgbClr val="E4E3DE"/>
            </a:solidFill>
          </a:ln>
          <a:effectLst/>
        </p:spPr>
        <p:style>
          <a:lnRef idx="1">
            <a:schemeClr val="accent1"/>
          </a:lnRef>
          <a:fillRef idx="3">
            <a:schemeClr val="accent1"/>
          </a:fillRef>
          <a:effectRef idx="2">
            <a:schemeClr val="accent1"/>
          </a:effectRef>
          <a:fontRef idx="minor">
            <a:schemeClr val="lt1"/>
          </a:fontRef>
        </p:style>
        <p:txBody>
          <a:bodyPr rtlCol="0" anchor="ctr" tIns="12700" bIns="12700"/>
          <a:lstStyle/>
          <a:p>
            <a:pPr algn="ctr"/>
            <a:r>
              <a:rPr sz="1050" b="1">
                <a:solidFill>
                  <a:srgbClr val="5B3E83"/>
                </a:solidFill>
                <a:latin typeface="Inter"/>
              </a:rPr>
              <a:t>⌂  Menú (dia 2)</a:t>
            </a:r>
          </a:p>
        </p:txBody>
      </p:sp>
      <p:sp>
        <p:nvSpPr>
          <p:cNvPr id="40" name="TextBox 39"/>
          <p:cNvSpPr txBox="1"/>
          <p:nvPr/>
        </p:nvSpPr>
        <p:spPr>
          <a:xfrm>
            <a:off x="8321040" y="6053328"/>
            <a:ext cx="3383280" cy="365760"/>
          </a:xfrm>
          <a:prstGeom prst="rect">
            <a:avLst/>
          </a:prstGeom>
          <a:noFill/>
        </p:spPr>
        <p:txBody>
          <a:bodyPr wrap="square" anchor="ctr" lIns="38100" rIns="38100" tIns="25400" bIns="25400">
            <a:spAutoFit/>
          </a:bodyPr>
          <a:lstStyle/>
          <a:p>
            <a:pPr algn="r">
              <a:lnSpc>
                <a:spcPct val="106000"/>
              </a:lnSpc>
              <a:spcBef>
                <a:spcPts val="0"/>
              </a:spcBef>
              <a:spcAft>
                <a:spcPts val="200"/>
              </a:spcAft>
            </a:pPr>
            <a:r>
              <a:rPr sz="850" b="0" i="1">
                <a:solidFill>
                  <a:srgbClr val="6A6E78"/>
                </a:solidFill>
                <a:latin typeface="Inter"/>
              </a:rPr>
              <a:t>Noodroute (§5): werkt zonder audio/internet</a:t>
            </a:r>
          </a:p>
        </p:txBody>
      </p:sp>
      <p:sp>
        <p:nvSpPr>
          <p:cNvPr id="41" name="Rounded Rectangle 40"/>
          <p:cNvSpPr/>
          <p:nvPr/>
        </p:nvSpPr>
        <p:spPr>
          <a:xfrm>
            <a:off x="457200" y="4480560"/>
            <a:ext cx="11247120" cy="777240"/>
          </a:xfrm>
          <a:prstGeom prst="roundRect">
            <a:avLst>
              <a:gd name="adj" fmla="val 6000"/>
            </a:avLst>
          </a:prstGeom>
          <a:solidFill>
            <a:srgbClr val="EEE8F5"/>
          </a:solidFill>
          <a:ln w="19050">
            <a:solidFill>
              <a:srgbClr val="7C56A9"/>
            </a:solidFill>
          </a:ln>
          <a:effectLst/>
        </p:spPr>
        <p:style>
          <a:lnRef idx="1">
            <a:schemeClr val="accent1"/>
          </a:lnRef>
          <a:fillRef idx="3">
            <a:schemeClr val="accent1"/>
          </a:fillRef>
          <a:effectRef idx="2">
            <a:schemeClr val="accent1"/>
          </a:effectRef>
          <a:fontRef idx="minor">
            <a:schemeClr val="lt1"/>
          </a:fontRef>
        </p:style>
        <p:txBody>
          <a:bodyPr rtlCol="0" anchor="ctr" wrap="square" lIns="127000" rIns="127000" tIns="139700" bIns="76200"/>
          <a:lstStyle/>
          <a:p>
            <a:pPr algn="ctr">
              <a:lnSpc>
                <a:spcPct val="102000"/>
              </a:lnSpc>
              <a:spcBef>
                <a:spcPts val="0"/>
              </a:spcBef>
              <a:spcAft>
                <a:spcPts val="300"/>
              </a:spcAft>
            </a:pPr>
            <a:r>
              <a:rPr sz="1200" b="1" i="0">
                <a:solidFill>
                  <a:srgbClr val="5B3E83"/>
                </a:solidFill>
                <a:latin typeface="Inter"/>
              </a:rPr>
              <a:t>Modelo-audio (docent leest of TTS): </a:t>
            </a:r>
            <a:r>
              <a:rPr sz="1200" b="0" i="0">
                <a:solidFill>
                  <a:srgbClr val="5B3E83"/>
                </a:solidFill>
                <a:latin typeface="Inter"/>
              </a:rPr>
              <a:t>«Hola, me llamo Lucía, soy de España. Tengo dieciséis años y soy alegre.» …</a:t>
            </a:r>
          </a:p>
          <a:p>
            <a:pPr>
              <a:lnSpc>
                <a:spcPct val="102000"/>
              </a:lnSpc>
              <a:spcBef>
                <a:spcPts val="0"/>
              </a:spcBef>
              <a:spcAft>
                <a:spcPts val="300"/>
              </a:spcAft>
            </a:pPr>
            <a:r>
              <a:rPr sz="1200" b="0" i="0">
                <a:solidFill>
                  <a:srgbClr val="5B3E83"/>
                </a:solidFill>
                <a:latin typeface="Inter"/>
              </a:rPr>
              <a:t>Daarna spreken: elke leerling presenteert zich zoals het model.</a:t>
            </a:r>
          </a:p>
        </p:txBody>
      </p:sp>
      <p:sp>
        <p:nvSpPr>
          <p:cNvPr id="42" name="Rounded Rectangle 41"/>
          <p:cNvSpPr/>
          <p:nvPr/>
        </p:nvSpPr>
        <p:spPr>
          <a:xfrm>
            <a:off x="594360" y="4352544"/>
            <a:ext cx="1548993" cy="292608"/>
          </a:xfrm>
          <a:prstGeom prst="roundRect">
            <a:avLst>
              <a:gd name="adj" fmla="val 50000"/>
            </a:avLst>
          </a:prstGeom>
          <a:solidFill>
            <a:srgbClr val="7C56A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88900" rIns="88900" tIns="12700" bIns="12700"/>
          <a:lstStyle/>
          <a:p>
            <a:pPr algn="ctr"/>
            <a:r>
              <a:rPr sz="950" b="1">
                <a:solidFill>
                  <a:srgbClr val="FFFFFF"/>
                </a:solidFill>
                <a:latin typeface="Inter"/>
              </a:rPr>
              <a:t>SOLUCIÓN · docent</a:t>
            </a:r>
          </a:p>
        </p:txBody>
      </p:sp>
      <p:sp>
        <p:nvSpPr>
          <p:cNvPr id="43" name="Rectangle 42"/>
          <p:cNvSpPr/>
          <p:nvPr/>
        </p:nvSpPr>
        <p:spPr>
          <a:xfrm>
            <a:off x="0" y="6547104"/>
            <a:ext cx="12191695" cy="310896"/>
          </a:xfrm>
          <a:prstGeom prst="rect">
            <a:avLst/>
          </a:prstGeom>
          <a:solidFill>
            <a:srgbClr val="F3EE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411480" y="6565392"/>
            <a:ext cx="5486400" cy="274320"/>
          </a:xfrm>
          <a:prstGeom prst="rect">
            <a:avLst/>
          </a:prstGeom>
          <a:noFill/>
        </p:spPr>
        <p:txBody>
          <a:bodyPr wrap="square" anchor="ctr" lIns="38100" rIns="38100" tIns="25400" bIns="25400">
            <a:spAutoFit/>
          </a:bodyPr>
          <a:lstStyle/>
          <a:p>
            <a:pPr algn="l">
              <a:lnSpc>
                <a:spcPct val="106000"/>
              </a:lnSpc>
              <a:spcBef>
                <a:spcPts val="0"/>
              </a:spcBef>
              <a:spcAft>
                <a:spcPts val="200"/>
              </a:spcAft>
            </a:pPr>
            <a:r>
              <a:rPr sz="1100" b="1" i="0">
                <a:solidFill>
                  <a:srgbClr val="7C56A9"/>
                </a:solidFill>
                <a:latin typeface="Inter"/>
              </a:rPr>
              <a:t>● </a:t>
            </a:r>
            <a:r>
              <a:rPr sz="950" b="0" i="0">
                <a:solidFill>
                  <a:srgbClr val="6A6E78"/>
                </a:solidFill>
                <a:latin typeface="Inter"/>
              </a:rPr>
              <a:t>U0 · ¡VOLVEMOS!   ·   C6+ · el reencuentro</a:t>
            </a:r>
          </a:p>
        </p:txBody>
      </p:sp>
      <p:sp>
        <p:nvSpPr>
          <p:cNvPr id="45" name="TextBox 44"/>
          <p:cNvSpPr txBox="1"/>
          <p:nvPr/>
        </p:nvSpPr>
        <p:spPr>
          <a:xfrm>
            <a:off x="8686800" y="6565392"/>
            <a:ext cx="3063240" cy="274320"/>
          </a:xfrm>
          <a:prstGeom prst="rect">
            <a:avLst/>
          </a:prstGeom>
          <a:noFill/>
        </p:spPr>
        <p:txBody>
          <a:bodyPr wrap="square" anchor="ctr" lIns="38100" rIns="38100" tIns="25400" bIns="25400">
            <a:spAutoFit/>
          </a:bodyPr>
          <a:lstStyle/>
          <a:p>
            <a:pPr algn="r">
              <a:lnSpc>
                <a:spcPct val="106000"/>
              </a:lnSpc>
              <a:spcBef>
                <a:spcPts val="0"/>
              </a:spcBef>
              <a:spcAft>
                <a:spcPts val="200"/>
              </a:spcAft>
            </a:pPr>
            <a:r>
              <a:rPr sz="900" b="0" i="1">
                <a:solidFill>
                  <a:srgbClr val="6A6E78"/>
                </a:solidFill>
                <a:latin typeface="Inter"/>
              </a:rPr>
              <a:t>Docentenversie — met oplossingen</a:t>
            </a:r>
          </a:p>
        </p:txBody>
      </p:sp>
      <p:sp>
        <p:nvSpPr>
          <p:cNvPr id="46" name="TextBox 45"/>
          <p:cNvSpPr txBox="1"/>
          <p:nvPr/>
        </p:nvSpPr>
        <p:spPr>
          <a:xfrm>
            <a:off x="11475720" y="6565392"/>
            <a:ext cx="457200" cy="274320"/>
          </a:xfrm>
          <a:prstGeom prst="rect">
            <a:avLst/>
          </a:prstGeom>
          <a:noFill/>
        </p:spPr>
        <p:txBody>
          <a:bodyPr wrap="square" anchor="ctr" lIns="38100" rIns="38100" tIns="25400" bIns="25400">
            <a:spAutoFit/>
          </a:bodyPr>
          <a:lstStyle/>
          <a:p>
            <a:pPr algn="r">
              <a:lnSpc>
                <a:spcPct val="106000"/>
              </a:lnSpc>
              <a:spcBef>
                <a:spcPts val="0"/>
              </a:spcBef>
              <a:spcAft>
                <a:spcPts val="200"/>
              </a:spcAft>
            </a:pPr>
            <a:r>
              <a:rPr sz="950" b="1" i="0">
                <a:solidFill>
                  <a:srgbClr val="5B3E83"/>
                </a:solidFill>
                <a:latin typeface="Inter"/>
              </a:rPr>
              <a:t>10</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animEffect transition="in" filter="fade">
                                      <p:cBhvr>
                                        <p:cTn id="7" dur="500"/>
                                        <p:tgtEl>
                                          <p:spTgt spid="1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5"/>
                                        </p:tgtEl>
                                        <p:attrNameLst>
                                          <p:attrName>style.visibility</p:attrName>
                                        </p:attrNameLst>
                                      </p:cBhvr>
                                      <p:to>
                                        <p:strVal val="visible"/>
                                      </p:to>
                                    </p:set>
                                    <p:animEffect transition="in" filter="fade">
                                      <p:cBhvr>
                                        <p:cTn id="12" dur="500"/>
                                        <p:tgtEl>
                                          <p:spTgt spid="15"/>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20"/>
                                        </p:tgtEl>
                                        <p:attrNameLst>
                                          <p:attrName>style.visibility</p:attrName>
                                        </p:attrNameLst>
                                      </p:cBhvr>
                                      <p:to>
                                        <p:strVal val="visible"/>
                                      </p:to>
                                    </p:set>
                                    <p:animEffect transition="in" filter="fade">
                                      <p:cBhvr>
                                        <p:cTn id="17" dur="500"/>
                                        <p:tgtEl>
                                          <p:spTgt spid="20"/>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22"/>
                                        </p:tgtEl>
                                        <p:attrNameLst>
                                          <p:attrName>style.visibility</p:attrName>
                                        </p:attrNameLst>
                                      </p:cBhvr>
                                      <p:to>
                                        <p:strVal val="visible"/>
                                      </p:to>
                                    </p:set>
                                    <p:animEffect transition="in" filter="fade">
                                      <p:cBhvr>
                                        <p:cTn id="22" dur="500"/>
                                        <p:tgtEl>
                                          <p:spTgt spid="22"/>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27"/>
                                        </p:tgtEl>
                                        <p:attrNameLst>
                                          <p:attrName>style.visibility</p:attrName>
                                        </p:attrNameLst>
                                      </p:cBhvr>
                                      <p:to>
                                        <p:strVal val="visible"/>
                                      </p:to>
                                    </p:set>
                                    <p:animEffect transition="in" filter="fade">
                                      <p:cBhvr>
                                        <p:cTn id="27" dur="500"/>
                                        <p:tgtEl>
                                          <p:spTgt spid="27"/>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29"/>
                                        </p:tgtEl>
                                        <p:attrNameLst>
                                          <p:attrName>style.visibility</p:attrName>
                                        </p:attrNameLst>
                                      </p:cBhvr>
                                      <p:to>
                                        <p:strVal val="visible"/>
                                      </p:to>
                                    </p:set>
                                    <p:animEffect transition="in" filter="fade">
                                      <p:cBhvr>
                                        <p:cTn id="32" dur="500"/>
                                        <p:tgtEl>
                                          <p:spTgt spid="29"/>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grpId="0" nodeType="clickEffect">
                                  <p:stCondLst>
                                    <p:cond delay="0"/>
                                  </p:stCondLst>
                                  <p:childTnLst>
                                    <p:set>
                                      <p:cBhvr>
                                        <p:cTn id="36" dur="1" fill="hold">
                                          <p:stCondLst>
                                            <p:cond delay="0"/>
                                          </p:stCondLst>
                                        </p:cTn>
                                        <p:tgtEl>
                                          <p:spTgt spid="34"/>
                                        </p:tgtEl>
                                        <p:attrNameLst>
                                          <p:attrName>style.visibility</p:attrName>
                                        </p:attrNameLst>
                                      </p:cBhvr>
                                      <p:to>
                                        <p:strVal val="visible"/>
                                      </p:to>
                                    </p:set>
                                    <p:animEffect transition="in" filter="fade">
                                      <p:cBhvr>
                                        <p:cTn id="37" dur="500"/>
                                        <p:tgtEl>
                                          <p:spTgt spid="34"/>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grpId="0" nodeType="clickEffect">
                                  <p:stCondLst>
                                    <p:cond delay="0"/>
                                  </p:stCondLst>
                                  <p:childTnLst>
                                    <p:set>
                                      <p:cBhvr>
                                        <p:cTn id="41" dur="1" fill="hold">
                                          <p:stCondLst>
                                            <p:cond delay="0"/>
                                          </p:stCondLst>
                                        </p:cTn>
                                        <p:tgtEl>
                                          <p:spTgt spid="36"/>
                                        </p:tgtEl>
                                        <p:attrNameLst>
                                          <p:attrName>style.visibility</p:attrName>
                                        </p:attrNameLst>
                                      </p:cBhvr>
                                      <p:to>
                                        <p:strVal val="visible"/>
                                      </p:to>
                                    </p:set>
                                    <p:animEffect transition="in" filter="fade">
                                      <p:cBhvr>
                                        <p:cTn id="42" dur="500"/>
                                        <p:tgtEl>
                                          <p:spTgt spid="36"/>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grpId="0" nodeType="clickEffect">
                                  <p:stCondLst>
                                    <p:cond delay="0"/>
                                  </p:stCondLst>
                                  <p:childTnLst>
                                    <p:set>
                                      <p:cBhvr>
                                        <p:cTn id="46" dur="1" fill="hold">
                                          <p:stCondLst>
                                            <p:cond delay="0"/>
                                          </p:stCondLst>
                                        </p:cTn>
                                        <p:tgtEl>
                                          <p:spTgt spid="41"/>
                                        </p:tgtEl>
                                        <p:attrNameLst>
                                          <p:attrName>style.visibility</p:attrName>
                                        </p:attrNameLst>
                                      </p:cBhvr>
                                      <p:to>
                                        <p:strVal val="visible"/>
                                      </p:to>
                                    </p:set>
                                    <p:animEffect transition="in" filter="fade">
                                      <p:cBhvr>
                                        <p:cTn id="47" dur="500"/>
                                        <p:tgtEl>
                                          <p:spTgt spid="41"/>
                                        </p:tgtEl>
                                      </p:cBhvr>
                                    </p:animEffect>
                                  </p:childTnLst>
                                </p:cTn>
                              </p:par>
                            </p:childTnLst>
                          </p:cTn>
                        </p:par>
                      </p:childTnLst>
                    </p:cTn>
                  </p:par>
                  <p:par>
                    <p:cTn id="48" fill="hold">
                      <p:stCondLst>
                        <p:cond delay="indefinite"/>
                      </p:stCondLst>
                      <p:childTnLst>
                        <p:par>
                          <p:cTn id="49" fill="hold">
                            <p:stCondLst>
                              <p:cond delay="0"/>
                            </p:stCondLst>
                            <p:childTnLst>
                              <p:par>
                                <p:cTn id="50" presetID="10" presetClass="entr" presetSubtype="0" fill="hold" grpId="0" nodeType="clickEffect">
                                  <p:stCondLst>
                                    <p:cond delay="0"/>
                                  </p:stCondLst>
                                  <p:childTnLst>
                                    <p:set>
                                      <p:cBhvr>
                                        <p:cTn id="51" dur="1" fill="hold">
                                          <p:stCondLst>
                                            <p:cond delay="0"/>
                                          </p:stCondLst>
                                        </p:cTn>
                                        <p:tgtEl>
                                          <p:spTgt spid="42"/>
                                        </p:tgtEl>
                                        <p:attrNameLst>
                                          <p:attrName>style.visibility</p:attrName>
                                        </p:attrNameLst>
                                      </p:cBhvr>
                                      <p:to>
                                        <p:strVal val="visible"/>
                                      </p:to>
                                    </p:set>
                                    <p:animEffect transition="in" filter="fade">
                                      <p:cBhvr>
                                        <p:cTn id="52" dur="500"/>
                                        <p:tgtEl>
                                          <p:spTgt spid="4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C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78992"/>
          </a:xfrm>
          <a:prstGeom prst="rect">
            <a:avLst/>
          </a:prstGeom>
          <a:solidFill>
            <a:srgbClr val="7C56A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78992"/>
            <a:ext cx="12191695" cy="54864"/>
          </a:xfrm>
          <a:prstGeom prst="rect">
            <a:avLst/>
          </a:prstGeom>
          <a:solidFill>
            <a:srgbClr val="5B3E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02920" y="182880"/>
            <a:ext cx="1296619" cy="292608"/>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88900" rIns="88900" tIns="12700" bIns="12700"/>
          <a:lstStyle/>
          <a:p>
            <a:pPr algn="ctr"/>
            <a:r>
              <a:rPr sz="1100" b="1">
                <a:solidFill>
                  <a:srgbClr val="7C56A9"/>
                </a:solidFill>
                <a:latin typeface="Inter"/>
              </a:rPr>
              <a:t>§2 · GRAMÁTICA</a:t>
            </a:r>
          </a:p>
        </p:txBody>
      </p:sp>
      <p:sp>
        <p:nvSpPr>
          <p:cNvPr id="6" name="TextBox 5"/>
          <p:cNvSpPr txBox="1"/>
          <p:nvPr/>
        </p:nvSpPr>
        <p:spPr>
          <a:xfrm>
            <a:off x="10424160" y="-137160"/>
            <a:ext cx="1737360" cy="1371600"/>
          </a:xfrm>
          <a:prstGeom prst="rect">
            <a:avLst/>
          </a:prstGeom>
          <a:noFill/>
        </p:spPr>
        <p:txBody>
          <a:bodyPr wrap="square" anchor="t" lIns="38100" rIns="38100" tIns="25400" bIns="25400">
            <a:spAutoFit/>
          </a:bodyPr>
          <a:lstStyle/>
          <a:p>
            <a:pPr algn="r">
              <a:lnSpc>
                <a:spcPct val="106000"/>
              </a:lnSpc>
              <a:spcBef>
                <a:spcPts val="0"/>
              </a:spcBef>
              <a:spcAft>
                <a:spcPts val="200"/>
              </a:spcAft>
            </a:pPr>
            <a:r>
              <a:rPr sz="8800" b="1" i="0">
                <a:solidFill>
                  <a:srgbClr val="FFFFFF"/>
                </a:solidFill>
                <a:latin typeface="Bricolage Grotesque"/>
              </a:rPr>
              <a:t>2</a:t>
            </a:r>
          </a:p>
        </p:txBody>
      </p:sp>
      <p:sp>
        <p:nvSpPr>
          <p:cNvPr id="7" name="TextBox 6"/>
          <p:cNvSpPr txBox="1"/>
          <p:nvPr/>
        </p:nvSpPr>
        <p:spPr>
          <a:xfrm>
            <a:off x="457200" y="457200"/>
            <a:ext cx="9692640" cy="502920"/>
          </a:xfrm>
          <a:prstGeom prst="rect">
            <a:avLst/>
          </a:prstGeom>
          <a:noFill/>
        </p:spPr>
        <p:txBody>
          <a:bodyPr wrap="square" anchor="ctr" lIns="38100" rIns="38100" tIns="25400" bIns="25400">
            <a:spAutoFit/>
          </a:bodyPr>
          <a:lstStyle/>
          <a:p>
            <a:pPr algn="l">
              <a:lnSpc>
                <a:spcPct val="106000"/>
              </a:lnSpc>
              <a:spcBef>
                <a:spcPts val="0"/>
              </a:spcBef>
              <a:spcAft>
                <a:spcPts val="200"/>
              </a:spcAft>
            </a:pPr>
            <a:r>
              <a:rPr sz="2700" b="1" i="0">
                <a:solidFill>
                  <a:srgbClr val="FFFFFF"/>
                </a:solidFill>
                <a:latin typeface="Bricolage Grotesque"/>
              </a:rPr>
              <a:t>¿soy o estoy?</a:t>
            </a:r>
          </a:p>
        </p:txBody>
      </p:sp>
      <p:sp>
        <p:nvSpPr>
          <p:cNvPr id="8" name="TextBox 7"/>
          <p:cNvSpPr txBox="1"/>
          <p:nvPr/>
        </p:nvSpPr>
        <p:spPr>
          <a:xfrm>
            <a:off x="502920" y="932688"/>
            <a:ext cx="9692640" cy="274320"/>
          </a:xfrm>
          <a:prstGeom prst="rect">
            <a:avLst/>
          </a:prstGeom>
          <a:noFill/>
        </p:spPr>
        <p:txBody>
          <a:bodyPr wrap="square" anchor="t" lIns="38100" rIns="38100" tIns="25400" bIns="25400">
            <a:spAutoFit/>
          </a:bodyPr>
          <a:lstStyle/>
          <a:p>
            <a:pPr algn="l">
              <a:lnSpc>
                <a:spcPct val="106000"/>
              </a:lnSpc>
              <a:spcBef>
                <a:spcPts val="0"/>
              </a:spcBef>
              <a:spcAft>
                <a:spcPts val="200"/>
              </a:spcAft>
            </a:pPr>
            <a:r>
              <a:rPr sz="1250" b="0" i="1">
                <a:solidFill>
                  <a:srgbClr val="EEE8F5"/>
                </a:solidFill>
                <a:latin typeface="Inter"/>
              </a:rPr>
              <a:t>Klik een zin → de juiste vorm. ser = identiteit · estar = plaats/gevoel.</a:t>
            </a:r>
          </a:p>
        </p:txBody>
      </p:sp>
      <p:sp>
        <p:nvSpPr>
          <p:cNvPr id="9" name="Rounded Rectangle 8"/>
          <p:cNvSpPr/>
          <p:nvPr/>
        </p:nvSpPr>
        <p:spPr>
          <a:xfrm>
            <a:off x="457200" y="1600200"/>
            <a:ext cx="3611880" cy="1051560"/>
          </a:xfrm>
          <a:prstGeom prst="roundRect">
            <a:avLst>
              <a:gd name="adj" fmla="val 5500"/>
            </a:avLst>
          </a:prstGeom>
          <a:solidFill>
            <a:srgbClr val="FFFFFF"/>
          </a:solidFill>
          <a:ln w="17780">
            <a:solidFill>
              <a:srgbClr val="7C56A9"/>
            </a:solidFill>
          </a:ln>
          <a:effectLst>
            <a:outerShdw blurRad="90000" dist="38000" dir="5400000" rotWithShape="0">
              <a:srgbClr val="20242E">
                <a:alpha val="2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66928" y="1709928"/>
            <a:ext cx="3392424" cy="365760"/>
          </a:xfrm>
          <a:prstGeom prst="rect">
            <a:avLst/>
          </a:prstGeom>
          <a:noFill/>
        </p:spPr>
        <p:txBody>
          <a:bodyPr wrap="square" anchor="t" lIns="38100" rIns="38100" tIns="25400" bIns="25400">
            <a:spAutoFit/>
          </a:bodyPr>
          <a:lstStyle/>
          <a:p>
            <a:pPr algn="ctr">
              <a:lnSpc>
                <a:spcPct val="106000"/>
              </a:lnSpc>
              <a:spcBef>
                <a:spcPts val="0"/>
              </a:spcBef>
              <a:spcAft>
                <a:spcPts val="200"/>
              </a:spcAft>
            </a:pPr>
            <a:r>
              <a:rPr sz="1250" b="0" i="0">
                <a:solidFill>
                  <a:srgbClr val="6A6E78"/>
                </a:solidFill>
                <a:latin typeface="Inter"/>
              </a:rPr>
              <a:t>___ de Bélgica.</a:t>
            </a:r>
          </a:p>
        </p:txBody>
      </p:sp>
      <p:sp>
        <p:nvSpPr>
          <p:cNvPr id="11" name="TextBox 10"/>
          <p:cNvSpPr txBox="1"/>
          <p:nvPr/>
        </p:nvSpPr>
        <p:spPr>
          <a:xfrm>
            <a:off x="457200" y="2057400"/>
            <a:ext cx="3611880" cy="502920"/>
          </a:xfrm>
          <a:prstGeom prst="rect">
            <a:avLst/>
          </a:prstGeom>
          <a:noFill/>
        </p:spPr>
        <p:txBody>
          <a:bodyPr wrap="square" anchor="t" lIns="38100" rIns="38100" tIns="25400" bIns="25400">
            <a:spAutoFit/>
          </a:bodyPr>
          <a:lstStyle/>
          <a:p>
            <a:pPr algn="ctr">
              <a:lnSpc>
                <a:spcPct val="106000"/>
              </a:lnSpc>
              <a:spcBef>
                <a:spcPts val="0"/>
              </a:spcBef>
              <a:spcAft>
                <a:spcPts val="200"/>
              </a:spcAft>
            </a:pPr>
            <a:r>
              <a:rPr sz="2400" b="1" i="0">
                <a:solidFill>
                  <a:srgbClr val="5B3E83"/>
                </a:solidFill>
                <a:latin typeface="Bricolage Grotesque"/>
              </a:rPr>
              <a:t>→ soy</a:t>
            </a:r>
          </a:p>
        </p:txBody>
      </p:sp>
      <p:sp>
        <p:nvSpPr>
          <p:cNvPr id="12" name="Rounded Rectangle 11"/>
          <p:cNvSpPr/>
          <p:nvPr/>
        </p:nvSpPr>
        <p:spPr>
          <a:xfrm>
            <a:off x="4251960" y="1600200"/>
            <a:ext cx="3611880" cy="1051560"/>
          </a:xfrm>
          <a:prstGeom prst="roundRect">
            <a:avLst>
              <a:gd name="adj" fmla="val 5500"/>
            </a:avLst>
          </a:prstGeom>
          <a:solidFill>
            <a:srgbClr val="FFFFFF"/>
          </a:solidFill>
          <a:ln w="17780">
            <a:solidFill>
              <a:srgbClr val="7C56A9"/>
            </a:solidFill>
          </a:ln>
          <a:effectLst>
            <a:outerShdw blurRad="90000" dist="38000" dir="5400000" rotWithShape="0">
              <a:srgbClr val="20242E">
                <a:alpha val="2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361688" y="1709928"/>
            <a:ext cx="3392424" cy="365760"/>
          </a:xfrm>
          <a:prstGeom prst="rect">
            <a:avLst/>
          </a:prstGeom>
          <a:noFill/>
        </p:spPr>
        <p:txBody>
          <a:bodyPr wrap="square" anchor="t" lIns="38100" rIns="38100" tIns="25400" bIns="25400">
            <a:spAutoFit/>
          </a:bodyPr>
          <a:lstStyle/>
          <a:p>
            <a:pPr algn="ctr">
              <a:lnSpc>
                <a:spcPct val="106000"/>
              </a:lnSpc>
              <a:spcBef>
                <a:spcPts val="0"/>
              </a:spcBef>
              <a:spcAft>
                <a:spcPts val="200"/>
              </a:spcAft>
            </a:pPr>
            <a:r>
              <a:rPr sz="1250" b="0" i="0">
                <a:solidFill>
                  <a:srgbClr val="6A6E78"/>
                </a:solidFill>
                <a:latin typeface="Inter"/>
              </a:rPr>
              <a:t>___ en clase.</a:t>
            </a:r>
          </a:p>
        </p:txBody>
      </p:sp>
      <p:sp>
        <p:nvSpPr>
          <p:cNvPr id="14" name="TextBox 13"/>
          <p:cNvSpPr txBox="1"/>
          <p:nvPr/>
        </p:nvSpPr>
        <p:spPr>
          <a:xfrm>
            <a:off x="4251960" y="2057400"/>
            <a:ext cx="3611880" cy="502920"/>
          </a:xfrm>
          <a:prstGeom prst="rect">
            <a:avLst/>
          </a:prstGeom>
          <a:noFill/>
        </p:spPr>
        <p:txBody>
          <a:bodyPr wrap="square" anchor="t" lIns="38100" rIns="38100" tIns="25400" bIns="25400">
            <a:spAutoFit/>
          </a:bodyPr>
          <a:lstStyle/>
          <a:p>
            <a:pPr algn="ctr">
              <a:lnSpc>
                <a:spcPct val="106000"/>
              </a:lnSpc>
              <a:spcBef>
                <a:spcPts val="0"/>
              </a:spcBef>
              <a:spcAft>
                <a:spcPts val="200"/>
              </a:spcAft>
            </a:pPr>
            <a:r>
              <a:rPr sz="2400" b="1" i="0">
                <a:solidFill>
                  <a:srgbClr val="5B3E83"/>
                </a:solidFill>
                <a:latin typeface="Bricolage Grotesque"/>
              </a:rPr>
              <a:t>→ estoy</a:t>
            </a:r>
          </a:p>
        </p:txBody>
      </p:sp>
      <p:sp>
        <p:nvSpPr>
          <p:cNvPr id="15" name="Rounded Rectangle 14"/>
          <p:cNvSpPr/>
          <p:nvPr/>
        </p:nvSpPr>
        <p:spPr>
          <a:xfrm>
            <a:off x="8046720" y="1600200"/>
            <a:ext cx="3611880" cy="1051560"/>
          </a:xfrm>
          <a:prstGeom prst="roundRect">
            <a:avLst>
              <a:gd name="adj" fmla="val 5500"/>
            </a:avLst>
          </a:prstGeom>
          <a:solidFill>
            <a:srgbClr val="FFFFFF"/>
          </a:solidFill>
          <a:ln w="17780">
            <a:solidFill>
              <a:srgbClr val="7C56A9"/>
            </a:solidFill>
          </a:ln>
          <a:effectLst>
            <a:outerShdw blurRad="90000" dist="38000" dir="5400000" rotWithShape="0">
              <a:srgbClr val="20242E">
                <a:alpha val="2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156448" y="1709928"/>
            <a:ext cx="3392424" cy="365760"/>
          </a:xfrm>
          <a:prstGeom prst="rect">
            <a:avLst/>
          </a:prstGeom>
          <a:noFill/>
        </p:spPr>
        <p:txBody>
          <a:bodyPr wrap="square" anchor="t" lIns="38100" rIns="38100" tIns="25400" bIns="25400">
            <a:spAutoFit/>
          </a:bodyPr>
          <a:lstStyle/>
          <a:p>
            <a:pPr algn="ctr">
              <a:lnSpc>
                <a:spcPct val="106000"/>
              </a:lnSpc>
              <a:spcBef>
                <a:spcPts val="0"/>
              </a:spcBef>
              <a:spcAft>
                <a:spcPts val="200"/>
              </a:spcAft>
            </a:pPr>
            <a:r>
              <a:rPr sz="1250" b="0" i="0">
                <a:solidFill>
                  <a:srgbClr val="6A6E78"/>
                </a:solidFill>
                <a:latin typeface="Inter"/>
              </a:rPr>
              <a:t>___ estudiante.</a:t>
            </a:r>
          </a:p>
        </p:txBody>
      </p:sp>
      <p:sp>
        <p:nvSpPr>
          <p:cNvPr id="17" name="TextBox 16"/>
          <p:cNvSpPr txBox="1"/>
          <p:nvPr/>
        </p:nvSpPr>
        <p:spPr>
          <a:xfrm>
            <a:off x="8046720" y="2057400"/>
            <a:ext cx="3611880" cy="502920"/>
          </a:xfrm>
          <a:prstGeom prst="rect">
            <a:avLst/>
          </a:prstGeom>
          <a:noFill/>
        </p:spPr>
        <p:txBody>
          <a:bodyPr wrap="square" anchor="t" lIns="38100" rIns="38100" tIns="25400" bIns="25400">
            <a:spAutoFit/>
          </a:bodyPr>
          <a:lstStyle/>
          <a:p>
            <a:pPr algn="ctr">
              <a:lnSpc>
                <a:spcPct val="106000"/>
              </a:lnSpc>
              <a:spcBef>
                <a:spcPts val="0"/>
              </a:spcBef>
              <a:spcAft>
                <a:spcPts val="200"/>
              </a:spcAft>
            </a:pPr>
            <a:r>
              <a:rPr sz="2400" b="1" i="0">
                <a:solidFill>
                  <a:srgbClr val="5B3E83"/>
                </a:solidFill>
                <a:latin typeface="Bricolage Grotesque"/>
              </a:rPr>
              <a:t>→ soy</a:t>
            </a:r>
          </a:p>
        </p:txBody>
      </p:sp>
      <p:sp>
        <p:nvSpPr>
          <p:cNvPr id="18" name="Rounded Rectangle 17"/>
          <p:cNvSpPr/>
          <p:nvPr/>
        </p:nvSpPr>
        <p:spPr>
          <a:xfrm>
            <a:off x="457200" y="2834640"/>
            <a:ext cx="3611880" cy="1051560"/>
          </a:xfrm>
          <a:prstGeom prst="roundRect">
            <a:avLst>
              <a:gd name="adj" fmla="val 5500"/>
            </a:avLst>
          </a:prstGeom>
          <a:solidFill>
            <a:srgbClr val="FFFFFF"/>
          </a:solidFill>
          <a:ln w="17780">
            <a:solidFill>
              <a:srgbClr val="7C56A9"/>
            </a:solidFill>
          </a:ln>
          <a:effectLst>
            <a:outerShdw blurRad="90000" dist="38000" dir="5400000" rotWithShape="0">
              <a:srgbClr val="20242E">
                <a:alpha val="2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66928" y="2944368"/>
            <a:ext cx="3392424" cy="365760"/>
          </a:xfrm>
          <a:prstGeom prst="rect">
            <a:avLst/>
          </a:prstGeom>
          <a:noFill/>
        </p:spPr>
        <p:txBody>
          <a:bodyPr wrap="square" anchor="t" lIns="38100" rIns="38100" tIns="25400" bIns="25400">
            <a:spAutoFit/>
          </a:bodyPr>
          <a:lstStyle/>
          <a:p>
            <a:pPr algn="ctr">
              <a:lnSpc>
                <a:spcPct val="106000"/>
              </a:lnSpc>
              <a:spcBef>
                <a:spcPts val="0"/>
              </a:spcBef>
              <a:spcAft>
                <a:spcPts val="200"/>
              </a:spcAft>
            </a:pPr>
            <a:r>
              <a:rPr sz="1250" b="0" i="0">
                <a:solidFill>
                  <a:srgbClr val="6A6E78"/>
                </a:solidFill>
                <a:latin typeface="Inter"/>
              </a:rPr>
              <a:t>Hoy ___ contento.</a:t>
            </a:r>
          </a:p>
        </p:txBody>
      </p:sp>
      <p:sp>
        <p:nvSpPr>
          <p:cNvPr id="20" name="TextBox 19"/>
          <p:cNvSpPr txBox="1"/>
          <p:nvPr/>
        </p:nvSpPr>
        <p:spPr>
          <a:xfrm>
            <a:off x="457200" y="3291840"/>
            <a:ext cx="3611880" cy="502920"/>
          </a:xfrm>
          <a:prstGeom prst="rect">
            <a:avLst/>
          </a:prstGeom>
          <a:noFill/>
        </p:spPr>
        <p:txBody>
          <a:bodyPr wrap="square" anchor="t" lIns="38100" rIns="38100" tIns="25400" bIns="25400">
            <a:spAutoFit/>
          </a:bodyPr>
          <a:lstStyle/>
          <a:p>
            <a:pPr algn="ctr">
              <a:lnSpc>
                <a:spcPct val="106000"/>
              </a:lnSpc>
              <a:spcBef>
                <a:spcPts val="0"/>
              </a:spcBef>
              <a:spcAft>
                <a:spcPts val="200"/>
              </a:spcAft>
            </a:pPr>
            <a:r>
              <a:rPr sz="2400" b="1" i="0">
                <a:solidFill>
                  <a:srgbClr val="5B3E83"/>
                </a:solidFill>
                <a:latin typeface="Bricolage Grotesque"/>
              </a:rPr>
              <a:t>→ estoy</a:t>
            </a:r>
          </a:p>
        </p:txBody>
      </p:sp>
      <p:sp>
        <p:nvSpPr>
          <p:cNvPr id="21" name="Rounded Rectangle 20"/>
          <p:cNvSpPr/>
          <p:nvPr/>
        </p:nvSpPr>
        <p:spPr>
          <a:xfrm>
            <a:off x="4251960" y="2834640"/>
            <a:ext cx="3611880" cy="1051560"/>
          </a:xfrm>
          <a:prstGeom prst="roundRect">
            <a:avLst>
              <a:gd name="adj" fmla="val 5500"/>
            </a:avLst>
          </a:prstGeom>
          <a:solidFill>
            <a:srgbClr val="FFFFFF"/>
          </a:solidFill>
          <a:ln w="17780">
            <a:solidFill>
              <a:srgbClr val="7C56A9"/>
            </a:solidFill>
          </a:ln>
          <a:effectLst>
            <a:outerShdw blurRad="90000" dist="38000" dir="5400000" rotWithShape="0">
              <a:srgbClr val="20242E">
                <a:alpha val="2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361688" y="2944368"/>
            <a:ext cx="3392424" cy="365760"/>
          </a:xfrm>
          <a:prstGeom prst="rect">
            <a:avLst/>
          </a:prstGeom>
          <a:noFill/>
        </p:spPr>
        <p:txBody>
          <a:bodyPr wrap="square" anchor="t" lIns="38100" rIns="38100" tIns="25400" bIns="25400">
            <a:spAutoFit/>
          </a:bodyPr>
          <a:lstStyle/>
          <a:p>
            <a:pPr algn="ctr">
              <a:lnSpc>
                <a:spcPct val="106000"/>
              </a:lnSpc>
              <a:spcBef>
                <a:spcPts val="0"/>
              </a:spcBef>
              <a:spcAft>
                <a:spcPts val="200"/>
              </a:spcAft>
            </a:pPr>
            <a:r>
              <a:rPr sz="1250" b="0" i="0">
                <a:solidFill>
                  <a:srgbClr val="6A6E78"/>
                </a:solidFill>
                <a:latin typeface="Inter"/>
              </a:rPr>
              <a:t>___ belga.</a:t>
            </a:r>
          </a:p>
        </p:txBody>
      </p:sp>
      <p:sp>
        <p:nvSpPr>
          <p:cNvPr id="23" name="TextBox 22"/>
          <p:cNvSpPr txBox="1"/>
          <p:nvPr/>
        </p:nvSpPr>
        <p:spPr>
          <a:xfrm>
            <a:off x="4251960" y="3291840"/>
            <a:ext cx="3611880" cy="502920"/>
          </a:xfrm>
          <a:prstGeom prst="rect">
            <a:avLst/>
          </a:prstGeom>
          <a:noFill/>
        </p:spPr>
        <p:txBody>
          <a:bodyPr wrap="square" anchor="t" lIns="38100" rIns="38100" tIns="25400" bIns="25400">
            <a:spAutoFit/>
          </a:bodyPr>
          <a:lstStyle/>
          <a:p>
            <a:pPr algn="ctr">
              <a:lnSpc>
                <a:spcPct val="106000"/>
              </a:lnSpc>
              <a:spcBef>
                <a:spcPts val="0"/>
              </a:spcBef>
              <a:spcAft>
                <a:spcPts val="200"/>
              </a:spcAft>
            </a:pPr>
            <a:r>
              <a:rPr sz="2400" b="1" i="0">
                <a:solidFill>
                  <a:srgbClr val="5B3E83"/>
                </a:solidFill>
                <a:latin typeface="Bricolage Grotesque"/>
              </a:rPr>
              <a:t>→ soy</a:t>
            </a:r>
          </a:p>
        </p:txBody>
      </p:sp>
      <p:sp>
        <p:nvSpPr>
          <p:cNvPr id="24" name="Rounded Rectangle 23"/>
          <p:cNvSpPr/>
          <p:nvPr/>
        </p:nvSpPr>
        <p:spPr>
          <a:xfrm>
            <a:off x="8046720" y="2834640"/>
            <a:ext cx="3611880" cy="1051560"/>
          </a:xfrm>
          <a:prstGeom prst="roundRect">
            <a:avLst>
              <a:gd name="adj" fmla="val 5500"/>
            </a:avLst>
          </a:prstGeom>
          <a:solidFill>
            <a:srgbClr val="FFFFFF"/>
          </a:solidFill>
          <a:ln w="17780">
            <a:solidFill>
              <a:srgbClr val="7C56A9"/>
            </a:solidFill>
          </a:ln>
          <a:effectLst>
            <a:outerShdw blurRad="90000" dist="38000" dir="5400000" rotWithShape="0">
              <a:srgbClr val="20242E">
                <a:alpha val="2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156448" y="2944368"/>
            <a:ext cx="3392424" cy="365760"/>
          </a:xfrm>
          <a:prstGeom prst="rect">
            <a:avLst/>
          </a:prstGeom>
          <a:noFill/>
        </p:spPr>
        <p:txBody>
          <a:bodyPr wrap="square" anchor="t" lIns="38100" rIns="38100" tIns="25400" bIns="25400">
            <a:spAutoFit/>
          </a:bodyPr>
          <a:lstStyle/>
          <a:p>
            <a:pPr algn="ctr">
              <a:lnSpc>
                <a:spcPct val="106000"/>
              </a:lnSpc>
              <a:spcBef>
                <a:spcPts val="0"/>
              </a:spcBef>
              <a:spcAft>
                <a:spcPts val="200"/>
              </a:spcAft>
            </a:pPr>
            <a:r>
              <a:rPr sz="1250" b="0" i="0">
                <a:solidFill>
                  <a:srgbClr val="6A6E78"/>
                </a:solidFill>
                <a:latin typeface="Inter"/>
              </a:rPr>
              <a:t>___ muy bien, gracias.</a:t>
            </a:r>
          </a:p>
        </p:txBody>
      </p:sp>
      <p:sp>
        <p:nvSpPr>
          <p:cNvPr id="26" name="TextBox 25"/>
          <p:cNvSpPr txBox="1"/>
          <p:nvPr/>
        </p:nvSpPr>
        <p:spPr>
          <a:xfrm>
            <a:off x="8046720" y="3291840"/>
            <a:ext cx="3611880" cy="502920"/>
          </a:xfrm>
          <a:prstGeom prst="rect">
            <a:avLst/>
          </a:prstGeom>
          <a:noFill/>
        </p:spPr>
        <p:txBody>
          <a:bodyPr wrap="square" anchor="t" lIns="38100" rIns="38100" tIns="25400" bIns="25400">
            <a:spAutoFit/>
          </a:bodyPr>
          <a:lstStyle/>
          <a:p>
            <a:pPr algn="ctr">
              <a:lnSpc>
                <a:spcPct val="106000"/>
              </a:lnSpc>
              <a:spcBef>
                <a:spcPts val="0"/>
              </a:spcBef>
              <a:spcAft>
                <a:spcPts val="200"/>
              </a:spcAft>
            </a:pPr>
            <a:r>
              <a:rPr sz="2400" b="1" i="0">
                <a:solidFill>
                  <a:srgbClr val="5B3E83"/>
                </a:solidFill>
                <a:latin typeface="Bricolage Grotesque"/>
              </a:rPr>
              <a:t>→ estoy</a:t>
            </a:r>
          </a:p>
        </p:txBody>
      </p:sp>
      <p:sp>
        <p:nvSpPr>
          <p:cNvPr id="27" name="Rounded Rectangle 26"/>
          <p:cNvSpPr/>
          <p:nvPr/>
        </p:nvSpPr>
        <p:spPr>
          <a:xfrm>
            <a:off x="457200" y="6053328"/>
            <a:ext cx="2093976" cy="365760"/>
          </a:xfrm>
          <a:prstGeom prst="roundRect">
            <a:avLst>
              <a:gd name="adj" fmla="val 50000"/>
            </a:avLst>
          </a:prstGeom>
          <a:solidFill>
            <a:srgbClr val="7C56A9"/>
          </a:solidFill>
          <a:ln w="12700">
            <a:solidFill>
              <a:srgbClr val="E4E3DE"/>
            </a:solidFill>
          </a:ln>
          <a:effectLst/>
        </p:spPr>
        <p:style>
          <a:lnRef idx="1">
            <a:schemeClr val="accent1"/>
          </a:lnRef>
          <a:fillRef idx="3">
            <a:schemeClr val="accent1"/>
          </a:fillRef>
          <a:effectRef idx="2">
            <a:schemeClr val="accent1"/>
          </a:effectRef>
          <a:fontRef idx="minor">
            <a:schemeClr val="lt1"/>
          </a:fontRef>
        </p:style>
        <p:txBody>
          <a:bodyPr rtlCol="0" anchor="ctr" tIns="12700" bIns="12700"/>
          <a:lstStyle/>
          <a:p>
            <a:pPr algn="ctr"/>
            <a:r>
              <a:rPr sz="1050" b="1">
                <a:solidFill>
                  <a:srgbClr val="FFFFFF"/>
                </a:solidFill>
                <a:latin typeface="Inter"/>
              </a:rPr>
              <a:t>▶  Mostrar solución</a:t>
            </a:r>
          </a:p>
        </p:txBody>
      </p:sp>
      <p:sp>
        <p:nvSpPr>
          <p:cNvPr id="28" name="Rounded Rectangle 27"/>
          <p:cNvSpPr/>
          <p:nvPr/>
        </p:nvSpPr>
        <p:spPr>
          <a:xfrm>
            <a:off x="2697480" y="6053328"/>
            <a:ext cx="1088136" cy="365760"/>
          </a:xfrm>
          <a:prstGeom prst="roundRect">
            <a:avLst>
              <a:gd name="adj" fmla="val 50000"/>
            </a:avLst>
          </a:prstGeom>
          <a:solidFill>
            <a:srgbClr val="FFFFFF"/>
          </a:solidFill>
          <a:ln w="12700">
            <a:solidFill>
              <a:srgbClr val="E4E3DE"/>
            </a:solidFill>
          </a:ln>
          <a:effectLst/>
        </p:spPr>
        <p:style>
          <a:lnRef idx="1">
            <a:schemeClr val="accent1"/>
          </a:lnRef>
          <a:fillRef idx="3">
            <a:schemeClr val="accent1"/>
          </a:fillRef>
          <a:effectRef idx="2">
            <a:schemeClr val="accent1"/>
          </a:effectRef>
          <a:fontRef idx="minor">
            <a:schemeClr val="lt1"/>
          </a:fontRef>
        </p:style>
        <p:txBody>
          <a:bodyPr rtlCol="0" anchor="ctr" tIns="12700" bIns="12700"/>
          <a:lstStyle/>
          <a:p>
            <a:pPr algn="ctr"/>
            <a:r>
              <a:rPr sz="1050" b="1">
                <a:solidFill>
                  <a:srgbClr val="5B3E83"/>
                </a:solidFill>
                <a:latin typeface="Inter"/>
              </a:rPr>
              <a:t>⏭  Saltar</a:t>
            </a:r>
          </a:p>
        </p:txBody>
      </p:sp>
      <p:sp>
        <p:nvSpPr>
          <p:cNvPr id="29" name="Rounded Rectangle 28">
            <a:hlinkClick action="ppaction://hlinksldjump" r:id="rId3"/>
          </p:cNvPr>
          <p:cNvSpPr/>
          <p:nvPr/>
        </p:nvSpPr>
        <p:spPr>
          <a:xfrm>
            <a:off x="3931920" y="6053328"/>
            <a:ext cx="1691639" cy="365760"/>
          </a:xfrm>
          <a:prstGeom prst="roundRect">
            <a:avLst>
              <a:gd name="adj" fmla="val 50000"/>
            </a:avLst>
          </a:prstGeom>
          <a:solidFill>
            <a:srgbClr val="FFFFFF"/>
          </a:solidFill>
          <a:ln w="12700">
            <a:solidFill>
              <a:srgbClr val="E4E3DE"/>
            </a:solidFill>
          </a:ln>
          <a:effectLst/>
        </p:spPr>
        <p:style>
          <a:lnRef idx="1">
            <a:schemeClr val="accent1"/>
          </a:lnRef>
          <a:fillRef idx="3">
            <a:schemeClr val="accent1"/>
          </a:fillRef>
          <a:effectRef idx="2">
            <a:schemeClr val="accent1"/>
          </a:effectRef>
          <a:fontRef idx="minor">
            <a:schemeClr val="lt1"/>
          </a:fontRef>
        </p:style>
        <p:txBody>
          <a:bodyPr rtlCol="0" anchor="ctr" tIns="12700" bIns="12700"/>
          <a:lstStyle/>
          <a:p>
            <a:pPr algn="ctr"/>
            <a:r>
              <a:rPr sz="1050" b="1">
                <a:solidFill>
                  <a:srgbClr val="5B3E83"/>
                </a:solidFill>
                <a:latin typeface="Inter"/>
              </a:rPr>
              <a:t>⌂  Menú (dia 2)</a:t>
            </a:r>
          </a:p>
        </p:txBody>
      </p:sp>
      <p:sp>
        <p:nvSpPr>
          <p:cNvPr id="30" name="TextBox 29"/>
          <p:cNvSpPr txBox="1"/>
          <p:nvPr/>
        </p:nvSpPr>
        <p:spPr>
          <a:xfrm>
            <a:off x="8321040" y="6053328"/>
            <a:ext cx="3383280" cy="365760"/>
          </a:xfrm>
          <a:prstGeom prst="rect">
            <a:avLst/>
          </a:prstGeom>
          <a:noFill/>
        </p:spPr>
        <p:txBody>
          <a:bodyPr wrap="square" anchor="ctr" lIns="38100" rIns="38100" tIns="25400" bIns="25400">
            <a:spAutoFit/>
          </a:bodyPr>
          <a:lstStyle/>
          <a:p>
            <a:pPr algn="r">
              <a:lnSpc>
                <a:spcPct val="106000"/>
              </a:lnSpc>
              <a:spcBef>
                <a:spcPts val="0"/>
              </a:spcBef>
              <a:spcAft>
                <a:spcPts val="200"/>
              </a:spcAft>
            </a:pPr>
            <a:r>
              <a:rPr sz="850" b="0" i="1">
                <a:solidFill>
                  <a:srgbClr val="6A6E78"/>
                </a:solidFill>
                <a:latin typeface="Inter"/>
              </a:rPr>
              <a:t>Noodroute (§5): werkt zonder audio/internet</a:t>
            </a:r>
          </a:p>
        </p:txBody>
      </p:sp>
      <p:sp>
        <p:nvSpPr>
          <p:cNvPr id="31" name="Rounded Rectangle 30"/>
          <p:cNvSpPr/>
          <p:nvPr/>
        </p:nvSpPr>
        <p:spPr>
          <a:xfrm>
            <a:off x="457200" y="4709160"/>
            <a:ext cx="11247120" cy="594360"/>
          </a:xfrm>
          <a:prstGeom prst="roundRect">
            <a:avLst>
              <a:gd name="adj" fmla="val 6000"/>
            </a:avLst>
          </a:prstGeom>
          <a:solidFill>
            <a:srgbClr val="EEE8F5"/>
          </a:solidFill>
          <a:ln w="19050">
            <a:solidFill>
              <a:srgbClr val="7C56A9"/>
            </a:solidFill>
          </a:ln>
          <a:effectLst/>
        </p:spPr>
        <p:style>
          <a:lnRef idx="1">
            <a:schemeClr val="accent1"/>
          </a:lnRef>
          <a:fillRef idx="3">
            <a:schemeClr val="accent1"/>
          </a:fillRef>
          <a:effectRef idx="2">
            <a:schemeClr val="accent1"/>
          </a:effectRef>
          <a:fontRef idx="minor">
            <a:schemeClr val="lt1"/>
          </a:fontRef>
        </p:style>
        <p:txBody>
          <a:bodyPr rtlCol="0" anchor="ctr" wrap="square" lIns="127000" rIns="127000" tIns="139700" bIns="76200"/>
          <a:lstStyle/>
          <a:p>
            <a:pPr algn="ctr">
              <a:lnSpc>
                <a:spcPct val="102000"/>
              </a:lnSpc>
              <a:spcBef>
                <a:spcPts val="0"/>
              </a:spcBef>
              <a:spcAft>
                <a:spcPts val="300"/>
              </a:spcAft>
            </a:pPr>
            <a:r>
              <a:rPr sz="1200" b="1" i="0">
                <a:solidFill>
                  <a:srgbClr val="5B3E83"/>
                </a:solidFill>
                <a:latin typeface="Inter"/>
              </a:rPr>
              <a:t>ser (soy): </a:t>
            </a:r>
            <a:r>
              <a:rPr sz="1200" b="0" i="0">
                <a:solidFill>
                  <a:srgbClr val="5B3E83"/>
                </a:solidFill>
                <a:latin typeface="Inter"/>
              </a:rPr>
              <a:t>herkomst · nationaliteit · beroep · karakter. </a:t>
            </a:r>
            <a:r>
              <a:rPr sz="1200" b="1" i="0">
                <a:solidFill>
                  <a:srgbClr val="5B3E83"/>
                </a:solidFill>
                <a:latin typeface="Inter"/>
              </a:rPr>
              <a:t>estar (estoy): </a:t>
            </a:r>
            <a:r>
              <a:rPr sz="1200" b="0" i="0">
                <a:solidFill>
                  <a:srgbClr val="5B3E83"/>
                </a:solidFill>
                <a:latin typeface="Inter"/>
              </a:rPr>
              <a:t>plaats · gevoel · toestand.</a:t>
            </a:r>
          </a:p>
        </p:txBody>
      </p:sp>
      <p:sp>
        <p:nvSpPr>
          <p:cNvPr id="32" name="Rounded Rectangle 31"/>
          <p:cNvSpPr/>
          <p:nvPr/>
        </p:nvSpPr>
        <p:spPr>
          <a:xfrm>
            <a:off x="594360" y="4581144"/>
            <a:ext cx="1548993" cy="292608"/>
          </a:xfrm>
          <a:prstGeom prst="roundRect">
            <a:avLst>
              <a:gd name="adj" fmla="val 50000"/>
            </a:avLst>
          </a:prstGeom>
          <a:solidFill>
            <a:srgbClr val="7C56A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88900" rIns="88900" tIns="12700" bIns="12700"/>
          <a:lstStyle/>
          <a:p>
            <a:pPr algn="ctr"/>
            <a:r>
              <a:rPr sz="950" b="1">
                <a:solidFill>
                  <a:srgbClr val="FFFFFF"/>
                </a:solidFill>
                <a:latin typeface="Inter"/>
              </a:rPr>
              <a:t>SOLUCIÓN · docent</a:t>
            </a:r>
          </a:p>
        </p:txBody>
      </p:sp>
      <p:sp>
        <p:nvSpPr>
          <p:cNvPr id="33" name="Rectangle 32"/>
          <p:cNvSpPr/>
          <p:nvPr/>
        </p:nvSpPr>
        <p:spPr>
          <a:xfrm>
            <a:off x="0" y="6547104"/>
            <a:ext cx="12191695" cy="310896"/>
          </a:xfrm>
          <a:prstGeom prst="rect">
            <a:avLst/>
          </a:prstGeom>
          <a:solidFill>
            <a:srgbClr val="F3EE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411480" y="6565392"/>
            <a:ext cx="5486400" cy="274320"/>
          </a:xfrm>
          <a:prstGeom prst="rect">
            <a:avLst/>
          </a:prstGeom>
          <a:noFill/>
        </p:spPr>
        <p:txBody>
          <a:bodyPr wrap="square" anchor="ctr" lIns="38100" rIns="38100" tIns="25400" bIns="25400">
            <a:spAutoFit/>
          </a:bodyPr>
          <a:lstStyle/>
          <a:p>
            <a:pPr algn="l">
              <a:lnSpc>
                <a:spcPct val="106000"/>
              </a:lnSpc>
              <a:spcBef>
                <a:spcPts val="0"/>
              </a:spcBef>
              <a:spcAft>
                <a:spcPts val="200"/>
              </a:spcAft>
            </a:pPr>
            <a:r>
              <a:rPr sz="1100" b="1" i="0">
                <a:solidFill>
                  <a:srgbClr val="7C56A9"/>
                </a:solidFill>
                <a:latin typeface="Inter"/>
              </a:rPr>
              <a:t>● </a:t>
            </a:r>
            <a:r>
              <a:rPr sz="950" b="0" i="0">
                <a:solidFill>
                  <a:srgbClr val="6A6E78"/>
                </a:solidFill>
                <a:latin typeface="Inter"/>
              </a:rPr>
              <a:t>U0 · ¡VOLVEMOS!   ·   C6+ · el reencuentro</a:t>
            </a:r>
          </a:p>
        </p:txBody>
      </p:sp>
      <p:sp>
        <p:nvSpPr>
          <p:cNvPr id="35" name="TextBox 34"/>
          <p:cNvSpPr txBox="1"/>
          <p:nvPr/>
        </p:nvSpPr>
        <p:spPr>
          <a:xfrm>
            <a:off x="8686800" y="6565392"/>
            <a:ext cx="3063240" cy="274320"/>
          </a:xfrm>
          <a:prstGeom prst="rect">
            <a:avLst/>
          </a:prstGeom>
          <a:noFill/>
        </p:spPr>
        <p:txBody>
          <a:bodyPr wrap="square" anchor="ctr" lIns="38100" rIns="38100" tIns="25400" bIns="25400">
            <a:spAutoFit/>
          </a:bodyPr>
          <a:lstStyle/>
          <a:p>
            <a:pPr algn="r">
              <a:lnSpc>
                <a:spcPct val="106000"/>
              </a:lnSpc>
              <a:spcBef>
                <a:spcPts val="0"/>
              </a:spcBef>
              <a:spcAft>
                <a:spcPts val="200"/>
              </a:spcAft>
            </a:pPr>
            <a:r>
              <a:rPr sz="900" b="0" i="1">
                <a:solidFill>
                  <a:srgbClr val="6A6E78"/>
                </a:solidFill>
                <a:latin typeface="Inter"/>
              </a:rPr>
              <a:t>Docentenversie — met oplossingen</a:t>
            </a:r>
          </a:p>
        </p:txBody>
      </p:sp>
      <p:sp>
        <p:nvSpPr>
          <p:cNvPr id="36" name="TextBox 35"/>
          <p:cNvSpPr txBox="1"/>
          <p:nvPr/>
        </p:nvSpPr>
        <p:spPr>
          <a:xfrm>
            <a:off x="11475720" y="6565392"/>
            <a:ext cx="457200" cy="274320"/>
          </a:xfrm>
          <a:prstGeom prst="rect">
            <a:avLst/>
          </a:prstGeom>
          <a:noFill/>
        </p:spPr>
        <p:txBody>
          <a:bodyPr wrap="square" anchor="ctr" lIns="38100" rIns="38100" tIns="25400" bIns="25400">
            <a:spAutoFit/>
          </a:bodyPr>
          <a:lstStyle/>
          <a:p>
            <a:pPr algn="r">
              <a:lnSpc>
                <a:spcPct val="106000"/>
              </a:lnSpc>
              <a:spcBef>
                <a:spcPts val="0"/>
              </a:spcBef>
              <a:spcAft>
                <a:spcPts val="200"/>
              </a:spcAft>
            </a:pPr>
            <a:r>
              <a:rPr sz="950" b="1" i="0">
                <a:solidFill>
                  <a:srgbClr val="5B3E83"/>
                </a:solidFill>
                <a:latin typeface="Inter"/>
              </a:rPr>
              <a:t>11</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500"/>
                                        <p:tgtEl>
                                          <p:spTgt spid="11"/>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4"/>
                                        </p:tgtEl>
                                        <p:attrNameLst>
                                          <p:attrName>style.visibility</p:attrName>
                                        </p:attrNameLst>
                                      </p:cBhvr>
                                      <p:to>
                                        <p:strVal val="visible"/>
                                      </p:to>
                                    </p:set>
                                    <p:animEffect transition="in" filter="fade">
                                      <p:cBhvr>
                                        <p:cTn id="12" dur="500"/>
                                        <p:tgtEl>
                                          <p:spTgt spid="1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17"/>
                                        </p:tgtEl>
                                        <p:attrNameLst>
                                          <p:attrName>style.visibility</p:attrName>
                                        </p:attrNameLst>
                                      </p:cBhvr>
                                      <p:to>
                                        <p:strVal val="visible"/>
                                      </p:to>
                                    </p:set>
                                    <p:animEffect transition="in" filter="fade">
                                      <p:cBhvr>
                                        <p:cTn id="17" dur="500"/>
                                        <p:tgtEl>
                                          <p:spTgt spid="17"/>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20"/>
                                        </p:tgtEl>
                                        <p:attrNameLst>
                                          <p:attrName>style.visibility</p:attrName>
                                        </p:attrNameLst>
                                      </p:cBhvr>
                                      <p:to>
                                        <p:strVal val="visible"/>
                                      </p:to>
                                    </p:set>
                                    <p:animEffect transition="in" filter="fade">
                                      <p:cBhvr>
                                        <p:cTn id="22" dur="500"/>
                                        <p:tgtEl>
                                          <p:spTgt spid="20"/>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23"/>
                                        </p:tgtEl>
                                        <p:attrNameLst>
                                          <p:attrName>style.visibility</p:attrName>
                                        </p:attrNameLst>
                                      </p:cBhvr>
                                      <p:to>
                                        <p:strVal val="visible"/>
                                      </p:to>
                                    </p:set>
                                    <p:animEffect transition="in" filter="fade">
                                      <p:cBhvr>
                                        <p:cTn id="27" dur="500"/>
                                        <p:tgtEl>
                                          <p:spTgt spid="23"/>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26"/>
                                        </p:tgtEl>
                                        <p:attrNameLst>
                                          <p:attrName>style.visibility</p:attrName>
                                        </p:attrNameLst>
                                      </p:cBhvr>
                                      <p:to>
                                        <p:strVal val="visible"/>
                                      </p:to>
                                    </p:set>
                                    <p:animEffect transition="in" filter="fade">
                                      <p:cBhvr>
                                        <p:cTn id="32" dur="500"/>
                                        <p:tgtEl>
                                          <p:spTgt spid="26"/>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grpId="0" nodeType="clickEffect">
                                  <p:stCondLst>
                                    <p:cond delay="0"/>
                                  </p:stCondLst>
                                  <p:childTnLst>
                                    <p:set>
                                      <p:cBhvr>
                                        <p:cTn id="36" dur="1" fill="hold">
                                          <p:stCondLst>
                                            <p:cond delay="0"/>
                                          </p:stCondLst>
                                        </p:cTn>
                                        <p:tgtEl>
                                          <p:spTgt spid="31"/>
                                        </p:tgtEl>
                                        <p:attrNameLst>
                                          <p:attrName>style.visibility</p:attrName>
                                        </p:attrNameLst>
                                      </p:cBhvr>
                                      <p:to>
                                        <p:strVal val="visible"/>
                                      </p:to>
                                    </p:set>
                                    <p:animEffect transition="in" filter="fade">
                                      <p:cBhvr>
                                        <p:cTn id="37" dur="500"/>
                                        <p:tgtEl>
                                          <p:spTgt spid="31"/>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grpId="0" nodeType="clickEffect">
                                  <p:stCondLst>
                                    <p:cond delay="0"/>
                                  </p:stCondLst>
                                  <p:childTnLst>
                                    <p:set>
                                      <p:cBhvr>
                                        <p:cTn id="41" dur="1" fill="hold">
                                          <p:stCondLst>
                                            <p:cond delay="0"/>
                                          </p:stCondLst>
                                        </p:cTn>
                                        <p:tgtEl>
                                          <p:spTgt spid="32"/>
                                        </p:tgtEl>
                                        <p:attrNameLst>
                                          <p:attrName>style.visibility</p:attrName>
                                        </p:attrNameLst>
                                      </p:cBhvr>
                                      <p:to>
                                        <p:strVal val="visible"/>
                                      </p:to>
                                    </p:set>
                                    <p:animEffect transition="in" filter="fade">
                                      <p:cBhvr>
                                        <p:cTn id="42" dur="500"/>
                                        <p:tgtEl>
                                          <p:spTgt spid="3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C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78992"/>
          </a:xfrm>
          <a:prstGeom prst="rect">
            <a:avLst/>
          </a:prstGeom>
          <a:solidFill>
            <a:srgbClr val="7C56A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78992"/>
            <a:ext cx="12191695" cy="54864"/>
          </a:xfrm>
          <a:prstGeom prst="rect">
            <a:avLst/>
          </a:prstGeom>
          <a:solidFill>
            <a:srgbClr val="5B3E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02920" y="182880"/>
            <a:ext cx="2390241" cy="292608"/>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88900" rIns="88900" tIns="12700" bIns="12700"/>
          <a:lstStyle/>
          <a:p>
            <a:pPr algn="ctr"/>
            <a:r>
              <a:rPr sz="1100" b="1">
                <a:solidFill>
                  <a:srgbClr val="7C56A9"/>
                </a:solidFill>
                <a:latin typeface="Inter"/>
              </a:rPr>
              <a:t>§1 · SPEAKING · INTERACCIÓN</a:t>
            </a:r>
          </a:p>
        </p:txBody>
      </p:sp>
      <p:sp>
        <p:nvSpPr>
          <p:cNvPr id="6" name="TextBox 5"/>
          <p:cNvSpPr txBox="1"/>
          <p:nvPr/>
        </p:nvSpPr>
        <p:spPr>
          <a:xfrm>
            <a:off x="10424160" y="-137160"/>
            <a:ext cx="1737360" cy="1371600"/>
          </a:xfrm>
          <a:prstGeom prst="rect">
            <a:avLst/>
          </a:prstGeom>
          <a:noFill/>
        </p:spPr>
        <p:txBody>
          <a:bodyPr wrap="square" anchor="t" lIns="38100" rIns="38100" tIns="25400" bIns="25400">
            <a:spAutoFit/>
          </a:bodyPr>
          <a:lstStyle/>
          <a:p>
            <a:pPr algn="r">
              <a:lnSpc>
                <a:spcPct val="106000"/>
              </a:lnSpc>
              <a:spcBef>
                <a:spcPts val="0"/>
              </a:spcBef>
              <a:spcAft>
                <a:spcPts val="200"/>
              </a:spcAft>
            </a:pPr>
            <a:r>
              <a:rPr sz="8800" b="1" i="0">
                <a:solidFill>
                  <a:srgbClr val="FFFFFF"/>
                </a:solidFill>
                <a:latin typeface="Bricolage Grotesque"/>
              </a:rPr>
              <a:t>1</a:t>
            </a:r>
          </a:p>
        </p:txBody>
      </p:sp>
      <p:sp>
        <p:nvSpPr>
          <p:cNvPr id="7" name="TextBox 6"/>
          <p:cNvSpPr txBox="1"/>
          <p:nvPr/>
        </p:nvSpPr>
        <p:spPr>
          <a:xfrm>
            <a:off x="457200" y="457200"/>
            <a:ext cx="9692640" cy="502920"/>
          </a:xfrm>
          <a:prstGeom prst="rect">
            <a:avLst/>
          </a:prstGeom>
          <a:noFill/>
        </p:spPr>
        <p:txBody>
          <a:bodyPr wrap="square" anchor="ctr" lIns="38100" rIns="38100" tIns="25400" bIns="25400">
            <a:spAutoFit/>
          </a:bodyPr>
          <a:lstStyle/>
          <a:p>
            <a:pPr algn="l">
              <a:lnSpc>
                <a:spcPct val="106000"/>
              </a:lnSpc>
              <a:spcBef>
                <a:spcPts val="0"/>
              </a:spcBef>
              <a:spcAft>
                <a:spcPts val="200"/>
              </a:spcAft>
            </a:pPr>
            <a:r>
              <a:rPr sz="2700" b="1" i="0">
                <a:solidFill>
                  <a:srgbClr val="FFFFFF"/>
                </a:solidFill>
                <a:latin typeface="Bricolage Grotesque"/>
              </a:rPr>
              <a:t>¡Preséntate!</a:t>
            </a:r>
          </a:p>
        </p:txBody>
      </p:sp>
      <p:sp>
        <p:nvSpPr>
          <p:cNvPr id="8" name="TextBox 7"/>
          <p:cNvSpPr txBox="1"/>
          <p:nvPr/>
        </p:nvSpPr>
        <p:spPr>
          <a:xfrm>
            <a:off x="502920" y="932688"/>
            <a:ext cx="9692640" cy="274320"/>
          </a:xfrm>
          <a:prstGeom prst="rect">
            <a:avLst/>
          </a:prstGeom>
          <a:noFill/>
        </p:spPr>
        <p:txBody>
          <a:bodyPr wrap="square" anchor="t" lIns="38100" rIns="38100" tIns="25400" bIns="25400">
            <a:spAutoFit/>
          </a:bodyPr>
          <a:lstStyle/>
          <a:p>
            <a:pPr algn="l">
              <a:lnSpc>
                <a:spcPct val="106000"/>
              </a:lnSpc>
              <a:spcBef>
                <a:spcPts val="0"/>
              </a:spcBef>
              <a:spcAft>
                <a:spcPts val="200"/>
              </a:spcAft>
            </a:pPr>
            <a:r>
              <a:rPr sz="1250" b="0" i="1">
                <a:solidFill>
                  <a:srgbClr val="EEE8F5"/>
                </a:solidFill>
                <a:latin typeface="Inter"/>
              </a:rPr>
              <a:t>Speel de scène met de frames. Steun bouwt af: kaarten → beginwoorden → uit het hoofd.</a:t>
            </a:r>
          </a:p>
        </p:txBody>
      </p:sp>
      <p:pic>
        <p:nvPicPr>
          <p:cNvPr id="9" name="Picture 8" descr="tu.png"/>
          <p:cNvPicPr>
            <a:picLocks noChangeAspect="1"/>
          </p:cNvPicPr>
          <p:nvPr/>
        </p:nvPicPr>
        <p:blipFill>
          <a:blip r:embed="rId2"/>
          <a:stretch>
            <a:fillRect/>
          </a:stretch>
        </p:blipFill>
        <p:spPr>
          <a:xfrm>
            <a:off x="10424160" y="1554480"/>
            <a:ext cx="1188720" cy="1188720"/>
          </a:xfrm>
          <a:prstGeom prst="rect">
            <a:avLst/>
          </a:prstGeom>
        </p:spPr>
      </p:pic>
      <p:sp>
        <p:nvSpPr>
          <p:cNvPr id="10" name="Rounded Rectangle 9"/>
          <p:cNvSpPr/>
          <p:nvPr/>
        </p:nvSpPr>
        <p:spPr>
          <a:xfrm>
            <a:off x="457200" y="1645920"/>
            <a:ext cx="3108960" cy="731520"/>
          </a:xfrm>
          <a:prstGeom prst="roundRect">
            <a:avLst>
              <a:gd name="adj" fmla="val 5500"/>
            </a:avLst>
          </a:prstGeom>
          <a:solidFill>
            <a:srgbClr val="FFFFFF"/>
          </a:solidFill>
          <a:ln w="15240">
            <a:solidFill>
              <a:srgbClr val="7C56A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94360" y="1691640"/>
            <a:ext cx="2834640" cy="292608"/>
          </a:xfrm>
          <a:prstGeom prst="rect">
            <a:avLst/>
          </a:prstGeom>
          <a:noFill/>
        </p:spPr>
        <p:txBody>
          <a:bodyPr wrap="square" anchor="t" lIns="38100" rIns="38100" tIns="25400" bIns="25400">
            <a:spAutoFit/>
          </a:bodyPr>
          <a:lstStyle/>
          <a:p>
            <a:pPr algn="l">
              <a:lnSpc>
                <a:spcPct val="106000"/>
              </a:lnSpc>
              <a:spcBef>
                <a:spcPts val="0"/>
              </a:spcBef>
              <a:spcAft>
                <a:spcPts val="200"/>
              </a:spcAft>
            </a:pPr>
            <a:r>
              <a:rPr sz="1000" b="0" i="0">
                <a:solidFill>
                  <a:srgbClr val="6A6E78"/>
                </a:solidFill>
                <a:latin typeface="Inter"/>
              </a:rPr>
              <a:t>Saludar</a:t>
            </a:r>
          </a:p>
        </p:txBody>
      </p:sp>
      <p:sp>
        <p:nvSpPr>
          <p:cNvPr id="12" name="TextBox 11"/>
          <p:cNvSpPr txBox="1"/>
          <p:nvPr/>
        </p:nvSpPr>
        <p:spPr>
          <a:xfrm>
            <a:off x="594360" y="1975104"/>
            <a:ext cx="2834640" cy="365760"/>
          </a:xfrm>
          <a:prstGeom prst="rect">
            <a:avLst/>
          </a:prstGeom>
          <a:noFill/>
        </p:spPr>
        <p:txBody>
          <a:bodyPr wrap="square" anchor="t" lIns="38100" rIns="38100" tIns="25400" bIns="25400">
            <a:spAutoFit/>
          </a:bodyPr>
          <a:lstStyle/>
          <a:p>
            <a:pPr algn="l">
              <a:lnSpc>
                <a:spcPct val="106000"/>
              </a:lnSpc>
              <a:spcBef>
                <a:spcPts val="0"/>
              </a:spcBef>
              <a:spcAft>
                <a:spcPts val="200"/>
              </a:spcAft>
            </a:pPr>
            <a:r>
              <a:rPr sz="1300" b="1" i="0">
                <a:solidFill>
                  <a:srgbClr val="5B3E83"/>
                </a:solidFill>
                <a:latin typeface="Bricolage Grotesque"/>
              </a:rPr>
              <a:t>¡Hola! / Buenos días.</a:t>
            </a:r>
          </a:p>
        </p:txBody>
      </p:sp>
      <p:sp>
        <p:nvSpPr>
          <p:cNvPr id="13" name="Rounded Rectangle 12"/>
          <p:cNvSpPr/>
          <p:nvPr/>
        </p:nvSpPr>
        <p:spPr>
          <a:xfrm>
            <a:off x="457200" y="2542032"/>
            <a:ext cx="3108960" cy="731520"/>
          </a:xfrm>
          <a:prstGeom prst="roundRect">
            <a:avLst>
              <a:gd name="adj" fmla="val 5500"/>
            </a:avLst>
          </a:prstGeom>
          <a:solidFill>
            <a:srgbClr val="FFFFFF"/>
          </a:solidFill>
          <a:ln w="15240">
            <a:solidFill>
              <a:srgbClr val="7C56A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94360" y="2587752"/>
            <a:ext cx="2834640" cy="292608"/>
          </a:xfrm>
          <a:prstGeom prst="rect">
            <a:avLst/>
          </a:prstGeom>
          <a:noFill/>
        </p:spPr>
        <p:txBody>
          <a:bodyPr wrap="square" anchor="t" lIns="38100" rIns="38100" tIns="25400" bIns="25400">
            <a:spAutoFit/>
          </a:bodyPr>
          <a:lstStyle/>
          <a:p>
            <a:pPr algn="l">
              <a:lnSpc>
                <a:spcPct val="106000"/>
              </a:lnSpc>
              <a:spcBef>
                <a:spcPts val="0"/>
              </a:spcBef>
              <a:spcAft>
                <a:spcPts val="200"/>
              </a:spcAft>
            </a:pPr>
            <a:r>
              <a:rPr sz="1000" b="0" i="0">
                <a:solidFill>
                  <a:srgbClr val="6A6E78"/>
                </a:solidFill>
                <a:latin typeface="Inter"/>
              </a:rPr>
              <a:t>Nombre</a:t>
            </a:r>
          </a:p>
        </p:txBody>
      </p:sp>
      <p:sp>
        <p:nvSpPr>
          <p:cNvPr id="15" name="TextBox 14"/>
          <p:cNvSpPr txBox="1"/>
          <p:nvPr/>
        </p:nvSpPr>
        <p:spPr>
          <a:xfrm>
            <a:off x="594360" y="2871216"/>
            <a:ext cx="2834640" cy="365760"/>
          </a:xfrm>
          <a:prstGeom prst="rect">
            <a:avLst/>
          </a:prstGeom>
          <a:noFill/>
        </p:spPr>
        <p:txBody>
          <a:bodyPr wrap="square" anchor="t" lIns="38100" rIns="38100" tIns="25400" bIns="25400">
            <a:spAutoFit/>
          </a:bodyPr>
          <a:lstStyle/>
          <a:p>
            <a:pPr algn="l">
              <a:lnSpc>
                <a:spcPct val="106000"/>
              </a:lnSpc>
              <a:spcBef>
                <a:spcPts val="0"/>
              </a:spcBef>
              <a:spcAft>
                <a:spcPts val="200"/>
              </a:spcAft>
            </a:pPr>
            <a:r>
              <a:rPr sz="1300" b="1" i="0">
                <a:solidFill>
                  <a:srgbClr val="5B3E83"/>
                </a:solidFill>
                <a:latin typeface="Bricolage Grotesque"/>
              </a:rPr>
              <a:t>Me llamo …</a:t>
            </a:r>
          </a:p>
        </p:txBody>
      </p:sp>
      <p:sp>
        <p:nvSpPr>
          <p:cNvPr id="16" name="Rounded Rectangle 15"/>
          <p:cNvSpPr/>
          <p:nvPr/>
        </p:nvSpPr>
        <p:spPr>
          <a:xfrm>
            <a:off x="457200" y="3438144"/>
            <a:ext cx="3108960" cy="731520"/>
          </a:xfrm>
          <a:prstGeom prst="roundRect">
            <a:avLst>
              <a:gd name="adj" fmla="val 5500"/>
            </a:avLst>
          </a:prstGeom>
          <a:solidFill>
            <a:srgbClr val="FFFFFF"/>
          </a:solidFill>
          <a:ln w="15240">
            <a:solidFill>
              <a:srgbClr val="7C56A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94360" y="3483864"/>
            <a:ext cx="2834640" cy="292608"/>
          </a:xfrm>
          <a:prstGeom prst="rect">
            <a:avLst/>
          </a:prstGeom>
          <a:noFill/>
        </p:spPr>
        <p:txBody>
          <a:bodyPr wrap="square" anchor="t" lIns="38100" rIns="38100" tIns="25400" bIns="25400">
            <a:spAutoFit/>
          </a:bodyPr>
          <a:lstStyle/>
          <a:p>
            <a:pPr algn="l">
              <a:lnSpc>
                <a:spcPct val="106000"/>
              </a:lnSpc>
              <a:spcBef>
                <a:spcPts val="0"/>
              </a:spcBef>
              <a:spcAft>
                <a:spcPts val="200"/>
              </a:spcAft>
            </a:pPr>
            <a:r>
              <a:rPr sz="1000" b="0" i="0">
                <a:solidFill>
                  <a:srgbClr val="6A6E78"/>
                </a:solidFill>
                <a:latin typeface="Inter"/>
              </a:rPr>
              <a:t>Origen</a:t>
            </a:r>
          </a:p>
        </p:txBody>
      </p:sp>
      <p:sp>
        <p:nvSpPr>
          <p:cNvPr id="18" name="TextBox 17"/>
          <p:cNvSpPr txBox="1"/>
          <p:nvPr/>
        </p:nvSpPr>
        <p:spPr>
          <a:xfrm>
            <a:off x="594360" y="3767328"/>
            <a:ext cx="2834640" cy="365760"/>
          </a:xfrm>
          <a:prstGeom prst="rect">
            <a:avLst/>
          </a:prstGeom>
          <a:noFill/>
        </p:spPr>
        <p:txBody>
          <a:bodyPr wrap="square" anchor="t" lIns="38100" rIns="38100" tIns="25400" bIns="25400">
            <a:spAutoFit/>
          </a:bodyPr>
          <a:lstStyle/>
          <a:p>
            <a:pPr algn="l">
              <a:lnSpc>
                <a:spcPct val="106000"/>
              </a:lnSpc>
              <a:spcBef>
                <a:spcPts val="0"/>
              </a:spcBef>
              <a:spcAft>
                <a:spcPts val="200"/>
              </a:spcAft>
            </a:pPr>
            <a:r>
              <a:rPr sz="1300" b="1" i="0">
                <a:solidFill>
                  <a:srgbClr val="5B3E83"/>
                </a:solidFill>
                <a:latin typeface="Bricolage Grotesque"/>
              </a:rPr>
              <a:t>Soy de …</a:t>
            </a:r>
          </a:p>
        </p:txBody>
      </p:sp>
      <p:sp>
        <p:nvSpPr>
          <p:cNvPr id="19" name="Rounded Rectangle 18"/>
          <p:cNvSpPr/>
          <p:nvPr/>
        </p:nvSpPr>
        <p:spPr>
          <a:xfrm>
            <a:off x="3749040" y="1645920"/>
            <a:ext cx="3108960" cy="731520"/>
          </a:xfrm>
          <a:prstGeom prst="roundRect">
            <a:avLst>
              <a:gd name="adj" fmla="val 5500"/>
            </a:avLst>
          </a:prstGeom>
          <a:solidFill>
            <a:srgbClr val="FFFFFF"/>
          </a:solidFill>
          <a:ln w="15240">
            <a:solidFill>
              <a:srgbClr val="7C56A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886200" y="1691640"/>
            <a:ext cx="2834640" cy="292608"/>
          </a:xfrm>
          <a:prstGeom prst="rect">
            <a:avLst/>
          </a:prstGeom>
          <a:noFill/>
        </p:spPr>
        <p:txBody>
          <a:bodyPr wrap="square" anchor="t" lIns="38100" rIns="38100" tIns="25400" bIns="25400">
            <a:spAutoFit/>
          </a:bodyPr>
          <a:lstStyle/>
          <a:p>
            <a:pPr algn="l">
              <a:lnSpc>
                <a:spcPct val="106000"/>
              </a:lnSpc>
              <a:spcBef>
                <a:spcPts val="0"/>
              </a:spcBef>
              <a:spcAft>
                <a:spcPts val="200"/>
              </a:spcAft>
            </a:pPr>
            <a:r>
              <a:rPr sz="1000" b="0" i="0">
                <a:solidFill>
                  <a:srgbClr val="6A6E78"/>
                </a:solidFill>
                <a:latin typeface="Inter"/>
              </a:rPr>
              <a:t>Edad</a:t>
            </a:r>
          </a:p>
        </p:txBody>
      </p:sp>
      <p:sp>
        <p:nvSpPr>
          <p:cNvPr id="21" name="TextBox 20"/>
          <p:cNvSpPr txBox="1"/>
          <p:nvPr/>
        </p:nvSpPr>
        <p:spPr>
          <a:xfrm>
            <a:off x="3886200" y="1975104"/>
            <a:ext cx="2834640" cy="365760"/>
          </a:xfrm>
          <a:prstGeom prst="rect">
            <a:avLst/>
          </a:prstGeom>
          <a:noFill/>
        </p:spPr>
        <p:txBody>
          <a:bodyPr wrap="square" anchor="t" lIns="38100" rIns="38100" tIns="25400" bIns="25400">
            <a:spAutoFit/>
          </a:bodyPr>
          <a:lstStyle/>
          <a:p>
            <a:pPr algn="l">
              <a:lnSpc>
                <a:spcPct val="106000"/>
              </a:lnSpc>
              <a:spcBef>
                <a:spcPts val="0"/>
              </a:spcBef>
              <a:spcAft>
                <a:spcPts val="200"/>
              </a:spcAft>
            </a:pPr>
            <a:r>
              <a:rPr sz="1300" b="1" i="0">
                <a:solidFill>
                  <a:srgbClr val="5B3E83"/>
                </a:solidFill>
                <a:latin typeface="Bricolage Grotesque"/>
              </a:rPr>
              <a:t>Tengo … años.</a:t>
            </a:r>
          </a:p>
        </p:txBody>
      </p:sp>
      <p:sp>
        <p:nvSpPr>
          <p:cNvPr id="22" name="Rounded Rectangle 21"/>
          <p:cNvSpPr/>
          <p:nvPr/>
        </p:nvSpPr>
        <p:spPr>
          <a:xfrm>
            <a:off x="3749040" y="2542032"/>
            <a:ext cx="3108960" cy="731520"/>
          </a:xfrm>
          <a:prstGeom prst="roundRect">
            <a:avLst>
              <a:gd name="adj" fmla="val 5500"/>
            </a:avLst>
          </a:prstGeom>
          <a:solidFill>
            <a:srgbClr val="FFFFFF"/>
          </a:solidFill>
          <a:ln w="15240">
            <a:solidFill>
              <a:srgbClr val="7C56A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886200" y="2587752"/>
            <a:ext cx="2834640" cy="292608"/>
          </a:xfrm>
          <a:prstGeom prst="rect">
            <a:avLst/>
          </a:prstGeom>
          <a:noFill/>
        </p:spPr>
        <p:txBody>
          <a:bodyPr wrap="square" anchor="t" lIns="38100" rIns="38100" tIns="25400" bIns="25400">
            <a:spAutoFit/>
          </a:bodyPr>
          <a:lstStyle/>
          <a:p>
            <a:pPr algn="l">
              <a:lnSpc>
                <a:spcPct val="106000"/>
              </a:lnSpc>
              <a:spcBef>
                <a:spcPts val="0"/>
              </a:spcBef>
              <a:spcAft>
                <a:spcPts val="200"/>
              </a:spcAft>
            </a:pPr>
            <a:r>
              <a:rPr sz="1000" b="0" i="0">
                <a:solidFill>
                  <a:srgbClr val="6A6E78"/>
                </a:solidFill>
                <a:latin typeface="Inter"/>
              </a:rPr>
              <a:t>Dónde vives</a:t>
            </a:r>
          </a:p>
        </p:txBody>
      </p:sp>
      <p:sp>
        <p:nvSpPr>
          <p:cNvPr id="24" name="TextBox 23"/>
          <p:cNvSpPr txBox="1"/>
          <p:nvPr/>
        </p:nvSpPr>
        <p:spPr>
          <a:xfrm>
            <a:off x="3886200" y="2871216"/>
            <a:ext cx="2834640" cy="365760"/>
          </a:xfrm>
          <a:prstGeom prst="rect">
            <a:avLst/>
          </a:prstGeom>
          <a:noFill/>
        </p:spPr>
        <p:txBody>
          <a:bodyPr wrap="square" anchor="t" lIns="38100" rIns="38100" tIns="25400" bIns="25400">
            <a:spAutoFit/>
          </a:bodyPr>
          <a:lstStyle/>
          <a:p>
            <a:pPr algn="l">
              <a:lnSpc>
                <a:spcPct val="106000"/>
              </a:lnSpc>
              <a:spcBef>
                <a:spcPts val="0"/>
              </a:spcBef>
              <a:spcAft>
                <a:spcPts val="200"/>
              </a:spcAft>
            </a:pPr>
            <a:r>
              <a:rPr sz="1300" b="1" i="0">
                <a:solidFill>
                  <a:srgbClr val="5B3E83"/>
                </a:solidFill>
                <a:latin typeface="Bricolage Grotesque"/>
              </a:rPr>
              <a:t>Vivo en …</a:t>
            </a:r>
          </a:p>
        </p:txBody>
      </p:sp>
      <p:sp>
        <p:nvSpPr>
          <p:cNvPr id="25" name="Rounded Rectangle 24"/>
          <p:cNvSpPr/>
          <p:nvPr/>
        </p:nvSpPr>
        <p:spPr>
          <a:xfrm>
            <a:off x="3749040" y="3438144"/>
            <a:ext cx="3108960" cy="731520"/>
          </a:xfrm>
          <a:prstGeom prst="roundRect">
            <a:avLst>
              <a:gd name="adj" fmla="val 5500"/>
            </a:avLst>
          </a:prstGeom>
          <a:solidFill>
            <a:srgbClr val="FFFFFF"/>
          </a:solidFill>
          <a:ln w="15240">
            <a:solidFill>
              <a:srgbClr val="7C56A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3886200" y="3483864"/>
            <a:ext cx="2834640" cy="292608"/>
          </a:xfrm>
          <a:prstGeom prst="rect">
            <a:avLst/>
          </a:prstGeom>
          <a:noFill/>
        </p:spPr>
        <p:txBody>
          <a:bodyPr wrap="square" anchor="t" lIns="38100" rIns="38100" tIns="25400" bIns="25400">
            <a:spAutoFit/>
          </a:bodyPr>
          <a:lstStyle/>
          <a:p>
            <a:pPr algn="l">
              <a:lnSpc>
                <a:spcPct val="106000"/>
              </a:lnSpc>
              <a:spcBef>
                <a:spcPts val="0"/>
              </a:spcBef>
              <a:spcAft>
                <a:spcPts val="200"/>
              </a:spcAft>
            </a:pPr>
            <a:r>
              <a:rPr sz="1000" b="0" i="0">
                <a:solidFill>
                  <a:srgbClr val="6A6E78"/>
                </a:solidFill>
                <a:latin typeface="Inter"/>
              </a:rPr>
              <a:t>Lengua</a:t>
            </a:r>
          </a:p>
        </p:txBody>
      </p:sp>
      <p:sp>
        <p:nvSpPr>
          <p:cNvPr id="27" name="TextBox 26"/>
          <p:cNvSpPr txBox="1"/>
          <p:nvPr/>
        </p:nvSpPr>
        <p:spPr>
          <a:xfrm>
            <a:off x="3886200" y="3767328"/>
            <a:ext cx="2834640" cy="365760"/>
          </a:xfrm>
          <a:prstGeom prst="rect">
            <a:avLst/>
          </a:prstGeom>
          <a:noFill/>
        </p:spPr>
        <p:txBody>
          <a:bodyPr wrap="square" anchor="t" lIns="38100" rIns="38100" tIns="25400" bIns="25400">
            <a:spAutoFit/>
          </a:bodyPr>
          <a:lstStyle/>
          <a:p>
            <a:pPr algn="l">
              <a:lnSpc>
                <a:spcPct val="106000"/>
              </a:lnSpc>
              <a:spcBef>
                <a:spcPts val="0"/>
              </a:spcBef>
              <a:spcAft>
                <a:spcPts val="200"/>
              </a:spcAft>
            </a:pPr>
            <a:r>
              <a:rPr sz="1300" b="1" i="0">
                <a:solidFill>
                  <a:srgbClr val="5B3E83"/>
                </a:solidFill>
                <a:latin typeface="Bricolage Grotesque"/>
              </a:rPr>
              <a:t>Hablo …</a:t>
            </a:r>
          </a:p>
        </p:txBody>
      </p:sp>
      <p:sp>
        <p:nvSpPr>
          <p:cNvPr id="28" name="Rounded Rectangle 27"/>
          <p:cNvSpPr/>
          <p:nvPr/>
        </p:nvSpPr>
        <p:spPr>
          <a:xfrm>
            <a:off x="457200" y="4251960"/>
            <a:ext cx="4156862" cy="292608"/>
          </a:xfrm>
          <a:prstGeom prst="roundRect">
            <a:avLst>
              <a:gd name="adj" fmla="val 50000"/>
            </a:avLst>
          </a:prstGeom>
          <a:solidFill>
            <a:srgbClr val="EEE8F5"/>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88900" rIns="88900" tIns="12700" bIns="12700"/>
          <a:lstStyle/>
          <a:p>
            <a:pPr algn="ctr"/>
            <a:r>
              <a:rPr sz="1100" b="1">
                <a:solidFill>
                  <a:srgbClr val="5B3E83"/>
                </a:solidFill>
                <a:latin typeface="Inter"/>
              </a:rPr>
              <a:t>🎙️ Grábate online · «Mensaje de voz: preséntate»</a:t>
            </a:r>
          </a:p>
        </p:txBody>
      </p:sp>
      <p:sp>
        <p:nvSpPr>
          <p:cNvPr id="29" name="TextBox 28"/>
          <p:cNvSpPr txBox="1"/>
          <p:nvPr/>
        </p:nvSpPr>
        <p:spPr>
          <a:xfrm>
            <a:off x="457200" y="4617720"/>
            <a:ext cx="9601200" cy="822960"/>
          </a:xfrm>
          <a:prstGeom prst="rect">
            <a:avLst/>
          </a:prstGeom>
          <a:noFill/>
        </p:spPr>
        <p:txBody>
          <a:bodyPr wrap="square" anchor="t" lIns="38100" rIns="38100" tIns="25400" bIns="25400">
            <a:spAutoFit/>
          </a:bodyPr>
          <a:lstStyle/>
          <a:p>
            <a:pPr algn="l">
              <a:lnSpc>
                <a:spcPct val="106000"/>
              </a:lnSpc>
              <a:spcBef>
                <a:spcPts val="0"/>
              </a:spcBef>
              <a:spcAft>
                <a:spcPts val="200"/>
              </a:spcAft>
            </a:pPr>
            <a:r>
              <a:rPr sz="1200" b="1" i="0">
                <a:solidFill>
                  <a:srgbClr val="5B3E83"/>
                </a:solidFill>
                <a:latin typeface="Inter"/>
              </a:rPr>
              <a:t>Ronda 1: </a:t>
            </a:r>
            <a:r>
              <a:rPr sz="1200" b="0" i="0">
                <a:solidFill>
                  <a:srgbClr val="20242E"/>
                </a:solidFill>
                <a:latin typeface="Inter"/>
              </a:rPr>
              <a:t>met de kaarten. </a:t>
            </a:r>
            <a:r>
              <a:rPr sz="1200" b="1" i="0">
                <a:solidFill>
                  <a:srgbClr val="5B3E83"/>
                </a:solidFill>
                <a:latin typeface="Inter"/>
              </a:rPr>
              <a:t>Ronda 2: </a:t>
            </a:r>
            <a:r>
              <a:rPr sz="1200" b="0" i="0">
                <a:solidFill>
                  <a:srgbClr val="20242E"/>
                </a:solidFill>
                <a:latin typeface="Inter"/>
              </a:rPr>
              <a:t>alleen beginwoorden. </a:t>
            </a:r>
            <a:r>
              <a:rPr sz="1200" b="1" i="0">
                <a:solidFill>
                  <a:srgbClr val="5B3E83"/>
                </a:solidFill>
                <a:latin typeface="Inter"/>
              </a:rPr>
              <a:t>Ronda 3: </a:t>
            </a:r>
            <a:r>
              <a:rPr sz="1200" b="0" i="0">
                <a:solidFill>
                  <a:srgbClr val="20242E"/>
                </a:solidFill>
                <a:latin typeface="Inter"/>
              </a:rPr>
              <a:t>uit het hoofd. </a:t>
            </a:r>
            <a:r>
              <a:rPr sz="1200" b="1" i="0">
                <a:solidFill>
                  <a:srgbClr val="5B3E83"/>
                </a:solidFill>
                <a:latin typeface="Inter"/>
              </a:rPr>
              <a:t>Ronda 4: </a:t>
            </a:r>
            <a:r>
              <a:rPr sz="1200" b="0" i="0">
                <a:solidFill>
                  <a:srgbClr val="20242E"/>
                </a:solidFill>
                <a:latin typeface="Inter"/>
              </a:rPr>
              <a:t>grábate.</a:t>
            </a:r>
          </a:p>
        </p:txBody>
      </p:sp>
      <p:sp>
        <p:nvSpPr>
          <p:cNvPr id="30" name="Rounded Rectangle 29"/>
          <p:cNvSpPr/>
          <p:nvPr/>
        </p:nvSpPr>
        <p:spPr>
          <a:xfrm>
            <a:off x="457200" y="6053328"/>
            <a:ext cx="2093976" cy="365760"/>
          </a:xfrm>
          <a:prstGeom prst="roundRect">
            <a:avLst>
              <a:gd name="adj" fmla="val 50000"/>
            </a:avLst>
          </a:prstGeom>
          <a:solidFill>
            <a:srgbClr val="7C56A9"/>
          </a:solidFill>
          <a:ln w="12700">
            <a:solidFill>
              <a:srgbClr val="E4E3DE"/>
            </a:solidFill>
          </a:ln>
          <a:effectLst/>
        </p:spPr>
        <p:style>
          <a:lnRef idx="1">
            <a:schemeClr val="accent1"/>
          </a:lnRef>
          <a:fillRef idx="3">
            <a:schemeClr val="accent1"/>
          </a:fillRef>
          <a:effectRef idx="2">
            <a:schemeClr val="accent1"/>
          </a:effectRef>
          <a:fontRef idx="minor">
            <a:schemeClr val="lt1"/>
          </a:fontRef>
        </p:style>
        <p:txBody>
          <a:bodyPr rtlCol="0" anchor="ctr" tIns="12700" bIns="12700"/>
          <a:lstStyle/>
          <a:p>
            <a:pPr algn="ctr"/>
            <a:r>
              <a:rPr sz="1050" b="1">
                <a:solidFill>
                  <a:srgbClr val="FFFFFF"/>
                </a:solidFill>
                <a:latin typeface="Inter"/>
              </a:rPr>
              <a:t>▶  Mostrar solución</a:t>
            </a:r>
          </a:p>
        </p:txBody>
      </p:sp>
      <p:sp>
        <p:nvSpPr>
          <p:cNvPr id="31" name="Rounded Rectangle 30"/>
          <p:cNvSpPr/>
          <p:nvPr/>
        </p:nvSpPr>
        <p:spPr>
          <a:xfrm>
            <a:off x="2697480" y="6053328"/>
            <a:ext cx="1088136" cy="365760"/>
          </a:xfrm>
          <a:prstGeom prst="roundRect">
            <a:avLst>
              <a:gd name="adj" fmla="val 50000"/>
            </a:avLst>
          </a:prstGeom>
          <a:solidFill>
            <a:srgbClr val="FFFFFF"/>
          </a:solidFill>
          <a:ln w="12700">
            <a:solidFill>
              <a:srgbClr val="E4E3DE"/>
            </a:solidFill>
          </a:ln>
          <a:effectLst/>
        </p:spPr>
        <p:style>
          <a:lnRef idx="1">
            <a:schemeClr val="accent1"/>
          </a:lnRef>
          <a:fillRef idx="3">
            <a:schemeClr val="accent1"/>
          </a:fillRef>
          <a:effectRef idx="2">
            <a:schemeClr val="accent1"/>
          </a:effectRef>
          <a:fontRef idx="minor">
            <a:schemeClr val="lt1"/>
          </a:fontRef>
        </p:style>
        <p:txBody>
          <a:bodyPr rtlCol="0" anchor="ctr" tIns="12700" bIns="12700"/>
          <a:lstStyle/>
          <a:p>
            <a:pPr algn="ctr"/>
            <a:r>
              <a:rPr sz="1050" b="1">
                <a:solidFill>
                  <a:srgbClr val="5B3E83"/>
                </a:solidFill>
                <a:latin typeface="Inter"/>
              </a:rPr>
              <a:t>⏭  Saltar</a:t>
            </a:r>
          </a:p>
        </p:txBody>
      </p:sp>
      <p:sp>
        <p:nvSpPr>
          <p:cNvPr id="32" name="Rounded Rectangle 31">
            <a:hlinkClick action="ppaction://hlinksldjump" r:id="rId4"/>
          </p:cNvPr>
          <p:cNvSpPr/>
          <p:nvPr/>
        </p:nvSpPr>
        <p:spPr>
          <a:xfrm>
            <a:off x="3931920" y="6053328"/>
            <a:ext cx="1691639" cy="365760"/>
          </a:xfrm>
          <a:prstGeom prst="roundRect">
            <a:avLst>
              <a:gd name="adj" fmla="val 50000"/>
            </a:avLst>
          </a:prstGeom>
          <a:solidFill>
            <a:srgbClr val="FFFFFF"/>
          </a:solidFill>
          <a:ln w="12700">
            <a:solidFill>
              <a:srgbClr val="E4E3DE"/>
            </a:solidFill>
          </a:ln>
          <a:effectLst/>
        </p:spPr>
        <p:style>
          <a:lnRef idx="1">
            <a:schemeClr val="accent1"/>
          </a:lnRef>
          <a:fillRef idx="3">
            <a:schemeClr val="accent1"/>
          </a:fillRef>
          <a:effectRef idx="2">
            <a:schemeClr val="accent1"/>
          </a:effectRef>
          <a:fontRef idx="minor">
            <a:schemeClr val="lt1"/>
          </a:fontRef>
        </p:style>
        <p:txBody>
          <a:bodyPr rtlCol="0" anchor="ctr" tIns="12700" bIns="12700"/>
          <a:lstStyle/>
          <a:p>
            <a:pPr algn="ctr"/>
            <a:r>
              <a:rPr sz="1050" b="1">
                <a:solidFill>
                  <a:srgbClr val="5B3E83"/>
                </a:solidFill>
                <a:latin typeface="Inter"/>
              </a:rPr>
              <a:t>⌂  Menú (dia 2)</a:t>
            </a:r>
          </a:p>
        </p:txBody>
      </p:sp>
      <p:sp>
        <p:nvSpPr>
          <p:cNvPr id="33" name="TextBox 32"/>
          <p:cNvSpPr txBox="1"/>
          <p:nvPr/>
        </p:nvSpPr>
        <p:spPr>
          <a:xfrm>
            <a:off x="8321040" y="6053328"/>
            <a:ext cx="3383280" cy="365760"/>
          </a:xfrm>
          <a:prstGeom prst="rect">
            <a:avLst/>
          </a:prstGeom>
          <a:noFill/>
        </p:spPr>
        <p:txBody>
          <a:bodyPr wrap="square" anchor="ctr" lIns="38100" rIns="38100" tIns="25400" bIns="25400">
            <a:spAutoFit/>
          </a:bodyPr>
          <a:lstStyle/>
          <a:p>
            <a:pPr algn="r">
              <a:lnSpc>
                <a:spcPct val="106000"/>
              </a:lnSpc>
              <a:spcBef>
                <a:spcPts val="0"/>
              </a:spcBef>
              <a:spcAft>
                <a:spcPts val="200"/>
              </a:spcAft>
            </a:pPr>
            <a:r>
              <a:rPr sz="850" b="0" i="1">
                <a:solidFill>
                  <a:srgbClr val="6A6E78"/>
                </a:solidFill>
                <a:latin typeface="Inter"/>
              </a:rPr>
              <a:t>Noodroute (§5): werkt zonder audio/internet</a:t>
            </a:r>
          </a:p>
        </p:txBody>
      </p:sp>
      <p:sp>
        <p:nvSpPr>
          <p:cNvPr id="34" name="Rounded Rectangle 33"/>
          <p:cNvSpPr/>
          <p:nvPr/>
        </p:nvSpPr>
        <p:spPr>
          <a:xfrm>
            <a:off x="457200" y="5120640"/>
            <a:ext cx="11247120" cy="594360"/>
          </a:xfrm>
          <a:prstGeom prst="roundRect">
            <a:avLst>
              <a:gd name="adj" fmla="val 6000"/>
            </a:avLst>
          </a:prstGeom>
          <a:solidFill>
            <a:srgbClr val="EEE8F5"/>
          </a:solidFill>
          <a:ln w="19050">
            <a:solidFill>
              <a:srgbClr val="7C56A9"/>
            </a:solidFill>
          </a:ln>
          <a:effectLst/>
        </p:spPr>
        <p:style>
          <a:lnRef idx="1">
            <a:schemeClr val="accent1"/>
          </a:lnRef>
          <a:fillRef idx="3">
            <a:schemeClr val="accent1"/>
          </a:fillRef>
          <a:effectRef idx="2">
            <a:schemeClr val="accent1"/>
          </a:effectRef>
          <a:fontRef idx="minor">
            <a:schemeClr val="lt1"/>
          </a:fontRef>
        </p:style>
        <p:txBody>
          <a:bodyPr rtlCol="0" anchor="ctr" wrap="square" lIns="127000" rIns="127000" tIns="139700" bIns="76200"/>
          <a:lstStyle/>
          <a:p>
            <a:pPr algn="ctr">
              <a:lnSpc>
                <a:spcPct val="102000"/>
              </a:lnSpc>
              <a:spcBef>
                <a:spcPts val="0"/>
              </a:spcBef>
              <a:spcAft>
                <a:spcPts val="300"/>
              </a:spcAft>
            </a:pPr>
            <a:r>
              <a:rPr sz="1200" b="1" i="0">
                <a:solidFill>
                  <a:srgbClr val="5B3E83"/>
                </a:solidFill>
                <a:latin typeface="Inter"/>
              </a:rPr>
              <a:t>Modelo: </a:t>
            </a:r>
            <a:r>
              <a:rPr sz="1200" b="0" i="0">
                <a:solidFill>
                  <a:srgbClr val="5B3E83"/>
                </a:solidFill>
                <a:latin typeface="Inter"/>
              </a:rPr>
              <a:t>«¡Hola! Me llamo … Soy de … Tengo … años. Vivo en … Hablo … ¡Mucho gusto!»</a:t>
            </a:r>
          </a:p>
        </p:txBody>
      </p:sp>
      <p:sp>
        <p:nvSpPr>
          <p:cNvPr id="35" name="Rounded Rectangle 34"/>
          <p:cNvSpPr/>
          <p:nvPr/>
        </p:nvSpPr>
        <p:spPr>
          <a:xfrm>
            <a:off x="594360" y="4992624"/>
            <a:ext cx="1380743" cy="292608"/>
          </a:xfrm>
          <a:prstGeom prst="roundRect">
            <a:avLst>
              <a:gd name="adj" fmla="val 50000"/>
            </a:avLst>
          </a:prstGeom>
          <a:solidFill>
            <a:srgbClr val="7C56A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88900" rIns="88900" tIns="12700" bIns="12700"/>
          <a:lstStyle/>
          <a:p>
            <a:pPr algn="ctr"/>
            <a:r>
              <a:rPr sz="950" b="1">
                <a:solidFill>
                  <a:srgbClr val="FFFFFF"/>
                </a:solidFill>
                <a:latin typeface="Inter"/>
              </a:rPr>
              <a:t>MODELO · docent</a:t>
            </a:r>
          </a:p>
        </p:txBody>
      </p:sp>
      <p:sp>
        <p:nvSpPr>
          <p:cNvPr id="36" name="Rectangle 35"/>
          <p:cNvSpPr/>
          <p:nvPr/>
        </p:nvSpPr>
        <p:spPr>
          <a:xfrm>
            <a:off x="0" y="6547104"/>
            <a:ext cx="12191695" cy="310896"/>
          </a:xfrm>
          <a:prstGeom prst="rect">
            <a:avLst/>
          </a:prstGeom>
          <a:solidFill>
            <a:srgbClr val="F3EE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411480" y="6565392"/>
            <a:ext cx="5486400" cy="274320"/>
          </a:xfrm>
          <a:prstGeom prst="rect">
            <a:avLst/>
          </a:prstGeom>
          <a:noFill/>
        </p:spPr>
        <p:txBody>
          <a:bodyPr wrap="square" anchor="ctr" lIns="38100" rIns="38100" tIns="25400" bIns="25400">
            <a:spAutoFit/>
          </a:bodyPr>
          <a:lstStyle/>
          <a:p>
            <a:pPr algn="l">
              <a:lnSpc>
                <a:spcPct val="106000"/>
              </a:lnSpc>
              <a:spcBef>
                <a:spcPts val="0"/>
              </a:spcBef>
              <a:spcAft>
                <a:spcPts val="200"/>
              </a:spcAft>
            </a:pPr>
            <a:r>
              <a:rPr sz="1100" b="1" i="0">
                <a:solidFill>
                  <a:srgbClr val="7C56A9"/>
                </a:solidFill>
                <a:latin typeface="Inter"/>
              </a:rPr>
              <a:t>● </a:t>
            </a:r>
            <a:r>
              <a:rPr sz="950" b="0" i="0">
                <a:solidFill>
                  <a:srgbClr val="6A6E78"/>
                </a:solidFill>
                <a:latin typeface="Inter"/>
              </a:rPr>
              <a:t>U0 · ¡VOLVEMOS!   ·   C6+ · el reencuentro</a:t>
            </a:r>
          </a:p>
        </p:txBody>
      </p:sp>
      <p:sp>
        <p:nvSpPr>
          <p:cNvPr id="38" name="TextBox 37"/>
          <p:cNvSpPr txBox="1"/>
          <p:nvPr/>
        </p:nvSpPr>
        <p:spPr>
          <a:xfrm>
            <a:off x="8686800" y="6565392"/>
            <a:ext cx="3063240" cy="274320"/>
          </a:xfrm>
          <a:prstGeom prst="rect">
            <a:avLst/>
          </a:prstGeom>
          <a:noFill/>
        </p:spPr>
        <p:txBody>
          <a:bodyPr wrap="square" anchor="ctr" lIns="38100" rIns="38100" tIns="25400" bIns="25400">
            <a:spAutoFit/>
          </a:bodyPr>
          <a:lstStyle/>
          <a:p>
            <a:pPr algn="r">
              <a:lnSpc>
                <a:spcPct val="106000"/>
              </a:lnSpc>
              <a:spcBef>
                <a:spcPts val="0"/>
              </a:spcBef>
              <a:spcAft>
                <a:spcPts val="200"/>
              </a:spcAft>
            </a:pPr>
            <a:r>
              <a:rPr sz="900" b="0" i="1">
                <a:solidFill>
                  <a:srgbClr val="6A6E78"/>
                </a:solidFill>
                <a:latin typeface="Inter"/>
              </a:rPr>
              <a:t>Docentenversie — met oplossingen</a:t>
            </a:r>
          </a:p>
        </p:txBody>
      </p:sp>
      <p:sp>
        <p:nvSpPr>
          <p:cNvPr id="39" name="TextBox 38"/>
          <p:cNvSpPr txBox="1"/>
          <p:nvPr/>
        </p:nvSpPr>
        <p:spPr>
          <a:xfrm>
            <a:off x="11475720" y="6565392"/>
            <a:ext cx="457200" cy="274320"/>
          </a:xfrm>
          <a:prstGeom prst="rect">
            <a:avLst/>
          </a:prstGeom>
          <a:noFill/>
        </p:spPr>
        <p:txBody>
          <a:bodyPr wrap="square" anchor="ctr" lIns="38100" rIns="38100" tIns="25400" bIns="25400">
            <a:spAutoFit/>
          </a:bodyPr>
          <a:lstStyle/>
          <a:p>
            <a:pPr algn="r">
              <a:lnSpc>
                <a:spcPct val="106000"/>
              </a:lnSpc>
              <a:spcBef>
                <a:spcPts val="0"/>
              </a:spcBef>
              <a:spcAft>
                <a:spcPts val="200"/>
              </a:spcAft>
            </a:pPr>
            <a:r>
              <a:rPr sz="950" b="1" i="0">
                <a:solidFill>
                  <a:srgbClr val="5B3E83"/>
                </a:solidFill>
                <a:latin typeface="Inter"/>
              </a:rPr>
              <a:t>12</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4"/>
                                        </p:tgtEl>
                                        <p:attrNameLst>
                                          <p:attrName>style.visibility</p:attrName>
                                        </p:attrNameLst>
                                      </p:cBhvr>
                                      <p:to>
                                        <p:strVal val="visible"/>
                                      </p:to>
                                    </p:set>
                                    <p:animEffect transition="in" filter="fade">
                                      <p:cBhvr>
                                        <p:cTn id="7" dur="500"/>
                                        <p:tgtEl>
                                          <p:spTgt spid="34"/>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35"/>
                                        </p:tgtEl>
                                        <p:attrNameLst>
                                          <p:attrName>style.visibility</p:attrName>
                                        </p:attrNameLst>
                                      </p:cBhvr>
                                      <p:to>
                                        <p:strVal val="visible"/>
                                      </p:to>
                                    </p:set>
                                    <p:animEffect transition="in" filter="fade">
                                      <p:cBhvr>
                                        <p:cTn id="12" dur="500"/>
                                        <p:tgtEl>
                                          <p:spTgt spid="3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C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78992"/>
          </a:xfrm>
          <a:prstGeom prst="rect">
            <a:avLst/>
          </a:prstGeom>
          <a:solidFill>
            <a:srgbClr val="7C56A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78992"/>
            <a:ext cx="12191695" cy="54864"/>
          </a:xfrm>
          <a:prstGeom prst="rect">
            <a:avLst/>
          </a:prstGeom>
          <a:solidFill>
            <a:srgbClr val="5B3E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02920" y="182880"/>
            <a:ext cx="1801367" cy="292608"/>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88900" rIns="88900" tIns="12700" bIns="12700"/>
          <a:lstStyle/>
          <a:p>
            <a:pPr algn="ctr"/>
            <a:r>
              <a:rPr sz="1100" b="1">
                <a:solidFill>
                  <a:srgbClr val="7C56A9"/>
                </a:solidFill>
                <a:latin typeface="Inter"/>
              </a:rPr>
              <a:t>WRITING · PRODUCCIÓN</a:t>
            </a:r>
          </a:p>
        </p:txBody>
      </p:sp>
      <p:sp>
        <p:nvSpPr>
          <p:cNvPr id="6" name="TextBox 5"/>
          <p:cNvSpPr txBox="1"/>
          <p:nvPr/>
        </p:nvSpPr>
        <p:spPr>
          <a:xfrm>
            <a:off x="10424160" y="-137160"/>
            <a:ext cx="1737360" cy="1371600"/>
          </a:xfrm>
          <a:prstGeom prst="rect">
            <a:avLst/>
          </a:prstGeom>
          <a:noFill/>
        </p:spPr>
        <p:txBody>
          <a:bodyPr wrap="square" anchor="t" lIns="38100" rIns="38100" tIns="25400" bIns="25400">
            <a:spAutoFit/>
          </a:bodyPr>
          <a:lstStyle/>
          <a:p>
            <a:pPr algn="r">
              <a:lnSpc>
                <a:spcPct val="106000"/>
              </a:lnSpc>
              <a:spcBef>
                <a:spcPts val="0"/>
              </a:spcBef>
              <a:spcAft>
                <a:spcPts val="200"/>
              </a:spcAft>
            </a:pPr>
            <a:r>
              <a:rPr sz="8800" b="1" i="0">
                <a:solidFill>
                  <a:srgbClr val="FFFFFF"/>
                </a:solidFill>
                <a:latin typeface="Bricolage Grotesque"/>
              </a:rPr>
              <a:t>1</a:t>
            </a:r>
          </a:p>
        </p:txBody>
      </p:sp>
      <p:sp>
        <p:nvSpPr>
          <p:cNvPr id="7" name="TextBox 6"/>
          <p:cNvSpPr txBox="1"/>
          <p:nvPr/>
        </p:nvSpPr>
        <p:spPr>
          <a:xfrm>
            <a:off x="457200" y="457200"/>
            <a:ext cx="9692640" cy="502920"/>
          </a:xfrm>
          <a:prstGeom prst="rect">
            <a:avLst/>
          </a:prstGeom>
          <a:noFill/>
        </p:spPr>
        <p:txBody>
          <a:bodyPr wrap="square" anchor="ctr" lIns="38100" rIns="38100" tIns="25400" bIns="25400">
            <a:spAutoFit/>
          </a:bodyPr>
          <a:lstStyle/>
          <a:p>
            <a:pPr algn="l">
              <a:lnSpc>
                <a:spcPct val="106000"/>
              </a:lnSpc>
              <a:spcBef>
                <a:spcPts val="0"/>
              </a:spcBef>
              <a:spcAft>
                <a:spcPts val="200"/>
              </a:spcAft>
            </a:pPr>
            <a:r>
              <a:rPr sz="2700" b="1" i="0">
                <a:solidFill>
                  <a:srgbClr val="FFFFFF"/>
                </a:solidFill>
                <a:latin typeface="Bricolage Grotesque"/>
              </a:rPr>
              <a:t>Mi tarjeta de reencuentro</a:t>
            </a:r>
          </a:p>
        </p:txBody>
      </p:sp>
      <p:sp>
        <p:nvSpPr>
          <p:cNvPr id="8" name="TextBox 7"/>
          <p:cNvSpPr txBox="1"/>
          <p:nvPr/>
        </p:nvSpPr>
        <p:spPr>
          <a:xfrm>
            <a:off x="502920" y="932688"/>
            <a:ext cx="9692640" cy="274320"/>
          </a:xfrm>
          <a:prstGeom prst="rect">
            <a:avLst/>
          </a:prstGeom>
          <a:noFill/>
        </p:spPr>
        <p:txBody>
          <a:bodyPr wrap="square" anchor="t" lIns="38100" rIns="38100" tIns="25400" bIns="25400">
            <a:spAutoFit/>
          </a:bodyPr>
          <a:lstStyle/>
          <a:p>
            <a:pPr algn="l">
              <a:lnSpc>
                <a:spcPct val="106000"/>
              </a:lnSpc>
              <a:spcBef>
                <a:spcPts val="0"/>
              </a:spcBef>
              <a:spcAft>
                <a:spcPts val="200"/>
              </a:spcAft>
            </a:pPr>
            <a:r>
              <a:rPr sz="1250" b="0" i="1">
                <a:solidFill>
                  <a:srgbClr val="EEE8F5"/>
                </a:solidFill>
                <a:latin typeface="Inter"/>
              </a:rPr>
              <a:t>Schrijf je kaartje. Klik → een modeltekst verschijnt.</a:t>
            </a:r>
          </a:p>
        </p:txBody>
      </p:sp>
      <p:sp>
        <p:nvSpPr>
          <p:cNvPr id="9" name="Rounded Rectangle 8"/>
          <p:cNvSpPr/>
          <p:nvPr/>
        </p:nvSpPr>
        <p:spPr>
          <a:xfrm>
            <a:off x="457200" y="1554480"/>
            <a:ext cx="5486400" cy="3566160"/>
          </a:xfrm>
          <a:prstGeom prst="roundRect">
            <a:avLst>
              <a:gd name="adj" fmla="val 5500"/>
            </a:avLst>
          </a:prstGeom>
          <a:solidFill>
            <a:srgbClr val="FFFFFF"/>
          </a:solidFill>
          <a:ln w="15240">
            <a:solidFill>
              <a:srgbClr val="E4E3DE"/>
            </a:solidFill>
          </a:ln>
          <a:effectLst>
            <a:outerShdw blurRad="90000" dist="38000" dir="5400000" rotWithShape="0">
              <a:srgbClr val="20242E">
                <a:alpha val="2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1691640"/>
            <a:ext cx="5120640" cy="365760"/>
          </a:xfrm>
          <a:prstGeom prst="rect">
            <a:avLst/>
          </a:prstGeom>
          <a:noFill/>
        </p:spPr>
        <p:txBody>
          <a:bodyPr wrap="square" anchor="t" lIns="38100" rIns="38100" tIns="25400" bIns="25400">
            <a:spAutoFit/>
          </a:bodyPr>
          <a:lstStyle/>
          <a:p>
            <a:pPr algn="l">
              <a:lnSpc>
                <a:spcPct val="106000"/>
              </a:lnSpc>
              <a:spcBef>
                <a:spcPts val="0"/>
              </a:spcBef>
              <a:spcAft>
                <a:spcPts val="200"/>
              </a:spcAft>
            </a:pPr>
            <a:r>
              <a:rPr sz="1200" b="1" i="0">
                <a:solidFill>
                  <a:srgbClr val="5B3E83"/>
                </a:solidFill>
                <a:latin typeface="Inter"/>
              </a:rPr>
              <a:t>✍️ Escribe aquí tu tarjeta:</a:t>
            </a:r>
          </a:p>
        </p:txBody>
      </p:sp>
      <p:sp>
        <p:nvSpPr>
          <p:cNvPr id="11" name="Rectangle 10"/>
          <p:cNvSpPr/>
          <p:nvPr/>
        </p:nvSpPr>
        <p:spPr>
          <a:xfrm>
            <a:off x="640080" y="2194560"/>
            <a:ext cx="5120640" cy="9144"/>
          </a:xfrm>
          <a:prstGeom prst="rect">
            <a:avLst/>
          </a:prstGeom>
          <a:solidFill>
            <a:srgbClr val="E4E3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40080" y="2651760"/>
            <a:ext cx="5120640" cy="9144"/>
          </a:xfrm>
          <a:prstGeom prst="rect">
            <a:avLst/>
          </a:prstGeom>
          <a:solidFill>
            <a:srgbClr val="E4E3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40080" y="3108960"/>
            <a:ext cx="5120640" cy="9144"/>
          </a:xfrm>
          <a:prstGeom prst="rect">
            <a:avLst/>
          </a:prstGeom>
          <a:solidFill>
            <a:srgbClr val="E4E3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40080" y="3566160"/>
            <a:ext cx="5120640" cy="9144"/>
          </a:xfrm>
          <a:prstGeom prst="rect">
            <a:avLst/>
          </a:prstGeom>
          <a:solidFill>
            <a:srgbClr val="E4E3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40080" y="4023360"/>
            <a:ext cx="5120640" cy="9144"/>
          </a:xfrm>
          <a:prstGeom prst="rect">
            <a:avLst/>
          </a:prstGeom>
          <a:solidFill>
            <a:srgbClr val="E4E3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40080" y="4480560"/>
            <a:ext cx="5120640" cy="9144"/>
          </a:xfrm>
          <a:prstGeom prst="rect">
            <a:avLst/>
          </a:prstGeom>
          <a:solidFill>
            <a:srgbClr val="E4E3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309360" y="1554480"/>
            <a:ext cx="5486400" cy="365760"/>
          </a:xfrm>
          <a:prstGeom prst="rect">
            <a:avLst/>
          </a:prstGeom>
          <a:noFill/>
        </p:spPr>
        <p:txBody>
          <a:bodyPr wrap="square" anchor="t" lIns="38100" rIns="38100" tIns="25400" bIns="25400">
            <a:spAutoFit/>
          </a:bodyPr>
          <a:lstStyle/>
          <a:p>
            <a:pPr algn="l">
              <a:lnSpc>
                <a:spcPct val="106000"/>
              </a:lnSpc>
              <a:spcBef>
                <a:spcPts val="0"/>
              </a:spcBef>
              <a:spcAft>
                <a:spcPts val="200"/>
              </a:spcAft>
            </a:pPr>
            <a:r>
              <a:rPr sz="1300" b="1" i="0">
                <a:solidFill>
                  <a:srgbClr val="5B3E83"/>
                </a:solidFill>
                <a:latin typeface="Bricolage Grotesque"/>
              </a:rPr>
              <a:t>Checklist:</a:t>
            </a:r>
          </a:p>
        </p:txBody>
      </p:sp>
      <p:sp>
        <p:nvSpPr>
          <p:cNvPr id="18" name="TextBox 17"/>
          <p:cNvSpPr txBox="1"/>
          <p:nvPr/>
        </p:nvSpPr>
        <p:spPr>
          <a:xfrm>
            <a:off x="6309360" y="2011680"/>
            <a:ext cx="5486400" cy="365760"/>
          </a:xfrm>
          <a:prstGeom prst="rect">
            <a:avLst/>
          </a:prstGeom>
          <a:noFill/>
        </p:spPr>
        <p:txBody>
          <a:bodyPr wrap="square" anchor="t" lIns="38100" rIns="38100" tIns="25400" bIns="25400">
            <a:spAutoFit/>
          </a:bodyPr>
          <a:lstStyle/>
          <a:p>
            <a:pPr algn="l">
              <a:lnSpc>
                <a:spcPct val="106000"/>
              </a:lnSpc>
              <a:spcBef>
                <a:spcPts val="0"/>
              </a:spcBef>
              <a:spcAft>
                <a:spcPts val="200"/>
              </a:spcAft>
            </a:pPr>
            <a:r>
              <a:rPr sz="1300" b="0" i="0">
                <a:solidFill>
                  <a:srgbClr val="20242E"/>
                </a:solidFill>
                <a:latin typeface="Inter"/>
              </a:rPr>
              <a:t>☐  nombre + edad</a:t>
            </a:r>
          </a:p>
        </p:txBody>
      </p:sp>
      <p:sp>
        <p:nvSpPr>
          <p:cNvPr id="19" name="TextBox 18"/>
          <p:cNvSpPr txBox="1"/>
          <p:nvPr/>
        </p:nvSpPr>
        <p:spPr>
          <a:xfrm>
            <a:off x="6309360" y="2423160"/>
            <a:ext cx="5486400" cy="365760"/>
          </a:xfrm>
          <a:prstGeom prst="rect">
            <a:avLst/>
          </a:prstGeom>
          <a:noFill/>
        </p:spPr>
        <p:txBody>
          <a:bodyPr wrap="square" anchor="t" lIns="38100" rIns="38100" tIns="25400" bIns="25400">
            <a:spAutoFit/>
          </a:bodyPr>
          <a:lstStyle/>
          <a:p>
            <a:pPr algn="l">
              <a:lnSpc>
                <a:spcPct val="106000"/>
              </a:lnSpc>
              <a:spcBef>
                <a:spcPts val="0"/>
              </a:spcBef>
              <a:spcAft>
                <a:spcPts val="200"/>
              </a:spcAft>
            </a:pPr>
            <a:r>
              <a:rPr sz="1300" b="0" i="0">
                <a:solidFill>
                  <a:srgbClr val="20242E"/>
                </a:solidFill>
                <a:latin typeface="Inter"/>
              </a:rPr>
              <a:t>☐  de dónde eres (origen)</a:t>
            </a:r>
          </a:p>
        </p:txBody>
      </p:sp>
      <p:sp>
        <p:nvSpPr>
          <p:cNvPr id="20" name="TextBox 19"/>
          <p:cNvSpPr txBox="1"/>
          <p:nvPr/>
        </p:nvSpPr>
        <p:spPr>
          <a:xfrm>
            <a:off x="6309360" y="2834640"/>
            <a:ext cx="5486400" cy="365760"/>
          </a:xfrm>
          <a:prstGeom prst="rect">
            <a:avLst/>
          </a:prstGeom>
          <a:noFill/>
        </p:spPr>
        <p:txBody>
          <a:bodyPr wrap="square" anchor="t" lIns="38100" rIns="38100" tIns="25400" bIns="25400">
            <a:spAutoFit/>
          </a:bodyPr>
          <a:lstStyle/>
          <a:p>
            <a:pPr algn="l">
              <a:lnSpc>
                <a:spcPct val="106000"/>
              </a:lnSpc>
              <a:spcBef>
                <a:spcPts val="0"/>
              </a:spcBef>
              <a:spcAft>
                <a:spcPts val="200"/>
              </a:spcAft>
            </a:pPr>
            <a:r>
              <a:rPr sz="1300" b="0" i="0">
                <a:solidFill>
                  <a:srgbClr val="20242E"/>
                </a:solidFill>
                <a:latin typeface="Inter"/>
              </a:rPr>
              <a:t>☐  dónde vives</a:t>
            </a:r>
          </a:p>
        </p:txBody>
      </p:sp>
      <p:sp>
        <p:nvSpPr>
          <p:cNvPr id="21" name="TextBox 20"/>
          <p:cNvSpPr txBox="1"/>
          <p:nvPr/>
        </p:nvSpPr>
        <p:spPr>
          <a:xfrm>
            <a:off x="6309360" y="3246120"/>
            <a:ext cx="5486400" cy="365760"/>
          </a:xfrm>
          <a:prstGeom prst="rect">
            <a:avLst/>
          </a:prstGeom>
          <a:noFill/>
        </p:spPr>
        <p:txBody>
          <a:bodyPr wrap="square" anchor="t" lIns="38100" rIns="38100" tIns="25400" bIns="25400">
            <a:spAutoFit/>
          </a:bodyPr>
          <a:lstStyle/>
          <a:p>
            <a:pPr algn="l">
              <a:lnSpc>
                <a:spcPct val="106000"/>
              </a:lnSpc>
              <a:spcBef>
                <a:spcPts val="0"/>
              </a:spcBef>
              <a:spcAft>
                <a:spcPts val="200"/>
              </a:spcAft>
            </a:pPr>
            <a:r>
              <a:rPr sz="1300" b="0" i="0">
                <a:solidFill>
                  <a:srgbClr val="20242E"/>
                </a:solidFill>
                <a:latin typeface="Inter"/>
              </a:rPr>
              <a:t>☐  una lengua que hablas</a:t>
            </a:r>
          </a:p>
        </p:txBody>
      </p:sp>
      <p:sp>
        <p:nvSpPr>
          <p:cNvPr id="22" name="TextBox 21"/>
          <p:cNvSpPr txBox="1"/>
          <p:nvPr/>
        </p:nvSpPr>
        <p:spPr>
          <a:xfrm>
            <a:off x="6309360" y="3657600"/>
            <a:ext cx="5486400" cy="365760"/>
          </a:xfrm>
          <a:prstGeom prst="rect">
            <a:avLst/>
          </a:prstGeom>
          <a:noFill/>
        </p:spPr>
        <p:txBody>
          <a:bodyPr wrap="square" anchor="t" lIns="38100" rIns="38100" tIns="25400" bIns="25400">
            <a:spAutoFit/>
          </a:bodyPr>
          <a:lstStyle/>
          <a:p>
            <a:pPr algn="l">
              <a:lnSpc>
                <a:spcPct val="106000"/>
              </a:lnSpc>
              <a:spcBef>
                <a:spcPts val="0"/>
              </a:spcBef>
              <a:spcAft>
                <a:spcPts val="200"/>
              </a:spcAft>
            </a:pPr>
            <a:r>
              <a:rPr sz="1300" b="0" i="0">
                <a:solidFill>
                  <a:srgbClr val="20242E"/>
                </a:solidFill>
                <a:latin typeface="Inter"/>
              </a:rPr>
              <a:t>☐  un adjetivo de carácter</a:t>
            </a:r>
          </a:p>
        </p:txBody>
      </p:sp>
      <p:sp>
        <p:nvSpPr>
          <p:cNvPr id="23" name="TextBox 22"/>
          <p:cNvSpPr txBox="1"/>
          <p:nvPr/>
        </p:nvSpPr>
        <p:spPr>
          <a:xfrm>
            <a:off x="6309360" y="4069080"/>
            <a:ext cx="5486400" cy="365760"/>
          </a:xfrm>
          <a:prstGeom prst="rect">
            <a:avLst/>
          </a:prstGeom>
          <a:noFill/>
        </p:spPr>
        <p:txBody>
          <a:bodyPr wrap="square" anchor="t" lIns="38100" rIns="38100" tIns="25400" bIns="25400">
            <a:spAutoFit/>
          </a:bodyPr>
          <a:lstStyle/>
          <a:p>
            <a:pPr algn="l">
              <a:lnSpc>
                <a:spcPct val="106000"/>
              </a:lnSpc>
              <a:spcBef>
                <a:spcPts val="0"/>
              </a:spcBef>
              <a:spcAft>
                <a:spcPts val="200"/>
              </a:spcAft>
            </a:pPr>
            <a:r>
              <a:rPr sz="1300" b="0" i="0">
                <a:solidFill>
                  <a:srgbClr val="20242E"/>
                </a:solidFill>
                <a:latin typeface="Inter"/>
              </a:rPr>
              <a:t>☐  un conector (y/pero/porque)</a:t>
            </a:r>
          </a:p>
        </p:txBody>
      </p:sp>
      <p:sp>
        <p:nvSpPr>
          <p:cNvPr id="24" name="Rounded Rectangle 23"/>
          <p:cNvSpPr/>
          <p:nvPr/>
        </p:nvSpPr>
        <p:spPr>
          <a:xfrm>
            <a:off x="6309360" y="3977639"/>
            <a:ext cx="5486400" cy="1143000"/>
          </a:xfrm>
          <a:prstGeom prst="roundRect">
            <a:avLst>
              <a:gd name="adj" fmla="val 5500"/>
            </a:avLst>
          </a:prstGeom>
          <a:solidFill>
            <a:srgbClr val="EEE8F5"/>
          </a:solidFill>
          <a:ln w="15240">
            <a:solidFill>
              <a:srgbClr val="7C56A9"/>
            </a:solidFill>
          </a:ln>
          <a:effectLst>
            <a:outerShdw blurRad="90000" dist="38000" dir="5400000" rotWithShape="0">
              <a:srgbClr val="20242E">
                <a:alpha val="2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46520" y="4023360"/>
            <a:ext cx="5212080" cy="1097280"/>
          </a:xfrm>
          <a:prstGeom prst="rect">
            <a:avLst/>
          </a:prstGeom>
          <a:noFill/>
        </p:spPr>
        <p:txBody>
          <a:bodyPr wrap="square" anchor="t" lIns="38100" rIns="38100" tIns="25400" bIns="25400">
            <a:spAutoFit/>
          </a:bodyPr>
          <a:lstStyle/>
          <a:p>
            <a:pPr algn="l">
              <a:lnSpc>
                <a:spcPct val="115000"/>
              </a:lnSpc>
              <a:spcBef>
                <a:spcPts val="0"/>
              </a:spcBef>
              <a:spcAft>
                <a:spcPts val="200"/>
              </a:spcAft>
            </a:pPr>
            <a:r>
              <a:rPr sz="1200" b="1" i="0">
                <a:solidFill>
                  <a:srgbClr val="5B3E83"/>
                </a:solidFill>
                <a:latin typeface="Inter"/>
              </a:rPr>
              <a:t>Modelo: </a:t>
            </a:r>
            <a:r>
              <a:rPr sz="1200" b="0" i="1">
                <a:solidFill>
                  <a:srgbClr val="20242E"/>
                </a:solidFill>
                <a:latin typeface="Inter"/>
              </a:rPr>
              <a:t>«¡Hola! Me llamo Sara. Soy de Bélgica y tengo 16 años. Vivo en Gante. Soy alegre y trabajadora, y hablo neerlandés y español. ¡Mucho gusto!»</a:t>
            </a:r>
          </a:p>
        </p:txBody>
      </p:sp>
      <p:sp>
        <p:nvSpPr>
          <p:cNvPr id="26" name="Rounded Rectangle 25"/>
          <p:cNvSpPr/>
          <p:nvPr/>
        </p:nvSpPr>
        <p:spPr>
          <a:xfrm>
            <a:off x="457200" y="6053328"/>
            <a:ext cx="2093976" cy="365760"/>
          </a:xfrm>
          <a:prstGeom prst="roundRect">
            <a:avLst>
              <a:gd name="adj" fmla="val 50000"/>
            </a:avLst>
          </a:prstGeom>
          <a:solidFill>
            <a:srgbClr val="7C56A9"/>
          </a:solidFill>
          <a:ln w="12700">
            <a:solidFill>
              <a:srgbClr val="E4E3DE"/>
            </a:solidFill>
          </a:ln>
          <a:effectLst/>
        </p:spPr>
        <p:style>
          <a:lnRef idx="1">
            <a:schemeClr val="accent1"/>
          </a:lnRef>
          <a:fillRef idx="3">
            <a:schemeClr val="accent1"/>
          </a:fillRef>
          <a:effectRef idx="2">
            <a:schemeClr val="accent1"/>
          </a:effectRef>
          <a:fontRef idx="minor">
            <a:schemeClr val="lt1"/>
          </a:fontRef>
        </p:style>
        <p:txBody>
          <a:bodyPr rtlCol="0" anchor="ctr" tIns="12700" bIns="12700"/>
          <a:lstStyle/>
          <a:p>
            <a:pPr algn="ctr"/>
            <a:r>
              <a:rPr sz="1050" b="1">
                <a:solidFill>
                  <a:srgbClr val="FFFFFF"/>
                </a:solidFill>
                <a:latin typeface="Inter"/>
              </a:rPr>
              <a:t>▶  Mostrar solución</a:t>
            </a:r>
          </a:p>
        </p:txBody>
      </p:sp>
      <p:sp>
        <p:nvSpPr>
          <p:cNvPr id="27" name="Rounded Rectangle 26"/>
          <p:cNvSpPr/>
          <p:nvPr/>
        </p:nvSpPr>
        <p:spPr>
          <a:xfrm>
            <a:off x="2697480" y="6053328"/>
            <a:ext cx="1088136" cy="365760"/>
          </a:xfrm>
          <a:prstGeom prst="roundRect">
            <a:avLst>
              <a:gd name="adj" fmla="val 50000"/>
            </a:avLst>
          </a:prstGeom>
          <a:solidFill>
            <a:srgbClr val="FFFFFF"/>
          </a:solidFill>
          <a:ln w="12700">
            <a:solidFill>
              <a:srgbClr val="E4E3DE"/>
            </a:solidFill>
          </a:ln>
          <a:effectLst/>
        </p:spPr>
        <p:style>
          <a:lnRef idx="1">
            <a:schemeClr val="accent1"/>
          </a:lnRef>
          <a:fillRef idx="3">
            <a:schemeClr val="accent1"/>
          </a:fillRef>
          <a:effectRef idx="2">
            <a:schemeClr val="accent1"/>
          </a:effectRef>
          <a:fontRef idx="minor">
            <a:schemeClr val="lt1"/>
          </a:fontRef>
        </p:style>
        <p:txBody>
          <a:bodyPr rtlCol="0" anchor="ctr" tIns="12700" bIns="12700"/>
          <a:lstStyle/>
          <a:p>
            <a:pPr algn="ctr"/>
            <a:r>
              <a:rPr sz="1050" b="1">
                <a:solidFill>
                  <a:srgbClr val="5B3E83"/>
                </a:solidFill>
                <a:latin typeface="Inter"/>
              </a:rPr>
              <a:t>⏭  Saltar</a:t>
            </a:r>
          </a:p>
        </p:txBody>
      </p:sp>
      <p:sp>
        <p:nvSpPr>
          <p:cNvPr id="28" name="Rounded Rectangle 27">
            <a:hlinkClick action="ppaction://hlinksldjump" r:id="rId3"/>
          </p:cNvPr>
          <p:cNvSpPr/>
          <p:nvPr/>
        </p:nvSpPr>
        <p:spPr>
          <a:xfrm>
            <a:off x="3931920" y="6053328"/>
            <a:ext cx="1691639" cy="365760"/>
          </a:xfrm>
          <a:prstGeom prst="roundRect">
            <a:avLst>
              <a:gd name="adj" fmla="val 50000"/>
            </a:avLst>
          </a:prstGeom>
          <a:solidFill>
            <a:srgbClr val="FFFFFF"/>
          </a:solidFill>
          <a:ln w="12700">
            <a:solidFill>
              <a:srgbClr val="E4E3DE"/>
            </a:solidFill>
          </a:ln>
          <a:effectLst/>
        </p:spPr>
        <p:style>
          <a:lnRef idx="1">
            <a:schemeClr val="accent1"/>
          </a:lnRef>
          <a:fillRef idx="3">
            <a:schemeClr val="accent1"/>
          </a:fillRef>
          <a:effectRef idx="2">
            <a:schemeClr val="accent1"/>
          </a:effectRef>
          <a:fontRef idx="minor">
            <a:schemeClr val="lt1"/>
          </a:fontRef>
        </p:style>
        <p:txBody>
          <a:bodyPr rtlCol="0" anchor="ctr" tIns="12700" bIns="12700"/>
          <a:lstStyle/>
          <a:p>
            <a:pPr algn="ctr"/>
            <a:r>
              <a:rPr sz="1050" b="1">
                <a:solidFill>
                  <a:srgbClr val="5B3E83"/>
                </a:solidFill>
                <a:latin typeface="Inter"/>
              </a:rPr>
              <a:t>⌂  Menú (dia 2)</a:t>
            </a:r>
          </a:p>
        </p:txBody>
      </p:sp>
      <p:sp>
        <p:nvSpPr>
          <p:cNvPr id="29" name="TextBox 28"/>
          <p:cNvSpPr txBox="1"/>
          <p:nvPr/>
        </p:nvSpPr>
        <p:spPr>
          <a:xfrm>
            <a:off x="8321040" y="6053328"/>
            <a:ext cx="3383280" cy="365760"/>
          </a:xfrm>
          <a:prstGeom prst="rect">
            <a:avLst/>
          </a:prstGeom>
          <a:noFill/>
        </p:spPr>
        <p:txBody>
          <a:bodyPr wrap="square" anchor="ctr" lIns="38100" rIns="38100" tIns="25400" bIns="25400">
            <a:spAutoFit/>
          </a:bodyPr>
          <a:lstStyle/>
          <a:p>
            <a:pPr algn="r">
              <a:lnSpc>
                <a:spcPct val="106000"/>
              </a:lnSpc>
              <a:spcBef>
                <a:spcPts val="0"/>
              </a:spcBef>
              <a:spcAft>
                <a:spcPts val="200"/>
              </a:spcAft>
            </a:pPr>
            <a:r>
              <a:rPr sz="850" b="0" i="1">
                <a:solidFill>
                  <a:srgbClr val="6A6E78"/>
                </a:solidFill>
                <a:latin typeface="Inter"/>
              </a:rPr>
              <a:t>Noodroute (§5): werkt zonder audio/internet</a:t>
            </a:r>
          </a:p>
        </p:txBody>
      </p:sp>
      <p:sp>
        <p:nvSpPr>
          <p:cNvPr id="30" name="Rectangle 29"/>
          <p:cNvSpPr/>
          <p:nvPr/>
        </p:nvSpPr>
        <p:spPr>
          <a:xfrm>
            <a:off x="0" y="6547104"/>
            <a:ext cx="12191695" cy="310896"/>
          </a:xfrm>
          <a:prstGeom prst="rect">
            <a:avLst/>
          </a:prstGeom>
          <a:solidFill>
            <a:srgbClr val="F3EE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11480" y="6565392"/>
            <a:ext cx="5486400" cy="274320"/>
          </a:xfrm>
          <a:prstGeom prst="rect">
            <a:avLst/>
          </a:prstGeom>
          <a:noFill/>
        </p:spPr>
        <p:txBody>
          <a:bodyPr wrap="square" anchor="ctr" lIns="38100" rIns="38100" tIns="25400" bIns="25400">
            <a:spAutoFit/>
          </a:bodyPr>
          <a:lstStyle/>
          <a:p>
            <a:pPr algn="l">
              <a:lnSpc>
                <a:spcPct val="106000"/>
              </a:lnSpc>
              <a:spcBef>
                <a:spcPts val="0"/>
              </a:spcBef>
              <a:spcAft>
                <a:spcPts val="200"/>
              </a:spcAft>
            </a:pPr>
            <a:r>
              <a:rPr sz="1100" b="1" i="0">
                <a:solidFill>
                  <a:srgbClr val="7C56A9"/>
                </a:solidFill>
                <a:latin typeface="Inter"/>
              </a:rPr>
              <a:t>● </a:t>
            </a:r>
            <a:r>
              <a:rPr sz="950" b="0" i="0">
                <a:solidFill>
                  <a:srgbClr val="6A6E78"/>
                </a:solidFill>
                <a:latin typeface="Inter"/>
              </a:rPr>
              <a:t>U0 · ¡VOLVEMOS!   ·   C6+ · el reencuentro</a:t>
            </a:r>
          </a:p>
        </p:txBody>
      </p:sp>
      <p:sp>
        <p:nvSpPr>
          <p:cNvPr id="32" name="TextBox 31"/>
          <p:cNvSpPr txBox="1"/>
          <p:nvPr/>
        </p:nvSpPr>
        <p:spPr>
          <a:xfrm>
            <a:off x="8686800" y="6565392"/>
            <a:ext cx="3063240" cy="274320"/>
          </a:xfrm>
          <a:prstGeom prst="rect">
            <a:avLst/>
          </a:prstGeom>
          <a:noFill/>
        </p:spPr>
        <p:txBody>
          <a:bodyPr wrap="square" anchor="ctr" lIns="38100" rIns="38100" tIns="25400" bIns="25400">
            <a:spAutoFit/>
          </a:bodyPr>
          <a:lstStyle/>
          <a:p>
            <a:pPr algn="r">
              <a:lnSpc>
                <a:spcPct val="106000"/>
              </a:lnSpc>
              <a:spcBef>
                <a:spcPts val="0"/>
              </a:spcBef>
              <a:spcAft>
                <a:spcPts val="200"/>
              </a:spcAft>
            </a:pPr>
            <a:r>
              <a:rPr sz="900" b="0" i="1">
                <a:solidFill>
                  <a:srgbClr val="6A6E78"/>
                </a:solidFill>
                <a:latin typeface="Inter"/>
              </a:rPr>
              <a:t>Docentenversie — met oplossingen</a:t>
            </a:r>
          </a:p>
        </p:txBody>
      </p:sp>
      <p:sp>
        <p:nvSpPr>
          <p:cNvPr id="33" name="TextBox 32"/>
          <p:cNvSpPr txBox="1"/>
          <p:nvPr/>
        </p:nvSpPr>
        <p:spPr>
          <a:xfrm>
            <a:off x="11475720" y="6565392"/>
            <a:ext cx="457200" cy="274320"/>
          </a:xfrm>
          <a:prstGeom prst="rect">
            <a:avLst/>
          </a:prstGeom>
          <a:noFill/>
        </p:spPr>
        <p:txBody>
          <a:bodyPr wrap="square" anchor="ctr" lIns="38100" rIns="38100" tIns="25400" bIns="25400">
            <a:spAutoFit/>
          </a:bodyPr>
          <a:lstStyle/>
          <a:p>
            <a:pPr algn="r">
              <a:lnSpc>
                <a:spcPct val="106000"/>
              </a:lnSpc>
              <a:spcBef>
                <a:spcPts val="0"/>
              </a:spcBef>
              <a:spcAft>
                <a:spcPts val="200"/>
              </a:spcAft>
            </a:pPr>
            <a:r>
              <a:rPr sz="950" b="1" i="0">
                <a:solidFill>
                  <a:srgbClr val="5B3E83"/>
                </a:solidFill>
                <a:latin typeface="Inter"/>
              </a:rPr>
              <a:t>13</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24"/>
                                        </p:tgtEl>
                                        <p:attrNameLst>
                                          <p:attrName>style.visibility</p:attrName>
                                        </p:attrNameLst>
                                      </p:cBhvr>
                                      <p:to>
                                        <p:strVal val="visible"/>
                                      </p:to>
                                    </p:set>
                                    <p:animEffect transition="in" filter="fade">
                                      <p:cBhvr>
                                        <p:cTn id="7" dur="500"/>
                                        <p:tgtEl>
                                          <p:spTgt spid="2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C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78992"/>
          </a:xfrm>
          <a:prstGeom prst="rect">
            <a:avLst/>
          </a:prstGeom>
          <a:solidFill>
            <a:srgbClr val="7C56A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78992"/>
            <a:ext cx="12191695" cy="54864"/>
          </a:xfrm>
          <a:prstGeom prst="rect">
            <a:avLst/>
          </a:prstGeom>
          <a:solidFill>
            <a:srgbClr val="5B3E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02920" y="182880"/>
            <a:ext cx="1464868" cy="292608"/>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88900" rIns="88900" tIns="12700" bIns="12700"/>
          <a:lstStyle/>
          <a:p>
            <a:pPr algn="ctr"/>
            <a:r>
              <a:rPr sz="1100" b="1">
                <a:solidFill>
                  <a:srgbClr val="7C56A9"/>
                </a:solidFill>
                <a:latin typeface="Inter"/>
              </a:rPr>
              <a:t>§4 · VOCABULARIO</a:t>
            </a:r>
          </a:p>
        </p:txBody>
      </p:sp>
      <p:sp>
        <p:nvSpPr>
          <p:cNvPr id="6" name="TextBox 5"/>
          <p:cNvSpPr txBox="1"/>
          <p:nvPr/>
        </p:nvSpPr>
        <p:spPr>
          <a:xfrm>
            <a:off x="10424160" y="-137160"/>
            <a:ext cx="1737360" cy="1371600"/>
          </a:xfrm>
          <a:prstGeom prst="rect">
            <a:avLst/>
          </a:prstGeom>
          <a:noFill/>
        </p:spPr>
        <p:txBody>
          <a:bodyPr wrap="square" anchor="t" lIns="38100" rIns="38100" tIns="25400" bIns="25400">
            <a:spAutoFit/>
          </a:bodyPr>
          <a:lstStyle/>
          <a:p>
            <a:pPr algn="r">
              <a:lnSpc>
                <a:spcPct val="106000"/>
              </a:lnSpc>
              <a:spcBef>
                <a:spcPts val="0"/>
              </a:spcBef>
              <a:spcAft>
                <a:spcPts val="200"/>
              </a:spcAft>
            </a:pPr>
            <a:r>
              <a:rPr sz="8800" b="1" i="0">
                <a:solidFill>
                  <a:srgbClr val="FFFFFF"/>
                </a:solidFill>
                <a:latin typeface="Bricolage Grotesque"/>
              </a:rPr>
              <a:t>4</a:t>
            </a:r>
          </a:p>
        </p:txBody>
      </p:sp>
      <p:sp>
        <p:nvSpPr>
          <p:cNvPr id="7" name="TextBox 6"/>
          <p:cNvSpPr txBox="1"/>
          <p:nvPr/>
        </p:nvSpPr>
        <p:spPr>
          <a:xfrm>
            <a:off x="457200" y="457200"/>
            <a:ext cx="9692640" cy="502920"/>
          </a:xfrm>
          <a:prstGeom prst="rect">
            <a:avLst/>
          </a:prstGeom>
          <a:noFill/>
        </p:spPr>
        <p:txBody>
          <a:bodyPr wrap="square" anchor="ctr" lIns="38100" rIns="38100" tIns="25400" bIns="25400">
            <a:spAutoFit/>
          </a:bodyPr>
          <a:lstStyle/>
          <a:p>
            <a:pPr algn="l">
              <a:lnSpc>
                <a:spcPct val="106000"/>
              </a:lnSpc>
              <a:spcBef>
                <a:spcPts val="0"/>
              </a:spcBef>
              <a:spcAft>
                <a:spcPts val="200"/>
              </a:spcAft>
            </a:pPr>
            <a:r>
              <a:rPr sz="2700" b="1" i="0">
                <a:solidFill>
                  <a:srgbClr val="FFFFFF"/>
                </a:solidFill>
                <a:latin typeface="Bricolage Grotesque"/>
              </a:rPr>
              <a:t>Países, nacionalidades y números</a:t>
            </a:r>
          </a:p>
        </p:txBody>
      </p:sp>
      <p:sp>
        <p:nvSpPr>
          <p:cNvPr id="8" name="TextBox 7"/>
          <p:cNvSpPr txBox="1"/>
          <p:nvPr/>
        </p:nvSpPr>
        <p:spPr>
          <a:xfrm>
            <a:off x="502920" y="932688"/>
            <a:ext cx="9692640" cy="274320"/>
          </a:xfrm>
          <a:prstGeom prst="rect">
            <a:avLst/>
          </a:prstGeom>
          <a:noFill/>
        </p:spPr>
        <p:txBody>
          <a:bodyPr wrap="square" anchor="t" lIns="38100" rIns="38100" tIns="25400" bIns="25400">
            <a:spAutoFit/>
          </a:bodyPr>
          <a:lstStyle/>
          <a:p>
            <a:pPr algn="l">
              <a:lnSpc>
                <a:spcPct val="106000"/>
              </a:lnSpc>
              <a:spcBef>
                <a:spcPts val="0"/>
              </a:spcBef>
              <a:spcAft>
                <a:spcPts val="200"/>
              </a:spcAft>
            </a:pPr>
            <a:r>
              <a:rPr sz="1250" b="0" i="1">
                <a:solidFill>
                  <a:srgbClr val="EEE8F5"/>
                </a:solidFill>
                <a:latin typeface="Inter"/>
              </a:rPr>
              <a:t>Klik een woord → de vertaling/vorm. Bouw je woordnetwerk.</a:t>
            </a:r>
          </a:p>
        </p:txBody>
      </p:sp>
      <p:sp>
        <p:nvSpPr>
          <p:cNvPr id="9" name="Rounded Rectangle 8"/>
          <p:cNvSpPr/>
          <p:nvPr/>
        </p:nvSpPr>
        <p:spPr>
          <a:xfrm>
            <a:off x="457200" y="1554480"/>
            <a:ext cx="2743200" cy="640080"/>
          </a:xfrm>
          <a:prstGeom prst="roundRect">
            <a:avLst>
              <a:gd name="adj" fmla="val 5500"/>
            </a:avLst>
          </a:prstGeom>
          <a:solidFill>
            <a:srgbClr val="FFFFFF"/>
          </a:solidFill>
          <a:ln w="12700">
            <a:solidFill>
              <a:srgbClr val="E4E3D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66928" y="1554480"/>
            <a:ext cx="1554480" cy="640080"/>
          </a:xfrm>
          <a:prstGeom prst="rect">
            <a:avLst/>
          </a:prstGeom>
          <a:noFill/>
        </p:spPr>
        <p:txBody>
          <a:bodyPr wrap="square" anchor="ctr" lIns="38100" rIns="38100" tIns="25400" bIns="25400">
            <a:spAutoFit/>
          </a:bodyPr>
          <a:lstStyle/>
          <a:p>
            <a:pPr algn="l">
              <a:lnSpc>
                <a:spcPct val="106000"/>
              </a:lnSpc>
              <a:spcBef>
                <a:spcPts val="0"/>
              </a:spcBef>
              <a:spcAft>
                <a:spcPts val="200"/>
              </a:spcAft>
            </a:pPr>
            <a:r>
              <a:rPr sz="1200" b="1" i="0">
                <a:solidFill>
                  <a:srgbClr val="20242E"/>
                </a:solidFill>
                <a:latin typeface="Inter"/>
              </a:rPr>
              <a:t>España</a:t>
            </a:r>
          </a:p>
        </p:txBody>
      </p:sp>
      <p:sp>
        <p:nvSpPr>
          <p:cNvPr id="11" name="TextBox 10"/>
          <p:cNvSpPr txBox="1"/>
          <p:nvPr/>
        </p:nvSpPr>
        <p:spPr>
          <a:xfrm>
            <a:off x="2103120" y="1554480"/>
            <a:ext cx="1005840" cy="640080"/>
          </a:xfrm>
          <a:prstGeom prst="rect">
            <a:avLst/>
          </a:prstGeom>
          <a:noFill/>
        </p:spPr>
        <p:txBody>
          <a:bodyPr wrap="square" anchor="ctr" lIns="38100" rIns="38100" tIns="25400" bIns="25400">
            <a:spAutoFit/>
          </a:bodyPr>
          <a:lstStyle/>
          <a:p>
            <a:pPr algn="l">
              <a:lnSpc>
                <a:spcPct val="106000"/>
              </a:lnSpc>
              <a:spcBef>
                <a:spcPts val="0"/>
              </a:spcBef>
              <a:spcAft>
                <a:spcPts val="200"/>
              </a:spcAft>
            </a:pPr>
            <a:r>
              <a:rPr sz="1150" b="0" i="0">
                <a:solidFill>
                  <a:srgbClr val="7C56A9"/>
                </a:solidFill>
                <a:latin typeface="Inter"/>
              </a:rPr>
              <a:t>→ español/a</a:t>
            </a:r>
          </a:p>
        </p:txBody>
      </p:sp>
      <p:sp>
        <p:nvSpPr>
          <p:cNvPr id="12" name="Rounded Rectangle 11"/>
          <p:cNvSpPr/>
          <p:nvPr/>
        </p:nvSpPr>
        <p:spPr>
          <a:xfrm>
            <a:off x="3291840" y="1554480"/>
            <a:ext cx="2743200" cy="640080"/>
          </a:xfrm>
          <a:prstGeom prst="roundRect">
            <a:avLst>
              <a:gd name="adj" fmla="val 5500"/>
            </a:avLst>
          </a:prstGeom>
          <a:solidFill>
            <a:srgbClr val="FFFFFF"/>
          </a:solidFill>
          <a:ln w="12700">
            <a:solidFill>
              <a:srgbClr val="E4E3D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401568" y="1554480"/>
            <a:ext cx="1554480" cy="640080"/>
          </a:xfrm>
          <a:prstGeom prst="rect">
            <a:avLst/>
          </a:prstGeom>
          <a:noFill/>
        </p:spPr>
        <p:txBody>
          <a:bodyPr wrap="square" anchor="ctr" lIns="38100" rIns="38100" tIns="25400" bIns="25400">
            <a:spAutoFit/>
          </a:bodyPr>
          <a:lstStyle/>
          <a:p>
            <a:pPr algn="l">
              <a:lnSpc>
                <a:spcPct val="106000"/>
              </a:lnSpc>
              <a:spcBef>
                <a:spcPts val="0"/>
              </a:spcBef>
              <a:spcAft>
                <a:spcPts val="200"/>
              </a:spcAft>
            </a:pPr>
            <a:r>
              <a:rPr sz="1200" b="1" i="0">
                <a:solidFill>
                  <a:srgbClr val="20242E"/>
                </a:solidFill>
                <a:latin typeface="Inter"/>
              </a:rPr>
              <a:t>México</a:t>
            </a:r>
          </a:p>
        </p:txBody>
      </p:sp>
      <p:sp>
        <p:nvSpPr>
          <p:cNvPr id="14" name="TextBox 13"/>
          <p:cNvSpPr txBox="1"/>
          <p:nvPr/>
        </p:nvSpPr>
        <p:spPr>
          <a:xfrm>
            <a:off x="4937760" y="1554480"/>
            <a:ext cx="1005840" cy="640080"/>
          </a:xfrm>
          <a:prstGeom prst="rect">
            <a:avLst/>
          </a:prstGeom>
          <a:noFill/>
        </p:spPr>
        <p:txBody>
          <a:bodyPr wrap="square" anchor="ctr" lIns="38100" rIns="38100" tIns="25400" bIns="25400">
            <a:spAutoFit/>
          </a:bodyPr>
          <a:lstStyle/>
          <a:p>
            <a:pPr algn="l">
              <a:lnSpc>
                <a:spcPct val="106000"/>
              </a:lnSpc>
              <a:spcBef>
                <a:spcPts val="0"/>
              </a:spcBef>
              <a:spcAft>
                <a:spcPts val="200"/>
              </a:spcAft>
            </a:pPr>
            <a:r>
              <a:rPr sz="1150" b="0" i="0">
                <a:solidFill>
                  <a:srgbClr val="7C56A9"/>
                </a:solidFill>
                <a:latin typeface="Inter"/>
              </a:rPr>
              <a:t>→ mexicano/a</a:t>
            </a:r>
          </a:p>
        </p:txBody>
      </p:sp>
      <p:sp>
        <p:nvSpPr>
          <p:cNvPr id="15" name="Rounded Rectangle 14"/>
          <p:cNvSpPr/>
          <p:nvPr/>
        </p:nvSpPr>
        <p:spPr>
          <a:xfrm>
            <a:off x="6126480" y="1554480"/>
            <a:ext cx="2743200" cy="640080"/>
          </a:xfrm>
          <a:prstGeom prst="roundRect">
            <a:avLst>
              <a:gd name="adj" fmla="val 5500"/>
            </a:avLst>
          </a:prstGeom>
          <a:solidFill>
            <a:srgbClr val="FFFFFF"/>
          </a:solidFill>
          <a:ln w="12700">
            <a:solidFill>
              <a:srgbClr val="E4E3D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236208" y="1554480"/>
            <a:ext cx="1554480" cy="640080"/>
          </a:xfrm>
          <a:prstGeom prst="rect">
            <a:avLst/>
          </a:prstGeom>
          <a:noFill/>
        </p:spPr>
        <p:txBody>
          <a:bodyPr wrap="square" anchor="ctr" lIns="38100" rIns="38100" tIns="25400" bIns="25400">
            <a:spAutoFit/>
          </a:bodyPr>
          <a:lstStyle/>
          <a:p>
            <a:pPr algn="l">
              <a:lnSpc>
                <a:spcPct val="106000"/>
              </a:lnSpc>
              <a:spcBef>
                <a:spcPts val="0"/>
              </a:spcBef>
              <a:spcAft>
                <a:spcPts val="200"/>
              </a:spcAft>
            </a:pPr>
            <a:r>
              <a:rPr sz="1200" b="1" i="0">
                <a:solidFill>
                  <a:srgbClr val="20242E"/>
                </a:solidFill>
                <a:latin typeface="Inter"/>
              </a:rPr>
              <a:t>Colombia</a:t>
            </a:r>
          </a:p>
        </p:txBody>
      </p:sp>
      <p:sp>
        <p:nvSpPr>
          <p:cNvPr id="17" name="TextBox 16"/>
          <p:cNvSpPr txBox="1"/>
          <p:nvPr/>
        </p:nvSpPr>
        <p:spPr>
          <a:xfrm>
            <a:off x="7772400" y="1554480"/>
            <a:ext cx="1005840" cy="640080"/>
          </a:xfrm>
          <a:prstGeom prst="rect">
            <a:avLst/>
          </a:prstGeom>
          <a:noFill/>
        </p:spPr>
        <p:txBody>
          <a:bodyPr wrap="square" anchor="ctr" lIns="38100" rIns="38100" tIns="25400" bIns="25400">
            <a:spAutoFit/>
          </a:bodyPr>
          <a:lstStyle/>
          <a:p>
            <a:pPr algn="l">
              <a:lnSpc>
                <a:spcPct val="106000"/>
              </a:lnSpc>
              <a:spcBef>
                <a:spcPts val="0"/>
              </a:spcBef>
              <a:spcAft>
                <a:spcPts val="200"/>
              </a:spcAft>
            </a:pPr>
            <a:r>
              <a:rPr sz="1150" b="0" i="0">
                <a:solidFill>
                  <a:srgbClr val="7C56A9"/>
                </a:solidFill>
                <a:latin typeface="Inter"/>
              </a:rPr>
              <a:t>→ colombiano/a</a:t>
            </a:r>
          </a:p>
        </p:txBody>
      </p:sp>
      <p:sp>
        <p:nvSpPr>
          <p:cNvPr id="18" name="Rounded Rectangle 17"/>
          <p:cNvSpPr/>
          <p:nvPr/>
        </p:nvSpPr>
        <p:spPr>
          <a:xfrm>
            <a:off x="8961120" y="1554480"/>
            <a:ext cx="2743200" cy="640080"/>
          </a:xfrm>
          <a:prstGeom prst="roundRect">
            <a:avLst>
              <a:gd name="adj" fmla="val 5500"/>
            </a:avLst>
          </a:prstGeom>
          <a:solidFill>
            <a:srgbClr val="FFFFFF"/>
          </a:solidFill>
          <a:ln w="12700">
            <a:solidFill>
              <a:srgbClr val="E4E3D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070848" y="1554480"/>
            <a:ext cx="1554480" cy="640080"/>
          </a:xfrm>
          <a:prstGeom prst="rect">
            <a:avLst/>
          </a:prstGeom>
          <a:noFill/>
        </p:spPr>
        <p:txBody>
          <a:bodyPr wrap="square" anchor="ctr" lIns="38100" rIns="38100" tIns="25400" bIns="25400">
            <a:spAutoFit/>
          </a:bodyPr>
          <a:lstStyle/>
          <a:p>
            <a:pPr algn="l">
              <a:lnSpc>
                <a:spcPct val="106000"/>
              </a:lnSpc>
              <a:spcBef>
                <a:spcPts val="0"/>
              </a:spcBef>
              <a:spcAft>
                <a:spcPts val="200"/>
              </a:spcAft>
            </a:pPr>
            <a:r>
              <a:rPr sz="1200" b="1" i="0">
                <a:solidFill>
                  <a:srgbClr val="20242E"/>
                </a:solidFill>
                <a:latin typeface="Inter"/>
              </a:rPr>
              <a:t>Perú</a:t>
            </a:r>
          </a:p>
        </p:txBody>
      </p:sp>
      <p:sp>
        <p:nvSpPr>
          <p:cNvPr id="20" name="TextBox 19"/>
          <p:cNvSpPr txBox="1"/>
          <p:nvPr/>
        </p:nvSpPr>
        <p:spPr>
          <a:xfrm>
            <a:off x="10607040" y="1554480"/>
            <a:ext cx="1005840" cy="640080"/>
          </a:xfrm>
          <a:prstGeom prst="rect">
            <a:avLst/>
          </a:prstGeom>
          <a:noFill/>
        </p:spPr>
        <p:txBody>
          <a:bodyPr wrap="square" anchor="ctr" lIns="38100" rIns="38100" tIns="25400" bIns="25400">
            <a:spAutoFit/>
          </a:bodyPr>
          <a:lstStyle/>
          <a:p>
            <a:pPr algn="l">
              <a:lnSpc>
                <a:spcPct val="106000"/>
              </a:lnSpc>
              <a:spcBef>
                <a:spcPts val="0"/>
              </a:spcBef>
              <a:spcAft>
                <a:spcPts val="200"/>
              </a:spcAft>
            </a:pPr>
            <a:r>
              <a:rPr sz="1150" b="0" i="0">
                <a:solidFill>
                  <a:srgbClr val="7C56A9"/>
                </a:solidFill>
                <a:latin typeface="Inter"/>
              </a:rPr>
              <a:t>→ peruano/a</a:t>
            </a:r>
          </a:p>
        </p:txBody>
      </p:sp>
      <p:sp>
        <p:nvSpPr>
          <p:cNvPr id="21" name="Rounded Rectangle 20"/>
          <p:cNvSpPr/>
          <p:nvPr/>
        </p:nvSpPr>
        <p:spPr>
          <a:xfrm>
            <a:off x="457200" y="2322576"/>
            <a:ext cx="2743200" cy="640080"/>
          </a:xfrm>
          <a:prstGeom prst="roundRect">
            <a:avLst>
              <a:gd name="adj" fmla="val 5500"/>
            </a:avLst>
          </a:prstGeom>
          <a:solidFill>
            <a:srgbClr val="FFFFFF"/>
          </a:solidFill>
          <a:ln w="12700">
            <a:solidFill>
              <a:srgbClr val="E4E3D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66928" y="2322576"/>
            <a:ext cx="1554480" cy="640080"/>
          </a:xfrm>
          <a:prstGeom prst="rect">
            <a:avLst/>
          </a:prstGeom>
          <a:noFill/>
        </p:spPr>
        <p:txBody>
          <a:bodyPr wrap="square" anchor="ctr" lIns="38100" rIns="38100" tIns="25400" bIns="25400">
            <a:spAutoFit/>
          </a:bodyPr>
          <a:lstStyle/>
          <a:p>
            <a:pPr algn="l">
              <a:lnSpc>
                <a:spcPct val="106000"/>
              </a:lnSpc>
              <a:spcBef>
                <a:spcPts val="0"/>
              </a:spcBef>
              <a:spcAft>
                <a:spcPts val="200"/>
              </a:spcAft>
            </a:pPr>
            <a:r>
              <a:rPr sz="1200" b="1" i="0">
                <a:solidFill>
                  <a:srgbClr val="20242E"/>
                </a:solidFill>
                <a:latin typeface="Inter"/>
              </a:rPr>
              <a:t>Argentina</a:t>
            </a:r>
          </a:p>
        </p:txBody>
      </p:sp>
      <p:sp>
        <p:nvSpPr>
          <p:cNvPr id="23" name="TextBox 22"/>
          <p:cNvSpPr txBox="1"/>
          <p:nvPr/>
        </p:nvSpPr>
        <p:spPr>
          <a:xfrm>
            <a:off x="2103120" y="2322576"/>
            <a:ext cx="1005840" cy="640080"/>
          </a:xfrm>
          <a:prstGeom prst="rect">
            <a:avLst/>
          </a:prstGeom>
          <a:noFill/>
        </p:spPr>
        <p:txBody>
          <a:bodyPr wrap="square" anchor="ctr" lIns="38100" rIns="38100" tIns="25400" bIns="25400">
            <a:spAutoFit/>
          </a:bodyPr>
          <a:lstStyle/>
          <a:p>
            <a:pPr algn="l">
              <a:lnSpc>
                <a:spcPct val="106000"/>
              </a:lnSpc>
              <a:spcBef>
                <a:spcPts val="0"/>
              </a:spcBef>
              <a:spcAft>
                <a:spcPts val="200"/>
              </a:spcAft>
            </a:pPr>
            <a:r>
              <a:rPr sz="1150" b="0" i="0">
                <a:solidFill>
                  <a:srgbClr val="7C56A9"/>
                </a:solidFill>
                <a:latin typeface="Inter"/>
              </a:rPr>
              <a:t>→ argentino/a</a:t>
            </a:r>
          </a:p>
        </p:txBody>
      </p:sp>
      <p:sp>
        <p:nvSpPr>
          <p:cNvPr id="24" name="Rounded Rectangle 23"/>
          <p:cNvSpPr/>
          <p:nvPr/>
        </p:nvSpPr>
        <p:spPr>
          <a:xfrm>
            <a:off x="3291840" y="2322576"/>
            <a:ext cx="2743200" cy="640080"/>
          </a:xfrm>
          <a:prstGeom prst="roundRect">
            <a:avLst>
              <a:gd name="adj" fmla="val 5500"/>
            </a:avLst>
          </a:prstGeom>
          <a:solidFill>
            <a:srgbClr val="FFFFFF"/>
          </a:solidFill>
          <a:ln w="12700">
            <a:solidFill>
              <a:srgbClr val="E4E3D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401568" y="2322576"/>
            <a:ext cx="1554480" cy="640080"/>
          </a:xfrm>
          <a:prstGeom prst="rect">
            <a:avLst/>
          </a:prstGeom>
          <a:noFill/>
        </p:spPr>
        <p:txBody>
          <a:bodyPr wrap="square" anchor="ctr" lIns="38100" rIns="38100" tIns="25400" bIns="25400">
            <a:spAutoFit/>
          </a:bodyPr>
          <a:lstStyle/>
          <a:p>
            <a:pPr algn="l">
              <a:lnSpc>
                <a:spcPct val="106000"/>
              </a:lnSpc>
              <a:spcBef>
                <a:spcPts val="0"/>
              </a:spcBef>
              <a:spcAft>
                <a:spcPts val="200"/>
              </a:spcAft>
            </a:pPr>
            <a:r>
              <a:rPr sz="1200" b="1" i="0">
                <a:solidFill>
                  <a:srgbClr val="20242E"/>
                </a:solidFill>
                <a:latin typeface="Inter"/>
              </a:rPr>
              <a:t>Bélgica</a:t>
            </a:r>
          </a:p>
        </p:txBody>
      </p:sp>
      <p:sp>
        <p:nvSpPr>
          <p:cNvPr id="26" name="TextBox 25"/>
          <p:cNvSpPr txBox="1"/>
          <p:nvPr/>
        </p:nvSpPr>
        <p:spPr>
          <a:xfrm>
            <a:off x="4937760" y="2322576"/>
            <a:ext cx="1005840" cy="640080"/>
          </a:xfrm>
          <a:prstGeom prst="rect">
            <a:avLst/>
          </a:prstGeom>
          <a:noFill/>
        </p:spPr>
        <p:txBody>
          <a:bodyPr wrap="square" anchor="ctr" lIns="38100" rIns="38100" tIns="25400" bIns="25400">
            <a:spAutoFit/>
          </a:bodyPr>
          <a:lstStyle/>
          <a:p>
            <a:pPr algn="l">
              <a:lnSpc>
                <a:spcPct val="106000"/>
              </a:lnSpc>
              <a:spcBef>
                <a:spcPts val="0"/>
              </a:spcBef>
              <a:spcAft>
                <a:spcPts val="200"/>
              </a:spcAft>
            </a:pPr>
            <a:r>
              <a:rPr sz="1150" b="0" i="0">
                <a:solidFill>
                  <a:srgbClr val="7C56A9"/>
                </a:solidFill>
                <a:latin typeface="Inter"/>
              </a:rPr>
              <a:t>→ belga</a:t>
            </a:r>
          </a:p>
        </p:txBody>
      </p:sp>
      <p:sp>
        <p:nvSpPr>
          <p:cNvPr id="27" name="Rounded Rectangle 26"/>
          <p:cNvSpPr/>
          <p:nvPr/>
        </p:nvSpPr>
        <p:spPr>
          <a:xfrm>
            <a:off x="6126480" y="2322576"/>
            <a:ext cx="2743200" cy="640080"/>
          </a:xfrm>
          <a:prstGeom prst="roundRect">
            <a:avLst>
              <a:gd name="adj" fmla="val 5500"/>
            </a:avLst>
          </a:prstGeom>
          <a:solidFill>
            <a:srgbClr val="FFFFFF"/>
          </a:solidFill>
          <a:ln w="12700">
            <a:solidFill>
              <a:srgbClr val="E4E3D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236208" y="2322576"/>
            <a:ext cx="1554480" cy="640080"/>
          </a:xfrm>
          <a:prstGeom prst="rect">
            <a:avLst/>
          </a:prstGeom>
          <a:noFill/>
        </p:spPr>
        <p:txBody>
          <a:bodyPr wrap="square" anchor="ctr" lIns="38100" rIns="38100" tIns="25400" bIns="25400">
            <a:spAutoFit/>
          </a:bodyPr>
          <a:lstStyle/>
          <a:p>
            <a:pPr algn="l">
              <a:lnSpc>
                <a:spcPct val="106000"/>
              </a:lnSpc>
              <a:spcBef>
                <a:spcPts val="0"/>
              </a:spcBef>
              <a:spcAft>
                <a:spcPts val="200"/>
              </a:spcAft>
            </a:pPr>
            <a:r>
              <a:rPr sz="1200" b="1" i="0">
                <a:solidFill>
                  <a:srgbClr val="20242E"/>
                </a:solidFill>
                <a:latin typeface="Inter"/>
              </a:rPr>
              <a:t>veinte</a:t>
            </a:r>
          </a:p>
        </p:txBody>
      </p:sp>
      <p:sp>
        <p:nvSpPr>
          <p:cNvPr id="29" name="TextBox 28"/>
          <p:cNvSpPr txBox="1"/>
          <p:nvPr/>
        </p:nvSpPr>
        <p:spPr>
          <a:xfrm>
            <a:off x="7772400" y="2322576"/>
            <a:ext cx="1005840" cy="640080"/>
          </a:xfrm>
          <a:prstGeom prst="rect">
            <a:avLst/>
          </a:prstGeom>
          <a:noFill/>
        </p:spPr>
        <p:txBody>
          <a:bodyPr wrap="square" anchor="ctr" lIns="38100" rIns="38100" tIns="25400" bIns="25400">
            <a:spAutoFit/>
          </a:bodyPr>
          <a:lstStyle/>
          <a:p>
            <a:pPr algn="l">
              <a:lnSpc>
                <a:spcPct val="106000"/>
              </a:lnSpc>
              <a:spcBef>
                <a:spcPts val="0"/>
              </a:spcBef>
              <a:spcAft>
                <a:spcPts val="200"/>
              </a:spcAft>
            </a:pPr>
            <a:r>
              <a:rPr sz="1150" b="0" i="0">
                <a:solidFill>
                  <a:srgbClr val="7C56A9"/>
                </a:solidFill>
                <a:latin typeface="Inter"/>
              </a:rPr>
              <a:t>→ 20</a:t>
            </a:r>
          </a:p>
        </p:txBody>
      </p:sp>
      <p:sp>
        <p:nvSpPr>
          <p:cNvPr id="30" name="Rounded Rectangle 29"/>
          <p:cNvSpPr/>
          <p:nvPr/>
        </p:nvSpPr>
        <p:spPr>
          <a:xfrm>
            <a:off x="8961120" y="2322576"/>
            <a:ext cx="2743200" cy="640080"/>
          </a:xfrm>
          <a:prstGeom prst="roundRect">
            <a:avLst>
              <a:gd name="adj" fmla="val 5500"/>
            </a:avLst>
          </a:prstGeom>
          <a:solidFill>
            <a:srgbClr val="FFFFFF"/>
          </a:solidFill>
          <a:ln w="12700">
            <a:solidFill>
              <a:srgbClr val="E4E3D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070848" y="2322576"/>
            <a:ext cx="1554480" cy="640080"/>
          </a:xfrm>
          <a:prstGeom prst="rect">
            <a:avLst/>
          </a:prstGeom>
          <a:noFill/>
        </p:spPr>
        <p:txBody>
          <a:bodyPr wrap="square" anchor="ctr" lIns="38100" rIns="38100" tIns="25400" bIns="25400">
            <a:spAutoFit/>
          </a:bodyPr>
          <a:lstStyle/>
          <a:p>
            <a:pPr algn="l">
              <a:lnSpc>
                <a:spcPct val="106000"/>
              </a:lnSpc>
              <a:spcBef>
                <a:spcPts val="0"/>
              </a:spcBef>
              <a:spcAft>
                <a:spcPts val="200"/>
              </a:spcAft>
            </a:pPr>
            <a:r>
              <a:rPr sz="1200" b="1" i="0">
                <a:solidFill>
                  <a:srgbClr val="20242E"/>
                </a:solidFill>
                <a:latin typeface="Inter"/>
              </a:rPr>
              <a:t>cincuenta</a:t>
            </a:r>
          </a:p>
        </p:txBody>
      </p:sp>
      <p:sp>
        <p:nvSpPr>
          <p:cNvPr id="32" name="TextBox 31"/>
          <p:cNvSpPr txBox="1"/>
          <p:nvPr/>
        </p:nvSpPr>
        <p:spPr>
          <a:xfrm>
            <a:off x="10607040" y="2322576"/>
            <a:ext cx="1005840" cy="640080"/>
          </a:xfrm>
          <a:prstGeom prst="rect">
            <a:avLst/>
          </a:prstGeom>
          <a:noFill/>
        </p:spPr>
        <p:txBody>
          <a:bodyPr wrap="square" anchor="ctr" lIns="38100" rIns="38100" tIns="25400" bIns="25400">
            <a:spAutoFit/>
          </a:bodyPr>
          <a:lstStyle/>
          <a:p>
            <a:pPr algn="l">
              <a:lnSpc>
                <a:spcPct val="106000"/>
              </a:lnSpc>
              <a:spcBef>
                <a:spcPts val="0"/>
              </a:spcBef>
              <a:spcAft>
                <a:spcPts val="200"/>
              </a:spcAft>
            </a:pPr>
            <a:r>
              <a:rPr sz="1150" b="0" i="0">
                <a:solidFill>
                  <a:srgbClr val="7C56A9"/>
                </a:solidFill>
                <a:latin typeface="Inter"/>
              </a:rPr>
              <a:t>→ 50</a:t>
            </a:r>
          </a:p>
        </p:txBody>
      </p:sp>
      <p:sp>
        <p:nvSpPr>
          <p:cNvPr id="33" name="Rounded Rectangle 32"/>
          <p:cNvSpPr/>
          <p:nvPr/>
        </p:nvSpPr>
        <p:spPr>
          <a:xfrm>
            <a:off x="457200" y="3090672"/>
            <a:ext cx="2743200" cy="640080"/>
          </a:xfrm>
          <a:prstGeom prst="roundRect">
            <a:avLst>
              <a:gd name="adj" fmla="val 5500"/>
            </a:avLst>
          </a:prstGeom>
          <a:solidFill>
            <a:srgbClr val="FFFFFF"/>
          </a:solidFill>
          <a:ln w="12700">
            <a:solidFill>
              <a:srgbClr val="E4E3D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566928" y="3090672"/>
            <a:ext cx="1554480" cy="640080"/>
          </a:xfrm>
          <a:prstGeom prst="rect">
            <a:avLst/>
          </a:prstGeom>
          <a:noFill/>
        </p:spPr>
        <p:txBody>
          <a:bodyPr wrap="square" anchor="ctr" lIns="38100" rIns="38100" tIns="25400" bIns="25400">
            <a:spAutoFit/>
          </a:bodyPr>
          <a:lstStyle/>
          <a:p>
            <a:pPr algn="l">
              <a:lnSpc>
                <a:spcPct val="106000"/>
              </a:lnSpc>
              <a:spcBef>
                <a:spcPts val="0"/>
              </a:spcBef>
              <a:spcAft>
                <a:spcPts val="200"/>
              </a:spcAft>
            </a:pPr>
            <a:r>
              <a:rPr sz="1200" b="1" i="0">
                <a:solidFill>
                  <a:srgbClr val="20242E"/>
                </a:solidFill>
                <a:latin typeface="Inter"/>
              </a:rPr>
              <a:t>cien</a:t>
            </a:r>
          </a:p>
        </p:txBody>
      </p:sp>
      <p:sp>
        <p:nvSpPr>
          <p:cNvPr id="35" name="TextBox 34"/>
          <p:cNvSpPr txBox="1"/>
          <p:nvPr/>
        </p:nvSpPr>
        <p:spPr>
          <a:xfrm>
            <a:off x="2103120" y="3090672"/>
            <a:ext cx="1005840" cy="640080"/>
          </a:xfrm>
          <a:prstGeom prst="rect">
            <a:avLst/>
          </a:prstGeom>
          <a:noFill/>
        </p:spPr>
        <p:txBody>
          <a:bodyPr wrap="square" anchor="ctr" lIns="38100" rIns="38100" tIns="25400" bIns="25400">
            <a:spAutoFit/>
          </a:bodyPr>
          <a:lstStyle/>
          <a:p>
            <a:pPr algn="l">
              <a:lnSpc>
                <a:spcPct val="106000"/>
              </a:lnSpc>
              <a:spcBef>
                <a:spcPts val="0"/>
              </a:spcBef>
              <a:spcAft>
                <a:spcPts val="200"/>
              </a:spcAft>
            </a:pPr>
            <a:r>
              <a:rPr sz="1150" b="0" i="0">
                <a:solidFill>
                  <a:srgbClr val="7C56A9"/>
                </a:solidFill>
                <a:latin typeface="Inter"/>
              </a:rPr>
              <a:t>→ 100</a:t>
            </a:r>
          </a:p>
        </p:txBody>
      </p:sp>
      <p:sp>
        <p:nvSpPr>
          <p:cNvPr id="36" name="Rounded Rectangle 35"/>
          <p:cNvSpPr/>
          <p:nvPr/>
        </p:nvSpPr>
        <p:spPr>
          <a:xfrm>
            <a:off x="3291840" y="3090672"/>
            <a:ext cx="2743200" cy="640080"/>
          </a:xfrm>
          <a:prstGeom prst="roundRect">
            <a:avLst>
              <a:gd name="adj" fmla="val 5500"/>
            </a:avLst>
          </a:prstGeom>
          <a:solidFill>
            <a:srgbClr val="FFFFFF"/>
          </a:solidFill>
          <a:ln w="12700">
            <a:solidFill>
              <a:srgbClr val="E4E3D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3401568" y="3090672"/>
            <a:ext cx="1554480" cy="640080"/>
          </a:xfrm>
          <a:prstGeom prst="rect">
            <a:avLst/>
          </a:prstGeom>
          <a:noFill/>
        </p:spPr>
        <p:txBody>
          <a:bodyPr wrap="square" anchor="ctr" lIns="38100" rIns="38100" tIns="25400" bIns="25400">
            <a:spAutoFit/>
          </a:bodyPr>
          <a:lstStyle/>
          <a:p>
            <a:pPr algn="l">
              <a:lnSpc>
                <a:spcPct val="106000"/>
              </a:lnSpc>
              <a:spcBef>
                <a:spcPts val="0"/>
              </a:spcBef>
              <a:spcAft>
                <a:spcPts val="200"/>
              </a:spcAft>
            </a:pPr>
            <a:r>
              <a:rPr sz="1200" b="1" i="0">
                <a:solidFill>
                  <a:srgbClr val="20242E"/>
                </a:solidFill>
                <a:latin typeface="Inter"/>
              </a:rPr>
              <a:t>la lengua</a:t>
            </a:r>
          </a:p>
        </p:txBody>
      </p:sp>
      <p:sp>
        <p:nvSpPr>
          <p:cNvPr id="38" name="TextBox 37"/>
          <p:cNvSpPr txBox="1"/>
          <p:nvPr/>
        </p:nvSpPr>
        <p:spPr>
          <a:xfrm>
            <a:off x="4937760" y="3090672"/>
            <a:ext cx="1005840" cy="640080"/>
          </a:xfrm>
          <a:prstGeom prst="rect">
            <a:avLst/>
          </a:prstGeom>
          <a:noFill/>
        </p:spPr>
        <p:txBody>
          <a:bodyPr wrap="square" anchor="ctr" lIns="38100" rIns="38100" tIns="25400" bIns="25400">
            <a:spAutoFit/>
          </a:bodyPr>
          <a:lstStyle/>
          <a:p>
            <a:pPr algn="l">
              <a:lnSpc>
                <a:spcPct val="106000"/>
              </a:lnSpc>
              <a:spcBef>
                <a:spcPts val="0"/>
              </a:spcBef>
              <a:spcAft>
                <a:spcPts val="200"/>
              </a:spcAft>
            </a:pPr>
            <a:r>
              <a:rPr sz="1150" b="0" i="0">
                <a:solidFill>
                  <a:srgbClr val="7C56A9"/>
                </a:solidFill>
                <a:latin typeface="Inter"/>
              </a:rPr>
              <a:t>→ de taal</a:t>
            </a:r>
          </a:p>
        </p:txBody>
      </p:sp>
      <p:sp>
        <p:nvSpPr>
          <p:cNvPr id="39" name="Rounded Rectangle 38"/>
          <p:cNvSpPr/>
          <p:nvPr/>
        </p:nvSpPr>
        <p:spPr>
          <a:xfrm>
            <a:off x="6126480" y="3090672"/>
            <a:ext cx="2743200" cy="640080"/>
          </a:xfrm>
          <a:prstGeom prst="roundRect">
            <a:avLst>
              <a:gd name="adj" fmla="val 5500"/>
            </a:avLst>
          </a:prstGeom>
          <a:solidFill>
            <a:srgbClr val="FFFFFF"/>
          </a:solidFill>
          <a:ln w="12700">
            <a:solidFill>
              <a:srgbClr val="E4E3D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236208" y="3090672"/>
            <a:ext cx="1554480" cy="640080"/>
          </a:xfrm>
          <a:prstGeom prst="rect">
            <a:avLst/>
          </a:prstGeom>
          <a:noFill/>
        </p:spPr>
        <p:txBody>
          <a:bodyPr wrap="square" anchor="ctr" lIns="38100" rIns="38100" tIns="25400" bIns="25400">
            <a:spAutoFit/>
          </a:bodyPr>
          <a:lstStyle/>
          <a:p>
            <a:pPr algn="l">
              <a:lnSpc>
                <a:spcPct val="106000"/>
              </a:lnSpc>
              <a:spcBef>
                <a:spcPts val="0"/>
              </a:spcBef>
              <a:spcAft>
                <a:spcPts val="200"/>
              </a:spcAft>
            </a:pPr>
            <a:r>
              <a:rPr sz="1200" b="1" i="0">
                <a:solidFill>
                  <a:srgbClr val="20242E"/>
                </a:solidFill>
                <a:latin typeface="Inter"/>
              </a:rPr>
              <a:t>el idioma</a:t>
            </a:r>
          </a:p>
        </p:txBody>
      </p:sp>
      <p:sp>
        <p:nvSpPr>
          <p:cNvPr id="41" name="TextBox 40"/>
          <p:cNvSpPr txBox="1"/>
          <p:nvPr/>
        </p:nvSpPr>
        <p:spPr>
          <a:xfrm>
            <a:off x="7772400" y="3090672"/>
            <a:ext cx="1005840" cy="640080"/>
          </a:xfrm>
          <a:prstGeom prst="rect">
            <a:avLst/>
          </a:prstGeom>
          <a:noFill/>
        </p:spPr>
        <p:txBody>
          <a:bodyPr wrap="square" anchor="ctr" lIns="38100" rIns="38100" tIns="25400" bIns="25400">
            <a:spAutoFit/>
          </a:bodyPr>
          <a:lstStyle/>
          <a:p>
            <a:pPr algn="l">
              <a:lnSpc>
                <a:spcPct val="106000"/>
              </a:lnSpc>
              <a:spcBef>
                <a:spcPts val="0"/>
              </a:spcBef>
              <a:spcAft>
                <a:spcPts val="200"/>
              </a:spcAft>
            </a:pPr>
            <a:r>
              <a:rPr sz="1150" b="0" i="0">
                <a:solidFill>
                  <a:srgbClr val="7C56A9"/>
                </a:solidFill>
                <a:latin typeface="Inter"/>
              </a:rPr>
              <a:t>→ de taal (m!)</a:t>
            </a:r>
          </a:p>
        </p:txBody>
      </p:sp>
      <p:sp>
        <p:nvSpPr>
          <p:cNvPr id="42" name="Rounded Rectangle 41"/>
          <p:cNvSpPr/>
          <p:nvPr/>
        </p:nvSpPr>
        <p:spPr>
          <a:xfrm>
            <a:off x="8961120" y="3090672"/>
            <a:ext cx="2743200" cy="640080"/>
          </a:xfrm>
          <a:prstGeom prst="roundRect">
            <a:avLst>
              <a:gd name="adj" fmla="val 5500"/>
            </a:avLst>
          </a:prstGeom>
          <a:solidFill>
            <a:srgbClr val="FFFFFF"/>
          </a:solidFill>
          <a:ln w="12700">
            <a:solidFill>
              <a:srgbClr val="E4E3D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9070848" y="3090672"/>
            <a:ext cx="1554480" cy="640080"/>
          </a:xfrm>
          <a:prstGeom prst="rect">
            <a:avLst/>
          </a:prstGeom>
          <a:noFill/>
        </p:spPr>
        <p:txBody>
          <a:bodyPr wrap="square" anchor="ctr" lIns="38100" rIns="38100" tIns="25400" bIns="25400">
            <a:spAutoFit/>
          </a:bodyPr>
          <a:lstStyle/>
          <a:p>
            <a:pPr algn="l">
              <a:lnSpc>
                <a:spcPct val="106000"/>
              </a:lnSpc>
              <a:spcBef>
                <a:spcPts val="0"/>
              </a:spcBef>
              <a:spcAft>
                <a:spcPts val="200"/>
              </a:spcAft>
            </a:pPr>
            <a:r>
              <a:rPr sz="1200" b="1" i="0">
                <a:solidFill>
                  <a:srgbClr val="20242E"/>
                </a:solidFill>
                <a:latin typeface="Inter"/>
              </a:rPr>
              <a:t>la nacionalidad</a:t>
            </a:r>
          </a:p>
        </p:txBody>
      </p:sp>
      <p:sp>
        <p:nvSpPr>
          <p:cNvPr id="44" name="TextBox 43"/>
          <p:cNvSpPr txBox="1"/>
          <p:nvPr/>
        </p:nvSpPr>
        <p:spPr>
          <a:xfrm>
            <a:off x="10607040" y="3090672"/>
            <a:ext cx="1005840" cy="640080"/>
          </a:xfrm>
          <a:prstGeom prst="rect">
            <a:avLst/>
          </a:prstGeom>
          <a:noFill/>
        </p:spPr>
        <p:txBody>
          <a:bodyPr wrap="square" anchor="ctr" lIns="38100" rIns="38100" tIns="25400" bIns="25400">
            <a:spAutoFit/>
          </a:bodyPr>
          <a:lstStyle/>
          <a:p>
            <a:pPr algn="l">
              <a:lnSpc>
                <a:spcPct val="106000"/>
              </a:lnSpc>
              <a:spcBef>
                <a:spcPts val="0"/>
              </a:spcBef>
              <a:spcAft>
                <a:spcPts val="200"/>
              </a:spcAft>
            </a:pPr>
            <a:r>
              <a:rPr sz="1150" b="0" i="0">
                <a:solidFill>
                  <a:srgbClr val="7C56A9"/>
                </a:solidFill>
                <a:latin typeface="Inter"/>
              </a:rPr>
              <a:t>→ nationaliteit</a:t>
            </a:r>
          </a:p>
        </p:txBody>
      </p:sp>
      <p:sp>
        <p:nvSpPr>
          <p:cNvPr id="45" name="Rounded Rectangle 44"/>
          <p:cNvSpPr/>
          <p:nvPr/>
        </p:nvSpPr>
        <p:spPr>
          <a:xfrm>
            <a:off x="457200" y="6053328"/>
            <a:ext cx="2093976" cy="365760"/>
          </a:xfrm>
          <a:prstGeom prst="roundRect">
            <a:avLst>
              <a:gd name="adj" fmla="val 50000"/>
            </a:avLst>
          </a:prstGeom>
          <a:solidFill>
            <a:srgbClr val="7C56A9"/>
          </a:solidFill>
          <a:ln w="12700">
            <a:solidFill>
              <a:srgbClr val="E4E3DE"/>
            </a:solidFill>
          </a:ln>
          <a:effectLst/>
        </p:spPr>
        <p:style>
          <a:lnRef idx="1">
            <a:schemeClr val="accent1"/>
          </a:lnRef>
          <a:fillRef idx="3">
            <a:schemeClr val="accent1"/>
          </a:fillRef>
          <a:effectRef idx="2">
            <a:schemeClr val="accent1"/>
          </a:effectRef>
          <a:fontRef idx="minor">
            <a:schemeClr val="lt1"/>
          </a:fontRef>
        </p:style>
        <p:txBody>
          <a:bodyPr rtlCol="0" anchor="ctr" tIns="12700" bIns="12700"/>
          <a:lstStyle/>
          <a:p>
            <a:pPr algn="ctr"/>
            <a:r>
              <a:rPr sz="1050" b="1">
                <a:solidFill>
                  <a:srgbClr val="FFFFFF"/>
                </a:solidFill>
                <a:latin typeface="Inter"/>
              </a:rPr>
              <a:t>▶  Mostrar solución</a:t>
            </a:r>
          </a:p>
        </p:txBody>
      </p:sp>
      <p:sp>
        <p:nvSpPr>
          <p:cNvPr id="46" name="Rounded Rectangle 45"/>
          <p:cNvSpPr/>
          <p:nvPr/>
        </p:nvSpPr>
        <p:spPr>
          <a:xfrm>
            <a:off x="2697480" y="6053328"/>
            <a:ext cx="1088136" cy="365760"/>
          </a:xfrm>
          <a:prstGeom prst="roundRect">
            <a:avLst>
              <a:gd name="adj" fmla="val 50000"/>
            </a:avLst>
          </a:prstGeom>
          <a:solidFill>
            <a:srgbClr val="FFFFFF"/>
          </a:solidFill>
          <a:ln w="12700">
            <a:solidFill>
              <a:srgbClr val="E4E3DE"/>
            </a:solidFill>
          </a:ln>
          <a:effectLst/>
        </p:spPr>
        <p:style>
          <a:lnRef idx="1">
            <a:schemeClr val="accent1"/>
          </a:lnRef>
          <a:fillRef idx="3">
            <a:schemeClr val="accent1"/>
          </a:fillRef>
          <a:effectRef idx="2">
            <a:schemeClr val="accent1"/>
          </a:effectRef>
          <a:fontRef idx="minor">
            <a:schemeClr val="lt1"/>
          </a:fontRef>
        </p:style>
        <p:txBody>
          <a:bodyPr rtlCol="0" anchor="ctr" tIns="12700" bIns="12700"/>
          <a:lstStyle/>
          <a:p>
            <a:pPr algn="ctr"/>
            <a:r>
              <a:rPr sz="1050" b="1">
                <a:solidFill>
                  <a:srgbClr val="5B3E83"/>
                </a:solidFill>
                <a:latin typeface="Inter"/>
              </a:rPr>
              <a:t>⏭  Saltar</a:t>
            </a:r>
          </a:p>
        </p:txBody>
      </p:sp>
      <p:sp>
        <p:nvSpPr>
          <p:cNvPr id="47" name="Rounded Rectangle 46">
            <a:hlinkClick action="ppaction://hlinksldjump" r:id="rId3"/>
          </p:cNvPr>
          <p:cNvSpPr/>
          <p:nvPr/>
        </p:nvSpPr>
        <p:spPr>
          <a:xfrm>
            <a:off x="3931920" y="6053328"/>
            <a:ext cx="1691639" cy="365760"/>
          </a:xfrm>
          <a:prstGeom prst="roundRect">
            <a:avLst>
              <a:gd name="adj" fmla="val 50000"/>
            </a:avLst>
          </a:prstGeom>
          <a:solidFill>
            <a:srgbClr val="FFFFFF"/>
          </a:solidFill>
          <a:ln w="12700">
            <a:solidFill>
              <a:srgbClr val="E4E3DE"/>
            </a:solidFill>
          </a:ln>
          <a:effectLst/>
        </p:spPr>
        <p:style>
          <a:lnRef idx="1">
            <a:schemeClr val="accent1"/>
          </a:lnRef>
          <a:fillRef idx="3">
            <a:schemeClr val="accent1"/>
          </a:fillRef>
          <a:effectRef idx="2">
            <a:schemeClr val="accent1"/>
          </a:effectRef>
          <a:fontRef idx="minor">
            <a:schemeClr val="lt1"/>
          </a:fontRef>
        </p:style>
        <p:txBody>
          <a:bodyPr rtlCol="0" anchor="ctr" tIns="12700" bIns="12700"/>
          <a:lstStyle/>
          <a:p>
            <a:pPr algn="ctr"/>
            <a:r>
              <a:rPr sz="1050" b="1">
                <a:solidFill>
                  <a:srgbClr val="5B3E83"/>
                </a:solidFill>
                <a:latin typeface="Inter"/>
              </a:rPr>
              <a:t>⌂  Menú (dia 2)</a:t>
            </a:r>
          </a:p>
        </p:txBody>
      </p:sp>
      <p:sp>
        <p:nvSpPr>
          <p:cNvPr id="48" name="TextBox 47"/>
          <p:cNvSpPr txBox="1"/>
          <p:nvPr/>
        </p:nvSpPr>
        <p:spPr>
          <a:xfrm>
            <a:off x="8321040" y="6053328"/>
            <a:ext cx="3383280" cy="365760"/>
          </a:xfrm>
          <a:prstGeom prst="rect">
            <a:avLst/>
          </a:prstGeom>
          <a:noFill/>
        </p:spPr>
        <p:txBody>
          <a:bodyPr wrap="square" anchor="ctr" lIns="38100" rIns="38100" tIns="25400" bIns="25400">
            <a:spAutoFit/>
          </a:bodyPr>
          <a:lstStyle/>
          <a:p>
            <a:pPr algn="r">
              <a:lnSpc>
                <a:spcPct val="106000"/>
              </a:lnSpc>
              <a:spcBef>
                <a:spcPts val="0"/>
              </a:spcBef>
              <a:spcAft>
                <a:spcPts val="200"/>
              </a:spcAft>
            </a:pPr>
            <a:r>
              <a:rPr sz="850" b="0" i="1">
                <a:solidFill>
                  <a:srgbClr val="6A6E78"/>
                </a:solidFill>
                <a:latin typeface="Inter"/>
              </a:rPr>
              <a:t>Noodroute (§5): werkt zonder audio/internet</a:t>
            </a:r>
          </a:p>
        </p:txBody>
      </p:sp>
      <p:sp>
        <p:nvSpPr>
          <p:cNvPr id="49" name="Rounded Rectangle 48"/>
          <p:cNvSpPr/>
          <p:nvPr/>
        </p:nvSpPr>
        <p:spPr>
          <a:xfrm>
            <a:off x="457200" y="4572000"/>
            <a:ext cx="11247120" cy="822960"/>
          </a:xfrm>
          <a:prstGeom prst="roundRect">
            <a:avLst>
              <a:gd name="adj" fmla="val 6000"/>
            </a:avLst>
          </a:prstGeom>
          <a:solidFill>
            <a:srgbClr val="EEE8F5"/>
          </a:solidFill>
          <a:ln w="19050">
            <a:solidFill>
              <a:srgbClr val="7C56A9"/>
            </a:solidFill>
          </a:ln>
          <a:effectLst/>
        </p:spPr>
        <p:style>
          <a:lnRef idx="1">
            <a:schemeClr val="accent1"/>
          </a:lnRef>
          <a:fillRef idx="3">
            <a:schemeClr val="accent1"/>
          </a:fillRef>
          <a:effectRef idx="2">
            <a:schemeClr val="accent1"/>
          </a:effectRef>
          <a:fontRef idx="minor">
            <a:schemeClr val="lt1"/>
          </a:fontRef>
        </p:style>
        <p:txBody>
          <a:bodyPr rtlCol="0" anchor="ctr" wrap="square" lIns="127000" rIns="127000" tIns="139700" bIns="76200"/>
          <a:lstStyle/>
          <a:p>
            <a:pPr algn="ctr">
              <a:lnSpc>
                <a:spcPct val="102000"/>
              </a:lnSpc>
              <a:spcBef>
                <a:spcPts val="0"/>
              </a:spcBef>
              <a:spcAft>
                <a:spcPts val="300"/>
              </a:spcAft>
            </a:pPr>
            <a:r>
              <a:rPr sz="1200" b="1" i="0">
                <a:solidFill>
                  <a:srgbClr val="5B3E83"/>
                </a:solidFill>
                <a:latin typeface="Inter"/>
              </a:rPr>
              <a:t>Zin: </a:t>
            </a:r>
            <a:r>
              <a:rPr sz="1200" b="0" i="0">
                <a:solidFill>
                  <a:srgbClr val="5B3E83"/>
                </a:solidFill>
                <a:latin typeface="Inter"/>
              </a:rPr>
              <a:t>Soy de España, soy español/a y hablo español. </a:t>
            </a:r>
            <a:r>
              <a:rPr sz="1200" b="0" i="0">
                <a:solidFill>
                  <a:srgbClr val="DC2626"/>
                </a:solidFill>
                <a:latin typeface="Inter"/>
              </a:rPr>
              <a:t>🔴 nacionalidades met kleine letter; landen met hoofdletter.</a:t>
            </a:r>
          </a:p>
          <a:p>
            <a:pPr>
              <a:lnSpc>
                <a:spcPct val="102000"/>
              </a:lnSpc>
              <a:spcBef>
                <a:spcPts val="0"/>
              </a:spcBef>
              <a:spcAft>
                <a:spcPts val="300"/>
              </a:spcAft>
            </a:pPr>
            <a:r>
              <a:rPr sz="1200" b="0" i="0">
                <a:solidFill>
                  <a:srgbClr val="5B3E83"/>
                </a:solidFill>
                <a:latin typeface="Inter"/>
              </a:rPr>
              <a:t>Números: veinte (20) · cincuenta (50) · cien (100).</a:t>
            </a:r>
          </a:p>
        </p:txBody>
      </p:sp>
      <p:sp>
        <p:nvSpPr>
          <p:cNvPr id="50" name="Rounded Rectangle 49"/>
          <p:cNvSpPr/>
          <p:nvPr/>
        </p:nvSpPr>
        <p:spPr>
          <a:xfrm>
            <a:off x="594360" y="4443984"/>
            <a:ext cx="1548993" cy="292608"/>
          </a:xfrm>
          <a:prstGeom prst="roundRect">
            <a:avLst>
              <a:gd name="adj" fmla="val 50000"/>
            </a:avLst>
          </a:prstGeom>
          <a:solidFill>
            <a:srgbClr val="7C56A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88900" rIns="88900" tIns="12700" bIns="12700"/>
          <a:lstStyle/>
          <a:p>
            <a:pPr algn="ctr"/>
            <a:r>
              <a:rPr sz="950" b="1">
                <a:solidFill>
                  <a:srgbClr val="FFFFFF"/>
                </a:solidFill>
                <a:latin typeface="Inter"/>
              </a:rPr>
              <a:t>SOLUCIÓN · docent</a:t>
            </a:r>
          </a:p>
        </p:txBody>
      </p:sp>
      <p:sp>
        <p:nvSpPr>
          <p:cNvPr id="51" name="Rectangle 50"/>
          <p:cNvSpPr/>
          <p:nvPr/>
        </p:nvSpPr>
        <p:spPr>
          <a:xfrm>
            <a:off x="0" y="6547104"/>
            <a:ext cx="12191695" cy="310896"/>
          </a:xfrm>
          <a:prstGeom prst="rect">
            <a:avLst/>
          </a:prstGeom>
          <a:solidFill>
            <a:srgbClr val="F3EE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411480" y="6565392"/>
            <a:ext cx="5486400" cy="274320"/>
          </a:xfrm>
          <a:prstGeom prst="rect">
            <a:avLst/>
          </a:prstGeom>
          <a:noFill/>
        </p:spPr>
        <p:txBody>
          <a:bodyPr wrap="square" anchor="ctr" lIns="38100" rIns="38100" tIns="25400" bIns="25400">
            <a:spAutoFit/>
          </a:bodyPr>
          <a:lstStyle/>
          <a:p>
            <a:pPr algn="l">
              <a:lnSpc>
                <a:spcPct val="106000"/>
              </a:lnSpc>
              <a:spcBef>
                <a:spcPts val="0"/>
              </a:spcBef>
              <a:spcAft>
                <a:spcPts val="200"/>
              </a:spcAft>
            </a:pPr>
            <a:r>
              <a:rPr sz="1100" b="1" i="0">
                <a:solidFill>
                  <a:srgbClr val="7C56A9"/>
                </a:solidFill>
                <a:latin typeface="Inter"/>
              </a:rPr>
              <a:t>● </a:t>
            </a:r>
            <a:r>
              <a:rPr sz="950" b="0" i="0">
                <a:solidFill>
                  <a:srgbClr val="6A6E78"/>
                </a:solidFill>
                <a:latin typeface="Inter"/>
              </a:rPr>
              <a:t>U0 · ¡VOLVEMOS!   ·   C6+ · el reencuentro</a:t>
            </a:r>
          </a:p>
        </p:txBody>
      </p:sp>
      <p:sp>
        <p:nvSpPr>
          <p:cNvPr id="53" name="TextBox 52"/>
          <p:cNvSpPr txBox="1"/>
          <p:nvPr/>
        </p:nvSpPr>
        <p:spPr>
          <a:xfrm>
            <a:off x="8686800" y="6565392"/>
            <a:ext cx="3063240" cy="274320"/>
          </a:xfrm>
          <a:prstGeom prst="rect">
            <a:avLst/>
          </a:prstGeom>
          <a:noFill/>
        </p:spPr>
        <p:txBody>
          <a:bodyPr wrap="square" anchor="ctr" lIns="38100" rIns="38100" tIns="25400" bIns="25400">
            <a:spAutoFit/>
          </a:bodyPr>
          <a:lstStyle/>
          <a:p>
            <a:pPr algn="r">
              <a:lnSpc>
                <a:spcPct val="106000"/>
              </a:lnSpc>
              <a:spcBef>
                <a:spcPts val="0"/>
              </a:spcBef>
              <a:spcAft>
                <a:spcPts val="200"/>
              </a:spcAft>
            </a:pPr>
            <a:r>
              <a:rPr sz="900" b="0" i="1">
                <a:solidFill>
                  <a:srgbClr val="6A6E78"/>
                </a:solidFill>
                <a:latin typeface="Inter"/>
              </a:rPr>
              <a:t>Docentenversie — met oplossingen</a:t>
            </a:r>
          </a:p>
        </p:txBody>
      </p:sp>
      <p:sp>
        <p:nvSpPr>
          <p:cNvPr id="54" name="TextBox 53"/>
          <p:cNvSpPr txBox="1"/>
          <p:nvPr/>
        </p:nvSpPr>
        <p:spPr>
          <a:xfrm>
            <a:off x="11475720" y="6565392"/>
            <a:ext cx="457200" cy="274320"/>
          </a:xfrm>
          <a:prstGeom prst="rect">
            <a:avLst/>
          </a:prstGeom>
          <a:noFill/>
        </p:spPr>
        <p:txBody>
          <a:bodyPr wrap="square" anchor="ctr" lIns="38100" rIns="38100" tIns="25400" bIns="25400">
            <a:spAutoFit/>
          </a:bodyPr>
          <a:lstStyle/>
          <a:p>
            <a:pPr algn="r">
              <a:lnSpc>
                <a:spcPct val="106000"/>
              </a:lnSpc>
              <a:spcBef>
                <a:spcPts val="0"/>
              </a:spcBef>
              <a:spcAft>
                <a:spcPts val="200"/>
              </a:spcAft>
            </a:pPr>
            <a:r>
              <a:rPr sz="950" b="1" i="0">
                <a:solidFill>
                  <a:srgbClr val="5B3E83"/>
                </a:solidFill>
                <a:latin typeface="Inter"/>
              </a:rPr>
              <a:t>14</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500"/>
                                        <p:tgtEl>
                                          <p:spTgt spid="11"/>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4"/>
                                        </p:tgtEl>
                                        <p:attrNameLst>
                                          <p:attrName>style.visibility</p:attrName>
                                        </p:attrNameLst>
                                      </p:cBhvr>
                                      <p:to>
                                        <p:strVal val="visible"/>
                                      </p:to>
                                    </p:set>
                                    <p:animEffect transition="in" filter="fade">
                                      <p:cBhvr>
                                        <p:cTn id="12" dur="500"/>
                                        <p:tgtEl>
                                          <p:spTgt spid="1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17"/>
                                        </p:tgtEl>
                                        <p:attrNameLst>
                                          <p:attrName>style.visibility</p:attrName>
                                        </p:attrNameLst>
                                      </p:cBhvr>
                                      <p:to>
                                        <p:strVal val="visible"/>
                                      </p:to>
                                    </p:set>
                                    <p:animEffect transition="in" filter="fade">
                                      <p:cBhvr>
                                        <p:cTn id="17" dur="500"/>
                                        <p:tgtEl>
                                          <p:spTgt spid="17"/>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20"/>
                                        </p:tgtEl>
                                        <p:attrNameLst>
                                          <p:attrName>style.visibility</p:attrName>
                                        </p:attrNameLst>
                                      </p:cBhvr>
                                      <p:to>
                                        <p:strVal val="visible"/>
                                      </p:to>
                                    </p:set>
                                    <p:animEffect transition="in" filter="fade">
                                      <p:cBhvr>
                                        <p:cTn id="22" dur="500"/>
                                        <p:tgtEl>
                                          <p:spTgt spid="20"/>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23"/>
                                        </p:tgtEl>
                                        <p:attrNameLst>
                                          <p:attrName>style.visibility</p:attrName>
                                        </p:attrNameLst>
                                      </p:cBhvr>
                                      <p:to>
                                        <p:strVal val="visible"/>
                                      </p:to>
                                    </p:set>
                                    <p:animEffect transition="in" filter="fade">
                                      <p:cBhvr>
                                        <p:cTn id="27" dur="500"/>
                                        <p:tgtEl>
                                          <p:spTgt spid="23"/>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26"/>
                                        </p:tgtEl>
                                        <p:attrNameLst>
                                          <p:attrName>style.visibility</p:attrName>
                                        </p:attrNameLst>
                                      </p:cBhvr>
                                      <p:to>
                                        <p:strVal val="visible"/>
                                      </p:to>
                                    </p:set>
                                    <p:animEffect transition="in" filter="fade">
                                      <p:cBhvr>
                                        <p:cTn id="32" dur="500"/>
                                        <p:tgtEl>
                                          <p:spTgt spid="26"/>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grpId="0" nodeType="clickEffect">
                                  <p:stCondLst>
                                    <p:cond delay="0"/>
                                  </p:stCondLst>
                                  <p:childTnLst>
                                    <p:set>
                                      <p:cBhvr>
                                        <p:cTn id="36" dur="1" fill="hold">
                                          <p:stCondLst>
                                            <p:cond delay="0"/>
                                          </p:stCondLst>
                                        </p:cTn>
                                        <p:tgtEl>
                                          <p:spTgt spid="29"/>
                                        </p:tgtEl>
                                        <p:attrNameLst>
                                          <p:attrName>style.visibility</p:attrName>
                                        </p:attrNameLst>
                                      </p:cBhvr>
                                      <p:to>
                                        <p:strVal val="visible"/>
                                      </p:to>
                                    </p:set>
                                    <p:animEffect transition="in" filter="fade">
                                      <p:cBhvr>
                                        <p:cTn id="37" dur="500"/>
                                        <p:tgtEl>
                                          <p:spTgt spid="29"/>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grpId="0" nodeType="clickEffect">
                                  <p:stCondLst>
                                    <p:cond delay="0"/>
                                  </p:stCondLst>
                                  <p:childTnLst>
                                    <p:set>
                                      <p:cBhvr>
                                        <p:cTn id="41" dur="1" fill="hold">
                                          <p:stCondLst>
                                            <p:cond delay="0"/>
                                          </p:stCondLst>
                                        </p:cTn>
                                        <p:tgtEl>
                                          <p:spTgt spid="32"/>
                                        </p:tgtEl>
                                        <p:attrNameLst>
                                          <p:attrName>style.visibility</p:attrName>
                                        </p:attrNameLst>
                                      </p:cBhvr>
                                      <p:to>
                                        <p:strVal val="visible"/>
                                      </p:to>
                                    </p:set>
                                    <p:animEffect transition="in" filter="fade">
                                      <p:cBhvr>
                                        <p:cTn id="42" dur="500"/>
                                        <p:tgtEl>
                                          <p:spTgt spid="32"/>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grpId="0" nodeType="clickEffect">
                                  <p:stCondLst>
                                    <p:cond delay="0"/>
                                  </p:stCondLst>
                                  <p:childTnLst>
                                    <p:set>
                                      <p:cBhvr>
                                        <p:cTn id="46" dur="1" fill="hold">
                                          <p:stCondLst>
                                            <p:cond delay="0"/>
                                          </p:stCondLst>
                                        </p:cTn>
                                        <p:tgtEl>
                                          <p:spTgt spid="35"/>
                                        </p:tgtEl>
                                        <p:attrNameLst>
                                          <p:attrName>style.visibility</p:attrName>
                                        </p:attrNameLst>
                                      </p:cBhvr>
                                      <p:to>
                                        <p:strVal val="visible"/>
                                      </p:to>
                                    </p:set>
                                    <p:animEffect transition="in" filter="fade">
                                      <p:cBhvr>
                                        <p:cTn id="47" dur="500"/>
                                        <p:tgtEl>
                                          <p:spTgt spid="35"/>
                                        </p:tgtEl>
                                      </p:cBhvr>
                                    </p:animEffect>
                                  </p:childTnLst>
                                </p:cTn>
                              </p:par>
                            </p:childTnLst>
                          </p:cTn>
                        </p:par>
                      </p:childTnLst>
                    </p:cTn>
                  </p:par>
                  <p:par>
                    <p:cTn id="48" fill="hold">
                      <p:stCondLst>
                        <p:cond delay="indefinite"/>
                      </p:stCondLst>
                      <p:childTnLst>
                        <p:par>
                          <p:cTn id="49" fill="hold">
                            <p:stCondLst>
                              <p:cond delay="0"/>
                            </p:stCondLst>
                            <p:childTnLst>
                              <p:par>
                                <p:cTn id="50" presetID="10" presetClass="entr" presetSubtype="0" fill="hold" grpId="0" nodeType="clickEffect">
                                  <p:stCondLst>
                                    <p:cond delay="0"/>
                                  </p:stCondLst>
                                  <p:childTnLst>
                                    <p:set>
                                      <p:cBhvr>
                                        <p:cTn id="51" dur="1" fill="hold">
                                          <p:stCondLst>
                                            <p:cond delay="0"/>
                                          </p:stCondLst>
                                        </p:cTn>
                                        <p:tgtEl>
                                          <p:spTgt spid="38"/>
                                        </p:tgtEl>
                                        <p:attrNameLst>
                                          <p:attrName>style.visibility</p:attrName>
                                        </p:attrNameLst>
                                      </p:cBhvr>
                                      <p:to>
                                        <p:strVal val="visible"/>
                                      </p:to>
                                    </p:set>
                                    <p:animEffect transition="in" filter="fade">
                                      <p:cBhvr>
                                        <p:cTn id="52" dur="500"/>
                                        <p:tgtEl>
                                          <p:spTgt spid="38"/>
                                        </p:tgtEl>
                                      </p:cBhvr>
                                    </p:animEffect>
                                  </p:childTnLst>
                                </p:cTn>
                              </p:par>
                            </p:childTnLst>
                          </p:cTn>
                        </p:par>
                      </p:childTnLst>
                    </p:cTn>
                  </p:par>
                  <p:par>
                    <p:cTn id="53" fill="hold">
                      <p:stCondLst>
                        <p:cond delay="indefinite"/>
                      </p:stCondLst>
                      <p:childTnLst>
                        <p:par>
                          <p:cTn id="54" fill="hold">
                            <p:stCondLst>
                              <p:cond delay="0"/>
                            </p:stCondLst>
                            <p:childTnLst>
                              <p:par>
                                <p:cTn id="55" presetID="10" presetClass="entr" presetSubtype="0" fill="hold" grpId="0" nodeType="clickEffect">
                                  <p:stCondLst>
                                    <p:cond delay="0"/>
                                  </p:stCondLst>
                                  <p:childTnLst>
                                    <p:set>
                                      <p:cBhvr>
                                        <p:cTn id="56" dur="1" fill="hold">
                                          <p:stCondLst>
                                            <p:cond delay="0"/>
                                          </p:stCondLst>
                                        </p:cTn>
                                        <p:tgtEl>
                                          <p:spTgt spid="41"/>
                                        </p:tgtEl>
                                        <p:attrNameLst>
                                          <p:attrName>style.visibility</p:attrName>
                                        </p:attrNameLst>
                                      </p:cBhvr>
                                      <p:to>
                                        <p:strVal val="visible"/>
                                      </p:to>
                                    </p:set>
                                    <p:animEffect transition="in" filter="fade">
                                      <p:cBhvr>
                                        <p:cTn id="57" dur="500"/>
                                        <p:tgtEl>
                                          <p:spTgt spid="41"/>
                                        </p:tgtEl>
                                      </p:cBhvr>
                                    </p:animEffect>
                                  </p:childTnLst>
                                </p:cTn>
                              </p:par>
                            </p:childTnLst>
                          </p:cTn>
                        </p:par>
                      </p:childTnLst>
                    </p:cTn>
                  </p:par>
                  <p:par>
                    <p:cTn id="58" fill="hold">
                      <p:stCondLst>
                        <p:cond delay="indefinite"/>
                      </p:stCondLst>
                      <p:childTnLst>
                        <p:par>
                          <p:cTn id="59" fill="hold">
                            <p:stCondLst>
                              <p:cond delay="0"/>
                            </p:stCondLst>
                            <p:childTnLst>
                              <p:par>
                                <p:cTn id="60" presetID="10" presetClass="entr" presetSubtype="0" fill="hold" grpId="0" nodeType="clickEffect">
                                  <p:stCondLst>
                                    <p:cond delay="0"/>
                                  </p:stCondLst>
                                  <p:childTnLst>
                                    <p:set>
                                      <p:cBhvr>
                                        <p:cTn id="61" dur="1" fill="hold">
                                          <p:stCondLst>
                                            <p:cond delay="0"/>
                                          </p:stCondLst>
                                        </p:cTn>
                                        <p:tgtEl>
                                          <p:spTgt spid="44"/>
                                        </p:tgtEl>
                                        <p:attrNameLst>
                                          <p:attrName>style.visibility</p:attrName>
                                        </p:attrNameLst>
                                      </p:cBhvr>
                                      <p:to>
                                        <p:strVal val="visible"/>
                                      </p:to>
                                    </p:set>
                                    <p:animEffect transition="in" filter="fade">
                                      <p:cBhvr>
                                        <p:cTn id="62" dur="500"/>
                                        <p:tgtEl>
                                          <p:spTgt spid="44"/>
                                        </p:tgtEl>
                                      </p:cBhvr>
                                    </p:animEffect>
                                  </p:childTnLst>
                                </p:cTn>
                              </p:par>
                            </p:childTnLst>
                          </p:cTn>
                        </p:par>
                      </p:childTnLst>
                    </p:cTn>
                  </p:par>
                  <p:par>
                    <p:cTn id="63" fill="hold">
                      <p:stCondLst>
                        <p:cond delay="indefinite"/>
                      </p:stCondLst>
                      <p:childTnLst>
                        <p:par>
                          <p:cTn id="64" fill="hold">
                            <p:stCondLst>
                              <p:cond delay="0"/>
                            </p:stCondLst>
                            <p:childTnLst>
                              <p:par>
                                <p:cTn id="65" presetID="10" presetClass="entr" presetSubtype="0" fill="hold" grpId="0" nodeType="clickEffect">
                                  <p:stCondLst>
                                    <p:cond delay="0"/>
                                  </p:stCondLst>
                                  <p:childTnLst>
                                    <p:set>
                                      <p:cBhvr>
                                        <p:cTn id="66" dur="1" fill="hold">
                                          <p:stCondLst>
                                            <p:cond delay="0"/>
                                          </p:stCondLst>
                                        </p:cTn>
                                        <p:tgtEl>
                                          <p:spTgt spid="49"/>
                                        </p:tgtEl>
                                        <p:attrNameLst>
                                          <p:attrName>style.visibility</p:attrName>
                                        </p:attrNameLst>
                                      </p:cBhvr>
                                      <p:to>
                                        <p:strVal val="visible"/>
                                      </p:to>
                                    </p:set>
                                    <p:animEffect transition="in" filter="fade">
                                      <p:cBhvr>
                                        <p:cTn id="67" dur="500"/>
                                        <p:tgtEl>
                                          <p:spTgt spid="49"/>
                                        </p:tgtEl>
                                      </p:cBhvr>
                                    </p:animEffect>
                                  </p:childTnLst>
                                </p:cTn>
                              </p:par>
                            </p:childTnLst>
                          </p:cTn>
                        </p:par>
                      </p:childTnLst>
                    </p:cTn>
                  </p:par>
                  <p:par>
                    <p:cTn id="68" fill="hold">
                      <p:stCondLst>
                        <p:cond delay="indefinite"/>
                      </p:stCondLst>
                      <p:childTnLst>
                        <p:par>
                          <p:cTn id="69" fill="hold">
                            <p:stCondLst>
                              <p:cond delay="0"/>
                            </p:stCondLst>
                            <p:childTnLst>
                              <p:par>
                                <p:cTn id="70" presetID="10" presetClass="entr" presetSubtype="0" fill="hold" grpId="0" nodeType="clickEffect">
                                  <p:stCondLst>
                                    <p:cond delay="0"/>
                                  </p:stCondLst>
                                  <p:childTnLst>
                                    <p:set>
                                      <p:cBhvr>
                                        <p:cTn id="71" dur="1" fill="hold">
                                          <p:stCondLst>
                                            <p:cond delay="0"/>
                                          </p:stCondLst>
                                        </p:cTn>
                                        <p:tgtEl>
                                          <p:spTgt spid="50"/>
                                        </p:tgtEl>
                                        <p:attrNameLst>
                                          <p:attrName>style.visibility</p:attrName>
                                        </p:attrNameLst>
                                      </p:cBhvr>
                                      <p:to>
                                        <p:strVal val="visible"/>
                                      </p:to>
                                    </p:set>
                                    <p:animEffect transition="in" filter="fade">
                                      <p:cBhvr>
                                        <p:cTn id="72" dur="500"/>
                                        <p:tgtEl>
                                          <p:spTgt spid="5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C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78992"/>
          </a:xfrm>
          <a:prstGeom prst="rect">
            <a:avLst/>
          </a:prstGeom>
          <a:solidFill>
            <a:srgbClr val="7C56A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78992"/>
            <a:ext cx="12191695" cy="54864"/>
          </a:xfrm>
          <a:prstGeom prst="rect">
            <a:avLst/>
          </a:prstGeom>
          <a:solidFill>
            <a:srgbClr val="5B3E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02920" y="182880"/>
            <a:ext cx="1464868" cy="292608"/>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88900" rIns="88900" tIns="12700" bIns="12700"/>
          <a:lstStyle/>
          <a:p>
            <a:pPr algn="ctr"/>
            <a:r>
              <a:rPr sz="1100" b="1">
                <a:solidFill>
                  <a:srgbClr val="7C56A9"/>
                </a:solidFill>
                <a:latin typeface="Inter"/>
              </a:rPr>
              <a:t>TALLER DE LENGUA</a:t>
            </a:r>
          </a:p>
        </p:txBody>
      </p:sp>
      <p:sp>
        <p:nvSpPr>
          <p:cNvPr id="6" name="TextBox 5"/>
          <p:cNvSpPr txBox="1"/>
          <p:nvPr/>
        </p:nvSpPr>
        <p:spPr>
          <a:xfrm>
            <a:off x="10424160" y="-137160"/>
            <a:ext cx="1737360" cy="1371600"/>
          </a:xfrm>
          <a:prstGeom prst="rect">
            <a:avLst/>
          </a:prstGeom>
          <a:noFill/>
        </p:spPr>
        <p:txBody>
          <a:bodyPr wrap="square" anchor="t" lIns="38100" rIns="38100" tIns="25400" bIns="25400">
            <a:spAutoFit/>
          </a:bodyPr>
          <a:lstStyle/>
          <a:p>
            <a:pPr algn="r">
              <a:lnSpc>
                <a:spcPct val="106000"/>
              </a:lnSpc>
              <a:spcBef>
                <a:spcPts val="0"/>
              </a:spcBef>
              <a:spcAft>
                <a:spcPts val="200"/>
              </a:spcAft>
            </a:pPr>
            <a:r>
              <a:rPr sz="8800" b="1" i="0">
                <a:solidFill>
                  <a:srgbClr val="FFFFFF"/>
                </a:solidFill>
                <a:latin typeface="Bricolage Grotesque"/>
              </a:rPr>
              <a:t>1</a:t>
            </a:r>
          </a:p>
        </p:txBody>
      </p:sp>
      <p:sp>
        <p:nvSpPr>
          <p:cNvPr id="7" name="TextBox 6"/>
          <p:cNvSpPr txBox="1"/>
          <p:nvPr/>
        </p:nvSpPr>
        <p:spPr>
          <a:xfrm>
            <a:off x="457200" y="457200"/>
            <a:ext cx="9692640" cy="502920"/>
          </a:xfrm>
          <a:prstGeom prst="rect">
            <a:avLst/>
          </a:prstGeom>
          <a:noFill/>
        </p:spPr>
        <p:txBody>
          <a:bodyPr wrap="square" anchor="ctr" lIns="38100" rIns="38100" tIns="25400" bIns="25400">
            <a:spAutoFit/>
          </a:bodyPr>
          <a:lstStyle/>
          <a:p>
            <a:pPr algn="l">
              <a:lnSpc>
                <a:spcPct val="106000"/>
              </a:lnSpc>
              <a:spcBef>
                <a:spcPts val="0"/>
              </a:spcBef>
              <a:spcAft>
                <a:spcPts val="200"/>
              </a:spcAft>
            </a:pPr>
            <a:r>
              <a:rPr sz="2700" b="1" i="0">
                <a:solidFill>
                  <a:srgbClr val="FFFFFF"/>
                </a:solidFill>
                <a:latin typeface="Bricolage Grotesque"/>
              </a:rPr>
              <a:t>Acentuación + conectores</a:t>
            </a:r>
          </a:p>
        </p:txBody>
      </p:sp>
      <p:sp>
        <p:nvSpPr>
          <p:cNvPr id="8" name="TextBox 7"/>
          <p:cNvSpPr txBox="1"/>
          <p:nvPr/>
        </p:nvSpPr>
        <p:spPr>
          <a:xfrm>
            <a:off x="502920" y="932688"/>
            <a:ext cx="9692640" cy="274320"/>
          </a:xfrm>
          <a:prstGeom prst="rect">
            <a:avLst/>
          </a:prstGeom>
          <a:noFill/>
        </p:spPr>
        <p:txBody>
          <a:bodyPr wrap="square" anchor="t" lIns="38100" rIns="38100" tIns="25400" bIns="25400">
            <a:spAutoFit/>
          </a:bodyPr>
          <a:lstStyle/>
          <a:p>
            <a:pPr algn="l">
              <a:lnSpc>
                <a:spcPct val="106000"/>
              </a:lnSpc>
              <a:spcBef>
                <a:spcPts val="0"/>
              </a:spcBef>
              <a:spcAft>
                <a:spcPts val="200"/>
              </a:spcAft>
            </a:pPr>
            <a:r>
              <a:rPr sz="1250" b="0" i="1">
                <a:solidFill>
                  <a:srgbClr val="EEE8F5"/>
                </a:solidFill>
                <a:latin typeface="Inter"/>
              </a:rPr>
              <a:t>Klik een item → correcte vorm. Gereedschap voor uitspraak en verbinden.</a:t>
            </a:r>
          </a:p>
        </p:txBody>
      </p:sp>
      <p:sp>
        <p:nvSpPr>
          <p:cNvPr id="9" name="TextBox 8"/>
          <p:cNvSpPr txBox="1"/>
          <p:nvPr/>
        </p:nvSpPr>
        <p:spPr>
          <a:xfrm>
            <a:off x="457200" y="1371600"/>
            <a:ext cx="5486400" cy="320040"/>
          </a:xfrm>
          <a:prstGeom prst="rect">
            <a:avLst/>
          </a:prstGeom>
          <a:noFill/>
        </p:spPr>
        <p:txBody>
          <a:bodyPr wrap="square" anchor="t" lIns="38100" rIns="38100" tIns="25400" bIns="25400">
            <a:spAutoFit/>
          </a:bodyPr>
          <a:lstStyle/>
          <a:p>
            <a:pPr algn="l">
              <a:lnSpc>
                <a:spcPct val="106000"/>
              </a:lnSpc>
              <a:spcBef>
                <a:spcPts val="0"/>
              </a:spcBef>
              <a:spcAft>
                <a:spcPts val="200"/>
              </a:spcAft>
            </a:pPr>
            <a:r>
              <a:rPr sz="1300" b="1" i="0">
                <a:solidFill>
                  <a:srgbClr val="5B3E83"/>
                </a:solidFill>
                <a:latin typeface="Bricolage Grotesque"/>
              </a:rPr>
              <a:t>A · acento: aguda / llana / esdrújula</a:t>
            </a:r>
          </a:p>
        </p:txBody>
      </p:sp>
      <p:sp>
        <p:nvSpPr>
          <p:cNvPr id="10" name="Rounded Rectangle 9"/>
          <p:cNvSpPr/>
          <p:nvPr/>
        </p:nvSpPr>
        <p:spPr>
          <a:xfrm>
            <a:off x="457200" y="1783080"/>
            <a:ext cx="5486400" cy="548640"/>
          </a:xfrm>
          <a:prstGeom prst="roundRect">
            <a:avLst>
              <a:gd name="adj" fmla="val 5500"/>
            </a:avLst>
          </a:prstGeom>
          <a:solidFill>
            <a:srgbClr val="FFFFFF"/>
          </a:solidFill>
          <a:ln w="12700">
            <a:solidFill>
              <a:srgbClr val="E4E3D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66928" y="1783080"/>
            <a:ext cx="2377440" cy="548640"/>
          </a:xfrm>
          <a:prstGeom prst="rect">
            <a:avLst/>
          </a:prstGeom>
          <a:noFill/>
        </p:spPr>
        <p:txBody>
          <a:bodyPr wrap="square" anchor="ctr" lIns="38100" rIns="38100" tIns="25400" bIns="25400">
            <a:spAutoFit/>
          </a:bodyPr>
          <a:lstStyle/>
          <a:p>
            <a:pPr algn="l">
              <a:lnSpc>
                <a:spcPct val="106000"/>
              </a:lnSpc>
              <a:spcBef>
                <a:spcPts val="0"/>
              </a:spcBef>
              <a:spcAft>
                <a:spcPts val="200"/>
              </a:spcAft>
            </a:pPr>
            <a:r>
              <a:rPr sz="1200" b="0" i="0">
                <a:solidFill>
                  <a:srgbClr val="20242E"/>
                </a:solidFill>
                <a:latin typeface="Inter"/>
              </a:rPr>
              <a:t>Ma-drid</a:t>
            </a:r>
          </a:p>
        </p:txBody>
      </p:sp>
      <p:sp>
        <p:nvSpPr>
          <p:cNvPr id="12" name="TextBox 11"/>
          <p:cNvSpPr txBox="1"/>
          <p:nvPr/>
        </p:nvSpPr>
        <p:spPr>
          <a:xfrm>
            <a:off x="3017520" y="1783080"/>
            <a:ext cx="2834640" cy="548640"/>
          </a:xfrm>
          <a:prstGeom prst="rect">
            <a:avLst/>
          </a:prstGeom>
          <a:noFill/>
        </p:spPr>
        <p:txBody>
          <a:bodyPr wrap="square" anchor="ctr" lIns="38100" rIns="38100" tIns="25400" bIns="25400">
            <a:spAutoFit/>
          </a:bodyPr>
          <a:lstStyle/>
          <a:p>
            <a:pPr algn="l">
              <a:lnSpc>
                <a:spcPct val="106000"/>
              </a:lnSpc>
              <a:spcBef>
                <a:spcPts val="0"/>
              </a:spcBef>
              <a:spcAft>
                <a:spcPts val="200"/>
              </a:spcAft>
            </a:pPr>
            <a:r>
              <a:rPr sz="1200" b="1" i="0">
                <a:solidFill>
                  <a:srgbClr val="5B3E83"/>
                </a:solidFill>
                <a:latin typeface="Inter"/>
              </a:rPr>
              <a:t>→ aguda (laatste)</a:t>
            </a:r>
          </a:p>
        </p:txBody>
      </p:sp>
      <p:sp>
        <p:nvSpPr>
          <p:cNvPr id="13" name="Rounded Rectangle 12"/>
          <p:cNvSpPr/>
          <p:nvPr/>
        </p:nvSpPr>
        <p:spPr>
          <a:xfrm>
            <a:off x="457200" y="2441448"/>
            <a:ext cx="5486400" cy="548640"/>
          </a:xfrm>
          <a:prstGeom prst="roundRect">
            <a:avLst>
              <a:gd name="adj" fmla="val 5500"/>
            </a:avLst>
          </a:prstGeom>
          <a:solidFill>
            <a:srgbClr val="FFFFFF"/>
          </a:solidFill>
          <a:ln w="12700">
            <a:solidFill>
              <a:srgbClr val="E4E3D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66928" y="2441448"/>
            <a:ext cx="2377440" cy="548640"/>
          </a:xfrm>
          <a:prstGeom prst="rect">
            <a:avLst/>
          </a:prstGeom>
          <a:noFill/>
        </p:spPr>
        <p:txBody>
          <a:bodyPr wrap="square" anchor="ctr" lIns="38100" rIns="38100" tIns="25400" bIns="25400">
            <a:spAutoFit/>
          </a:bodyPr>
          <a:lstStyle/>
          <a:p>
            <a:pPr algn="l">
              <a:lnSpc>
                <a:spcPct val="106000"/>
              </a:lnSpc>
              <a:spcBef>
                <a:spcPts val="0"/>
              </a:spcBef>
              <a:spcAft>
                <a:spcPts val="200"/>
              </a:spcAft>
            </a:pPr>
            <a:r>
              <a:rPr sz="1200" b="0" i="0">
                <a:solidFill>
                  <a:srgbClr val="20242E"/>
                </a:solidFill>
                <a:latin typeface="Inter"/>
              </a:rPr>
              <a:t>ca-sa</a:t>
            </a:r>
          </a:p>
        </p:txBody>
      </p:sp>
      <p:sp>
        <p:nvSpPr>
          <p:cNvPr id="15" name="TextBox 14"/>
          <p:cNvSpPr txBox="1"/>
          <p:nvPr/>
        </p:nvSpPr>
        <p:spPr>
          <a:xfrm>
            <a:off x="3017520" y="2441448"/>
            <a:ext cx="2834640" cy="548640"/>
          </a:xfrm>
          <a:prstGeom prst="rect">
            <a:avLst/>
          </a:prstGeom>
          <a:noFill/>
        </p:spPr>
        <p:txBody>
          <a:bodyPr wrap="square" anchor="ctr" lIns="38100" rIns="38100" tIns="25400" bIns="25400">
            <a:spAutoFit/>
          </a:bodyPr>
          <a:lstStyle/>
          <a:p>
            <a:pPr algn="l">
              <a:lnSpc>
                <a:spcPct val="106000"/>
              </a:lnSpc>
              <a:spcBef>
                <a:spcPts val="0"/>
              </a:spcBef>
              <a:spcAft>
                <a:spcPts val="200"/>
              </a:spcAft>
            </a:pPr>
            <a:r>
              <a:rPr sz="1200" b="1" i="0">
                <a:solidFill>
                  <a:srgbClr val="5B3E83"/>
                </a:solidFill>
                <a:latin typeface="Inter"/>
              </a:rPr>
              <a:t>→ llana (voorlaatste)</a:t>
            </a:r>
          </a:p>
        </p:txBody>
      </p:sp>
      <p:sp>
        <p:nvSpPr>
          <p:cNvPr id="16" name="Rounded Rectangle 15"/>
          <p:cNvSpPr/>
          <p:nvPr/>
        </p:nvSpPr>
        <p:spPr>
          <a:xfrm>
            <a:off x="457200" y="3099816"/>
            <a:ext cx="5486400" cy="548640"/>
          </a:xfrm>
          <a:prstGeom prst="roundRect">
            <a:avLst>
              <a:gd name="adj" fmla="val 5500"/>
            </a:avLst>
          </a:prstGeom>
          <a:solidFill>
            <a:srgbClr val="FFFFFF"/>
          </a:solidFill>
          <a:ln w="12700">
            <a:solidFill>
              <a:srgbClr val="E4E3D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66928" y="3099816"/>
            <a:ext cx="2377440" cy="548640"/>
          </a:xfrm>
          <a:prstGeom prst="rect">
            <a:avLst/>
          </a:prstGeom>
          <a:noFill/>
        </p:spPr>
        <p:txBody>
          <a:bodyPr wrap="square" anchor="ctr" lIns="38100" rIns="38100" tIns="25400" bIns="25400">
            <a:spAutoFit/>
          </a:bodyPr>
          <a:lstStyle/>
          <a:p>
            <a:pPr algn="l">
              <a:lnSpc>
                <a:spcPct val="106000"/>
              </a:lnSpc>
              <a:spcBef>
                <a:spcPts val="0"/>
              </a:spcBef>
              <a:spcAft>
                <a:spcPts val="200"/>
              </a:spcAft>
            </a:pPr>
            <a:r>
              <a:rPr sz="1200" b="0" i="0">
                <a:solidFill>
                  <a:srgbClr val="20242E"/>
                </a:solidFill>
                <a:latin typeface="Inter"/>
              </a:rPr>
              <a:t>mú-si-ca</a:t>
            </a:r>
          </a:p>
        </p:txBody>
      </p:sp>
      <p:sp>
        <p:nvSpPr>
          <p:cNvPr id="18" name="TextBox 17"/>
          <p:cNvSpPr txBox="1"/>
          <p:nvPr/>
        </p:nvSpPr>
        <p:spPr>
          <a:xfrm>
            <a:off x="3017520" y="3099816"/>
            <a:ext cx="2834640" cy="548640"/>
          </a:xfrm>
          <a:prstGeom prst="rect">
            <a:avLst/>
          </a:prstGeom>
          <a:noFill/>
        </p:spPr>
        <p:txBody>
          <a:bodyPr wrap="square" anchor="ctr" lIns="38100" rIns="38100" tIns="25400" bIns="25400">
            <a:spAutoFit/>
          </a:bodyPr>
          <a:lstStyle/>
          <a:p>
            <a:pPr algn="l">
              <a:lnSpc>
                <a:spcPct val="106000"/>
              </a:lnSpc>
              <a:spcBef>
                <a:spcPts val="0"/>
              </a:spcBef>
              <a:spcAft>
                <a:spcPts val="200"/>
              </a:spcAft>
            </a:pPr>
            <a:r>
              <a:rPr sz="1200" b="1" i="0">
                <a:solidFill>
                  <a:srgbClr val="5B3E83"/>
                </a:solidFill>
                <a:latin typeface="Inter"/>
              </a:rPr>
              <a:t>→ esdrújula (tilde!)</a:t>
            </a:r>
          </a:p>
        </p:txBody>
      </p:sp>
      <p:sp>
        <p:nvSpPr>
          <p:cNvPr id="19" name="Rounded Rectangle 18"/>
          <p:cNvSpPr/>
          <p:nvPr/>
        </p:nvSpPr>
        <p:spPr>
          <a:xfrm>
            <a:off x="457200" y="3758184"/>
            <a:ext cx="5486400" cy="548640"/>
          </a:xfrm>
          <a:prstGeom prst="roundRect">
            <a:avLst>
              <a:gd name="adj" fmla="val 5500"/>
            </a:avLst>
          </a:prstGeom>
          <a:solidFill>
            <a:srgbClr val="FFFFFF"/>
          </a:solidFill>
          <a:ln w="12700">
            <a:solidFill>
              <a:srgbClr val="E4E3D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66928" y="3758184"/>
            <a:ext cx="2377440" cy="548640"/>
          </a:xfrm>
          <a:prstGeom prst="rect">
            <a:avLst/>
          </a:prstGeom>
          <a:noFill/>
        </p:spPr>
        <p:txBody>
          <a:bodyPr wrap="square" anchor="ctr" lIns="38100" rIns="38100" tIns="25400" bIns="25400">
            <a:spAutoFit/>
          </a:bodyPr>
          <a:lstStyle/>
          <a:p>
            <a:pPr algn="l">
              <a:lnSpc>
                <a:spcPct val="106000"/>
              </a:lnSpc>
              <a:spcBef>
                <a:spcPts val="0"/>
              </a:spcBef>
              <a:spcAft>
                <a:spcPts val="200"/>
              </a:spcAft>
            </a:pPr>
            <a:r>
              <a:rPr sz="1200" b="0" i="0">
                <a:solidFill>
                  <a:srgbClr val="20242E"/>
                </a:solidFill>
                <a:latin typeface="Inter"/>
              </a:rPr>
              <a:t>es-pa-ñol</a:t>
            </a:r>
          </a:p>
        </p:txBody>
      </p:sp>
      <p:sp>
        <p:nvSpPr>
          <p:cNvPr id="21" name="TextBox 20"/>
          <p:cNvSpPr txBox="1"/>
          <p:nvPr/>
        </p:nvSpPr>
        <p:spPr>
          <a:xfrm>
            <a:off x="3017520" y="3758184"/>
            <a:ext cx="2834640" cy="548640"/>
          </a:xfrm>
          <a:prstGeom prst="rect">
            <a:avLst/>
          </a:prstGeom>
          <a:noFill/>
        </p:spPr>
        <p:txBody>
          <a:bodyPr wrap="square" anchor="ctr" lIns="38100" rIns="38100" tIns="25400" bIns="25400">
            <a:spAutoFit/>
          </a:bodyPr>
          <a:lstStyle/>
          <a:p>
            <a:pPr algn="l">
              <a:lnSpc>
                <a:spcPct val="106000"/>
              </a:lnSpc>
              <a:spcBef>
                <a:spcPts val="0"/>
              </a:spcBef>
              <a:spcAft>
                <a:spcPts val="200"/>
              </a:spcAft>
            </a:pPr>
            <a:r>
              <a:rPr sz="1200" b="1" i="0">
                <a:solidFill>
                  <a:srgbClr val="5B3E83"/>
                </a:solidFill>
                <a:latin typeface="Inter"/>
              </a:rPr>
              <a:t>→ aguda</a:t>
            </a:r>
          </a:p>
        </p:txBody>
      </p:sp>
      <p:sp>
        <p:nvSpPr>
          <p:cNvPr id="22" name="TextBox 21"/>
          <p:cNvSpPr txBox="1"/>
          <p:nvPr/>
        </p:nvSpPr>
        <p:spPr>
          <a:xfrm>
            <a:off x="6309360" y="1371600"/>
            <a:ext cx="5486400" cy="320040"/>
          </a:xfrm>
          <a:prstGeom prst="rect">
            <a:avLst/>
          </a:prstGeom>
          <a:noFill/>
        </p:spPr>
        <p:txBody>
          <a:bodyPr wrap="square" anchor="t" lIns="38100" rIns="38100" tIns="25400" bIns="25400">
            <a:spAutoFit/>
          </a:bodyPr>
          <a:lstStyle/>
          <a:p>
            <a:pPr algn="l">
              <a:lnSpc>
                <a:spcPct val="106000"/>
              </a:lnSpc>
              <a:spcBef>
                <a:spcPts val="0"/>
              </a:spcBef>
              <a:spcAft>
                <a:spcPts val="200"/>
              </a:spcAft>
            </a:pPr>
            <a:r>
              <a:rPr sz="1300" b="1" i="0">
                <a:solidFill>
                  <a:srgbClr val="5B3E83"/>
                </a:solidFill>
                <a:latin typeface="Bricolage Grotesque"/>
              </a:rPr>
              <a:t>B · conectores: y · pero · porque · también</a:t>
            </a:r>
          </a:p>
        </p:txBody>
      </p:sp>
      <p:sp>
        <p:nvSpPr>
          <p:cNvPr id="23" name="Rounded Rectangle 22"/>
          <p:cNvSpPr/>
          <p:nvPr/>
        </p:nvSpPr>
        <p:spPr>
          <a:xfrm>
            <a:off x="6309360" y="1783080"/>
            <a:ext cx="5394960" cy="548640"/>
          </a:xfrm>
          <a:prstGeom prst="roundRect">
            <a:avLst>
              <a:gd name="adj" fmla="val 5500"/>
            </a:avLst>
          </a:prstGeom>
          <a:solidFill>
            <a:srgbClr val="FFFFFF"/>
          </a:solidFill>
          <a:ln w="12700">
            <a:solidFill>
              <a:srgbClr val="E4E3D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19088" y="1783080"/>
            <a:ext cx="3931920" cy="548640"/>
          </a:xfrm>
          <a:prstGeom prst="rect">
            <a:avLst/>
          </a:prstGeom>
          <a:noFill/>
        </p:spPr>
        <p:txBody>
          <a:bodyPr wrap="square" anchor="ctr" lIns="38100" rIns="38100" tIns="25400" bIns="25400">
            <a:spAutoFit/>
          </a:bodyPr>
          <a:lstStyle/>
          <a:p>
            <a:pPr algn="l">
              <a:lnSpc>
                <a:spcPct val="106000"/>
              </a:lnSpc>
              <a:spcBef>
                <a:spcPts val="0"/>
              </a:spcBef>
              <a:spcAft>
                <a:spcPts val="200"/>
              </a:spcAft>
            </a:pPr>
            <a:r>
              <a:rPr sz="1100" b="0" i="0">
                <a:solidFill>
                  <a:srgbClr val="20242E"/>
                </a:solidFill>
                <a:latin typeface="Inter"/>
              </a:rPr>
              <a:t>Soy de Bélgica ___ hablo NL.</a:t>
            </a:r>
          </a:p>
        </p:txBody>
      </p:sp>
      <p:sp>
        <p:nvSpPr>
          <p:cNvPr id="25" name="TextBox 24"/>
          <p:cNvSpPr txBox="1"/>
          <p:nvPr/>
        </p:nvSpPr>
        <p:spPr>
          <a:xfrm>
            <a:off x="10424160" y="1783080"/>
            <a:ext cx="1188720" cy="548640"/>
          </a:xfrm>
          <a:prstGeom prst="rect">
            <a:avLst/>
          </a:prstGeom>
          <a:noFill/>
        </p:spPr>
        <p:txBody>
          <a:bodyPr wrap="square" anchor="ctr" lIns="38100" rIns="38100" tIns="25400" bIns="25400">
            <a:spAutoFit/>
          </a:bodyPr>
          <a:lstStyle/>
          <a:p>
            <a:pPr algn="l">
              <a:lnSpc>
                <a:spcPct val="106000"/>
              </a:lnSpc>
              <a:spcBef>
                <a:spcPts val="0"/>
              </a:spcBef>
              <a:spcAft>
                <a:spcPts val="200"/>
              </a:spcAft>
            </a:pPr>
            <a:r>
              <a:rPr sz="1200" b="1" i="0">
                <a:solidFill>
                  <a:srgbClr val="5B3E83"/>
                </a:solidFill>
                <a:latin typeface="Inter"/>
              </a:rPr>
              <a:t>→ y</a:t>
            </a:r>
          </a:p>
        </p:txBody>
      </p:sp>
      <p:sp>
        <p:nvSpPr>
          <p:cNvPr id="26" name="Rounded Rectangle 25"/>
          <p:cNvSpPr/>
          <p:nvPr/>
        </p:nvSpPr>
        <p:spPr>
          <a:xfrm>
            <a:off x="6309360" y="2441448"/>
            <a:ext cx="5394960" cy="548640"/>
          </a:xfrm>
          <a:prstGeom prst="roundRect">
            <a:avLst>
              <a:gd name="adj" fmla="val 5500"/>
            </a:avLst>
          </a:prstGeom>
          <a:solidFill>
            <a:srgbClr val="FFFFFF"/>
          </a:solidFill>
          <a:ln w="12700">
            <a:solidFill>
              <a:srgbClr val="E4E3D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419088" y="2441448"/>
            <a:ext cx="3931920" cy="548640"/>
          </a:xfrm>
          <a:prstGeom prst="rect">
            <a:avLst/>
          </a:prstGeom>
          <a:noFill/>
        </p:spPr>
        <p:txBody>
          <a:bodyPr wrap="square" anchor="ctr" lIns="38100" rIns="38100" tIns="25400" bIns="25400">
            <a:spAutoFit/>
          </a:bodyPr>
          <a:lstStyle/>
          <a:p>
            <a:pPr algn="l">
              <a:lnSpc>
                <a:spcPct val="106000"/>
              </a:lnSpc>
              <a:spcBef>
                <a:spcPts val="0"/>
              </a:spcBef>
              <a:spcAft>
                <a:spcPts val="200"/>
              </a:spcAft>
            </a:pPr>
            <a:r>
              <a:rPr sz="1100" b="0" i="0">
                <a:solidFill>
                  <a:srgbClr val="20242E"/>
                </a:solidFill>
                <a:latin typeface="Inter"/>
              </a:rPr>
              <a:t>Estudio español ___ me gusta.</a:t>
            </a:r>
          </a:p>
        </p:txBody>
      </p:sp>
      <p:sp>
        <p:nvSpPr>
          <p:cNvPr id="28" name="TextBox 27"/>
          <p:cNvSpPr txBox="1"/>
          <p:nvPr/>
        </p:nvSpPr>
        <p:spPr>
          <a:xfrm>
            <a:off x="10424160" y="2441448"/>
            <a:ext cx="1188720" cy="548640"/>
          </a:xfrm>
          <a:prstGeom prst="rect">
            <a:avLst/>
          </a:prstGeom>
          <a:noFill/>
        </p:spPr>
        <p:txBody>
          <a:bodyPr wrap="square" anchor="ctr" lIns="38100" rIns="38100" tIns="25400" bIns="25400">
            <a:spAutoFit/>
          </a:bodyPr>
          <a:lstStyle/>
          <a:p>
            <a:pPr algn="l">
              <a:lnSpc>
                <a:spcPct val="106000"/>
              </a:lnSpc>
              <a:spcBef>
                <a:spcPts val="0"/>
              </a:spcBef>
              <a:spcAft>
                <a:spcPts val="200"/>
              </a:spcAft>
            </a:pPr>
            <a:r>
              <a:rPr sz="1200" b="1" i="0">
                <a:solidFill>
                  <a:srgbClr val="5B3E83"/>
                </a:solidFill>
                <a:latin typeface="Inter"/>
              </a:rPr>
              <a:t>→ porque</a:t>
            </a:r>
          </a:p>
        </p:txBody>
      </p:sp>
      <p:sp>
        <p:nvSpPr>
          <p:cNvPr id="29" name="Rounded Rectangle 28"/>
          <p:cNvSpPr/>
          <p:nvPr/>
        </p:nvSpPr>
        <p:spPr>
          <a:xfrm>
            <a:off x="6309360" y="3099816"/>
            <a:ext cx="5394960" cy="548640"/>
          </a:xfrm>
          <a:prstGeom prst="roundRect">
            <a:avLst>
              <a:gd name="adj" fmla="val 5500"/>
            </a:avLst>
          </a:prstGeom>
          <a:solidFill>
            <a:srgbClr val="FFFFFF"/>
          </a:solidFill>
          <a:ln w="12700">
            <a:solidFill>
              <a:srgbClr val="E4E3D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419088" y="3099816"/>
            <a:ext cx="3931920" cy="548640"/>
          </a:xfrm>
          <a:prstGeom prst="rect">
            <a:avLst/>
          </a:prstGeom>
          <a:noFill/>
        </p:spPr>
        <p:txBody>
          <a:bodyPr wrap="square" anchor="ctr" lIns="38100" rIns="38100" tIns="25400" bIns="25400">
            <a:spAutoFit/>
          </a:bodyPr>
          <a:lstStyle/>
          <a:p>
            <a:pPr algn="l">
              <a:lnSpc>
                <a:spcPct val="106000"/>
              </a:lnSpc>
              <a:spcBef>
                <a:spcPts val="0"/>
              </a:spcBef>
              <a:spcAft>
                <a:spcPts val="200"/>
              </a:spcAft>
            </a:pPr>
            <a:r>
              <a:rPr sz="1100" b="0" i="0">
                <a:solidFill>
                  <a:srgbClr val="20242E"/>
                </a:solidFill>
                <a:latin typeface="Inter"/>
              </a:rPr>
              <a:t>Nina es tranquila, ___ Diego habla mucho.</a:t>
            </a:r>
          </a:p>
        </p:txBody>
      </p:sp>
      <p:sp>
        <p:nvSpPr>
          <p:cNvPr id="31" name="TextBox 30"/>
          <p:cNvSpPr txBox="1"/>
          <p:nvPr/>
        </p:nvSpPr>
        <p:spPr>
          <a:xfrm>
            <a:off x="10424160" y="3099816"/>
            <a:ext cx="1188720" cy="548640"/>
          </a:xfrm>
          <a:prstGeom prst="rect">
            <a:avLst/>
          </a:prstGeom>
          <a:noFill/>
        </p:spPr>
        <p:txBody>
          <a:bodyPr wrap="square" anchor="ctr" lIns="38100" rIns="38100" tIns="25400" bIns="25400">
            <a:spAutoFit/>
          </a:bodyPr>
          <a:lstStyle/>
          <a:p>
            <a:pPr algn="l">
              <a:lnSpc>
                <a:spcPct val="106000"/>
              </a:lnSpc>
              <a:spcBef>
                <a:spcPts val="0"/>
              </a:spcBef>
              <a:spcAft>
                <a:spcPts val="200"/>
              </a:spcAft>
            </a:pPr>
            <a:r>
              <a:rPr sz="1200" b="1" i="0">
                <a:solidFill>
                  <a:srgbClr val="5B3E83"/>
                </a:solidFill>
                <a:latin typeface="Inter"/>
              </a:rPr>
              <a:t>→ pero</a:t>
            </a:r>
          </a:p>
        </p:txBody>
      </p:sp>
      <p:sp>
        <p:nvSpPr>
          <p:cNvPr id="32" name="Rounded Rectangle 31"/>
          <p:cNvSpPr/>
          <p:nvPr/>
        </p:nvSpPr>
        <p:spPr>
          <a:xfrm>
            <a:off x="6309360" y="3758184"/>
            <a:ext cx="5394960" cy="548640"/>
          </a:xfrm>
          <a:prstGeom prst="roundRect">
            <a:avLst>
              <a:gd name="adj" fmla="val 5500"/>
            </a:avLst>
          </a:prstGeom>
          <a:solidFill>
            <a:srgbClr val="FFFFFF"/>
          </a:solidFill>
          <a:ln w="12700">
            <a:solidFill>
              <a:srgbClr val="E4E3D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419088" y="3758184"/>
            <a:ext cx="3931920" cy="548640"/>
          </a:xfrm>
          <a:prstGeom prst="rect">
            <a:avLst/>
          </a:prstGeom>
          <a:noFill/>
        </p:spPr>
        <p:txBody>
          <a:bodyPr wrap="square" anchor="ctr" lIns="38100" rIns="38100" tIns="25400" bIns="25400">
            <a:spAutoFit/>
          </a:bodyPr>
          <a:lstStyle/>
          <a:p>
            <a:pPr algn="l">
              <a:lnSpc>
                <a:spcPct val="106000"/>
              </a:lnSpc>
              <a:spcBef>
                <a:spcPts val="0"/>
              </a:spcBef>
              <a:spcAft>
                <a:spcPts val="200"/>
              </a:spcAft>
            </a:pPr>
            <a:r>
              <a:rPr sz="1100" b="0" i="0">
                <a:solidFill>
                  <a:srgbClr val="20242E"/>
                </a:solidFill>
                <a:latin typeface="Inter"/>
              </a:rPr>
              <a:t>Tengo un hermano ___ una hermana.</a:t>
            </a:r>
          </a:p>
        </p:txBody>
      </p:sp>
      <p:sp>
        <p:nvSpPr>
          <p:cNvPr id="34" name="TextBox 33"/>
          <p:cNvSpPr txBox="1"/>
          <p:nvPr/>
        </p:nvSpPr>
        <p:spPr>
          <a:xfrm>
            <a:off x="10424160" y="3758184"/>
            <a:ext cx="1188720" cy="548640"/>
          </a:xfrm>
          <a:prstGeom prst="rect">
            <a:avLst/>
          </a:prstGeom>
          <a:noFill/>
        </p:spPr>
        <p:txBody>
          <a:bodyPr wrap="square" anchor="ctr" lIns="38100" rIns="38100" tIns="25400" bIns="25400">
            <a:spAutoFit/>
          </a:bodyPr>
          <a:lstStyle/>
          <a:p>
            <a:pPr algn="l">
              <a:lnSpc>
                <a:spcPct val="106000"/>
              </a:lnSpc>
              <a:spcBef>
                <a:spcPts val="0"/>
              </a:spcBef>
              <a:spcAft>
                <a:spcPts val="200"/>
              </a:spcAft>
            </a:pPr>
            <a:r>
              <a:rPr sz="1200" b="1" i="0">
                <a:solidFill>
                  <a:srgbClr val="5B3E83"/>
                </a:solidFill>
                <a:latin typeface="Inter"/>
              </a:rPr>
              <a:t>→ y</a:t>
            </a:r>
          </a:p>
        </p:txBody>
      </p:sp>
      <p:sp>
        <p:nvSpPr>
          <p:cNvPr id="35" name="Rounded Rectangle 34"/>
          <p:cNvSpPr/>
          <p:nvPr/>
        </p:nvSpPr>
        <p:spPr>
          <a:xfrm>
            <a:off x="457200" y="6053328"/>
            <a:ext cx="2093976" cy="365760"/>
          </a:xfrm>
          <a:prstGeom prst="roundRect">
            <a:avLst>
              <a:gd name="adj" fmla="val 50000"/>
            </a:avLst>
          </a:prstGeom>
          <a:solidFill>
            <a:srgbClr val="7C56A9"/>
          </a:solidFill>
          <a:ln w="12700">
            <a:solidFill>
              <a:srgbClr val="E4E3DE"/>
            </a:solidFill>
          </a:ln>
          <a:effectLst/>
        </p:spPr>
        <p:style>
          <a:lnRef idx="1">
            <a:schemeClr val="accent1"/>
          </a:lnRef>
          <a:fillRef idx="3">
            <a:schemeClr val="accent1"/>
          </a:fillRef>
          <a:effectRef idx="2">
            <a:schemeClr val="accent1"/>
          </a:effectRef>
          <a:fontRef idx="minor">
            <a:schemeClr val="lt1"/>
          </a:fontRef>
        </p:style>
        <p:txBody>
          <a:bodyPr rtlCol="0" anchor="ctr" tIns="12700" bIns="12700"/>
          <a:lstStyle/>
          <a:p>
            <a:pPr algn="ctr"/>
            <a:r>
              <a:rPr sz="1050" b="1">
                <a:solidFill>
                  <a:srgbClr val="FFFFFF"/>
                </a:solidFill>
                <a:latin typeface="Inter"/>
              </a:rPr>
              <a:t>▶  Mostrar solución</a:t>
            </a:r>
          </a:p>
        </p:txBody>
      </p:sp>
      <p:sp>
        <p:nvSpPr>
          <p:cNvPr id="36" name="Rounded Rectangle 35"/>
          <p:cNvSpPr/>
          <p:nvPr/>
        </p:nvSpPr>
        <p:spPr>
          <a:xfrm>
            <a:off x="2697480" y="6053328"/>
            <a:ext cx="1088136" cy="365760"/>
          </a:xfrm>
          <a:prstGeom prst="roundRect">
            <a:avLst>
              <a:gd name="adj" fmla="val 50000"/>
            </a:avLst>
          </a:prstGeom>
          <a:solidFill>
            <a:srgbClr val="FFFFFF"/>
          </a:solidFill>
          <a:ln w="12700">
            <a:solidFill>
              <a:srgbClr val="E4E3DE"/>
            </a:solidFill>
          </a:ln>
          <a:effectLst/>
        </p:spPr>
        <p:style>
          <a:lnRef idx="1">
            <a:schemeClr val="accent1"/>
          </a:lnRef>
          <a:fillRef idx="3">
            <a:schemeClr val="accent1"/>
          </a:fillRef>
          <a:effectRef idx="2">
            <a:schemeClr val="accent1"/>
          </a:effectRef>
          <a:fontRef idx="minor">
            <a:schemeClr val="lt1"/>
          </a:fontRef>
        </p:style>
        <p:txBody>
          <a:bodyPr rtlCol="0" anchor="ctr" tIns="12700" bIns="12700"/>
          <a:lstStyle/>
          <a:p>
            <a:pPr algn="ctr"/>
            <a:r>
              <a:rPr sz="1050" b="1">
                <a:solidFill>
                  <a:srgbClr val="5B3E83"/>
                </a:solidFill>
                <a:latin typeface="Inter"/>
              </a:rPr>
              <a:t>⏭  Saltar</a:t>
            </a:r>
          </a:p>
        </p:txBody>
      </p:sp>
      <p:sp>
        <p:nvSpPr>
          <p:cNvPr id="37" name="Rounded Rectangle 36">
            <a:hlinkClick action="ppaction://hlinksldjump" r:id="rId3"/>
          </p:cNvPr>
          <p:cNvSpPr/>
          <p:nvPr/>
        </p:nvSpPr>
        <p:spPr>
          <a:xfrm>
            <a:off x="3931920" y="6053328"/>
            <a:ext cx="1691639" cy="365760"/>
          </a:xfrm>
          <a:prstGeom prst="roundRect">
            <a:avLst>
              <a:gd name="adj" fmla="val 50000"/>
            </a:avLst>
          </a:prstGeom>
          <a:solidFill>
            <a:srgbClr val="FFFFFF"/>
          </a:solidFill>
          <a:ln w="12700">
            <a:solidFill>
              <a:srgbClr val="E4E3DE"/>
            </a:solidFill>
          </a:ln>
          <a:effectLst/>
        </p:spPr>
        <p:style>
          <a:lnRef idx="1">
            <a:schemeClr val="accent1"/>
          </a:lnRef>
          <a:fillRef idx="3">
            <a:schemeClr val="accent1"/>
          </a:fillRef>
          <a:effectRef idx="2">
            <a:schemeClr val="accent1"/>
          </a:effectRef>
          <a:fontRef idx="minor">
            <a:schemeClr val="lt1"/>
          </a:fontRef>
        </p:style>
        <p:txBody>
          <a:bodyPr rtlCol="0" anchor="ctr" tIns="12700" bIns="12700"/>
          <a:lstStyle/>
          <a:p>
            <a:pPr algn="ctr"/>
            <a:r>
              <a:rPr sz="1050" b="1">
                <a:solidFill>
                  <a:srgbClr val="5B3E83"/>
                </a:solidFill>
                <a:latin typeface="Inter"/>
              </a:rPr>
              <a:t>⌂  Menú (dia 2)</a:t>
            </a:r>
          </a:p>
        </p:txBody>
      </p:sp>
      <p:sp>
        <p:nvSpPr>
          <p:cNvPr id="38" name="TextBox 37"/>
          <p:cNvSpPr txBox="1"/>
          <p:nvPr/>
        </p:nvSpPr>
        <p:spPr>
          <a:xfrm>
            <a:off x="8321040" y="6053328"/>
            <a:ext cx="3383280" cy="365760"/>
          </a:xfrm>
          <a:prstGeom prst="rect">
            <a:avLst/>
          </a:prstGeom>
          <a:noFill/>
        </p:spPr>
        <p:txBody>
          <a:bodyPr wrap="square" anchor="ctr" lIns="38100" rIns="38100" tIns="25400" bIns="25400">
            <a:spAutoFit/>
          </a:bodyPr>
          <a:lstStyle/>
          <a:p>
            <a:pPr algn="r">
              <a:lnSpc>
                <a:spcPct val="106000"/>
              </a:lnSpc>
              <a:spcBef>
                <a:spcPts val="0"/>
              </a:spcBef>
              <a:spcAft>
                <a:spcPts val="200"/>
              </a:spcAft>
            </a:pPr>
            <a:r>
              <a:rPr sz="850" b="0" i="1">
                <a:solidFill>
                  <a:srgbClr val="6A6E78"/>
                </a:solidFill>
                <a:latin typeface="Inter"/>
              </a:rPr>
              <a:t>Noodroute (§5): werkt zonder audio/internet</a:t>
            </a:r>
          </a:p>
        </p:txBody>
      </p:sp>
      <p:sp>
        <p:nvSpPr>
          <p:cNvPr id="39" name="Rounded Rectangle 38"/>
          <p:cNvSpPr/>
          <p:nvPr/>
        </p:nvSpPr>
        <p:spPr>
          <a:xfrm>
            <a:off x="457200" y="4572000"/>
            <a:ext cx="11247120" cy="777240"/>
          </a:xfrm>
          <a:prstGeom prst="roundRect">
            <a:avLst>
              <a:gd name="adj" fmla="val 6000"/>
            </a:avLst>
          </a:prstGeom>
          <a:solidFill>
            <a:srgbClr val="EEE8F5"/>
          </a:solidFill>
          <a:ln w="19050">
            <a:solidFill>
              <a:srgbClr val="7C56A9"/>
            </a:solidFill>
          </a:ln>
          <a:effectLst/>
        </p:spPr>
        <p:style>
          <a:lnRef idx="1">
            <a:schemeClr val="accent1"/>
          </a:lnRef>
          <a:fillRef idx="3">
            <a:schemeClr val="accent1"/>
          </a:fillRef>
          <a:effectRef idx="2">
            <a:schemeClr val="accent1"/>
          </a:effectRef>
          <a:fontRef idx="minor">
            <a:schemeClr val="lt1"/>
          </a:fontRef>
        </p:style>
        <p:txBody>
          <a:bodyPr rtlCol="0" anchor="ctr" wrap="square" lIns="127000" rIns="127000" tIns="139700" bIns="76200"/>
          <a:lstStyle/>
          <a:p>
            <a:pPr algn="ctr">
              <a:lnSpc>
                <a:spcPct val="102000"/>
              </a:lnSpc>
              <a:spcBef>
                <a:spcPts val="0"/>
              </a:spcBef>
              <a:spcAft>
                <a:spcPts val="300"/>
              </a:spcAft>
            </a:pPr>
            <a:r>
              <a:rPr sz="1200" b="1" i="0">
                <a:solidFill>
                  <a:srgbClr val="5B3E83"/>
                </a:solidFill>
                <a:latin typeface="Inter"/>
              </a:rPr>
              <a:t>A: </a:t>
            </a:r>
            <a:r>
              <a:rPr sz="1200" b="0" i="0">
                <a:solidFill>
                  <a:srgbClr val="5B3E83"/>
                </a:solidFill>
                <a:latin typeface="Inter"/>
              </a:rPr>
              <a:t>de meeste woorden zijn llana; draagt het een tilde, volg de tilde (mú-si-ca).</a:t>
            </a:r>
          </a:p>
          <a:p>
            <a:pPr>
              <a:lnSpc>
                <a:spcPct val="102000"/>
              </a:lnSpc>
              <a:spcBef>
                <a:spcPts val="0"/>
              </a:spcBef>
              <a:spcAft>
                <a:spcPts val="300"/>
              </a:spcAft>
            </a:pPr>
            <a:r>
              <a:rPr sz="1200" b="1" i="0">
                <a:solidFill>
                  <a:srgbClr val="DC2626"/>
                </a:solidFill>
                <a:latin typeface="Inter"/>
              </a:rPr>
              <a:t>🔴 B: </a:t>
            </a:r>
            <a:r>
              <a:rPr sz="1200" b="0" i="0">
                <a:solidFill>
                  <a:srgbClr val="5B3E83"/>
                </a:solidFill>
                <a:latin typeface="Inter"/>
              </a:rPr>
              <a:t>«want» én «omdat» = porque · «maar» = pero · «dus» = así que/por eso (niet luego).</a:t>
            </a:r>
          </a:p>
        </p:txBody>
      </p:sp>
      <p:sp>
        <p:nvSpPr>
          <p:cNvPr id="40" name="Rounded Rectangle 39"/>
          <p:cNvSpPr/>
          <p:nvPr/>
        </p:nvSpPr>
        <p:spPr>
          <a:xfrm>
            <a:off x="594360" y="4443984"/>
            <a:ext cx="1548993" cy="292608"/>
          </a:xfrm>
          <a:prstGeom prst="roundRect">
            <a:avLst>
              <a:gd name="adj" fmla="val 50000"/>
            </a:avLst>
          </a:prstGeom>
          <a:solidFill>
            <a:srgbClr val="7C56A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88900" rIns="88900" tIns="12700" bIns="12700"/>
          <a:lstStyle/>
          <a:p>
            <a:pPr algn="ctr"/>
            <a:r>
              <a:rPr sz="950" b="1">
                <a:solidFill>
                  <a:srgbClr val="FFFFFF"/>
                </a:solidFill>
                <a:latin typeface="Inter"/>
              </a:rPr>
              <a:t>SOLUCIÓN · docent</a:t>
            </a:r>
          </a:p>
        </p:txBody>
      </p:sp>
      <p:sp>
        <p:nvSpPr>
          <p:cNvPr id="41" name="Rectangle 40"/>
          <p:cNvSpPr/>
          <p:nvPr/>
        </p:nvSpPr>
        <p:spPr>
          <a:xfrm>
            <a:off x="0" y="6547104"/>
            <a:ext cx="12191695" cy="310896"/>
          </a:xfrm>
          <a:prstGeom prst="rect">
            <a:avLst/>
          </a:prstGeom>
          <a:solidFill>
            <a:srgbClr val="F3EE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411480" y="6565392"/>
            <a:ext cx="5486400" cy="274320"/>
          </a:xfrm>
          <a:prstGeom prst="rect">
            <a:avLst/>
          </a:prstGeom>
          <a:noFill/>
        </p:spPr>
        <p:txBody>
          <a:bodyPr wrap="square" anchor="ctr" lIns="38100" rIns="38100" tIns="25400" bIns="25400">
            <a:spAutoFit/>
          </a:bodyPr>
          <a:lstStyle/>
          <a:p>
            <a:pPr algn="l">
              <a:lnSpc>
                <a:spcPct val="106000"/>
              </a:lnSpc>
              <a:spcBef>
                <a:spcPts val="0"/>
              </a:spcBef>
              <a:spcAft>
                <a:spcPts val="200"/>
              </a:spcAft>
            </a:pPr>
            <a:r>
              <a:rPr sz="1100" b="1" i="0">
                <a:solidFill>
                  <a:srgbClr val="7C56A9"/>
                </a:solidFill>
                <a:latin typeface="Inter"/>
              </a:rPr>
              <a:t>● </a:t>
            </a:r>
            <a:r>
              <a:rPr sz="950" b="0" i="0">
                <a:solidFill>
                  <a:srgbClr val="6A6E78"/>
                </a:solidFill>
                <a:latin typeface="Inter"/>
              </a:rPr>
              <a:t>U0 · ¡VOLVEMOS!   ·   C6+ · el reencuentro</a:t>
            </a:r>
          </a:p>
        </p:txBody>
      </p:sp>
      <p:sp>
        <p:nvSpPr>
          <p:cNvPr id="43" name="TextBox 42"/>
          <p:cNvSpPr txBox="1"/>
          <p:nvPr/>
        </p:nvSpPr>
        <p:spPr>
          <a:xfrm>
            <a:off x="8686800" y="6565392"/>
            <a:ext cx="3063240" cy="274320"/>
          </a:xfrm>
          <a:prstGeom prst="rect">
            <a:avLst/>
          </a:prstGeom>
          <a:noFill/>
        </p:spPr>
        <p:txBody>
          <a:bodyPr wrap="square" anchor="ctr" lIns="38100" rIns="38100" tIns="25400" bIns="25400">
            <a:spAutoFit/>
          </a:bodyPr>
          <a:lstStyle/>
          <a:p>
            <a:pPr algn="r">
              <a:lnSpc>
                <a:spcPct val="106000"/>
              </a:lnSpc>
              <a:spcBef>
                <a:spcPts val="0"/>
              </a:spcBef>
              <a:spcAft>
                <a:spcPts val="200"/>
              </a:spcAft>
            </a:pPr>
            <a:r>
              <a:rPr sz="900" b="0" i="1">
                <a:solidFill>
                  <a:srgbClr val="6A6E78"/>
                </a:solidFill>
                <a:latin typeface="Inter"/>
              </a:rPr>
              <a:t>Docentenversie — met oplossingen</a:t>
            </a:r>
          </a:p>
        </p:txBody>
      </p:sp>
      <p:sp>
        <p:nvSpPr>
          <p:cNvPr id="44" name="TextBox 43"/>
          <p:cNvSpPr txBox="1"/>
          <p:nvPr/>
        </p:nvSpPr>
        <p:spPr>
          <a:xfrm>
            <a:off x="11475720" y="6565392"/>
            <a:ext cx="457200" cy="274320"/>
          </a:xfrm>
          <a:prstGeom prst="rect">
            <a:avLst/>
          </a:prstGeom>
          <a:noFill/>
        </p:spPr>
        <p:txBody>
          <a:bodyPr wrap="square" anchor="ctr" lIns="38100" rIns="38100" tIns="25400" bIns="25400">
            <a:spAutoFit/>
          </a:bodyPr>
          <a:lstStyle/>
          <a:p>
            <a:pPr algn="r">
              <a:lnSpc>
                <a:spcPct val="106000"/>
              </a:lnSpc>
              <a:spcBef>
                <a:spcPts val="0"/>
              </a:spcBef>
              <a:spcAft>
                <a:spcPts val="200"/>
              </a:spcAft>
            </a:pPr>
            <a:r>
              <a:rPr sz="950" b="1" i="0">
                <a:solidFill>
                  <a:srgbClr val="5B3E83"/>
                </a:solidFill>
                <a:latin typeface="Inter"/>
              </a:rPr>
              <a:t>15</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2"/>
                                        </p:tgtEl>
                                        <p:attrNameLst>
                                          <p:attrName>style.visibility</p:attrName>
                                        </p:attrNameLst>
                                      </p:cBhvr>
                                      <p:to>
                                        <p:strVal val="visible"/>
                                      </p:to>
                                    </p:set>
                                    <p:animEffect transition="in" filter="fade">
                                      <p:cBhvr>
                                        <p:cTn id="7" dur="500"/>
                                        <p:tgtEl>
                                          <p:spTgt spid="12"/>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5"/>
                                        </p:tgtEl>
                                        <p:attrNameLst>
                                          <p:attrName>style.visibility</p:attrName>
                                        </p:attrNameLst>
                                      </p:cBhvr>
                                      <p:to>
                                        <p:strVal val="visible"/>
                                      </p:to>
                                    </p:set>
                                    <p:animEffect transition="in" filter="fade">
                                      <p:cBhvr>
                                        <p:cTn id="12" dur="500"/>
                                        <p:tgtEl>
                                          <p:spTgt spid="15"/>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18"/>
                                        </p:tgtEl>
                                        <p:attrNameLst>
                                          <p:attrName>style.visibility</p:attrName>
                                        </p:attrNameLst>
                                      </p:cBhvr>
                                      <p:to>
                                        <p:strVal val="visible"/>
                                      </p:to>
                                    </p:set>
                                    <p:animEffect transition="in" filter="fade">
                                      <p:cBhvr>
                                        <p:cTn id="17" dur="500"/>
                                        <p:tgtEl>
                                          <p:spTgt spid="18"/>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21"/>
                                        </p:tgtEl>
                                        <p:attrNameLst>
                                          <p:attrName>style.visibility</p:attrName>
                                        </p:attrNameLst>
                                      </p:cBhvr>
                                      <p:to>
                                        <p:strVal val="visible"/>
                                      </p:to>
                                    </p:set>
                                    <p:animEffect transition="in" filter="fade">
                                      <p:cBhvr>
                                        <p:cTn id="22" dur="500"/>
                                        <p:tgtEl>
                                          <p:spTgt spid="21"/>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25"/>
                                        </p:tgtEl>
                                        <p:attrNameLst>
                                          <p:attrName>style.visibility</p:attrName>
                                        </p:attrNameLst>
                                      </p:cBhvr>
                                      <p:to>
                                        <p:strVal val="visible"/>
                                      </p:to>
                                    </p:set>
                                    <p:animEffect transition="in" filter="fade">
                                      <p:cBhvr>
                                        <p:cTn id="27" dur="500"/>
                                        <p:tgtEl>
                                          <p:spTgt spid="25"/>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28"/>
                                        </p:tgtEl>
                                        <p:attrNameLst>
                                          <p:attrName>style.visibility</p:attrName>
                                        </p:attrNameLst>
                                      </p:cBhvr>
                                      <p:to>
                                        <p:strVal val="visible"/>
                                      </p:to>
                                    </p:set>
                                    <p:animEffect transition="in" filter="fade">
                                      <p:cBhvr>
                                        <p:cTn id="32" dur="500"/>
                                        <p:tgtEl>
                                          <p:spTgt spid="28"/>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grpId="0" nodeType="clickEffect">
                                  <p:stCondLst>
                                    <p:cond delay="0"/>
                                  </p:stCondLst>
                                  <p:childTnLst>
                                    <p:set>
                                      <p:cBhvr>
                                        <p:cTn id="36" dur="1" fill="hold">
                                          <p:stCondLst>
                                            <p:cond delay="0"/>
                                          </p:stCondLst>
                                        </p:cTn>
                                        <p:tgtEl>
                                          <p:spTgt spid="31"/>
                                        </p:tgtEl>
                                        <p:attrNameLst>
                                          <p:attrName>style.visibility</p:attrName>
                                        </p:attrNameLst>
                                      </p:cBhvr>
                                      <p:to>
                                        <p:strVal val="visible"/>
                                      </p:to>
                                    </p:set>
                                    <p:animEffect transition="in" filter="fade">
                                      <p:cBhvr>
                                        <p:cTn id="37" dur="500"/>
                                        <p:tgtEl>
                                          <p:spTgt spid="31"/>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grpId="0" nodeType="clickEffect">
                                  <p:stCondLst>
                                    <p:cond delay="0"/>
                                  </p:stCondLst>
                                  <p:childTnLst>
                                    <p:set>
                                      <p:cBhvr>
                                        <p:cTn id="41" dur="1" fill="hold">
                                          <p:stCondLst>
                                            <p:cond delay="0"/>
                                          </p:stCondLst>
                                        </p:cTn>
                                        <p:tgtEl>
                                          <p:spTgt spid="34"/>
                                        </p:tgtEl>
                                        <p:attrNameLst>
                                          <p:attrName>style.visibility</p:attrName>
                                        </p:attrNameLst>
                                      </p:cBhvr>
                                      <p:to>
                                        <p:strVal val="visible"/>
                                      </p:to>
                                    </p:set>
                                    <p:animEffect transition="in" filter="fade">
                                      <p:cBhvr>
                                        <p:cTn id="42" dur="500"/>
                                        <p:tgtEl>
                                          <p:spTgt spid="34"/>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grpId="0" nodeType="clickEffect">
                                  <p:stCondLst>
                                    <p:cond delay="0"/>
                                  </p:stCondLst>
                                  <p:childTnLst>
                                    <p:set>
                                      <p:cBhvr>
                                        <p:cTn id="46" dur="1" fill="hold">
                                          <p:stCondLst>
                                            <p:cond delay="0"/>
                                          </p:stCondLst>
                                        </p:cTn>
                                        <p:tgtEl>
                                          <p:spTgt spid="39"/>
                                        </p:tgtEl>
                                        <p:attrNameLst>
                                          <p:attrName>style.visibility</p:attrName>
                                        </p:attrNameLst>
                                      </p:cBhvr>
                                      <p:to>
                                        <p:strVal val="visible"/>
                                      </p:to>
                                    </p:set>
                                    <p:animEffect transition="in" filter="fade">
                                      <p:cBhvr>
                                        <p:cTn id="47" dur="500"/>
                                        <p:tgtEl>
                                          <p:spTgt spid="39"/>
                                        </p:tgtEl>
                                      </p:cBhvr>
                                    </p:animEffect>
                                  </p:childTnLst>
                                </p:cTn>
                              </p:par>
                            </p:childTnLst>
                          </p:cTn>
                        </p:par>
                      </p:childTnLst>
                    </p:cTn>
                  </p:par>
                  <p:par>
                    <p:cTn id="48" fill="hold">
                      <p:stCondLst>
                        <p:cond delay="indefinite"/>
                      </p:stCondLst>
                      <p:childTnLst>
                        <p:par>
                          <p:cTn id="49" fill="hold">
                            <p:stCondLst>
                              <p:cond delay="0"/>
                            </p:stCondLst>
                            <p:childTnLst>
                              <p:par>
                                <p:cTn id="50" presetID="10" presetClass="entr" presetSubtype="0" fill="hold" grpId="0" nodeType="clickEffect">
                                  <p:stCondLst>
                                    <p:cond delay="0"/>
                                  </p:stCondLst>
                                  <p:childTnLst>
                                    <p:set>
                                      <p:cBhvr>
                                        <p:cTn id="51" dur="1" fill="hold">
                                          <p:stCondLst>
                                            <p:cond delay="0"/>
                                          </p:stCondLst>
                                        </p:cTn>
                                        <p:tgtEl>
                                          <p:spTgt spid="40"/>
                                        </p:tgtEl>
                                        <p:attrNameLst>
                                          <p:attrName>style.visibility</p:attrName>
                                        </p:attrNameLst>
                                      </p:cBhvr>
                                      <p:to>
                                        <p:strVal val="visible"/>
                                      </p:to>
                                    </p:set>
                                    <p:animEffect transition="in" filter="fade">
                                      <p:cBhvr>
                                        <p:cTn id="52" dur="500"/>
                                        <p:tgtEl>
                                          <p:spTgt spid="4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C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78992"/>
          </a:xfrm>
          <a:prstGeom prst="rect">
            <a:avLst/>
          </a:prstGeom>
          <a:solidFill>
            <a:srgbClr val="7C56A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78992"/>
            <a:ext cx="12191695" cy="54864"/>
          </a:xfrm>
          <a:prstGeom prst="rect">
            <a:avLst/>
          </a:prstGeom>
          <a:solidFill>
            <a:srgbClr val="5B3E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02920" y="182880"/>
            <a:ext cx="2137867" cy="292608"/>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88900" rIns="88900" tIns="12700" bIns="12700"/>
          <a:lstStyle/>
          <a:p>
            <a:pPr algn="ctr"/>
            <a:r>
              <a:rPr sz="1100" b="1">
                <a:solidFill>
                  <a:srgbClr val="7C56A9"/>
                </a:solidFill>
                <a:latin typeface="Inter"/>
              </a:rPr>
              <a:t>CULTURA · EL REENCUENTRO</a:t>
            </a:r>
          </a:p>
        </p:txBody>
      </p:sp>
      <p:sp>
        <p:nvSpPr>
          <p:cNvPr id="6" name="TextBox 5"/>
          <p:cNvSpPr txBox="1"/>
          <p:nvPr/>
        </p:nvSpPr>
        <p:spPr>
          <a:xfrm>
            <a:off x="10424160" y="-137160"/>
            <a:ext cx="1737360" cy="1371600"/>
          </a:xfrm>
          <a:prstGeom prst="rect">
            <a:avLst/>
          </a:prstGeom>
          <a:noFill/>
        </p:spPr>
        <p:txBody>
          <a:bodyPr wrap="square" anchor="t" lIns="38100" rIns="38100" tIns="25400" bIns="25400">
            <a:spAutoFit/>
          </a:bodyPr>
          <a:lstStyle/>
          <a:p>
            <a:pPr algn="r">
              <a:lnSpc>
                <a:spcPct val="106000"/>
              </a:lnSpc>
              <a:spcBef>
                <a:spcPts val="0"/>
              </a:spcBef>
              <a:spcAft>
                <a:spcPts val="200"/>
              </a:spcAft>
            </a:pPr>
            <a:r>
              <a:rPr sz="8800" b="1" i="0">
                <a:solidFill>
                  <a:srgbClr val="FFFFFF"/>
                </a:solidFill>
                <a:latin typeface="Bricolage Grotesque"/>
              </a:rPr>
              <a:t>1</a:t>
            </a:r>
          </a:p>
        </p:txBody>
      </p:sp>
      <p:sp>
        <p:nvSpPr>
          <p:cNvPr id="7" name="TextBox 6"/>
          <p:cNvSpPr txBox="1"/>
          <p:nvPr/>
        </p:nvSpPr>
        <p:spPr>
          <a:xfrm>
            <a:off x="457200" y="457200"/>
            <a:ext cx="9692640" cy="502920"/>
          </a:xfrm>
          <a:prstGeom prst="rect">
            <a:avLst/>
          </a:prstGeom>
          <a:noFill/>
        </p:spPr>
        <p:txBody>
          <a:bodyPr wrap="square" anchor="ctr" lIns="38100" rIns="38100" tIns="25400" bIns="25400">
            <a:spAutoFit/>
          </a:bodyPr>
          <a:lstStyle/>
          <a:p>
            <a:pPr algn="l">
              <a:lnSpc>
                <a:spcPct val="106000"/>
              </a:lnSpc>
              <a:spcBef>
                <a:spcPts val="0"/>
              </a:spcBef>
              <a:spcAft>
                <a:spcPts val="200"/>
              </a:spcAft>
            </a:pPr>
            <a:r>
              <a:rPr sz="2700" b="1" i="0">
                <a:solidFill>
                  <a:srgbClr val="FFFFFF"/>
                </a:solidFill>
                <a:latin typeface="Bricolage Grotesque"/>
              </a:rPr>
              <a:t>El mundo hispano</a:t>
            </a:r>
          </a:p>
        </p:txBody>
      </p:sp>
      <p:sp>
        <p:nvSpPr>
          <p:cNvPr id="8" name="TextBox 7"/>
          <p:cNvSpPr txBox="1"/>
          <p:nvPr/>
        </p:nvSpPr>
        <p:spPr>
          <a:xfrm>
            <a:off x="502920" y="932688"/>
            <a:ext cx="9692640" cy="274320"/>
          </a:xfrm>
          <a:prstGeom prst="rect">
            <a:avLst/>
          </a:prstGeom>
          <a:noFill/>
        </p:spPr>
        <p:txBody>
          <a:bodyPr wrap="square" anchor="t" lIns="38100" rIns="38100" tIns="25400" bIns="25400">
            <a:spAutoFit/>
          </a:bodyPr>
          <a:lstStyle/>
          <a:p>
            <a:pPr algn="l">
              <a:lnSpc>
                <a:spcPct val="106000"/>
              </a:lnSpc>
              <a:spcBef>
                <a:spcPts val="0"/>
              </a:spcBef>
              <a:spcAft>
                <a:spcPts val="200"/>
              </a:spcAft>
            </a:pPr>
            <a:r>
              <a:rPr sz="1250" b="0" i="1">
                <a:solidFill>
                  <a:srgbClr val="EEE8F5"/>
                </a:solidFill>
                <a:latin typeface="Inter"/>
              </a:rPr>
              <a:t>Klik een kaart → het weetje verschijnt. 21 países, 500+ miljoen sprekers.</a:t>
            </a:r>
          </a:p>
        </p:txBody>
      </p:sp>
      <p:sp>
        <p:nvSpPr>
          <p:cNvPr id="9" name="Rounded Rectangle 8"/>
          <p:cNvSpPr/>
          <p:nvPr/>
        </p:nvSpPr>
        <p:spPr>
          <a:xfrm>
            <a:off x="457200" y="1554480"/>
            <a:ext cx="3703320" cy="3108960"/>
          </a:xfrm>
          <a:prstGeom prst="roundRect">
            <a:avLst>
              <a:gd name="adj" fmla="val 5500"/>
            </a:avLst>
          </a:prstGeom>
          <a:solidFill>
            <a:srgbClr val="FFFFFF"/>
          </a:solidFill>
          <a:ln w="16510">
            <a:solidFill>
              <a:srgbClr val="7C56A9"/>
            </a:solidFill>
          </a:ln>
          <a:effectLst>
            <a:outerShdw blurRad="90000" dist="38000" dir="5400000" rotWithShape="0">
              <a:srgbClr val="20242E">
                <a:alpha val="2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57200" y="1554480"/>
            <a:ext cx="3703320" cy="548640"/>
          </a:xfrm>
          <a:prstGeom prst="rect">
            <a:avLst/>
          </a:prstGeom>
          <a:solidFill>
            <a:srgbClr val="EEE8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94360" y="1554480"/>
            <a:ext cx="3429000" cy="548640"/>
          </a:xfrm>
          <a:prstGeom prst="rect">
            <a:avLst/>
          </a:prstGeom>
          <a:noFill/>
        </p:spPr>
        <p:txBody>
          <a:bodyPr wrap="square" anchor="ctr" lIns="38100" rIns="38100" tIns="25400" bIns="25400">
            <a:spAutoFit/>
          </a:bodyPr>
          <a:lstStyle/>
          <a:p>
            <a:pPr algn="l">
              <a:lnSpc>
                <a:spcPct val="106000"/>
              </a:lnSpc>
              <a:spcBef>
                <a:spcPts val="0"/>
              </a:spcBef>
              <a:spcAft>
                <a:spcPts val="200"/>
              </a:spcAft>
            </a:pPr>
            <a:r>
              <a:rPr sz="1400" b="1" i="0">
                <a:solidFill>
                  <a:srgbClr val="5B3E83"/>
                </a:solidFill>
                <a:latin typeface="Bricolage Grotesque"/>
              </a:rPr>
              <a:t>🇪🇸 Europa</a:t>
            </a:r>
          </a:p>
        </p:txBody>
      </p:sp>
      <p:sp>
        <p:nvSpPr>
          <p:cNvPr id="12" name="TextBox 11"/>
          <p:cNvSpPr txBox="1"/>
          <p:nvPr/>
        </p:nvSpPr>
        <p:spPr>
          <a:xfrm>
            <a:off x="640080" y="2286000"/>
            <a:ext cx="3337560" cy="1737360"/>
          </a:xfrm>
          <a:prstGeom prst="rect">
            <a:avLst/>
          </a:prstGeom>
          <a:noFill/>
        </p:spPr>
        <p:txBody>
          <a:bodyPr wrap="square" anchor="t" lIns="38100" rIns="38100" tIns="25400" bIns="25400">
            <a:spAutoFit/>
          </a:bodyPr>
          <a:lstStyle/>
          <a:p>
            <a:pPr algn="l">
              <a:lnSpc>
                <a:spcPct val="120000"/>
              </a:lnSpc>
              <a:spcBef>
                <a:spcPts val="0"/>
              </a:spcBef>
              <a:spcAft>
                <a:spcPts val="200"/>
              </a:spcAft>
            </a:pPr>
            <a:r>
              <a:rPr sz="1200" b="0" i="0">
                <a:solidFill>
                  <a:srgbClr val="20242E"/>
                </a:solidFill>
                <a:latin typeface="Inter"/>
              </a:rPr>
              <a:t>España is het enige Spaanstalige land in Europa. Ook catalán, gallego y euskera. Madrid = hoofdstad.</a:t>
            </a:r>
          </a:p>
        </p:txBody>
      </p:sp>
      <p:sp>
        <p:nvSpPr>
          <p:cNvPr id="13" name="TextBox 12"/>
          <p:cNvSpPr txBox="1"/>
          <p:nvPr/>
        </p:nvSpPr>
        <p:spPr>
          <a:xfrm>
            <a:off x="640080" y="4069080"/>
            <a:ext cx="3337560" cy="548640"/>
          </a:xfrm>
          <a:prstGeom prst="rect">
            <a:avLst/>
          </a:prstGeom>
          <a:noFill/>
        </p:spPr>
        <p:txBody>
          <a:bodyPr wrap="square" anchor="t" lIns="38100" rIns="38100" tIns="25400" bIns="25400">
            <a:spAutoFit/>
          </a:bodyPr>
          <a:lstStyle/>
          <a:p>
            <a:pPr algn="l">
              <a:lnSpc>
                <a:spcPct val="110000"/>
              </a:lnSpc>
              <a:spcBef>
                <a:spcPts val="0"/>
              </a:spcBef>
              <a:spcAft>
                <a:spcPts val="200"/>
              </a:spcAft>
            </a:pPr>
            <a:r>
              <a:rPr sz="1050" b="0" i="1">
                <a:solidFill>
                  <a:srgbClr val="6A6E78"/>
                </a:solidFill>
                <a:latin typeface="Inter"/>
              </a:rPr>
              <a:t>castellano = español</a:t>
            </a:r>
          </a:p>
        </p:txBody>
      </p:sp>
      <p:sp>
        <p:nvSpPr>
          <p:cNvPr id="14" name="Rounded Rectangle 13"/>
          <p:cNvSpPr/>
          <p:nvPr/>
        </p:nvSpPr>
        <p:spPr>
          <a:xfrm>
            <a:off x="4279392" y="1554480"/>
            <a:ext cx="3703320" cy="3108960"/>
          </a:xfrm>
          <a:prstGeom prst="roundRect">
            <a:avLst>
              <a:gd name="adj" fmla="val 5500"/>
            </a:avLst>
          </a:prstGeom>
          <a:solidFill>
            <a:srgbClr val="FFFFFF"/>
          </a:solidFill>
          <a:ln w="16510">
            <a:solidFill>
              <a:srgbClr val="7C56A9"/>
            </a:solidFill>
          </a:ln>
          <a:effectLst>
            <a:outerShdw blurRad="90000" dist="38000" dir="5400000" rotWithShape="0">
              <a:srgbClr val="20242E">
                <a:alpha val="2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279392" y="1554480"/>
            <a:ext cx="3703320" cy="548640"/>
          </a:xfrm>
          <a:prstGeom prst="rect">
            <a:avLst/>
          </a:prstGeom>
          <a:solidFill>
            <a:srgbClr val="EEE8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416552" y="1554480"/>
            <a:ext cx="3429000" cy="548640"/>
          </a:xfrm>
          <a:prstGeom prst="rect">
            <a:avLst/>
          </a:prstGeom>
          <a:noFill/>
        </p:spPr>
        <p:txBody>
          <a:bodyPr wrap="square" anchor="ctr" lIns="38100" rIns="38100" tIns="25400" bIns="25400">
            <a:spAutoFit/>
          </a:bodyPr>
          <a:lstStyle/>
          <a:p>
            <a:pPr algn="l">
              <a:lnSpc>
                <a:spcPct val="106000"/>
              </a:lnSpc>
              <a:spcBef>
                <a:spcPts val="0"/>
              </a:spcBef>
              <a:spcAft>
                <a:spcPts val="200"/>
              </a:spcAft>
            </a:pPr>
            <a:r>
              <a:rPr sz="1400" b="1" i="0">
                <a:solidFill>
                  <a:srgbClr val="5B3E83"/>
                </a:solidFill>
                <a:latin typeface="Bricolage Grotesque"/>
              </a:rPr>
              <a:t>🌎 América</a:t>
            </a:r>
          </a:p>
        </p:txBody>
      </p:sp>
      <p:sp>
        <p:nvSpPr>
          <p:cNvPr id="17" name="TextBox 16"/>
          <p:cNvSpPr txBox="1"/>
          <p:nvPr/>
        </p:nvSpPr>
        <p:spPr>
          <a:xfrm>
            <a:off x="4462272" y="2286000"/>
            <a:ext cx="3337560" cy="1737360"/>
          </a:xfrm>
          <a:prstGeom prst="rect">
            <a:avLst/>
          </a:prstGeom>
          <a:noFill/>
        </p:spPr>
        <p:txBody>
          <a:bodyPr wrap="square" anchor="t" lIns="38100" rIns="38100" tIns="25400" bIns="25400">
            <a:spAutoFit/>
          </a:bodyPr>
          <a:lstStyle/>
          <a:p>
            <a:pPr algn="l">
              <a:lnSpc>
                <a:spcPct val="120000"/>
              </a:lnSpc>
              <a:spcBef>
                <a:spcPts val="0"/>
              </a:spcBef>
              <a:spcAft>
                <a:spcPts val="200"/>
              </a:spcAft>
            </a:pPr>
            <a:r>
              <a:rPr sz="1200" b="0" i="0">
                <a:solidFill>
                  <a:srgbClr val="20242E"/>
                </a:solidFill>
                <a:latin typeface="Inter"/>
              </a:rPr>
              <a:t>De meeste hispanohablantes wonen in Latijns-Amerika: van México (~130 mln) tot Argentina (voseo).</a:t>
            </a:r>
          </a:p>
        </p:txBody>
      </p:sp>
      <p:sp>
        <p:nvSpPr>
          <p:cNvPr id="18" name="TextBox 17"/>
          <p:cNvSpPr txBox="1"/>
          <p:nvPr/>
        </p:nvSpPr>
        <p:spPr>
          <a:xfrm>
            <a:off x="4462272" y="4069080"/>
            <a:ext cx="3337560" cy="548640"/>
          </a:xfrm>
          <a:prstGeom prst="rect">
            <a:avLst/>
          </a:prstGeom>
          <a:noFill/>
        </p:spPr>
        <p:txBody>
          <a:bodyPr wrap="square" anchor="t" lIns="38100" rIns="38100" tIns="25400" bIns="25400">
            <a:spAutoFit/>
          </a:bodyPr>
          <a:lstStyle/>
          <a:p>
            <a:pPr algn="l">
              <a:lnSpc>
                <a:spcPct val="110000"/>
              </a:lnSpc>
              <a:spcBef>
                <a:spcPts val="0"/>
              </a:spcBef>
              <a:spcAft>
                <a:spcPts val="200"/>
              </a:spcAft>
            </a:pPr>
            <a:r>
              <a:rPr sz="1050" b="0" i="1">
                <a:solidFill>
                  <a:srgbClr val="6A6E78"/>
                </a:solidFill>
                <a:latin typeface="Inter"/>
              </a:rPr>
              <a:t>19 landen, veel accenten</a:t>
            </a:r>
          </a:p>
        </p:txBody>
      </p:sp>
      <p:sp>
        <p:nvSpPr>
          <p:cNvPr id="19" name="Rounded Rectangle 18"/>
          <p:cNvSpPr/>
          <p:nvPr/>
        </p:nvSpPr>
        <p:spPr>
          <a:xfrm>
            <a:off x="8101584" y="1554480"/>
            <a:ext cx="3703320" cy="3108960"/>
          </a:xfrm>
          <a:prstGeom prst="roundRect">
            <a:avLst>
              <a:gd name="adj" fmla="val 5500"/>
            </a:avLst>
          </a:prstGeom>
          <a:solidFill>
            <a:srgbClr val="FFFFFF"/>
          </a:solidFill>
          <a:ln w="16510">
            <a:solidFill>
              <a:srgbClr val="7C56A9"/>
            </a:solidFill>
          </a:ln>
          <a:effectLst>
            <a:outerShdw blurRad="90000" dist="38000" dir="5400000" rotWithShape="0">
              <a:srgbClr val="20242E">
                <a:alpha val="2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101584" y="1554480"/>
            <a:ext cx="3703320" cy="548640"/>
          </a:xfrm>
          <a:prstGeom prst="rect">
            <a:avLst/>
          </a:prstGeom>
          <a:solidFill>
            <a:srgbClr val="EEE8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38744" y="1554480"/>
            <a:ext cx="3429000" cy="548640"/>
          </a:xfrm>
          <a:prstGeom prst="rect">
            <a:avLst/>
          </a:prstGeom>
          <a:noFill/>
        </p:spPr>
        <p:txBody>
          <a:bodyPr wrap="square" anchor="ctr" lIns="38100" rIns="38100" tIns="25400" bIns="25400">
            <a:spAutoFit/>
          </a:bodyPr>
          <a:lstStyle/>
          <a:p>
            <a:pPr algn="l">
              <a:lnSpc>
                <a:spcPct val="106000"/>
              </a:lnSpc>
              <a:spcBef>
                <a:spcPts val="0"/>
              </a:spcBef>
              <a:spcAft>
                <a:spcPts val="200"/>
              </a:spcAft>
            </a:pPr>
            <a:r>
              <a:rPr sz="1400" b="1" i="0">
                <a:solidFill>
                  <a:srgbClr val="5B3E83"/>
                </a:solidFill>
                <a:latin typeface="Bricolage Grotesque"/>
              </a:rPr>
              <a:t>🌍 ¿Sabías que…?</a:t>
            </a:r>
          </a:p>
        </p:txBody>
      </p:sp>
      <p:sp>
        <p:nvSpPr>
          <p:cNvPr id="22" name="TextBox 21"/>
          <p:cNvSpPr txBox="1"/>
          <p:nvPr/>
        </p:nvSpPr>
        <p:spPr>
          <a:xfrm>
            <a:off x="8284464" y="2286000"/>
            <a:ext cx="3337560" cy="1737360"/>
          </a:xfrm>
          <a:prstGeom prst="rect">
            <a:avLst/>
          </a:prstGeom>
          <a:noFill/>
        </p:spPr>
        <p:txBody>
          <a:bodyPr wrap="square" anchor="t" lIns="38100" rIns="38100" tIns="25400" bIns="25400">
            <a:spAutoFit/>
          </a:bodyPr>
          <a:lstStyle/>
          <a:p>
            <a:pPr algn="l">
              <a:lnSpc>
                <a:spcPct val="120000"/>
              </a:lnSpc>
              <a:spcBef>
                <a:spcPts val="0"/>
              </a:spcBef>
              <a:spcAft>
                <a:spcPts val="200"/>
              </a:spcAft>
            </a:pPr>
            <a:r>
              <a:rPr sz="1200" b="0" i="0">
                <a:solidFill>
                  <a:srgbClr val="20242E"/>
                </a:solidFill>
                <a:latin typeface="Inter"/>
              </a:rPr>
              <a:t>Ook in Guinea Ecuatorial (Afrika) is Spaans officieel. En in de VS ~40 mln hispanohablantes.</a:t>
            </a:r>
          </a:p>
        </p:txBody>
      </p:sp>
      <p:sp>
        <p:nvSpPr>
          <p:cNvPr id="23" name="TextBox 22"/>
          <p:cNvSpPr txBox="1"/>
          <p:nvPr/>
        </p:nvSpPr>
        <p:spPr>
          <a:xfrm>
            <a:off x="8284464" y="4069080"/>
            <a:ext cx="3337560" cy="548640"/>
          </a:xfrm>
          <a:prstGeom prst="rect">
            <a:avLst/>
          </a:prstGeom>
          <a:noFill/>
        </p:spPr>
        <p:txBody>
          <a:bodyPr wrap="square" anchor="t" lIns="38100" rIns="38100" tIns="25400" bIns="25400">
            <a:spAutoFit/>
          </a:bodyPr>
          <a:lstStyle/>
          <a:p>
            <a:pPr algn="l">
              <a:lnSpc>
                <a:spcPct val="110000"/>
              </a:lnSpc>
              <a:spcBef>
                <a:spcPts val="0"/>
              </a:spcBef>
              <a:spcAft>
                <a:spcPts val="200"/>
              </a:spcAft>
            </a:pPr>
            <a:r>
              <a:rPr sz="1050" b="0" i="1">
                <a:solidFill>
                  <a:srgbClr val="6A6E78"/>
                </a:solidFill>
                <a:latin typeface="Inter"/>
              </a:rPr>
              <a:t>2ª lengua materna del mundo</a:t>
            </a:r>
          </a:p>
        </p:txBody>
      </p:sp>
      <p:sp>
        <p:nvSpPr>
          <p:cNvPr id="24" name="Rounded Rectangle 23"/>
          <p:cNvSpPr/>
          <p:nvPr/>
        </p:nvSpPr>
        <p:spPr>
          <a:xfrm>
            <a:off x="457200" y="6053328"/>
            <a:ext cx="2093976" cy="365760"/>
          </a:xfrm>
          <a:prstGeom prst="roundRect">
            <a:avLst>
              <a:gd name="adj" fmla="val 50000"/>
            </a:avLst>
          </a:prstGeom>
          <a:solidFill>
            <a:srgbClr val="7C56A9"/>
          </a:solidFill>
          <a:ln w="12700">
            <a:solidFill>
              <a:srgbClr val="E4E3DE"/>
            </a:solidFill>
          </a:ln>
          <a:effectLst/>
        </p:spPr>
        <p:style>
          <a:lnRef idx="1">
            <a:schemeClr val="accent1"/>
          </a:lnRef>
          <a:fillRef idx="3">
            <a:schemeClr val="accent1"/>
          </a:fillRef>
          <a:effectRef idx="2">
            <a:schemeClr val="accent1"/>
          </a:effectRef>
          <a:fontRef idx="minor">
            <a:schemeClr val="lt1"/>
          </a:fontRef>
        </p:style>
        <p:txBody>
          <a:bodyPr rtlCol="0" anchor="ctr" tIns="12700" bIns="12700"/>
          <a:lstStyle/>
          <a:p>
            <a:pPr algn="ctr"/>
            <a:r>
              <a:rPr sz="1050" b="1">
                <a:solidFill>
                  <a:srgbClr val="FFFFFF"/>
                </a:solidFill>
                <a:latin typeface="Inter"/>
              </a:rPr>
              <a:t>▶  Mostrar solución</a:t>
            </a:r>
          </a:p>
        </p:txBody>
      </p:sp>
      <p:sp>
        <p:nvSpPr>
          <p:cNvPr id="25" name="Rounded Rectangle 24"/>
          <p:cNvSpPr/>
          <p:nvPr/>
        </p:nvSpPr>
        <p:spPr>
          <a:xfrm>
            <a:off x="2697480" y="6053328"/>
            <a:ext cx="1088136" cy="365760"/>
          </a:xfrm>
          <a:prstGeom prst="roundRect">
            <a:avLst>
              <a:gd name="adj" fmla="val 50000"/>
            </a:avLst>
          </a:prstGeom>
          <a:solidFill>
            <a:srgbClr val="FFFFFF"/>
          </a:solidFill>
          <a:ln w="12700">
            <a:solidFill>
              <a:srgbClr val="E4E3DE"/>
            </a:solidFill>
          </a:ln>
          <a:effectLst/>
        </p:spPr>
        <p:style>
          <a:lnRef idx="1">
            <a:schemeClr val="accent1"/>
          </a:lnRef>
          <a:fillRef idx="3">
            <a:schemeClr val="accent1"/>
          </a:fillRef>
          <a:effectRef idx="2">
            <a:schemeClr val="accent1"/>
          </a:effectRef>
          <a:fontRef idx="minor">
            <a:schemeClr val="lt1"/>
          </a:fontRef>
        </p:style>
        <p:txBody>
          <a:bodyPr rtlCol="0" anchor="ctr" tIns="12700" bIns="12700"/>
          <a:lstStyle/>
          <a:p>
            <a:pPr algn="ctr"/>
            <a:r>
              <a:rPr sz="1050" b="1">
                <a:solidFill>
                  <a:srgbClr val="5B3E83"/>
                </a:solidFill>
                <a:latin typeface="Inter"/>
              </a:rPr>
              <a:t>⏭  Saltar</a:t>
            </a:r>
          </a:p>
        </p:txBody>
      </p:sp>
      <p:sp>
        <p:nvSpPr>
          <p:cNvPr id="26" name="Rounded Rectangle 25">
            <a:hlinkClick action="ppaction://hlinksldjump" r:id="rId3"/>
          </p:cNvPr>
          <p:cNvSpPr/>
          <p:nvPr/>
        </p:nvSpPr>
        <p:spPr>
          <a:xfrm>
            <a:off x="3931920" y="6053328"/>
            <a:ext cx="1691639" cy="365760"/>
          </a:xfrm>
          <a:prstGeom prst="roundRect">
            <a:avLst>
              <a:gd name="adj" fmla="val 50000"/>
            </a:avLst>
          </a:prstGeom>
          <a:solidFill>
            <a:srgbClr val="FFFFFF"/>
          </a:solidFill>
          <a:ln w="12700">
            <a:solidFill>
              <a:srgbClr val="E4E3DE"/>
            </a:solidFill>
          </a:ln>
          <a:effectLst/>
        </p:spPr>
        <p:style>
          <a:lnRef idx="1">
            <a:schemeClr val="accent1"/>
          </a:lnRef>
          <a:fillRef idx="3">
            <a:schemeClr val="accent1"/>
          </a:fillRef>
          <a:effectRef idx="2">
            <a:schemeClr val="accent1"/>
          </a:effectRef>
          <a:fontRef idx="minor">
            <a:schemeClr val="lt1"/>
          </a:fontRef>
        </p:style>
        <p:txBody>
          <a:bodyPr rtlCol="0" anchor="ctr" tIns="12700" bIns="12700"/>
          <a:lstStyle/>
          <a:p>
            <a:pPr algn="ctr"/>
            <a:r>
              <a:rPr sz="1050" b="1">
                <a:solidFill>
                  <a:srgbClr val="5B3E83"/>
                </a:solidFill>
                <a:latin typeface="Inter"/>
              </a:rPr>
              <a:t>⌂  Menú (dia 2)</a:t>
            </a:r>
          </a:p>
        </p:txBody>
      </p:sp>
      <p:sp>
        <p:nvSpPr>
          <p:cNvPr id="27" name="TextBox 26"/>
          <p:cNvSpPr txBox="1"/>
          <p:nvPr/>
        </p:nvSpPr>
        <p:spPr>
          <a:xfrm>
            <a:off x="8321040" y="6053328"/>
            <a:ext cx="3383280" cy="365760"/>
          </a:xfrm>
          <a:prstGeom prst="rect">
            <a:avLst/>
          </a:prstGeom>
          <a:noFill/>
        </p:spPr>
        <p:txBody>
          <a:bodyPr wrap="square" anchor="ctr" lIns="38100" rIns="38100" tIns="25400" bIns="25400">
            <a:spAutoFit/>
          </a:bodyPr>
          <a:lstStyle/>
          <a:p>
            <a:pPr algn="r">
              <a:lnSpc>
                <a:spcPct val="106000"/>
              </a:lnSpc>
              <a:spcBef>
                <a:spcPts val="0"/>
              </a:spcBef>
              <a:spcAft>
                <a:spcPts val="200"/>
              </a:spcAft>
            </a:pPr>
            <a:r>
              <a:rPr sz="850" b="0" i="1">
                <a:solidFill>
                  <a:srgbClr val="6A6E78"/>
                </a:solidFill>
                <a:latin typeface="Inter"/>
              </a:rPr>
              <a:t>Noodroute (§5): werkt zonder audio/internet</a:t>
            </a:r>
          </a:p>
        </p:txBody>
      </p:sp>
      <p:sp>
        <p:nvSpPr>
          <p:cNvPr id="28" name="Rounded Rectangle 27"/>
          <p:cNvSpPr/>
          <p:nvPr/>
        </p:nvSpPr>
        <p:spPr>
          <a:xfrm>
            <a:off x="457200" y="4892040"/>
            <a:ext cx="11247120" cy="548640"/>
          </a:xfrm>
          <a:prstGeom prst="roundRect">
            <a:avLst>
              <a:gd name="adj" fmla="val 6000"/>
            </a:avLst>
          </a:prstGeom>
          <a:solidFill>
            <a:srgbClr val="EEE8F5"/>
          </a:solidFill>
          <a:ln w="19050">
            <a:solidFill>
              <a:srgbClr val="7C56A9"/>
            </a:solidFill>
          </a:ln>
          <a:effectLst/>
        </p:spPr>
        <p:style>
          <a:lnRef idx="1">
            <a:schemeClr val="accent1"/>
          </a:lnRef>
          <a:fillRef idx="3">
            <a:schemeClr val="accent1"/>
          </a:fillRef>
          <a:effectRef idx="2">
            <a:schemeClr val="accent1"/>
          </a:effectRef>
          <a:fontRef idx="minor">
            <a:schemeClr val="lt1"/>
          </a:fontRef>
        </p:style>
        <p:txBody>
          <a:bodyPr rtlCol="0" anchor="ctr" wrap="square" lIns="127000" rIns="127000" tIns="139700" bIns="76200"/>
          <a:lstStyle/>
          <a:p>
            <a:pPr algn="ctr">
              <a:lnSpc>
                <a:spcPct val="102000"/>
              </a:lnSpc>
              <a:spcBef>
                <a:spcPts val="0"/>
              </a:spcBef>
              <a:spcAft>
                <a:spcPts val="300"/>
              </a:spcAft>
            </a:pPr>
            <a:r>
              <a:rPr sz="1200" b="1" i="0">
                <a:solidFill>
                  <a:srgbClr val="5B3E83"/>
                </a:solidFill>
                <a:latin typeface="Inter"/>
              </a:rPr>
              <a:t>Actividad: </a:t>
            </a:r>
            <a:r>
              <a:rPr sz="1200" b="0" i="0">
                <a:solidFill>
                  <a:srgbClr val="5B3E83"/>
                </a:solidFill>
                <a:latin typeface="Inter"/>
              </a:rPr>
              <a:t>¿Qué país quieres visitar y por qué? Schrijf één zin met «Quiero visitar … porque …».</a:t>
            </a:r>
          </a:p>
        </p:txBody>
      </p:sp>
      <p:sp>
        <p:nvSpPr>
          <p:cNvPr id="29" name="Rounded Rectangle 28"/>
          <p:cNvSpPr/>
          <p:nvPr/>
        </p:nvSpPr>
        <p:spPr>
          <a:xfrm>
            <a:off x="594360" y="4764024"/>
            <a:ext cx="1548993" cy="292608"/>
          </a:xfrm>
          <a:prstGeom prst="roundRect">
            <a:avLst>
              <a:gd name="adj" fmla="val 50000"/>
            </a:avLst>
          </a:prstGeom>
          <a:solidFill>
            <a:srgbClr val="7C56A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88900" rIns="88900" tIns="12700" bIns="12700"/>
          <a:lstStyle/>
          <a:p>
            <a:pPr algn="ctr"/>
            <a:r>
              <a:rPr sz="950" b="1">
                <a:solidFill>
                  <a:srgbClr val="FFFFFF"/>
                </a:solidFill>
                <a:latin typeface="Inter"/>
              </a:rPr>
              <a:t>SOLUCIÓN · docent</a:t>
            </a:r>
          </a:p>
        </p:txBody>
      </p:sp>
      <p:sp>
        <p:nvSpPr>
          <p:cNvPr id="30" name="Rectangle 29"/>
          <p:cNvSpPr/>
          <p:nvPr/>
        </p:nvSpPr>
        <p:spPr>
          <a:xfrm>
            <a:off x="0" y="6547104"/>
            <a:ext cx="12191695" cy="310896"/>
          </a:xfrm>
          <a:prstGeom prst="rect">
            <a:avLst/>
          </a:prstGeom>
          <a:solidFill>
            <a:srgbClr val="F3EE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11480" y="6565392"/>
            <a:ext cx="5486400" cy="274320"/>
          </a:xfrm>
          <a:prstGeom prst="rect">
            <a:avLst/>
          </a:prstGeom>
          <a:noFill/>
        </p:spPr>
        <p:txBody>
          <a:bodyPr wrap="square" anchor="ctr" lIns="38100" rIns="38100" tIns="25400" bIns="25400">
            <a:spAutoFit/>
          </a:bodyPr>
          <a:lstStyle/>
          <a:p>
            <a:pPr algn="l">
              <a:lnSpc>
                <a:spcPct val="106000"/>
              </a:lnSpc>
              <a:spcBef>
                <a:spcPts val="0"/>
              </a:spcBef>
              <a:spcAft>
                <a:spcPts val="200"/>
              </a:spcAft>
            </a:pPr>
            <a:r>
              <a:rPr sz="1100" b="1" i="0">
                <a:solidFill>
                  <a:srgbClr val="7C56A9"/>
                </a:solidFill>
                <a:latin typeface="Inter"/>
              </a:rPr>
              <a:t>● </a:t>
            </a:r>
            <a:r>
              <a:rPr sz="950" b="0" i="0">
                <a:solidFill>
                  <a:srgbClr val="6A6E78"/>
                </a:solidFill>
                <a:latin typeface="Inter"/>
              </a:rPr>
              <a:t>U0 · ¡VOLVEMOS!   ·   C6+ · el reencuentro</a:t>
            </a:r>
          </a:p>
        </p:txBody>
      </p:sp>
      <p:sp>
        <p:nvSpPr>
          <p:cNvPr id="32" name="TextBox 31"/>
          <p:cNvSpPr txBox="1"/>
          <p:nvPr/>
        </p:nvSpPr>
        <p:spPr>
          <a:xfrm>
            <a:off x="8686800" y="6565392"/>
            <a:ext cx="3063240" cy="274320"/>
          </a:xfrm>
          <a:prstGeom prst="rect">
            <a:avLst/>
          </a:prstGeom>
          <a:noFill/>
        </p:spPr>
        <p:txBody>
          <a:bodyPr wrap="square" anchor="ctr" lIns="38100" rIns="38100" tIns="25400" bIns="25400">
            <a:spAutoFit/>
          </a:bodyPr>
          <a:lstStyle/>
          <a:p>
            <a:pPr algn="r">
              <a:lnSpc>
                <a:spcPct val="106000"/>
              </a:lnSpc>
              <a:spcBef>
                <a:spcPts val="0"/>
              </a:spcBef>
              <a:spcAft>
                <a:spcPts val="200"/>
              </a:spcAft>
            </a:pPr>
            <a:r>
              <a:rPr sz="900" b="0" i="1">
                <a:solidFill>
                  <a:srgbClr val="6A6E78"/>
                </a:solidFill>
                <a:latin typeface="Inter"/>
              </a:rPr>
              <a:t>Docentenversie — met oplossingen</a:t>
            </a:r>
          </a:p>
        </p:txBody>
      </p:sp>
      <p:sp>
        <p:nvSpPr>
          <p:cNvPr id="33" name="TextBox 32"/>
          <p:cNvSpPr txBox="1"/>
          <p:nvPr/>
        </p:nvSpPr>
        <p:spPr>
          <a:xfrm>
            <a:off x="11475720" y="6565392"/>
            <a:ext cx="457200" cy="274320"/>
          </a:xfrm>
          <a:prstGeom prst="rect">
            <a:avLst/>
          </a:prstGeom>
          <a:noFill/>
        </p:spPr>
        <p:txBody>
          <a:bodyPr wrap="square" anchor="ctr" lIns="38100" rIns="38100" tIns="25400" bIns="25400">
            <a:spAutoFit/>
          </a:bodyPr>
          <a:lstStyle/>
          <a:p>
            <a:pPr algn="r">
              <a:lnSpc>
                <a:spcPct val="106000"/>
              </a:lnSpc>
              <a:spcBef>
                <a:spcPts val="0"/>
              </a:spcBef>
              <a:spcAft>
                <a:spcPts val="200"/>
              </a:spcAft>
            </a:pPr>
            <a:r>
              <a:rPr sz="950" b="1" i="0">
                <a:solidFill>
                  <a:srgbClr val="5B3E83"/>
                </a:solidFill>
                <a:latin typeface="Inter"/>
              </a:rPr>
              <a:t>16</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2"/>
                                        </p:tgtEl>
                                        <p:attrNameLst>
                                          <p:attrName>style.visibility</p:attrName>
                                        </p:attrNameLst>
                                      </p:cBhvr>
                                      <p:to>
                                        <p:strVal val="visible"/>
                                      </p:to>
                                    </p:set>
                                    <p:animEffect transition="in" filter="fade">
                                      <p:cBhvr>
                                        <p:cTn id="7" dur="500"/>
                                        <p:tgtEl>
                                          <p:spTgt spid="12"/>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7"/>
                                        </p:tgtEl>
                                        <p:attrNameLst>
                                          <p:attrName>style.visibility</p:attrName>
                                        </p:attrNameLst>
                                      </p:cBhvr>
                                      <p:to>
                                        <p:strVal val="visible"/>
                                      </p:to>
                                    </p:set>
                                    <p:animEffect transition="in" filter="fade">
                                      <p:cBhvr>
                                        <p:cTn id="12" dur="500"/>
                                        <p:tgtEl>
                                          <p:spTgt spid="17"/>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22"/>
                                        </p:tgtEl>
                                        <p:attrNameLst>
                                          <p:attrName>style.visibility</p:attrName>
                                        </p:attrNameLst>
                                      </p:cBhvr>
                                      <p:to>
                                        <p:strVal val="visible"/>
                                      </p:to>
                                    </p:set>
                                    <p:animEffect transition="in" filter="fade">
                                      <p:cBhvr>
                                        <p:cTn id="17" dur="500"/>
                                        <p:tgtEl>
                                          <p:spTgt spid="22"/>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28"/>
                                        </p:tgtEl>
                                        <p:attrNameLst>
                                          <p:attrName>style.visibility</p:attrName>
                                        </p:attrNameLst>
                                      </p:cBhvr>
                                      <p:to>
                                        <p:strVal val="visible"/>
                                      </p:to>
                                    </p:set>
                                    <p:animEffect transition="in" filter="fade">
                                      <p:cBhvr>
                                        <p:cTn id="22" dur="500"/>
                                        <p:tgtEl>
                                          <p:spTgt spid="28"/>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29"/>
                                        </p:tgtEl>
                                        <p:attrNameLst>
                                          <p:attrName>style.visibility</p:attrName>
                                        </p:attrNameLst>
                                      </p:cBhvr>
                                      <p:to>
                                        <p:strVal val="visible"/>
                                      </p:to>
                                    </p:set>
                                    <p:animEffect transition="in" filter="fade">
                                      <p:cBhvr>
                                        <p:cTn id="27" dur="500"/>
                                        <p:tgtEl>
                                          <p:spTgt spid="2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C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78992"/>
          </a:xfrm>
          <a:prstGeom prst="rect">
            <a:avLst/>
          </a:prstGeom>
          <a:solidFill>
            <a:srgbClr val="7C56A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78992"/>
            <a:ext cx="12191695" cy="54864"/>
          </a:xfrm>
          <a:prstGeom prst="rect">
            <a:avLst/>
          </a:prstGeom>
          <a:solidFill>
            <a:srgbClr val="5B3E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02920" y="182880"/>
            <a:ext cx="2053742" cy="292608"/>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88900" rIns="88900" tIns="12700" bIns="12700"/>
          <a:lstStyle/>
          <a:p>
            <a:pPr algn="ctr"/>
            <a:r>
              <a:rPr sz="1100" b="1">
                <a:solidFill>
                  <a:srgbClr val="7C56A9"/>
                </a:solidFill>
                <a:latin typeface="Inter"/>
              </a:rPr>
              <a:t>§1 · QUIZ · INTERACCIÓN</a:t>
            </a:r>
          </a:p>
        </p:txBody>
      </p:sp>
      <p:sp>
        <p:nvSpPr>
          <p:cNvPr id="6" name="TextBox 5"/>
          <p:cNvSpPr txBox="1"/>
          <p:nvPr/>
        </p:nvSpPr>
        <p:spPr>
          <a:xfrm>
            <a:off x="10424160" y="-137160"/>
            <a:ext cx="1737360" cy="1371600"/>
          </a:xfrm>
          <a:prstGeom prst="rect">
            <a:avLst/>
          </a:prstGeom>
          <a:noFill/>
        </p:spPr>
        <p:txBody>
          <a:bodyPr wrap="square" anchor="t" lIns="38100" rIns="38100" tIns="25400" bIns="25400">
            <a:spAutoFit/>
          </a:bodyPr>
          <a:lstStyle/>
          <a:p>
            <a:pPr algn="r">
              <a:lnSpc>
                <a:spcPct val="106000"/>
              </a:lnSpc>
              <a:spcBef>
                <a:spcPts val="0"/>
              </a:spcBef>
              <a:spcAft>
                <a:spcPts val="200"/>
              </a:spcAft>
            </a:pPr>
            <a:r>
              <a:rPr sz="8800" b="1" i="0">
                <a:solidFill>
                  <a:srgbClr val="FFFFFF"/>
                </a:solidFill>
                <a:latin typeface="Bricolage Grotesque"/>
              </a:rPr>
              <a:t>1</a:t>
            </a:r>
          </a:p>
        </p:txBody>
      </p:sp>
      <p:sp>
        <p:nvSpPr>
          <p:cNvPr id="7" name="TextBox 6"/>
          <p:cNvSpPr txBox="1"/>
          <p:nvPr/>
        </p:nvSpPr>
        <p:spPr>
          <a:xfrm>
            <a:off x="457200" y="457200"/>
            <a:ext cx="9692640" cy="502920"/>
          </a:xfrm>
          <a:prstGeom prst="rect">
            <a:avLst/>
          </a:prstGeom>
          <a:noFill/>
        </p:spPr>
        <p:txBody>
          <a:bodyPr wrap="square" anchor="ctr" lIns="38100" rIns="38100" tIns="25400" bIns="25400">
            <a:spAutoFit/>
          </a:bodyPr>
          <a:lstStyle/>
          <a:p>
            <a:pPr algn="l">
              <a:lnSpc>
                <a:spcPct val="106000"/>
              </a:lnSpc>
              <a:spcBef>
                <a:spcPts val="0"/>
              </a:spcBef>
              <a:spcAft>
                <a:spcPts val="200"/>
              </a:spcAft>
            </a:pPr>
            <a:r>
              <a:rPr sz="2700" b="1" i="0">
                <a:solidFill>
                  <a:srgbClr val="FFFFFF"/>
                </a:solidFill>
                <a:latin typeface="Bricolage Grotesque"/>
              </a:rPr>
              <a:t>Completa la presentación</a:t>
            </a:r>
          </a:p>
        </p:txBody>
      </p:sp>
      <p:sp>
        <p:nvSpPr>
          <p:cNvPr id="8" name="TextBox 7"/>
          <p:cNvSpPr txBox="1"/>
          <p:nvPr/>
        </p:nvSpPr>
        <p:spPr>
          <a:xfrm>
            <a:off x="502920" y="932688"/>
            <a:ext cx="9692640" cy="274320"/>
          </a:xfrm>
          <a:prstGeom prst="rect">
            <a:avLst/>
          </a:prstGeom>
          <a:noFill/>
        </p:spPr>
        <p:txBody>
          <a:bodyPr wrap="square" anchor="t" lIns="38100" rIns="38100" tIns="25400" bIns="25400">
            <a:spAutoFit/>
          </a:bodyPr>
          <a:lstStyle/>
          <a:p>
            <a:pPr algn="l">
              <a:lnSpc>
                <a:spcPct val="106000"/>
              </a:lnSpc>
              <a:spcBef>
                <a:spcPts val="0"/>
              </a:spcBef>
              <a:spcAft>
                <a:spcPts val="200"/>
              </a:spcAft>
            </a:pPr>
            <a:r>
              <a:rPr sz="1250" b="0" i="1">
                <a:solidFill>
                  <a:srgbClr val="EEE8F5"/>
                </a:solidFill>
                <a:latin typeface="Inter"/>
              </a:rPr>
              <a:t>Wat past? Klik → het antwoord verschijnt.</a:t>
            </a:r>
          </a:p>
        </p:txBody>
      </p:sp>
      <p:sp>
        <p:nvSpPr>
          <p:cNvPr id="9" name="Rounded Rectangle 8"/>
          <p:cNvSpPr/>
          <p:nvPr/>
        </p:nvSpPr>
        <p:spPr>
          <a:xfrm>
            <a:off x="457200" y="1600200"/>
            <a:ext cx="5532120" cy="713232"/>
          </a:xfrm>
          <a:prstGeom prst="roundRect">
            <a:avLst>
              <a:gd name="adj" fmla="val 5500"/>
            </a:avLst>
          </a:prstGeom>
          <a:solidFill>
            <a:srgbClr val="FFFFFF"/>
          </a:solidFill>
          <a:ln w="12700">
            <a:solidFill>
              <a:srgbClr val="E4E3D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94360" y="1600200"/>
            <a:ext cx="3566160" cy="713232"/>
          </a:xfrm>
          <a:prstGeom prst="rect">
            <a:avLst/>
          </a:prstGeom>
          <a:noFill/>
        </p:spPr>
        <p:txBody>
          <a:bodyPr wrap="square" anchor="ctr" lIns="38100" rIns="38100" tIns="25400" bIns="25400">
            <a:spAutoFit/>
          </a:bodyPr>
          <a:lstStyle/>
          <a:p>
            <a:pPr algn="l">
              <a:lnSpc>
                <a:spcPct val="106000"/>
              </a:lnSpc>
              <a:spcBef>
                <a:spcPts val="0"/>
              </a:spcBef>
              <a:spcAft>
                <a:spcPts val="200"/>
              </a:spcAft>
            </a:pPr>
            <a:r>
              <a:rPr sz="1200" b="0" i="0">
                <a:solidFill>
                  <a:srgbClr val="20242E"/>
                </a:solidFill>
                <a:latin typeface="Inter"/>
              </a:rPr>
              <a:t>¿Cómo te ___? (heten)</a:t>
            </a:r>
          </a:p>
        </p:txBody>
      </p:sp>
      <p:sp>
        <p:nvSpPr>
          <p:cNvPr id="11" name="TextBox 10"/>
          <p:cNvSpPr txBox="1"/>
          <p:nvPr/>
        </p:nvSpPr>
        <p:spPr>
          <a:xfrm>
            <a:off x="4206239" y="1600200"/>
            <a:ext cx="1645920" cy="713232"/>
          </a:xfrm>
          <a:prstGeom prst="rect">
            <a:avLst/>
          </a:prstGeom>
          <a:noFill/>
        </p:spPr>
        <p:txBody>
          <a:bodyPr wrap="square" anchor="ctr" lIns="38100" rIns="38100" tIns="25400" bIns="25400">
            <a:spAutoFit/>
          </a:bodyPr>
          <a:lstStyle/>
          <a:p>
            <a:pPr algn="l">
              <a:lnSpc>
                <a:spcPct val="106000"/>
              </a:lnSpc>
              <a:spcBef>
                <a:spcPts val="0"/>
              </a:spcBef>
              <a:spcAft>
                <a:spcPts val="200"/>
              </a:spcAft>
            </a:pPr>
            <a:r>
              <a:rPr sz="1200" b="1" i="0">
                <a:solidFill>
                  <a:srgbClr val="5B3E83"/>
                </a:solidFill>
                <a:latin typeface="Inter"/>
              </a:rPr>
              <a:t>→ llamas</a:t>
            </a:r>
          </a:p>
        </p:txBody>
      </p:sp>
      <p:sp>
        <p:nvSpPr>
          <p:cNvPr id="12" name="Rounded Rectangle 11"/>
          <p:cNvSpPr/>
          <p:nvPr/>
        </p:nvSpPr>
        <p:spPr>
          <a:xfrm>
            <a:off x="457200" y="2478024"/>
            <a:ext cx="5532120" cy="713232"/>
          </a:xfrm>
          <a:prstGeom prst="roundRect">
            <a:avLst>
              <a:gd name="adj" fmla="val 5500"/>
            </a:avLst>
          </a:prstGeom>
          <a:solidFill>
            <a:srgbClr val="FFFFFF"/>
          </a:solidFill>
          <a:ln w="12700">
            <a:solidFill>
              <a:srgbClr val="E4E3D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94360" y="2478024"/>
            <a:ext cx="3566160" cy="713232"/>
          </a:xfrm>
          <a:prstGeom prst="rect">
            <a:avLst/>
          </a:prstGeom>
          <a:noFill/>
        </p:spPr>
        <p:txBody>
          <a:bodyPr wrap="square" anchor="ctr" lIns="38100" rIns="38100" tIns="25400" bIns="25400">
            <a:spAutoFit/>
          </a:bodyPr>
          <a:lstStyle/>
          <a:p>
            <a:pPr algn="l">
              <a:lnSpc>
                <a:spcPct val="106000"/>
              </a:lnSpc>
              <a:spcBef>
                <a:spcPts val="0"/>
              </a:spcBef>
              <a:spcAft>
                <a:spcPts val="200"/>
              </a:spcAft>
            </a:pPr>
            <a:r>
              <a:rPr sz="1200" b="0" i="0">
                <a:solidFill>
                  <a:srgbClr val="20242E"/>
                </a:solidFill>
                <a:latin typeface="Inter"/>
              </a:rPr>
              <a:t>___ de Bélgica. (ik kom uit)</a:t>
            </a:r>
          </a:p>
        </p:txBody>
      </p:sp>
      <p:sp>
        <p:nvSpPr>
          <p:cNvPr id="14" name="TextBox 13"/>
          <p:cNvSpPr txBox="1"/>
          <p:nvPr/>
        </p:nvSpPr>
        <p:spPr>
          <a:xfrm>
            <a:off x="4206239" y="2478024"/>
            <a:ext cx="1645920" cy="713232"/>
          </a:xfrm>
          <a:prstGeom prst="rect">
            <a:avLst/>
          </a:prstGeom>
          <a:noFill/>
        </p:spPr>
        <p:txBody>
          <a:bodyPr wrap="square" anchor="ctr" lIns="38100" rIns="38100" tIns="25400" bIns="25400">
            <a:spAutoFit/>
          </a:bodyPr>
          <a:lstStyle/>
          <a:p>
            <a:pPr algn="l">
              <a:lnSpc>
                <a:spcPct val="106000"/>
              </a:lnSpc>
              <a:spcBef>
                <a:spcPts val="0"/>
              </a:spcBef>
              <a:spcAft>
                <a:spcPts val="200"/>
              </a:spcAft>
            </a:pPr>
            <a:r>
              <a:rPr sz="1200" b="1" i="0">
                <a:solidFill>
                  <a:srgbClr val="5B3E83"/>
                </a:solidFill>
                <a:latin typeface="Inter"/>
              </a:rPr>
              <a:t>→ Soy</a:t>
            </a:r>
          </a:p>
        </p:txBody>
      </p:sp>
      <p:sp>
        <p:nvSpPr>
          <p:cNvPr id="15" name="Rounded Rectangle 14"/>
          <p:cNvSpPr/>
          <p:nvPr/>
        </p:nvSpPr>
        <p:spPr>
          <a:xfrm>
            <a:off x="457200" y="3355848"/>
            <a:ext cx="5532120" cy="713232"/>
          </a:xfrm>
          <a:prstGeom prst="roundRect">
            <a:avLst>
              <a:gd name="adj" fmla="val 5500"/>
            </a:avLst>
          </a:prstGeom>
          <a:solidFill>
            <a:srgbClr val="FFFFFF"/>
          </a:solidFill>
          <a:ln w="12700">
            <a:solidFill>
              <a:srgbClr val="E4E3D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94360" y="3355848"/>
            <a:ext cx="3566160" cy="713232"/>
          </a:xfrm>
          <a:prstGeom prst="rect">
            <a:avLst/>
          </a:prstGeom>
          <a:noFill/>
        </p:spPr>
        <p:txBody>
          <a:bodyPr wrap="square" anchor="ctr" lIns="38100" rIns="38100" tIns="25400" bIns="25400">
            <a:spAutoFit/>
          </a:bodyPr>
          <a:lstStyle/>
          <a:p>
            <a:pPr algn="l">
              <a:lnSpc>
                <a:spcPct val="106000"/>
              </a:lnSpc>
              <a:spcBef>
                <a:spcPts val="0"/>
              </a:spcBef>
              <a:spcAft>
                <a:spcPts val="200"/>
              </a:spcAft>
            </a:pPr>
            <a:r>
              <a:rPr sz="1200" b="0" i="0">
                <a:solidFill>
                  <a:srgbClr val="20242E"/>
                </a:solidFill>
                <a:latin typeface="Inter"/>
              </a:rPr>
              <a:t>Tengo dieciséis ___.</a:t>
            </a:r>
          </a:p>
        </p:txBody>
      </p:sp>
      <p:sp>
        <p:nvSpPr>
          <p:cNvPr id="17" name="TextBox 16"/>
          <p:cNvSpPr txBox="1"/>
          <p:nvPr/>
        </p:nvSpPr>
        <p:spPr>
          <a:xfrm>
            <a:off x="4206239" y="3355848"/>
            <a:ext cx="1645920" cy="713232"/>
          </a:xfrm>
          <a:prstGeom prst="rect">
            <a:avLst/>
          </a:prstGeom>
          <a:noFill/>
        </p:spPr>
        <p:txBody>
          <a:bodyPr wrap="square" anchor="ctr" lIns="38100" rIns="38100" tIns="25400" bIns="25400">
            <a:spAutoFit/>
          </a:bodyPr>
          <a:lstStyle/>
          <a:p>
            <a:pPr algn="l">
              <a:lnSpc>
                <a:spcPct val="106000"/>
              </a:lnSpc>
              <a:spcBef>
                <a:spcPts val="0"/>
              </a:spcBef>
              <a:spcAft>
                <a:spcPts val="200"/>
              </a:spcAft>
            </a:pPr>
            <a:r>
              <a:rPr sz="1200" b="1" i="0">
                <a:solidFill>
                  <a:srgbClr val="5B3E83"/>
                </a:solidFill>
                <a:latin typeface="Inter"/>
              </a:rPr>
              <a:t>→ años</a:t>
            </a:r>
          </a:p>
        </p:txBody>
      </p:sp>
      <p:sp>
        <p:nvSpPr>
          <p:cNvPr id="18" name="Rounded Rectangle 17"/>
          <p:cNvSpPr/>
          <p:nvPr/>
        </p:nvSpPr>
        <p:spPr>
          <a:xfrm>
            <a:off x="6172200" y="1600200"/>
            <a:ext cx="5532120" cy="713232"/>
          </a:xfrm>
          <a:prstGeom prst="roundRect">
            <a:avLst>
              <a:gd name="adj" fmla="val 5500"/>
            </a:avLst>
          </a:prstGeom>
          <a:solidFill>
            <a:srgbClr val="FFFFFF"/>
          </a:solidFill>
          <a:ln w="12700">
            <a:solidFill>
              <a:srgbClr val="E4E3D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309360" y="1600200"/>
            <a:ext cx="3566160" cy="713232"/>
          </a:xfrm>
          <a:prstGeom prst="rect">
            <a:avLst/>
          </a:prstGeom>
          <a:noFill/>
        </p:spPr>
        <p:txBody>
          <a:bodyPr wrap="square" anchor="ctr" lIns="38100" rIns="38100" tIns="25400" bIns="25400">
            <a:spAutoFit/>
          </a:bodyPr>
          <a:lstStyle/>
          <a:p>
            <a:pPr algn="l">
              <a:lnSpc>
                <a:spcPct val="106000"/>
              </a:lnSpc>
              <a:spcBef>
                <a:spcPts val="0"/>
              </a:spcBef>
              <a:spcAft>
                <a:spcPts val="200"/>
              </a:spcAft>
            </a:pPr>
            <a:r>
              <a:rPr sz="1200" b="0" i="0">
                <a:solidFill>
                  <a:srgbClr val="20242E"/>
                </a:solidFill>
                <a:latin typeface="Inter"/>
              </a:rPr>
              <a:t>¿De ___ eres? (waar)</a:t>
            </a:r>
          </a:p>
        </p:txBody>
      </p:sp>
      <p:sp>
        <p:nvSpPr>
          <p:cNvPr id="20" name="TextBox 19"/>
          <p:cNvSpPr txBox="1"/>
          <p:nvPr/>
        </p:nvSpPr>
        <p:spPr>
          <a:xfrm>
            <a:off x="9921239" y="1600200"/>
            <a:ext cx="1645920" cy="713232"/>
          </a:xfrm>
          <a:prstGeom prst="rect">
            <a:avLst/>
          </a:prstGeom>
          <a:noFill/>
        </p:spPr>
        <p:txBody>
          <a:bodyPr wrap="square" anchor="ctr" lIns="38100" rIns="38100" tIns="25400" bIns="25400">
            <a:spAutoFit/>
          </a:bodyPr>
          <a:lstStyle/>
          <a:p>
            <a:pPr algn="l">
              <a:lnSpc>
                <a:spcPct val="106000"/>
              </a:lnSpc>
              <a:spcBef>
                <a:spcPts val="0"/>
              </a:spcBef>
              <a:spcAft>
                <a:spcPts val="200"/>
              </a:spcAft>
            </a:pPr>
            <a:r>
              <a:rPr sz="1200" b="1" i="0">
                <a:solidFill>
                  <a:srgbClr val="5B3E83"/>
                </a:solidFill>
                <a:latin typeface="Inter"/>
              </a:rPr>
              <a:t>→ dónde</a:t>
            </a:r>
          </a:p>
        </p:txBody>
      </p:sp>
      <p:sp>
        <p:nvSpPr>
          <p:cNvPr id="21" name="Rounded Rectangle 20"/>
          <p:cNvSpPr/>
          <p:nvPr/>
        </p:nvSpPr>
        <p:spPr>
          <a:xfrm>
            <a:off x="6172200" y="2478024"/>
            <a:ext cx="5532120" cy="713232"/>
          </a:xfrm>
          <a:prstGeom prst="roundRect">
            <a:avLst>
              <a:gd name="adj" fmla="val 5500"/>
            </a:avLst>
          </a:prstGeom>
          <a:solidFill>
            <a:srgbClr val="FFFFFF"/>
          </a:solidFill>
          <a:ln w="12700">
            <a:solidFill>
              <a:srgbClr val="E4E3D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09360" y="2478024"/>
            <a:ext cx="3566160" cy="713232"/>
          </a:xfrm>
          <a:prstGeom prst="rect">
            <a:avLst/>
          </a:prstGeom>
          <a:noFill/>
        </p:spPr>
        <p:txBody>
          <a:bodyPr wrap="square" anchor="ctr" lIns="38100" rIns="38100" tIns="25400" bIns="25400">
            <a:spAutoFit/>
          </a:bodyPr>
          <a:lstStyle/>
          <a:p>
            <a:pPr algn="l">
              <a:lnSpc>
                <a:spcPct val="106000"/>
              </a:lnSpc>
              <a:spcBef>
                <a:spcPts val="0"/>
              </a:spcBef>
              <a:spcAft>
                <a:spcPts val="200"/>
              </a:spcAft>
            </a:pPr>
            <a:r>
              <a:rPr sz="1200" b="0" i="0">
                <a:solidFill>
                  <a:srgbClr val="20242E"/>
                </a:solidFill>
                <a:latin typeface="Inter"/>
              </a:rPr>
              <a:t>Yo ___ en Gante. (wonen)</a:t>
            </a:r>
          </a:p>
        </p:txBody>
      </p:sp>
      <p:sp>
        <p:nvSpPr>
          <p:cNvPr id="23" name="TextBox 22"/>
          <p:cNvSpPr txBox="1"/>
          <p:nvPr/>
        </p:nvSpPr>
        <p:spPr>
          <a:xfrm>
            <a:off x="9921239" y="2478024"/>
            <a:ext cx="1645920" cy="713232"/>
          </a:xfrm>
          <a:prstGeom prst="rect">
            <a:avLst/>
          </a:prstGeom>
          <a:noFill/>
        </p:spPr>
        <p:txBody>
          <a:bodyPr wrap="square" anchor="ctr" lIns="38100" rIns="38100" tIns="25400" bIns="25400">
            <a:spAutoFit/>
          </a:bodyPr>
          <a:lstStyle/>
          <a:p>
            <a:pPr algn="l">
              <a:lnSpc>
                <a:spcPct val="106000"/>
              </a:lnSpc>
              <a:spcBef>
                <a:spcPts val="0"/>
              </a:spcBef>
              <a:spcAft>
                <a:spcPts val="200"/>
              </a:spcAft>
            </a:pPr>
            <a:r>
              <a:rPr sz="1200" b="1" i="0">
                <a:solidFill>
                  <a:srgbClr val="5B3E83"/>
                </a:solidFill>
                <a:latin typeface="Inter"/>
              </a:rPr>
              <a:t>→ vivo</a:t>
            </a:r>
          </a:p>
        </p:txBody>
      </p:sp>
      <p:sp>
        <p:nvSpPr>
          <p:cNvPr id="24" name="Rounded Rectangle 23"/>
          <p:cNvSpPr/>
          <p:nvPr/>
        </p:nvSpPr>
        <p:spPr>
          <a:xfrm>
            <a:off x="6172200" y="3355848"/>
            <a:ext cx="5532120" cy="713232"/>
          </a:xfrm>
          <a:prstGeom prst="roundRect">
            <a:avLst>
              <a:gd name="adj" fmla="val 5500"/>
            </a:avLst>
          </a:prstGeom>
          <a:solidFill>
            <a:srgbClr val="FFFFFF"/>
          </a:solidFill>
          <a:ln w="12700">
            <a:solidFill>
              <a:srgbClr val="E4E3D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309360" y="3355848"/>
            <a:ext cx="3566160" cy="713232"/>
          </a:xfrm>
          <a:prstGeom prst="rect">
            <a:avLst/>
          </a:prstGeom>
          <a:noFill/>
        </p:spPr>
        <p:txBody>
          <a:bodyPr wrap="square" anchor="ctr" lIns="38100" rIns="38100" tIns="25400" bIns="25400">
            <a:spAutoFit/>
          </a:bodyPr>
          <a:lstStyle/>
          <a:p>
            <a:pPr algn="l">
              <a:lnSpc>
                <a:spcPct val="106000"/>
              </a:lnSpc>
              <a:spcBef>
                <a:spcPts val="0"/>
              </a:spcBef>
              <a:spcAft>
                <a:spcPts val="200"/>
              </a:spcAft>
            </a:pPr>
            <a:r>
              <a:rPr sz="1200" b="0" i="0">
                <a:solidFill>
                  <a:srgbClr val="20242E"/>
                </a:solidFill>
                <a:latin typeface="Inter"/>
              </a:rPr>
              <a:t>Mucho ___. (aangenaam)</a:t>
            </a:r>
          </a:p>
        </p:txBody>
      </p:sp>
      <p:sp>
        <p:nvSpPr>
          <p:cNvPr id="26" name="TextBox 25"/>
          <p:cNvSpPr txBox="1"/>
          <p:nvPr/>
        </p:nvSpPr>
        <p:spPr>
          <a:xfrm>
            <a:off x="9921239" y="3355848"/>
            <a:ext cx="1645920" cy="713232"/>
          </a:xfrm>
          <a:prstGeom prst="rect">
            <a:avLst/>
          </a:prstGeom>
          <a:noFill/>
        </p:spPr>
        <p:txBody>
          <a:bodyPr wrap="square" anchor="ctr" lIns="38100" rIns="38100" tIns="25400" bIns="25400">
            <a:spAutoFit/>
          </a:bodyPr>
          <a:lstStyle/>
          <a:p>
            <a:pPr algn="l">
              <a:lnSpc>
                <a:spcPct val="106000"/>
              </a:lnSpc>
              <a:spcBef>
                <a:spcPts val="0"/>
              </a:spcBef>
              <a:spcAft>
                <a:spcPts val="200"/>
              </a:spcAft>
            </a:pPr>
            <a:r>
              <a:rPr sz="1200" b="1" i="0">
                <a:solidFill>
                  <a:srgbClr val="5B3E83"/>
                </a:solidFill>
                <a:latin typeface="Inter"/>
              </a:rPr>
              <a:t>→ gusto</a:t>
            </a:r>
          </a:p>
        </p:txBody>
      </p:sp>
      <p:sp>
        <p:nvSpPr>
          <p:cNvPr id="27" name="Rounded Rectangle 26"/>
          <p:cNvSpPr/>
          <p:nvPr/>
        </p:nvSpPr>
        <p:spPr>
          <a:xfrm>
            <a:off x="457200" y="6053328"/>
            <a:ext cx="2093976" cy="365760"/>
          </a:xfrm>
          <a:prstGeom prst="roundRect">
            <a:avLst>
              <a:gd name="adj" fmla="val 50000"/>
            </a:avLst>
          </a:prstGeom>
          <a:solidFill>
            <a:srgbClr val="7C56A9"/>
          </a:solidFill>
          <a:ln w="12700">
            <a:solidFill>
              <a:srgbClr val="E4E3DE"/>
            </a:solidFill>
          </a:ln>
          <a:effectLst/>
        </p:spPr>
        <p:style>
          <a:lnRef idx="1">
            <a:schemeClr val="accent1"/>
          </a:lnRef>
          <a:fillRef idx="3">
            <a:schemeClr val="accent1"/>
          </a:fillRef>
          <a:effectRef idx="2">
            <a:schemeClr val="accent1"/>
          </a:effectRef>
          <a:fontRef idx="minor">
            <a:schemeClr val="lt1"/>
          </a:fontRef>
        </p:style>
        <p:txBody>
          <a:bodyPr rtlCol="0" anchor="ctr" tIns="12700" bIns="12700"/>
          <a:lstStyle/>
          <a:p>
            <a:pPr algn="ctr"/>
            <a:r>
              <a:rPr sz="1050" b="1">
                <a:solidFill>
                  <a:srgbClr val="FFFFFF"/>
                </a:solidFill>
                <a:latin typeface="Inter"/>
              </a:rPr>
              <a:t>▶  Mostrar solución</a:t>
            </a:r>
          </a:p>
        </p:txBody>
      </p:sp>
      <p:sp>
        <p:nvSpPr>
          <p:cNvPr id="28" name="Rounded Rectangle 27"/>
          <p:cNvSpPr/>
          <p:nvPr/>
        </p:nvSpPr>
        <p:spPr>
          <a:xfrm>
            <a:off x="2697480" y="6053328"/>
            <a:ext cx="1088136" cy="365760"/>
          </a:xfrm>
          <a:prstGeom prst="roundRect">
            <a:avLst>
              <a:gd name="adj" fmla="val 50000"/>
            </a:avLst>
          </a:prstGeom>
          <a:solidFill>
            <a:srgbClr val="FFFFFF"/>
          </a:solidFill>
          <a:ln w="12700">
            <a:solidFill>
              <a:srgbClr val="E4E3DE"/>
            </a:solidFill>
          </a:ln>
          <a:effectLst/>
        </p:spPr>
        <p:style>
          <a:lnRef idx="1">
            <a:schemeClr val="accent1"/>
          </a:lnRef>
          <a:fillRef idx="3">
            <a:schemeClr val="accent1"/>
          </a:fillRef>
          <a:effectRef idx="2">
            <a:schemeClr val="accent1"/>
          </a:effectRef>
          <a:fontRef idx="minor">
            <a:schemeClr val="lt1"/>
          </a:fontRef>
        </p:style>
        <p:txBody>
          <a:bodyPr rtlCol="0" anchor="ctr" tIns="12700" bIns="12700"/>
          <a:lstStyle/>
          <a:p>
            <a:pPr algn="ctr"/>
            <a:r>
              <a:rPr sz="1050" b="1">
                <a:solidFill>
                  <a:srgbClr val="5B3E83"/>
                </a:solidFill>
                <a:latin typeface="Inter"/>
              </a:rPr>
              <a:t>⏭  Saltar</a:t>
            </a:r>
          </a:p>
        </p:txBody>
      </p:sp>
      <p:sp>
        <p:nvSpPr>
          <p:cNvPr id="29" name="Rounded Rectangle 28">
            <a:hlinkClick action="ppaction://hlinksldjump" r:id="rId3"/>
          </p:cNvPr>
          <p:cNvSpPr/>
          <p:nvPr/>
        </p:nvSpPr>
        <p:spPr>
          <a:xfrm>
            <a:off x="3931920" y="6053328"/>
            <a:ext cx="1691639" cy="365760"/>
          </a:xfrm>
          <a:prstGeom prst="roundRect">
            <a:avLst>
              <a:gd name="adj" fmla="val 50000"/>
            </a:avLst>
          </a:prstGeom>
          <a:solidFill>
            <a:srgbClr val="FFFFFF"/>
          </a:solidFill>
          <a:ln w="12700">
            <a:solidFill>
              <a:srgbClr val="E4E3DE"/>
            </a:solidFill>
          </a:ln>
          <a:effectLst/>
        </p:spPr>
        <p:style>
          <a:lnRef idx="1">
            <a:schemeClr val="accent1"/>
          </a:lnRef>
          <a:fillRef idx="3">
            <a:schemeClr val="accent1"/>
          </a:fillRef>
          <a:effectRef idx="2">
            <a:schemeClr val="accent1"/>
          </a:effectRef>
          <a:fontRef idx="minor">
            <a:schemeClr val="lt1"/>
          </a:fontRef>
        </p:style>
        <p:txBody>
          <a:bodyPr rtlCol="0" anchor="ctr" tIns="12700" bIns="12700"/>
          <a:lstStyle/>
          <a:p>
            <a:pPr algn="ctr"/>
            <a:r>
              <a:rPr sz="1050" b="1">
                <a:solidFill>
                  <a:srgbClr val="5B3E83"/>
                </a:solidFill>
                <a:latin typeface="Inter"/>
              </a:rPr>
              <a:t>⌂  Menú (dia 2)</a:t>
            </a:r>
          </a:p>
        </p:txBody>
      </p:sp>
      <p:sp>
        <p:nvSpPr>
          <p:cNvPr id="30" name="TextBox 29"/>
          <p:cNvSpPr txBox="1"/>
          <p:nvPr/>
        </p:nvSpPr>
        <p:spPr>
          <a:xfrm>
            <a:off x="8321040" y="6053328"/>
            <a:ext cx="3383280" cy="365760"/>
          </a:xfrm>
          <a:prstGeom prst="rect">
            <a:avLst/>
          </a:prstGeom>
          <a:noFill/>
        </p:spPr>
        <p:txBody>
          <a:bodyPr wrap="square" anchor="ctr" lIns="38100" rIns="38100" tIns="25400" bIns="25400">
            <a:spAutoFit/>
          </a:bodyPr>
          <a:lstStyle/>
          <a:p>
            <a:pPr algn="r">
              <a:lnSpc>
                <a:spcPct val="106000"/>
              </a:lnSpc>
              <a:spcBef>
                <a:spcPts val="0"/>
              </a:spcBef>
              <a:spcAft>
                <a:spcPts val="200"/>
              </a:spcAft>
            </a:pPr>
            <a:r>
              <a:rPr sz="850" b="0" i="1">
                <a:solidFill>
                  <a:srgbClr val="6A6E78"/>
                </a:solidFill>
                <a:latin typeface="Inter"/>
              </a:rPr>
              <a:t>Noodroute (§5): werkt zonder audio/internet</a:t>
            </a:r>
          </a:p>
        </p:txBody>
      </p:sp>
      <p:sp>
        <p:nvSpPr>
          <p:cNvPr id="31" name="Rounded Rectangle 30"/>
          <p:cNvSpPr/>
          <p:nvPr/>
        </p:nvSpPr>
        <p:spPr>
          <a:xfrm>
            <a:off x="457200" y="4709160"/>
            <a:ext cx="11247120" cy="548640"/>
          </a:xfrm>
          <a:prstGeom prst="roundRect">
            <a:avLst>
              <a:gd name="adj" fmla="val 6000"/>
            </a:avLst>
          </a:prstGeom>
          <a:solidFill>
            <a:srgbClr val="EEE8F5"/>
          </a:solidFill>
          <a:ln w="19050">
            <a:solidFill>
              <a:srgbClr val="7C56A9"/>
            </a:solidFill>
          </a:ln>
          <a:effectLst/>
        </p:spPr>
        <p:style>
          <a:lnRef idx="1">
            <a:schemeClr val="accent1"/>
          </a:lnRef>
          <a:fillRef idx="3">
            <a:schemeClr val="accent1"/>
          </a:fillRef>
          <a:effectRef idx="2">
            <a:schemeClr val="accent1"/>
          </a:effectRef>
          <a:fontRef idx="minor">
            <a:schemeClr val="lt1"/>
          </a:fontRef>
        </p:style>
        <p:txBody>
          <a:bodyPr rtlCol="0" anchor="ctr" wrap="square" lIns="127000" rIns="127000" tIns="139700" bIns="76200"/>
          <a:lstStyle/>
          <a:p>
            <a:pPr algn="ctr">
              <a:lnSpc>
                <a:spcPct val="102000"/>
              </a:lnSpc>
              <a:spcBef>
                <a:spcPts val="0"/>
              </a:spcBef>
              <a:spcAft>
                <a:spcPts val="300"/>
              </a:spcAft>
            </a:pPr>
            <a:r>
              <a:rPr sz="1200" b="1" i="0">
                <a:solidFill>
                  <a:srgbClr val="5B3E83"/>
                </a:solidFill>
                <a:latin typeface="Inter"/>
              </a:rPr>
              <a:t>Presentarse: </a:t>
            </a:r>
            <a:r>
              <a:rPr sz="1200" b="0" i="0">
                <a:solidFill>
                  <a:srgbClr val="5B3E83"/>
                </a:solidFill>
                <a:latin typeface="Inter"/>
              </a:rPr>
              <a:t>¿Cómo te llamas? · Soy de … · Tengo … años · ¿De dónde eres? · Vivo en … · Mucho gusto.</a:t>
            </a:r>
          </a:p>
        </p:txBody>
      </p:sp>
      <p:sp>
        <p:nvSpPr>
          <p:cNvPr id="32" name="Rounded Rectangle 31"/>
          <p:cNvSpPr/>
          <p:nvPr/>
        </p:nvSpPr>
        <p:spPr>
          <a:xfrm>
            <a:off x="594360" y="4581144"/>
            <a:ext cx="1548993" cy="292608"/>
          </a:xfrm>
          <a:prstGeom prst="roundRect">
            <a:avLst>
              <a:gd name="adj" fmla="val 50000"/>
            </a:avLst>
          </a:prstGeom>
          <a:solidFill>
            <a:srgbClr val="7C56A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88900" rIns="88900" tIns="12700" bIns="12700"/>
          <a:lstStyle/>
          <a:p>
            <a:pPr algn="ctr"/>
            <a:r>
              <a:rPr sz="950" b="1">
                <a:solidFill>
                  <a:srgbClr val="FFFFFF"/>
                </a:solidFill>
                <a:latin typeface="Inter"/>
              </a:rPr>
              <a:t>SOLUCIÓN · docent</a:t>
            </a:r>
          </a:p>
        </p:txBody>
      </p:sp>
      <p:sp>
        <p:nvSpPr>
          <p:cNvPr id="33" name="Rectangle 32"/>
          <p:cNvSpPr/>
          <p:nvPr/>
        </p:nvSpPr>
        <p:spPr>
          <a:xfrm>
            <a:off x="0" y="6547104"/>
            <a:ext cx="12191695" cy="310896"/>
          </a:xfrm>
          <a:prstGeom prst="rect">
            <a:avLst/>
          </a:prstGeom>
          <a:solidFill>
            <a:srgbClr val="F3EE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411480" y="6565392"/>
            <a:ext cx="5486400" cy="274320"/>
          </a:xfrm>
          <a:prstGeom prst="rect">
            <a:avLst/>
          </a:prstGeom>
          <a:noFill/>
        </p:spPr>
        <p:txBody>
          <a:bodyPr wrap="square" anchor="ctr" lIns="38100" rIns="38100" tIns="25400" bIns="25400">
            <a:spAutoFit/>
          </a:bodyPr>
          <a:lstStyle/>
          <a:p>
            <a:pPr algn="l">
              <a:lnSpc>
                <a:spcPct val="106000"/>
              </a:lnSpc>
              <a:spcBef>
                <a:spcPts val="0"/>
              </a:spcBef>
              <a:spcAft>
                <a:spcPts val="200"/>
              </a:spcAft>
            </a:pPr>
            <a:r>
              <a:rPr sz="1100" b="1" i="0">
                <a:solidFill>
                  <a:srgbClr val="7C56A9"/>
                </a:solidFill>
                <a:latin typeface="Inter"/>
              </a:rPr>
              <a:t>● </a:t>
            </a:r>
            <a:r>
              <a:rPr sz="950" b="0" i="0">
                <a:solidFill>
                  <a:srgbClr val="6A6E78"/>
                </a:solidFill>
                <a:latin typeface="Inter"/>
              </a:rPr>
              <a:t>U0 · ¡VOLVEMOS!   ·   C6+ · el reencuentro</a:t>
            </a:r>
          </a:p>
        </p:txBody>
      </p:sp>
      <p:sp>
        <p:nvSpPr>
          <p:cNvPr id="35" name="TextBox 34"/>
          <p:cNvSpPr txBox="1"/>
          <p:nvPr/>
        </p:nvSpPr>
        <p:spPr>
          <a:xfrm>
            <a:off x="8686800" y="6565392"/>
            <a:ext cx="3063240" cy="274320"/>
          </a:xfrm>
          <a:prstGeom prst="rect">
            <a:avLst/>
          </a:prstGeom>
          <a:noFill/>
        </p:spPr>
        <p:txBody>
          <a:bodyPr wrap="square" anchor="ctr" lIns="38100" rIns="38100" tIns="25400" bIns="25400">
            <a:spAutoFit/>
          </a:bodyPr>
          <a:lstStyle/>
          <a:p>
            <a:pPr algn="r">
              <a:lnSpc>
                <a:spcPct val="106000"/>
              </a:lnSpc>
              <a:spcBef>
                <a:spcPts val="0"/>
              </a:spcBef>
              <a:spcAft>
                <a:spcPts val="200"/>
              </a:spcAft>
            </a:pPr>
            <a:r>
              <a:rPr sz="900" b="0" i="1">
                <a:solidFill>
                  <a:srgbClr val="6A6E78"/>
                </a:solidFill>
                <a:latin typeface="Inter"/>
              </a:rPr>
              <a:t>Docentenversie — met oplossingen</a:t>
            </a:r>
          </a:p>
        </p:txBody>
      </p:sp>
      <p:sp>
        <p:nvSpPr>
          <p:cNvPr id="36" name="TextBox 35"/>
          <p:cNvSpPr txBox="1"/>
          <p:nvPr/>
        </p:nvSpPr>
        <p:spPr>
          <a:xfrm>
            <a:off x="11475720" y="6565392"/>
            <a:ext cx="457200" cy="274320"/>
          </a:xfrm>
          <a:prstGeom prst="rect">
            <a:avLst/>
          </a:prstGeom>
          <a:noFill/>
        </p:spPr>
        <p:txBody>
          <a:bodyPr wrap="square" anchor="ctr" lIns="38100" rIns="38100" tIns="25400" bIns="25400">
            <a:spAutoFit/>
          </a:bodyPr>
          <a:lstStyle/>
          <a:p>
            <a:pPr algn="r">
              <a:lnSpc>
                <a:spcPct val="106000"/>
              </a:lnSpc>
              <a:spcBef>
                <a:spcPts val="0"/>
              </a:spcBef>
              <a:spcAft>
                <a:spcPts val="200"/>
              </a:spcAft>
            </a:pPr>
            <a:r>
              <a:rPr sz="950" b="1" i="0">
                <a:solidFill>
                  <a:srgbClr val="5B3E83"/>
                </a:solidFill>
                <a:latin typeface="Inter"/>
              </a:rPr>
              <a:t>17</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500"/>
                                        <p:tgtEl>
                                          <p:spTgt spid="11"/>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4"/>
                                        </p:tgtEl>
                                        <p:attrNameLst>
                                          <p:attrName>style.visibility</p:attrName>
                                        </p:attrNameLst>
                                      </p:cBhvr>
                                      <p:to>
                                        <p:strVal val="visible"/>
                                      </p:to>
                                    </p:set>
                                    <p:animEffect transition="in" filter="fade">
                                      <p:cBhvr>
                                        <p:cTn id="12" dur="500"/>
                                        <p:tgtEl>
                                          <p:spTgt spid="1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17"/>
                                        </p:tgtEl>
                                        <p:attrNameLst>
                                          <p:attrName>style.visibility</p:attrName>
                                        </p:attrNameLst>
                                      </p:cBhvr>
                                      <p:to>
                                        <p:strVal val="visible"/>
                                      </p:to>
                                    </p:set>
                                    <p:animEffect transition="in" filter="fade">
                                      <p:cBhvr>
                                        <p:cTn id="17" dur="500"/>
                                        <p:tgtEl>
                                          <p:spTgt spid="17"/>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20"/>
                                        </p:tgtEl>
                                        <p:attrNameLst>
                                          <p:attrName>style.visibility</p:attrName>
                                        </p:attrNameLst>
                                      </p:cBhvr>
                                      <p:to>
                                        <p:strVal val="visible"/>
                                      </p:to>
                                    </p:set>
                                    <p:animEffect transition="in" filter="fade">
                                      <p:cBhvr>
                                        <p:cTn id="22" dur="500"/>
                                        <p:tgtEl>
                                          <p:spTgt spid="20"/>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23"/>
                                        </p:tgtEl>
                                        <p:attrNameLst>
                                          <p:attrName>style.visibility</p:attrName>
                                        </p:attrNameLst>
                                      </p:cBhvr>
                                      <p:to>
                                        <p:strVal val="visible"/>
                                      </p:to>
                                    </p:set>
                                    <p:animEffect transition="in" filter="fade">
                                      <p:cBhvr>
                                        <p:cTn id="27" dur="500"/>
                                        <p:tgtEl>
                                          <p:spTgt spid="23"/>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26"/>
                                        </p:tgtEl>
                                        <p:attrNameLst>
                                          <p:attrName>style.visibility</p:attrName>
                                        </p:attrNameLst>
                                      </p:cBhvr>
                                      <p:to>
                                        <p:strVal val="visible"/>
                                      </p:to>
                                    </p:set>
                                    <p:animEffect transition="in" filter="fade">
                                      <p:cBhvr>
                                        <p:cTn id="32" dur="500"/>
                                        <p:tgtEl>
                                          <p:spTgt spid="26"/>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grpId="0" nodeType="clickEffect">
                                  <p:stCondLst>
                                    <p:cond delay="0"/>
                                  </p:stCondLst>
                                  <p:childTnLst>
                                    <p:set>
                                      <p:cBhvr>
                                        <p:cTn id="36" dur="1" fill="hold">
                                          <p:stCondLst>
                                            <p:cond delay="0"/>
                                          </p:stCondLst>
                                        </p:cTn>
                                        <p:tgtEl>
                                          <p:spTgt spid="31"/>
                                        </p:tgtEl>
                                        <p:attrNameLst>
                                          <p:attrName>style.visibility</p:attrName>
                                        </p:attrNameLst>
                                      </p:cBhvr>
                                      <p:to>
                                        <p:strVal val="visible"/>
                                      </p:to>
                                    </p:set>
                                    <p:animEffect transition="in" filter="fade">
                                      <p:cBhvr>
                                        <p:cTn id="37" dur="500"/>
                                        <p:tgtEl>
                                          <p:spTgt spid="31"/>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grpId="0" nodeType="clickEffect">
                                  <p:stCondLst>
                                    <p:cond delay="0"/>
                                  </p:stCondLst>
                                  <p:childTnLst>
                                    <p:set>
                                      <p:cBhvr>
                                        <p:cTn id="41" dur="1" fill="hold">
                                          <p:stCondLst>
                                            <p:cond delay="0"/>
                                          </p:stCondLst>
                                        </p:cTn>
                                        <p:tgtEl>
                                          <p:spTgt spid="32"/>
                                        </p:tgtEl>
                                        <p:attrNameLst>
                                          <p:attrName>style.visibility</p:attrName>
                                        </p:attrNameLst>
                                      </p:cBhvr>
                                      <p:to>
                                        <p:strVal val="visible"/>
                                      </p:to>
                                    </p:set>
                                    <p:animEffect transition="in" filter="fade">
                                      <p:cBhvr>
                                        <p:cTn id="42" dur="500"/>
                                        <p:tgtEl>
                                          <p:spTgt spid="3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C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78992"/>
          </a:xfrm>
          <a:prstGeom prst="rect">
            <a:avLst/>
          </a:prstGeom>
          <a:solidFill>
            <a:srgbClr val="7C56A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78992"/>
            <a:ext cx="12191695" cy="54864"/>
          </a:xfrm>
          <a:prstGeom prst="rect">
            <a:avLst/>
          </a:prstGeom>
          <a:solidFill>
            <a:srgbClr val="5B3E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02920" y="182880"/>
            <a:ext cx="1128369" cy="292608"/>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88900" rIns="88900" tIns="12700" bIns="12700"/>
          <a:lstStyle/>
          <a:p>
            <a:pPr algn="ctr"/>
            <a:r>
              <a:rPr sz="1100" b="1">
                <a:solidFill>
                  <a:srgbClr val="7C56A9"/>
                </a:solidFill>
                <a:latin typeface="Inter"/>
              </a:rPr>
              <a:t>§5 · LECTURA</a:t>
            </a:r>
          </a:p>
        </p:txBody>
      </p:sp>
      <p:sp>
        <p:nvSpPr>
          <p:cNvPr id="6" name="TextBox 5"/>
          <p:cNvSpPr txBox="1"/>
          <p:nvPr/>
        </p:nvSpPr>
        <p:spPr>
          <a:xfrm>
            <a:off x="10424160" y="-137160"/>
            <a:ext cx="1737360" cy="1371600"/>
          </a:xfrm>
          <a:prstGeom prst="rect">
            <a:avLst/>
          </a:prstGeom>
          <a:noFill/>
        </p:spPr>
        <p:txBody>
          <a:bodyPr wrap="square" anchor="t" lIns="38100" rIns="38100" tIns="25400" bIns="25400">
            <a:spAutoFit/>
          </a:bodyPr>
          <a:lstStyle/>
          <a:p>
            <a:pPr algn="r">
              <a:lnSpc>
                <a:spcPct val="106000"/>
              </a:lnSpc>
              <a:spcBef>
                <a:spcPts val="0"/>
              </a:spcBef>
              <a:spcAft>
                <a:spcPts val="200"/>
              </a:spcAft>
            </a:pPr>
            <a:r>
              <a:rPr sz="8800" b="1" i="0">
                <a:solidFill>
                  <a:srgbClr val="FFFFFF"/>
                </a:solidFill>
                <a:latin typeface="Bricolage Grotesque"/>
              </a:rPr>
              <a:t>5</a:t>
            </a:r>
          </a:p>
        </p:txBody>
      </p:sp>
      <p:sp>
        <p:nvSpPr>
          <p:cNvPr id="7" name="TextBox 6"/>
          <p:cNvSpPr txBox="1"/>
          <p:nvPr/>
        </p:nvSpPr>
        <p:spPr>
          <a:xfrm>
            <a:off x="457200" y="457200"/>
            <a:ext cx="9692640" cy="502920"/>
          </a:xfrm>
          <a:prstGeom prst="rect">
            <a:avLst/>
          </a:prstGeom>
          <a:noFill/>
        </p:spPr>
        <p:txBody>
          <a:bodyPr wrap="square" anchor="ctr" lIns="38100" rIns="38100" tIns="25400" bIns="25400">
            <a:spAutoFit/>
          </a:bodyPr>
          <a:lstStyle/>
          <a:p>
            <a:pPr algn="l">
              <a:lnSpc>
                <a:spcPct val="106000"/>
              </a:lnSpc>
              <a:spcBef>
                <a:spcPts val="0"/>
              </a:spcBef>
              <a:spcAft>
                <a:spcPts val="200"/>
              </a:spcAft>
            </a:pPr>
            <a:r>
              <a:rPr sz="2700" b="1" i="0">
                <a:solidFill>
                  <a:srgbClr val="FFFFFF"/>
                </a:solidFill>
                <a:latin typeface="Bricolage Grotesque"/>
              </a:rPr>
              <a:t>«El tablón de anuncios»</a:t>
            </a:r>
          </a:p>
        </p:txBody>
      </p:sp>
      <p:sp>
        <p:nvSpPr>
          <p:cNvPr id="8" name="TextBox 7"/>
          <p:cNvSpPr txBox="1"/>
          <p:nvPr/>
        </p:nvSpPr>
        <p:spPr>
          <a:xfrm>
            <a:off x="502920" y="932688"/>
            <a:ext cx="9692640" cy="274320"/>
          </a:xfrm>
          <a:prstGeom prst="rect">
            <a:avLst/>
          </a:prstGeom>
          <a:noFill/>
        </p:spPr>
        <p:txBody>
          <a:bodyPr wrap="square" anchor="t" lIns="38100" rIns="38100" tIns="25400" bIns="25400">
            <a:spAutoFit/>
          </a:bodyPr>
          <a:lstStyle/>
          <a:p>
            <a:pPr algn="l">
              <a:lnSpc>
                <a:spcPct val="106000"/>
              </a:lnSpc>
              <a:spcBef>
                <a:spcPts val="0"/>
              </a:spcBef>
              <a:spcAft>
                <a:spcPts val="200"/>
              </a:spcAft>
            </a:pPr>
            <a:r>
              <a:rPr sz="1250" b="0" i="1">
                <a:solidFill>
                  <a:srgbClr val="EEE8F5"/>
                </a:solidFill>
                <a:latin typeface="Inter"/>
              </a:rPr>
              <a:t>Een echte tekst. Je hoeft niet alles te begrijpen om de informatie eruit te halen.</a:t>
            </a:r>
          </a:p>
        </p:txBody>
      </p:sp>
      <p:sp>
        <p:nvSpPr>
          <p:cNvPr id="9" name="Rounded Rectangle 8"/>
          <p:cNvSpPr/>
          <p:nvPr/>
        </p:nvSpPr>
        <p:spPr>
          <a:xfrm>
            <a:off x="457200" y="1325880"/>
            <a:ext cx="5577840" cy="4160520"/>
          </a:xfrm>
          <a:prstGeom prst="roundRect">
            <a:avLst>
              <a:gd name="adj" fmla="val 5500"/>
            </a:avLst>
          </a:prstGeom>
          <a:solidFill>
            <a:srgbClr val="FFFFFF"/>
          </a:solidFill>
          <a:ln w="17780">
            <a:solidFill>
              <a:srgbClr val="7C56A9"/>
            </a:solidFill>
          </a:ln>
          <a:effectLst>
            <a:outerShdw blurRad="90000" dist="38000" dir="5400000" rotWithShape="0">
              <a:srgbClr val="20242E">
                <a:alpha val="2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57200" y="1325880"/>
            <a:ext cx="5577840" cy="384048"/>
          </a:xfrm>
          <a:prstGeom prst="rect">
            <a:avLst/>
          </a:prstGeom>
          <a:solidFill>
            <a:srgbClr val="7C56A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94360" y="1344168"/>
            <a:ext cx="5303520" cy="365760"/>
          </a:xfrm>
          <a:prstGeom prst="rect">
            <a:avLst/>
          </a:prstGeom>
          <a:noFill/>
        </p:spPr>
        <p:txBody>
          <a:bodyPr wrap="square" anchor="ctr" lIns="38100" rIns="38100" tIns="25400" bIns="25400">
            <a:spAutoFit/>
          </a:bodyPr>
          <a:lstStyle/>
          <a:p>
            <a:pPr algn="l">
              <a:lnSpc>
                <a:spcPct val="106000"/>
              </a:lnSpc>
              <a:spcBef>
                <a:spcPts val="0"/>
              </a:spcBef>
              <a:spcAft>
                <a:spcPts val="200"/>
              </a:spcAft>
            </a:pPr>
            <a:r>
              <a:rPr sz="1150" b="1" i="0">
                <a:solidFill>
                  <a:srgbClr val="FFFFFF"/>
                </a:solidFill>
                <a:latin typeface="Bricolage Grotesque"/>
              </a:rPr>
              <a:t>tablón de anuncios (drie korte berichten)</a:t>
            </a:r>
          </a:p>
        </p:txBody>
      </p:sp>
      <p:sp>
        <p:nvSpPr>
          <p:cNvPr id="12" name="TextBox 11"/>
          <p:cNvSpPr txBox="1"/>
          <p:nvPr/>
        </p:nvSpPr>
        <p:spPr>
          <a:xfrm>
            <a:off x="640080" y="1810512"/>
            <a:ext cx="5212080" cy="3566160"/>
          </a:xfrm>
          <a:prstGeom prst="rect">
            <a:avLst/>
          </a:prstGeom>
          <a:noFill/>
        </p:spPr>
        <p:txBody>
          <a:bodyPr wrap="square" anchor="t" lIns="38100" rIns="38100" tIns="25400" bIns="25400">
            <a:spAutoFit/>
          </a:bodyPr>
          <a:lstStyle/>
          <a:p>
            <a:pPr algn="l">
              <a:lnSpc>
                <a:spcPct val="118000"/>
              </a:lnSpc>
              <a:spcBef>
                <a:spcPts val="0"/>
              </a:spcBef>
              <a:spcAft>
                <a:spcPts val="200"/>
              </a:spcAft>
            </a:pPr>
            <a:r>
              <a:rPr sz="1250" b="1" i="0">
                <a:solidFill>
                  <a:srgbClr val="5B3E83"/>
                </a:solidFill>
                <a:latin typeface="Bricolage Grotesque"/>
              </a:rPr>
              <a:t>TABLÓN DE ANUNCIOS · Instituto Santa Clara</a:t>
            </a:r>
          </a:p>
          <a:p>
            <a:pPr algn="l">
              <a:lnSpc>
                <a:spcPct val="118000"/>
              </a:lnSpc>
              <a:spcBef>
                <a:spcPts val="0"/>
              </a:spcBef>
              <a:spcAft>
                <a:spcPts val="200"/>
              </a:spcAft>
            </a:pPr>
            <a:r>
              <a:rPr sz="1100" b="1" i="0">
                <a:solidFill>
                  <a:srgbClr val="5B3E83"/>
                </a:solidFill>
                <a:latin typeface="Inter"/>
              </a:rPr>
              <a:t>🎸 BUSCO GRUPO DE MÚSICA</a:t>
            </a:r>
          </a:p>
          <a:p>
            <a:pPr algn="l">
              <a:lnSpc>
                <a:spcPct val="118000"/>
              </a:lnSpc>
              <a:spcBef>
                <a:spcPts val="0"/>
              </a:spcBef>
              <a:spcAft>
                <a:spcPts val="200"/>
              </a:spcAft>
            </a:pPr>
            <a:r>
              <a:rPr sz="1000" b="0" i="0">
                <a:solidFill>
                  <a:srgbClr val="20242E"/>
                </a:solidFill>
                <a:latin typeface="Inter"/>
              </a:rPr>
              <a:t>Me llamo Mateo, soy argentino y soy nuevo en el instituto. Toco la guitarra desde los ocho años. Busco compañeros para tocar los viernes. No soy profesional, pero soy constante. ¿Te animas?</a:t>
            </a:r>
          </a:p>
          <a:p>
            <a:pPr algn="l">
              <a:lnSpc>
                <a:spcPct val="118000"/>
              </a:lnSpc>
              <a:spcBef>
                <a:spcPts val="0"/>
              </a:spcBef>
              <a:spcAft>
                <a:spcPts val="200"/>
              </a:spcAft>
            </a:pPr>
            <a:r>
              <a:rPr sz="1100" b="1" i="0">
                <a:solidFill>
                  <a:srgbClr val="5B3E83"/>
                </a:solidFill>
                <a:latin typeface="Inter"/>
              </a:rPr>
              <a:t>📚 VENDO LIBROS DE SEGUNDA MANO</a:t>
            </a:r>
          </a:p>
          <a:p>
            <a:pPr algn="l">
              <a:lnSpc>
                <a:spcPct val="118000"/>
              </a:lnSpc>
              <a:spcBef>
                <a:spcPts val="0"/>
              </a:spcBef>
              <a:spcAft>
                <a:spcPts val="200"/>
              </a:spcAft>
            </a:pPr>
            <a:r>
              <a:rPr sz="1000" b="0" i="0">
                <a:solidFill>
                  <a:srgbClr val="20242E"/>
                </a:solidFill>
                <a:latin typeface="Inter"/>
              </a:rPr>
              <a:t>Los libros están en muy buen estado. Son de cuarto curso. Cuestan diez euros cada uno, o quince los dos. Estoy en el patio a la hora del recreo. Pregunta por Valen.</a:t>
            </a:r>
          </a:p>
          <a:p>
            <a:pPr algn="l">
              <a:lnSpc>
                <a:spcPct val="118000"/>
              </a:lnSpc>
              <a:spcBef>
                <a:spcPts val="0"/>
              </a:spcBef>
              <a:spcAft>
                <a:spcPts val="200"/>
              </a:spcAft>
            </a:pPr>
            <a:r>
              <a:rPr sz="1100" b="1" i="0">
                <a:solidFill>
                  <a:srgbClr val="5B3E83"/>
                </a:solidFill>
                <a:latin typeface="Inter"/>
              </a:rPr>
              <a:t>🌎 INTERCAMBIO DE LENGUAS</a:t>
            </a:r>
          </a:p>
          <a:p>
            <a:pPr algn="l">
              <a:lnSpc>
                <a:spcPct val="118000"/>
              </a:lnSpc>
              <a:spcBef>
                <a:spcPts val="0"/>
              </a:spcBef>
              <a:spcAft>
                <a:spcPts val="200"/>
              </a:spcAft>
            </a:pPr>
            <a:r>
              <a:rPr sz="1000" b="0" i="0">
                <a:solidFill>
                  <a:srgbClr val="20242E"/>
                </a:solidFill>
                <a:latin typeface="Inter"/>
              </a:rPr>
              <a:t>Somos cinco alumnos de México, Colombia y Perú. Queremos hablar neerlandés y vosotros queréis hablar español. Nos reunimos los miércoles en la biblioteca. Es gratis y es divertido. ¡Todos sois bienvenidos!</a:t>
            </a:r>
          </a:p>
        </p:txBody>
      </p:sp>
      <p:sp>
        <p:nvSpPr>
          <p:cNvPr id="13" name="Rounded Rectangle 12"/>
          <p:cNvSpPr/>
          <p:nvPr/>
        </p:nvSpPr>
        <p:spPr>
          <a:xfrm>
            <a:off x="6263640" y="1325880"/>
            <a:ext cx="5468112" cy="1965960"/>
          </a:xfrm>
          <a:prstGeom prst="roundRect">
            <a:avLst>
              <a:gd name="adj" fmla="val 5500"/>
            </a:avLst>
          </a:prstGeom>
          <a:solidFill>
            <a:srgbClr val="F3EEE4"/>
          </a:solidFill>
          <a:ln w="15240">
            <a:solidFill>
              <a:srgbClr val="E4E3DE"/>
            </a:solidFill>
          </a:ln>
          <a:effectLst>
            <a:outerShdw blurRad="90000" dist="38000" dir="5400000" rotWithShape="0">
              <a:srgbClr val="20242E">
                <a:alpha val="2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46520" y="1417320"/>
            <a:ext cx="5120640" cy="292608"/>
          </a:xfrm>
          <a:prstGeom prst="rect">
            <a:avLst/>
          </a:prstGeom>
          <a:noFill/>
        </p:spPr>
        <p:txBody>
          <a:bodyPr wrap="square" anchor="t" lIns="38100" rIns="38100" tIns="25400" bIns="25400">
            <a:spAutoFit/>
          </a:bodyPr>
          <a:lstStyle/>
          <a:p>
            <a:pPr algn="l">
              <a:lnSpc>
                <a:spcPct val="106000"/>
              </a:lnSpc>
              <a:spcBef>
                <a:spcPts val="0"/>
              </a:spcBef>
              <a:spcAft>
                <a:spcPts val="200"/>
              </a:spcAft>
            </a:pPr>
            <a:r>
              <a:rPr sz="1200" b="1" i="0">
                <a:solidFill>
                  <a:srgbClr val="5B3E83"/>
                </a:solidFill>
                <a:latin typeface="Bricolage Grotesque"/>
              </a:rPr>
              <a:t>Escanea — busca el dato</a:t>
            </a:r>
          </a:p>
        </p:txBody>
      </p:sp>
      <p:sp>
        <p:nvSpPr>
          <p:cNvPr id="15" name="TextBox 14"/>
          <p:cNvSpPr txBox="1"/>
          <p:nvPr/>
        </p:nvSpPr>
        <p:spPr>
          <a:xfrm>
            <a:off x="6446520" y="1755648"/>
            <a:ext cx="5120640" cy="1463040"/>
          </a:xfrm>
          <a:prstGeom prst="rect">
            <a:avLst/>
          </a:prstGeom>
          <a:noFill/>
        </p:spPr>
        <p:txBody>
          <a:bodyPr wrap="square" anchor="t" lIns="38100" rIns="38100" tIns="25400" bIns="25400">
            <a:spAutoFit/>
          </a:bodyPr>
          <a:lstStyle/>
          <a:p>
            <a:pPr algn="l">
              <a:lnSpc>
                <a:spcPct val="125000"/>
              </a:lnSpc>
              <a:spcBef>
                <a:spcPts val="0"/>
              </a:spcBef>
              <a:spcAft>
                <a:spcPts val="200"/>
              </a:spcAft>
            </a:pPr>
            <a:r>
              <a:rPr sz="1050" b="0" i="0">
                <a:solidFill>
                  <a:srgbClr val="20242E"/>
                </a:solidFill>
                <a:latin typeface="Inter"/>
              </a:rPr>
              <a:t>1. ¿Cuánto cuestan dos libros? (en cifras)</a:t>
            </a:r>
          </a:p>
          <a:p>
            <a:pPr algn="l">
              <a:lnSpc>
                <a:spcPct val="125000"/>
              </a:lnSpc>
              <a:spcBef>
                <a:spcPts val="0"/>
              </a:spcBef>
              <a:spcAft>
                <a:spcPts val="200"/>
              </a:spcAft>
            </a:pPr>
            <a:r>
              <a:rPr sz="1050" b="0" i="0">
                <a:solidFill>
                  <a:srgbClr val="20242E"/>
                </a:solidFill>
                <a:latin typeface="Inter"/>
              </a:rPr>
              <a:t>2. ¿Qué día se reúne el intercambio de lenguas?</a:t>
            </a:r>
          </a:p>
          <a:p>
            <a:pPr algn="l">
              <a:lnSpc>
                <a:spcPct val="125000"/>
              </a:lnSpc>
              <a:spcBef>
                <a:spcPts val="0"/>
              </a:spcBef>
              <a:spcAft>
                <a:spcPts val="200"/>
              </a:spcAft>
            </a:pPr>
            <a:r>
              <a:rPr sz="1050" b="0" i="0">
                <a:solidFill>
                  <a:srgbClr val="20242E"/>
                </a:solidFill>
                <a:latin typeface="Inter"/>
              </a:rPr>
              <a:t>3. ¿Desde qué edad toca Mateo la guitarra? (en cifras)</a:t>
            </a:r>
          </a:p>
          <a:p>
            <a:pPr algn="l">
              <a:lnSpc>
                <a:spcPct val="125000"/>
              </a:lnSpc>
              <a:spcBef>
                <a:spcPts val="0"/>
              </a:spcBef>
              <a:spcAft>
                <a:spcPts val="200"/>
              </a:spcAft>
            </a:pPr>
            <a:r>
              <a:rPr sz="1050" b="0" i="0">
                <a:solidFill>
                  <a:srgbClr val="20242E"/>
                </a:solidFill>
                <a:latin typeface="Inter"/>
              </a:rPr>
              <a:t>4. ¿Cuántos alumnos organizan el intercambio?</a:t>
            </a:r>
          </a:p>
        </p:txBody>
      </p:sp>
      <p:sp>
        <p:nvSpPr>
          <p:cNvPr id="16" name="Rounded Rectangle 15"/>
          <p:cNvSpPr/>
          <p:nvPr/>
        </p:nvSpPr>
        <p:spPr>
          <a:xfrm>
            <a:off x="6263640" y="3429000"/>
            <a:ext cx="5468112" cy="2057400"/>
          </a:xfrm>
          <a:prstGeom prst="roundRect">
            <a:avLst>
              <a:gd name="adj" fmla="val 5500"/>
            </a:avLst>
          </a:prstGeom>
          <a:solidFill>
            <a:srgbClr val="FFFFFF"/>
          </a:solidFill>
          <a:ln w="15240">
            <a:solidFill>
              <a:srgbClr val="E4E3DE"/>
            </a:solidFill>
          </a:ln>
          <a:effectLst>
            <a:outerShdw blurRad="90000" dist="38000" dir="5400000" rotWithShape="0">
              <a:srgbClr val="20242E">
                <a:alpha val="2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446520" y="3520440"/>
            <a:ext cx="5120640" cy="292608"/>
          </a:xfrm>
          <a:prstGeom prst="rect">
            <a:avLst/>
          </a:prstGeom>
          <a:noFill/>
        </p:spPr>
        <p:txBody>
          <a:bodyPr wrap="square" anchor="t" lIns="38100" rIns="38100" tIns="25400" bIns="25400">
            <a:spAutoFit/>
          </a:bodyPr>
          <a:lstStyle/>
          <a:p>
            <a:pPr algn="l">
              <a:lnSpc>
                <a:spcPct val="106000"/>
              </a:lnSpc>
              <a:spcBef>
                <a:spcPts val="0"/>
              </a:spcBef>
              <a:spcAft>
                <a:spcPts val="200"/>
              </a:spcAft>
            </a:pPr>
            <a:r>
              <a:rPr sz="1200" b="1" i="0">
                <a:solidFill>
                  <a:srgbClr val="5B3E83"/>
                </a:solidFill>
                <a:latin typeface="Bricolage Grotesque"/>
              </a:rPr>
              <a:t>¿Verdadero o falso? — y la prueba</a:t>
            </a:r>
          </a:p>
        </p:txBody>
      </p:sp>
      <p:sp>
        <p:nvSpPr>
          <p:cNvPr id="18" name="TextBox 17"/>
          <p:cNvSpPr txBox="1"/>
          <p:nvPr/>
        </p:nvSpPr>
        <p:spPr>
          <a:xfrm>
            <a:off x="6446520" y="3858768"/>
            <a:ext cx="5120640" cy="1554480"/>
          </a:xfrm>
          <a:prstGeom prst="rect">
            <a:avLst/>
          </a:prstGeom>
          <a:noFill/>
        </p:spPr>
        <p:txBody>
          <a:bodyPr wrap="square" anchor="t" lIns="38100" rIns="38100" tIns="25400" bIns="25400">
            <a:spAutoFit/>
          </a:bodyPr>
          <a:lstStyle/>
          <a:p>
            <a:pPr algn="l">
              <a:lnSpc>
                <a:spcPct val="125000"/>
              </a:lnSpc>
              <a:spcBef>
                <a:spcPts val="0"/>
              </a:spcBef>
              <a:spcAft>
                <a:spcPts val="200"/>
              </a:spcAft>
            </a:pPr>
            <a:r>
              <a:rPr sz="1050" b="0" i="0">
                <a:solidFill>
                  <a:srgbClr val="20242E"/>
                </a:solidFill>
                <a:latin typeface="Inter"/>
              </a:rPr>
              <a:t>1. Mateo es un guitarrista profesional.</a:t>
            </a:r>
          </a:p>
          <a:p>
            <a:pPr algn="l">
              <a:lnSpc>
                <a:spcPct val="125000"/>
              </a:lnSpc>
              <a:spcBef>
                <a:spcPts val="0"/>
              </a:spcBef>
              <a:spcAft>
                <a:spcPts val="200"/>
              </a:spcAft>
            </a:pPr>
            <a:r>
              <a:rPr sz="1050" b="0" i="0">
                <a:solidFill>
                  <a:srgbClr val="20242E"/>
                </a:solidFill>
                <a:latin typeface="Inter"/>
              </a:rPr>
              <a:t>2. Los libros de Valen están estropeados.</a:t>
            </a:r>
          </a:p>
          <a:p>
            <a:pPr algn="l">
              <a:lnSpc>
                <a:spcPct val="125000"/>
              </a:lnSpc>
              <a:spcBef>
                <a:spcPts val="0"/>
              </a:spcBef>
              <a:spcAft>
                <a:spcPts val="200"/>
              </a:spcAft>
            </a:pPr>
            <a:r>
              <a:rPr sz="1050" b="0" i="0">
                <a:solidFill>
                  <a:srgbClr val="20242E"/>
                </a:solidFill>
                <a:latin typeface="Inter"/>
              </a:rPr>
              <a:t>3. El intercambio de lenguas no cuesta nada.</a:t>
            </a:r>
          </a:p>
          <a:p>
            <a:pPr algn="l">
              <a:lnSpc>
                <a:spcPct val="125000"/>
              </a:lnSpc>
              <a:spcBef>
                <a:spcPts val="0"/>
              </a:spcBef>
              <a:spcAft>
                <a:spcPts val="200"/>
              </a:spcAft>
            </a:pPr>
            <a:r>
              <a:rPr sz="1050" b="0" i="0">
                <a:solidFill>
                  <a:srgbClr val="20242E"/>
                </a:solidFill>
                <a:latin typeface="Inter"/>
              </a:rPr>
              <a:t>4. Mateo lleva poco tiempo en el instituto.</a:t>
            </a:r>
          </a:p>
        </p:txBody>
      </p:sp>
      <p:sp>
        <p:nvSpPr>
          <p:cNvPr id="19" name="Rounded Rectangle 18"/>
          <p:cNvSpPr/>
          <p:nvPr/>
        </p:nvSpPr>
        <p:spPr>
          <a:xfrm>
            <a:off x="457200" y="5596128"/>
            <a:ext cx="11274552" cy="658368"/>
          </a:xfrm>
          <a:prstGeom prst="roundRect">
            <a:avLst>
              <a:gd name="adj" fmla="val 6000"/>
            </a:avLst>
          </a:prstGeom>
          <a:solidFill>
            <a:srgbClr val="EEE8F5"/>
          </a:solidFill>
          <a:ln w="19050">
            <a:solidFill>
              <a:srgbClr val="7C56A9"/>
            </a:solidFill>
          </a:ln>
          <a:effectLst/>
        </p:spPr>
        <p:style>
          <a:lnRef idx="1">
            <a:schemeClr val="accent1"/>
          </a:lnRef>
          <a:fillRef idx="3">
            <a:schemeClr val="accent1"/>
          </a:fillRef>
          <a:effectRef idx="2">
            <a:schemeClr val="accent1"/>
          </a:effectRef>
          <a:fontRef idx="minor">
            <a:schemeClr val="lt1"/>
          </a:fontRef>
        </p:style>
        <p:txBody>
          <a:bodyPr rtlCol="0" anchor="ctr" wrap="square" lIns="127000" rIns="127000" tIns="139700" bIns="76200"/>
          <a:lstStyle/>
          <a:p>
            <a:pPr algn="ctr">
              <a:lnSpc>
                <a:spcPct val="102000"/>
              </a:lnSpc>
              <a:spcBef>
                <a:spcPts val="0"/>
              </a:spcBef>
              <a:spcAft>
                <a:spcPts val="300"/>
              </a:spcAft>
            </a:pPr>
            <a:r>
              <a:rPr sz="1200" b="0" i="0">
                <a:solidFill>
                  <a:srgbClr val="5B3E83"/>
                </a:solidFill>
                <a:latin typeface="Inter"/>
              </a:rPr>
              <a:t>Escanear: 1) 15 · 2) miércoles · 3) 8 · 4) 5</a:t>
            </a:r>
          </a:p>
          <a:p>
            <a:pPr>
              <a:lnSpc>
                <a:spcPct val="102000"/>
              </a:lnSpc>
              <a:spcBef>
                <a:spcPts val="0"/>
              </a:spcBef>
              <a:spcAft>
                <a:spcPts val="300"/>
              </a:spcAft>
            </a:pPr>
            <a:r>
              <a:rPr sz="1200" b="0" i="0">
                <a:solidFill>
                  <a:srgbClr val="5B3E83"/>
                </a:solidFill>
                <a:latin typeface="Inter"/>
              </a:rPr>
              <a:t>1) F — «No soy profesional»</a:t>
            </a:r>
          </a:p>
          <a:p>
            <a:pPr>
              <a:lnSpc>
                <a:spcPct val="102000"/>
              </a:lnSpc>
              <a:spcBef>
                <a:spcPts val="0"/>
              </a:spcBef>
              <a:spcAft>
                <a:spcPts val="300"/>
              </a:spcAft>
            </a:pPr>
            <a:r>
              <a:rPr sz="1200" b="0" i="0">
                <a:solidFill>
                  <a:srgbClr val="5B3E83"/>
                </a:solidFill>
                <a:latin typeface="Inter"/>
              </a:rPr>
              <a:t>2) F — «Los libros están en muy buen estado»</a:t>
            </a:r>
          </a:p>
          <a:p>
            <a:pPr>
              <a:lnSpc>
                <a:spcPct val="102000"/>
              </a:lnSpc>
              <a:spcBef>
                <a:spcPts val="0"/>
              </a:spcBef>
              <a:spcAft>
                <a:spcPts val="300"/>
              </a:spcAft>
            </a:pPr>
            <a:r>
              <a:rPr sz="1200" b="0" i="0">
                <a:solidFill>
                  <a:srgbClr val="5B3E83"/>
                </a:solidFill>
                <a:latin typeface="Inter"/>
              </a:rPr>
              <a:t>3) V — «Es gratis»</a:t>
            </a:r>
          </a:p>
          <a:p>
            <a:pPr>
              <a:lnSpc>
                <a:spcPct val="102000"/>
              </a:lnSpc>
              <a:spcBef>
                <a:spcPts val="0"/>
              </a:spcBef>
              <a:spcAft>
                <a:spcPts val="300"/>
              </a:spcAft>
            </a:pPr>
            <a:r>
              <a:rPr sz="1200" b="0" i="0">
                <a:solidFill>
                  <a:srgbClr val="5B3E83"/>
                </a:solidFill>
                <a:latin typeface="Inter"/>
              </a:rPr>
              <a:t>4) V — «soy nuevo en el instituto»</a:t>
            </a:r>
          </a:p>
        </p:txBody>
      </p:sp>
      <p:sp>
        <p:nvSpPr>
          <p:cNvPr id="20" name="Rounded Rectangle 19"/>
          <p:cNvSpPr/>
          <p:nvPr/>
        </p:nvSpPr>
        <p:spPr>
          <a:xfrm>
            <a:off x="594360" y="5468112"/>
            <a:ext cx="1548993" cy="292608"/>
          </a:xfrm>
          <a:prstGeom prst="roundRect">
            <a:avLst>
              <a:gd name="adj" fmla="val 50000"/>
            </a:avLst>
          </a:prstGeom>
          <a:solidFill>
            <a:srgbClr val="7C56A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88900" rIns="88900" tIns="12700" bIns="12700"/>
          <a:lstStyle/>
          <a:p>
            <a:pPr algn="ctr"/>
            <a:r>
              <a:rPr sz="950" b="1">
                <a:solidFill>
                  <a:srgbClr val="FFFFFF"/>
                </a:solidFill>
                <a:latin typeface="Inter"/>
              </a:rPr>
              <a:t>SOLUCIÓN · docent</a:t>
            </a:r>
          </a:p>
        </p:txBody>
      </p:sp>
      <p:sp>
        <p:nvSpPr>
          <p:cNvPr id="21" name="Rectangle 20"/>
          <p:cNvSpPr/>
          <p:nvPr/>
        </p:nvSpPr>
        <p:spPr>
          <a:xfrm>
            <a:off x="0" y="6547104"/>
            <a:ext cx="12191695" cy="310896"/>
          </a:xfrm>
          <a:prstGeom prst="rect">
            <a:avLst/>
          </a:prstGeom>
          <a:solidFill>
            <a:srgbClr val="F3EE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11480" y="6565392"/>
            <a:ext cx="5486400" cy="274320"/>
          </a:xfrm>
          <a:prstGeom prst="rect">
            <a:avLst/>
          </a:prstGeom>
          <a:noFill/>
        </p:spPr>
        <p:txBody>
          <a:bodyPr wrap="square" anchor="ctr" lIns="38100" rIns="38100" tIns="25400" bIns="25400">
            <a:spAutoFit/>
          </a:bodyPr>
          <a:lstStyle/>
          <a:p>
            <a:pPr algn="l">
              <a:lnSpc>
                <a:spcPct val="106000"/>
              </a:lnSpc>
              <a:spcBef>
                <a:spcPts val="0"/>
              </a:spcBef>
              <a:spcAft>
                <a:spcPts val="200"/>
              </a:spcAft>
            </a:pPr>
            <a:r>
              <a:rPr sz="1100" b="1" i="0">
                <a:solidFill>
                  <a:srgbClr val="7C56A9"/>
                </a:solidFill>
                <a:latin typeface="Inter"/>
              </a:rPr>
              <a:t>● </a:t>
            </a:r>
            <a:r>
              <a:rPr sz="950" b="0" i="0">
                <a:solidFill>
                  <a:srgbClr val="6A6E78"/>
                </a:solidFill>
                <a:latin typeface="Inter"/>
              </a:rPr>
              <a:t>U0 · ¡EMPEZAMOS!   ·   C6+ · el reencuentro</a:t>
            </a:r>
          </a:p>
        </p:txBody>
      </p:sp>
      <p:sp>
        <p:nvSpPr>
          <p:cNvPr id="23" name="TextBox 22"/>
          <p:cNvSpPr txBox="1"/>
          <p:nvPr/>
        </p:nvSpPr>
        <p:spPr>
          <a:xfrm>
            <a:off x="8686800" y="6565392"/>
            <a:ext cx="3063240" cy="274320"/>
          </a:xfrm>
          <a:prstGeom prst="rect">
            <a:avLst/>
          </a:prstGeom>
          <a:noFill/>
        </p:spPr>
        <p:txBody>
          <a:bodyPr wrap="square" anchor="ctr" lIns="38100" rIns="38100" tIns="25400" bIns="25400">
            <a:spAutoFit/>
          </a:bodyPr>
          <a:lstStyle/>
          <a:p>
            <a:pPr algn="r">
              <a:lnSpc>
                <a:spcPct val="106000"/>
              </a:lnSpc>
              <a:spcBef>
                <a:spcPts val="0"/>
              </a:spcBef>
              <a:spcAft>
                <a:spcPts val="200"/>
              </a:spcAft>
            </a:pPr>
            <a:r>
              <a:rPr sz="900" b="0" i="1">
                <a:solidFill>
                  <a:srgbClr val="6A6E78"/>
                </a:solidFill>
                <a:latin typeface="Inter"/>
              </a:rPr>
              <a:t>Docentenversie — met oplossingen</a:t>
            </a:r>
          </a:p>
        </p:txBody>
      </p:sp>
      <p:sp>
        <p:nvSpPr>
          <p:cNvPr id="24" name="TextBox 23"/>
          <p:cNvSpPr txBox="1"/>
          <p:nvPr/>
        </p:nvSpPr>
        <p:spPr>
          <a:xfrm>
            <a:off x="11475720" y="6565392"/>
            <a:ext cx="457200" cy="274320"/>
          </a:xfrm>
          <a:prstGeom prst="rect">
            <a:avLst/>
          </a:prstGeom>
          <a:noFill/>
        </p:spPr>
        <p:txBody>
          <a:bodyPr wrap="square" anchor="ctr" lIns="38100" rIns="38100" tIns="25400" bIns="25400">
            <a:spAutoFit/>
          </a:bodyPr>
          <a:lstStyle/>
          <a:p>
            <a:pPr algn="r">
              <a:lnSpc>
                <a:spcPct val="106000"/>
              </a:lnSpc>
              <a:spcBef>
                <a:spcPts val="0"/>
              </a:spcBef>
              <a:spcAft>
                <a:spcPts val="200"/>
              </a:spcAft>
            </a:pPr>
            <a:r>
              <a:rPr sz="950" b="1" i="0">
                <a:solidFill>
                  <a:srgbClr val="5B3E83"/>
                </a:solidFill>
                <a:latin typeface="Inter"/>
              </a:rPr>
              <a:t>18</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9"/>
                                        </p:tgtEl>
                                        <p:attrNameLst>
                                          <p:attrName>style.visibility</p:attrName>
                                        </p:attrNameLst>
                                      </p:cBhvr>
                                      <p:to>
                                        <p:strVal val="visible"/>
                                      </p:to>
                                    </p:set>
                                    <p:animEffect transition="in" filter="fade">
                                      <p:cBhvr>
                                        <p:cTn id="7" dur="500"/>
                                        <p:tgtEl>
                                          <p:spTgt spid="19"/>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20"/>
                                        </p:tgtEl>
                                        <p:attrNameLst>
                                          <p:attrName>style.visibility</p:attrName>
                                        </p:attrNameLst>
                                      </p:cBhvr>
                                      <p:to>
                                        <p:strVal val="visible"/>
                                      </p:to>
                                    </p:set>
                                    <p:animEffect transition="in" filter="fade">
                                      <p:cBhvr>
                                        <p:cTn id="12" dur="500"/>
                                        <p:tgtEl>
                                          <p:spTgt spid="2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C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78992"/>
          </a:xfrm>
          <a:prstGeom prst="rect">
            <a:avLst/>
          </a:prstGeom>
          <a:solidFill>
            <a:srgbClr val="7C56A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78992"/>
            <a:ext cx="12191695" cy="54864"/>
          </a:xfrm>
          <a:prstGeom prst="rect">
            <a:avLst/>
          </a:prstGeom>
          <a:solidFill>
            <a:srgbClr val="5B3E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02920" y="182880"/>
            <a:ext cx="1128369" cy="292608"/>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88900" rIns="88900" tIns="12700" bIns="12700"/>
          <a:lstStyle/>
          <a:p>
            <a:pPr algn="ctr"/>
            <a:r>
              <a:rPr sz="1100" b="1">
                <a:solidFill>
                  <a:srgbClr val="7C56A9"/>
                </a:solidFill>
                <a:latin typeface="Inter"/>
              </a:rPr>
              <a:t>§6 · ESCUCHA</a:t>
            </a:r>
          </a:p>
        </p:txBody>
      </p:sp>
      <p:sp>
        <p:nvSpPr>
          <p:cNvPr id="6" name="TextBox 5"/>
          <p:cNvSpPr txBox="1"/>
          <p:nvPr/>
        </p:nvSpPr>
        <p:spPr>
          <a:xfrm>
            <a:off x="10424160" y="-137160"/>
            <a:ext cx="1737360" cy="1371600"/>
          </a:xfrm>
          <a:prstGeom prst="rect">
            <a:avLst/>
          </a:prstGeom>
          <a:noFill/>
        </p:spPr>
        <p:txBody>
          <a:bodyPr wrap="square" anchor="t" lIns="38100" rIns="38100" tIns="25400" bIns="25400">
            <a:spAutoFit/>
          </a:bodyPr>
          <a:lstStyle/>
          <a:p>
            <a:pPr algn="r">
              <a:lnSpc>
                <a:spcPct val="106000"/>
              </a:lnSpc>
              <a:spcBef>
                <a:spcPts val="0"/>
              </a:spcBef>
              <a:spcAft>
                <a:spcPts val="200"/>
              </a:spcAft>
            </a:pPr>
            <a:r>
              <a:rPr sz="8800" b="1" i="0">
                <a:solidFill>
                  <a:srgbClr val="FFFFFF"/>
                </a:solidFill>
                <a:latin typeface="Bricolage Grotesque"/>
              </a:rPr>
              <a:t>6</a:t>
            </a:r>
          </a:p>
        </p:txBody>
      </p:sp>
      <p:sp>
        <p:nvSpPr>
          <p:cNvPr id="7" name="TextBox 6"/>
          <p:cNvSpPr txBox="1"/>
          <p:nvPr/>
        </p:nvSpPr>
        <p:spPr>
          <a:xfrm>
            <a:off x="457200" y="457200"/>
            <a:ext cx="9692640" cy="502920"/>
          </a:xfrm>
          <a:prstGeom prst="rect">
            <a:avLst/>
          </a:prstGeom>
          <a:noFill/>
        </p:spPr>
        <p:txBody>
          <a:bodyPr wrap="square" anchor="ctr" lIns="38100" rIns="38100" tIns="25400" bIns="25400">
            <a:spAutoFit/>
          </a:bodyPr>
          <a:lstStyle/>
          <a:p>
            <a:pPr algn="l">
              <a:lnSpc>
                <a:spcPct val="106000"/>
              </a:lnSpc>
              <a:spcBef>
                <a:spcPts val="0"/>
              </a:spcBef>
              <a:spcAft>
                <a:spcPts val="200"/>
              </a:spcAft>
            </a:pPr>
            <a:r>
              <a:rPr sz="2700" b="1" i="0">
                <a:solidFill>
                  <a:srgbClr val="FFFFFF"/>
                </a:solidFill>
                <a:latin typeface="Bricolage Grotesque"/>
              </a:rPr>
              <a:t>«El primer día de curso»</a:t>
            </a:r>
          </a:p>
        </p:txBody>
      </p:sp>
      <p:sp>
        <p:nvSpPr>
          <p:cNvPr id="8" name="TextBox 7"/>
          <p:cNvSpPr txBox="1"/>
          <p:nvPr/>
        </p:nvSpPr>
        <p:spPr>
          <a:xfrm>
            <a:off x="502920" y="932688"/>
            <a:ext cx="9692640" cy="274320"/>
          </a:xfrm>
          <a:prstGeom prst="rect">
            <a:avLst/>
          </a:prstGeom>
          <a:noFill/>
        </p:spPr>
        <p:txBody>
          <a:bodyPr wrap="square" anchor="t" lIns="38100" rIns="38100" tIns="25400" bIns="25400">
            <a:spAutoFit/>
          </a:bodyPr>
          <a:lstStyle/>
          <a:p>
            <a:pPr algn="l">
              <a:lnSpc>
                <a:spcPct val="106000"/>
              </a:lnSpc>
              <a:spcBef>
                <a:spcPts val="0"/>
              </a:spcBef>
              <a:spcAft>
                <a:spcPts val="200"/>
              </a:spcAft>
            </a:pPr>
            <a:r>
              <a:rPr sz="1250" b="0" i="1">
                <a:solidFill>
                  <a:srgbClr val="EEE8F5"/>
                </a:solidFill>
                <a:latin typeface="Inter"/>
              </a:rPr>
              <a:t>Eerst de situatie, dan luisteren. Het transcript komt pas ná de taken.</a:t>
            </a:r>
          </a:p>
        </p:txBody>
      </p:sp>
      <p:sp>
        <p:nvSpPr>
          <p:cNvPr id="9" name="Rounded Rectangle 8"/>
          <p:cNvSpPr/>
          <p:nvPr/>
        </p:nvSpPr>
        <p:spPr>
          <a:xfrm>
            <a:off x="457200" y="1325880"/>
            <a:ext cx="11274552" cy="1051560"/>
          </a:xfrm>
          <a:prstGeom prst="roundRect">
            <a:avLst>
              <a:gd name="adj" fmla="val 5500"/>
            </a:avLst>
          </a:prstGeom>
          <a:solidFill>
            <a:srgbClr val="EEE8F5"/>
          </a:solidFill>
          <a:ln w="15240">
            <a:solidFill>
              <a:srgbClr val="7C56A9"/>
            </a:solidFill>
          </a:ln>
          <a:effectLst>
            <a:outerShdw blurRad="90000" dist="38000" dir="5400000" rotWithShape="0">
              <a:srgbClr val="20242E">
                <a:alpha val="2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1417320"/>
            <a:ext cx="10881360" cy="868680"/>
          </a:xfrm>
          <a:prstGeom prst="rect">
            <a:avLst/>
          </a:prstGeom>
          <a:noFill/>
        </p:spPr>
        <p:txBody>
          <a:bodyPr wrap="square" anchor="t" lIns="38100" rIns="38100" tIns="25400" bIns="25400">
            <a:spAutoFit/>
          </a:bodyPr>
          <a:lstStyle/>
          <a:p>
            <a:pPr algn="l">
              <a:lnSpc>
                <a:spcPct val="120000"/>
              </a:lnSpc>
              <a:spcBef>
                <a:spcPts val="0"/>
              </a:spcBef>
              <a:spcAft>
                <a:spcPts val="200"/>
              </a:spcAft>
            </a:pPr>
            <a:r>
              <a:rPr sz="1100" b="1" i="0">
                <a:solidFill>
                  <a:srgbClr val="5B3E83"/>
                </a:solidFill>
                <a:latin typeface="Inter"/>
              </a:rPr>
              <a:t>¿Dónde? </a:t>
            </a:r>
            <a:r>
              <a:rPr sz="1100" b="0" i="0">
                <a:solidFill>
                  <a:srgbClr val="20242E"/>
                </a:solidFill>
                <a:latin typeface="Inter"/>
              </a:rPr>
              <a:t>El patio del instituto, primera semana de septiembre</a:t>
            </a:r>
            <a:r>
              <a:rPr sz="1100" b="1" i="0">
                <a:solidFill>
                  <a:srgbClr val="5B3E83"/>
                </a:solidFill>
                <a:latin typeface="Inter"/>
              </a:rPr>
              <a:t>     ¿Quién? </a:t>
            </a:r>
            <a:r>
              <a:rPr sz="1100" b="0" i="0">
                <a:solidFill>
                  <a:srgbClr val="20242E"/>
                </a:solidFill>
                <a:latin typeface="Inter"/>
              </a:rPr>
              <a:t>Diego (de México) y Valen (de Cartagena, Colombia)</a:t>
            </a:r>
          </a:p>
          <a:p>
            <a:pPr algn="l">
              <a:lnSpc>
                <a:spcPct val="120000"/>
              </a:lnSpc>
              <a:spcBef>
                <a:spcPts val="0"/>
              </a:spcBef>
              <a:spcAft>
                <a:spcPts val="200"/>
              </a:spcAft>
            </a:pPr>
            <a:r>
              <a:rPr sz="1100" b="1" i="0">
                <a:solidFill>
                  <a:srgbClr val="5B3E83"/>
                </a:solidFill>
                <a:latin typeface="Inter"/>
              </a:rPr>
              <a:t>¿Qué pasa? </a:t>
            </a:r>
            <a:r>
              <a:rPr sz="1100" b="0" i="0">
                <a:solidFill>
                  <a:srgbClr val="20242E"/>
                </a:solidFill>
                <a:latin typeface="Inter"/>
              </a:rPr>
              <a:t>Se reencuentran y hablan de sus clases y de un compañero nuevo</a:t>
            </a:r>
          </a:p>
          <a:p>
            <a:pPr algn="l">
              <a:lnSpc>
                <a:spcPct val="120000"/>
              </a:lnSpc>
              <a:spcBef>
                <a:spcPts val="0"/>
              </a:spcBef>
              <a:spcAft>
                <a:spcPts val="200"/>
              </a:spcAft>
            </a:pPr>
            <a:r>
              <a:rPr sz="1050" b="1" i="0">
                <a:solidFill>
                  <a:srgbClr val="6A6E78"/>
                </a:solidFill>
                <a:latin typeface="Inter"/>
              </a:rPr>
              <a:t>Palabras clave: </a:t>
            </a:r>
            <a:r>
              <a:rPr sz="1050" b="0" i="1">
                <a:solidFill>
                  <a:srgbClr val="20242E"/>
                </a:solidFill>
                <a:latin typeface="Inter"/>
              </a:rPr>
              <a:t>¿Qué tal el verano? · somos / estamos · el compañero nuevo</a:t>
            </a:r>
          </a:p>
        </p:txBody>
      </p:sp>
      <p:sp>
        <p:nvSpPr>
          <p:cNvPr id="11" name="Rounded Rectangle 10"/>
          <p:cNvSpPr/>
          <p:nvPr/>
        </p:nvSpPr>
        <p:spPr>
          <a:xfrm>
            <a:off x="457200" y="2514600"/>
            <a:ext cx="5577840" cy="2971800"/>
          </a:xfrm>
          <a:prstGeom prst="roundRect">
            <a:avLst>
              <a:gd name="adj" fmla="val 5500"/>
            </a:avLst>
          </a:prstGeom>
          <a:solidFill>
            <a:srgbClr val="FFFFFF"/>
          </a:solidFill>
          <a:ln w="15240">
            <a:solidFill>
              <a:srgbClr val="E4E3DE"/>
            </a:solidFill>
          </a:ln>
          <a:effectLst>
            <a:outerShdw blurRad="90000" dist="38000" dir="5400000" rotWithShape="0">
              <a:srgbClr val="20242E">
                <a:alpha val="2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 y="2606040"/>
            <a:ext cx="5212080" cy="292608"/>
          </a:xfrm>
          <a:prstGeom prst="rect">
            <a:avLst/>
          </a:prstGeom>
          <a:noFill/>
        </p:spPr>
        <p:txBody>
          <a:bodyPr wrap="square" anchor="t" lIns="38100" rIns="38100" tIns="25400" bIns="25400">
            <a:spAutoFit/>
          </a:bodyPr>
          <a:lstStyle/>
          <a:p>
            <a:pPr algn="l">
              <a:lnSpc>
                <a:spcPct val="106000"/>
              </a:lnSpc>
              <a:spcBef>
                <a:spcPts val="0"/>
              </a:spcBef>
              <a:spcAft>
                <a:spcPts val="200"/>
              </a:spcAft>
            </a:pPr>
            <a:r>
              <a:rPr sz="1200" b="1" i="0">
                <a:solidFill>
                  <a:srgbClr val="5B3E83"/>
                </a:solidFill>
                <a:latin typeface="Bricolage Grotesque"/>
              </a:rPr>
              <a:t>Escucha con detalle</a:t>
            </a:r>
          </a:p>
        </p:txBody>
      </p:sp>
      <p:sp>
        <p:nvSpPr>
          <p:cNvPr id="13" name="TextBox 12"/>
          <p:cNvSpPr txBox="1"/>
          <p:nvPr/>
        </p:nvSpPr>
        <p:spPr>
          <a:xfrm>
            <a:off x="640080" y="2944368"/>
            <a:ext cx="5212080" cy="2377440"/>
          </a:xfrm>
          <a:prstGeom prst="rect">
            <a:avLst/>
          </a:prstGeom>
          <a:noFill/>
        </p:spPr>
        <p:txBody>
          <a:bodyPr wrap="square" anchor="t" lIns="38100" rIns="38100" tIns="25400" bIns="25400">
            <a:spAutoFit/>
          </a:bodyPr>
          <a:lstStyle/>
          <a:p>
            <a:pPr algn="l">
              <a:lnSpc>
                <a:spcPct val="135000"/>
              </a:lnSpc>
              <a:spcBef>
                <a:spcPts val="0"/>
              </a:spcBef>
              <a:spcAft>
                <a:spcPts val="200"/>
              </a:spcAft>
            </a:pPr>
            <a:r>
              <a:rPr sz="1050" b="0" i="0">
                <a:solidFill>
                  <a:srgbClr val="20242E"/>
                </a:solidFill>
                <a:latin typeface="Inter"/>
              </a:rPr>
              <a:t>1. ¿Cómo se llama el compañero nuevo?</a:t>
            </a:r>
          </a:p>
          <a:p>
            <a:pPr algn="l">
              <a:lnSpc>
                <a:spcPct val="135000"/>
              </a:lnSpc>
              <a:spcBef>
                <a:spcPts val="0"/>
              </a:spcBef>
              <a:spcAft>
                <a:spcPts val="200"/>
              </a:spcAft>
            </a:pPr>
            <a:r>
              <a:rPr sz="1050" b="0" i="0">
                <a:solidFill>
                  <a:srgbClr val="20242E"/>
                </a:solidFill>
                <a:latin typeface="Inter"/>
              </a:rPr>
              <a:t>2. ¿De dónde es Mateo?</a:t>
            </a:r>
          </a:p>
          <a:p>
            <a:pPr algn="l">
              <a:lnSpc>
                <a:spcPct val="135000"/>
              </a:lnSpc>
              <a:spcBef>
                <a:spcPts val="0"/>
              </a:spcBef>
              <a:spcAft>
                <a:spcPts val="200"/>
              </a:spcAft>
            </a:pPr>
            <a:r>
              <a:rPr sz="1050" b="0" i="0">
                <a:solidFill>
                  <a:srgbClr val="20242E"/>
                </a:solidFill>
                <a:latin typeface="Inter"/>
              </a:rPr>
              <a:t>3. ¿Cuántos alumnos son este año?</a:t>
            </a:r>
          </a:p>
          <a:p>
            <a:pPr algn="l">
              <a:lnSpc>
                <a:spcPct val="135000"/>
              </a:lnSpc>
              <a:spcBef>
                <a:spcPts val="0"/>
              </a:spcBef>
              <a:spcAft>
                <a:spcPts val="200"/>
              </a:spcAft>
            </a:pPr>
            <a:r>
              <a:rPr sz="1050" b="0" i="0">
                <a:solidFill>
                  <a:srgbClr val="20242E"/>
                </a:solidFill>
                <a:latin typeface="Inter"/>
              </a:rPr>
              <a:t>4. ¿Cómo está Diego?</a:t>
            </a:r>
          </a:p>
          <a:p>
            <a:pPr algn="l">
              <a:lnSpc>
                <a:spcPct val="135000"/>
              </a:lnSpc>
              <a:spcBef>
                <a:spcPts val="0"/>
              </a:spcBef>
              <a:spcAft>
                <a:spcPts val="200"/>
              </a:spcAft>
            </a:pPr>
            <a:r>
              <a:rPr sz="1050" b="0" i="0">
                <a:solidFill>
                  <a:srgbClr val="20242E"/>
                </a:solidFill>
                <a:latin typeface="Inter"/>
              </a:rPr>
              <a:t>5. ¿Qué días hay clase de español?</a:t>
            </a:r>
          </a:p>
        </p:txBody>
      </p:sp>
      <p:sp>
        <p:nvSpPr>
          <p:cNvPr id="14" name="Rounded Rectangle 13"/>
          <p:cNvSpPr/>
          <p:nvPr/>
        </p:nvSpPr>
        <p:spPr>
          <a:xfrm>
            <a:off x="6263640" y="2514600"/>
            <a:ext cx="5468112" cy="2971800"/>
          </a:xfrm>
          <a:prstGeom prst="roundRect">
            <a:avLst>
              <a:gd name="adj" fmla="val 5500"/>
            </a:avLst>
          </a:prstGeom>
          <a:solidFill>
            <a:srgbClr val="F3EEE4"/>
          </a:solidFill>
          <a:ln w="15240">
            <a:solidFill>
              <a:srgbClr val="E4E3DE"/>
            </a:solidFill>
          </a:ln>
          <a:effectLst>
            <a:outerShdw blurRad="90000" dist="38000" dir="5400000" rotWithShape="0">
              <a:srgbClr val="20242E">
                <a:alpha val="2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46520" y="2606040"/>
            <a:ext cx="5120640" cy="292608"/>
          </a:xfrm>
          <a:prstGeom prst="rect">
            <a:avLst/>
          </a:prstGeom>
          <a:noFill/>
        </p:spPr>
        <p:txBody>
          <a:bodyPr wrap="square" anchor="t" lIns="38100" rIns="38100" tIns="25400" bIns="25400">
            <a:spAutoFit/>
          </a:bodyPr>
          <a:lstStyle/>
          <a:p>
            <a:pPr algn="l">
              <a:lnSpc>
                <a:spcPct val="106000"/>
              </a:lnSpc>
              <a:spcBef>
                <a:spcPts val="0"/>
              </a:spcBef>
              <a:spcAft>
                <a:spcPts val="200"/>
              </a:spcAft>
            </a:pPr>
            <a:r>
              <a:rPr sz="1200" b="1" i="0">
                <a:solidFill>
                  <a:srgbClr val="5B3E83"/>
                </a:solidFill>
                <a:latin typeface="Bricolage Grotesque"/>
              </a:rPr>
              <a:t>¿Verdadero o falso? — y la prueba</a:t>
            </a:r>
          </a:p>
        </p:txBody>
      </p:sp>
      <p:sp>
        <p:nvSpPr>
          <p:cNvPr id="16" name="TextBox 15"/>
          <p:cNvSpPr txBox="1"/>
          <p:nvPr/>
        </p:nvSpPr>
        <p:spPr>
          <a:xfrm>
            <a:off x="6446520" y="2944368"/>
            <a:ext cx="5120640" cy="1463040"/>
          </a:xfrm>
          <a:prstGeom prst="rect">
            <a:avLst/>
          </a:prstGeom>
          <a:noFill/>
        </p:spPr>
        <p:txBody>
          <a:bodyPr wrap="square" anchor="t" lIns="38100" rIns="38100" tIns="25400" bIns="25400">
            <a:spAutoFit/>
          </a:bodyPr>
          <a:lstStyle/>
          <a:p>
            <a:pPr algn="l">
              <a:lnSpc>
                <a:spcPct val="135000"/>
              </a:lnSpc>
              <a:spcBef>
                <a:spcPts val="0"/>
              </a:spcBef>
              <a:spcAft>
                <a:spcPts val="200"/>
              </a:spcAft>
            </a:pPr>
            <a:r>
              <a:rPr sz="1050" b="0" i="0">
                <a:solidFill>
                  <a:srgbClr val="20242E"/>
                </a:solidFill>
                <a:latin typeface="Inter"/>
              </a:rPr>
              <a:t>1. Valen pasó el verano en Colombia.</a:t>
            </a:r>
          </a:p>
          <a:p>
            <a:pPr algn="l">
              <a:lnSpc>
                <a:spcPct val="135000"/>
              </a:lnSpc>
              <a:spcBef>
                <a:spcPts val="0"/>
              </a:spcBef>
              <a:spcAft>
                <a:spcPts val="200"/>
              </a:spcAft>
            </a:pPr>
            <a:r>
              <a:rPr sz="1050" b="0" i="0">
                <a:solidFill>
                  <a:srgbClr val="20242E"/>
                </a:solidFill>
                <a:latin typeface="Inter"/>
              </a:rPr>
              <a:t>2. Mateo está en otra clase.</a:t>
            </a:r>
          </a:p>
          <a:p>
            <a:pPr algn="l">
              <a:lnSpc>
                <a:spcPct val="135000"/>
              </a:lnSpc>
              <a:spcBef>
                <a:spcPts val="0"/>
              </a:spcBef>
              <a:spcAft>
                <a:spcPts val="200"/>
              </a:spcAft>
            </a:pPr>
            <a:r>
              <a:rPr sz="1050" b="0" i="0">
                <a:solidFill>
                  <a:srgbClr val="20242E"/>
                </a:solidFill>
                <a:latin typeface="Inter"/>
              </a:rPr>
              <a:t>3. La profesora de español es nueva.</a:t>
            </a:r>
          </a:p>
        </p:txBody>
      </p:sp>
      <p:sp>
        <p:nvSpPr>
          <p:cNvPr id="17" name="TextBox 16"/>
          <p:cNvSpPr txBox="1"/>
          <p:nvPr/>
        </p:nvSpPr>
        <p:spPr>
          <a:xfrm>
            <a:off x="6446520" y="4572000"/>
            <a:ext cx="5120640" cy="822960"/>
          </a:xfrm>
          <a:prstGeom prst="rect">
            <a:avLst/>
          </a:prstGeom>
          <a:noFill/>
        </p:spPr>
        <p:txBody>
          <a:bodyPr wrap="square" anchor="t" lIns="38100" rIns="38100" tIns="25400" bIns="25400">
            <a:spAutoFit/>
          </a:bodyPr>
          <a:lstStyle/>
          <a:p>
            <a:pPr algn="l">
              <a:lnSpc>
                <a:spcPct val="120000"/>
              </a:lnSpc>
              <a:spcBef>
                <a:spcPts val="0"/>
              </a:spcBef>
              <a:spcAft>
                <a:spcPts val="200"/>
              </a:spcAft>
            </a:pPr>
            <a:r>
              <a:rPr sz="1050" b="1" i="0">
                <a:solidFill>
                  <a:srgbClr val="5B3E83"/>
                </a:solidFill>
                <a:latin typeface="Inter"/>
              </a:rPr>
              <a:t>Tu reacción: </a:t>
            </a:r>
            <a:r>
              <a:rPr sz="1000" b="0" i="0">
                <a:solidFill>
                  <a:srgbClr val="20242E"/>
                </a:solidFill>
                <a:latin typeface="Inter"/>
              </a:rPr>
              <a:t>Eres el compañero nuevo. Preséntate a Diego y a Valen en cuatro frases: nombre · origen · cómo estás hoy · una cosa que te gusta.</a:t>
            </a:r>
          </a:p>
        </p:txBody>
      </p:sp>
      <p:sp>
        <p:nvSpPr>
          <p:cNvPr id="18" name="Rounded Rectangle 17"/>
          <p:cNvSpPr/>
          <p:nvPr/>
        </p:nvSpPr>
        <p:spPr>
          <a:xfrm>
            <a:off x="457200" y="5596128"/>
            <a:ext cx="11274552" cy="658368"/>
          </a:xfrm>
          <a:prstGeom prst="roundRect">
            <a:avLst>
              <a:gd name="adj" fmla="val 6000"/>
            </a:avLst>
          </a:prstGeom>
          <a:solidFill>
            <a:srgbClr val="EEE8F5"/>
          </a:solidFill>
          <a:ln w="19050">
            <a:solidFill>
              <a:srgbClr val="7C56A9"/>
            </a:solidFill>
          </a:ln>
          <a:effectLst/>
        </p:spPr>
        <p:style>
          <a:lnRef idx="1">
            <a:schemeClr val="accent1"/>
          </a:lnRef>
          <a:fillRef idx="3">
            <a:schemeClr val="accent1"/>
          </a:fillRef>
          <a:effectRef idx="2">
            <a:schemeClr val="accent1"/>
          </a:effectRef>
          <a:fontRef idx="minor">
            <a:schemeClr val="lt1"/>
          </a:fontRef>
        </p:style>
        <p:txBody>
          <a:bodyPr rtlCol="0" anchor="ctr" wrap="square" lIns="127000" rIns="127000" tIns="139700" bIns="76200"/>
          <a:lstStyle/>
          <a:p>
            <a:pPr algn="ctr">
              <a:lnSpc>
                <a:spcPct val="102000"/>
              </a:lnSpc>
              <a:spcBef>
                <a:spcPts val="0"/>
              </a:spcBef>
              <a:spcAft>
                <a:spcPts val="300"/>
              </a:spcAft>
            </a:pPr>
            <a:r>
              <a:rPr sz="1200" b="0" i="0">
                <a:solidFill>
                  <a:srgbClr val="5B3E83"/>
                </a:solidFill>
                <a:latin typeface="Inter"/>
              </a:rPr>
              <a:t>Detalle: 1) Mateo · 2) De Buenos Aires · 3) 24 · 4) Cansado · 5) Martes y jueves</a:t>
            </a:r>
          </a:p>
          <a:p>
            <a:pPr>
              <a:lnSpc>
                <a:spcPct val="102000"/>
              </a:lnSpc>
              <a:spcBef>
                <a:spcPts val="0"/>
              </a:spcBef>
              <a:spcAft>
                <a:spcPts val="300"/>
              </a:spcAft>
            </a:pPr>
            <a:r>
              <a:rPr sz="1200" b="0" i="0">
                <a:solidFill>
                  <a:srgbClr val="5B3E83"/>
                </a:solidFill>
                <a:latin typeface="Inter"/>
              </a:rPr>
              <a:t>1) V — «Estuve en Cartagena»</a:t>
            </a:r>
          </a:p>
          <a:p>
            <a:pPr>
              <a:lnSpc>
                <a:spcPct val="102000"/>
              </a:lnSpc>
              <a:spcBef>
                <a:spcPts val="0"/>
              </a:spcBef>
              <a:spcAft>
                <a:spcPts val="300"/>
              </a:spcAft>
            </a:pPr>
            <a:r>
              <a:rPr sz="1200" b="0" i="0">
                <a:solidFill>
                  <a:srgbClr val="5B3E83"/>
                </a:solidFill>
                <a:latin typeface="Inter"/>
              </a:rPr>
              <a:t>2) F — «Está en nuestra clase»</a:t>
            </a:r>
          </a:p>
          <a:p>
            <a:pPr>
              <a:lnSpc>
                <a:spcPct val="102000"/>
              </a:lnSpc>
              <a:spcBef>
                <a:spcPts val="0"/>
              </a:spcBef>
              <a:spcAft>
                <a:spcPts val="300"/>
              </a:spcAft>
            </a:pPr>
            <a:r>
              <a:rPr sz="1200" b="0" i="0">
                <a:solidFill>
                  <a:srgbClr val="5B3E83"/>
                </a:solidFill>
                <a:latin typeface="Inter"/>
              </a:rPr>
              <a:t>3) F — «Es la misma»</a:t>
            </a:r>
          </a:p>
        </p:txBody>
      </p:sp>
      <p:sp>
        <p:nvSpPr>
          <p:cNvPr id="19" name="Rounded Rectangle 18"/>
          <p:cNvSpPr/>
          <p:nvPr/>
        </p:nvSpPr>
        <p:spPr>
          <a:xfrm>
            <a:off x="594360" y="5468112"/>
            <a:ext cx="1548993" cy="292608"/>
          </a:xfrm>
          <a:prstGeom prst="roundRect">
            <a:avLst>
              <a:gd name="adj" fmla="val 50000"/>
            </a:avLst>
          </a:prstGeom>
          <a:solidFill>
            <a:srgbClr val="7C56A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88900" rIns="88900" tIns="12700" bIns="12700"/>
          <a:lstStyle/>
          <a:p>
            <a:pPr algn="ctr"/>
            <a:r>
              <a:rPr sz="950" b="1">
                <a:solidFill>
                  <a:srgbClr val="FFFFFF"/>
                </a:solidFill>
                <a:latin typeface="Inter"/>
              </a:rPr>
              <a:t>SOLUCIÓN · docent</a:t>
            </a:r>
          </a:p>
        </p:txBody>
      </p:sp>
      <p:sp>
        <p:nvSpPr>
          <p:cNvPr id="20" name="Rectangle 19"/>
          <p:cNvSpPr/>
          <p:nvPr/>
        </p:nvSpPr>
        <p:spPr>
          <a:xfrm>
            <a:off x="0" y="6547104"/>
            <a:ext cx="12191695" cy="310896"/>
          </a:xfrm>
          <a:prstGeom prst="rect">
            <a:avLst/>
          </a:prstGeom>
          <a:solidFill>
            <a:srgbClr val="F3EE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11480" y="6565392"/>
            <a:ext cx="5486400" cy="274320"/>
          </a:xfrm>
          <a:prstGeom prst="rect">
            <a:avLst/>
          </a:prstGeom>
          <a:noFill/>
        </p:spPr>
        <p:txBody>
          <a:bodyPr wrap="square" anchor="ctr" lIns="38100" rIns="38100" tIns="25400" bIns="25400">
            <a:spAutoFit/>
          </a:bodyPr>
          <a:lstStyle/>
          <a:p>
            <a:pPr algn="l">
              <a:lnSpc>
                <a:spcPct val="106000"/>
              </a:lnSpc>
              <a:spcBef>
                <a:spcPts val="0"/>
              </a:spcBef>
              <a:spcAft>
                <a:spcPts val="200"/>
              </a:spcAft>
            </a:pPr>
            <a:r>
              <a:rPr sz="1100" b="1" i="0">
                <a:solidFill>
                  <a:srgbClr val="7C56A9"/>
                </a:solidFill>
                <a:latin typeface="Inter"/>
              </a:rPr>
              <a:t>● </a:t>
            </a:r>
            <a:r>
              <a:rPr sz="950" b="0" i="0">
                <a:solidFill>
                  <a:srgbClr val="6A6E78"/>
                </a:solidFill>
                <a:latin typeface="Inter"/>
              </a:rPr>
              <a:t>U0 · ¡EMPEZAMOS!   ·   C6+ · el reencuentro</a:t>
            </a:r>
          </a:p>
        </p:txBody>
      </p:sp>
      <p:sp>
        <p:nvSpPr>
          <p:cNvPr id="22" name="TextBox 21"/>
          <p:cNvSpPr txBox="1"/>
          <p:nvPr/>
        </p:nvSpPr>
        <p:spPr>
          <a:xfrm>
            <a:off x="8686800" y="6565392"/>
            <a:ext cx="3063240" cy="274320"/>
          </a:xfrm>
          <a:prstGeom prst="rect">
            <a:avLst/>
          </a:prstGeom>
          <a:noFill/>
        </p:spPr>
        <p:txBody>
          <a:bodyPr wrap="square" anchor="ctr" lIns="38100" rIns="38100" tIns="25400" bIns="25400">
            <a:spAutoFit/>
          </a:bodyPr>
          <a:lstStyle/>
          <a:p>
            <a:pPr algn="r">
              <a:lnSpc>
                <a:spcPct val="106000"/>
              </a:lnSpc>
              <a:spcBef>
                <a:spcPts val="0"/>
              </a:spcBef>
              <a:spcAft>
                <a:spcPts val="200"/>
              </a:spcAft>
            </a:pPr>
            <a:r>
              <a:rPr sz="900" b="0" i="1">
                <a:solidFill>
                  <a:srgbClr val="6A6E78"/>
                </a:solidFill>
                <a:latin typeface="Inter"/>
              </a:rPr>
              <a:t>Docentenversie — met oplossingen</a:t>
            </a:r>
          </a:p>
        </p:txBody>
      </p:sp>
      <p:sp>
        <p:nvSpPr>
          <p:cNvPr id="23" name="TextBox 22"/>
          <p:cNvSpPr txBox="1"/>
          <p:nvPr/>
        </p:nvSpPr>
        <p:spPr>
          <a:xfrm>
            <a:off x="11475720" y="6565392"/>
            <a:ext cx="457200" cy="274320"/>
          </a:xfrm>
          <a:prstGeom prst="rect">
            <a:avLst/>
          </a:prstGeom>
          <a:noFill/>
        </p:spPr>
        <p:txBody>
          <a:bodyPr wrap="square" anchor="ctr" lIns="38100" rIns="38100" tIns="25400" bIns="25400">
            <a:spAutoFit/>
          </a:bodyPr>
          <a:lstStyle/>
          <a:p>
            <a:pPr algn="r">
              <a:lnSpc>
                <a:spcPct val="106000"/>
              </a:lnSpc>
              <a:spcBef>
                <a:spcPts val="0"/>
              </a:spcBef>
              <a:spcAft>
                <a:spcPts val="200"/>
              </a:spcAft>
            </a:pPr>
            <a:r>
              <a:rPr sz="950" b="1" i="0">
                <a:solidFill>
                  <a:srgbClr val="5B3E83"/>
                </a:solidFill>
                <a:latin typeface="Inter"/>
              </a:rPr>
              <a:t>19</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8"/>
                                        </p:tgtEl>
                                        <p:attrNameLst>
                                          <p:attrName>style.visibility</p:attrName>
                                        </p:attrNameLst>
                                      </p:cBhvr>
                                      <p:to>
                                        <p:strVal val="visible"/>
                                      </p:to>
                                    </p:set>
                                    <p:animEffect transition="in" filter="fade">
                                      <p:cBhvr>
                                        <p:cTn id="7" dur="500"/>
                                        <p:tgtEl>
                                          <p:spTgt spid="18"/>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9"/>
                                        </p:tgtEl>
                                        <p:attrNameLst>
                                          <p:attrName>style.visibility</p:attrName>
                                        </p:attrNameLst>
                                      </p:cBhvr>
                                      <p:to>
                                        <p:strVal val="visible"/>
                                      </p:to>
                                    </p:set>
                                    <p:animEffect transition="in" filter="fade">
                                      <p:cBhvr>
                                        <p:cTn id="12" dur="500"/>
                                        <p:tgtEl>
                                          <p:spTgt spid="1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C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234440"/>
          </a:xfrm>
          <a:prstGeom prst="rect">
            <a:avLst/>
          </a:prstGeom>
          <a:solidFill>
            <a:srgbClr val="5B3E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8229600" cy="914400"/>
          </a:xfrm>
          <a:prstGeom prst="rect">
            <a:avLst/>
          </a:prstGeom>
          <a:noFill/>
        </p:spPr>
        <p:txBody>
          <a:bodyPr wrap="square" anchor="t" lIns="38100" rIns="38100" tIns="25400" bIns="25400">
            <a:spAutoFit/>
          </a:bodyPr>
          <a:lstStyle/>
          <a:p>
            <a:pPr algn="l">
              <a:lnSpc>
                <a:spcPct val="106000"/>
              </a:lnSpc>
              <a:spcBef>
                <a:spcPts val="0"/>
              </a:spcBef>
              <a:spcAft>
                <a:spcPts val="200"/>
              </a:spcAft>
            </a:pPr>
            <a:r>
              <a:rPr sz="2800" b="1" i="0">
                <a:solidFill>
                  <a:srgbClr val="FFFFFF"/>
                </a:solidFill>
                <a:latin typeface="Bricolage Grotesque"/>
              </a:rPr>
              <a:t>🪪 Tarea final · Tarjeta de reencuentro</a:t>
            </a:r>
          </a:p>
          <a:p>
            <a:pPr algn="l">
              <a:lnSpc>
                <a:spcPct val="106000"/>
              </a:lnSpc>
              <a:spcBef>
                <a:spcPts val="0"/>
              </a:spcBef>
              <a:spcAft>
                <a:spcPts val="200"/>
              </a:spcAft>
            </a:pPr>
            <a:r>
              <a:rPr sz="1300" b="0" i="1">
                <a:solidFill>
                  <a:srgbClr val="EEE8F5"/>
                </a:solidFill>
                <a:latin typeface="Inter"/>
              </a:rPr>
              <a:t>Maak je terugkeer-kaartje voor de klasmuur y preséntate en pareja.</a:t>
            </a:r>
          </a:p>
        </p:txBody>
      </p:sp>
      <p:pic>
        <p:nvPicPr>
          <p:cNvPr id="5" name="Picture 4" descr="mochila.png"/>
          <p:cNvPicPr>
            <a:picLocks noChangeAspect="1"/>
          </p:cNvPicPr>
          <p:nvPr/>
        </p:nvPicPr>
        <p:blipFill>
          <a:blip r:embed="rId2"/>
          <a:stretch>
            <a:fillRect/>
          </a:stretch>
        </p:blipFill>
        <p:spPr>
          <a:xfrm>
            <a:off x="10607040" y="182880"/>
            <a:ext cx="914400" cy="914400"/>
          </a:xfrm>
          <a:prstGeom prst="rect">
            <a:avLst/>
          </a:prstGeom>
        </p:spPr>
      </p:pic>
      <p:sp>
        <p:nvSpPr>
          <p:cNvPr id="6" name="Rounded Rectangle 5"/>
          <p:cNvSpPr/>
          <p:nvPr/>
        </p:nvSpPr>
        <p:spPr>
          <a:xfrm>
            <a:off x="457200" y="1554480"/>
            <a:ext cx="457200" cy="457200"/>
          </a:xfrm>
          <a:prstGeom prst="roundRect">
            <a:avLst>
              <a:gd name="adj" fmla="val 50000"/>
            </a:avLst>
          </a:prstGeom>
          <a:solidFill>
            <a:srgbClr val="7C56A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500" b="1">
                <a:solidFill>
                  <a:srgbClr val="FFFFFF"/>
                </a:solidFill>
                <a:latin typeface="Bricolage Grotesque"/>
              </a:rPr>
              <a:t>1</a:t>
            </a:r>
          </a:p>
        </p:txBody>
      </p:sp>
      <p:sp>
        <p:nvSpPr>
          <p:cNvPr id="7" name="TextBox 6"/>
          <p:cNvSpPr txBox="1"/>
          <p:nvPr/>
        </p:nvSpPr>
        <p:spPr>
          <a:xfrm>
            <a:off x="1097280" y="1554480"/>
            <a:ext cx="3840480" cy="502920"/>
          </a:xfrm>
          <a:prstGeom prst="rect">
            <a:avLst/>
          </a:prstGeom>
          <a:noFill/>
        </p:spPr>
        <p:txBody>
          <a:bodyPr wrap="square" anchor="ctr" lIns="38100" rIns="38100" tIns="25400" bIns="25400">
            <a:spAutoFit/>
          </a:bodyPr>
          <a:lstStyle/>
          <a:p>
            <a:pPr algn="l">
              <a:lnSpc>
                <a:spcPct val="106000"/>
              </a:lnSpc>
              <a:spcBef>
                <a:spcPts val="0"/>
              </a:spcBef>
              <a:spcAft>
                <a:spcPts val="200"/>
              </a:spcAft>
            </a:pPr>
            <a:r>
              <a:rPr sz="1400" b="1" i="0">
                <a:solidFill>
                  <a:srgbClr val="5B3E83"/>
                </a:solidFill>
                <a:latin typeface="Bricolage Grotesque"/>
              </a:rPr>
              <a:t>Planifica tus datos</a:t>
            </a:r>
          </a:p>
        </p:txBody>
      </p:sp>
      <p:sp>
        <p:nvSpPr>
          <p:cNvPr id="8" name="TextBox 7"/>
          <p:cNvSpPr txBox="1"/>
          <p:nvPr/>
        </p:nvSpPr>
        <p:spPr>
          <a:xfrm>
            <a:off x="5029200" y="1554480"/>
            <a:ext cx="6583680" cy="502920"/>
          </a:xfrm>
          <a:prstGeom prst="rect">
            <a:avLst/>
          </a:prstGeom>
          <a:noFill/>
        </p:spPr>
        <p:txBody>
          <a:bodyPr wrap="square" anchor="ctr" lIns="38100" rIns="38100" tIns="25400" bIns="25400">
            <a:spAutoFit/>
          </a:bodyPr>
          <a:lstStyle/>
          <a:p>
            <a:pPr algn="l">
              <a:lnSpc>
                <a:spcPct val="106000"/>
              </a:lnSpc>
              <a:spcBef>
                <a:spcPts val="0"/>
              </a:spcBef>
              <a:spcAft>
                <a:spcPts val="200"/>
              </a:spcAft>
            </a:pPr>
            <a:r>
              <a:rPr sz="1200" b="0" i="0">
                <a:solidFill>
                  <a:srgbClr val="20242E"/>
                </a:solidFill>
                <a:latin typeface="Inter"/>
              </a:rPr>
              <a:t>nombre · edad · origen · lengua · carácter</a:t>
            </a:r>
          </a:p>
        </p:txBody>
      </p:sp>
      <p:sp>
        <p:nvSpPr>
          <p:cNvPr id="9" name="Rounded Rectangle 8"/>
          <p:cNvSpPr/>
          <p:nvPr/>
        </p:nvSpPr>
        <p:spPr>
          <a:xfrm>
            <a:off x="457200" y="2121408"/>
            <a:ext cx="457200" cy="457200"/>
          </a:xfrm>
          <a:prstGeom prst="roundRect">
            <a:avLst>
              <a:gd name="adj" fmla="val 50000"/>
            </a:avLst>
          </a:prstGeom>
          <a:solidFill>
            <a:srgbClr val="7C56A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500" b="1">
                <a:solidFill>
                  <a:srgbClr val="FFFFFF"/>
                </a:solidFill>
                <a:latin typeface="Bricolage Grotesque"/>
              </a:rPr>
              <a:t>2</a:t>
            </a:r>
          </a:p>
        </p:txBody>
      </p:sp>
      <p:sp>
        <p:nvSpPr>
          <p:cNvPr id="10" name="TextBox 9"/>
          <p:cNvSpPr txBox="1"/>
          <p:nvPr/>
        </p:nvSpPr>
        <p:spPr>
          <a:xfrm>
            <a:off x="1097280" y="2121408"/>
            <a:ext cx="3840480" cy="502920"/>
          </a:xfrm>
          <a:prstGeom prst="rect">
            <a:avLst/>
          </a:prstGeom>
          <a:noFill/>
        </p:spPr>
        <p:txBody>
          <a:bodyPr wrap="square" anchor="ctr" lIns="38100" rIns="38100" tIns="25400" bIns="25400">
            <a:spAutoFit/>
          </a:bodyPr>
          <a:lstStyle/>
          <a:p>
            <a:pPr algn="l">
              <a:lnSpc>
                <a:spcPct val="106000"/>
              </a:lnSpc>
              <a:spcBef>
                <a:spcPts val="0"/>
              </a:spcBef>
              <a:spcAft>
                <a:spcPts val="200"/>
              </a:spcAft>
            </a:pPr>
            <a:r>
              <a:rPr sz="1400" b="1" i="0">
                <a:solidFill>
                  <a:srgbClr val="5B3E83"/>
                </a:solidFill>
                <a:latin typeface="Bricolage Grotesque"/>
              </a:rPr>
              <a:t>Escribe la tarjeta</a:t>
            </a:r>
          </a:p>
        </p:txBody>
      </p:sp>
      <p:sp>
        <p:nvSpPr>
          <p:cNvPr id="11" name="TextBox 10"/>
          <p:cNvSpPr txBox="1"/>
          <p:nvPr/>
        </p:nvSpPr>
        <p:spPr>
          <a:xfrm>
            <a:off x="5029200" y="2121408"/>
            <a:ext cx="6583680" cy="502920"/>
          </a:xfrm>
          <a:prstGeom prst="rect">
            <a:avLst/>
          </a:prstGeom>
          <a:noFill/>
        </p:spPr>
        <p:txBody>
          <a:bodyPr wrap="square" anchor="ctr" lIns="38100" rIns="38100" tIns="25400" bIns="25400">
            <a:spAutoFit/>
          </a:bodyPr>
          <a:lstStyle/>
          <a:p>
            <a:pPr algn="l">
              <a:lnSpc>
                <a:spcPct val="106000"/>
              </a:lnSpc>
              <a:spcBef>
                <a:spcPts val="0"/>
              </a:spcBef>
              <a:spcAft>
                <a:spcPts val="200"/>
              </a:spcAft>
            </a:pPr>
            <a:r>
              <a:rPr sz="1200" b="0" i="0">
                <a:solidFill>
                  <a:srgbClr val="20242E"/>
                </a:solidFill>
                <a:latin typeface="Inter"/>
              </a:rPr>
              <a:t>4–5 frases con me llamo / soy / tengo / vivo / hablo + conector</a:t>
            </a:r>
          </a:p>
        </p:txBody>
      </p:sp>
      <p:sp>
        <p:nvSpPr>
          <p:cNvPr id="12" name="Rounded Rectangle 11"/>
          <p:cNvSpPr/>
          <p:nvPr/>
        </p:nvSpPr>
        <p:spPr>
          <a:xfrm>
            <a:off x="457200" y="2688336"/>
            <a:ext cx="457200" cy="457200"/>
          </a:xfrm>
          <a:prstGeom prst="roundRect">
            <a:avLst>
              <a:gd name="adj" fmla="val 50000"/>
            </a:avLst>
          </a:prstGeom>
          <a:solidFill>
            <a:srgbClr val="7C56A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500" b="1">
                <a:solidFill>
                  <a:srgbClr val="FFFFFF"/>
                </a:solidFill>
                <a:latin typeface="Bricolage Grotesque"/>
              </a:rPr>
              <a:t>3</a:t>
            </a:r>
          </a:p>
        </p:txBody>
      </p:sp>
      <p:sp>
        <p:nvSpPr>
          <p:cNvPr id="13" name="TextBox 12"/>
          <p:cNvSpPr txBox="1"/>
          <p:nvPr/>
        </p:nvSpPr>
        <p:spPr>
          <a:xfrm>
            <a:off x="1097280" y="2688336"/>
            <a:ext cx="3840480" cy="502920"/>
          </a:xfrm>
          <a:prstGeom prst="rect">
            <a:avLst/>
          </a:prstGeom>
          <a:noFill/>
        </p:spPr>
        <p:txBody>
          <a:bodyPr wrap="square" anchor="ctr" lIns="38100" rIns="38100" tIns="25400" bIns="25400">
            <a:spAutoFit/>
          </a:bodyPr>
          <a:lstStyle/>
          <a:p>
            <a:pPr algn="l">
              <a:lnSpc>
                <a:spcPct val="106000"/>
              </a:lnSpc>
              <a:spcBef>
                <a:spcPts val="0"/>
              </a:spcBef>
              <a:spcAft>
                <a:spcPts val="200"/>
              </a:spcAft>
            </a:pPr>
            <a:r>
              <a:rPr sz="1400" b="1" i="0">
                <a:solidFill>
                  <a:srgbClr val="5B3E83"/>
                </a:solidFill>
                <a:latin typeface="Bricolage Grotesque"/>
              </a:rPr>
              <a:t>Preséntate en pareja</a:t>
            </a:r>
          </a:p>
        </p:txBody>
      </p:sp>
      <p:sp>
        <p:nvSpPr>
          <p:cNvPr id="14" name="TextBox 13"/>
          <p:cNvSpPr txBox="1"/>
          <p:nvPr/>
        </p:nvSpPr>
        <p:spPr>
          <a:xfrm>
            <a:off x="5029200" y="2688336"/>
            <a:ext cx="6583680" cy="502920"/>
          </a:xfrm>
          <a:prstGeom prst="rect">
            <a:avLst/>
          </a:prstGeom>
          <a:noFill/>
        </p:spPr>
        <p:txBody>
          <a:bodyPr wrap="square" anchor="ctr" lIns="38100" rIns="38100" tIns="25400" bIns="25400">
            <a:spAutoFit/>
          </a:bodyPr>
          <a:lstStyle/>
          <a:p>
            <a:pPr algn="l">
              <a:lnSpc>
                <a:spcPct val="106000"/>
              </a:lnSpc>
              <a:spcBef>
                <a:spcPts val="0"/>
              </a:spcBef>
              <a:spcAft>
                <a:spcPts val="200"/>
              </a:spcAft>
            </a:pPr>
            <a:r>
              <a:rPr sz="1200" b="0" i="0">
                <a:solidFill>
                  <a:srgbClr val="20242E"/>
                </a:solidFill>
                <a:latin typeface="Inter"/>
              </a:rPr>
              <a:t>lee en voz alta; tu compañero/a anota un dato y pregunta</a:t>
            </a:r>
          </a:p>
        </p:txBody>
      </p:sp>
      <p:sp>
        <p:nvSpPr>
          <p:cNvPr id="15" name="Rounded Rectangle 14"/>
          <p:cNvSpPr/>
          <p:nvPr/>
        </p:nvSpPr>
        <p:spPr>
          <a:xfrm>
            <a:off x="457200" y="3255264"/>
            <a:ext cx="457200" cy="457200"/>
          </a:xfrm>
          <a:prstGeom prst="roundRect">
            <a:avLst>
              <a:gd name="adj" fmla="val 50000"/>
            </a:avLst>
          </a:prstGeom>
          <a:solidFill>
            <a:srgbClr val="7C56A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500" b="1">
                <a:solidFill>
                  <a:srgbClr val="FFFFFF"/>
                </a:solidFill>
                <a:latin typeface="Bricolage Grotesque"/>
              </a:rPr>
              <a:t>4</a:t>
            </a:r>
          </a:p>
        </p:txBody>
      </p:sp>
      <p:sp>
        <p:nvSpPr>
          <p:cNvPr id="16" name="TextBox 15"/>
          <p:cNvSpPr txBox="1"/>
          <p:nvPr/>
        </p:nvSpPr>
        <p:spPr>
          <a:xfrm>
            <a:off x="1097280" y="3255264"/>
            <a:ext cx="3840480" cy="502920"/>
          </a:xfrm>
          <a:prstGeom prst="rect">
            <a:avLst/>
          </a:prstGeom>
          <a:noFill/>
        </p:spPr>
        <p:txBody>
          <a:bodyPr wrap="square" anchor="ctr" lIns="38100" rIns="38100" tIns="25400" bIns="25400">
            <a:spAutoFit/>
          </a:bodyPr>
          <a:lstStyle/>
          <a:p>
            <a:pPr algn="l">
              <a:lnSpc>
                <a:spcPct val="106000"/>
              </a:lnSpc>
              <a:spcBef>
                <a:spcPts val="0"/>
              </a:spcBef>
              <a:spcAft>
                <a:spcPts val="200"/>
              </a:spcAft>
            </a:pPr>
            <a:r>
              <a:rPr sz="1400" b="1" i="0">
                <a:solidFill>
                  <a:srgbClr val="5B3E83"/>
                </a:solidFill>
                <a:latin typeface="Bricolage Grotesque"/>
              </a:rPr>
              <a:t>Graba tu presentación</a:t>
            </a:r>
          </a:p>
        </p:txBody>
      </p:sp>
      <p:sp>
        <p:nvSpPr>
          <p:cNvPr id="17" name="TextBox 16"/>
          <p:cNvSpPr txBox="1"/>
          <p:nvPr/>
        </p:nvSpPr>
        <p:spPr>
          <a:xfrm>
            <a:off x="5029200" y="3255264"/>
            <a:ext cx="6583680" cy="502920"/>
          </a:xfrm>
          <a:prstGeom prst="rect">
            <a:avLst/>
          </a:prstGeom>
          <a:noFill/>
        </p:spPr>
        <p:txBody>
          <a:bodyPr wrap="square" anchor="ctr" lIns="38100" rIns="38100" tIns="25400" bIns="25400">
            <a:spAutoFit/>
          </a:bodyPr>
          <a:lstStyle/>
          <a:p>
            <a:pPr algn="l">
              <a:lnSpc>
                <a:spcPct val="106000"/>
              </a:lnSpc>
              <a:spcBef>
                <a:spcPts val="0"/>
              </a:spcBef>
              <a:spcAft>
                <a:spcPts val="200"/>
              </a:spcAft>
            </a:pPr>
            <a:r>
              <a:rPr sz="1200" b="0" i="0">
                <a:solidFill>
                  <a:srgbClr val="20242E"/>
                </a:solidFill>
                <a:latin typeface="Inter"/>
              </a:rPr>
              <a:t>en la web (recorder) — escúchate y mejora</a:t>
            </a:r>
          </a:p>
        </p:txBody>
      </p:sp>
      <p:sp>
        <p:nvSpPr>
          <p:cNvPr id="18" name="Rounded Rectangle 17"/>
          <p:cNvSpPr/>
          <p:nvPr/>
        </p:nvSpPr>
        <p:spPr>
          <a:xfrm>
            <a:off x="457200" y="3822192"/>
            <a:ext cx="457200" cy="457200"/>
          </a:xfrm>
          <a:prstGeom prst="roundRect">
            <a:avLst>
              <a:gd name="adj" fmla="val 50000"/>
            </a:avLst>
          </a:prstGeom>
          <a:solidFill>
            <a:srgbClr val="7C56A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500" b="1">
                <a:solidFill>
                  <a:srgbClr val="FFFFFF"/>
                </a:solidFill>
                <a:latin typeface="Bricolage Grotesque"/>
              </a:rPr>
              <a:t>5</a:t>
            </a:r>
          </a:p>
        </p:txBody>
      </p:sp>
      <p:sp>
        <p:nvSpPr>
          <p:cNvPr id="19" name="TextBox 18"/>
          <p:cNvSpPr txBox="1"/>
          <p:nvPr/>
        </p:nvSpPr>
        <p:spPr>
          <a:xfrm>
            <a:off x="1097280" y="3822192"/>
            <a:ext cx="3840480" cy="502920"/>
          </a:xfrm>
          <a:prstGeom prst="rect">
            <a:avLst/>
          </a:prstGeom>
          <a:noFill/>
        </p:spPr>
        <p:txBody>
          <a:bodyPr wrap="square" anchor="ctr" lIns="38100" rIns="38100" tIns="25400" bIns="25400">
            <a:spAutoFit/>
          </a:bodyPr>
          <a:lstStyle/>
          <a:p>
            <a:pPr algn="l">
              <a:lnSpc>
                <a:spcPct val="106000"/>
              </a:lnSpc>
              <a:spcBef>
                <a:spcPts val="0"/>
              </a:spcBef>
              <a:spcAft>
                <a:spcPts val="200"/>
              </a:spcAft>
            </a:pPr>
            <a:r>
              <a:rPr sz="1400" b="1" i="0">
                <a:solidFill>
                  <a:srgbClr val="5B3E83"/>
                </a:solidFill>
                <a:latin typeface="Bricolage Grotesque"/>
              </a:rPr>
              <a:t>Cuelga la tarjeta</a:t>
            </a:r>
          </a:p>
        </p:txBody>
      </p:sp>
      <p:sp>
        <p:nvSpPr>
          <p:cNvPr id="20" name="TextBox 19"/>
          <p:cNvSpPr txBox="1"/>
          <p:nvPr/>
        </p:nvSpPr>
        <p:spPr>
          <a:xfrm>
            <a:off x="5029200" y="3822192"/>
            <a:ext cx="6583680" cy="502920"/>
          </a:xfrm>
          <a:prstGeom prst="rect">
            <a:avLst/>
          </a:prstGeom>
          <a:noFill/>
        </p:spPr>
        <p:txBody>
          <a:bodyPr wrap="square" anchor="ctr" lIns="38100" rIns="38100" tIns="25400" bIns="25400">
            <a:spAutoFit/>
          </a:bodyPr>
          <a:lstStyle/>
          <a:p>
            <a:pPr algn="l">
              <a:lnSpc>
                <a:spcPct val="106000"/>
              </a:lnSpc>
              <a:spcBef>
                <a:spcPts val="0"/>
              </a:spcBef>
              <a:spcAft>
                <a:spcPts val="200"/>
              </a:spcAft>
            </a:pPr>
            <a:r>
              <a:rPr sz="1200" b="0" i="0">
                <a:solidFill>
                  <a:srgbClr val="20242E"/>
                </a:solidFill>
                <a:latin typeface="Inter"/>
              </a:rPr>
              <a:t>en el muro de la clase</a:t>
            </a:r>
          </a:p>
        </p:txBody>
      </p:sp>
      <p:sp>
        <p:nvSpPr>
          <p:cNvPr id="21" name="TextBox 20"/>
          <p:cNvSpPr txBox="1"/>
          <p:nvPr/>
        </p:nvSpPr>
        <p:spPr>
          <a:xfrm>
            <a:off x="457200" y="4572000"/>
            <a:ext cx="10972800" cy="320040"/>
          </a:xfrm>
          <a:prstGeom prst="rect">
            <a:avLst/>
          </a:prstGeom>
          <a:noFill/>
        </p:spPr>
        <p:txBody>
          <a:bodyPr wrap="square" anchor="t" lIns="38100" rIns="38100" tIns="25400" bIns="25400">
            <a:spAutoFit/>
          </a:bodyPr>
          <a:lstStyle/>
          <a:p>
            <a:pPr algn="l">
              <a:lnSpc>
                <a:spcPct val="106000"/>
              </a:lnSpc>
              <a:spcBef>
                <a:spcPts val="0"/>
              </a:spcBef>
              <a:spcAft>
                <a:spcPts val="200"/>
              </a:spcAft>
            </a:pPr>
            <a:r>
              <a:rPr sz="1300" b="1" i="0">
                <a:solidFill>
                  <a:srgbClr val="5B3E83"/>
                </a:solidFill>
                <a:latin typeface="Bricolage Grotesque"/>
              </a:rPr>
              <a:t>Rúbrica · ¿lo logré?</a:t>
            </a:r>
          </a:p>
        </p:txBody>
      </p:sp>
      <p:sp>
        <p:nvSpPr>
          <p:cNvPr id="22" name="Rounded Rectangle 21"/>
          <p:cNvSpPr/>
          <p:nvPr/>
        </p:nvSpPr>
        <p:spPr>
          <a:xfrm>
            <a:off x="457200" y="4983480"/>
            <a:ext cx="2788920" cy="292608"/>
          </a:xfrm>
          <a:prstGeom prst="roundRect">
            <a:avLst>
              <a:gd name="adj" fmla="val 50000"/>
            </a:avLst>
          </a:prstGeom>
          <a:solidFill>
            <a:srgbClr val="EEE8F5"/>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88900" rIns="88900" tIns="12700" bIns="12700"/>
          <a:lstStyle/>
          <a:p>
            <a:pPr algn="ctr"/>
            <a:r>
              <a:rPr sz="1000" b="1">
                <a:solidFill>
                  <a:srgbClr val="5B3E83"/>
                </a:solidFill>
                <a:latin typeface="Inter"/>
              </a:rPr>
              <a:t>☐ 5 datos (nombre·edad·origen·lengua·carácter)</a:t>
            </a:r>
          </a:p>
        </p:txBody>
      </p:sp>
      <p:sp>
        <p:nvSpPr>
          <p:cNvPr id="23" name="Rounded Rectangle 22"/>
          <p:cNvSpPr/>
          <p:nvPr/>
        </p:nvSpPr>
        <p:spPr>
          <a:xfrm>
            <a:off x="3337560" y="4983480"/>
            <a:ext cx="2788920" cy="292608"/>
          </a:xfrm>
          <a:prstGeom prst="roundRect">
            <a:avLst>
              <a:gd name="adj" fmla="val 50000"/>
            </a:avLst>
          </a:prstGeom>
          <a:solidFill>
            <a:srgbClr val="EEE8F5"/>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88900" rIns="88900" tIns="12700" bIns="12700"/>
          <a:lstStyle/>
          <a:p>
            <a:pPr algn="ctr"/>
            <a:r>
              <a:rPr sz="1000" b="1">
                <a:solidFill>
                  <a:srgbClr val="5B3E83"/>
                </a:solidFill>
                <a:latin typeface="Inter"/>
              </a:rPr>
              <a:t>☐ presente correcto (soy/tengo/vivo)</a:t>
            </a:r>
          </a:p>
        </p:txBody>
      </p:sp>
      <p:sp>
        <p:nvSpPr>
          <p:cNvPr id="24" name="Rounded Rectangle 23"/>
          <p:cNvSpPr/>
          <p:nvPr/>
        </p:nvSpPr>
        <p:spPr>
          <a:xfrm>
            <a:off x="6217920" y="4983480"/>
            <a:ext cx="2788920" cy="292608"/>
          </a:xfrm>
          <a:prstGeom prst="roundRect">
            <a:avLst>
              <a:gd name="adj" fmla="val 50000"/>
            </a:avLst>
          </a:prstGeom>
          <a:solidFill>
            <a:srgbClr val="EEE8F5"/>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88900" rIns="88900" tIns="12700" bIns="12700"/>
          <a:lstStyle/>
          <a:p>
            <a:pPr algn="ctr"/>
            <a:r>
              <a:rPr sz="1000" b="1">
                <a:solidFill>
                  <a:srgbClr val="5B3E83"/>
                </a:solidFill>
                <a:latin typeface="Inter"/>
              </a:rPr>
              <a:t>☐ un conector (y/pero/porque)</a:t>
            </a:r>
          </a:p>
        </p:txBody>
      </p:sp>
      <p:sp>
        <p:nvSpPr>
          <p:cNvPr id="25" name="Rounded Rectangle 24"/>
          <p:cNvSpPr/>
          <p:nvPr/>
        </p:nvSpPr>
        <p:spPr>
          <a:xfrm>
            <a:off x="9098280" y="4983480"/>
            <a:ext cx="2788920" cy="292608"/>
          </a:xfrm>
          <a:prstGeom prst="roundRect">
            <a:avLst>
              <a:gd name="adj" fmla="val 50000"/>
            </a:avLst>
          </a:prstGeom>
          <a:solidFill>
            <a:srgbClr val="EEE8F5"/>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88900" rIns="88900" tIns="12700" bIns="12700"/>
          <a:lstStyle/>
          <a:p>
            <a:pPr algn="ctr"/>
            <a:r>
              <a:rPr sz="1000" b="1">
                <a:solidFill>
                  <a:srgbClr val="5B3E83"/>
                </a:solidFill>
                <a:latin typeface="Inter"/>
              </a:rPr>
              <a:t>☐ presentar en pareja</a:t>
            </a:r>
          </a:p>
        </p:txBody>
      </p:sp>
      <p:sp>
        <p:nvSpPr>
          <p:cNvPr id="26" name="TextBox 25"/>
          <p:cNvSpPr txBox="1"/>
          <p:nvPr/>
        </p:nvSpPr>
        <p:spPr>
          <a:xfrm>
            <a:off x="457200" y="5532120"/>
            <a:ext cx="10972800" cy="365760"/>
          </a:xfrm>
          <a:prstGeom prst="rect">
            <a:avLst/>
          </a:prstGeom>
          <a:noFill/>
        </p:spPr>
        <p:txBody>
          <a:bodyPr wrap="square" anchor="t" lIns="38100" rIns="38100" tIns="25400" bIns="25400">
            <a:spAutoFit/>
          </a:bodyPr>
          <a:lstStyle/>
          <a:p>
            <a:pPr algn="l">
              <a:lnSpc>
                <a:spcPct val="106000"/>
              </a:lnSpc>
              <a:spcBef>
                <a:spcPts val="0"/>
              </a:spcBef>
              <a:spcAft>
                <a:spcPts val="200"/>
              </a:spcAft>
            </a:pPr>
            <a:r>
              <a:rPr sz="1200" b="0" i="0">
                <a:solidFill>
                  <a:srgbClr val="20242E"/>
                </a:solidFill>
                <a:latin typeface="Inter"/>
              </a:rPr>
              <a:t>🎯 </a:t>
            </a:r>
            <a:r>
              <a:rPr sz="1150" b="0" i="1">
                <a:solidFill>
                  <a:srgbClr val="6A6E78"/>
                </a:solidFill>
                <a:latin typeface="Inter"/>
              </a:rPr>
              <a:t>Afzender jij · ontvanger de klas (el muro) · doel jezelf (opnieuw) voorstellen · situatie de eerste les · resultaat: tarjeta + presentación oral.</a:t>
            </a:r>
          </a:p>
        </p:txBody>
      </p:sp>
      <p:sp>
        <p:nvSpPr>
          <p:cNvPr id="27" name="Rectangle 26"/>
          <p:cNvSpPr/>
          <p:nvPr/>
        </p:nvSpPr>
        <p:spPr>
          <a:xfrm>
            <a:off x="0" y="6547104"/>
            <a:ext cx="12191695" cy="310896"/>
          </a:xfrm>
          <a:prstGeom prst="rect">
            <a:avLst/>
          </a:prstGeom>
          <a:solidFill>
            <a:srgbClr val="F3EE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11480" y="6565392"/>
            <a:ext cx="5486400" cy="274320"/>
          </a:xfrm>
          <a:prstGeom prst="rect">
            <a:avLst/>
          </a:prstGeom>
          <a:noFill/>
        </p:spPr>
        <p:txBody>
          <a:bodyPr wrap="square" anchor="ctr" lIns="38100" rIns="38100" tIns="25400" bIns="25400">
            <a:spAutoFit/>
          </a:bodyPr>
          <a:lstStyle/>
          <a:p>
            <a:pPr algn="l">
              <a:lnSpc>
                <a:spcPct val="106000"/>
              </a:lnSpc>
              <a:spcBef>
                <a:spcPts val="0"/>
              </a:spcBef>
              <a:spcAft>
                <a:spcPts val="200"/>
              </a:spcAft>
            </a:pPr>
            <a:r>
              <a:rPr sz="1100" b="1" i="0">
                <a:solidFill>
                  <a:srgbClr val="7C56A9"/>
                </a:solidFill>
                <a:latin typeface="Inter"/>
              </a:rPr>
              <a:t>● </a:t>
            </a:r>
            <a:r>
              <a:rPr sz="950" b="0" i="0">
                <a:solidFill>
                  <a:srgbClr val="6A6E78"/>
                </a:solidFill>
                <a:latin typeface="Inter"/>
              </a:rPr>
              <a:t>U0 · ¡VOLVEMOS!   ·   C6+ · el reencuentro</a:t>
            </a:r>
          </a:p>
        </p:txBody>
      </p:sp>
      <p:sp>
        <p:nvSpPr>
          <p:cNvPr id="29" name="TextBox 28"/>
          <p:cNvSpPr txBox="1"/>
          <p:nvPr/>
        </p:nvSpPr>
        <p:spPr>
          <a:xfrm>
            <a:off x="8686800" y="6565392"/>
            <a:ext cx="3063240" cy="274320"/>
          </a:xfrm>
          <a:prstGeom prst="rect">
            <a:avLst/>
          </a:prstGeom>
          <a:noFill/>
        </p:spPr>
        <p:txBody>
          <a:bodyPr wrap="square" anchor="ctr" lIns="38100" rIns="38100" tIns="25400" bIns="25400">
            <a:spAutoFit/>
          </a:bodyPr>
          <a:lstStyle/>
          <a:p>
            <a:pPr algn="r">
              <a:lnSpc>
                <a:spcPct val="106000"/>
              </a:lnSpc>
              <a:spcBef>
                <a:spcPts val="0"/>
              </a:spcBef>
              <a:spcAft>
                <a:spcPts val="200"/>
              </a:spcAft>
            </a:pPr>
            <a:r>
              <a:rPr sz="900" b="0" i="1">
                <a:solidFill>
                  <a:srgbClr val="6A6E78"/>
                </a:solidFill>
                <a:latin typeface="Inter"/>
              </a:rPr>
              <a:t>Docentenversie — met oplossingen</a:t>
            </a:r>
          </a:p>
        </p:txBody>
      </p:sp>
      <p:sp>
        <p:nvSpPr>
          <p:cNvPr id="30" name="TextBox 29"/>
          <p:cNvSpPr txBox="1"/>
          <p:nvPr/>
        </p:nvSpPr>
        <p:spPr>
          <a:xfrm>
            <a:off x="11475720" y="6565392"/>
            <a:ext cx="457200" cy="274320"/>
          </a:xfrm>
          <a:prstGeom prst="rect">
            <a:avLst/>
          </a:prstGeom>
          <a:noFill/>
        </p:spPr>
        <p:txBody>
          <a:bodyPr wrap="square" anchor="ctr" lIns="38100" rIns="38100" tIns="25400" bIns="25400">
            <a:spAutoFit/>
          </a:bodyPr>
          <a:lstStyle/>
          <a:p>
            <a:pPr algn="r">
              <a:lnSpc>
                <a:spcPct val="106000"/>
              </a:lnSpc>
              <a:spcBef>
                <a:spcPts val="0"/>
              </a:spcBef>
              <a:spcAft>
                <a:spcPts val="200"/>
              </a:spcAft>
            </a:pPr>
            <a:r>
              <a:rPr sz="950" b="1" i="0">
                <a:solidFill>
                  <a:srgbClr val="5B3E83"/>
                </a:solidFill>
                <a:latin typeface="Inter"/>
              </a:rPr>
              <a:t>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C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78992"/>
          </a:xfrm>
          <a:prstGeom prst="rect">
            <a:avLst/>
          </a:prstGeom>
          <a:solidFill>
            <a:srgbClr val="7C56A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78992"/>
            <a:ext cx="12191695" cy="54864"/>
          </a:xfrm>
          <a:prstGeom prst="rect">
            <a:avLst/>
          </a:prstGeom>
          <a:solidFill>
            <a:srgbClr val="5B3E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02920" y="182880"/>
            <a:ext cx="1464868" cy="292608"/>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88900" rIns="88900" tIns="12700" bIns="12700"/>
          <a:lstStyle/>
          <a:p>
            <a:pPr algn="ctr"/>
            <a:r>
              <a:rPr sz="1100" b="1">
                <a:solidFill>
                  <a:srgbClr val="7C56A9"/>
                </a:solidFill>
                <a:latin typeface="Inter"/>
              </a:rPr>
              <a:t>QUIZ · LA MEZCLA</a:t>
            </a:r>
          </a:p>
        </p:txBody>
      </p:sp>
      <p:sp>
        <p:nvSpPr>
          <p:cNvPr id="6" name="TextBox 5"/>
          <p:cNvSpPr txBox="1"/>
          <p:nvPr/>
        </p:nvSpPr>
        <p:spPr>
          <a:xfrm>
            <a:off x="10424160" y="-137160"/>
            <a:ext cx="1737360" cy="1371600"/>
          </a:xfrm>
          <a:prstGeom prst="rect">
            <a:avLst/>
          </a:prstGeom>
          <a:noFill/>
        </p:spPr>
        <p:txBody>
          <a:bodyPr wrap="square" anchor="t" lIns="38100" rIns="38100" tIns="25400" bIns="25400">
            <a:spAutoFit/>
          </a:bodyPr>
          <a:lstStyle/>
          <a:p>
            <a:pPr algn="r">
              <a:lnSpc>
                <a:spcPct val="106000"/>
              </a:lnSpc>
              <a:spcBef>
                <a:spcPts val="0"/>
              </a:spcBef>
              <a:spcAft>
                <a:spcPts val="200"/>
              </a:spcAft>
            </a:pPr>
            <a:r>
              <a:rPr sz="8800" b="1" i="0">
                <a:solidFill>
                  <a:srgbClr val="FFFFFF"/>
                </a:solidFill>
                <a:latin typeface="Bricolage Grotesque"/>
              </a:rPr>
              <a:t>1</a:t>
            </a:r>
          </a:p>
        </p:txBody>
      </p:sp>
      <p:sp>
        <p:nvSpPr>
          <p:cNvPr id="7" name="TextBox 6"/>
          <p:cNvSpPr txBox="1"/>
          <p:nvPr/>
        </p:nvSpPr>
        <p:spPr>
          <a:xfrm>
            <a:off x="457200" y="457200"/>
            <a:ext cx="9692640" cy="502920"/>
          </a:xfrm>
          <a:prstGeom prst="rect">
            <a:avLst/>
          </a:prstGeom>
          <a:noFill/>
        </p:spPr>
        <p:txBody>
          <a:bodyPr wrap="square" anchor="ctr" lIns="38100" rIns="38100" tIns="25400" bIns="25400">
            <a:spAutoFit/>
          </a:bodyPr>
          <a:lstStyle/>
          <a:p>
            <a:pPr algn="l">
              <a:lnSpc>
                <a:spcPct val="106000"/>
              </a:lnSpc>
              <a:spcBef>
                <a:spcPts val="0"/>
              </a:spcBef>
              <a:spcAft>
                <a:spcPts val="200"/>
              </a:spcAft>
            </a:pPr>
            <a:r>
              <a:rPr sz="2700" b="1" i="0">
                <a:solidFill>
                  <a:srgbClr val="FFFFFF"/>
                </a:solidFill>
                <a:latin typeface="Bricolage Grotesque"/>
              </a:rPr>
              <a:t>Ophaal door elkaar</a:t>
            </a:r>
          </a:p>
        </p:txBody>
      </p:sp>
      <p:sp>
        <p:nvSpPr>
          <p:cNvPr id="8" name="TextBox 7"/>
          <p:cNvSpPr txBox="1"/>
          <p:nvPr/>
        </p:nvSpPr>
        <p:spPr>
          <a:xfrm>
            <a:off x="502920" y="932688"/>
            <a:ext cx="9692640" cy="274320"/>
          </a:xfrm>
          <a:prstGeom prst="rect">
            <a:avLst/>
          </a:prstGeom>
          <a:noFill/>
        </p:spPr>
        <p:txBody>
          <a:bodyPr wrap="square" anchor="t" lIns="38100" rIns="38100" tIns="25400" bIns="25400">
            <a:spAutoFit/>
          </a:bodyPr>
          <a:lstStyle/>
          <a:p>
            <a:pPr algn="l">
              <a:lnSpc>
                <a:spcPct val="106000"/>
              </a:lnSpc>
              <a:spcBef>
                <a:spcPts val="0"/>
              </a:spcBef>
              <a:spcAft>
                <a:spcPts val="200"/>
              </a:spcAft>
            </a:pPr>
            <a:r>
              <a:rPr sz="1250" b="0" i="1">
                <a:solidFill>
                  <a:srgbClr val="EEE8F5"/>
                </a:solidFill>
                <a:latin typeface="Inter"/>
              </a:rPr>
              <a:t>Gemengde ophaal van de hele unit. Klik een vraag → het antwoord. (retrieval)</a:t>
            </a:r>
          </a:p>
        </p:txBody>
      </p:sp>
      <p:sp>
        <p:nvSpPr>
          <p:cNvPr id="9" name="Rounded Rectangle 8"/>
          <p:cNvSpPr/>
          <p:nvPr/>
        </p:nvSpPr>
        <p:spPr>
          <a:xfrm>
            <a:off x="457200" y="1600200"/>
            <a:ext cx="5532120" cy="566928"/>
          </a:xfrm>
          <a:prstGeom prst="roundRect">
            <a:avLst>
              <a:gd name="adj" fmla="val 5500"/>
            </a:avLst>
          </a:prstGeom>
          <a:solidFill>
            <a:srgbClr val="FFFFFF"/>
          </a:solidFill>
          <a:ln w="12700">
            <a:solidFill>
              <a:srgbClr val="E4E3D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94360" y="1600200"/>
            <a:ext cx="3108960" cy="566928"/>
          </a:xfrm>
          <a:prstGeom prst="rect">
            <a:avLst/>
          </a:prstGeom>
          <a:noFill/>
        </p:spPr>
        <p:txBody>
          <a:bodyPr wrap="square" anchor="ctr" lIns="38100" rIns="38100" tIns="25400" bIns="25400">
            <a:spAutoFit/>
          </a:bodyPr>
          <a:lstStyle/>
          <a:p>
            <a:pPr algn="l">
              <a:lnSpc>
                <a:spcPct val="106000"/>
              </a:lnSpc>
              <a:spcBef>
                <a:spcPts val="0"/>
              </a:spcBef>
              <a:spcAft>
                <a:spcPts val="200"/>
              </a:spcAft>
            </a:pPr>
            <a:r>
              <a:rPr sz="1200" b="0" i="0">
                <a:solidFill>
                  <a:srgbClr val="20242E"/>
                </a:solidFill>
                <a:latin typeface="Inter"/>
              </a:rPr>
              <a:t>yo (ser)</a:t>
            </a:r>
          </a:p>
        </p:txBody>
      </p:sp>
      <p:sp>
        <p:nvSpPr>
          <p:cNvPr id="11" name="TextBox 10"/>
          <p:cNvSpPr txBox="1"/>
          <p:nvPr/>
        </p:nvSpPr>
        <p:spPr>
          <a:xfrm>
            <a:off x="3703320" y="1600200"/>
            <a:ext cx="2148840" cy="566928"/>
          </a:xfrm>
          <a:prstGeom prst="rect">
            <a:avLst/>
          </a:prstGeom>
          <a:noFill/>
        </p:spPr>
        <p:txBody>
          <a:bodyPr wrap="square" anchor="ctr" lIns="38100" rIns="38100" tIns="25400" bIns="25400">
            <a:spAutoFit/>
          </a:bodyPr>
          <a:lstStyle/>
          <a:p>
            <a:pPr algn="l">
              <a:lnSpc>
                <a:spcPct val="106000"/>
              </a:lnSpc>
              <a:spcBef>
                <a:spcPts val="0"/>
              </a:spcBef>
              <a:spcAft>
                <a:spcPts val="200"/>
              </a:spcAft>
            </a:pPr>
            <a:r>
              <a:rPr sz="1200" b="1" i="0">
                <a:solidFill>
                  <a:srgbClr val="5B3E83"/>
                </a:solidFill>
                <a:latin typeface="Inter"/>
              </a:rPr>
              <a:t>→ soy</a:t>
            </a:r>
          </a:p>
        </p:txBody>
      </p:sp>
      <p:sp>
        <p:nvSpPr>
          <p:cNvPr id="12" name="Rounded Rectangle 11"/>
          <p:cNvSpPr/>
          <p:nvPr/>
        </p:nvSpPr>
        <p:spPr>
          <a:xfrm>
            <a:off x="457200" y="2313432"/>
            <a:ext cx="5532120" cy="566928"/>
          </a:xfrm>
          <a:prstGeom prst="roundRect">
            <a:avLst>
              <a:gd name="adj" fmla="val 5500"/>
            </a:avLst>
          </a:prstGeom>
          <a:solidFill>
            <a:srgbClr val="FFFFFF"/>
          </a:solidFill>
          <a:ln w="12700">
            <a:solidFill>
              <a:srgbClr val="E4E3D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94360" y="2313432"/>
            <a:ext cx="3108960" cy="566928"/>
          </a:xfrm>
          <a:prstGeom prst="rect">
            <a:avLst/>
          </a:prstGeom>
          <a:noFill/>
        </p:spPr>
        <p:txBody>
          <a:bodyPr wrap="square" anchor="ctr" lIns="38100" rIns="38100" tIns="25400" bIns="25400">
            <a:spAutoFit/>
          </a:bodyPr>
          <a:lstStyle/>
          <a:p>
            <a:pPr algn="l">
              <a:lnSpc>
                <a:spcPct val="106000"/>
              </a:lnSpc>
              <a:spcBef>
                <a:spcPts val="0"/>
              </a:spcBef>
              <a:spcAft>
                <a:spcPts val="200"/>
              </a:spcAft>
            </a:pPr>
            <a:r>
              <a:rPr sz="1200" b="0" i="0">
                <a:solidFill>
                  <a:srgbClr val="20242E"/>
                </a:solidFill>
                <a:latin typeface="Inter"/>
              </a:rPr>
              <a:t>tú (tener)</a:t>
            </a:r>
          </a:p>
        </p:txBody>
      </p:sp>
      <p:sp>
        <p:nvSpPr>
          <p:cNvPr id="14" name="TextBox 13"/>
          <p:cNvSpPr txBox="1"/>
          <p:nvPr/>
        </p:nvSpPr>
        <p:spPr>
          <a:xfrm>
            <a:off x="3703320" y="2313432"/>
            <a:ext cx="2148840" cy="566928"/>
          </a:xfrm>
          <a:prstGeom prst="rect">
            <a:avLst/>
          </a:prstGeom>
          <a:noFill/>
        </p:spPr>
        <p:txBody>
          <a:bodyPr wrap="square" anchor="ctr" lIns="38100" rIns="38100" tIns="25400" bIns="25400">
            <a:spAutoFit/>
          </a:bodyPr>
          <a:lstStyle/>
          <a:p>
            <a:pPr algn="l">
              <a:lnSpc>
                <a:spcPct val="106000"/>
              </a:lnSpc>
              <a:spcBef>
                <a:spcPts val="0"/>
              </a:spcBef>
              <a:spcAft>
                <a:spcPts val="200"/>
              </a:spcAft>
            </a:pPr>
            <a:r>
              <a:rPr sz="1200" b="1" i="0">
                <a:solidFill>
                  <a:srgbClr val="5B3E83"/>
                </a:solidFill>
                <a:latin typeface="Inter"/>
              </a:rPr>
              <a:t>→ tienes</a:t>
            </a:r>
          </a:p>
        </p:txBody>
      </p:sp>
      <p:sp>
        <p:nvSpPr>
          <p:cNvPr id="15" name="Rounded Rectangle 14"/>
          <p:cNvSpPr/>
          <p:nvPr/>
        </p:nvSpPr>
        <p:spPr>
          <a:xfrm>
            <a:off x="457200" y="3026664"/>
            <a:ext cx="5532120" cy="566928"/>
          </a:xfrm>
          <a:prstGeom prst="roundRect">
            <a:avLst>
              <a:gd name="adj" fmla="val 5500"/>
            </a:avLst>
          </a:prstGeom>
          <a:solidFill>
            <a:srgbClr val="FFFFFF"/>
          </a:solidFill>
          <a:ln w="12700">
            <a:solidFill>
              <a:srgbClr val="E4E3D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94360" y="3026664"/>
            <a:ext cx="3108960" cy="566928"/>
          </a:xfrm>
          <a:prstGeom prst="rect">
            <a:avLst/>
          </a:prstGeom>
          <a:noFill/>
        </p:spPr>
        <p:txBody>
          <a:bodyPr wrap="square" anchor="ctr" lIns="38100" rIns="38100" tIns="25400" bIns="25400">
            <a:spAutoFit/>
          </a:bodyPr>
          <a:lstStyle/>
          <a:p>
            <a:pPr algn="l">
              <a:lnSpc>
                <a:spcPct val="106000"/>
              </a:lnSpc>
              <a:spcBef>
                <a:spcPts val="0"/>
              </a:spcBef>
              <a:spcAft>
                <a:spcPts val="200"/>
              </a:spcAft>
            </a:pPr>
            <a:r>
              <a:rPr sz="1200" b="0" i="0">
                <a:solidFill>
                  <a:srgbClr val="20242E"/>
                </a:solidFill>
                <a:latin typeface="Inter"/>
              </a:rPr>
              <a:t>nosotros (vivir)</a:t>
            </a:r>
          </a:p>
        </p:txBody>
      </p:sp>
      <p:sp>
        <p:nvSpPr>
          <p:cNvPr id="17" name="TextBox 16"/>
          <p:cNvSpPr txBox="1"/>
          <p:nvPr/>
        </p:nvSpPr>
        <p:spPr>
          <a:xfrm>
            <a:off x="3703320" y="3026664"/>
            <a:ext cx="2148840" cy="566928"/>
          </a:xfrm>
          <a:prstGeom prst="rect">
            <a:avLst/>
          </a:prstGeom>
          <a:noFill/>
        </p:spPr>
        <p:txBody>
          <a:bodyPr wrap="square" anchor="ctr" lIns="38100" rIns="38100" tIns="25400" bIns="25400">
            <a:spAutoFit/>
          </a:bodyPr>
          <a:lstStyle/>
          <a:p>
            <a:pPr algn="l">
              <a:lnSpc>
                <a:spcPct val="106000"/>
              </a:lnSpc>
              <a:spcBef>
                <a:spcPts val="0"/>
              </a:spcBef>
              <a:spcAft>
                <a:spcPts val="200"/>
              </a:spcAft>
            </a:pPr>
            <a:r>
              <a:rPr sz="1200" b="1" i="0">
                <a:solidFill>
                  <a:srgbClr val="5B3E83"/>
                </a:solidFill>
                <a:latin typeface="Inter"/>
              </a:rPr>
              <a:t>→ vivimos</a:t>
            </a:r>
          </a:p>
        </p:txBody>
      </p:sp>
      <p:sp>
        <p:nvSpPr>
          <p:cNvPr id="18" name="Rounded Rectangle 17"/>
          <p:cNvSpPr/>
          <p:nvPr/>
        </p:nvSpPr>
        <p:spPr>
          <a:xfrm>
            <a:off x="457200" y="3739896"/>
            <a:ext cx="5532120" cy="566928"/>
          </a:xfrm>
          <a:prstGeom prst="roundRect">
            <a:avLst>
              <a:gd name="adj" fmla="val 5500"/>
            </a:avLst>
          </a:prstGeom>
          <a:solidFill>
            <a:srgbClr val="FFFFFF"/>
          </a:solidFill>
          <a:ln w="12700">
            <a:solidFill>
              <a:srgbClr val="E4E3D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94360" y="3739896"/>
            <a:ext cx="3108960" cy="566928"/>
          </a:xfrm>
          <a:prstGeom prst="rect">
            <a:avLst/>
          </a:prstGeom>
          <a:noFill/>
        </p:spPr>
        <p:txBody>
          <a:bodyPr wrap="square" anchor="ctr" lIns="38100" rIns="38100" tIns="25400" bIns="25400">
            <a:spAutoFit/>
          </a:bodyPr>
          <a:lstStyle/>
          <a:p>
            <a:pPr algn="l">
              <a:lnSpc>
                <a:spcPct val="106000"/>
              </a:lnSpc>
              <a:spcBef>
                <a:spcPts val="0"/>
              </a:spcBef>
              <a:spcAft>
                <a:spcPts val="200"/>
              </a:spcAft>
            </a:pPr>
            <a:r>
              <a:rPr sz="1200" b="0" i="0">
                <a:solidFill>
                  <a:srgbClr val="20242E"/>
                </a:solidFill>
                <a:latin typeface="Inter"/>
              </a:rPr>
              <a:t>España → nacionalidad</a:t>
            </a:r>
          </a:p>
        </p:txBody>
      </p:sp>
      <p:sp>
        <p:nvSpPr>
          <p:cNvPr id="20" name="TextBox 19"/>
          <p:cNvSpPr txBox="1"/>
          <p:nvPr/>
        </p:nvSpPr>
        <p:spPr>
          <a:xfrm>
            <a:off x="3703320" y="3739896"/>
            <a:ext cx="2148840" cy="566928"/>
          </a:xfrm>
          <a:prstGeom prst="rect">
            <a:avLst/>
          </a:prstGeom>
          <a:noFill/>
        </p:spPr>
        <p:txBody>
          <a:bodyPr wrap="square" anchor="ctr" lIns="38100" rIns="38100" tIns="25400" bIns="25400">
            <a:spAutoFit/>
          </a:bodyPr>
          <a:lstStyle/>
          <a:p>
            <a:pPr algn="l">
              <a:lnSpc>
                <a:spcPct val="106000"/>
              </a:lnSpc>
              <a:spcBef>
                <a:spcPts val="0"/>
              </a:spcBef>
              <a:spcAft>
                <a:spcPts val="200"/>
              </a:spcAft>
            </a:pPr>
            <a:r>
              <a:rPr sz="1200" b="1" i="0">
                <a:solidFill>
                  <a:srgbClr val="5B3E83"/>
                </a:solidFill>
                <a:latin typeface="Inter"/>
              </a:rPr>
              <a:t>→ español/a</a:t>
            </a:r>
          </a:p>
        </p:txBody>
      </p:sp>
      <p:sp>
        <p:nvSpPr>
          <p:cNvPr id="21" name="Rounded Rectangle 20"/>
          <p:cNvSpPr/>
          <p:nvPr/>
        </p:nvSpPr>
        <p:spPr>
          <a:xfrm>
            <a:off x="6172200" y="1600200"/>
            <a:ext cx="5532120" cy="566928"/>
          </a:xfrm>
          <a:prstGeom prst="roundRect">
            <a:avLst>
              <a:gd name="adj" fmla="val 5500"/>
            </a:avLst>
          </a:prstGeom>
          <a:solidFill>
            <a:srgbClr val="FFFFFF"/>
          </a:solidFill>
          <a:ln w="12700">
            <a:solidFill>
              <a:srgbClr val="E4E3D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09360" y="1600200"/>
            <a:ext cx="3108960" cy="566928"/>
          </a:xfrm>
          <a:prstGeom prst="rect">
            <a:avLst/>
          </a:prstGeom>
          <a:noFill/>
        </p:spPr>
        <p:txBody>
          <a:bodyPr wrap="square" anchor="ctr" lIns="38100" rIns="38100" tIns="25400" bIns="25400">
            <a:spAutoFit/>
          </a:bodyPr>
          <a:lstStyle/>
          <a:p>
            <a:pPr algn="l">
              <a:lnSpc>
                <a:spcPct val="106000"/>
              </a:lnSpc>
              <a:spcBef>
                <a:spcPts val="0"/>
              </a:spcBef>
              <a:spcAft>
                <a:spcPts val="200"/>
              </a:spcAft>
            </a:pPr>
            <a:r>
              <a:rPr sz="1200" b="0" i="0">
                <a:solidFill>
                  <a:srgbClr val="20242E"/>
                </a:solidFill>
                <a:latin typeface="Inter"/>
              </a:rPr>
              <a:t>la chica (alto)</a:t>
            </a:r>
          </a:p>
        </p:txBody>
      </p:sp>
      <p:sp>
        <p:nvSpPr>
          <p:cNvPr id="23" name="TextBox 22"/>
          <p:cNvSpPr txBox="1"/>
          <p:nvPr/>
        </p:nvSpPr>
        <p:spPr>
          <a:xfrm>
            <a:off x="9418320" y="1600200"/>
            <a:ext cx="2148840" cy="566928"/>
          </a:xfrm>
          <a:prstGeom prst="rect">
            <a:avLst/>
          </a:prstGeom>
          <a:noFill/>
        </p:spPr>
        <p:txBody>
          <a:bodyPr wrap="square" anchor="ctr" lIns="38100" rIns="38100" tIns="25400" bIns="25400">
            <a:spAutoFit/>
          </a:bodyPr>
          <a:lstStyle/>
          <a:p>
            <a:pPr algn="l">
              <a:lnSpc>
                <a:spcPct val="106000"/>
              </a:lnSpc>
              <a:spcBef>
                <a:spcPts val="0"/>
              </a:spcBef>
              <a:spcAft>
                <a:spcPts val="200"/>
              </a:spcAft>
            </a:pPr>
            <a:r>
              <a:rPr sz="1200" b="1" i="0">
                <a:solidFill>
                  <a:srgbClr val="5B3E83"/>
                </a:solidFill>
                <a:latin typeface="Inter"/>
              </a:rPr>
              <a:t>→ alta</a:t>
            </a:r>
          </a:p>
        </p:txBody>
      </p:sp>
      <p:sp>
        <p:nvSpPr>
          <p:cNvPr id="24" name="Rounded Rectangle 23"/>
          <p:cNvSpPr/>
          <p:nvPr/>
        </p:nvSpPr>
        <p:spPr>
          <a:xfrm>
            <a:off x="6172200" y="2313432"/>
            <a:ext cx="5532120" cy="566928"/>
          </a:xfrm>
          <a:prstGeom prst="roundRect">
            <a:avLst>
              <a:gd name="adj" fmla="val 5500"/>
            </a:avLst>
          </a:prstGeom>
          <a:solidFill>
            <a:srgbClr val="FFFFFF"/>
          </a:solidFill>
          <a:ln w="12700">
            <a:solidFill>
              <a:srgbClr val="E4E3D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309360" y="2313432"/>
            <a:ext cx="3108960" cy="566928"/>
          </a:xfrm>
          <a:prstGeom prst="rect">
            <a:avLst/>
          </a:prstGeom>
          <a:noFill/>
        </p:spPr>
        <p:txBody>
          <a:bodyPr wrap="square" anchor="ctr" lIns="38100" rIns="38100" tIns="25400" bIns="25400">
            <a:spAutoFit/>
          </a:bodyPr>
          <a:lstStyle/>
          <a:p>
            <a:pPr algn="l">
              <a:lnSpc>
                <a:spcPct val="106000"/>
              </a:lnSpc>
              <a:spcBef>
                <a:spcPts val="0"/>
              </a:spcBef>
              <a:spcAft>
                <a:spcPts val="200"/>
              </a:spcAft>
            </a:pPr>
            <a:r>
              <a:rPr sz="1200" b="0" i="0">
                <a:solidFill>
                  <a:srgbClr val="20242E"/>
                </a:solidFill>
                <a:latin typeface="Inter"/>
              </a:rPr>
              <a:t>el ___ problema</a:t>
            </a:r>
          </a:p>
        </p:txBody>
      </p:sp>
      <p:sp>
        <p:nvSpPr>
          <p:cNvPr id="26" name="TextBox 25"/>
          <p:cNvSpPr txBox="1"/>
          <p:nvPr/>
        </p:nvSpPr>
        <p:spPr>
          <a:xfrm>
            <a:off x="9418320" y="2313432"/>
            <a:ext cx="2148840" cy="566928"/>
          </a:xfrm>
          <a:prstGeom prst="rect">
            <a:avLst/>
          </a:prstGeom>
          <a:noFill/>
        </p:spPr>
        <p:txBody>
          <a:bodyPr wrap="square" anchor="ctr" lIns="38100" rIns="38100" tIns="25400" bIns="25400">
            <a:spAutoFit/>
          </a:bodyPr>
          <a:lstStyle/>
          <a:p>
            <a:pPr algn="l">
              <a:lnSpc>
                <a:spcPct val="106000"/>
              </a:lnSpc>
              <a:spcBef>
                <a:spcPts val="0"/>
              </a:spcBef>
              <a:spcAft>
                <a:spcPts val="200"/>
              </a:spcAft>
            </a:pPr>
            <a:r>
              <a:rPr sz="1200" b="1" i="0">
                <a:solidFill>
                  <a:srgbClr val="5B3E83"/>
                </a:solidFill>
                <a:latin typeface="Inter"/>
              </a:rPr>
              <a:t>→ el</a:t>
            </a:r>
          </a:p>
        </p:txBody>
      </p:sp>
      <p:sp>
        <p:nvSpPr>
          <p:cNvPr id="27" name="Rounded Rectangle 26"/>
          <p:cNvSpPr/>
          <p:nvPr/>
        </p:nvSpPr>
        <p:spPr>
          <a:xfrm>
            <a:off x="6172200" y="3026664"/>
            <a:ext cx="5532120" cy="566928"/>
          </a:xfrm>
          <a:prstGeom prst="roundRect">
            <a:avLst>
              <a:gd name="adj" fmla="val 5500"/>
            </a:avLst>
          </a:prstGeom>
          <a:solidFill>
            <a:srgbClr val="FFFFFF"/>
          </a:solidFill>
          <a:ln w="12700">
            <a:solidFill>
              <a:srgbClr val="E4E3D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309360" y="3026664"/>
            <a:ext cx="3108960" cy="566928"/>
          </a:xfrm>
          <a:prstGeom prst="rect">
            <a:avLst/>
          </a:prstGeom>
          <a:noFill/>
        </p:spPr>
        <p:txBody>
          <a:bodyPr wrap="square" anchor="ctr" lIns="38100" rIns="38100" tIns="25400" bIns="25400">
            <a:spAutoFit/>
          </a:bodyPr>
          <a:lstStyle/>
          <a:p>
            <a:pPr algn="l">
              <a:lnSpc>
                <a:spcPct val="106000"/>
              </a:lnSpc>
              <a:spcBef>
                <a:spcPts val="0"/>
              </a:spcBef>
              <a:spcAft>
                <a:spcPts val="200"/>
              </a:spcAft>
            </a:pPr>
            <a:r>
              <a:rPr sz="1200" b="0" i="0">
                <a:solidFill>
                  <a:srgbClr val="20242E"/>
                </a:solidFill>
                <a:latin typeface="Inter"/>
              </a:rPr>
              <a:t>«want/omdat» =</a:t>
            </a:r>
          </a:p>
        </p:txBody>
      </p:sp>
      <p:sp>
        <p:nvSpPr>
          <p:cNvPr id="29" name="TextBox 28"/>
          <p:cNvSpPr txBox="1"/>
          <p:nvPr/>
        </p:nvSpPr>
        <p:spPr>
          <a:xfrm>
            <a:off x="9418320" y="3026664"/>
            <a:ext cx="2148840" cy="566928"/>
          </a:xfrm>
          <a:prstGeom prst="rect">
            <a:avLst/>
          </a:prstGeom>
          <a:noFill/>
        </p:spPr>
        <p:txBody>
          <a:bodyPr wrap="square" anchor="ctr" lIns="38100" rIns="38100" tIns="25400" bIns="25400">
            <a:spAutoFit/>
          </a:bodyPr>
          <a:lstStyle/>
          <a:p>
            <a:pPr algn="l">
              <a:lnSpc>
                <a:spcPct val="106000"/>
              </a:lnSpc>
              <a:spcBef>
                <a:spcPts val="0"/>
              </a:spcBef>
              <a:spcAft>
                <a:spcPts val="200"/>
              </a:spcAft>
            </a:pPr>
            <a:r>
              <a:rPr sz="1200" b="1" i="0">
                <a:solidFill>
                  <a:srgbClr val="5B3E83"/>
                </a:solidFill>
                <a:latin typeface="Inter"/>
              </a:rPr>
              <a:t>→ porque</a:t>
            </a:r>
          </a:p>
        </p:txBody>
      </p:sp>
      <p:sp>
        <p:nvSpPr>
          <p:cNvPr id="30" name="Rounded Rectangle 29"/>
          <p:cNvSpPr/>
          <p:nvPr/>
        </p:nvSpPr>
        <p:spPr>
          <a:xfrm>
            <a:off x="6172200" y="3739896"/>
            <a:ext cx="5532120" cy="566928"/>
          </a:xfrm>
          <a:prstGeom prst="roundRect">
            <a:avLst>
              <a:gd name="adj" fmla="val 5500"/>
            </a:avLst>
          </a:prstGeom>
          <a:solidFill>
            <a:srgbClr val="FFFFFF"/>
          </a:solidFill>
          <a:ln w="12700">
            <a:solidFill>
              <a:srgbClr val="E4E3D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309360" y="3739896"/>
            <a:ext cx="3108960" cy="566928"/>
          </a:xfrm>
          <a:prstGeom prst="rect">
            <a:avLst/>
          </a:prstGeom>
          <a:noFill/>
        </p:spPr>
        <p:txBody>
          <a:bodyPr wrap="square" anchor="ctr" lIns="38100" rIns="38100" tIns="25400" bIns="25400">
            <a:spAutoFit/>
          </a:bodyPr>
          <a:lstStyle/>
          <a:p>
            <a:pPr algn="l">
              <a:lnSpc>
                <a:spcPct val="106000"/>
              </a:lnSpc>
              <a:spcBef>
                <a:spcPts val="0"/>
              </a:spcBef>
              <a:spcAft>
                <a:spcPts val="200"/>
              </a:spcAft>
            </a:pPr>
            <a:r>
              <a:rPr sz="1200" b="0" i="0">
                <a:solidFill>
                  <a:srgbClr val="20242E"/>
                </a:solidFill>
                <a:latin typeface="Inter"/>
              </a:rPr>
              <a:t>en clase → soy/estoy?</a:t>
            </a:r>
          </a:p>
        </p:txBody>
      </p:sp>
      <p:sp>
        <p:nvSpPr>
          <p:cNvPr id="32" name="TextBox 31"/>
          <p:cNvSpPr txBox="1"/>
          <p:nvPr/>
        </p:nvSpPr>
        <p:spPr>
          <a:xfrm>
            <a:off x="9418320" y="3739896"/>
            <a:ext cx="2148840" cy="566928"/>
          </a:xfrm>
          <a:prstGeom prst="rect">
            <a:avLst/>
          </a:prstGeom>
          <a:noFill/>
        </p:spPr>
        <p:txBody>
          <a:bodyPr wrap="square" anchor="ctr" lIns="38100" rIns="38100" tIns="25400" bIns="25400">
            <a:spAutoFit/>
          </a:bodyPr>
          <a:lstStyle/>
          <a:p>
            <a:pPr algn="l">
              <a:lnSpc>
                <a:spcPct val="106000"/>
              </a:lnSpc>
              <a:spcBef>
                <a:spcPts val="0"/>
              </a:spcBef>
              <a:spcAft>
                <a:spcPts val="200"/>
              </a:spcAft>
            </a:pPr>
            <a:r>
              <a:rPr sz="1200" b="1" i="0">
                <a:solidFill>
                  <a:srgbClr val="5B3E83"/>
                </a:solidFill>
                <a:latin typeface="Inter"/>
              </a:rPr>
              <a:t>→ estoy</a:t>
            </a:r>
          </a:p>
        </p:txBody>
      </p:sp>
      <p:sp>
        <p:nvSpPr>
          <p:cNvPr id="33" name="Rounded Rectangle 32"/>
          <p:cNvSpPr/>
          <p:nvPr/>
        </p:nvSpPr>
        <p:spPr>
          <a:xfrm>
            <a:off x="457200" y="6053328"/>
            <a:ext cx="2093976" cy="365760"/>
          </a:xfrm>
          <a:prstGeom prst="roundRect">
            <a:avLst>
              <a:gd name="adj" fmla="val 50000"/>
            </a:avLst>
          </a:prstGeom>
          <a:solidFill>
            <a:srgbClr val="7C56A9"/>
          </a:solidFill>
          <a:ln w="12700">
            <a:solidFill>
              <a:srgbClr val="E4E3DE"/>
            </a:solidFill>
          </a:ln>
          <a:effectLst/>
        </p:spPr>
        <p:style>
          <a:lnRef idx="1">
            <a:schemeClr val="accent1"/>
          </a:lnRef>
          <a:fillRef idx="3">
            <a:schemeClr val="accent1"/>
          </a:fillRef>
          <a:effectRef idx="2">
            <a:schemeClr val="accent1"/>
          </a:effectRef>
          <a:fontRef idx="minor">
            <a:schemeClr val="lt1"/>
          </a:fontRef>
        </p:style>
        <p:txBody>
          <a:bodyPr rtlCol="0" anchor="ctr" tIns="12700" bIns="12700"/>
          <a:lstStyle/>
          <a:p>
            <a:pPr algn="ctr"/>
            <a:r>
              <a:rPr sz="1050" b="1">
                <a:solidFill>
                  <a:srgbClr val="FFFFFF"/>
                </a:solidFill>
                <a:latin typeface="Inter"/>
              </a:rPr>
              <a:t>▶  Mostrar solución</a:t>
            </a:r>
          </a:p>
        </p:txBody>
      </p:sp>
      <p:sp>
        <p:nvSpPr>
          <p:cNvPr id="34" name="Rounded Rectangle 33"/>
          <p:cNvSpPr/>
          <p:nvPr/>
        </p:nvSpPr>
        <p:spPr>
          <a:xfrm>
            <a:off x="2697480" y="6053328"/>
            <a:ext cx="1088136" cy="365760"/>
          </a:xfrm>
          <a:prstGeom prst="roundRect">
            <a:avLst>
              <a:gd name="adj" fmla="val 50000"/>
            </a:avLst>
          </a:prstGeom>
          <a:solidFill>
            <a:srgbClr val="FFFFFF"/>
          </a:solidFill>
          <a:ln w="12700">
            <a:solidFill>
              <a:srgbClr val="E4E3DE"/>
            </a:solidFill>
          </a:ln>
          <a:effectLst/>
        </p:spPr>
        <p:style>
          <a:lnRef idx="1">
            <a:schemeClr val="accent1"/>
          </a:lnRef>
          <a:fillRef idx="3">
            <a:schemeClr val="accent1"/>
          </a:fillRef>
          <a:effectRef idx="2">
            <a:schemeClr val="accent1"/>
          </a:effectRef>
          <a:fontRef idx="minor">
            <a:schemeClr val="lt1"/>
          </a:fontRef>
        </p:style>
        <p:txBody>
          <a:bodyPr rtlCol="0" anchor="ctr" tIns="12700" bIns="12700"/>
          <a:lstStyle/>
          <a:p>
            <a:pPr algn="ctr"/>
            <a:r>
              <a:rPr sz="1050" b="1">
                <a:solidFill>
                  <a:srgbClr val="5B3E83"/>
                </a:solidFill>
                <a:latin typeface="Inter"/>
              </a:rPr>
              <a:t>⏭  Saltar</a:t>
            </a:r>
          </a:p>
        </p:txBody>
      </p:sp>
      <p:sp>
        <p:nvSpPr>
          <p:cNvPr id="35" name="Rounded Rectangle 34">
            <a:hlinkClick action="ppaction://hlinksldjump" r:id="rId3"/>
          </p:cNvPr>
          <p:cNvSpPr/>
          <p:nvPr/>
        </p:nvSpPr>
        <p:spPr>
          <a:xfrm>
            <a:off x="3931920" y="6053328"/>
            <a:ext cx="1691639" cy="365760"/>
          </a:xfrm>
          <a:prstGeom prst="roundRect">
            <a:avLst>
              <a:gd name="adj" fmla="val 50000"/>
            </a:avLst>
          </a:prstGeom>
          <a:solidFill>
            <a:srgbClr val="FFFFFF"/>
          </a:solidFill>
          <a:ln w="12700">
            <a:solidFill>
              <a:srgbClr val="E4E3DE"/>
            </a:solidFill>
          </a:ln>
          <a:effectLst/>
        </p:spPr>
        <p:style>
          <a:lnRef idx="1">
            <a:schemeClr val="accent1"/>
          </a:lnRef>
          <a:fillRef idx="3">
            <a:schemeClr val="accent1"/>
          </a:fillRef>
          <a:effectRef idx="2">
            <a:schemeClr val="accent1"/>
          </a:effectRef>
          <a:fontRef idx="minor">
            <a:schemeClr val="lt1"/>
          </a:fontRef>
        </p:style>
        <p:txBody>
          <a:bodyPr rtlCol="0" anchor="ctr" tIns="12700" bIns="12700"/>
          <a:lstStyle/>
          <a:p>
            <a:pPr algn="ctr"/>
            <a:r>
              <a:rPr sz="1050" b="1">
                <a:solidFill>
                  <a:srgbClr val="5B3E83"/>
                </a:solidFill>
                <a:latin typeface="Inter"/>
              </a:rPr>
              <a:t>⌂  Menú (dia 2)</a:t>
            </a:r>
          </a:p>
        </p:txBody>
      </p:sp>
      <p:sp>
        <p:nvSpPr>
          <p:cNvPr id="36" name="TextBox 35"/>
          <p:cNvSpPr txBox="1"/>
          <p:nvPr/>
        </p:nvSpPr>
        <p:spPr>
          <a:xfrm>
            <a:off x="8321040" y="6053328"/>
            <a:ext cx="3383280" cy="365760"/>
          </a:xfrm>
          <a:prstGeom prst="rect">
            <a:avLst/>
          </a:prstGeom>
          <a:noFill/>
        </p:spPr>
        <p:txBody>
          <a:bodyPr wrap="square" anchor="ctr" lIns="38100" rIns="38100" tIns="25400" bIns="25400">
            <a:spAutoFit/>
          </a:bodyPr>
          <a:lstStyle/>
          <a:p>
            <a:pPr algn="r">
              <a:lnSpc>
                <a:spcPct val="106000"/>
              </a:lnSpc>
              <a:spcBef>
                <a:spcPts val="0"/>
              </a:spcBef>
              <a:spcAft>
                <a:spcPts val="200"/>
              </a:spcAft>
            </a:pPr>
            <a:r>
              <a:rPr sz="850" b="0" i="1">
                <a:solidFill>
                  <a:srgbClr val="6A6E78"/>
                </a:solidFill>
                <a:latin typeface="Inter"/>
              </a:rPr>
              <a:t>Noodroute (§5): werkt zonder audio/internet</a:t>
            </a:r>
          </a:p>
        </p:txBody>
      </p:sp>
      <p:sp>
        <p:nvSpPr>
          <p:cNvPr id="37" name="Rounded Rectangle 36"/>
          <p:cNvSpPr/>
          <p:nvPr/>
        </p:nvSpPr>
        <p:spPr>
          <a:xfrm>
            <a:off x="457200" y="4617720"/>
            <a:ext cx="11247120" cy="502920"/>
          </a:xfrm>
          <a:prstGeom prst="roundRect">
            <a:avLst>
              <a:gd name="adj" fmla="val 6000"/>
            </a:avLst>
          </a:prstGeom>
          <a:solidFill>
            <a:srgbClr val="EEE8F5"/>
          </a:solidFill>
          <a:ln w="19050">
            <a:solidFill>
              <a:srgbClr val="7C56A9"/>
            </a:solidFill>
          </a:ln>
          <a:effectLst/>
        </p:spPr>
        <p:style>
          <a:lnRef idx="1">
            <a:schemeClr val="accent1"/>
          </a:lnRef>
          <a:fillRef idx="3">
            <a:schemeClr val="accent1"/>
          </a:fillRef>
          <a:effectRef idx="2">
            <a:schemeClr val="accent1"/>
          </a:effectRef>
          <a:fontRef idx="minor">
            <a:schemeClr val="lt1"/>
          </a:fontRef>
        </p:style>
        <p:txBody>
          <a:bodyPr rtlCol="0" anchor="ctr" wrap="square" lIns="127000" rIns="127000" tIns="139700" bIns="76200"/>
          <a:lstStyle/>
          <a:p>
            <a:pPr algn="ctr">
              <a:lnSpc>
                <a:spcPct val="102000"/>
              </a:lnSpc>
              <a:spcBef>
                <a:spcPts val="0"/>
              </a:spcBef>
              <a:spcAft>
                <a:spcPts val="300"/>
              </a:spcAft>
            </a:pPr>
            <a:r>
              <a:rPr sz="1200" b="1" i="0">
                <a:solidFill>
                  <a:srgbClr val="5B3E83"/>
                </a:solidFill>
                <a:latin typeface="Inter"/>
              </a:rPr>
              <a:t>Alles komt terug: </a:t>
            </a:r>
            <a:r>
              <a:rPr sz="1200" b="0" i="0">
                <a:solidFill>
                  <a:srgbClr val="5B3E83"/>
                </a:solidFill>
                <a:latin typeface="Inter"/>
              </a:rPr>
              <a:t>el presente · género/concordancia · ser/estar · países/nacionalidades · conectores.</a:t>
            </a:r>
          </a:p>
        </p:txBody>
      </p:sp>
      <p:sp>
        <p:nvSpPr>
          <p:cNvPr id="38" name="Rounded Rectangle 37"/>
          <p:cNvSpPr/>
          <p:nvPr/>
        </p:nvSpPr>
        <p:spPr>
          <a:xfrm>
            <a:off x="594360" y="4489704"/>
            <a:ext cx="1548993" cy="292608"/>
          </a:xfrm>
          <a:prstGeom prst="roundRect">
            <a:avLst>
              <a:gd name="adj" fmla="val 50000"/>
            </a:avLst>
          </a:prstGeom>
          <a:solidFill>
            <a:srgbClr val="7C56A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88900" rIns="88900" tIns="12700" bIns="12700"/>
          <a:lstStyle/>
          <a:p>
            <a:pPr algn="ctr"/>
            <a:r>
              <a:rPr sz="950" b="1">
                <a:solidFill>
                  <a:srgbClr val="FFFFFF"/>
                </a:solidFill>
                <a:latin typeface="Inter"/>
              </a:rPr>
              <a:t>SOLUCIÓN · docent</a:t>
            </a:r>
          </a:p>
        </p:txBody>
      </p:sp>
      <p:sp>
        <p:nvSpPr>
          <p:cNvPr id="39" name="Rectangle 38"/>
          <p:cNvSpPr/>
          <p:nvPr/>
        </p:nvSpPr>
        <p:spPr>
          <a:xfrm>
            <a:off x="0" y="6547104"/>
            <a:ext cx="12191695" cy="310896"/>
          </a:xfrm>
          <a:prstGeom prst="rect">
            <a:avLst/>
          </a:prstGeom>
          <a:solidFill>
            <a:srgbClr val="F3EE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411480" y="6565392"/>
            <a:ext cx="5486400" cy="274320"/>
          </a:xfrm>
          <a:prstGeom prst="rect">
            <a:avLst/>
          </a:prstGeom>
          <a:noFill/>
        </p:spPr>
        <p:txBody>
          <a:bodyPr wrap="square" anchor="ctr" lIns="38100" rIns="38100" tIns="25400" bIns="25400">
            <a:spAutoFit/>
          </a:bodyPr>
          <a:lstStyle/>
          <a:p>
            <a:pPr algn="l">
              <a:lnSpc>
                <a:spcPct val="106000"/>
              </a:lnSpc>
              <a:spcBef>
                <a:spcPts val="0"/>
              </a:spcBef>
              <a:spcAft>
                <a:spcPts val="200"/>
              </a:spcAft>
            </a:pPr>
            <a:r>
              <a:rPr sz="1100" b="1" i="0">
                <a:solidFill>
                  <a:srgbClr val="7C56A9"/>
                </a:solidFill>
                <a:latin typeface="Inter"/>
              </a:rPr>
              <a:t>● </a:t>
            </a:r>
            <a:r>
              <a:rPr sz="950" b="0" i="0">
                <a:solidFill>
                  <a:srgbClr val="6A6E78"/>
                </a:solidFill>
                <a:latin typeface="Inter"/>
              </a:rPr>
              <a:t>U0 · ¡VOLVEMOS!   ·   C6+ · el reencuentro</a:t>
            </a:r>
          </a:p>
        </p:txBody>
      </p:sp>
      <p:sp>
        <p:nvSpPr>
          <p:cNvPr id="41" name="TextBox 40"/>
          <p:cNvSpPr txBox="1"/>
          <p:nvPr/>
        </p:nvSpPr>
        <p:spPr>
          <a:xfrm>
            <a:off x="8686800" y="6565392"/>
            <a:ext cx="3063240" cy="274320"/>
          </a:xfrm>
          <a:prstGeom prst="rect">
            <a:avLst/>
          </a:prstGeom>
          <a:noFill/>
        </p:spPr>
        <p:txBody>
          <a:bodyPr wrap="square" anchor="ctr" lIns="38100" rIns="38100" tIns="25400" bIns="25400">
            <a:spAutoFit/>
          </a:bodyPr>
          <a:lstStyle/>
          <a:p>
            <a:pPr algn="r">
              <a:lnSpc>
                <a:spcPct val="106000"/>
              </a:lnSpc>
              <a:spcBef>
                <a:spcPts val="0"/>
              </a:spcBef>
              <a:spcAft>
                <a:spcPts val="200"/>
              </a:spcAft>
            </a:pPr>
            <a:r>
              <a:rPr sz="900" b="0" i="1">
                <a:solidFill>
                  <a:srgbClr val="6A6E78"/>
                </a:solidFill>
                <a:latin typeface="Inter"/>
              </a:rPr>
              <a:t>Docentenversie — met oplossingen</a:t>
            </a:r>
          </a:p>
        </p:txBody>
      </p:sp>
      <p:sp>
        <p:nvSpPr>
          <p:cNvPr id="42" name="TextBox 41"/>
          <p:cNvSpPr txBox="1"/>
          <p:nvPr/>
        </p:nvSpPr>
        <p:spPr>
          <a:xfrm>
            <a:off x="11475720" y="6565392"/>
            <a:ext cx="457200" cy="274320"/>
          </a:xfrm>
          <a:prstGeom prst="rect">
            <a:avLst/>
          </a:prstGeom>
          <a:noFill/>
        </p:spPr>
        <p:txBody>
          <a:bodyPr wrap="square" anchor="ctr" lIns="38100" rIns="38100" tIns="25400" bIns="25400">
            <a:spAutoFit/>
          </a:bodyPr>
          <a:lstStyle/>
          <a:p>
            <a:pPr algn="r">
              <a:lnSpc>
                <a:spcPct val="106000"/>
              </a:lnSpc>
              <a:spcBef>
                <a:spcPts val="0"/>
              </a:spcBef>
              <a:spcAft>
                <a:spcPts val="200"/>
              </a:spcAft>
            </a:pPr>
            <a:r>
              <a:rPr sz="950" b="1" i="0">
                <a:solidFill>
                  <a:srgbClr val="5B3E83"/>
                </a:solidFill>
                <a:latin typeface="Inter"/>
              </a:rPr>
              <a:t>21</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500"/>
                                        <p:tgtEl>
                                          <p:spTgt spid="11"/>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4"/>
                                        </p:tgtEl>
                                        <p:attrNameLst>
                                          <p:attrName>style.visibility</p:attrName>
                                        </p:attrNameLst>
                                      </p:cBhvr>
                                      <p:to>
                                        <p:strVal val="visible"/>
                                      </p:to>
                                    </p:set>
                                    <p:animEffect transition="in" filter="fade">
                                      <p:cBhvr>
                                        <p:cTn id="12" dur="500"/>
                                        <p:tgtEl>
                                          <p:spTgt spid="1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17"/>
                                        </p:tgtEl>
                                        <p:attrNameLst>
                                          <p:attrName>style.visibility</p:attrName>
                                        </p:attrNameLst>
                                      </p:cBhvr>
                                      <p:to>
                                        <p:strVal val="visible"/>
                                      </p:to>
                                    </p:set>
                                    <p:animEffect transition="in" filter="fade">
                                      <p:cBhvr>
                                        <p:cTn id="17" dur="500"/>
                                        <p:tgtEl>
                                          <p:spTgt spid="17"/>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20"/>
                                        </p:tgtEl>
                                        <p:attrNameLst>
                                          <p:attrName>style.visibility</p:attrName>
                                        </p:attrNameLst>
                                      </p:cBhvr>
                                      <p:to>
                                        <p:strVal val="visible"/>
                                      </p:to>
                                    </p:set>
                                    <p:animEffect transition="in" filter="fade">
                                      <p:cBhvr>
                                        <p:cTn id="22" dur="500"/>
                                        <p:tgtEl>
                                          <p:spTgt spid="20"/>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23"/>
                                        </p:tgtEl>
                                        <p:attrNameLst>
                                          <p:attrName>style.visibility</p:attrName>
                                        </p:attrNameLst>
                                      </p:cBhvr>
                                      <p:to>
                                        <p:strVal val="visible"/>
                                      </p:to>
                                    </p:set>
                                    <p:animEffect transition="in" filter="fade">
                                      <p:cBhvr>
                                        <p:cTn id="27" dur="500"/>
                                        <p:tgtEl>
                                          <p:spTgt spid="23"/>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26"/>
                                        </p:tgtEl>
                                        <p:attrNameLst>
                                          <p:attrName>style.visibility</p:attrName>
                                        </p:attrNameLst>
                                      </p:cBhvr>
                                      <p:to>
                                        <p:strVal val="visible"/>
                                      </p:to>
                                    </p:set>
                                    <p:animEffect transition="in" filter="fade">
                                      <p:cBhvr>
                                        <p:cTn id="32" dur="500"/>
                                        <p:tgtEl>
                                          <p:spTgt spid="26"/>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grpId="0" nodeType="clickEffect">
                                  <p:stCondLst>
                                    <p:cond delay="0"/>
                                  </p:stCondLst>
                                  <p:childTnLst>
                                    <p:set>
                                      <p:cBhvr>
                                        <p:cTn id="36" dur="1" fill="hold">
                                          <p:stCondLst>
                                            <p:cond delay="0"/>
                                          </p:stCondLst>
                                        </p:cTn>
                                        <p:tgtEl>
                                          <p:spTgt spid="29"/>
                                        </p:tgtEl>
                                        <p:attrNameLst>
                                          <p:attrName>style.visibility</p:attrName>
                                        </p:attrNameLst>
                                      </p:cBhvr>
                                      <p:to>
                                        <p:strVal val="visible"/>
                                      </p:to>
                                    </p:set>
                                    <p:animEffect transition="in" filter="fade">
                                      <p:cBhvr>
                                        <p:cTn id="37" dur="500"/>
                                        <p:tgtEl>
                                          <p:spTgt spid="29"/>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grpId="0" nodeType="clickEffect">
                                  <p:stCondLst>
                                    <p:cond delay="0"/>
                                  </p:stCondLst>
                                  <p:childTnLst>
                                    <p:set>
                                      <p:cBhvr>
                                        <p:cTn id="41" dur="1" fill="hold">
                                          <p:stCondLst>
                                            <p:cond delay="0"/>
                                          </p:stCondLst>
                                        </p:cTn>
                                        <p:tgtEl>
                                          <p:spTgt spid="32"/>
                                        </p:tgtEl>
                                        <p:attrNameLst>
                                          <p:attrName>style.visibility</p:attrName>
                                        </p:attrNameLst>
                                      </p:cBhvr>
                                      <p:to>
                                        <p:strVal val="visible"/>
                                      </p:to>
                                    </p:set>
                                    <p:animEffect transition="in" filter="fade">
                                      <p:cBhvr>
                                        <p:cTn id="42" dur="500"/>
                                        <p:tgtEl>
                                          <p:spTgt spid="32"/>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grpId="0" nodeType="clickEffect">
                                  <p:stCondLst>
                                    <p:cond delay="0"/>
                                  </p:stCondLst>
                                  <p:childTnLst>
                                    <p:set>
                                      <p:cBhvr>
                                        <p:cTn id="46" dur="1" fill="hold">
                                          <p:stCondLst>
                                            <p:cond delay="0"/>
                                          </p:stCondLst>
                                        </p:cTn>
                                        <p:tgtEl>
                                          <p:spTgt spid="37"/>
                                        </p:tgtEl>
                                        <p:attrNameLst>
                                          <p:attrName>style.visibility</p:attrName>
                                        </p:attrNameLst>
                                      </p:cBhvr>
                                      <p:to>
                                        <p:strVal val="visible"/>
                                      </p:to>
                                    </p:set>
                                    <p:animEffect transition="in" filter="fade">
                                      <p:cBhvr>
                                        <p:cTn id="47" dur="500"/>
                                        <p:tgtEl>
                                          <p:spTgt spid="37"/>
                                        </p:tgtEl>
                                      </p:cBhvr>
                                    </p:animEffect>
                                  </p:childTnLst>
                                </p:cTn>
                              </p:par>
                            </p:childTnLst>
                          </p:cTn>
                        </p:par>
                      </p:childTnLst>
                    </p:cTn>
                  </p:par>
                  <p:par>
                    <p:cTn id="48" fill="hold">
                      <p:stCondLst>
                        <p:cond delay="indefinite"/>
                      </p:stCondLst>
                      <p:childTnLst>
                        <p:par>
                          <p:cTn id="49" fill="hold">
                            <p:stCondLst>
                              <p:cond delay="0"/>
                            </p:stCondLst>
                            <p:childTnLst>
                              <p:par>
                                <p:cTn id="50" presetID="10" presetClass="entr" presetSubtype="0" fill="hold" grpId="0" nodeType="clickEffect">
                                  <p:stCondLst>
                                    <p:cond delay="0"/>
                                  </p:stCondLst>
                                  <p:childTnLst>
                                    <p:set>
                                      <p:cBhvr>
                                        <p:cTn id="51" dur="1" fill="hold">
                                          <p:stCondLst>
                                            <p:cond delay="0"/>
                                          </p:stCondLst>
                                        </p:cTn>
                                        <p:tgtEl>
                                          <p:spTgt spid="38"/>
                                        </p:tgtEl>
                                        <p:attrNameLst>
                                          <p:attrName>style.visibility</p:attrName>
                                        </p:attrNameLst>
                                      </p:cBhvr>
                                      <p:to>
                                        <p:strVal val="visible"/>
                                      </p:to>
                                    </p:set>
                                    <p:animEffect transition="in" filter="fade">
                                      <p:cBhvr>
                                        <p:cTn id="52" dur="500"/>
                                        <p:tgtEl>
                                          <p:spTgt spid="3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C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78992"/>
          </a:xfrm>
          <a:prstGeom prst="rect">
            <a:avLst/>
          </a:prstGeom>
          <a:solidFill>
            <a:srgbClr val="7C56A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78992"/>
            <a:ext cx="12191695" cy="54864"/>
          </a:xfrm>
          <a:prstGeom prst="rect">
            <a:avLst/>
          </a:prstGeom>
          <a:solidFill>
            <a:srgbClr val="5B3E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02920" y="182880"/>
            <a:ext cx="1801367" cy="292608"/>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88900" rIns="88900" tIns="12700" bIns="12700"/>
          <a:lstStyle/>
          <a:p>
            <a:pPr algn="ctr"/>
            <a:r>
              <a:rPr sz="1100" b="1">
                <a:solidFill>
                  <a:srgbClr val="7C56A9"/>
                </a:solidFill>
                <a:latin typeface="Inter"/>
              </a:rPr>
              <a:t>REPASO · LO ESENCIAL</a:t>
            </a:r>
          </a:p>
        </p:txBody>
      </p:sp>
      <p:sp>
        <p:nvSpPr>
          <p:cNvPr id="6" name="TextBox 5"/>
          <p:cNvSpPr txBox="1"/>
          <p:nvPr/>
        </p:nvSpPr>
        <p:spPr>
          <a:xfrm>
            <a:off x="10424160" y="-137160"/>
            <a:ext cx="1737360" cy="1371600"/>
          </a:xfrm>
          <a:prstGeom prst="rect">
            <a:avLst/>
          </a:prstGeom>
          <a:noFill/>
        </p:spPr>
        <p:txBody>
          <a:bodyPr wrap="square" anchor="t" lIns="38100" rIns="38100" tIns="25400" bIns="25400">
            <a:spAutoFit/>
          </a:bodyPr>
          <a:lstStyle/>
          <a:p>
            <a:pPr algn="r">
              <a:lnSpc>
                <a:spcPct val="106000"/>
              </a:lnSpc>
              <a:spcBef>
                <a:spcPts val="0"/>
              </a:spcBef>
              <a:spcAft>
                <a:spcPts val="200"/>
              </a:spcAft>
            </a:pPr>
            <a:r>
              <a:rPr sz="8800" b="1" i="0">
                <a:solidFill>
                  <a:srgbClr val="FFFFFF"/>
                </a:solidFill>
                <a:latin typeface="Bricolage Grotesque"/>
              </a:rPr>
              <a:t>1</a:t>
            </a:r>
          </a:p>
        </p:txBody>
      </p:sp>
      <p:sp>
        <p:nvSpPr>
          <p:cNvPr id="7" name="TextBox 6"/>
          <p:cNvSpPr txBox="1"/>
          <p:nvPr/>
        </p:nvSpPr>
        <p:spPr>
          <a:xfrm>
            <a:off x="457200" y="457200"/>
            <a:ext cx="9692640" cy="502920"/>
          </a:xfrm>
          <a:prstGeom prst="rect">
            <a:avLst/>
          </a:prstGeom>
          <a:noFill/>
        </p:spPr>
        <p:txBody>
          <a:bodyPr wrap="square" anchor="ctr" lIns="38100" rIns="38100" tIns="25400" bIns="25400">
            <a:spAutoFit/>
          </a:bodyPr>
          <a:lstStyle/>
          <a:p>
            <a:pPr algn="l">
              <a:lnSpc>
                <a:spcPct val="106000"/>
              </a:lnSpc>
              <a:spcBef>
                <a:spcPts val="0"/>
              </a:spcBef>
              <a:spcAft>
                <a:spcPts val="200"/>
              </a:spcAft>
            </a:pPr>
            <a:r>
              <a:rPr sz="2700" b="1" i="0">
                <a:solidFill>
                  <a:srgbClr val="FFFFFF"/>
                </a:solidFill>
                <a:latin typeface="Bricolage Grotesque"/>
              </a:rPr>
              <a:t>Lo esencial de un vistazo</a:t>
            </a:r>
          </a:p>
        </p:txBody>
      </p:sp>
      <p:sp>
        <p:nvSpPr>
          <p:cNvPr id="8" name="TextBox 7"/>
          <p:cNvSpPr txBox="1"/>
          <p:nvPr/>
        </p:nvSpPr>
        <p:spPr>
          <a:xfrm>
            <a:off x="502920" y="932688"/>
            <a:ext cx="9692640" cy="274320"/>
          </a:xfrm>
          <a:prstGeom prst="rect">
            <a:avLst/>
          </a:prstGeom>
          <a:noFill/>
        </p:spPr>
        <p:txBody>
          <a:bodyPr wrap="square" anchor="t" lIns="38100" rIns="38100" tIns="25400" bIns="25400">
            <a:spAutoFit/>
          </a:bodyPr>
          <a:lstStyle/>
          <a:p>
            <a:pPr algn="l">
              <a:lnSpc>
                <a:spcPct val="106000"/>
              </a:lnSpc>
              <a:spcBef>
                <a:spcPts val="0"/>
              </a:spcBef>
              <a:spcAft>
                <a:spcPts val="200"/>
              </a:spcAft>
            </a:pPr>
            <a:r>
              <a:rPr sz="1250" b="0" i="1">
                <a:solidFill>
                  <a:srgbClr val="EEE8F5"/>
                </a:solidFill>
                <a:latin typeface="Inter"/>
              </a:rPr>
              <a:t>De volledige herhaling (13 spellen, drills) staat online. Hier: de kern + semáforo.</a:t>
            </a:r>
          </a:p>
        </p:txBody>
      </p:sp>
      <p:sp>
        <p:nvSpPr>
          <p:cNvPr id="9" name="Rounded Rectangle 8"/>
          <p:cNvSpPr/>
          <p:nvPr/>
        </p:nvSpPr>
        <p:spPr>
          <a:xfrm>
            <a:off x="457200" y="1463040"/>
            <a:ext cx="11247120" cy="2286000"/>
          </a:xfrm>
          <a:prstGeom prst="roundRect">
            <a:avLst>
              <a:gd name="adj" fmla="val 5500"/>
            </a:avLst>
          </a:prstGeom>
          <a:solidFill>
            <a:srgbClr val="F3EEE4"/>
          </a:solidFill>
          <a:ln>
            <a:noFill/>
          </a:ln>
          <a:effectLst>
            <a:outerShdw blurRad="90000" dist="38000" dir="5400000" rotWithShape="0">
              <a:srgbClr val="20242E">
                <a:alpha val="2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1645920"/>
            <a:ext cx="10789920" cy="411480"/>
          </a:xfrm>
          <a:prstGeom prst="rect">
            <a:avLst/>
          </a:prstGeom>
          <a:noFill/>
        </p:spPr>
        <p:txBody>
          <a:bodyPr wrap="square" anchor="t" lIns="38100" rIns="38100" tIns="25400" bIns="25400">
            <a:spAutoFit/>
          </a:bodyPr>
          <a:lstStyle/>
          <a:p>
            <a:pPr algn="l">
              <a:lnSpc>
                <a:spcPct val="106000"/>
              </a:lnSpc>
              <a:spcBef>
                <a:spcPts val="0"/>
              </a:spcBef>
              <a:spcAft>
                <a:spcPts val="200"/>
              </a:spcAft>
            </a:pPr>
            <a:r>
              <a:rPr sz="1300" b="1" i="0">
                <a:solidFill>
                  <a:srgbClr val="5B3E83"/>
                </a:solidFill>
                <a:latin typeface="Inter"/>
              </a:rPr>
              <a:t>• </a:t>
            </a:r>
            <a:r>
              <a:rPr sz="1200" b="0" i="0">
                <a:solidFill>
                  <a:srgbClr val="20242E"/>
                </a:solidFill>
                <a:latin typeface="Inter"/>
              </a:rPr>
              <a:t>Presentarte: me llamo · soy (de) · tengo … años · vivo en · hablo …</a:t>
            </a:r>
          </a:p>
        </p:txBody>
      </p:sp>
      <p:sp>
        <p:nvSpPr>
          <p:cNvPr id="11" name="TextBox 10"/>
          <p:cNvSpPr txBox="1"/>
          <p:nvPr/>
        </p:nvSpPr>
        <p:spPr>
          <a:xfrm>
            <a:off x="731520" y="2066544"/>
            <a:ext cx="10789920" cy="411480"/>
          </a:xfrm>
          <a:prstGeom prst="rect">
            <a:avLst/>
          </a:prstGeom>
          <a:noFill/>
        </p:spPr>
        <p:txBody>
          <a:bodyPr wrap="square" anchor="t" lIns="38100" rIns="38100" tIns="25400" bIns="25400">
            <a:spAutoFit/>
          </a:bodyPr>
          <a:lstStyle/>
          <a:p>
            <a:pPr algn="l">
              <a:lnSpc>
                <a:spcPct val="106000"/>
              </a:lnSpc>
              <a:spcBef>
                <a:spcPts val="0"/>
              </a:spcBef>
              <a:spcAft>
                <a:spcPts val="200"/>
              </a:spcAft>
            </a:pPr>
            <a:r>
              <a:rPr sz="1300" b="1" i="0">
                <a:solidFill>
                  <a:srgbClr val="5B3E83"/>
                </a:solidFill>
                <a:latin typeface="Inter"/>
              </a:rPr>
              <a:t>• </a:t>
            </a:r>
            <a:r>
              <a:rPr sz="1200" b="0" i="0">
                <a:solidFill>
                  <a:srgbClr val="20242E"/>
                </a:solidFill>
                <a:latin typeface="Inter"/>
              </a:rPr>
              <a:t>El presente: -ar → o/as/a/amos/áis/an · -er/-ir gelijkaardig · 7 onreg. (soy·estoy·tengo·voy·hago·vengo·doy).</a:t>
            </a:r>
          </a:p>
        </p:txBody>
      </p:sp>
      <p:sp>
        <p:nvSpPr>
          <p:cNvPr id="12" name="TextBox 11"/>
          <p:cNvSpPr txBox="1"/>
          <p:nvPr/>
        </p:nvSpPr>
        <p:spPr>
          <a:xfrm>
            <a:off x="731520" y="2487168"/>
            <a:ext cx="10789920" cy="411480"/>
          </a:xfrm>
          <a:prstGeom prst="rect">
            <a:avLst/>
          </a:prstGeom>
          <a:noFill/>
        </p:spPr>
        <p:txBody>
          <a:bodyPr wrap="square" anchor="t" lIns="38100" rIns="38100" tIns="25400" bIns="25400">
            <a:spAutoFit/>
          </a:bodyPr>
          <a:lstStyle/>
          <a:p>
            <a:pPr algn="l">
              <a:lnSpc>
                <a:spcPct val="106000"/>
              </a:lnSpc>
              <a:spcBef>
                <a:spcPts val="0"/>
              </a:spcBef>
              <a:spcAft>
                <a:spcPts val="200"/>
              </a:spcAft>
            </a:pPr>
            <a:r>
              <a:rPr sz="1300" b="1" i="0">
                <a:solidFill>
                  <a:srgbClr val="5B3E83"/>
                </a:solidFill>
                <a:latin typeface="Inter"/>
              </a:rPr>
              <a:t>• </a:t>
            </a:r>
            <a:r>
              <a:rPr sz="1200" b="0" i="0">
                <a:solidFill>
                  <a:srgbClr val="20242E"/>
                </a:solidFill>
                <a:latin typeface="Inter"/>
              </a:rPr>
              <a:t>Concordancia: el chico alto / la chica alta · los/las + -os/-as.</a:t>
            </a:r>
          </a:p>
        </p:txBody>
      </p:sp>
      <p:sp>
        <p:nvSpPr>
          <p:cNvPr id="13" name="TextBox 12"/>
          <p:cNvSpPr txBox="1"/>
          <p:nvPr/>
        </p:nvSpPr>
        <p:spPr>
          <a:xfrm>
            <a:off x="731520" y="2907792"/>
            <a:ext cx="10789920" cy="411480"/>
          </a:xfrm>
          <a:prstGeom prst="rect">
            <a:avLst/>
          </a:prstGeom>
          <a:noFill/>
        </p:spPr>
        <p:txBody>
          <a:bodyPr wrap="square" anchor="t" lIns="38100" rIns="38100" tIns="25400" bIns="25400">
            <a:spAutoFit/>
          </a:bodyPr>
          <a:lstStyle/>
          <a:p>
            <a:pPr algn="l">
              <a:lnSpc>
                <a:spcPct val="106000"/>
              </a:lnSpc>
              <a:spcBef>
                <a:spcPts val="0"/>
              </a:spcBef>
              <a:spcAft>
                <a:spcPts val="200"/>
              </a:spcAft>
            </a:pPr>
            <a:r>
              <a:rPr sz="1300" b="1" i="0">
                <a:solidFill>
                  <a:srgbClr val="5B3E83"/>
                </a:solidFill>
                <a:latin typeface="Inter"/>
              </a:rPr>
              <a:t>• </a:t>
            </a:r>
            <a:r>
              <a:rPr sz="1200" b="0" i="0">
                <a:solidFill>
                  <a:srgbClr val="20242E"/>
                </a:solidFill>
                <a:latin typeface="Inter"/>
              </a:rPr>
              <a:t>Países/nacionalidades: soy de España, soy español/a (kleine letter), hablo español.</a:t>
            </a:r>
          </a:p>
        </p:txBody>
      </p:sp>
      <p:sp>
        <p:nvSpPr>
          <p:cNvPr id="14" name="TextBox 13"/>
          <p:cNvSpPr txBox="1"/>
          <p:nvPr/>
        </p:nvSpPr>
        <p:spPr>
          <a:xfrm>
            <a:off x="731520" y="3328416"/>
            <a:ext cx="10789920" cy="411480"/>
          </a:xfrm>
          <a:prstGeom prst="rect">
            <a:avLst/>
          </a:prstGeom>
          <a:noFill/>
        </p:spPr>
        <p:txBody>
          <a:bodyPr wrap="square" anchor="t" lIns="38100" rIns="38100" tIns="25400" bIns="25400">
            <a:spAutoFit/>
          </a:bodyPr>
          <a:lstStyle/>
          <a:p>
            <a:pPr algn="l">
              <a:lnSpc>
                <a:spcPct val="106000"/>
              </a:lnSpc>
              <a:spcBef>
                <a:spcPts val="0"/>
              </a:spcBef>
              <a:spcAft>
                <a:spcPts val="200"/>
              </a:spcAft>
            </a:pPr>
            <a:r>
              <a:rPr sz="1300" b="1" i="0">
                <a:solidFill>
                  <a:srgbClr val="5B3E83"/>
                </a:solidFill>
                <a:latin typeface="Inter"/>
              </a:rPr>
              <a:t>• </a:t>
            </a:r>
            <a:r>
              <a:rPr sz="1200" b="0" i="0">
                <a:solidFill>
                  <a:srgbClr val="20242E"/>
                </a:solidFill>
                <a:latin typeface="Inter"/>
              </a:rPr>
              <a:t>🔴 Trampas: soy ≠ estoy · porque = want én omdat · nacionalidad = kleine letter · belga = m/v gelijk.</a:t>
            </a:r>
          </a:p>
        </p:txBody>
      </p:sp>
      <p:sp>
        <p:nvSpPr>
          <p:cNvPr id="15" name="TextBox 14"/>
          <p:cNvSpPr txBox="1"/>
          <p:nvPr/>
        </p:nvSpPr>
        <p:spPr>
          <a:xfrm>
            <a:off x="457200" y="3931920"/>
            <a:ext cx="10972800" cy="320040"/>
          </a:xfrm>
          <a:prstGeom prst="rect">
            <a:avLst/>
          </a:prstGeom>
          <a:noFill/>
        </p:spPr>
        <p:txBody>
          <a:bodyPr wrap="square" anchor="t" lIns="38100" rIns="38100" tIns="25400" bIns="25400">
            <a:spAutoFit/>
          </a:bodyPr>
          <a:lstStyle/>
          <a:p>
            <a:pPr algn="l">
              <a:lnSpc>
                <a:spcPct val="106000"/>
              </a:lnSpc>
              <a:spcBef>
                <a:spcPts val="0"/>
              </a:spcBef>
              <a:spcAft>
                <a:spcPts val="200"/>
              </a:spcAft>
            </a:pPr>
            <a:r>
              <a:rPr sz="1300" b="1" i="0">
                <a:solidFill>
                  <a:srgbClr val="5B3E83"/>
                </a:solidFill>
                <a:latin typeface="Bricolage Grotesque"/>
              </a:rPr>
              <a:t>Semáforo — ¿cómo lo llevas?</a:t>
            </a:r>
          </a:p>
        </p:txBody>
      </p:sp>
      <p:sp>
        <p:nvSpPr>
          <p:cNvPr id="16" name="TextBox 15"/>
          <p:cNvSpPr txBox="1"/>
          <p:nvPr/>
        </p:nvSpPr>
        <p:spPr>
          <a:xfrm>
            <a:off x="731520" y="4343400"/>
            <a:ext cx="6400800" cy="365760"/>
          </a:xfrm>
          <a:prstGeom prst="rect">
            <a:avLst/>
          </a:prstGeom>
          <a:noFill/>
        </p:spPr>
        <p:txBody>
          <a:bodyPr wrap="square" anchor="ctr" lIns="38100" rIns="38100" tIns="25400" bIns="25400">
            <a:spAutoFit/>
          </a:bodyPr>
          <a:lstStyle/>
          <a:p>
            <a:pPr algn="l">
              <a:lnSpc>
                <a:spcPct val="106000"/>
              </a:lnSpc>
              <a:spcBef>
                <a:spcPts val="0"/>
              </a:spcBef>
              <a:spcAft>
                <a:spcPts val="200"/>
              </a:spcAft>
            </a:pPr>
            <a:r>
              <a:rPr sz="1200" b="0" i="0">
                <a:solidFill>
                  <a:srgbClr val="20242E"/>
                </a:solidFill>
                <a:latin typeface="Inter"/>
              </a:rPr>
              <a:t>saludar + presentarse</a:t>
            </a:r>
          </a:p>
        </p:txBody>
      </p:sp>
      <p:sp>
        <p:nvSpPr>
          <p:cNvPr id="17" name="Rounded Rectangle 16"/>
          <p:cNvSpPr/>
          <p:nvPr/>
        </p:nvSpPr>
        <p:spPr>
          <a:xfrm>
            <a:off x="7315200" y="4370832"/>
            <a:ext cx="1188720" cy="292608"/>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88900" rIns="88900" tIns="12700" bIns="12700"/>
          <a:lstStyle/>
          <a:p>
            <a:pPr algn="ctr"/>
            <a:r>
              <a:rPr sz="1200" b="1">
                <a:solidFill>
                  <a:srgbClr val="DC2626"/>
                </a:solidFill>
                <a:latin typeface="Inter"/>
              </a:rPr>
              <a:t>🔴 </a:t>
            </a:r>
          </a:p>
        </p:txBody>
      </p:sp>
      <p:sp>
        <p:nvSpPr>
          <p:cNvPr id="18" name="Rounded Rectangle 17"/>
          <p:cNvSpPr/>
          <p:nvPr/>
        </p:nvSpPr>
        <p:spPr>
          <a:xfrm>
            <a:off x="8686800" y="4370832"/>
            <a:ext cx="1188720" cy="292608"/>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88900" rIns="88900" tIns="12700" bIns="12700"/>
          <a:lstStyle/>
          <a:p>
            <a:pPr algn="ctr"/>
            <a:r>
              <a:rPr sz="1200" b="1">
                <a:solidFill>
                  <a:srgbClr val="B7860B"/>
                </a:solidFill>
                <a:latin typeface="Inter"/>
              </a:rPr>
              <a:t>🟠 </a:t>
            </a:r>
          </a:p>
        </p:txBody>
      </p:sp>
      <p:sp>
        <p:nvSpPr>
          <p:cNvPr id="19" name="Rounded Rectangle 18"/>
          <p:cNvSpPr/>
          <p:nvPr/>
        </p:nvSpPr>
        <p:spPr>
          <a:xfrm>
            <a:off x="10058400" y="4370832"/>
            <a:ext cx="1188720" cy="292608"/>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88900" rIns="88900" tIns="12700" bIns="12700"/>
          <a:lstStyle/>
          <a:p>
            <a:pPr algn="ctr"/>
            <a:r>
              <a:rPr sz="1200" b="1">
                <a:solidFill>
                  <a:srgbClr val="7C56A9"/>
                </a:solidFill>
                <a:latin typeface="Inter"/>
              </a:rPr>
              <a:t>🟢 </a:t>
            </a:r>
          </a:p>
        </p:txBody>
      </p:sp>
      <p:sp>
        <p:nvSpPr>
          <p:cNvPr id="20" name="TextBox 19"/>
          <p:cNvSpPr txBox="1"/>
          <p:nvPr/>
        </p:nvSpPr>
        <p:spPr>
          <a:xfrm>
            <a:off x="731520" y="4727448"/>
            <a:ext cx="6400800" cy="365760"/>
          </a:xfrm>
          <a:prstGeom prst="rect">
            <a:avLst/>
          </a:prstGeom>
          <a:noFill/>
        </p:spPr>
        <p:txBody>
          <a:bodyPr wrap="square" anchor="ctr" lIns="38100" rIns="38100" tIns="25400" bIns="25400">
            <a:spAutoFit/>
          </a:bodyPr>
          <a:lstStyle/>
          <a:p>
            <a:pPr algn="l">
              <a:lnSpc>
                <a:spcPct val="106000"/>
              </a:lnSpc>
              <a:spcBef>
                <a:spcPts val="0"/>
              </a:spcBef>
              <a:spcAft>
                <a:spcPts val="200"/>
              </a:spcAft>
            </a:pPr>
            <a:r>
              <a:rPr sz="1200" b="0" i="0">
                <a:solidFill>
                  <a:srgbClr val="20242E"/>
                </a:solidFill>
                <a:latin typeface="Inter"/>
              </a:rPr>
              <a:t>el presente (regular + ser/estar/tener/ir)</a:t>
            </a:r>
          </a:p>
        </p:txBody>
      </p:sp>
      <p:sp>
        <p:nvSpPr>
          <p:cNvPr id="21" name="Rounded Rectangle 20"/>
          <p:cNvSpPr/>
          <p:nvPr/>
        </p:nvSpPr>
        <p:spPr>
          <a:xfrm>
            <a:off x="7315200" y="4754880"/>
            <a:ext cx="1188720" cy="292608"/>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88900" rIns="88900" tIns="12700" bIns="12700"/>
          <a:lstStyle/>
          <a:p>
            <a:pPr algn="ctr"/>
            <a:r>
              <a:rPr sz="1200" b="1">
                <a:solidFill>
                  <a:srgbClr val="DC2626"/>
                </a:solidFill>
                <a:latin typeface="Inter"/>
              </a:rPr>
              <a:t>🔴 </a:t>
            </a:r>
          </a:p>
        </p:txBody>
      </p:sp>
      <p:sp>
        <p:nvSpPr>
          <p:cNvPr id="22" name="Rounded Rectangle 21"/>
          <p:cNvSpPr/>
          <p:nvPr/>
        </p:nvSpPr>
        <p:spPr>
          <a:xfrm>
            <a:off x="8686800" y="4754880"/>
            <a:ext cx="1188720" cy="292608"/>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88900" rIns="88900" tIns="12700" bIns="12700"/>
          <a:lstStyle/>
          <a:p>
            <a:pPr algn="ctr"/>
            <a:r>
              <a:rPr sz="1200" b="1">
                <a:solidFill>
                  <a:srgbClr val="B7860B"/>
                </a:solidFill>
                <a:latin typeface="Inter"/>
              </a:rPr>
              <a:t>🟠 </a:t>
            </a:r>
          </a:p>
        </p:txBody>
      </p:sp>
      <p:sp>
        <p:nvSpPr>
          <p:cNvPr id="23" name="Rounded Rectangle 22"/>
          <p:cNvSpPr/>
          <p:nvPr/>
        </p:nvSpPr>
        <p:spPr>
          <a:xfrm>
            <a:off x="10058400" y="4754880"/>
            <a:ext cx="1188720" cy="292608"/>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88900" rIns="88900" tIns="12700" bIns="12700"/>
          <a:lstStyle/>
          <a:p>
            <a:pPr algn="ctr"/>
            <a:r>
              <a:rPr sz="1200" b="1">
                <a:solidFill>
                  <a:srgbClr val="7C56A9"/>
                </a:solidFill>
                <a:latin typeface="Inter"/>
              </a:rPr>
              <a:t>🟢 </a:t>
            </a:r>
          </a:p>
        </p:txBody>
      </p:sp>
      <p:sp>
        <p:nvSpPr>
          <p:cNvPr id="24" name="TextBox 23"/>
          <p:cNvSpPr txBox="1"/>
          <p:nvPr/>
        </p:nvSpPr>
        <p:spPr>
          <a:xfrm>
            <a:off x="731520" y="5111496"/>
            <a:ext cx="6400800" cy="365760"/>
          </a:xfrm>
          <a:prstGeom prst="rect">
            <a:avLst/>
          </a:prstGeom>
          <a:noFill/>
        </p:spPr>
        <p:txBody>
          <a:bodyPr wrap="square" anchor="ctr" lIns="38100" rIns="38100" tIns="25400" bIns="25400">
            <a:spAutoFit/>
          </a:bodyPr>
          <a:lstStyle/>
          <a:p>
            <a:pPr algn="l">
              <a:lnSpc>
                <a:spcPct val="106000"/>
              </a:lnSpc>
              <a:spcBef>
                <a:spcPts val="0"/>
              </a:spcBef>
              <a:spcAft>
                <a:spcPts val="200"/>
              </a:spcAft>
            </a:pPr>
            <a:r>
              <a:rPr sz="1200" b="0" i="0">
                <a:solidFill>
                  <a:srgbClr val="20242E"/>
                </a:solidFill>
                <a:latin typeface="Inter"/>
              </a:rPr>
              <a:t>género + concordancia</a:t>
            </a:r>
          </a:p>
        </p:txBody>
      </p:sp>
      <p:sp>
        <p:nvSpPr>
          <p:cNvPr id="25" name="Rounded Rectangle 24"/>
          <p:cNvSpPr/>
          <p:nvPr/>
        </p:nvSpPr>
        <p:spPr>
          <a:xfrm>
            <a:off x="7315200" y="5138928"/>
            <a:ext cx="1188720" cy="292608"/>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88900" rIns="88900" tIns="12700" bIns="12700"/>
          <a:lstStyle/>
          <a:p>
            <a:pPr algn="ctr"/>
            <a:r>
              <a:rPr sz="1200" b="1">
                <a:solidFill>
                  <a:srgbClr val="DC2626"/>
                </a:solidFill>
                <a:latin typeface="Inter"/>
              </a:rPr>
              <a:t>🔴 </a:t>
            </a:r>
          </a:p>
        </p:txBody>
      </p:sp>
      <p:sp>
        <p:nvSpPr>
          <p:cNvPr id="26" name="Rounded Rectangle 25"/>
          <p:cNvSpPr/>
          <p:nvPr/>
        </p:nvSpPr>
        <p:spPr>
          <a:xfrm>
            <a:off x="8686800" y="5138928"/>
            <a:ext cx="1188720" cy="292608"/>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88900" rIns="88900" tIns="12700" bIns="12700"/>
          <a:lstStyle/>
          <a:p>
            <a:pPr algn="ctr"/>
            <a:r>
              <a:rPr sz="1200" b="1">
                <a:solidFill>
                  <a:srgbClr val="B7860B"/>
                </a:solidFill>
                <a:latin typeface="Inter"/>
              </a:rPr>
              <a:t>🟠 </a:t>
            </a:r>
          </a:p>
        </p:txBody>
      </p:sp>
      <p:sp>
        <p:nvSpPr>
          <p:cNvPr id="27" name="Rounded Rectangle 26"/>
          <p:cNvSpPr/>
          <p:nvPr/>
        </p:nvSpPr>
        <p:spPr>
          <a:xfrm>
            <a:off x="10058400" y="5138928"/>
            <a:ext cx="1188720" cy="292608"/>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88900" rIns="88900" tIns="12700" bIns="12700"/>
          <a:lstStyle/>
          <a:p>
            <a:pPr algn="ctr"/>
            <a:r>
              <a:rPr sz="1200" b="1">
                <a:solidFill>
                  <a:srgbClr val="7C56A9"/>
                </a:solidFill>
                <a:latin typeface="Inter"/>
              </a:rPr>
              <a:t>🟢 </a:t>
            </a:r>
          </a:p>
        </p:txBody>
      </p:sp>
      <p:sp>
        <p:nvSpPr>
          <p:cNvPr id="28" name="TextBox 27"/>
          <p:cNvSpPr txBox="1"/>
          <p:nvPr/>
        </p:nvSpPr>
        <p:spPr>
          <a:xfrm>
            <a:off x="731520" y="5495544"/>
            <a:ext cx="6400800" cy="365760"/>
          </a:xfrm>
          <a:prstGeom prst="rect">
            <a:avLst/>
          </a:prstGeom>
          <a:noFill/>
        </p:spPr>
        <p:txBody>
          <a:bodyPr wrap="square" anchor="ctr" lIns="38100" rIns="38100" tIns="25400" bIns="25400">
            <a:spAutoFit/>
          </a:bodyPr>
          <a:lstStyle/>
          <a:p>
            <a:pPr algn="l">
              <a:lnSpc>
                <a:spcPct val="106000"/>
              </a:lnSpc>
              <a:spcBef>
                <a:spcPts val="0"/>
              </a:spcBef>
              <a:spcAft>
                <a:spcPts val="200"/>
              </a:spcAft>
            </a:pPr>
            <a:r>
              <a:rPr sz="1200" b="0" i="0">
                <a:solidFill>
                  <a:srgbClr val="20242E"/>
                </a:solidFill>
                <a:latin typeface="Inter"/>
              </a:rPr>
              <a:t>país/nacionalidad/lengua</a:t>
            </a:r>
          </a:p>
        </p:txBody>
      </p:sp>
      <p:sp>
        <p:nvSpPr>
          <p:cNvPr id="29" name="Rounded Rectangle 28"/>
          <p:cNvSpPr/>
          <p:nvPr/>
        </p:nvSpPr>
        <p:spPr>
          <a:xfrm>
            <a:off x="7315200" y="5522976"/>
            <a:ext cx="1188720" cy="292608"/>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88900" rIns="88900" tIns="12700" bIns="12700"/>
          <a:lstStyle/>
          <a:p>
            <a:pPr algn="ctr"/>
            <a:r>
              <a:rPr sz="1200" b="1">
                <a:solidFill>
                  <a:srgbClr val="DC2626"/>
                </a:solidFill>
                <a:latin typeface="Inter"/>
              </a:rPr>
              <a:t>🔴 </a:t>
            </a:r>
          </a:p>
        </p:txBody>
      </p:sp>
      <p:sp>
        <p:nvSpPr>
          <p:cNvPr id="30" name="Rounded Rectangle 29"/>
          <p:cNvSpPr/>
          <p:nvPr/>
        </p:nvSpPr>
        <p:spPr>
          <a:xfrm>
            <a:off x="8686800" y="5522976"/>
            <a:ext cx="1188720" cy="292608"/>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88900" rIns="88900" tIns="12700" bIns="12700"/>
          <a:lstStyle/>
          <a:p>
            <a:pPr algn="ctr"/>
            <a:r>
              <a:rPr sz="1200" b="1">
                <a:solidFill>
                  <a:srgbClr val="B7860B"/>
                </a:solidFill>
                <a:latin typeface="Inter"/>
              </a:rPr>
              <a:t>🟠 </a:t>
            </a:r>
          </a:p>
        </p:txBody>
      </p:sp>
      <p:sp>
        <p:nvSpPr>
          <p:cNvPr id="31" name="Rounded Rectangle 30"/>
          <p:cNvSpPr/>
          <p:nvPr/>
        </p:nvSpPr>
        <p:spPr>
          <a:xfrm>
            <a:off x="10058400" y="5522976"/>
            <a:ext cx="1188720" cy="292608"/>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88900" rIns="88900" tIns="12700" bIns="12700"/>
          <a:lstStyle/>
          <a:p>
            <a:pPr algn="ctr"/>
            <a:r>
              <a:rPr sz="1200" b="1">
                <a:solidFill>
                  <a:srgbClr val="7C56A9"/>
                </a:solidFill>
                <a:latin typeface="Inter"/>
              </a:rPr>
              <a:t>🟢 </a:t>
            </a:r>
          </a:p>
        </p:txBody>
      </p:sp>
      <p:sp>
        <p:nvSpPr>
          <p:cNvPr id="32" name="TextBox 31"/>
          <p:cNvSpPr txBox="1"/>
          <p:nvPr/>
        </p:nvSpPr>
        <p:spPr>
          <a:xfrm>
            <a:off x="731520" y="5879592"/>
            <a:ext cx="6400800" cy="365760"/>
          </a:xfrm>
          <a:prstGeom prst="rect">
            <a:avLst/>
          </a:prstGeom>
          <a:noFill/>
        </p:spPr>
        <p:txBody>
          <a:bodyPr wrap="square" anchor="ctr" lIns="38100" rIns="38100" tIns="25400" bIns="25400">
            <a:spAutoFit/>
          </a:bodyPr>
          <a:lstStyle/>
          <a:p>
            <a:pPr algn="l">
              <a:lnSpc>
                <a:spcPct val="106000"/>
              </a:lnSpc>
              <a:spcBef>
                <a:spcPts val="0"/>
              </a:spcBef>
              <a:spcAft>
                <a:spcPts val="200"/>
              </a:spcAft>
            </a:pPr>
            <a:r>
              <a:rPr sz="1200" b="0" i="0">
                <a:solidFill>
                  <a:srgbClr val="20242E"/>
                </a:solidFill>
                <a:latin typeface="Inter"/>
              </a:rPr>
              <a:t>leer un perfil + escribir una tarjeta</a:t>
            </a:r>
          </a:p>
        </p:txBody>
      </p:sp>
      <p:sp>
        <p:nvSpPr>
          <p:cNvPr id="33" name="Rounded Rectangle 32"/>
          <p:cNvSpPr/>
          <p:nvPr/>
        </p:nvSpPr>
        <p:spPr>
          <a:xfrm>
            <a:off x="7315200" y="5907024"/>
            <a:ext cx="1188720" cy="292608"/>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88900" rIns="88900" tIns="12700" bIns="12700"/>
          <a:lstStyle/>
          <a:p>
            <a:pPr algn="ctr"/>
            <a:r>
              <a:rPr sz="1200" b="1">
                <a:solidFill>
                  <a:srgbClr val="DC2626"/>
                </a:solidFill>
                <a:latin typeface="Inter"/>
              </a:rPr>
              <a:t>🔴 </a:t>
            </a:r>
          </a:p>
        </p:txBody>
      </p:sp>
      <p:sp>
        <p:nvSpPr>
          <p:cNvPr id="34" name="Rounded Rectangle 33"/>
          <p:cNvSpPr/>
          <p:nvPr/>
        </p:nvSpPr>
        <p:spPr>
          <a:xfrm>
            <a:off x="8686800" y="5907024"/>
            <a:ext cx="1188720" cy="292608"/>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88900" rIns="88900" tIns="12700" bIns="12700"/>
          <a:lstStyle/>
          <a:p>
            <a:pPr algn="ctr"/>
            <a:r>
              <a:rPr sz="1200" b="1">
                <a:solidFill>
                  <a:srgbClr val="B7860B"/>
                </a:solidFill>
                <a:latin typeface="Inter"/>
              </a:rPr>
              <a:t>🟠 </a:t>
            </a:r>
          </a:p>
        </p:txBody>
      </p:sp>
      <p:sp>
        <p:nvSpPr>
          <p:cNvPr id="35" name="Rounded Rectangle 34"/>
          <p:cNvSpPr/>
          <p:nvPr/>
        </p:nvSpPr>
        <p:spPr>
          <a:xfrm>
            <a:off x="10058400" y="5907024"/>
            <a:ext cx="1188720" cy="292608"/>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88900" rIns="88900" tIns="12700" bIns="12700"/>
          <a:lstStyle/>
          <a:p>
            <a:pPr algn="ctr"/>
            <a:r>
              <a:rPr sz="1200" b="1">
                <a:solidFill>
                  <a:srgbClr val="7C56A9"/>
                </a:solidFill>
                <a:latin typeface="Inter"/>
              </a:rPr>
              <a:t>🟢 </a:t>
            </a:r>
          </a:p>
        </p:txBody>
      </p:sp>
      <p:sp>
        <p:nvSpPr>
          <p:cNvPr id="36" name="Rectangle 35"/>
          <p:cNvSpPr/>
          <p:nvPr/>
        </p:nvSpPr>
        <p:spPr>
          <a:xfrm>
            <a:off x="0" y="6547104"/>
            <a:ext cx="12191695" cy="310896"/>
          </a:xfrm>
          <a:prstGeom prst="rect">
            <a:avLst/>
          </a:prstGeom>
          <a:solidFill>
            <a:srgbClr val="F3EE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411480" y="6565392"/>
            <a:ext cx="5486400" cy="274320"/>
          </a:xfrm>
          <a:prstGeom prst="rect">
            <a:avLst/>
          </a:prstGeom>
          <a:noFill/>
        </p:spPr>
        <p:txBody>
          <a:bodyPr wrap="square" anchor="ctr" lIns="38100" rIns="38100" tIns="25400" bIns="25400">
            <a:spAutoFit/>
          </a:bodyPr>
          <a:lstStyle/>
          <a:p>
            <a:pPr algn="l">
              <a:lnSpc>
                <a:spcPct val="106000"/>
              </a:lnSpc>
              <a:spcBef>
                <a:spcPts val="0"/>
              </a:spcBef>
              <a:spcAft>
                <a:spcPts val="200"/>
              </a:spcAft>
            </a:pPr>
            <a:r>
              <a:rPr sz="1100" b="1" i="0">
                <a:solidFill>
                  <a:srgbClr val="7C56A9"/>
                </a:solidFill>
                <a:latin typeface="Inter"/>
              </a:rPr>
              <a:t>● </a:t>
            </a:r>
            <a:r>
              <a:rPr sz="950" b="0" i="0">
                <a:solidFill>
                  <a:srgbClr val="6A6E78"/>
                </a:solidFill>
                <a:latin typeface="Inter"/>
              </a:rPr>
              <a:t>U0 · ¡VOLVEMOS!   ·   C6+ · el reencuentro</a:t>
            </a:r>
          </a:p>
        </p:txBody>
      </p:sp>
      <p:sp>
        <p:nvSpPr>
          <p:cNvPr id="38" name="TextBox 37"/>
          <p:cNvSpPr txBox="1"/>
          <p:nvPr/>
        </p:nvSpPr>
        <p:spPr>
          <a:xfrm>
            <a:off x="8686800" y="6565392"/>
            <a:ext cx="3063240" cy="274320"/>
          </a:xfrm>
          <a:prstGeom prst="rect">
            <a:avLst/>
          </a:prstGeom>
          <a:noFill/>
        </p:spPr>
        <p:txBody>
          <a:bodyPr wrap="square" anchor="ctr" lIns="38100" rIns="38100" tIns="25400" bIns="25400">
            <a:spAutoFit/>
          </a:bodyPr>
          <a:lstStyle/>
          <a:p>
            <a:pPr algn="r">
              <a:lnSpc>
                <a:spcPct val="106000"/>
              </a:lnSpc>
              <a:spcBef>
                <a:spcPts val="0"/>
              </a:spcBef>
              <a:spcAft>
                <a:spcPts val="200"/>
              </a:spcAft>
            </a:pPr>
            <a:r>
              <a:rPr sz="900" b="0" i="1">
                <a:solidFill>
                  <a:srgbClr val="6A6E78"/>
                </a:solidFill>
                <a:latin typeface="Inter"/>
              </a:rPr>
              <a:t>Docentenversie — met oplossingen</a:t>
            </a:r>
          </a:p>
        </p:txBody>
      </p:sp>
      <p:sp>
        <p:nvSpPr>
          <p:cNvPr id="39" name="TextBox 38"/>
          <p:cNvSpPr txBox="1"/>
          <p:nvPr/>
        </p:nvSpPr>
        <p:spPr>
          <a:xfrm>
            <a:off x="11475720" y="6565392"/>
            <a:ext cx="457200" cy="274320"/>
          </a:xfrm>
          <a:prstGeom prst="rect">
            <a:avLst/>
          </a:prstGeom>
          <a:noFill/>
        </p:spPr>
        <p:txBody>
          <a:bodyPr wrap="square" anchor="ctr" lIns="38100" rIns="38100" tIns="25400" bIns="25400">
            <a:spAutoFit/>
          </a:bodyPr>
          <a:lstStyle/>
          <a:p>
            <a:pPr algn="r">
              <a:lnSpc>
                <a:spcPct val="106000"/>
              </a:lnSpc>
              <a:spcBef>
                <a:spcPts val="0"/>
              </a:spcBef>
              <a:spcAft>
                <a:spcPts val="200"/>
              </a:spcAft>
            </a:pPr>
            <a:r>
              <a:rPr sz="950" b="1" i="0">
                <a:solidFill>
                  <a:srgbClr val="5B3E83"/>
                </a:solidFill>
                <a:latin typeface="Inter"/>
              </a:rPr>
              <a:t>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5B3E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10972800" cy="731520"/>
          </a:xfrm>
          <a:prstGeom prst="rect">
            <a:avLst/>
          </a:prstGeom>
          <a:noFill/>
        </p:spPr>
        <p:txBody>
          <a:bodyPr wrap="square" anchor="t" lIns="38100" rIns="38100" tIns="25400" bIns="25400">
            <a:spAutoFit/>
          </a:bodyPr>
          <a:lstStyle/>
          <a:p>
            <a:pPr algn="l">
              <a:lnSpc>
                <a:spcPct val="106000"/>
              </a:lnSpc>
              <a:spcBef>
                <a:spcPts val="0"/>
              </a:spcBef>
              <a:spcAft>
                <a:spcPts val="200"/>
              </a:spcAft>
            </a:pPr>
            <a:r>
              <a:rPr sz="2600" b="1" i="0">
                <a:solidFill>
                  <a:srgbClr val="FFFFFF"/>
                </a:solidFill>
                <a:latin typeface="Bricolage Grotesque"/>
              </a:rPr>
              <a:t>TEACHER_NOTES · U0 «¡Volvemos!»</a:t>
            </a:r>
          </a:p>
        </p:txBody>
      </p:sp>
      <p:sp>
        <p:nvSpPr>
          <p:cNvPr id="4" name="Rounded Rectangle 3"/>
          <p:cNvSpPr/>
          <p:nvPr/>
        </p:nvSpPr>
        <p:spPr>
          <a:xfrm>
            <a:off x="457200" y="1280160"/>
            <a:ext cx="11247120" cy="914400"/>
          </a:xfrm>
          <a:prstGeom prst="roundRect">
            <a:avLst>
              <a:gd name="adj" fmla="val 5500"/>
            </a:avLst>
          </a:prstGeom>
          <a:solidFill>
            <a:srgbClr val="473069"/>
          </a:solidFill>
          <a:ln>
            <a:noFill/>
          </a:ln>
          <a:effectLst>
            <a:outerShdw blurRad="90000" dist="38000" dir="5400000" rotWithShape="0">
              <a:srgbClr val="20242E">
                <a:alpha val="2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1353312"/>
            <a:ext cx="10789920" cy="365760"/>
          </a:xfrm>
          <a:prstGeom prst="rect">
            <a:avLst/>
          </a:prstGeom>
          <a:noFill/>
        </p:spPr>
        <p:txBody>
          <a:bodyPr wrap="square" anchor="t" lIns="38100" rIns="38100" tIns="25400" bIns="25400">
            <a:spAutoFit/>
          </a:bodyPr>
          <a:lstStyle/>
          <a:p>
            <a:pPr algn="l">
              <a:lnSpc>
                <a:spcPct val="106000"/>
              </a:lnSpc>
              <a:spcBef>
                <a:spcPts val="0"/>
              </a:spcBef>
              <a:spcAft>
                <a:spcPts val="200"/>
              </a:spcAft>
            </a:pPr>
            <a:r>
              <a:rPr sz="1400" b="1" i="0">
                <a:solidFill>
                  <a:srgbClr val="FFFFFF"/>
                </a:solidFill>
                <a:latin typeface="Bricolage Grotesque"/>
              </a:rPr>
              <a:t>Timing (50 min)</a:t>
            </a:r>
          </a:p>
        </p:txBody>
      </p:sp>
      <p:sp>
        <p:nvSpPr>
          <p:cNvPr id="6" name="TextBox 5"/>
          <p:cNvSpPr txBox="1"/>
          <p:nvPr/>
        </p:nvSpPr>
        <p:spPr>
          <a:xfrm>
            <a:off x="685800" y="1719072"/>
            <a:ext cx="10789920" cy="457200"/>
          </a:xfrm>
          <a:prstGeom prst="rect">
            <a:avLst/>
          </a:prstGeom>
          <a:noFill/>
        </p:spPr>
        <p:txBody>
          <a:bodyPr wrap="square" anchor="t" lIns="38100" rIns="38100" tIns="25400" bIns="25400">
            <a:spAutoFit/>
          </a:bodyPr>
          <a:lstStyle/>
          <a:p>
            <a:pPr algn="l">
              <a:lnSpc>
                <a:spcPct val="112000"/>
              </a:lnSpc>
              <a:spcBef>
                <a:spcPts val="0"/>
              </a:spcBef>
              <a:spcAft>
                <a:spcPts val="200"/>
              </a:spcAft>
            </a:pPr>
            <a:r>
              <a:rPr sz="1150" b="0" i="0">
                <a:solidFill>
                  <a:srgbClr val="EEE8F5"/>
                </a:solidFill>
                <a:latin typeface="Inter"/>
              </a:rPr>
              <a:t>Menu 2' · saludos/presentarse 8' · el presente 12' · género 8' · ser/estar 5' · lectura/escucha 8' · cultura 3' · Tarea-briefing 4'.</a:t>
            </a:r>
          </a:p>
        </p:txBody>
      </p:sp>
      <p:sp>
        <p:nvSpPr>
          <p:cNvPr id="7" name="Rounded Rectangle 6"/>
          <p:cNvSpPr/>
          <p:nvPr/>
        </p:nvSpPr>
        <p:spPr>
          <a:xfrm>
            <a:off x="457200" y="2304288"/>
            <a:ext cx="11247120" cy="914400"/>
          </a:xfrm>
          <a:prstGeom prst="roundRect">
            <a:avLst>
              <a:gd name="adj" fmla="val 5500"/>
            </a:avLst>
          </a:prstGeom>
          <a:solidFill>
            <a:srgbClr val="473069"/>
          </a:solidFill>
          <a:ln>
            <a:noFill/>
          </a:ln>
          <a:effectLst>
            <a:outerShdw blurRad="90000" dist="38000" dir="5400000" rotWithShape="0">
              <a:srgbClr val="20242E">
                <a:alpha val="2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 y="2377440"/>
            <a:ext cx="10789920" cy="365760"/>
          </a:xfrm>
          <a:prstGeom prst="rect">
            <a:avLst/>
          </a:prstGeom>
          <a:noFill/>
        </p:spPr>
        <p:txBody>
          <a:bodyPr wrap="square" anchor="t" lIns="38100" rIns="38100" tIns="25400" bIns="25400">
            <a:spAutoFit/>
          </a:bodyPr>
          <a:lstStyle/>
          <a:p>
            <a:pPr algn="l">
              <a:lnSpc>
                <a:spcPct val="106000"/>
              </a:lnSpc>
              <a:spcBef>
                <a:spcPts val="0"/>
              </a:spcBef>
              <a:spcAft>
                <a:spcPts val="200"/>
              </a:spcAft>
            </a:pPr>
            <a:r>
              <a:rPr sz="1400" b="1" i="0">
                <a:solidFill>
                  <a:srgbClr val="FFFFFF"/>
                </a:solidFill>
                <a:latin typeface="Bricolage Grotesque"/>
              </a:rPr>
              <a:t>Kernvalstrikken</a:t>
            </a:r>
          </a:p>
        </p:txBody>
      </p:sp>
      <p:sp>
        <p:nvSpPr>
          <p:cNvPr id="9" name="TextBox 8"/>
          <p:cNvSpPr txBox="1"/>
          <p:nvPr/>
        </p:nvSpPr>
        <p:spPr>
          <a:xfrm>
            <a:off x="685800" y="2743200"/>
            <a:ext cx="10789920" cy="457200"/>
          </a:xfrm>
          <a:prstGeom prst="rect">
            <a:avLst/>
          </a:prstGeom>
          <a:noFill/>
        </p:spPr>
        <p:txBody>
          <a:bodyPr wrap="square" anchor="t" lIns="38100" rIns="38100" tIns="25400" bIns="25400">
            <a:spAutoFit/>
          </a:bodyPr>
          <a:lstStyle/>
          <a:p>
            <a:pPr algn="l">
              <a:lnSpc>
                <a:spcPct val="112000"/>
              </a:lnSpc>
              <a:spcBef>
                <a:spcPts val="0"/>
              </a:spcBef>
              <a:spcAft>
                <a:spcPts val="200"/>
              </a:spcAft>
            </a:pPr>
            <a:r>
              <a:rPr sz="1150" b="0" i="0">
                <a:solidFill>
                  <a:srgbClr val="EEE8F5"/>
                </a:solidFill>
                <a:latin typeface="Inter"/>
              </a:rPr>
              <a:t>soy ≠ estoy (identiteit vs plaats/gevoel) · porque = want én omdat · nacionalidades met kleine letter · belga = m/v gelijk · el problema/día/mapa (m), la mano/foto (f).</a:t>
            </a:r>
          </a:p>
        </p:txBody>
      </p:sp>
      <p:sp>
        <p:nvSpPr>
          <p:cNvPr id="10" name="Rounded Rectangle 9"/>
          <p:cNvSpPr/>
          <p:nvPr/>
        </p:nvSpPr>
        <p:spPr>
          <a:xfrm>
            <a:off x="457200" y="3328416"/>
            <a:ext cx="11247120" cy="914400"/>
          </a:xfrm>
          <a:prstGeom prst="roundRect">
            <a:avLst>
              <a:gd name="adj" fmla="val 5500"/>
            </a:avLst>
          </a:prstGeom>
          <a:solidFill>
            <a:srgbClr val="473069"/>
          </a:solidFill>
          <a:ln>
            <a:noFill/>
          </a:ln>
          <a:effectLst>
            <a:outerShdw blurRad="90000" dist="38000" dir="5400000" rotWithShape="0">
              <a:srgbClr val="20242E">
                <a:alpha val="2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85800" y="3401568"/>
            <a:ext cx="10789920" cy="365760"/>
          </a:xfrm>
          <a:prstGeom prst="rect">
            <a:avLst/>
          </a:prstGeom>
          <a:noFill/>
        </p:spPr>
        <p:txBody>
          <a:bodyPr wrap="square" anchor="t" lIns="38100" rIns="38100" tIns="25400" bIns="25400">
            <a:spAutoFit/>
          </a:bodyPr>
          <a:lstStyle/>
          <a:p>
            <a:pPr algn="l">
              <a:lnSpc>
                <a:spcPct val="106000"/>
              </a:lnSpc>
              <a:spcBef>
                <a:spcPts val="0"/>
              </a:spcBef>
              <a:spcAft>
                <a:spcPts val="200"/>
              </a:spcAft>
            </a:pPr>
            <a:r>
              <a:rPr sz="1400" b="1" i="0">
                <a:solidFill>
                  <a:srgbClr val="FFFFFF"/>
                </a:solidFill>
                <a:latin typeface="Bricolage Grotesque"/>
              </a:rPr>
              <a:t>Differentiatie (zij-instromers)</a:t>
            </a:r>
          </a:p>
        </p:txBody>
      </p:sp>
      <p:sp>
        <p:nvSpPr>
          <p:cNvPr id="12" name="TextBox 11"/>
          <p:cNvSpPr txBox="1"/>
          <p:nvPr/>
        </p:nvSpPr>
        <p:spPr>
          <a:xfrm>
            <a:off x="685800" y="3767328"/>
            <a:ext cx="10789920" cy="457200"/>
          </a:xfrm>
          <a:prstGeom prst="rect">
            <a:avLst/>
          </a:prstGeom>
          <a:noFill/>
        </p:spPr>
        <p:txBody>
          <a:bodyPr wrap="square" anchor="t" lIns="38100" rIns="38100" tIns="25400" bIns="25400">
            <a:spAutoFit/>
          </a:bodyPr>
          <a:lstStyle/>
          <a:p>
            <a:pPr algn="l">
              <a:lnSpc>
                <a:spcPct val="112000"/>
              </a:lnSpc>
              <a:spcBef>
                <a:spcPts val="0"/>
              </a:spcBef>
              <a:spcAft>
                <a:spcPts val="200"/>
              </a:spcAft>
            </a:pPr>
            <a:r>
              <a:rPr sz="1150" b="0" i="0">
                <a:solidFill>
                  <a:srgbClr val="EEE8F5"/>
                </a:solidFill>
                <a:latin typeface="Inter"/>
              </a:rPr>
              <a:t>U0 = diagnostisch, geen heronderwijs. Sterker: volledige presentación + tarjeta + perfil beschrijven. Zwakker: presente-tabel + soy/estoy-kaart langer open, frames houden.</a:t>
            </a:r>
          </a:p>
        </p:txBody>
      </p:sp>
      <p:sp>
        <p:nvSpPr>
          <p:cNvPr id="13" name="Rounded Rectangle 12"/>
          <p:cNvSpPr/>
          <p:nvPr/>
        </p:nvSpPr>
        <p:spPr>
          <a:xfrm>
            <a:off x="457200" y="4352544"/>
            <a:ext cx="11247120" cy="914400"/>
          </a:xfrm>
          <a:prstGeom prst="roundRect">
            <a:avLst>
              <a:gd name="adj" fmla="val 5500"/>
            </a:avLst>
          </a:prstGeom>
          <a:solidFill>
            <a:srgbClr val="473069"/>
          </a:solidFill>
          <a:ln>
            <a:noFill/>
          </a:ln>
          <a:effectLst>
            <a:outerShdw blurRad="90000" dist="38000" dir="5400000" rotWithShape="0">
              <a:srgbClr val="20242E">
                <a:alpha val="2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85800" y="4425696"/>
            <a:ext cx="10789920" cy="365760"/>
          </a:xfrm>
          <a:prstGeom prst="rect">
            <a:avLst/>
          </a:prstGeom>
          <a:noFill/>
        </p:spPr>
        <p:txBody>
          <a:bodyPr wrap="square" anchor="t" lIns="38100" rIns="38100" tIns="25400" bIns="25400">
            <a:spAutoFit/>
          </a:bodyPr>
          <a:lstStyle/>
          <a:p>
            <a:pPr algn="l">
              <a:lnSpc>
                <a:spcPct val="106000"/>
              </a:lnSpc>
              <a:spcBef>
                <a:spcPts val="0"/>
              </a:spcBef>
              <a:spcAft>
                <a:spcPts val="200"/>
              </a:spcAft>
            </a:pPr>
            <a:r>
              <a:rPr sz="1400" b="1" i="0">
                <a:solidFill>
                  <a:srgbClr val="FFFFFF"/>
                </a:solidFill>
                <a:latin typeface="Bricolage Grotesque"/>
              </a:rPr>
              <a:t>Digitaal</a:t>
            </a:r>
          </a:p>
        </p:txBody>
      </p:sp>
      <p:sp>
        <p:nvSpPr>
          <p:cNvPr id="15" name="TextBox 14"/>
          <p:cNvSpPr txBox="1"/>
          <p:nvPr/>
        </p:nvSpPr>
        <p:spPr>
          <a:xfrm>
            <a:off x="685800" y="4791456"/>
            <a:ext cx="10789920" cy="457200"/>
          </a:xfrm>
          <a:prstGeom prst="rect">
            <a:avLst/>
          </a:prstGeom>
          <a:noFill/>
        </p:spPr>
        <p:txBody>
          <a:bodyPr wrap="square" anchor="t" lIns="38100" rIns="38100" tIns="25400" bIns="25400">
            <a:spAutoFit/>
          </a:bodyPr>
          <a:lstStyle/>
          <a:p>
            <a:pPr algn="l">
              <a:lnSpc>
                <a:spcPct val="112000"/>
              </a:lnSpc>
              <a:spcBef>
                <a:spcPts val="0"/>
              </a:spcBef>
              <a:spcAft>
                <a:spcPts val="200"/>
              </a:spcAft>
            </a:pPr>
            <a:r>
              <a:rPr sz="1150" b="0" i="0">
                <a:solidFill>
                  <a:srgbClr val="EEE8F5"/>
                </a:solidFill>
                <a:latin typeface="Inter"/>
              </a:rPr>
              <a:t>13 spellen + flip cards + klikbare wereldkaart + recorder (Hablar) + Lectura (dos perfiles) op de página digital. QR's in het boek → juiste anker. Conjugador = aparte tool.</a:t>
            </a:r>
          </a:p>
        </p:txBody>
      </p:sp>
      <p:sp>
        <p:nvSpPr>
          <p:cNvPr id="16" name="Rounded Rectangle 15"/>
          <p:cNvSpPr/>
          <p:nvPr/>
        </p:nvSpPr>
        <p:spPr>
          <a:xfrm>
            <a:off x="457200" y="5376672"/>
            <a:ext cx="11247120" cy="914400"/>
          </a:xfrm>
          <a:prstGeom prst="roundRect">
            <a:avLst>
              <a:gd name="adj" fmla="val 5500"/>
            </a:avLst>
          </a:prstGeom>
          <a:solidFill>
            <a:srgbClr val="473069"/>
          </a:solidFill>
          <a:ln>
            <a:noFill/>
          </a:ln>
          <a:effectLst>
            <a:outerShdw blurRad="90000" dist="38000" dir="5400000" rotWithShape="0">
              <a:srgbClr val="20242E">
                <a:alpha val="2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5800" y="5449824"/>
            <a:ext cx="10789920" cy="365760"/>
          </a:xfrm>
          <a:prstGeom prst="rect">
            <a:avLst/>
          </a:prstGeom>
          <a:noFill/>
        </p:spPr>
        <p:txBody>
          <a:bodyPr wrap="square" anchor="t" lIns="38100" rIns="38100" tIns="25400" bIns="25400">
            <a:spAutoFit/>
          </a:bodyPr>
          <a:lstStyle/>
          <a:p>
            <a:pPr algn="l">
              <a:lnSpc>
                <a:spcPct val="106000"/>
              </a:lnSpc>
              <a:spcBef>
                <a:spcPts val="0"/>
              </a:spcBef>
              <a:spcAft>
                <a:spcPts val="200"/>
              </a:spcAft>
            </a:pPr>
            <a:r>
              <a:rPr sz="1400" b="1" i="0">
                <a:solidFill>
                  <a:srgbClr val="FFFFFF"/>
                </a:solidFill>
                <a:latin typeface="Bricolage Grotesque"/>
              </a:rPr>
              <a:t>Evaluatie</a:t>
            </a:r>
          </a:p>
        </p:txBody>
      </p:sp>
      <p:sp>
        <p:nvSpPr>
          <p:cNvPr id="18" name="TextBox 17"/>
          <p:cNvSpPr txBox="1"/>
          <p:nvPr/>
        </p:nvSpPr>
        <p:spPr>
          <a:xfrm>
            <a:off x="685800" y="5815584"/>
            <a:ext cx="10789920" cy="457200"/>
          </a:xfrm>
          <a:prstGeom prst="rect">
            <a:avLst/>
          </a:prstGeom>
          <a:noFill/>
        </p:spPr>
        <p:txBody>
          <a:bodyPr wrap="square" anchor="t" lIns="38100" rIns="38100" tIns="25400" bIns="25400">
            <a:spAutoFit/>
          </a:bodyPr>
          <a:lstStyle/>
          <a:p>
            <a:pPr algn="l">
              <a:lnSpc>
                <a:spcPct val="112000"/>
              </a:lnSpc>
              <a:spcBef>
                <a:spcPts val="0"/>
              </a:spcBef>
              <a:spcAft>
                <a:spcPts val="200"/>
              </a:spcAft>
            </a:pPr>
            <a:r>
              <a:rPr sz="1150" b="0" i="0">
                <a:solidFill>
                  <a:srgbClr val="EEE8F5"/>
                </a:solidFill>
                <a:latin typeface="Inter"/>
              </a:rPr>
              <a:t>Tarea «Tarjeta de reencuentro» met rúbrica (4 criteria). LPD (III-Spa-d): presentarse 4·5·9 · datos 7·3 · países/nacionalidades 7·8·5 · ser/verbos 8·3 · género 8·7. U0 = opstap, geen zware toetsing.</a:t>
            </a:r>
          </a:p>
        </p:txBody>
      </p:sp>
      <p:sp>
        <p:nvSpPr>
          <p:cNvPr id="19" name="Rectangle 18"/>
          <p:cNvSpPr/>
          <p:nvPr/>
        </p:nvSpPr>
        <p:spPr>
          <a:xfrm>
            <a:off x="0" y="6547104"/>
            <a:ext cx="12191695" cy="310896"/>
          </a:xfrm>
          <a:prstGeom prst="rect">
            <a:avLst/>
          </a:prstGeom>
          <a:solidFill>
            <a:srgbClr val="F3EE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11480" y="6565392"/>
            <a:ext cx="5486400" cy="274320"/>
          </a:xfrm>
          <a:prstGeom prst="rect">
            <a:avLst/>
          </a:prstGeom>
          <a:noFill/>
        </p:spPr>
        <p:txBody>
          <a:bodyPr wrap="square" anchor="ctr" lIns="38100" rIns="38100" tIns="25400" bIns="25400">
            <a:spAutoFit/>
          </a:bodyPr>
          <a:lstStyle/>
          <a:p>
            <a:pPr algn="l">
              <a:lnSpc>
                <a:spcPct val="106000"/>
              </a:lnSpc>
              <a:spcBef>
                <a:spcPts val="0"/>
              </a:spcBef>
              <a:spcAft>
                <a:spcPts val="200"/>
              </a:spcAft>
            </a:pPr>
            <a:r>
              <a:rPr sz="1100" b="1" i="0">
                <a:solidFill>
                  <a:srgbClr val="7C56A9"/>
                </a:solidFill>
                <a:latin typeface="Inter"/>
              </a:rPr>
              <a:t>● </a:t>
            </a:r>
            <a:r>
              <a:rPr sz="950" b="0" i="0">
                <a:solidFill>
                  <a:srgbClr val="6A6E78"/>
                </a:solidFill>
                <a:latin typeface="Inter"/>
              </a:rPr>
              <a:t>U0 · ¡VOLVEMOS!   ·   C6+ · el reencuentro</a:t>
            </a:r>
          </a:p>
        </p:txBody>
      </p:sp>
      <p:sp>
        <p:nvSpPr>
          <p:cNvPr id="21" name="TextBox 20"/>
          <p:cNvSpPr txBox="1"/>
          <p:nvPr/>
        </p:nvSpPr>
        <p:spPr>
          <a:xfrm>
            <a:off x="8686800" y="6565392"/>
            <a:ext cx="3063240" cy="274320"/>
          </a:xfrm>
          <a:prstGeom prst="rect">
            <a:avLst/>
          </a:prstGeom>
          <a:noFill/>
        </p:spPr>
        <p:txBody>
          <a:bodyPr wrap="square" anchor="ctr" lIns="38100" rIns="38100" tIns="25400" bIns="25400">
            <a:spAutoFit/>
          </a:bodyPr>
          <a:lstStyle/>
          <a:p>
            <a:pPr algn="r">
              <a:lnSpc>
                <a:spcPct val="106000"/>
              </a:lnSpc>
              <a:spcBef>
                <a:spcPts val="0"/>
              </a:spcBef>
              <a:spcAft>
                <a:spcPts val="200"/>
              </a:spcAft>
            </a:pPr>
            <a:r>
              <a:rPr sz="900" b="0" i="1">
                <a:solidFill>
                  <a:srgbClr val="6A6E78"/>
                </a:solidFill>
                <a:latin typeface="Inter"/>
              </a:rPr>
              <a:t>Docentenversie — met oplossingen</a:t>
            </a:r>
          </a:p>
        </p:txBody>
      </p:sp>
      <p:sp>
        <p:nvSpPr>
          <p:cNvPr id="22" name="TextBox 21"/>
          <p:cNvSpPr txBox="1"/>
          <p:nvPr/>
        </p:nvSpPr>
        <p:spPr>
          <a:xfrm>
            <a:off x="11475720" y="6565392"/>
            <a:ext cx="457200" cy="274320"/>
          </a:xfrm>
          <a:prstGeom prst="rect">
            <a:avLst/>
          </a:prstGeom>
          <a:noFill/>
        </p:spPr>
        <p:txBody>
          <a:bodyPr wrap="square" anchor="ctr" lIns="38100" rIns="38100" tIns="25400" bIns="25400">
            <a:spAutoFit/>
          </a:bodyPr>
          <a:lstStyle/>
          <a:p>
            <a:pPr algn="r">
              <a:lnSpc>
                <a:spcPct val="106000"/>
              </a:lnSpc>
              <a:spcBef>
                <a:spcPts val="0"/>
              </a:spcBef>
              <a:spcAft>
                <a:spcPts val="200"/>
              </a:spcAft>
            </a:pPr>
            <a:r>
              <a:rPr sz="950" b="1" i="0">
                <a:solidFill>
                  <a:srgbClr val="5B3E83"/>
                </a:solidFill>
                <a:latin typeface="Inter"/>
              </a:rPr>
              <a:t>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Fondo"/>
          <p:cNvSpPr/>
          <p:nvPr/>
        </p:nvSpPr>
        <p:spPr>
          <a:xfrm>
            <a:off x="0" y="0"/>
            <a:ext cx="12191695" cy="6858000"/>
          </a:xfrm>
          <a:prstGeom prst="rect">
            <a:avLst/>
          </a:prstGeom>
          <a:solidFill>
            <a:srgbClr val="FC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Cabecera"/>
          <p:cNvSpPr/>
          <p:nvPr/>
        </p:nvSpPr>
        <p:spPr>
          <a:xfrm>
            <a:off x="0" y="0"/>
            <a:ext cx="12191695" cy="1078992"/>
          </a:xfrm>
          <a:prstGeom prst="rect">
            <a:avLst/>
          </a:prstGeom>
          <a:solidFill>
            <a:srgbClr val="7C56A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Chip"/>
          <p:cNvSpPr/>
          <p:nvPr/>
        </p:nvSpPr>
        <p:spPr>
          <a:xfrm>
            <a:off x="457200" y="182880"/>
            <a:ext cx="3017520" cy="292608"/>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ChipTxt"/>
          <p:cNvSpPr txBox="1"/>
          <p:nvPr/>
        </p:nvSpPr>
        <p:spPr>
          <a:xfrm>
            <a:off x="457200" y="173736"/>
            <a:ext cx="3017520" cy="310896"/>
          </a:xfrm>
          <a:prstGeom prst="rect">
            <a:avLst/>
          </a:prstGeom>
          <a:noFill/>
        </p:spPr>
        <p:txBody>
          <a:bodyPr wrap="square" anchor="ctr" lIns="45720" rIns="45720" tIns="27432" bIns="27432">
            <a:normAutofit/>
          </a:bodyPr>
          <a:lstStyle/>
          <a:p>
            <a:pPr algn="ctr"/>
            <a:r>
              <a:rPr sz="950" b="1">
                <a:solidFill>
                  <a:srgbClr val="5B3E83"/>
                </a:solidFill>
                <a:latin typeface="Inter"/>
              </a:rPr>
              <a:t>RETO 3 · SIMULATIE MET BEPERKING</a:t>
            </a:r>
          </a:p>
        </p:txBody>
      </p:sp>
      <p:sp>
        <p:nvSpPr>
          <p:cNvPr id="6" name="Titulo"/>
          <p:cNvSpPr txBox="1"/>
          <p:nvPr/>
        </p:nvSpPr>
        <p:spPr>
          <a:xfrm>
            <a:off x="457200" y="502920"/>
            <a:ext cx="8412480" cy="475488"/>
          </a:xfrm>
          <a:prstGeom prst="rect">
            <a:avLst/>
          </a:prstGeom>
          <a:noFill/>
        </p:spPr>
        <p:txBody>
          <a:bodyPr wrap="square" anchor="t" lIns="45720" rIns="45720" tIns="27432" bIns="27432">
            <a:normAutofit/>
          </a:bodyPr>
          <a:lstStyle/>
          <a:p>
            <a:pPr algn="l"/>
            <a:r>
              <a:rPr sz="2700" b="1">
                <a:solidFill>
                  <a:srgbClr val="FFFFFF"/>
                </a:solidFill>
                <a:latin typeface="Bricolage Grotesque"/>
              </a:rPr>
              <a:t>La entrevista de trabajo absurda</a:t>
            </a:r>
          </a:p>
        </p:txBody>
      </p:sp>
      <p:sp>
        <p:nvSpPr>
          <p:cNvPr id="7" name="Badges"/>
          <p:cNvSpPr txBox="1"/>
          <p:nvPr/>
        </p:nvSpPr>
        <p:spPr>
          <a:xfrm>
            <a:off x="9052560" y="256032"/>
            <a:ext cx="2651760" cy="640080"/>
          </a:xfrm>
          <a:prstGeom prst="rect">
            <a:avLst/>
          </a:prstGeom>
          <a:noFill/>
        </p:spPr>
        <p:txBody>
          <a:bodyPr wrap="square" anchor="t" lIns="45720" rIns="45720" tIns="27432" bIns="27432">
            <a:normAutofit/>
          </a:bodyPr>
          <a:lstStyle/>
          <a:p>
            <a:pPr algn="r"/>
            <a:r>
              <a:rPr sz="1000">
                <a:solidFill>
                  <a:srgbClr val="EEE8F5"/>
                </a:solidFill>
                <a:latin typeface="Inter"/>
              </a:rPr>
              <a:t>👥 En parejas</a:t>
            </a:r>
          </a:p>
          <a:p>
            <a:pPr algn="r"/>
            <a:r>
              <a:rPr sz="1000">
                <a:solidFill>
                  <a:srgbClr val="EEE8F5"/>
                </a:solidFill>
                <a:latin typeface="Inter"/>
              </a:rPr>
              <a:t>± 15 min · ★★★</a:t>
            </a:r>
          </a:p>
        </p:txBody>
      </p:sp>
      <p:sp>
        <p:nvSpPr>
          <p:cNvPr id="8" name="Gancho"/>
          <p:cNvSpPr txBox="1"/>
          <p:nvPr/>
        </p:nvSpPr>
        <p:spPr>
          <a:xfrm>
            <a:off x="457200" y="1225296"/>
            <a:ext cx="11274552" cy="566928"/>
          </a:xfrm>
          <a:prstGeom prst="rect">
            <a:avLst/>
          </a:prstGeom>
          <a:noFill/>
        </p:spPr>
        <p:txBody>
          <a:bodyPr wrap="square" anchor="t" lIns="45720" rIns="45720" tIns="27432" bIns="27432">
            <a:normAutofit/>
          </a:bodyPr>
          <a:lstStyle/>
          <a:p>
            <a:pPr algn="l"/>
            <a:r>
              <a:rPr sz="1600" b="1">
                <a:solidFill>
                  <a:srgbClr val="5B3E83"/>
                </a:solidFill>
                <a:latin typeface="Bricolage Grotesque"/>
              </a:rPr>
              <a:t>Probador de camas. Cuidador de pandas. Catador de helados. Y hay que convencer.</a:t>
            </a:r>
          </a:p>
          <a:p>
            <a:pPr algn="l"/>
            <a:r>
              <a:rPr sz="1100" i="1">
                <a:solidFill>
                  <a:srgbClr val="6A6E78"/>
                </a:solidFill>
                <a:latin typeface="Inter"/>
              </a:rPr>
              <a:t>Beroepsslaper. Pandaverzorger. IJsproever. En je moet overtuigen.</a:t>
            </a:r>
          </a:p>
        </p:txBody>
      </p:sp>
      <p:sp>
        <p:nvSpPr>
          <p:cNvPr id="9" name="ReglaCaja"/>
          <p:cNvSpPr/>
          <p:nvPr/>
        </p:nvSpPr>
        <p:spPr>
          <a:xfrm>
            <a:off x="457200" y="1847088"/>
            <a:ext cx="11274552" cy="658368"/>
          </a:xfrm>
          <a:prstGeom prst="roundRect">
            <a:avLst>
              <a:gd name="adj" fmla="val 5000"/>
            </a:avLst>
          </a:prstGeom>
          <a:solidFill>
            <a:srgbClr val="FBF3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glaTxt"/>
          <p:cNvSpPr txBox="1"/>
          <p:nvPr/>
        </p:nvSpPr>
        <p:spPr>
          <a:xfrm>
            <a:off x="603504" y="1883664"/>
            <a:ext cx="10972800" cy="585216"/>
          </a:xfrm>
          <a:prstGeom prst="rect">
            <a:avLst/>
          </a:prstGeom>
          <a:noFill/>
        </p:spPr>
        <p:txBody>
          <a:bodyPr wrap="square" anchor="t" lIns="45720" rIns="45720" tIns="27432" bIns="27432">
            <a:normAutofit/>
          </a:bodyPr>
          <a:lstStyle/>
          <a:p>
            <a:pPr algn="l"/>
            <a:r>
              <a:rPr sz="850" b="1">
                <a:solidFill>
                  <a:srgbClr val="B7860B"/>
                </a:solidFill>
                <a:latin typeface="Inter"/>
              </a:rPr>
              <a:t>LA REGLA DEL RETO</a:t>
            </a:r>
          </a:p>
          <a:p>
            <a:pPr algn="l"/>
            <a:r>
              <a:rPr sz="1100">
                <a:solidFill>
                  <a:srgbClr val="20242E"/>
                </a:solidFill>
                <a:latin typeface="Inter"/>
              </a:rPr>
              <a:t>Alles in het presente — geen verleden, geen toekomst. En op elke vraag antwoord je met een reden («porque…»), nooit met alleen «sí».</a:t>
            </a:r>
          </a:p>
        </p:txBody>
      </p:sp>
      <p:sp>
        <p:nvSpPr>
          <p:cNvPr id="11" name="Tarjeta 0"/>
          <p:cNvSpPr/>
          <p:nvPr/>
        </p:nvSpPr>
        <p:spPr>
          <a:xfrm>
            <a:off x="457200" y="2670048"/>
            <a:ext cx="2708910" cy="898398"/>
          </a:xfrm>
          <a:prstGeom prst="roundRect">
            <a:avLst>
              <a:gd name="adj" fmla="val 6000"/>
            </a:avLst>
          </a:prstGeom>
          <a:solidFill>
            <a:srgbClr val="FFFFFF"/>
          </a:solidFill>
          <a:ln w="12700">
            <a:solidFill>
              <a:srgbClr val="E4E3D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arjetaTxt 0"/>
          <p:cNvSpPr txBox="1"/>
          <p:nvPr/>
        </p:nvSpPr>
        <p:spPr>
          <a:xfrm>
            <a:off x="548640" y="2724912"/>
            <a:ext cx="2526030" cy="788670"/>
          </a:xfrm>
          <a:prstGeom prst="rect">
            <a:avLst/>
          </a:prstGeom>
          <a:noFill/>
        </p:spPr>
        <p:txBody>
          <a:bodyPr wrap="square" anchor="t" lIns="45720" rIns="45720" tIns="27432" bIns="27432">
            <a:normAutofit/>
          </a:bodyPr>
          <a:lstStyle/>
          <a:p>
            <a:pPr algn="l"/>
            <a:r>
              <a:rPr sz="1100" b="1">
                <a:solidFill>
                  <a:srgbClr val="5B3E83"/>
                </a:solidFill>
                <a:latin typeface="Bricolage Grotesque"/>
              </a:rPr>
              <a:t>probador/-a de camas</a:t>
            </a:r>
          </a:p>
          <a:p>
            <a:pPr algn="l"/>
            <a:r>
              <a:rPr sz="1000">
                <a:solidFill>
                  <a:srgbClr val="20242E"/>
                </a:solidFill>
                <a:latin typeface="Inter"/>
              </a:rPr>
              <a:t>duermes ocho horas al día, por trabajo</a:t>
            </a:r>
          </a:p>
        </p:txBody>
      </p:sp>
      <p:sp>
        <p:nvSpPr>
          <p:cNvPr id="13" name="Tarjeta 1"/>
          <p:cNvSpPr/>
          <p:nvPr/>
        </p:nvSpPr>
        <p:spPr>
          <a:xfrm>
            <a:off x="3312414" y="2670048"/>
            <a:ext cx="2708910" cy="898398"/>
          </a:xfrm>
          <a:prstGeom prst="roundRect">
            <a:avLst>
              <a:gd name="adj" fmla="val 6000"/>
            </a:avLst>
          </a:prstGeom>
          <a:solidFill>
            <a:srgbClr val="FFFFFF"/>
          </a:solidFill>
          <a:ln w="12700">
            <a:solidFill>
              <a:srgbClr val="E4E3D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arjetaTxt 1"/>
          <p:cNvSpPr txBox="1"/>
          <p:nvPr/>
        </p:nvSpPr>
        <p:spPr>
          <a:xfrm>
            <a:off x="3403854" y="2724912"/>
            <a:ext cx="2526030" cy="788670"/>
          </a:xfrm>
          <a:prstGeom prst="rect">
            <a:avLst/>
          </a:prstGeom>
          <a:noFill/>
        </p:spPr>
        <p:txBody>
          <a:bodyPr wrap="square" anchor="t" lIns="45720" rIns="45720" tIns="27432" bIns="27432">
            <a:normAutofit/>
          </a:bodyPr>
          <a:lstStyle/>
          <a:p>
            <a:pPr algn="l"/>
            <a:r>
              <a:rPr sz="1100" b="1">
                <a:solidFill>
                  <a:srgbClr val="5B3E83"/>
                </a:solidFill>
                <a:latin typeface="Bricolage Grotesque"/>
              </a:rPr>
              <a:t>cuidador/-a de pandas</a:t>
            </a:r>
          </a:p>
          <a:p>
            <a:pPr algn="l"/>
            <a:r>
              <a:rPr sz="1000">
                <a:solidFill>
                  <a:srgbClr val="20242E"/>
                </a:solidFill>
                <a:latin typeface="Inter"/>
              </a:rPr>
              <a:t>en China, con dos pandas de un año</a:t>
            </a:r>
          </a:p>
        </p:txBody>
      </p:sp>
      <p:sp>
        <p:nvSpPr>
          <p:cNvPr id="15" name="Tarjeta 2"/>
          <p:cNvSpPr/>
          <p:nvPr/>
        </p:nvSpPr>
        <p:spPr>
          <a:xfrm>
            <a:off x="6167628" y="2670048"/>
            <a:ext cx="2708910" cy="898398"/>
          </a:xfrm>
          <a:prstGeom prst="roundRect">
            <a:avLst>
              <a:gd name="adj" fmla="val 6000"/>
            </a:avLst>
          </a:prstGeom>
          <a:solidFill>
            <a:srgbClr val="FFFFFF"/>
          </a:solidFill>
          <a:ln w="12700">
            <a:solidFill>
              <a:srgbClr val="E4E3D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arjetaTxt 2"/>
          <p:cNvSpPr txBox="1"/>
          <p:nvPr/>
        </p:nvSpPr>
        <p:spPr>
          <a:xfrm>
            <a:off x="6259068" y="2724912"/>
            <a:ext cx="2526030" cy="788670"/>
          </a:xfrm>
          <a:prstGeom prst="rect">
            <a:avLst/>
          </a:prstGeom>
          <a:noFill/>
        </p:spPr>
        <p:txBody>
          <a:bodyPr wrap="square" anchor="t" lIns="45720" rIns="45720" tIns="27432" bIns="27432">
            <a:normAutofit/>
          </a:bodyPr>
          <a:lstStyle/>
          <a:p>
            <a:pPr algn="l"/>
            <a:r>
              <a:rPr sz="1100" b="1">
                <a:solidFill>
                  <a:srgbClr val="5B3E83"/>
                </a:solidFill>
                <a:latin typeface="Bricolage Grotesque"/>
              </a:rPr>
              <a:t>catador/-a de helados</a:t>
            </a:r>
          </a:p>
          <a:p>
            <a:pPr algn="l"/>
            <a:r>
              <a:rPr sz="1000">
                <a:solidFill>
                  <a:srgbClr val="20242E"/>
                </a:solidFill>
                <a:latin typeface="Inter"/>
              </a:rPr>
              <a:t>veinte sabores al día, todo el año</a:t>
            </a:r>
          </a:p>
        </p:txBody>
      </p:sp>
      <p:sp>
        <p:nvSpPr>
          <p:cNvPr id="17" name="Tarjeta 3"/>
          <p:cNvSpPr/>
          <p:nvPr/>
        </p:nvSpPr>
        <p:spPr>
          <a:xfrm>
            <a:off x="9022842" y="2670048"/>
            <a:ext cx="2708910" cy="898398"/>
          </a:xfrm>
          <a:prstGeom prst="roundRect">
            <a:avLst>
              <a:gd name="adj" fmla="val 6000"/>
            </a:avLst>
          </a:prstGeom>
          <a:solidFill>
            <a:srgbClr val="FFFFFF"/>
          </a:solidFill>
          <a:ln w="12700">
            <a:solidFill>
              <a:srgbClr val="E4E3D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arjetaTxt 3"/>
          <p:cNvSpPr txBox="1"/>
          <p:nvPr/>
        </p:nvSpPr>
        <p:spPr>
          <a:xfrm>
            <a:off x="9114282" y="2724912"/>
            <a:ext cx="2526030" cy="788670"/>
          </a:xfrm>
          <a:prstGeom prst="rect">
            <a:avLst/>
          </a:prstGeom>
          <a:noFill/>
        </p:spPr>
        <p:txBody>
          <a:bodyPr wrap="square" anchor="t" lIns="45720" rIns="45720" tIns="27432" bIns="27432">
            <a:normAutofit/>
          </a:bodyPr>
          <a:lstStyle/>
          <a:p>
            <a:pPr algn="l"/>
            <a:r>
              <a:rPr sz="1100" b="1">
                <a:solidFill>
                  <a:srgbClr val="5B3E83"/>
                </a:solidFill>
                <a:latin typeface="Bricolage Grotesque"/>
              </a:rPr>
              <a:t>paseador/-a de perros</a:t>
            </a:r>
          </a:p>
          <a:p>
            <a:pPr algn="l"/>
            <a:r>
              <a:rPr sz="1000">
                <a:solidFill>
                  <a:srgbClr val="20242E"/>
                </a:solidFill>
                <a:latin typeface="Inter"/>
              </a:rPr>
              <a:t>quince perros a la vez, en el centro</a:t>
            </a:r>
          </a:p>
        </p:txBody>
      </p:sp>
      <p:sp>
        <p:nvSpPr>
          <p:cNvPr id="19" name="Tarjeta 4"/>
          <p:cNvSpPr/>
          <p:nvPr/>
        </p:nvSpPr>
        <p:spPr>
          <a:xfrm>
            <a:off x="457200" y="3696462"/>
            <a:ext cx="2708910" cy="898398"/>
          </a:xfrm>
          <a:prstGeom prst="roundRect">
            <a:avLst>
              <a:gd name="adj" fmla="val 6000"/>
            </a:avLst>
          </a:prstGeom>
          <a:solidFill>
            <a:srgbClr val="FFFFFF"/>
          </a:solidFill>
          <a:ln w="12700">
            <a:solidFill>
              <a:srgbClr val="E4E3D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arjetaTxt 4"/>
          <p:cNvSpPr txBox="1"/>
          <p:nvPr/>
        </p:nvSpPr>
        <p:spPr>
          <a:xfrm>
            <a:off x="548640" y="3751326"/>
            <a:ext cx="2526030" cy="788670"/>
          </a:xfrm>
          <a:prstGeom prst="rect">
            <a:avLst/>
          </a:prstGeom>
          <a:noFill/>
        </p:spPr>
        <p:txBody>
          <a:bodyPr wrap="square" anchor="t" lIns="45720" rIns="45720" tIns="27432" bIns="27432">
            <a:normAutofit/>
          </a:bodyPr>
          <a:lstStyle/>
          <a:p>
            <a:pPr algn="l"/>
            <a:r>
              <a:rPr sz="1100" b="1">
                <a:solidFill>
                  <a:srgbClr val="5B3E83"/>
                </a:solidFill>
                <a:latin typeface="Bricolage Grotesque"/>
              </a:rPr>
              <a:t>probador/-a de toboganes</a:t>
            </a:r>
          </a:p>
          <a:p>
            <a:pPr algn="l"/>
            <a:r>
              <a:rPr sz="1000">
                <a:solidFill>
                  <a:srgbClr val="20242E"/>
                </a:solidFill>
                <a:latin typeface="Inter"/>
              </a:rPr>
              <a:t>en parques acuáticos de todo el mundo</a:t>
            </a:r>
          </a:p>
        </p:txBody>
      </p:sp>
      <p:sp>
        <p:nvSpPr>
          <p:cNvPr id="21" name="Tarjeta 5"/>
          <p:cNvSpPr/>
          <p:nvPr/>
        </p:nvSpPr>
        <p:spPr>
          <a:xfrm>
            <a:off x="3312414" y="3696462"/>
            <a:ext cx="2708910" cy="898398"/>
          </a:xfrm>
          <a:prstGeom prst="roundRect">
            <a:avLst>
              <a:gd name="adj" fmla="val 6000"/>
            </a:avLst>
          </a:prstGeom>
          <a:solidFill>
            <a:srgbClr val="FFFFFF"/>
          </a:solidFill>
          <a:ln w="12700">
            <a:solidFill>
              <a:srgbClr val="E4E3D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arjetaTxt 5"/>
          <p:cNvSpPr txBox="1"/>
          <p:nvPr/>
        </p:nvSpPr>
        <p:spPr>
          <a:xfrm>
            <a:off x="3403854" y="3751326"/>
            <a:ext cx="2526030" cy="788670"/>
          </a:xfrm>
          <a:prstGeom prst="rect">
            <a:avLst/>
          </a:prstGeom>
          <a:noFill/>
        </p:spPr>
        <p:txBody>
          <a:bodyPr wrap="square" anchor="t" lIns="45720" rIns="45720" tIns="27432" bIns="27432">
            <a:normAutofit/>
          </a:bodyPr>
          <a:lstStyle/>
          <a:p>
            <a:pPr algn="l"/>
            <a:r>
              <a:rPr sz="1100" b="1">
                <a:solidFill>
                  <a:srgbClr val="5B3E83"/>
                </a:solidFill>
                <a:latin typeface="Bricolage Grotesque"/>
              </a:rPr>
              <a:t>oledor/-a de perfumes</a:t>
            </a:r>
          </a:p>
          <a:p>
            <a:pPr algn="l"/>
            <a:r>
              <a:rPr sz="1000">
                <a:solidFill>
                  <a:srgbClr val="20242E"/>
                </a:solidFill>
                <a:latin typeface="Inter"/>
              </a:rPr>
              <a:t>y no puedes resfriarte nunca</a:t>
            </a:r>
          </a:p>
        </p:txBody>
      </p:sp>
      <p:sp>
        <p:nvSpPr>
          <p:cNvPr id="23" name="Tarjeta 6"/>
          <p:cNvSpPr/>
          <p:nvPr/>
        </p:nvSpPr>
        <p:spPr>
          <a:xfrm>
            <a:off x="6167628" y="3696462"/>
            <a:ext cx="2708910" cy="898398"/>
          </a:xfrm>
          <a:prstGeom prst="roundRect">
            <a:avLst>
              <a:gd name="adj" fmla="val 6000"/>
            </a:avLst>
          </a:prstGeom>
          <a:solidFill>
            <a:srgbClr val="FFFFFF"/>
          </a:solidFill>
          <a:ln w="12700">
            <a:solidFill>
              <a:srgbClr val="E4E3D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arjetaTxt 6"/>
          <p:cNvSpPr txBox="1"/>
          <p:nvPr/>
        </p:nvSpPr>
        <p:spPr>
          <a:xfrm>
            <a:off x="6259068" y="3751326"/>
            <a:ext cx="2526030" cy="788670"/>
          </a:xfrm>
          <a:prstGeom prst="rect">
            <a:avLst/>
          </a:prstGeom>
          <a:noFill/>
        </p:spPr>
        <p:txBody>
          <a:bodyPr wrap="square" anchor="t" lIns="45720" rIns="45720" tIns="27432" bIns="27432">
            <a:normAutofit/>
          </a:bodyPr>
          <a:lstStyle/>
          <a:p>
            <a:pPr algn="l"/>
            <a:r>
              <a:rPr sz="1100" b="1">
                <a:solidFill>
                  <a:srgbClr val="5B3E83"/>
                </a:solidFill>
                <a:latin typeface="Bricolage Grotesque"/>
              </a:rPr>
              <a:t>Preguntas</a:t>
            </a:r>
          </a:p>
          <a:p>
            <a:pPr algn="l"/>
            <a:r>
              <a:rPr sz="1000">
                <a:solidFill>
                  <a:srgbClr val="20242E"/>
                </a:solidFill>
                <a:latin typeface="Inter"/>
              </a:rPr>
              <a:t>¿Por qué quiere este trabajo? · ¿Qué hace usted un día normal? · ¿Cuál es su mayor defecto?</a:t>
            </a:r>
          </a:p>
        </p:txBody>
      </p:sp>
      <p:sp>
        <p:nvSpPr>
          <p:cNvPr id="25" name="Tarjeta 7"/>
          <p:cNvSpPr/>
          <p:nvPr/>
        </p:nvSpPr>
        <p:spPr>
          <a:xfrm>
            <a:off x="9022842" y="3696462"/>
            <a:ext cx="2708910" cy="898398"/>
          </a:xfrm>
          <a:prstGeom prst="roundRect">
            <a:avLst>
              <a:gd name="adj" fmla="val 6000"/>
            </a:avLst>
          </a:prstGeom>
          <a:solidFill>
            <a:srgbClr val="FFFFFF"/>
          </a:solidFill>
          <a:ln w="12700">
            <a:solidFill>
              <a:srgbClr val="E4E3D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arjetaTxt 7"/>
          <p:cNvSpPr txBox="1"/>
          <p:nvPr/>
        </p:nvSpPr>
        <p:spPr>
          <a:xfrm>
            <a:off x="9114282" y="3751326"/>
            <a:ext cx="2526030" cy="788670"/>
          </a:xfrm>
          <a:prstGeom prst="rect">
            <a:avLst/>
          </a:prstGeom>
          <a:noFill/>
        </p:spPr>
        <p:txBody>
          <a:bodyPr wrap="square" anchor="t" lIns="45720" rIns="45720" tIns="27432" bIns="27432">
            <a:normAutofit/>
          </a:bodyPr>
          <a:lstStyle/>
          <a:p>
            <a:pPr algn="l"/>
            <a:r>
              <a:rPr sz="1100" b="1">
                <a:solidFill>
                  <a:srgbClr val="5B3E83"/>
                </a:solidFill>
                <a:latin typeface="Bricolage Grotesque"/>
              </a:rPr>
              <a:t>Preguntas</a:t>
            </a:r>
          </a:p>
          <a:p>
            <a:pPr algn="l"/>
            <a:r>
              <a:rPr sz="1000">
                <a:solidFill>
                  <a:srgbClr val="20242E"/>
                </a:solidFill>
                <a:latin typeface="Inter"/>
              </a:rPr>
              <a:t>¿Trabaja mejor solo o en equipo? · ¿Qué hace si algo sale mal? · ¿Cuántas horas duerme?</a:t>
            </a:r>
          </a:p>
        </p:txBody>
      </p:sp>
      <p:sp>
        <p:nvSpPr>
          <p:cNvPr id="27" name="Tarjeta 8"/>
          <p:cNvSpPr/>
          <p:nvPr/>
        </p:nvSpPr>
        <p:spPr>
          <a:xfrm>
            <a:off x="457200" y="4722876"/>
            <a:ext cx="2708910" cy="898398"/>
          </a:xfrm>
          <a:prstGeom prst="roundRect">
            <a:avLst>
              <a:gd name="adj" fmla="val 6000"/>
            </a:avLst>
          </a:prstGeom>
          <a:solidFill>
            <a:srgbClr val="FFFFFF"/>
          </a:solidFill>
          <a:ln w="12700">
            <a:solidFill>
              <a:srgbClr val="E4E3D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arjetaTxt 8"/>
          <p:cNvSpPr txBox="1"/>
          <p:nvPr/>
        </p:nvSpPr>
        <p:spPr>
          <a:xfrm>
            <a:off x="548640" y="4777740"/>
            <a:ext cx="2526030" cy="788670"/>
          </a:xfrm>
          <a:prstGeom prst="rect">
            <a:avLst/>
          </a:prstGeom>
          <a:noFill/>
        </p:spPr>
        <p:txBody>
          <a:bodyPr wrap="square" anchor="t" lIns="45720" rIns="45720" tIns="27432" bIns="27432">
            <a:normAutofit/>
          </a:bodyPr>
          <a:lstStyle/>
          <a:p>
            <a:pPr algn="l"/>
            <a:r>
              <a:rPr sz="1100" b="1">
                <a:solidFill>
                  <a:srgbClr val="5B3E83"/>
                </a:solidFill>
                <a:latin typeface="Bricolage Grotesque"/>
              </a:rPr>
              <a:t>Preguntas</a:t>
            </a:r>
          </a:p>
          <a:p>
            <a:pPr algn="l"/>
            <a:r>
              <a:rPr sz="1000">
                <a:solidFill>
                  <a:srgbClr val="20242E"/>
                </a:solidFill>
                <a:latin typeface="Inter"/>
              </a:rPr>
              <a:t>¿Habla otras lenguas? · ¿Por qué usted y no otro?</a:t>
            </a:r>
          </a:p>
        </p:txBody>
      </p:sp>
      <p:sp>
        <p:nvSpPr>
          <p:cNvPr id="29" name="Tarjeta 9"/>
          <p:cNvSpPr/>
          <p:nvPr/>
        </p:nvSpPr>
        <p:spPr>
          <a:xfrm>
            <a:off x="3312414" y="4722876"/>
            <a:ext cx="2708910" cy="898398"/>
          </a:xfrm>
          <a:prstGeom prst="roundRect">
            <a:avLst>
              <a:gd name="adj" fmla="val 6000"/>
            </a:avLst>
          </a:prstGeom>
          <a:solidFill>
            <a:srgbClr val="FFFFFF"/>
          </a:solidFill>
          <a:ln w="12700">
            <a:solidFill>
              <a:srgbClr val="E4E3D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arjetaTxt 9"/>
          <p:cNvSpPr txBox="1"/>
          <p:nvPr/>
        </p:nvSpPr>
        <p:spPr>
          <a:xfrm>
            <a:off x="3403854" y="4777740"/>
            <a:ext cx="2526030" cy="788670"/>
          </a:xfrm>
          <a:prstGeom prst="rect">
            <a:avLst/>
          </a:prstGeom>
          <a:noFill/>
        </p:spPr>
        <p:txBody>
          <a:bodyPr wrap="square" anchor="t" lIns="45720" rIns="45720" tIns="27432" bIns="27432">
            <a:normAutofit/>
          </a:bodyPr>
          <a:lstStyle/>
          <a:p>
            <a:pPr algn="l"/>
            <a:r>
              <a:rPr sz="1100" b="1">
                <a:solidFill>
                  <a:srgbClr val="5B3E83"/>
                </a:solidFill>
                <a:latin typeface="Bricolage Grotesque"/>
              </a:rPr>
              <a:t>marco</a:t>
            </a:r>
          </a:p>
          <a:p>
            <a:pPr algn="l"/>
            <a:r>
              <a:rPr sz="1000">
                <a:solidFill>
                  <a:srgbClr val="20242E"/>
                </a:solidFill>
                <a:latin typeface="Inter"/>
              </a:rPr>
              <a:t>Quiero este trabajo porque …</a:t>
            </a:r>
          </a:p>
        </p:txBody>
      </p:sp>
      <p:sp>
        <p:nvSpPr>
          <p:cNvPr id="31" name="Tarjeta 10"/>
          <p:cNvSpPr/>
          <p:nvPr/>
        </p:nvSpPr>
        <p:spPr>
          <a:xfrm>
            <a:off x="6167628" y="4722876"/>
            <a:ext cx="2708910" cy="898398"/>
          </a:xfrm>
          <a:prstGeom prst="roundRect">
            <a:avLst>
              <a:gd name="adj" fmla="val 6000"/>
            </a:avLst>
          </a:prstGeom>
          <a:solidFill>
            <a:srgbClr val="FFFFFF"/>
          </a:solidFill>
          <a:ln w="12700">
            <a:solidFill>
              <a:srgbClr val="E4E3D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arjetaTxt 10"/>
          <p:cNvSpPr txBox="1"/>
          <p:nvPr/>
        </p:nvSpPr>
        <p:spPr>
          <a:xfrm>
            <a:off x="6259068" y="4777740"/>
            <a:ext cx="2526030" cy="788670"/>
          </a:xfrm>
          <a:prstGeom prst="rect">
            <a:avLst/>
          </a:prstGeom>
          <a:noFill/>
        </p:spPr>
        <p:txBody>
          <a:bodyPr wrap="square" anchor="t" lIns="45720" rIns="45720" tIns="27432" bIns="27432">
            <a:normAutofit/>
          </a:bodyPr>
          <a:lstStyle/>
          <a:p>
            <a:pPr algn="l"/>
            <a:r>
              <a:rPr sz="1100" b="1">
                <a:solidFill>
                  <a:srgbClr val="5B3E83"/>
                </a:solidFill>
                <a:latin typeface="Bricolage Grotesque"/>
              </a:rPr>
              <a:t>marco</a:t>
            </a:r>
          </a:p>
          <a:p>
            <a:pPr algn="l"/>
            <a:r>
              <a:rPr sz="1000">
                <a:solidFill>
                  <a:srgbClr val="20242E"/>
                </a:solidFill>
                <a:latin typeface="Inter"/>
              </a:rPr>
              <a:t>Normalmente … y después …</a:t>
            </a:r>
          </a:p>
        </p:txBody>
      </p:sp>
      <p:sp>
        <p:nvSpPr>
          <p:cNvPr id="33" name="Tarjeta 11"/>
          <p:cNvSpPr/>
          <p:nvPr/>
        </p:nvSpPr>
        <p:spPr>
          <a:xfrm>
            <a:off x="9022842" y="4722876"/>
            <a:ext cx="2708910" cy="898398"/>
          </a:xfrm>
          <a:prstGeom prst="roundRect">
            <a:avLst>
              <a:gd name="adj" fmla="val 6000"/>
            </a:avLst>
          </a:prstGeom>
          <a:solidFill>
            <a:srgbClr val="FFFFFF"/>
          </a:solidFill>
          <a:ln w="12700">
            <a:solidFill>
              <a:srgbClr val="E4E3D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arjetaTxt 11"/>
          <p:cNvSpPr txBox="1"/>
          <p:nvPr/>
        </p:nvSpPr>
        <p:spPr>
          <a:xfrm>
            <a:off x="9114282" y="4777740"/>
            <a:ext cx="2526030" cy="788670"/>
          </a:xfrm>
          <a:prstGeom prst="rect">
            <a:avLst/>
          </a:prstGeom>
          <a:noFill/>
        </p:spPr>
        <p:txBody>
          <a:bodyPr wrap="square" anchor="t" lIns="45720" rIns="45720" tIns="27432" bIns="27432">
            <a:normAutofit/>
          </a:bodyPr>
          <a:lstStyle/>
          <a:p>
            <a:pPr algn="l"/>
            <a:r>
              <a:rPr sz="1100" b="1">
                <a:solidFill>
                  <a:srgbClr val="5B3E83"/>
                </a:solidFill>
                <a:latin typeface="Bricolage Grotesque"/>
              </a:rPr>
              <a:t>marco</a:t>
            </a:r>
          </a:p>
          <a:p>
            <a:pPr algn="l"/>
            <a:r>
              <a:rPr sz="1000">
                <a:solidFill>
                  <a:srgbClr val="20242E"/>
                </a:solidFill>
                <a:latin typeface="Inter"/>
              </a:rPr>
              <a:t>Mi defecto es que … , pero …</a:t>
            </a:r>
          </a:p>
        </p:txBody>
      </p:sp>
      <p:sp>
        <p:nvSpPr>
          <p:cNvPr id="35" name="Tarjeta 12"/>
          <p:cNvSpPr/>
          <p:nvPr/>
        </p:nvSpPr>
        <p:spPr>
          <a:xfrm>
            <a:off x="457200" y="5749290"/>
            <a:ext cx="2708910" cy="898398"/>
          </a:xfrm>
          <a:prstGeom prst="roundRect">
            <a:avLst>
              <a:gd name="adj" fmla="val 6000"/>
            </a:avLst>
          </a:prstGeom>
          <a:solidFill>
            <a:srgbClr val="FFFFFF"/>
          </a:solidFill>
          <a:ln w="12700">
            <a:solidFill>
              <a:srgbClr val="E4E3D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TarjetaTxt 12"/>
          <p:cNvSpPr txBox="1"/>
          <p:nvPr/>
        </p:nvSpPr>
        <p:spPr>
          <a:xfrm>
            <a:off x="548640" y="5804154"/>
            <a:ext cx="2526030" cy="788670"/>
          </a:xfrm>
          <a:prstGeom prst="rect">
            <a:avLst/>
          </a:prstGeom>
          <a:noFill/>
        </p:spPr>
        <p:txBody>
          <a:bodyPr wrap="square" anchor="t" lIns="45720" rIns="45720" tIns="27432" bIns="27432">
            <a:normAutofit/>
          </a:bodyPr>
          <a:lstStyle/>
          <a:p>
            <a:pPr algn="l"/>
            <a:r>
              <a:rPr sz="1100" b="1">
                <a:solidFill>
                  <a:srgbClr val="5B3E83"/>
                </a:solidFill>
                <a:latin typeface="Bricolage Grotesque"/>
              </a:rPr>
              <a:t>marco</a:t>
            </a:r>
          </a:p>
          <a:p>
            <a:pPr algn="l"/>
            <a:r>
              <a:rPr sz="1000">
                <a:solidFill>
                  <a:srgbClr val="20242E"/>
                </a:solidFill>
                <a:latin typeface="Inter"/>
              </a:rPr>
              <a:t>Si algo sale mal, …</a:t>
            </a:r>
          </a:p>
        </p:txBody>
      </p:sp>
      <p:sp>
        <p:nvSpPr>
          <p:cNvPr id="37" name="Tarjeta 13"/>
          <p:cNvSpPr/>
          <p:nvPr/>
        </p:nvSpPr>
        <p:spPr>
          <a:xfrm>
            <a:off x="3312414" y="5749290"/>
            <a:ext cx="2708910" cy="898398"/>
          </a:xfrm>
          <a:prstGeom prst="roundRect">
            <a:avLst>
              <a:gd name="adj" fmla="val 6000"/>
            </a:avLst>
          </a:prstGeom>
          <a:solidFill>
            <a:srgbClr val="FFFFFF"/>
          </a:solidFill>
          <a:ln w="12700">
            <a:solidFill>
              <a:srgbClr val="E4E3D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arjetaTxt 13"/>
          <p:cNvSpPr txBox="1"/>
          <p:nvPr/>
        </p:nvSpPr>
        <p:spPr>
          <a:xfrm>
            <a:off x="3403854" y="5804154"/>
            <a:ext cx="2526030" cy="788670"/>
          </a:xfrm>
          <a:prstGeom prst="rect">
            <a:avLst/>
          </a:prstGeom>
          <a:noFill/>
        </p:spPr>
        <p:txBody>
          <a:bodyPr wrap="square" anchor="t" lIns="45720" rIns="45720" tIns="27432" bIns="27432">
            <a:normAutofit/>
          </a:bodyPr>
          <a:lstStyle/>
          <a:p>
            <a:pPr algn="l"/>
            <a:r>
              <a:rPr sz="1100" b="1">
                <a:solidFill>
                  <a:srgbClr val="5B3E83"/>
                </a:solidFill>
                <a:latin typeface="Bricolage Grotesque"/>
              </a:rPr>
              <a:t>marco</a:t>
            </a:r>
          </a:p>
          <a:p>
            <a:pPr algn="l"/>
            <a:r>
              <a:rPr sz="1000">
                <a:solidFill>
                  <a:srgbClr val="20242E"/>
                </a:solidFill>
                <a:latin typeface="Inter"/>
              </a:rPr>
              <a:t>Soy la persona ideal porque …</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Fondo"/>
          <p:cNvSpPr/>
          <p:nvPr/>
        </p:nvSpPr>
        <p:spPr>
          <a:xfrm>
            <a:off x="0" y="0"/>
            <a:ext cx="12191695" cy="6858000"/>
          </a:xfrm>
          <a:prstGeom prst="rect">
            <a:avLst/>
          </a:prstGeom>
          <a:solidFill>
            <a:srgbClr val="FC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Cabecera"/>
          <p:cNvSpPr/>
          <p:nvPr/>
        </p:nvSpPr>
        <p:spPr>
          <a:xfrm>
            <a:off x="0" y="0"/>
            <a:ext cx="12191695" cy="1078992"/>
          </a:xfrm>
          <a:prstGeom prst="rect">
            <a:avLst/>
          </a:prstGeom>
          <a:solidFill>
            <a:srgbClr val="7C56A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Chip"/>
          <p:cNvSpPr/>
          <p:nvPr/>
        </p:nvSpPr>
        <p:spPr>
          <a:xfrm>
            <a:off x="457200" y="182880"/>
            <a:ext cx="3017520" cy="292608"/>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ChipTxt"/>
          <p:cNvSpPr txBox="1"/>
          <p:nvPr/>
        </p:nvSpPr>
        <p:spPr>
          <a:xfrm>
            <a:off x="457200" y="173736"/>
            <a:ext cx="3017520" cy="310896"/>
          </a:xfrm>
          <a:prstGeom prst="rect">
            <a:avLst/>
          </a:prstGeom>
          <a:noFill/>
        </p:spPr>
        <p:txBody>
          <a:bodyPr wrap="square" anchor="ctr" lIns="45720" rIns="45720" tIns="27432" bIns="27432">
            <a:normAutofit/>
          </a:bodyPr>
          <a:lstStyle/>
          <a:p>
            <a:pPr algn="ctr"/>
            <a:r>
              <a:rPr sz="950" b="1">
                <a:solidFill>
                  <a:srgbClr val="5B3E83"/>
                </a:solidFill>
                <a:latin typeface="Inter"/>
              </a:rPr>
              <a:t>RETO 9 · ONDERZOEK &amp; DATA</a:t>
            </a:r>
          </a:p>
        </p:txBody>
      </p:sp>
      <p:sp>
        <p:nvSpPr>
          <p:cNvPr id="6" name="Titulo"/>
          <p:cNvSpPr txBox="1"/>
          <p:nvPr/>
        </p:nvSpPr>
        <p:spPr>
          <a:xfrm>
            <a:off x="457200" y="502920"/>
            <a:ext cx="8412480" cy="475488"/>
          </a:xfrm>
          <a:prstGeom prst="rect">
            <a:avLst/>
          </a:prstGeom>
          <a:noFill/>
        </p:spPr>
        <p:txBody>
          <a:bodyPr wrap="square" anchor="t" lIns="45720" rIns="45720" tIns="27432" bIns="27432">
            <a:normAutofit/>
          </a:bodyPr>
          <a:lstStyle/>
          <a:p>
            <a:pPr algn="l"/>
            <a:r>
              <a:rPr sz="2700" b="1">
                <a:solidFill>
                  <a:srgbClr val="FFFFFF"/>
                </a:solidFill>
                <a:latin typeface="Bricolage Grotesque"/>
              </a:rPr>
              <a:t>Un país en cinco datos</a:t>
            </a:r>
          </a:p>
        </p:txBody>
      </p:sp>
      <p:sp>
        <p:nvSpPr>
          <p:cNvPr id="7" name="Badges"/>
          <p:cNvSpPr txBox="1"/>
          <p:nvPr/>
        </p:nvSpPr>
        <p:spPr>
          <a:xfrm>
            <a:off x="9052560" y="256032"/>
            <a:ext cx="2651760" cy="640080"/>
          </a:xfrm>
          <a:prstGeom prst="rect">
            <a:avLst/>
          </a:prstGeom>
          <a:noFill/>
        </p:spPr>
        <p:txBody>
          <a:bodyPr wrap="square" anchor="t" lIns="45720" rIns="45720" tIns="27432" bIns="27432">
            <a:normAutofit/>
          </a:bodyPr>
          <a:lstStyle/>
          <a:p>
            <a:pPr algn="r"/>
            <a:r>
              <a:rPr sz="1000">
                <a:solidFill>
                  <a:srgbClr val="EEE8F5"/>
                </a:solidFill>
                <a:latin typeface="Inter"/>
              </a:rPr>
              <a:t>👤 Solo</a:t>
            </a:r>
          </a:p>
          <a:p>
            <a:pPr algn="r"/>
            <a:r>
              <a:rPr sz="1000">
                <a:solidFill>
                  <a:srgbClr val="EEE8F5"/>
                </a:solidFill>
                <a:latin typeface="Inter"/>
              </a:rPr>
              <a:t>± 15 min · ★★★</a:t>
            </a:r>
          </a:p>
        </p:txBody>
      </p:sp>
      <p:sp>
        <p:nvSpPr>
          <p:cNvPr id="8" name="Gancho"/>
          <p:cNvSpPr txBox="1"/>
          <p:nvPr/>
        </p:nvSpPr>
        <p:spPr>
          <a:xfrm>
            <a:off x="457200" y="1225296"/>
            <a:ext cx="11274552" cy="566928"/>
          </a:xfrm>
          <a:prstGeom prst="rect">
            <a:avLst/>
          </a:prstGeom>
          <a:noFill/>
        </p:spPr>
        <p:txBody>
          <a:bodyPr wrap="square" anchor="t" lIns="45720" rIns="45720" tIns="27432" bIns="27432">
            <a:normAutofit/>
          </a:bodyPr>
          <a:lstStyle/>
          <a:p>
            <a:pPr algn="l"/>
            <a:r>
              <a:rPr sz="1600" b="1">
                <a:solidFill>
                  <a:srgbClr val="5B3E83"/>
                </a:solidFill>
                <a:latin typeface="Bricolage Grotesque"/>
              </a:rPr>
              <a:t>Cinco cifras y ni una vez el nombre del país.</a:t>
            </a:r>
          </a:p>
          <a:p>
            <a:pPr algn="l"/>
            <a:r>
              <a:rPr sz="1100" i="1">
                <a:solidFill>
                  <a:srgbClr val="6A6E78"/>
                </a:solidFill>
                <a:latin typeface="Inter"/>
              </a:rPr>
              <a:t>Vijf cijfers en geen enkele keer de naam van het land.</a:t>
            </a:r>
          </a:p>
        </p:txBody>
      </p:sp>
      <p:sp>
        <p:nvSpPr>
          <p:cNvPr id="9" name="ReglaCaja"/>
          <p:cNvSpPr/>
          <p:nvPr/>
        </p:nvSpPr>
        <p:spPr>
          <a:xfrm>
            <a:off x="457200" y="1847088"/>
            <a:ext cx="11274552" cy="658368"/>
          </a:xfrm>
          <a:prstGeom prst="roundRect">
            <a:avLst>
              <a:gd name="adj" fmla="val 5000"/>
            </a:avLst>
          </a:prstGeom>
          <a:solidFill>
            <a:srgbClr val="FBF3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glaTxt"/>
          <p:cNvSpPr txBox="1"/>
          <p:nvPr/>
        </p:nvSpPr>
        <p:spPr>
          <a:xfrm>
            <a:off x="603504" y="1883664"/>
            <a:ext cx="10972800" cy="585216"/>
          </a:xfrm>
          <a:prstGeom prst="rect">
            <a:avLst/>
          </a:prstGeom>
          <a:noFill/>
        </p:spPr>
        <p:txBody>
          <a:bodyPr wrap="square" anchor="t" lIns="45720" rIns="45720" tIns="27432" bIns="27432">
            <a:normAutofit/>
          </a:bodyPr>
          <a:lstStyle/>
          <a:p>
            <a:pPr algn="l"/>
            <a:r>
              <a:rPr sz="850" b="1">
                <a:solidFill>
                  <a:srgbClr val="B7860B"/>
                </a:solidFill>
                <a:latin typeface="Inter"/>
              </a:rPr>
              <a:t>LA REGLA DEL RETO</a:t>
            </a:r>
          </a:p>
          <a:p>
            <a:pPr algn="l"/>
            <a:r>
              <a:rPr sz="1100">
                <a:solidFill>
                  <a:srgbClr val="20242E"/>
                </a:solidFill>
                <a:latin typeface="Inter"/>
              </a:rPr>
              <a:t>De landnaam, de hoofdstad en de vlag zijn verboden. Alleen cijfers, en elk cijfer krijgt een zin met een werkwoord — een lijstje getallen is geen presentatie.</a:t>
            </a:r>
          </a:p>
        </p:txBody>
      </p:sp>
      <p:sp>
        <p:nvSpPr>
          <p:cNvPr id="11" name="Tarjeta 0"/>
          <p:cNvSpPr/>
          <p:nvPr/>
        </p:nvSpPr>
        <p:spPr>
          <a:xfrm>
            <a:off x="457200" y="2670048"/>
            <a:ext cx="2708910" cy="898398"/>
          </a:xfrm>
          <a:prstGeom prst="roundRect">
            <a:avLst>
              <a:gd name="adj" fmla="val 6000"/>
            </a:avLst>
          </a:prstGeom>
          <a:solidFill>
            <a:srgbClr val="FFFFFF"/>
          </a:solidFill>
          <a:ln w="12700">
            <a:solidFill>
              <a:srgbClr val="E4E3D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arjetaTxt 0"/>
          <p:cNvSpPr txBox="1"/>
          <p:nvPr/>
        </p:nvSpPr>
        <p:spPr>
          <a:xfrm>
            <a:off x="548640" y="2724912"/>
            <a:ext cx="2526030" cy="788670"/>
          </a:xfrm>
          <a:prstGeom prst="rect">
            <a:avLst/>
          </a:prstGeom>
          <a:noFill/>
        </p:spPr>
        <p:txBody>
          <a:bodyPr wrap="square" anchor="t" lIns="45720" rIns="45720" tIns="27432" bIns="27432">
            <a:normAutofit/>
          </a:bodyPr>
          <a:lstStyle/>
          <a:p>
            <a:pPr algn="l"/>
            <a:r>
              <a:rPr sz="1100" b="1">
                <a:solidFill>
                  <a:srgbClr val="5B3E83"/>
                </a:solidFill>
                <a:latin typeface="Bricolage Grotesque"/>
              </a:rPr>
              <a:t>Tipos de dato</a:t>
            </a:r>
          </a:p>
          <a:p>
            <a:pPr algn="l"/>
            <a:r>
              <a:rPr sz="1000">
                <a:solidFill>
                  <a:srgbClr val="20242E"/>
                </a:solidFill>
                <a:latin typeface="Inter"/>
              </a:rPr>
              <a:t>habitantes · kilómetros de costa · número de lenguas oficiales</a:t>
            </a:r>
          </a:p>
        </p:txBody>
      </p:sp>
      <p:sp>
        <p:nvSpPr>
          <p:cNvPr id="13" name="Tarjeta 1"/>
          <p:cNvSpPr/>
          <p:nvPr/>
        </p:nvSpPr>
        <p:spPr>
          <a:xfrm>
            <a:off x="3312414" y="2670048"/>
            <a:ext cx="2708910" cy="898398"/>
          </a:xfrm>
          <a:prstGeom prst="roundRect">
            <a:avLst>
              <a:gd name="adj" fmla="val 6000"/>
            </a:avLst>
          </a:prstGeom>
          <a:solidFill>
            <a:srgbClr val="FFFFFF"/>
          </a:solidFill>
          <a:ln w="12700">
            <a:solidFill>
              <a:srgbClr val="E4E3D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arjetaTxt 1"/>
          <p:cNvSpPr txBox="1"/>
          <p:nvPr/>
        </p:nvSpPr>
        <p:spPr>
          <a:xfrm>
            <a:off x="3403854" y="2724912"/>
            <a:ext cx="2526030" cy="788670"/>
          </a:xfrm>
          <a:prstGeom prst="rect">
            <a:avLst/>
          </a:prstGeom>
          <a:noFill/>
        </p:spPr>
        <p:txBody>
          <a:bodyPr wrap="square" anchor="t" lIns="45720" rIns="45720" tIns="27432" bIns="27432">
            <a:normAutofit/>
          </a:bodyPr>
          <a:lstStyle/>
          <a:p>
            <a:pPr algn="l"/>
            <a:r>
              <a:rPr sz="1100" b="1">
                <a:solidFill>
                  <a:srgbClr val="5B3E83"/>
                </a:solidFill>
                <a:latin typeface="Bricolage Grotesque"/>
              </a:rPr>
              <a:t>Tipos de dato</a:t>
            </a:r>
          </a:p>
          <a:p>
            <a:pPr algn="l"/>
            <a:r>
              <a:rPr sz="1000">
                <a:solidFill>
                  <a:srgbClr val="20242E"/>
                </a:solidFill>
                <a:latin typeface="Inter"/>
              </a:rPr>
              <a:t>altura de la capital · años de independencia · temperatura media en enero</a:t>
            </a:r>
          </a:p>
        </p:txBody>
      </p:sp>
      <p:sp>
        <p:nvSpPr>
          <p:cNvPr id="15" name="Tarjeta 2"/>
          <p:cNvSpPr/>
          <p:nvPr/>
        </p:nvSpPr>
        <p:spPr>
          <a:xfrm>
            <a:off x="6167628" y="2670048"/>
            <a:ext cx="2708910" cy="898398"/>
          </a:xfrm>
          <a:prstGeom prst="roundRect">
            <a:avLst>
              <a:gd name="adj" fmla="val 6000"/>
            </a:avLst>
          </a:prstGeom>
          <a:solidFill>
            <a:srgbClr val="FFFFFF"/>
          </a:solidFill>
          <a:ln w="12700">
            <a:solidFill>
              <a:srgbClr val="E4E3D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arjetaTxt 2"/>
          <p:cNvSpPr txBox="1"/>
          <p:nvPr/>
        </p:nvSpPr>
        <p:spPr>
          <a:xfrm>
            <a:off x="6259068" y="2724912"/>
            <a:ext cx="2526030" cy="788670"/>
          </a:xfrm>
          <a:prstGeom prst="rect">
            <a:avLst/>
          </a:prstGeom>
          <a:noFill/>
        </p:spPr>
        <p:txBody>
          <a:bodyPr wrap="square" anchor="t" lIns="45720" rIns="45720" tIns="27432" bIns="27432">
            <a:normAutofit/>
          </a:bodyPr>
          <a:lstStyle/>
          <a:p>
            <a:pPr algn="l"/>
            <a:r>
              <a:rPr sz="1100" b="1">
                <a:solidFill>
                  <a:srgbClr val="5B3E83"/>
                </a:solidFill>
                <a:latin typeface="Bricolage Grotesque"/>
              </a:rPr>
              <a:t>Tipos de dato</a:t>
            </a:r>
          </a:p>
          <a:p>
            <a:pPr algn="l"/>
            <a:r>
              <a:rPr sz="1000">
                <a:solidFill>
                  <a:srgbClr val="20242E"/>
                </a:solidFill>
                <a:latin typeface="Inter"/>
              </a:rPr>
              <a:t>número de países vecinos · porcentaje del país que es selva o montaña</a:t>
            </a:r>
          </a:p>
        </p:txBody>
      </p:sp>
      <p:sp>
        <p:nvSpPr>
          <p:cNvPr id="17" name="Tarjeta 3"/>
          <p:cNvSpPr/>
          <p:nvPr/>
        </p:nvSpPr>
        <p:spPr>
          <a:xfrm>
            <a:off x="9022842" y="2670048"/>
            <a:ext cx="2708910" cy="898398"/>
          </a:xfrm>
          <a:prstGeom prst="roundRect">
            <a:avLst>
              <a:gd name="adj" fmla="val 6000"/>
            </a:avLst>
          </a:prstGeom>
          <a:solidFill>
            <a:srgbClr val="FFFFFF"/>
          </a:solidFill>
          <a:ln w="12700">
            <a:solidFill>
              <a:srgbClr val="E4E3D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arjetaTxt 3"/>
          <p:cNvSpPr txBox="1"/>
          <p:nvPr/>
        </p:nvSpPr>
        <p:spPr>
          <a:xfrm>
            <a:off x="9114282" y="2724912"/>
            <a:ext cx="2526030" cy="788670"/>
          </a:xfrm>
          <a:prstGeom prst="rect">
            <a:avLst/>
          </a:prstGeom>
          <a:noFill/>
        </p:spPr>
        <p:txBody>
          <a:bodyPr wrap="square" anchor="t" lIns="45720" rIns="45720" tIns="27432" bIns="27432">
            <a:normAutofit/>
          </a:bodyPr>
          <a:lstStyle/>
          <a:p>
            <a:pPr algn="l"/>
            <a:r>
              <a:rPr sz="1100" b="1">
                <a:solidFill>
                  <a:srgbClr val="5B3E83"/>
                </a:solidFill>
                <a:latin typeface="Bricolage Grotesque"/>
              </a:rPr>
              <a:t>marco</a:t>
            </a:r>
          </a:p>
          <a:p>
            <a:pPr algn="l"/>
            <a:r>
              <a:rPr sz="1000">
                <a:solidFill>
                  <a:srgbClr val="20242E"/>
                </a:solidFill>
                <a:latin typeface="Inter"/>
              </a:rPr>
              <a:t>En mi país viven … millones de personas.</a:t>
            </a:r>
          </a:p>
        </p:txBody>
      </p:sp>
      <p:sp>
        <p:nvSpPr>
          <p:cNvPr id="19" name="Tarjeta 4"/>
          <p:cNvSpPr/>
          <p:nvPr/>
        </p:nvSpPr>
        <p:spPr>
          <a:xfrm>
            <a:off x="457200" y="3696462"/>
            <a:ext cx="2708910" cy="898398"/>
          </a:xfrm>
          <a:prstGeom prst="roundRect">
            <a:avLst>
              <a:gd name="adj" fmla="val 6000"/>
            </a:avLst>
          </a:prstGeom>
          <a:solidFill>
            <a:srgbClr val="FFFFFF"/>
          </a:solidFill>
          <a:ln w="12700">
            <a:solidFill>
              <a:srgbClr val="E4E3D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arjetaTxt 4"/>
          <p:cNvSpPr txBox="1"/>
          <p:nvPr/>
        </p:nvSpPr>
        <p:spPr>
          <a:xfrm>
            <a:off x="548640" y="3751326"/>
            <a:ext cx="2526030" cy="788670"/>
          </a:xfrm>
          <a:prstGeom prst="rect">
            <a:avLst/>
          </a:prstGeom>
          <a:noFill/>
        </p:spPr>
        <p:txBody>
          <a:bodyPr wrap="square" anchor="t" lIns="45720" rIns="45720" tIns="27432" bIns="27432">
            <a:normAutofit/>
          </a:bodyPr>
          <a:lstStyle/>
          <a:p>
            <a:pPr algn="l"/>
            <a:r>
              <a:rPr sz="1100" b="1">
                <a:solidFill>
                  <a:srgbClr val="5B3E83"/>
                </a:solidFill>
                <a:latin typeface="Bricolage Grotesque"/>
              </a:rPr>
              <a:t>marco</a:t>
            </a:r>
          </a:p>
          <a:p>
            <a:pPr algn="l"/>
            <a:r>
              <a:rPr sz="1000">
                <a:solidFill>
                  <a:srgbClr val="20242E"/>
                </a:solidFill>
                <a:latin typeface="Inter"/>
              </a:rPr>
              <a:t>Tiene … kilómetros de costa.</a:t>
            </a:r>
          </a:p>
        </p:txBody>
      </p:sp>
      <p:sp>
        <p:nvSpPr>
          <p:cNvPr id="21" name="Tarjeta 5"/>
          <p:cNvSpPr/>
          <p:nvPr/>
        </p:nvSpPr>
        <p:spPr>
          <a:xfrm>
            <a:off x="3312414" y="3696462"/>
            <a:ext cx="2708910" cy="898398"/>
          </a:xfrm>
          <a:prstGeom prst="roundRect">
            <a:avLst>
              <a:gd name="adj" fmla="val 6000"/>
            </a:avLst>
          </a:prstGeom>
          <a:solidFill>
            <a:srgbClr val="FFFFFF"/>
          </a:solidFill>
          <a:ln w="12700">
            <a:solidFill>
              <a:srgbClr val="E4E3D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arjetaTxt 5"/>
          <p:cNvSpPr txBox="1"/>
          <p:nvPr/>
        </p:nvSpPr>
        <p:spPr>
          <a:xfrm>
            <a:off x="3403854" y="3751326"/>
            <a:ext cx="2526030" cy="788670"/>
          </a:xfrm>
          <a:prstGeom prst="rect">
            <a:avLst/>
          </a:prstGeom>
          <a:noFill/>
        </p:spPr>
        <p:txBody>
          <a:bodyPr wrap="square" anchor="t" lIns="45720" rIns="45720" tIns="27432" bIns="27432">
            <a:normAutofit/>
          </a:bodyPr>
          <a:lstStyle/>
          <a:p>
            <a:pPr algn="l"/>
            <a:r>
              <a:rPr sz="1100" b="1">
                <a:solidFill>
                  <a:srgbClr val="5B3E83"/>
                </a:solidFill>
                <a:latin typeface="Bricolage Grotesque"/>
              </a:rPr>
              <a:t>marco</a:t>
            </a:r>
          </a:p>
          <a:p>
            <a:pPr algn="l"/>
            <a:r>
              <a:rPr sz="1000">
                <a:solidFill>
                  <a:srgbClr val="20242E"/>
                </a:solidFill>
                <a:latin typeface="Inter"/>
              </a:rPr>
              <a:t>Se hablan … lenguas oficiales.</a:t>
            </a:r>
          </a:p>
        </p:txBody>
      </p:sp>
      <p:sp>
        <p:nvSpPr>
          <p:cNvPr id="23" name="Tarjeta 6"/>
          <p:cNvSpPr/>
          <p:nvPr/>
        </p:nvSpPr>
        <p:spPr>
          <a:xfrm>
            <a:off x="6167628" y="3696462"/>
            <a:ext cx="2708910" cy="898398"/>
          </a:xfrm>
          <a:prstGeom prst="roundRect">
            <a:avLst>
              <a:gd name="adj" fmla="val 6000"/>
            </a:avLst>
          </a:prstGeom>
          <a:solidFill>
            <a:srgbClr val="FFFFFF"/>
          </a:solidFill>
          <a:ln w="12700">
            <a:solidFill>
              <a:srgbClr val="E4E3D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arjetaTxt 6"/>
          <p:cNvSpPr txBox="1"/>
          <p:nvPr/>
        </p:nvSpPr>
        <p:spPr>
          <a:xfrm>
            <a:off x="6259068" y="3751326"/>
            <a:ext cx="2526030" cy="788670"/>
          </a:xfrm>
          <a:prstGeom prst="rect">
            <a:avLst/>
          </a:prstGeom>
          <a:noFill/>
        </p:spPr>
        <p:txBody>
          <a:bodyPr wrap="square" anchor="t" lIns="45720" rIns="45720" tIns="27432" bIns="27432">
            <a:normAutofit/>
          </a:bodyPr>
          <a:lstStyle/>
          <a:p>
            <a:pPr algn="l"/>
            <a:r>
              <a:rPr sz="1100" b="1">
                <a:solidFill>
                  <a:srgbClr val="5B3E83"/>
                </a:solidFill>
                <a:latin typeface="Bricolage Grotesque"/>
              </a:rPr>
              <a:t>marco</a:t>
            </a:r>
          </a:p>
          <a:p>
            <a:pPr algn="l"/>
            <a:r>
              <a:rPr sz="1000">
                <a:solidFill>
                  <a:srgbClr val="20242E"/>
                </a:solidFill>
                <a:latin typeface="Inter"/>
              </a:rPr>
              <a:t>La capital está a … metros.</a:t>
            </a:r>
          </a:p>
        </p:txBody>
      </p:sp>
      <p:sp>
        <p:nvSpPr>
          <p:cNvPr id="25" name="Tarjeta 7"/>
          <p:cNvSpPr/>
          <p:nvPr/>
        </p:nvSpPr>
        <p:spPr>
          <a:xfrm>
            <a:off x="9022842" y="3696462"/>
            <a:ext cx="2708910" cy="898398"/>
          </a:xfrm>
          <a:prstGeom prst="roundRect">
            <a:avLst>
              <a:gd name="adj" fmla="val 6000"/>
            </a:avLst>
          </a:prstGeom>
          <a:solidFill>
            <a:srgbClr val="FFFFFF"/>
          </a:solidFill>
          <a:ln w="12700">
            <a:solidFill>
              <a:srgbClr val="E4E3D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arjetaTxt 7"/>
          <p:cNvSpPr txBox="1"/>
          <p:nvPr/>
        </p:nvSpPr>
        <p:spPr>
          <a:xfrm>
            <a:off x="9114282" y="3751326"/>
            <a:ext cx="2526030" cy="788670"/>
          </a:xfrm>
          <a:prstGeom prst="rect">
            <a:avLst/>
          </a:prstGeom>
          <a:noFill/>
        </p:spPr>
        <p:txBody>
          <a:bodyPr wrap="square" anchor="t" lIns="45720" rIns="45720" tIns="27432" bIns="27432">
            <a:normAutofit/>
          </a:bodyPr>
          <a:lstStyle/>
          <a:p>
            <a:pPr algn="l"/>
            <a:r>
              <a:rPr sz="1100" b="1">
                <a:solidFill>
                  <a:srgbClr val="5B3E83"/>
                </a:solidFill>
                <a:latin typeface="Bricolage Grotesque"/>
              </a:rPr>
              <a:t>marco</a:t>
            </a:r>
          </a:p>
          <a:p>
            <a:pPr algn="l"/>
            <a:r>
              <a:rPr sz="1000">
                <a:solidFill>
                  <a:srgbClr val="20242E"/>
                </a:solidFill>
                <a:latin typeface="Inter"/>
              </a:rPr>
              <a:t>Limita con … países.</a:t>
            </a:r>
          </a:p>
        </p:txBody>
      </p:sp>
      <p:sp>
        <p:nvSpPr>
          <p:cNvPr id="27" name="Tarjeta 8"/>
          <p:cNvSpPr/>
          <p:nvPr/>
        </p:nvSpPr>
        <p:spPr>
          <a:xfrm>
            <a:off x="457200" y="4722876"/>
            <a:ext cx="2708910" cy="898398"/>
          </a:xfrm>
          <a:prstGeom prst="roundRect">
            <a:avLst>
              <a:gd name="adj" fmla="val 6000"/>
            </a:avLst>
          </a:prstGeom>
          <a:solidFill>
            <a:srgbClr val="FFFFFF"/>
          </a:solidFill>
          <a:ln w="12700">
            <a:solidFill>
              <a:srgbClr val="E4E3D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arjetaTxt 8"/>
          <p:cNvSpPr txBox="1"/>
          <p:nvPr/>
        </p:nvSpPr>
        <p:spPr>
          <a:xfrm>
            <a:off x="548640" y="4777740"/>
            <a:ext cx="2526030" cy="788670"/>
          </a:xfrm>
          <a:prstGeom prst="rect">
            <a:avLst/>
          </a:prstGeom>
          <a:noFill/>
        </p:spPr>
        <p:txBody>
          <a:bodyPr wrap="square" anchor="t" lIns="45720" rIns="45720" tIns="27432" bIns="27432">
            <a:normAutofit/>
          </a:bodyPr>
          <a:lstStyle/>
          <a:p>
            <a:pPr algn="l"/>
            <a:r>
              <a:rPr sz="1100" b="1">
                <a:solidFill>
                  <a:srgbClr val="5B3E83"/>
                </a:solidFill>
                <a:latin typeface="Bricolage Grotesque"/>
              </a:rPr>
              <a:t>dato 1</a:t>
            </a:r>
          </a:p>
          <a:p>
            <a:pPr algn="l"/>
            <a:r>
              <a:rPr sz="1000">
                <a:solidFill>
                  <a:srgbClr val="20242E"/>
                </a:solidFill>
                <a:latin typeface="Inter"/>
              </a:rPr>
              <a:t>Viven unos 6,5 millones de personas.</a:t>
            </a:r>
          </a:p>
        </p:txBody>
      </p:sp>
      <p:sp>
        <p:nvSpPr>
          <p:cNvPr id="29" name="Tarjeta 9"/>
          <p:cNvSpPr/>
          <p:nvPr/>
        </p:nvSpPr>
        <p:spPr>
          <a:xfrm>
            <a:off x="3312414" y="4722876"/>
            <a:ext cx="2708910" cy="898398"/>
          </a:xfrm>
          <a:prstGeom prst="roundRect">
            <a:avLst>
              <a:gd name="adj" fmla="val 6000"/>
            </a:avLst>
          </a:prstGeom>
          <a:solidFill>
            <a:srgbClr val="FFFFFF"/>
          </a:solidFill>
          <a:ln w="12700">
            <a:solidFill>
              <a:srgbClr val="E4E3D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arjetaTxt 9"/>
          <p:cNvSpPr txBox="1"/>
          <p:nvPr/>
        </p:nvSpPr>
        <p:spPr>
          <a:xfrm>
            <a:off x="3403854" y="4777740"/>
            <a:ext cx="2526030" cy="788670"/>
          </a:xfrm>
          <a:prstGeom prst="rect">
            <a:avLst/>
          </a:prstGeom>
          <a:noFill/>
        </p:spPr>
        <p:txBody>
          <a:bodyPr wrap="square" anchor="t" lIns="45720" rIns="45720" tIns="27432" bIns="27432">
            <a:normAutofit/>
          </a:bodyPr>
          <a:lstStyle/>
          <a:p>
            <a:pPr algn="l"/>
            <a:r>
              <a:rPr sz="1100" b="1">
                <a:solidFill>
                  <a:srgbClr val="5B3E83"/>
                </a:solidFill>
                <a:latin typeface="Bricolage Grotesque"/>
              </a:rPr>
              <a:t>dato 2</a:t>
            </a:r>
          </a:p>
          <a:p>
            <a:pPr algn="l"/>
            <a:r>
              <a:rPr sz="1000">
                <a:solidFill>
                  <a:srgbClr val="20242E"/>
                </a:solidFill>
                <a:latin typeface="Inter"/>
              </a:rPr>
              <a:t>Se hablan dos lenguas oficiales.</a:t>
            </a:r>
          </a:p>
        </p:txBody>
      </p:sp>
      <p:sp>
        <p:nvSpPr>
          <p:cNvPr id="31" name="Tarjeta 10"/>
          <p:cNvSpPr/>
          <p:nvPr/>
        </p:nvSpPr>
        <p:spPr>
          <a:xfrm>
            <a:off x="6167628" y="4722876"/>
            <a:ext cx="2708910" cy="898398"/>
          </a:xfrm>
          <a:prstGeom prst="roundRect">
            <a:avLst>
              <a:gd name="adj" fmla="val 6000"/>
            </a:avLst>
          </a:prstGeom>
          <a:solidFill>
            <a:srgbClr val="FFFFFF"/>
          </a:solidFill>
          <a:ln w="12700">
            <a:solidFill>
              <a:srgbClr val="E4E3D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arjetaTxt 10"/>
          <p:cNvSpPr txBox="1"/>
          <p:nvPr/>
        </p:nvSpPr>
        <p:spPr>
          <a:xfrm>
            <a:off x="6259068" y="4777740"/>
            <a:ext cx="2526030" cy="788670"/>
          </a:xfrm>
          <a:prstGeom prst="rect">
            <a:avLst/>
          </a:prstGeom>
          <a:noFill/>
        </p:spPr>
        <p:txBody>
          <a:bodyPr wrap="square" anchor="t" lIns="45720" rIns="45720" tIns="27432" bIns="27432">
            <a:normAutofit/>
          </a:bodyPr>
          <a:lstStyle/>
          <a:p>
            <a:pPr algn="l"/>
            <a:r>
              <a:rPr sz="1100" b="1">
                <a:solidFill>
                  <a:srgbClr val="5B3E83"/>
                </a:solidFill>
                <a:latin typeface="Bricolage Grotesque"/>
              </a:rPr>
              <a:t>dato 3</a:t>
            </a:r>
          </a:p>
          <a:p>
            <a:pPr algn="l"/>
            <a:r>
              <a:rPr sz="1000">
                <a:solidFill>
                  <a:srgbClr val="20242E"/>
                </a:solidFill>
                <a:latin typeface="Inter"/>
              </a:rPr>
              <a:t>No tiene costa.</a:t>
            </a:r>
          </a:p>
        </p:txBody>
      </p:sp>
      <p:sp>
        <p:nvSpPr>
          <p:cNvPr id="33" name="Tarjeta 11"/>
          <p:cNvSpPr/>
          <p:nvPr/>
        </p:nvSpPr>
        <p:spPr>
          <a:xfrm>
            <a:off x="9022842" y="4722876"/>
            <a:ext cx="2708910" cy="898398"/>
          </a:xfrm>
          <a:prstGeom prst="roundRect">
            <a:avLst>
              <a:gd name="adj" fmla="val 6000"/>
            </a:avLst>
          </a:prstGeom>
          <a:solidFill>
            <a:srgbClr val="FFFFFF"/>
          </a:solidFill>
          <a:ln w="12700">
            <a:solidFill>
              <a:srgbClr val="E4E3D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arjetaTxt 11"/>
          <p:cNvSpPr txBox="1"/>
          <p:nvPr/>
        </p:nvSpPr>
        <p:spPr>
          <a:xfrm>
            <a:off x="9114282" y="4777740"/>
            <a:ext cx="2526030" cy="788670"/>
          </a:xfrm>
          <a:prstGeom prst="rect">
            <a:avLst/>
          </a:prstGeom>
          <a:noFill/>
        </p:spPr>
        <p:txBody>
          <a:bodyPr wrap="square" anchor="t" lIns="45720" rIns="45720" tIns="27432" bIns="27432">
            <a:normAutofit/>
          </a:bodyPr>
          <a:lstStyle/>
          <a:p>
            <a:pPr algn="l"/>
            <a:r>
              <a:rPr sz="1100" b="1">
                <a:solidFill>
                  <a:srgbClr val="5B3E83"/>
                </a:solidFill>
                <a:latin typeface="Bricolage Grotesque"/>
              </a:rPr>
              <a:t>dato 4</a:t>
            </a:r>
          </a:p>
          <a:p>
            <a:pPr algn="l"/>
            <a:r>
              <a:rPr sz="1000">
                <a:solidFill>
                  <a:srgbClr val="20242E"/>
                </a:solidFill>
                <a:latin typeface="Inter"/>
              </a:rPr>
              <a:t>Limita con cinco países.</a:t>
            </a:r>
          </a:p>
        </p:txBody>
      </p:sp>
      <p:sp>
        <p:nvSpPr>
          <p:cNvPr id="35" name="Tarjeta 12"/>
          <p:cNvSpPr/>
          <p:nvPr/>
        </p:nvSpPr>
        <p:spPr>
          <a:xfrm>
            <a:off x="457200" y="5749290"/>
            <a:ext cx="2708910" cy="898398"/>
          </a:xfrm>
          <a:prstGeom prst="roundRect">
            <a:avLst>
              <a:gd name="adj" fmla="val 6000"/>
            </a:avLst>
          </a:prstGeom>
          <a:solidFill>
            <a:srgbClr val="FFFFFF"/>
          </a:solidFill>
          <a:ln w="12700">
            <a:solidFill>
              <a:srgbClr val="E4E3D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TarjetaTxt 12"/>
          <p:cNvSpPr txBox="1"/>
          <p:nvPr/>
        </p:nvSpPr>
        <p:spPr>
          <a:xfrm>
            <a:off x="548640" y="5804154"/>
            <a:ext cx="2526030" cy="788670"/>
          </a:xfrm>
          <a:prstGeom prst="rect">
            <a:avLst/>
          </a:prstGeom>
          <a:noFill/>
        </p:spPr>
        <p:txBody>
          <a:bodyPr wrap="square" anchor="t" lIns="45720" rIns="45720" tIns="27432" bIns="27432">
            <a:normAutofit/>
          </a:bodyPr>
          <a:lstStyle/>
          <a:p>
            <a:pPr algn="l"/>
            <a:r>
              <a:rPr sz="1100" b="1">
                <a:solidFill>
                  <a:srgbClr val="5B3E83"/>
                </a:solidFill>
                <a:latin typeface="Bricolage Grotesque"/>
              </a:rPr>
              <a:t>dato 5</a:t>
            </a:r>
          </a:p>
          <a:p>
            <a:pPr algn="l"/>
            <a:r>
              <a:rPr sz="1000">
                <a:solidFill>
                  <a:srgbClr val="20242E"/>
                </a:solidFill>
                <a:latin typeface="Inter"/>
              </a:rPr>
              <a:t>El 90 % habla una lengua indígena.</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Fondo"/>
          <p:cNvSpPr/>
          <p:nvPr/>
        </p:nvSpPr>
        <p:spPr>
          <a:xfrm>
            <a:off x="0" y="0"/>
            <a:ext cx="12191695" cy="6858000"/>
          </a:xfrm>
          <a:prstGeom prst="rect">
            <a:avLst/>
          </a:prstGeom>
          <a:solidFill>
            <a:srgbClr val="FC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Cabecera"/>
          <p:cNvSpPr/>
          <p:nvPr/>
        </p:nvSpPr>
        <p:spPr>
          <a:xfrm>
            <a:off x="0" y="0"/>
            <a:ext cx="12191695" cy="1078992"/>
          </a:xfrm>
          <a:prstGeom prst="rect">
            <a:avLst/>
          </a:prstGeom>
          <a:solidFill>
            <a:srgbClr val="7C56A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Chip"/>
          <p:cNvSpPr/>
          <p:nvPr/>
        </p:nvSpPr>
        <p:spPr>
          <a:xfrm>
            <a:off x="457200" y="182880"/>
            <a:ext cx="3017520" cy="292608"/>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ChipTxt"/>
          <p:cNvSpPr txBox="1"/>
          <p:nvPr/>
        </p:nvSpPr>
        <p:spPr>
          <a:xfrm>
            <a:off x="457200" y="173736"/>
            <a:ext cx="3017520" cy="310896"/>
          </a:xfrm>
          <a:prstGeom prst="rect">
            <a:avLst/>
          </a:prstGeom>
          <a:noFill/>
        </p:spPr>
        <p:txBody>
          <a:bodyPr wrap="square" anchor="ctr" lIns="45720" rIns="45720" tIns="27432" bIns="27432">
            <a:normAutofit/>
          </a:bodyPr>
          <a:lstStyle/>
          <a:p>
            <a:pPr algn="ctr"/>
            <a:r>
              <a:rPr sz="950" b="1">
                <a:solidFill>
                  <a:srgbClr val="5B3E83"/>
                </a:solidFill>
                <a:latin typeface="Inter"/>
              </a:rPr>
              <a:t>RETO 10 · ONDERHANDELING &amp; DILEMMA</a:t>
            </a:r>
          </a:p>
        </p:txBody>
      </p:sp>
      <p:sp>
        <p:nvSpPr>
          <p:cNvPr id="6" name="Titulo"/>
          <p:cNvSpPr txBox="1"/>
          <p:nvPr/>
        </p:nvSpPr>
        <p:spPr>
          <a:xfrm>
            <a:off x="457200" y="502920"/>
            <a:ext cx="8412480" cy="475488"/>
          </a:xfrm>
          <a:prstGeom prst="rect">
            <a:avLst/>
          </a:prstGeom>
          <a:noFill/>
        </p:spPr>
        <p:txBody>
          <a:bodyPr wrap="square" anchor="t" lIns="45720" rIns="45720" tIns="27432" bIns="27432">
            <a:normAutofit/>
          </a:bodyPr>
          <a:lstStyle/>
          <a:p>
            <a:pPr algn="l"/>
            <a:r>
              <a:rPr sz="2700" b="1">
                <a:solidFill>
                  <a:srgbClr val="FFFFFF"/>
                </a:solidFill>
                <a:latin typeface="Bricolage Grotesque"/>
              </a:rPr>
              <a:t>La clase perfecta</a:t>
            </a:r>
          </a:p>
        </p:txBody>
      </p:sp>
      <p:sp>
        <p:nvSpPr>
          <p:cNvPr id="7" name="Badges"/>
          <p:cNvSpPr txBox="1"/>
          <p:nvPr/>
        </p:nvSpPr>
        <p:spPr>
          <a:xfrm>
            <a:off x="9052560" y="256032"/>
            <a:ext cx="2651760" cy="640080"/>
          </a:xfrm>
          <a:prstGeom prst="rect">
            <a:avLst/>
          </a:prstGeom>
          <a:noFill/>
        </p:spPr>
        <p:txBody>
          <a:bodyPr wrap="square" anchor="t" lIns="45720" rIns="45720" tIns="27432" bIns="27432">
            <a:normAutofit/>
          </a:bodyPr>
          <a:lstStyle/>
          <a:p>
            <a:pPr algn="r"/>
            <a:r>
              <a:rPr sz="1000">
                <a:solidFill>
                  <a:srgbClr val="EEE8F5"/>
                </a:solidFill>
                <a:latin typeface="Inter"/>
              </a:rPr>
              <a:t>🏫 Toda la clase</a:t>
            </a:r>
          </a:p>
          <a:p>
            <a:pPr algn="r"/>
            <a:r>
              <a:rPr sz="1000">
                <a:solidFill>
                  <a:srgbClr val="EEE8F5"/>
                </a:solidFill>
                <a:latin typeface="Inter"/>
              </a:rPr>
              <a:t>± 18 min · ★★★</a:t>
            </a:r>
          </a:p>
        </p:txBody>
      </p:sp>
      <p:sp>
        <p:nvSpPr>
          <p:cNvPr id="8" name="Gancho"/>
          <p:cNvSpPr txBox="1"/>
          <p:nvPr/>
        </p:nvSpPr>
        <p:spPr>
          <a:xfrm>
            <a:off x="457200" y="1225296"/>
            <a:ext cx="11274552" cy="566928"/>
          </a:xfrm>
          <a:prstGeom prst="rect">
            <a:avLst/>
          </a:prstGeom>
          <a:noFill/>
        </p:spPr>
        <p:txBody>
          <a:bodyPr wrap="square" anchor="t" lIns="45720" rIns="45720" tIns="27432" bIns="27432">
            <a:normAutofit/>
          </a:bodyPr>
          <a:lstStyle/>
          <a:p>
            <a:pPr algn="l"/>
            <a:r>
              <a:rPr sz="1600" b="1">
                <a:solidFill>
                  <a:srgbClr val="5B3E83"/>
                </a:solidFill>
                <a:latin typeface="Bricolage Grotesque"/>
              </a:rPr>
              <a:t>Vosotros escribís las reglas de este curso. Pero en español.</a:t>
            </a:r>
          </a:p>
          <a:p>
            <a:pPr algn="l"/>
            <a:r>
              <a:rPr sz="1100" i="1">
                <a:solidFill>
                  <a:srgbClr val="6A6E78"/>
                </a:solidFill>
                <a:latin typeface="Inter"/>
              </a:rPr>
              <a:t>Jullie schrijven de afspraken van dit schooljaar. Maar in het Spaans.</a:t>
            </a:r>
          </a:p>
        </p:txBody>
      </p:sp>
      <p:sp>
        <p:nvSpPr>
          <p:cNvPr id="9" name="ReglaCaja"/>
          <p:cNvSpPr/>
          <p:nvPr/>
        </p:nvSpPr>
        <p:spPr>
          <a:xfrm>
            <a:off x="457200" y="1847088"/>
            <a:ext cx="11274552" cy="658368"/>
          </a:xfrm>
          <a:prstGeom prst="roundRect">
            <a:avLst>
              <a:gd name="adj" fmla="val 5000"/>
            </a:avLst>
          </a:prstGeom>
          <a:solidFill>
            <a:srgbClr val="FBF3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glaTxt"/>
          <p:cNvSpPr txBox="1"/>
          <p:nvPr/>
        </p:nvSpPr>
        <p:spPr>
          <a:xfrm>
            <a:off x="603504" y="1883664"/>
            <a:ext cx="10972800" cy="585216"/>
          </a:xfrm>
          <a:prstGeom prst="rect">
            <a:avLst/>
          </a:prstGeom>
          <a:noFill/>
        </p:spPr>
        <p:txBody>
          <a:bodyPr wrap="square" anchor="t" lIns="45720" rIns="45720" tIns="27432" bIns="27432">
            <a:normAutofit/>
          </a:bodyPr>
          <a:lstStyle/>
          <a:p>
            <a:pPr algn="l"/>
            <a:r>
              <a:rPr sz="850" b="1">
                <a:solidFill>
                  <a:srgbClr val="B7860B"/>
                </a:solidFill>
                <a:latin typeface="Inter"/>
              </a:rPr>
              <a:t>LA REGLA DEL RETO</a:t>
            </a:r>
          </a:p>
          <a:p>
            <a:pPr algn="l"/>
            <a:r>
              <a:rPr sz="1100">
                <a:solidFill>
                  <a:srgbClr val="20242E"/>
                </a:solidFill>
                <a:latin typeface="Inter"/>
              </a:rPr>
              <a:t>Elk voorstel bevat een zin met «es» of «está» — «es importante que hablemos español» mag niet, want dat is subjuntivo; «es importante hablar español» wel. Een voorstel zonder ser of estar komt niet op het bord.</a:t>
            </a:r>
          </a:p>
        </p:txBody>
      </p:sp>
      <p:sp>
        <p:nvSpPr>
          <p:cNvPr id="11" name="Tarjeta 0"/>
          <p:cNvSpPr/>
          <p:nvPr/>
        </p:nvSpPr>
        <p:spPr>
          <a:xfrm>
            <a:off x="457200" y="2670048"/>
            <a:ext cx="2708910" cy="898398"/>
          </a:xfrm>
          <a:prstGeom prst="roundRect">
            <a:avLst>
              <a:gd name="adj" fmla="val 6000"/>
            </a:avLst>
          </a:prstGeom>
          <a:solidFill>
            <a:srgbClr val="FFFFFF"/>
          </a:solidFill>
          <a:ln w="12700">
            <a:solidFill>
              <a:srgbClr val="E4E3D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arjetaTxt 0"/>
          <p:cNvSpPr txBox="1"/>
          <p:nvPr/>
        </p:nvSpPr>
        <p:spPr>
          <a:xfrm>
            <a:off x="548640" y="2724912"/>
            <a:ext cx="2526030" cy="587502"/>
          </a:xfrm>
          <a:prstGeom prst="rect">
            <a:avLst/>
          </a:prstGeom>
          <a:noFill/>
        </p:spPr>
        <p:txBody>
          <a:bodyPr wrap="square" anchor="t" lIns="45720" rIns="45720" tIns="27432" bIns="27432">
            <a:normAutofit/>
          </a:bodyPr>
          <a:lstStyle/>
          <a:p>
            <a:pPr algn="l"/>
            <a:r>
              <a:rPr sz="1100" b="1">
                <a:solidFill>
                  <a:srgbClr val="5B3E83"/>
                </a:solidFill>
                <a:latin typeface="Bricolage Grotesque"/>
              </a:rPr>
              <a:t>ejemplo</a:t>
            </a:r>
          </a:p>
          <a:p>
            <a:pPr algn="l"/>
            <a:r>
              <a:rPr sz="1000">
                <a:solidFill>
                  <a:srgbClr val="20242E"/>
                </a:solidFill>
                <a:latin typeface="Inter"/>
              </a:rPr>
              <a:t>Es importante llegar a tiempo.</a:t>
            </a:r>
          </a:p>
        </p:txBody>
      </p:sp>
      <p:sp>
        <p:nvSpPr>
          <p:cNvPr id="13" name="Onthul 0"/>
          <p:cNvSpPr/>
          <p:nvPr/>
        </p:nvSpPr>
        <p:spPr>
          <a:xfrm>
            <a:off x="548640" y="3275838"/>
            <a:ext cx="2526030" cy="237744"/>
          </a:xfrm>
          <a:prstGeom prst="roundRect">
            <a:avLst>
              <a:gd name="adj" fmla="val 20000"/>
            </a:avLst>
          </a:prstGeom>
          <a:solidFill>
            <a:srgbClr val="EEE8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OnthulTxt 0"/>
          <p:cNvSpPr txBox="1"/>
          <p:nvPr/>
        </p:nvSpPr>
        <p:spPr>
          <a:xfrm>
            <a:off x="566928" y="3275838"/>
            <a:ext cx="2489454" cy="237744"/>
          </a:xfrm>
          <a:prstGeom prst="rect">
            <a:avLst/>
          </a:prstGeom>
          <a:noFill/>
        </p:spPr>
        <p:txBody>
          <a:bodyPr wrap="square" anchor="ctr" lIns="45720" rIns="45720" tIns="27432" bIns="27432">
            <a:normAutofit/>
          </a:bodyPr>
          <a:lstStyle/>
          <a:p>
            <a:pPr algn="l"/>
            <a:r>
              <a:rPr sz="850" b="1">
                <a:solidFill>
                  <a:srgbClr val="5B3E83"/>
                </a:solidFill>
                <a:latin typeface="Inter"/>
              </a:rPr>
              <a:t>una regla de todos</a:t>
            </a:r>
          </a:p>
        </p:txBody>
      </p:sp>
      <p:sp>
        <p:nvSpPr>
          <p:cNvPr id="15" name="Tarjeta 1"/>
          <p:cNvSpPr/>
          <p:nvPr/>
        </p:nvSpPr>
        <p:spPr>
          <a:xfrm>
            <a:off x="3312414" y="2670048"/>
            <a:ext cx="2708910" cy="898398"/>
          </a:xfrm>
          <a:prstGeom prst="roundRect">
            <a:avLst>
              <a:gd name="adj" fmla="val 6000"/>
            </a:avLst>
          </a:prstGeom>
          <a:solidFill>
            <a:srgbClr val="FFFFFF"/>
          </a:solidFill>
          <a:ln w="12700">
            <a:solidFill>
              <a:srgbClr val="E4E3D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arjetaTxt 1"/>
          <p:cNvSpPr txBox="1"/>
          <p:nvPr/>
        </p:nvSpPr>
        <p:spPr>
          <a:xfrm>
            <a:off x="3403854" y="2724912"/>
            <a:ext cx="2526030" cy="587502"/>
          </a:xfrm>
          <a:prstGeom prst="rect">
            <a:avLst/>
          </a:prstGeom>
          <a:noFill/>
        </p:spPr>
        <p:txBody>
          <a:bodyPr wrap="square" anchor="t" lIns="45720" rIns="45720" tIns="27432" bIns="27432">
            <a:normAutofit/>
          </a:bodyPr>
          <a:lstStyle/>
          <a:p>
            <a:pPr algn="l"/>
            <a:r>
              <a:rPr sz="1100" b="1">
                <a:solidFill>
                  <a:srgbClr val="5B3E83"/>
                </a:solidFill>
                <a:latin typeface="Bricolage Grotesque"/>
              </a:rPr>
              <a:t>ejemplo</a:t>
            </a:r>
          </a:p>
          <a:p>
            <a:pPr algn="l"/>
            <a:r>
              <a:rPr sz="1000">
                <a:solidFill>
                  <a:srgbClr val="20242E"/>
                </a:solidFill>
                <a:latin typeface="Inter"/>
              </a:rPr>
              <a:t>Está prohibido usar el móvil en los ejercicios orales.</a:t>
            </a:r>
          </a:p>
        </p:txBody>
      </p:sp>
      <p:sp>
        <p:nvSpPr>
          <p:cNvPr id="17" name="Onthul 1"/>
          <p:cNvSpPr/>
          <p:nvPr/>
        </p:nvSpPr>
        <p:spPr>
          <a:xfrm>
            <a:off x="3403854" y="3275838"/>
            <a:ext cx="2526030" cy="237744"/>
          </a:xfrm>
          <a:prstGeom prst="roundRect">
            <a:avLst>
              <a:gd name="adj" fmla="val 20000"/>
            </a:avLst>
          </a:prstGeom>
          <a:solidFill>
            <a:srgbClr val="EEE8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nthulTxt 1"/>
          <p:cNvSpPr txBox="1"/>
          <p:nvPr/>
        </p:nvSpPr>
        <p:spPr>
          <a:xfrm>
            <a:off x="3422142" y="3275838"/>
            <a:ext cx="2489454" cy="237744"/>
          </a:xfrm>
          <a:prstGeom prst="rect">
            <a:avLst/>
          </a:prstGeom>
          <a:noFill/>
        </p:spPr>
        <p:txBody>
          <a:bodyPr wrap="square" anchor="ctr" lIns="45720" rIns="45720" tIns="27432" bIns="27432">
            <a:normAutofit/>
          </a:bodyPr>
          <a:lstStyle/>
          <a:p>
            <a:pPr algn="l"/>
            <a:r>
              <a:rPr sz="850" b="1">
                <a:solidFill>
                  <a:srgbClr val="5B3E83"/>
                </a:solidFill>
                <a:latin typeface="Inter"/>
              </a:rPr>
              <a:t>una prohibición</a:t>
            </a:r>
          </a:p>
        </p:txBody>
      </p:sp>
      <p:sp>
        <p:nvSpPr>
          <p:cNvPr id="19" name="Tarjeta 2"/>
          <p:cNvSpPr/>
          <p:nvPr/>
        </p:nvSpPr>
        <p:spPr>
          <a:xfrm>
            <a:off x="6167628" y="2670048"/>
            <a:ext cx="2708910" cy="898398"/>
          </a:xfrm>
          <a:prstGeom prst="roundRect">
            <a:avLst>
              <a:gd name="adj" fmla="val 6000"/>
            </a:avLst>
          </a:prstGeom>
          <a:solidFill>
            <a:srgbClr val="FFFFFF"/>
          </a:solidFill>
          <a:ln w="12700">
            <a:solidFill>
              <a:srgbClr val="E4E3D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arjetaTxt 2"/>
          <p:cNvSpPr txBox="1"/>
          <p:nvPr/>
        </p:nvSpPr>
        <p:spPr>
          <a:xfrm>
            <a:off x="6259068" y="2724912"/>
            <a:ext cx="2526030" cy="587502"/>
          </a:xfrm>
          <a:prstGeom prst="rect">
            <a:avLst/>
          </a:prstGeom>
          <a:noFill/>
        </p:spPr>
        <p:txBody>
          <a:bodyPr wrap="square" anchor="t" lIns="45720" rIns="45720" tIns="27432" bIns="27432">
            <a:normAutofit/>
          </a:bodyPr>
          <a:lstStyle/>
          <a:p>
            <a:pPr algn="l"/>
            <a:r>
              <a:rPr sz="1100" b="1">
                <a:solidFill>
                  <a:srgbClr val="5B3E83"/>
                </a:solidFill>
                <a:latin typeface="Bricolage Grotesque"/>
              </a:rPr>
              <a:t>ejemplo</a:t>
            </a:r>
          </a:p>
          <a:p>
            <a:pPr algn="l"/>
            <a:r>
              <a:rPr sz="1000">
                <a:solidFill>
                  <a:srgbClr val="20242E"/>
                </a:solidFill>
                <a:latin typeface="Inter"/>
              </a:rPr>
              <a:t>Es normal equivocarse: así se aprende.</a:t>
            </a:r>
          </a:p>
        </p:txBody>
      </p:sp>
      <p:sp>
        <p:nvSpPr>
          <p:cNvPr id="21" name="Onthul 2"/>
          <p:cNvSpPr/>
          <p:nvPr/>
        </p:nvSpPr>
        <p:spPr>
          <a:xfrm>
            <a:off x="6259068" y="3275838"/>
            <a:ext cx="2526030" cy="237744"/>
          </a:xfrm>
          <a:prstGeom prst="roundRect">
            <a:avLst>
              <a:gd name="adj" fmla="val 20000"/>
            </a:avLst>
          </a:prstGeom>
          <a:solidFill>
            <a:srgbClr val="EEE8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OnthulTxt 2"/>
          <p:cNvSpPr txBox="1"/>
          <p:nvPr/>
        </p:nvSpPr>
        <p:spPr>
          <a:xfrm>
            <a:off x="6277356" y="3275838"/>
            <a:ext cx="2489454" cy="237744"/>
          </a:xfrm>
          <a:prstGeom prst="rect">
            <a:avLst/>
          </a:prstGeom>
          <a:noFill/>
        </p:spPr>
        <p:txBody>
          <a:bodyPr wrap="square" anchor="ctr" lIns="45720" rIns="45720" tIns="27432" bIns="27432">
            <a:normAutofit/>
          </a:bodyPr>
          <a:lstStyle/>
          <a:p>
            <a:pPr algn="l"/>
            <a:r>
              <a:rPr sz="850" b="1">
                <a:solidFill>
                  <a:srgbClr val="5B3E83"/>
                </a:solidFill>
                <a:latin typeface="Inter"/>
              </a:rPr>
              <a:t>el clima de la clase</a:t>
            </a:r>
          </a:p>
        </p:txBody>
      </p:sp>
      <p:sp>
        <p:nvSpPr>
          <p:cNvPr id="23" name="Tarjeta 3"/>
          <p:cNvSpPr/>
          <p:nvPr/>
        </p:nvSpPr>
        <p:spPr>
          <a:xfrm>
            <a:off x="9022842" y="2670048"/>
            <a:ext cx="2708910" cy="898398"/>
          </a:xfrm>
          <a:prstGeom prst="roundRect">
            <a:avLst>
              <a:gd name="adj" fmla="val 6000"/>
            </a:avLst>
          </a:prstGeom>
          <a:solidFill>
            <a:srgbClr val="FFFFFF"/>
          </a:solidFill>
          <a:ln w="12700">
            <a:solidFill>
              <a:srgbClr val="E4E3D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arjetaTxt 3"/>
          <p:cNvSpPr txBox="1"/>
          <p:nvPr/>
        </p:nvSpPr>
        <p:spPr>
          <a:xfrm>
            <a:off x="9114282" y="2724912"/>
            <a:ext cx="2526030" cy="587502"/>
          </a:xfrm>
          <a:prstGeom prst="rect">
            <a:avLst/>
          </a:prstGeom>
          <a:noFill/>
        </p:spPr>
        <p:txBody>
          <a:bodyPr wrap="square" anchor="t" lIns="45720" rIns="45720" tIns="27432" bIns="27432">
            <a:normAutofit/>
          </a:bodyPr>
          <a:lstStyle/>
          <a:p>
            <a:pPr algn="l"/>
            <a:r>
              <a:rPr sz="1100" b="1">
                <a:solidFill>
                  <a:srgbClr val="5B3E83"/>
                </a:solidFill>
                <a:latin typeface="Bricolage Grotesque"/>
              </a:rPr>
              <a:t>ejemplo</a:t>
            </a:r>
          </a:p>
          <a:p>
            <a:pPr algn="l"/>
            <a:r>
              <a:rPr sz="1000">
                <a:solidFill>
                  <a:srgbClr val="20242E"/>
                </a:solidFill>
                <a:latin typeface="Inter"/>
              </a:rPr>
              <a:t>Estamos aquí para hablar, no solo para escribir.</a:t>
            </a:r>
          </a:p>
        </p:txBody>
      </p:sp>
      <p:sp>
        <p:nvSpPr>
          <p:cNvPr id="25" name="Onthul 3"/>
          <p:cNvSpPr/>
          <p:nvPr/>
        </p:nvSpPr>
        <p:spPr>
          <a:xfrm>
            <a:off x="9114282" y="3275838"/>
            <a:ext cx="2526030" cy="237744"/>
          </a:xfrm>
          <a:prstGeom prst="roundRect">
            <a:avLst>
              <a:gd name="adj" fmla="val 20000"/>
            </a:avLst>
          </a:prstGeom>
          <a:solidFill>
            <a:srgbClr val="EEE8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OnthulTxt 3"/>
          <p:cNvSpPr txBox="1"/>
          <p:nvPr/>
        </p:nvSpPr>
        <p:spPr>
          <a:xfrm>
            <a:off x="9132570" y="3275838"/>
            <a:ext cx="2489454" cy="237744"/>
          </a:xfrm>
          <a:prstGeom prst="rect">
            <a:avLst/>
          </a:prstGeom>
          <a:noFill/>
        </p:spPr>
        <p:txBody>
          <a:bodyPr wrap="square" anchor="ctr" lIns="45720" rIns="45720" tIns="27432" bIns="27432">
            <a:normAutofit/>
          </a:bodyPr>
          <a:lstStyle/>
          <a:p>
            <a:pPr algn="l"/>
            <a:r>
              <a:rPr sz="850" b="1">
                <a:solidFill>
                  <a:srgbClr val="5B3E83"/>
                </a:solidFill>
                <a:latin typeface="Inter"/>
              </a:rPr>
              <a:t>la prioridad</a:t>
            </a:r>
          </a:p>
        </p:txBody>
      </p:sp>
      <p:sp>
        <p:nvSpPr>
          <p:cNvPr id="27" name="Tarjeta 4"/>
          <p:cNvSpPr/>
          <p:nvPr/>
        </p:nvSpPr>
        <p:spPr>
          <a:xfrm>
            <a:off x="457200" y="3696462"/>
            <a:ext cx="2708910" cy="898398"/>
          </a:xfrm>
          <a:prstGeom prst="roundRect">
            <a:avLst>
              <a:gd name="adj" fmla="val 6000"/>
            </a:avLst>
          </a:prstGeom>
          <a:solidFill>
            <a:srgbClr val="FFFFFF"/>
          </a:solidFill>
          <a:ln w="12700">
            <a:solidFill>
              <a:srgbClr val="E4E3D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arjetaTxt 4"/>
          <p:cNvSpPr txBox="1"/>
          <p:nvPr/>
        </p:nvSpPr>
        <p:spPr>
          <a:xfrm>
            <a:off x="548640" y="3751326"/>
            <a:ext cx="2526030" cy="587502"/>
          </a:xfrm>
          <a:prstGeom prst="rect">
            <a:avLst/>
          </a:prstGeom>
          <a:noFill/>
        </p:spPr>
        <p:txBody>
          <a:bodyPr wrap="square" anchor="t" lIns="45720" rIns="45720" tIns="27432" bIns="27432">
            <a:normAutofit/>
          </a:bodyPr>
          <a:lstStyle/>
          <a:p>
            <a:pPr algn="l"/>
            <a:r>
              <a:rPr sz="1100" b="1">
                <a:solidFill>
                  <a:srgbClr val="5B3E83"/>
                </a:solidFill>
                <a:latin typeface="Bricolage Grotesque"/>
              </a:rPr>
              <a:t>ejemplo</a:t>
            </a:r>
          </a:p>
          <a:p>
            <a:pPr algn="l"/>
            <a:r>
              <a:rPr sz="1000">
                <a:solidFill>
                  <a:srgbClr val="20242E"/>
                </a:solidFill>
                <a:latin typeface="Inter"/>
              </a:rPr>
              <a:t>Es mejor preguntar que quedarse callado.</a:t>
            </a:r>
          </a:p>
        </p:txBody>
      </p:sp>
      <p:sp>
        <p:nvSpPr>
          <p:cNvPr id="29" name="Onthul 4"/>
          <p:cNvSpPr/>
          <p:nvPr/>
        </p:nvSpPr>
        <p:spPr>
          <a:xfrm>
            <a:off x="548640" y="4302252"/>
            <a:ext cx="2526030" cy="237744"/>
          </a:xfrm>
          <a:prstGeom prst="roundRect">
            <a:avLst>
              <a:gd name="adj" fmla="val 20000"/>
            </a:avLst>
          </a:prstGeom>
          <a:solidFill>
            <a:srgbClr val="EEE8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OnthulTxt 4"/>
          <p:cNvSpPr txBox="1"/>
          <p:nvPr/>
        </p:nvSpPr>
        <p:spPr>
          <a:xfrm>
            <a:off x="566928" y="4302252"/>
            <a:ext cx="2489454" cy="237744"/>
          </a:xfrm>
          <a:prstGeom prst="rect">
            <a:avLst/>
          </a:prstGeom>
          <a:noFill/>
        </p:spPr>
        <p:txBody>
          <a:bodyPr wrap="square" anchor="ctr" lIns="45720" rIns="45720" tIns="27432" bIns="27432">
            <a:normAutofit/>
          </a:bodyPr>
          <a:lstStyle/>
          <a:p>
            <a:pPr algn="l"/>
            <a:r>
              <a:rPr sz="850" b="1">
                <a:solidFill>
                  <a:srgbClr val="5B3E83"/>
                </a:solidFill>
                <a:latin typeface="Inter"/>
              </a:rPr>
              <a:t>una invitación</a:t>
            </a:r>
          </a:p>
        </p:txBody>
      </p:sp>
      <p:sp>
        <p:nvSpPr>
          <p:cNvPr id="31" name="Tarjeta 5"/>
          <p:cNvSpPr/>
          <p:nvPr/>
        </p:nvSpPr>
        <p:spPr>
          <a:xfrm>
            <a:off x="3312414" y="3696462"/>
            <a:ext cx="2708910" cy="898398"/>
          </a:xfrm>
          <a:prstGeom prst="roundRect">
            <a:avLst>
              <a:gd name="adj" fmla="val 6000"/>
            </a:avLst>
          </a:prstGeom>
          <a:solidFill>
            <a:srgbClr val="FFFFFF"/>
          </a:solidFill>
          <a:ln w="12700">
            <a:solidFill>
              <a:srgbClr val="E4E3D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arjetaTxt 5"/>
          <p:cNvSpPr txBox="1"/>
          <p:nvPr/>
        </p:nvSpPr>
        <p:spPr>
          <a:xfrm>
            <a:off x="3403854" y="3751326"/>
            <a:ext cx="2526030" cy="788670"/>
          </a:xfrm>
          <a:prstGeom prst="rect">
            <a:avLst/>
          </a:prstGeom>
          <a:noFill/>
        </p:spPr>
        <p:txBody>
          <a:bodyPr wrap="square" anchor="t" lIns="45720" rIns="45720" tIns="27432" bIns="27432">
            <a:normAutofit/>
          </a:bodyPr>
          <a:lstStyle/>
          <a:p>
            <a:pPr algn="l"/>
            <a:r>
              <a:rPr sz="1100" b="1">
                <a:solidFill>
                  <a:srgbClr val="5B3E83"/>
                </a:solidFill>
                <a:latin typeface="Bricolage Grotesque"/>
              </a:rPr>
              <a:t>marco</a:t>
            </a:r>
          </a:p>
          <a:p>
            <a:pPr algn="l"/>
            <a:r>
              <a:rPr sz="1000">
                <a:solidFill>
                  <a:srgbClr val="20242E"/>
                </a:solidFill>
                <a:latin typeface="Inter"/>
              </a:rPr>
              <a:t>Es importante …</a:t>
            </a:r>
          </a:p>
        </p:txBody>
      </p:sp>
      <p:sp>
        <p:nvSpPr>
          <p:cNvPr id="33" name="Tarjeta 6"/>
          <p:cNvSpPr/>
          <p:nvPr/>
        </p:nvSpPr>
        <p:spPr>
          <a:xfrm>
            <a:off x="6167628" y="3696462"/>
            <a:ext cx="2708910" cy="898398"/>
          </a:xfrm>
          <a:prstGeom prst="roundRect">
            <a:avLst>
              <a:gd name="adj" fmla="val 6000"/>
            </a:avLst>
          </a:prstGeom>
          <a:solidFill>
            <a:srgbClr val="FFFFFF"/>
          </a:solidFill>
          <a:ln w="12700">
            <a:solidFill>
              <a:srgbClr val="E4E3D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arjetaTxt 6"/>
          <p:cNvSpPr txBox="1"/>
          <p:nvPr/>
        </p:nvSpPr>
        <p:spPr>
          <a:xfrm>
            <a:off x="6259068" y="3751326"/>
            <a:ext cx="2526030" cy="788670"/>
          </a:xfrm>
          <a:prstGeom prst="rect">
            <a:avLst/>
          </a:prstGeom>
          <a:noFill/>
        </p:spPr>
        <p:txBody>
          <a:bodyPr wrap="square" anchor="t" lIns="45720" rIns="45720" tIns="27432" bIns="27432">
            <a:normAutofit/>
          </a:bodyPr>
          <a:lstStyle/>
          <a:p>
            <a:pPr algn="l"/>
            <a:r>
              <a:rPr sz="1100" b="1">
                <a:solidFill>
                  <a:srgbClr val="5B3E83"/>
                </a:solidFill>
                <a:latin typeface="Bricolage Grotesque"/>
              </a:rPr>
              <a:t>marco</a:t>
            </a:r>
          </a:p>
          <a:p>
            <a:pPr algn="l"/>
            <a:r>
              <a:rPr sz="1000">
                <a:solidFill>
                  <a:srgbClr val="20242E"/>
                </a:solidFill>
                <a:latin typeface="Inter"/>
              </a:rPr>
              <a:t>Está prohibido …</a:t>
            </a:r>
          </a:p>
        </p:txBody>
      </p:sp>
      <p:sp>
        <p:nvSpPr>
          <p:cNvPr id="35" name="Tarjeta 7"/>
          <p:cNvSpPr/>
          <p:nvPr/>
        </p:nvSpPr>
        <p:spPr>
          <a:xfrm>
            <a:off x="9022842" y="3696462"/>
            <a:ext cx="2708910" cy="898398"/>
          </a:xfrm>
          <a:prstGeom prst="roundRect">
            <a:avLst>
              <a:gd name="adj" fmla="val 6000"/>
            </a:avLst>
          </a:prstGeom>
          <a:solidFill>
            <a:srgbClr val="FFFFFF"/>
          </a:solidFill>
          <a:ln w="12700">
            <a:solidFill>
              <a:srgbClr val="E4E3D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TarjetaTxt 7"/>
          <p:cNvSpPr txBox="1"/>
          <p:nvPr/>
        </p:nvSpPr>
        <p:spPr>
          <a:xfrm>
            <a:off x="9114282" y="3751326"/>
            <a:ext cx="2526030" cy="788670"/>
          </a:xfrm>
          <a:prstGeom prst="rect">
            <a:avLst/>
          </a:prstGeom>
          <a:noFill/>
        </p:spPr>
        <p:txBody>
          <a:bodyPr wrap="square" anchor="t" lIns="45720" rIns="45720" tIns="27432" bIns="27432">
            <a:normAutofit/>
          </a:bodyPr>
          <a:lstStyle/>
          <a:p>
            <a:pPr algn="l"/>
            <a:r>
              <a:rPr sz="1100" b="1">
                <a:solidFill>
                  <a:srgbClr val="5B3E83"/>
                </a:solidFill>
                <a:latin typeface="Bricolage Grotesque"/>
              </a:rPr>
              <a:t>marco</a:t>
            </a:r>
          </a:p>
          <a:p>
            <a:pPr algn="l"/>
            <a:r>
              <a:rPr sz="1000">
                <a:solidFill>
                  <a:srgbClr val="20242E"/>
                </a:solidFill>
                <a:latin typeface="Inter"/>
              </a:rPr>
              <a:t>Es mejor … que …</a:t>
            </a:r>
          </a:p>
        </p:txBody>
      </p:sp>
      <p:sp>
        <p:nvSpPr>
          <p:cNvPr id="37" name="Tarjeta 8"/>
          <p:cNvSpPr/>
          <p:nvPr/>
        </p:nvSpPr>
        <p:spPr>
          <a:xfrm>
            <a:off x="457200" y="4722876"/>
            <a:ext cx="2708910" cy="898398"/>
          </a:xfrm>
          <a:prstGeom prst="roundRect">
            <a:avLst>
              <a:gd name="adj" fmla="val 6000"/>
            </a:avLst>
          </a:prstGeom>
          <a:solidFill>
            <a:srgbClr val="FFFFFF"/>
          </a:solidFill>
          <a:ln w="12700">
            <a:solidFill>
              <a:srgbClr val="E4E3D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arjetaTxt 8"/>
          <p:cNvSpPr txBox="1"/>
          <p:nvPr/>
        </p:nvSpPr>
        <p:spPr>
          <a:xfrm>
            <a:off x="548640" y="4777740"/>
            <a:ext cx="2526030" cy="788670"/>
          </a:xfrm>
          <a:prstGeom prst="rect">
            <a:avLst/>
          </a:prstGeom>
          <a:noFill/>
        </p:spPr>
        <p:txBody>
          <a:bodyPr wrap="square" anchor="t" lIns="45720" rIns="45720" tIns="27432" bIns="27432">
            <a:normAutofit/>
          </a:bodyPr>
          <a:lstStyle/>
          <a:p>
            <a:pPr algn="l"/>
            <a:r>
              <a:rPr sz="1100" b="1">
                <a:solidFill>
                  <a:srgbClr val="5B3E83"/>
                </a:solidFill>
                <a:latin typeface="Bricolage Grotesque"/>
              </a:rPr>
              <a:t>marco</a:t>
            </a:r>
          </a:p>
          <a:p>
            <a:pPr algn="l"/>
            <a:r>
              <a:rPr sz="1000">
                <a:solidFill>
                  <a:srgbClr val="20242E"/>
                </a:solidFill>
                <a:latin typeface="Inter"/>
              </a:rPr>
              <a:t>Estamos aquí para …</a:t>
            </a:r>
          </a:p>
        </p:txBody>
      </p:sp>
      <p:sp>
        <p:nvSpPr>
          <p:cNvPr id="39" name="Tarjeta 9"/>
          <p:cNvSpPr/>
          <p:nvPr/>
        </p:nvSpPr>
        <p:spPr>
          <a:xfrm>
            <a:off x="3312414" y="4722876"/>
            <a:ext cx="2708910" cy="898398"/>
          </a:xfrm>
          <a:prstGeom prst="roundRect">
            <a:avLst>
              <a:gd name="adj" fmla="val 6000"/>
            </a:avLst>
          </a:prstGeom>
          <a:solidFill>
            <a:srgbClr val="FFFFFF"/>
          </a:solidFill>
          <a:ln w="12700">
            <a:solidFill>
              <a:srgbClr val="E4E3D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TarjetaTxt 9"/>
          <p:cNvSpPr txBox="1"/>
          <p:nvPr/>
        </p:nvSpPr>
        <p:spPr>
          <a:xfrm>
            <a:off x="3403854" y="4777740"/>
            <a:ext cx="2526030" cy="788670"/>
          </a:xfrm>
          <a:prstGeom prst="rect">
            <a:avLst/>
          </a:prstGeom>
          <a:noFill/>
        </p:spPr>
        <p:txBody>
          <a:bodyPr wrap="square" anchor="t" lIns="45720" rIns="45720" tIns="27432" bIns="27432">
            <a:normAutofit/>
          </a:bodyPr>
          <a:lstStyle/>
          <a:p>
            <a:pPr algn="l"/>
            <a:r>
              <a:rPr sz="1100" b="1">
                <a:solidFill>
                  <a:srgbClr val="5B3E83"/>
                </a:solidFill>
                <a:latin typeface="Bricolage Grotesque"/>
              </a:rPr>
              <a:t>marco</a:t>
            </a:r>
          </a:p>
          <a:p>
            <a:pPr algn="l"/>
            <a:r>
              <a:rPr sz="1000">
                <a:solidFill>
                  <a:srgbClr val="20242E"/>
                </a:solidFill>
                <a:latin typeface="Inter"/>
              </a:rPr>
              <a:t>No es justo que …</a:t>
            </a:r>
          </a:p>
        </p:txBody>
      </p:sp>
      <p:sp>
        <p:nvSpPr>
          <p:cNvPr id="41" name="Tarjeta 10"/>
          <p:cNvSpPr/>
          <p:nvPr/>
        </p:nvSpPr>
        <p:spPr>
          <a:xfrm>
            <a:off x="6167628" y="4722876"/>
            <a:ext cx="2708910" cy="898398"/>
          </a:xfrm>
          <a:prstGeom prst="roundRect">
            <a:avLst>
              <a:gd name="adj" fmla="val 6000"/>
            </a:avLst>
          </a:prstGeom>
          <a:solidFill>
            <a:srgbClr val="FFFFFF"/>
          </a:solidFill>
          <a:ln w="12700">
            <a:solidFill>
              <a:srgbClr val="E4E3D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TarjetaTxt 10"/>
          <p:cNvSpPr txBox="1"/>
          <p:nvPr/>
        </p:nvSpPr>
        <p:spPr>
          <a:xfrm>
            <a:off x="6259068" y="4777740"/>
            <a:ext cx="2526030" cy="788670"/>
          </a:xfrm>
          <a:prstGeom prst="rect">
            <a:avLst/>
          </a:prstGeom>
          <a:noFill/>
        </p:spPr>
        <p:txBody>
          <a:bodyPr wrap="square" anchor="t" lIns="45720" rIns="45720" tIns="27432" bIns="27432">
            <a:normAutofit/>
          </a:bodyPr>
          <a:lstStyle/>
          <a:p>
            <a:pPr algn="l"/>
            <a:r>
              <a:rPr sz="1100" b="1">
                <a:solidFill>
                  <a:srgbClr val="5B3E83"/>
                </a:solidFill>
                <a:latin typeface="Bricolage Grotesque"/>
              </a:rPr>
              <a:t>El dilema</a:t>
            </a:r>
          </a:p>
          <a:p>
            <a:pPr algn="l"/>
            <a:r>
              <a:rPr sz="1000">
                <a:solidFill>
                  <a:srgbClr val="20242E"/>
                </a:solidFill>
                <a:latin typeface="Inter"/>
              </a:rPr>
              <a:t>¿Se corrige delante de toda la clase o no?</a:t>
            </a:r>
          </a:p>
        </p:txBody>
      </p:sp>
      <p:sp>
        <p:nvSpPr>
          <p:cNvPr id="43" name="Tarjeta 11"/>
          <p:cNvSpPr/>
          <p:nvPr/>
        </p:nvSpPr>
        <p:spPr>
          <a:xfrm>
            <a:off x="9022842" y="4722876"/>
            <a:ext cx="2708910" cy="898398"/>
          </a:xfrm>
          <a:prstGeom prst="roundRect">
            <a:avLst>
              <a:gd name="adj" fmla="val 6000"/>
            </a:avLst>
          </a:prstGeom>
          <a:solidFill>
            <a:srgbClr val="FFFFFF"/>
          </a:solidFill>
          <a:ln w="12700">
            <a:solidFill>
              <a:srgbClr val="E4E3D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TarjetaTxt 11"/>
          <p:cNvSpPr txBox="1"/>
          <p:nvPr/>
        </p:nvSpPr>
        <p:spPr>
          <a:xfrm>
            <a:off x="9114282" y="4777740"/>
            <a:ext cx="2526030" cy="788670"/>
          </a:xfrm>
          <a:prstGeom prst="rect">
            <a:avLst/>
          </a:prstGeom>
          <a:noFill/>
        </p:spPr>
        <p:txBody>
          <a:bodyPr wrap="square" anchor="t" lIns="45720" rIns="45720" tIns="27432" bIns="27432">
            <a:normAutofit/>
          </a:bodyPr>
          <a:lstStyle/>
          <a:p>
            <a:pPr algn="l"/>
            <a:r>
              <a:rPr sz="1100" b="1">
                <a:solidFill>
                  <a:srgbClr val="5B3E83"/>
                </a:solidFill>
                <a:latin typeface="Bricolage Grotesque"/>
              </a:rPr>
              <a:t>El dilema</a:t>
            </a:r>
          </a:p>
          <a:p>
            <a:pPr algn="l"/>
            <a:r>
              <a:rPr sz="1000">
                <a:solidFill>
                  <a:srgbClr val="20242E"/>
                </a:solidFill>
                <a:latin typeface="Inter"/>
              </a:rPr>
              <a:t>¿Se puede usar el traductor?</a:t>
            </a:r>
          </a:p>
        </p:txBody>
      </p:sp>
      <p:sp>
        <p:nvSpPr>
          <p:cNvPr id="45" name="Tarjeta 12"/>
          <p:cNvSpPr/>
          <p:nvPr/>
        </p:nvSpPr>
        <p:spPr>
          <a:xfrm>
            <a:off x="457200" y="5749290"/>
            <a:ext cx="2708910" cy="898398"/>
          </a:xfrm>
          <a:prstGeom prst="roundRect">
            <a:avLst>
              <a:gd name="adj" fmla="val 6000"/>
            </a:avLst>
          </a:prstGeom>
          <a:solidFill>
            <a:srgbClr val="FFFFFF"/>
          </a:solidFill>
          <a:ln w="12700">
            <a:solidFill>
              <a:srgbClr val="E4E3D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6" name="TarjetaTxt 12"/>
          <p:cNvSpPr txBox="1"/>
          <p:nvPr/>
        </p:nvSpPr>
        <p:spPr>
          <a:xfrm>
            <a:off x="548640" y="5804154"/>
            <a:ext cx="2526030" cy="788670"/>
          </a:xfrm>
          <a:prstGeom prst="rect">
            <a:avLst/>
          </a:prstGeom>
          <a:noFill/>
        </p:spPr>
        <p:txBody>
          <a:bodyPr wrap="square" anchor="t" lIns="45720" rIns="45720" tIns="27432" bIns="27432">
            <a:normAutofit/>
          </a:bodyPr>
          <a:lstStyle/>
          <a:p>
            <a:pPr algn="l"/>
            <a:r>
              <a:rPr sz="1100" b="1">
                <a:solidFill>
                  <a:srgbClr val="5B3E83"/>
                </a:solidFill>
                <a:latin typeface="Bricolage Grotesque"/>
              </a:rPr>
              <a:t>El dilema</a:t>
            </a:r>
          </a:p>
          <a:p>
            <a:pPr algn="l"/>
            <a:r>
              <a:rPr sz="1000">
                <a:solidFill>
                  <a:srgbClr val="20242E"/>
                </a:solidFill>
                <a:latin typeface="Inter"/>
              </a:rPr>
              <a:t>¿Qué pasa si alguien no ha estudiado nunca español?</a:t>
            </a:r>
          </a:p>
        </p:txBody>
      </p:sp>
    </p:spTree>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7" presetID="10" presetClass="entr" presetSubtype="0" fill="hold" grpId="0" nodeType="clickEffect">
                                  <p:stCondLst>
                                    <p:cond delay="0"/>
                                  </p:stCondLst>
                                  <p:childTnLst>
                                    <p:set>
                                      <p:cBhvr>
                                        <p:cTn id="8" dur="1" fill="hold">
                                          <p:stCondLst>
                                            <p:cond delay="0"/>
                                          </p:stCondLst>
                                        </p:cTn>
                                        <p:tgtEl>
                                          <p:spTgt spid="13"/>
                                        </p:tgtEl>
                                        <p:attrNameLst>
                                          <p:attrName>style.visibility</p:attrName>
                                        </p:attrNameLst>
                                      </p:cBhvr>
                                      <p:to>
                                        <p:strVal val="visible"/>
                                      </p:to>
                                    </p:set>
                                    <p:animEffect transition="in" filter="fade">
                                      <p:cBhvr>
                                        <p:cTn id="9" dur="500"/>
                                        <p:tgtEl>
                                          <p:spTgt spid="13"/>
                                        </p:tgtEl>
                                      </p:cBhvr>
                                    </p:animEffect>
                                  </p:childTnLst>
                                </p:cTn>
                              </p:par>
                            </p:childTnLst>
                          </p:cTn>
                        </p:par>
                      </p:childTnLst>
                    </p:cTn>
                  </p:par>
                  <p:par>
                    <p:cTn id="10" fill="hold">
                      <p:stCondLst>
                        <p:cond delay="indefinite"/>
                      </p:stCondLst>
                      <p:childTnLst>
                        <p:par>
                          <p:cTn id="11" fill="hold">
                            <p:stCondLst>
                              <p:cond delay="0"/>
                            </p:stCondLst>
                            <p:childTnLst>
                              <p:par>
                                <p:cTn id="12" presetID="10" presetClass="entr" presetSubtype="0" fill="hold" grpId="0" nodeType="clickEffect">
                                  <p:stCondLst>
                                    <p:cond delay="0"/>
                                  </p:stCondLst>
                                  <p:childTnLst>
                                    <p:set>
                                      <p:cBhvr>
                                        <p:cTn id="13" dur="1" fill="hold">
                                          <p:stCondLst>
                                            <p:cond delay="0"/>
                                          </p:stCondLst>
                                        </p:cTn>
                                        <p:tgtEl>
                                          <p:spTgt spid="14"/>
                                        </p:tgtEl>
                                        <p:attrNameLst>
                                          <p:attrName>style.visibility</p:attrName>
                                        </p:attrNameLst>
                                      </p:cBhvr>
                                      <p:to>
                                        <p:strVal val="visible"/>
                                      </p:to>
                                    </p:set>
                                    <p:animEffect transition="in" filter="fade">
                                      <p:cBhvr>
                                        <p:cTn id="14" dur="500"/>
                                        <p:tgtEl>
                                          <p:spTgt spid="14"/>
                                        </p:tgtEl>
                                      </p:cBhvr>
                                    </p:animEffect>
                                  </p:childTnLst>
                                </p:cTn>
                              </p:par>
                            </p:childTnLst>
                          </p:cTn>
                        </p:par>
                      </p:childTnLst>
                    </p:cTn>
                  </p:par>
                  <p:par>
                    <p:cTn id="15" fill="hold">
                      <p:stCondLst>
                        <p:cond delay="indefinite"/>
                      </p:stCondLst>
                      <p:childTnLst>
                        <p:par>
                          <p:cTn id="16" fill="hold">
                            <p:stCondLst>
                              <p:cond delay="0"/>
                            </p:stCondLst>
                            <p:childTnLst>
                              <p:par>
                                <p:cTn id="17" presetID="10" presetClass="entr" presetSubtype="0" fill="hold" grpId="0" nodeType="clickEffect">
                                  <p:stCondLst>
                                    <p:cond delay="0"/>
                                  </p:stCondLst>
                                  <p:childTnLst>
                                    <p:set>
                                      <p:cBhvr>
                                        <p:cTn id="18" dur="1" fill="hold">
                                          <p:stCondLst>
                                            <p:cond delay="0"/>
                                          </p:stCondLst>
                                        </p:cTn>
                                        <p:tgtEl>
                                          <p:spTgt spid="17"/>
                                        </p:tgtEl>
                                        <p:attrNameLst>
                                          <p:attrName>style.visibility</p:attrName>
                                        </p:attrNameLst>
                                      </p:cBhvr>
                                      <p:to>
                                        <p:strVal val="visible"/>
                                      </p:to>
                                    </p:set>
                                    <p:animEffect transition="in" filter="fade">
                                      <p:cBhvr>
                                        <p:cTn id="19" dur="500"/>
                                        <p:tgtEl>
                                          <p:spTgt spid="17"/>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grpId="0" nodeType="clickEffect">
                                  <p:stCondLst>
                                    <p:cond delay="0"/>
                                  </p:stCondLst>
                                  <p:childTnLst>
                                    <p:set>
                                      <p:cBhvr>
                                        <p:cTn id="23" dur="1" fill="hold">
                                          <p:stCondLst>
                                            <p:cond delay="0"/>
                                          </p:stCondLst>
                                        </p:cTn>
                                        <p:tgtEl>
                                          <p:spTgt spid="18"/>
                                        </p:tgtEl>
                                        <p:attrNameLst>
                                          <p:attrName>style.visibility</p:attrName>
                                        </p:attrNameLst>
                                      </p:cBhvr>
                                      <p:to>
                                        <p:strVal val="visible"/>
                                      </p:to>
                                    </p:set>
                                    <p:animEffect transition="in" filter="fade">
                                      <p:cBhvr>
                                        <p:cTn id="24" dur="500"/>
                                        <p:tgtEl>
                                          <p:spTgt spid="18"/>
                                        </p:tgtEl>
                                      </p:cBhvr>
                                    </p:animEffect>
                                  </p:childTnLst>
                                </p:cTn>
                              </p:par>
                            </p:childTnLst>
                          </p:cTn>
                        </p:par>
                      </p:childTnLst>
                    </p:cTn>
                  </p:par>
                  <p:par>
                    <p:cTn id="25" fill="hold">
                      <p:stCondLst>
                        <p:cond delay="indefinite"/>
                      </p:stCondLst>
                      <p:childTnLst>
                        <p:par>
                          <p:cTn id="26" fill="hold">
                            <p:stCondLst>
                              <p:cond delay="0"/>
                            </p:stCondLst>
                            <p:childTnLst>
                              <p:par>
                                <p:cTn id="27" presetID="10" presetClass="entr" presetSubtype="0" fill="hold" grpId="0" nodeType="clickEffect">
                                  <p:stCondLst>
                                    <p:cond delay="0"/>
                                  </p:stCondLst>
                                  <p:childTnLst>
                                    <p:set>
                                      <p:cBhvr>
                                        <p:cTn id="28" dur="1" fill="hold">
                                          <p:stCondLst>
                                            <p:cond delay="0"/>
                                          </p:stCondLst>
                                        </p:cTn>
                                        <p:tgtEl>
                                          <p:spTgt spid="21"/>
                                        </p:tgtEl>
                                        <p:attrNameLst>
                                          <p:attrName>style.visibility</p:attrName>
                                        </p:attrNameLst>
                                      </p:cBhvr>
                                      <p:to>
                                        <p:strVal val="visible"/>
                                      </p:to>
                                    </p:set>
                                    <p:animEffect transition="in" filter="fade">
                                      <p:cBhvr>
                                        <p:cTn id="29" dur="500"/>
                                        <p:tgtEl>
                                          <p:spTgt spid="21"/>
                                        </p:tgtEl>
                                      </p:cBhvr>
                                    </p:animEffect>
                                  </p:childTnLst>
                                </p:cTn>
                              </p:par>
                            </p:childTnLst>
                          </p:cTn>
                        </p:par>
                      </p:childTnLst>
                    </p:cTn>
                  </p:par>
                  <p:par>
                    <p:cTn id="30" fill="hold">
                      <p:stCondLst>
                        <p:cond delay="indefinite"/>
                      </p:stCondLst>
                      <p:childTnLst>
                        <p:par>
                          <p:cTn id="31" fill="hold">
                            <p:stCondLst>
                              <p:cond delay="0"/>
                            </p:stCondLst>
                            <p:childTnLst>
                              <p:par>
                                <p:cTn id="32" presetID="10" presetClass="entr" presetSubtype="0" fill="hold" grpId="0" nodeType="clickEffect">
                                  <p:stCondLst>
                                    <p:cond delay="0"/>
                                  </p:stCondLst>
                                  <p:childTnLst>
                                    <p:set>
                                      <p:cBhvr>
                                        <p:cTn id="33" dur="1" fill="hold">
                                          <p:stCondLst>
                                            <p:cond delay="0"/>
                                          </p:stCondLst>
                                        </p:cTn>
                                        <p:tgtEl>
                                          <p:spTgt spid="22"/>
                                        </p:tgtEl>
                                        <p:attrNameLst>
                                          <p:attrName>style.visibility</p:attrName>
                                        </p:attrNameLst>
                                      </p:cBhvr>
                                      <p:to>
                                        <p:strVal val="visible"/>
                                      </p:to>
                                    </p:set>
                                    <p:animEffect transition="in" filter="fade">
                                      <p:cBhvr>
                                        <p:cTn id="34" dur="500"/>
                                        <p:tgtEl>
                                          <p:spTgt spid="22"/>
                                        </p:tgtEl>
                                      </p:cBhvr>
                                    </p:animEffect>
                                  </p:childTnLst>
                                </p:cTn>
                              </p:par>
                            </p:childTnLst>
                          </p:cTn>
                        </p:par>
                      </p:childTnLst>
                    </p:cTn>
                  </p:par>
                  <p:par>
                    <p:cTn id="35" fill="hold">
                      <p:stCondLst>
                        <p:cond delay="indefinite"/>
                      </p:stCondLst>
                      <p:childTnLst>
                        <p:par>
                          <p:cTn id="36" fill="hold">
                            <p:stCondLst>
                              <p:cond delay="0"/>
                            </p:stCondLst>
                            <p:childTnLst>
                              <p:par>
                                <p:cTn id="37" presetID="10" presetClass="entr" presetSubtype="0" fill="hold" grpId="0" nodeType="clickEffect">
                                  <p:stCondLst>
                                    <p:cond delay="0"/>
                                  </p:stCondLst>
                                  <p:childTnLst>
                                    <p:set>
                                      <p:cBhvr>
                                        <p:cTn id="38" dur="1" fill="hold">
                                          <p:stCondLst>
                                            <p:cond delay="0"/>
                                          </p:stCondLst>
                                        </p:cTn>
                                        <p:tgtEl>
                                          <p:spTgt spid="25"/>
                                        </p:tgtEl>
                                        <p:attrNameLst>
                                          <p:attrName>style.visibility</p:attrName>
                                        </p:attrNameLst>
                                      </p:cBhvr>
                                      <p:to>
                                        <p:strVal val="visible"/>
                                      </p:to>
                                    </p:set>
                                    <p:animEffect transition="in" filter="fade">
                                      <p:cBhvr>
                                        <p:cTn id="39" dur="500"/>
                                        <p:tgtEl>
                                          <p:spTgt spid="25"/>
                                        </p:tgtEl>
                                      </p:cBhvr>
                                    </p:animEffect>
                                  </p:childTnLst>
                                </p:cTn>
                              </p:par>
                            </p:childTnLst>
                          </p:cTn>
                        </p:par>
                      </p:childTnLst>
                    </p:cTn>
                  </p:par>
                  <p:par>
                    <p:cTn id="40" fill="hold">
                      <p:stCondLst>
                        <p:cond delay="indefinite"/>
                      </p:stCondLst>
                      <p:childTnLst>
                        <p:par>
                          <p:cTn id="41" fill="hold">
                            <p:stCondLst>
                              <p:cond delay="0"/>
                            </p:stCondLst>
                            <p:childTnLst>
                              <p:par>
                                <p:cTn id="42" presetID="10" presetClass="entr" presetSubtype="0" fill="hold" grpId="0" nodeType="clickEffect">
                                  <p:stCondLst>
                                    <p:cond delay="0"/>
                                  </p:stCondLst>
                                  <p:childTnLst>
                                    <p:set>
                                      <p:cBhvr>
                                        <p:cTn id="43" dur="1" fill="hold">
                                          <p:stCondLst>
                                            <p:cond delay="0"/>
                                          </p:stCondLst>
                                        </p:cTn>
                                        <p:tgtEl>
                                          <p:spTgt spid="26"/>
                                        </p:tgtEl>
                                        <p:attrNameLst>
                                          <p:attrName>style.visibility</p:attrName>
                                        </p:attrNameLst>
                                      </p:cBhvr>
                                      <p:to>
                                        <p:strVal val="visible"/>
                                      </p:to>
                                    </p:set>
                                    <p:animEffect transition="in" filter="fade">
                                      <p:cBhvr>
                                        <p:cTn id="44" dur="500"/>
                                        <p:tgtEl>
                                          <p:spTgt spid="26"/>
                                        </p:tgtEl>
                                      </p:cBhvr>
                                    </p:animEffect>
                                  </p:childTnLst>
                                </p:cTn>
                              </p:par>
                            </p:childTnLst>
                          </p:cTn>
                        </p:par>
                      </p:childTnLst>
                    </p:cTn>
                  </p:par>
                  <p:par>
                    <p:cTn id="45" fill="hold">
                      <p:stCondLst>
                        <p:cond delay="indefinite"/>
                      </p:stCondLst>
                      <p:childTnLst>
                        <p:par>
                          <p:cTn id="46" fill="hold">
                            <p:stCondLst>
                              <p:cond delay="0"/>
                            </p:stCondLst>
                            <p:childTnLst>
                              <p:par>
                                <p:cTn id="47" presetID="10" presetClass="entr" presetSubtype="0" fill="hold" grpId="0" nodeType="clickEffect">
                                  <p:stCondLst>
                                    <p:cond delay="0"/>
                                  </p:stCondLst>
                                  <p:childTnLst>
                                    <p:set>
                                      <p:cBhvr>
                                        <p:cTn id="48" dur="1" fill="hold">
                                          <p:stCondLst>
                                            <p:cond delay="0"/>
                                          </p:stCondLst>
                                        </p:cTn>
                                        <p:tgtEl>
                                          <p:spTgt spid="29"/>
                                        </p:tgtEl>
                                        <p:attrNameLst>
                                          <p:attrName>style.visibility</p:attrName>
                                        </p:attrNameLst>
                                      </p:cBhvr>
                                      <p:to>
                                        <p:strVal val="visible"/>
                                      </p:to>
                                    </p:set>
                                    <p:animEffect transition="in" filter="fade">
                                      <p:cBhvr>
                                        <p:cTn id="49" dur="500"/>
                                        <p:tgtEl>
                                          <p:spTgt spid="29"/>
                                        </p:tgtEl>
                                      </p:cBhvr>
                                    </p:animEffect>
                                  </p:childTnLst>
                                </p:cTn>
                              </p:par>
                            </p:childTnLst>
                          </p:cTn>
                        </p:par>
                      </p:childTnLst>
                    </p:cTn>
                  </p:par>
                  <p:par>
                    <p:cTn id="50" fill="hold">
                      <p:stCondLst>
                        <p:cond delay="indefinite"/>
                      </p:stCondLst>
                      <p:childTnLst>
                        <p:par>
                          <p:cTn id="51" fill="hold">
                            <p:stCondLst>
                              <p:cond delay="0"/>
                            </p:stCondLst>
                            <p:childTnLst>
                              <p:par>
                                <p:cTn id="52" presetID="10" presetClass="entr" presetSubtype="0" fill="hold" grpId="0" nodeType="clickEffect">
                                  <p:stCondLst>
                                    <p:cond delay="0"/>
                                  </p:stCondLst>
                                  <p:childTnLst>
                                    <p:set>
                                      <p:cBhvr>
                                        <p:cTn id="53" dur="1" fill="hold">
                                          <p:stCondLst>
                                            <p:cond delay="0"/>
                                          </p:stCondLst>
                                        </p:cTn>
                                        <p:tgtEl>
                                          <p:spTgt spid="30"/>
                                        </p:tgtEl>
                                        <p:attrNameLst>
                                          <p:attrName>style.visibility</p:attrName>
                                        </p:attrNameLst>
                                      </p:cBhvr>
                                      <p:to>
                                        <p:strVal val="visible"/>
                                      </p:to>
                                    </p:set>
                                    <p:animEffect transition="in" filter="fade">
                                      <p:cBhvr>
                                        <p:cTn id="54" dur="500"/>
                                        <p:tgtEl>
                                          <p:spTgt spid="3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