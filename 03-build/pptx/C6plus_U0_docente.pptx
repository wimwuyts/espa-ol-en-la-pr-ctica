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U0 = het reencuentro (huidige cohorte, C6+). Diagnostische repaso: geen heronderwijs, wél activeren. Doel: saludar/presentarse (formeel/informeel), el presente (regular + ser/estar/tener/ir/hacer/venir/dar), género &amp; concordancia, países/nacionalidades/lenguas, números. Kernvalstrik: soy ≠ estoy · porque = want én omdat · nacionalidades met kleine letter.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Kern = §2 el presente (diagnostisch). Kruisverwijzing print/HTML: «oefen online — 13 juegos + ~100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presentarse raden zónder de NL-gloss. Contrast tú/usted meteen. Online: flip cards + memoria del reencuentro + ¿formal o informal? (classify).</a:t>
            </a:r>
          </a:p>
          <a:p/>
          <a:p>
            <a:r>
              <a:t>— SOLUCIÓN (docent · presenter view) —</a:t>
            </a:r>
          </a:p>
          <a:p>
            <a:r>
              <a:t>Presentarte (3 werkwoorden): me llamo · soy (de) · tengo … años · vivo en · hablo …</a:t>
            </a:r>
          </a:p>
          <a:p>
            <a:r>
              <a:t>🔴 nacionaliteiten met kleine letter: soy belga, es española (niet Belga/Española).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raíz+terminación zichtbaar. Kleur nooit als enige drager. Online: «completa: el presente» (cloze) + vervoegingscirkel.</a:t>
            </a:r>
          </a:p>
          <a:p/>
          <a:p>
            <a:r>
              <a:t>— SOLUCIÓN (docent · presenter view) —</a:t>
            </a:r>
          </a:p>
          <a:p>
            <a:r>
              <a:t>Regla: raíz (habl-) + terminación. De terminación verandert met de persoon: yo hablo, tú hablas, él habla…</a:t>
            </a:r>
          </a:p>
          <a:p>
            <a:r>
              <a:t>De 7 onregelmatige (yo): soy · estoy · tengo · voy · hago · vengo · doy (vaak -oy of -go).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de vorm roepen vóór de klik. Online: «completa: el presente» (cloze) + señala (yo/tú).</a:t>
            </a:r>
          </a:p>
          <a:p/>
          <a:p>
            <a:r>
              <a:t>— SOLUCIÓN (docent · presenter view) —</a:t>
            </a:r>
          </a:p>
          <a:p>
            <a:r>
              <a:t>yo → -o (hablo, vivo) · soy/estoy/tengo/voy/vengo/hago/doy. tú → -s · él/ella → -a/-e · nosotros → -mos · ellos → 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 vóór de klik. soy/estoy is dé U0-valstrik; het volledige ser/estar-contrast is U1.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Truc: permanent/eigenschap → ser (soy) · tijdelijk/plaats → estar (estoy). Contrast komt uitgebreid in U1.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género. Toon concordantie fysiek (el chico alto / la chica alta). Online: «¿el o la?» (classify) + concordancia Tetris.</a:t>
            </a:r>
          </a:p>
          <a:p/>
          <a:p>
            <a:r>
              <a:t>— SOLUCIÓN (docent · presenter view) —</a:t>
            </a:r>
          </a:p>
          <a:p>
            <a:r>
              <a:t>Regla: lidwoord + adjectief komen overeen in geslacht én getal. Uitzonderingen: el día/mapa/problema (m), la mano/foto (f).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 (retrieval). Klas roept el/la vóór de klik. Online: «¿el o la?» (classify).</a:t>
            </a:r>
          </a:p>
          <a:p/>
          <a:p>
            <a:r>
              <a:t>— SOLUCIÓN (docent · presenter view) —</a:t>
            </a:r>
          </a:p>
          <a:p>
            <a:r>
              <a:t>Valstrikken: -ma → m (el problema, el idioma) · la mano, la foto (f ondanks -o) · -dad → f (la ciudad).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globaal, dan scannen. Onthul antwoorden pas na de klas. Daarna: leerlingen zeggen met wie ze meer gemeen hebben (transfer → Tarea).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datos (país, edad, lengua, carácter)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presentatie voor (of TTS). Klas noteert país + edad; onthul per klik. Koppel meteen aan de eigen presentación.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Lucía, soy de España. Tengo dieciséis años y soy alegre.» …</a:t>
            </a:r>
          </a:p>
          <a:p>
            <a:r>
              <a:t>Daarna spreken: elke leerling presenteert zich zoals het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soy/estoy (reveal). Coro vóór de klik. Diagnostisch: enkel yo-vormen. Online: «¿soy o estoy?» (classify).</a:t>
            </a:r>
          </a:p>
          <a:p/>
          <a:p>
            <a:r>
              <a:t>— SOLUCIÓN (docent · presenter view) —</a:t>
            </a:r>
          </a:p>
          <a:p>
            <a:r>
              <a:t>ser (soy): herkomst · nationaliteit · beroep · karakter. estar (estoy): plaats · gevoel · toestand.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presentarse in rondes met afbouwende steun. Online: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«¡Hola! Me llamo … Soy de … Tengo … años. Vivo en … Hablo … ¡Mucho gusto!»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presente correct, concordancia, één conector. Dit voedt de Tarea «Tarjeta de reencuentro».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países. Klik onthult; koppel país → nacionalidad → lengua. Online: «país ↔ nacionalidad» (match) + banderas (memory).</a:t>
            </a:r>
          </a:p>
          <a:p/>
          <a:p>
            <a:r>
              <a:t>— SOLUCIÓN (docent · presenter view) —</a:t>
            </a:r>
          </a:p>
          <a:p>
            <a:r>
              <a:t>Zin: Soy de España, soy español/a y hablo español. 🔴 nacionalidades met kleine letter; landen met hoofdletter.</a:t>
            </a:r>
          </a:p>
          <a:p>
            <a:r>
              <a:t>Números: veinte (20) · cincuenta (50) · cien (100).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Acentuación = EELP-sterk, kort ophalen. porque/pero = kernvalstrik NL.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de meeste woorden zijn llana; draagt het een tilde, volg de tilde (mú-si-ca).</a:t>
            </a:r>
          </a:p>
          <a:p>
            <a:r>
              <a:t>🔴 B: «want» én «omdat» = porque · «maar» = pero · «dus» = así que/por eso (niet luego).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Bruggetje naar La Ruta (U1 begint de reis). Online: klikbare wereldkaart.</a:t>
            </a:r>
          </a:p>
          <a:p/>
          <a:p>
            <a:r>
              <a:t>— SOLUCIÓN (docent · presenter view) —</a:t>
            </a:r>
          </a:p>
          <a:p>
            <a:r>
              <a:t>Actividad: ¿Qué país quieres visitar y por qué? Schrijf één zin met «Quiero visitar … porque 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vóór de klik. Daarna de presentación in parejas.</a:t>
            </a:r>
          </a:p>
          <a:p/>
          <a:p>
            <a:r>
              <a:t>— SOLUCIÓN (docent · presenter view) —</a:t>
            </a:r>
          </a:p>
          <a:p>
            <a:r>
              <a:t>Presentarse: ¿Cómo te llamas? · Soy de … · Tengo … años · ¿De dónde eres? · Vivo en … · Mucho gusto.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15 · 2) miércoles · 3) 8 · 4) 5</a:t>
            </a:r>
          </a:p>
          <a:p>
            <a:r>
              <a:t>1) F — «No soy profesional»</a:t>
            </a:r>
          </a:p>
          <a:p>
            <a:r>
              <a:t>2) F — «Los libros están en muy buen estado»</a:t>
            </a:r>
          </a:p>
          <a:p>
            <a:r>
              <a:t>3) V — «Es gratis»</a:t>
            </a:r>
          </a:p>
          <a:p>
            <a:r>
              <a:t>4) V — «soy nuevo en el instituto»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Mateo · 2) De Buenos Aires · 3) 24 · 4) Cansado · 5) Martes y jueves</a:t>
            </a:r>
          </a:p>
          <a:p>
            <a:r>
              <a:t>1) V — «Estuve en Cartagena»</a:t>
            </a:r>
          </a:p>
          <a:p>
            <a:r>
              <a:t>2) F — «Está en nuestra clase»</a:t>
            </a:r>
          </a:p>
          <a:p>
            <a:r>
              <a:t>3) F — «Es la misma»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el presente · género/concordancia · ser/estar · países/nacionalidades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(13 spellen). Bruggetje: U1 «El día a día» — rutina, gustos (me gusta) en ser vs estar.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7.xml"/><Relationship Id="rId6" Type="http://schemas.openxmlformats.org/officeDocument/2006/relationships/slide" Target="slide14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EL REENCUENTRO · EL MUNDO HISPANO 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¡Volvemos!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Otra vez juntos: saludar, presentarte y activar tu base (presente · género · países).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eres… otra vez?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Wie ben je… opnieuw?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«Tarjeta de reencuentro»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presentarse · tú/usted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presente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 + ser/estar/ir…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Género y adj.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el/la · -o/-a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Países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nacionalidad · lengua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14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dos perfiles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mundo hispano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Tarjeta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preséntate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het reencuentro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hola / adiós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hallo / dag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saludo · despedida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buenos días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goedemorgen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buenas tardes/noches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me llamo…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heet…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¿cómo te llamas?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soy de…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kom uit…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¿de dónde eres?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tengo … años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ben … jaar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¿cuántos años tienes?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vivo en…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woon in…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¿dónde vives?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hablo…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ik spreek…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lengua / el idioma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encantado/-a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aangenaam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mucho gusto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Formal vs. informal: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tú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estás?) ·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usted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(¿cómo está?)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Presentarte (3 werkwoorden):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me llamo · soy (de) · tengo … años · vivo en · hablo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nacionaliteiten met kleine letter: soy belga, es española (niet Belga/Española).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— ¿quién hace qué?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Kleur = de functie. Het werkwoord past zich aan de persoon aan.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563EB"/>
                </a:solidFill>
                <a:latin typeface="Bricolage Grotesque"/>
              </a:rPr>
              <a:t>(Yo)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hablo </a:t>
            </a:r>
            <a:r>
              <a:rPr sz="2200" b="1" i="0">
                <a:solidFill>
                  <a:srgbClr val="B4309A"/>
                </a:solidFill>
                <a:latin typeface="Bricolage Grotesque"/>
              </a:rPr>
              <a:t>español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vivo </a:t>
            </a:r>
            <a:r>
              <a:rPr sz="2200" b="1" i="0">
                <a:solidFill>
                  <a:srgbClr val="64748B"/>
                </a:solidFill>
                <a:latin typeface="Bricolage Grotesque"/>
              </a:rPr>
              <a:t>en Gante.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regulares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-ar hablar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as · a · amos · áis · 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-er comer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emos · éis · 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3291840"/>
            <a:ext cx="365760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3383280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-ir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712464"/>
            <a:ext cx="3383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A7317"/>
                </a:solidFill>
                <a:latin typeface="Inter"/>
              </a:rPr>
              <a:t>o · es · e · imos · ís 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raíz (habl-) + terminación. De terminación verandert met de persoon: yo hablo, tú hablas, él habla…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7 onregelmatige (yo): soy · estoy · tengo · voy · hago · vengo · doy (vaak -oy of -go).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435254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presente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 verschijnt. Kijk naar de persoon.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Yo ___ (ser)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¿Tú ___ (vivir) en Gante?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Nina ___ (tener) 16 años.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Nosotros ___ (hablar) español.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554480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hablamos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Diego ___ (ir) al mercado.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2359152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931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Ellos ___ (venir) de México.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163824"/>
            <a:ext cx="13258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yo → -o (hablo, vivo) · soy/estoy/tengo/voy/vengo/hago/doy.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tú → -s · él/ella → -a/-e · nosotros → -mos · ellos → -n.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«ser» + ¡ojo! soy / estoy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de vorm verschijnt. ser = wie/wat je bent.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28800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39696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4632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852928"/>
            <a:ext cx="310896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944368"/>
            <a:ext cx="31089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255264"/>
            <a:ext cx="31089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5B3E83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177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</a:t>
            </a:r>
            <a:r>
              <a:rPr sz="1300" b="1" i="0">
                <a:solidFill>
                  <a:srgbClr val="2563EB"/>
                </a:solidFill>
                <a:latin typeface="Inter"/>
              </a:rPr>
              <a:t>soy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identiteit (soy belga, soy estudiante) · </a:t>
            </a:r>
            <a:r>
              <a:rPr sz="1300" b="1" i="0">
                <a:solidFill>
                  <a:srgbClr val="64748B"/>
                </a:solidFill>
                <a:latin typeface="Inter"/>
              </a:rPr>
              <a:t>estoy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= plaats/gevoel (estoy en clase, estoy bien).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663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permanent/eigenschap → ser (soy) · tijdelijk/plaats → estar (estoy). Contrast komt uitgebreid in U1.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Género y concordancia — el/la · -o/-a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Lidwoord én adjectief volgen het zelfstandig naamwoord (m/v · ev/mv).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el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EA7317"/>
                </a:solidFill>
                <a:latin typeface="Inter"/>
              </a:rPr>
              <a:t>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554480"/>
            <a:ext cx="548640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554480"/>
            <a:ext cx="512064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Inter"/>
              </a:rPr>
              <a:t>la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chic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 </a:t>
            </a:r>
            <a:r>
              <a:rPr sz="2000" b="1" i="0">
                <a:solidFill>
                  <a:srgbClr val="20242E"/>
                </a:solidFill>
                <a:latin typeface="Inter"/>
              </a:rPr>
              <a:t>alt</a:t>
            </a:r>
            <a:r>
              <a:rPr sz="2000" b="1" i="0">
                <a:solidFill>
                  <a:srgbClr val="DC2626"/>
                </a:solidFill>
                <a:latin typeface="Inter"/>
              </a:rPr>
              <a:t>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el / 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1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masculino (-o)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la / una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3171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femenino (-a)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los / las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1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plural (+ -s)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2880360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-o → -a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2880360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chico → chica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3557016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el problema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199" y="3557016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-ma = m.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4840" y="4233672"/>
            <a:ext cx="17373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🔴 la mano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199" y="4233672"/>
            <a:ext cx="16459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-o = 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4" name="Rounded Rectangle 43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8920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lidwoord + adjectief komen overeen in geslacht én getal. Uitzonderingen: el día/mapa/problema (m), la mano/foto (f).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47640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het juiste lidwoord.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casa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problema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día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ciudad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___ mapa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Valstrikken: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-ma → m (el problema, el idioma) · la mano, la foto (f ondanks -o) · -dad → f (la ciudad).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perfiles — «De vuelta al insti»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«Me llamo Diego, soy de la Ciudad de México. Tengo 16 años. Vivo con mi madre y mi hermana. En clase soy alegre. Hablo español y estudio neerlandés.»</a:t>
            </a:r>
          </a:p>
        </p:txBody>
      </p:sp>
      <p:pic>
        <p:nvPicPr>
          <p:cNvPr id="12" name="Picture 11" descr="n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20242E"/>
                </a:solidFill>
                <a:latin typeface="Inter"/>
              </a:rPr>
              <a:t>«Soy Nina, peruana, de Cusco. Tengo 16 años y un hermano pequeño. Soy tranquila. Hablo español y un poco de quechua.»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¿De dónde es Diego?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México (CDMX)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lengua habla Nina además del español?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poco de quechua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¿Cuántos años tienen los dos?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Dieciséis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es Nina?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Tranquila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5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datos (país, edad, lengua, carácter) — niet élk woord.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las presentaciones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Vier personas se presentan. Klik un nombre → país + dato.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España 🇪🇸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alegre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México 🇲🇽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16 · hablador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Colombia 🇨🇴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15 · costeña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🔊  Mateo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Es de: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Argentina 🇦🇷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Edad · carácter: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C56A9"/>
                </a:solidFill>
                <a:latin typeface="Inter"/>
              </a:rPr>
              <a:t>17 · voseo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«Hola, me llamo Lucía, soy de España. Tengo dieciséis años y soy alegre.»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 spreken: elke leerling presenteert zich zoals het model.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¿soy o estoy?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 ser = identiteit · estar = plaats/gevoel.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en clase.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70992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estudiante.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Hoy ___ contento.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6168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belga.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soy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834640"/>
            <a:ext cx="361188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2944368"/>
            <a:ext cx="33924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___ muy bien, gracias.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291840"/>
            <a:ext cx="3611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5B3E83"/>
                </a:solidFill>
                <a:latin typeface="Bricolage Grotesque"/>
              </a:rPr>
              <a:t>→ estoy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ser (soy):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herkomst · nationaliteit · beroep · karakter.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estar (estoy):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plaats · gevoel · toestand.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¡Hola! / Buenos días.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Me llamo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Soy de 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Tengo … años.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Dónde vives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Vivo en 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Lengua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Hablo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4156862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preséntate»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«¡Hola! Me llamo … Soy de … Tengo … años. Vivo en … Hablo … ¡Mucho gusto!»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tarjeta de reencuentro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je kaartje.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aquí tu tarjeta: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 dónde eres (origen)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dónde vives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lengua que hablas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adjetivo de carácter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(y/pero/porque)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«¡Hola! Me llamo Sara. Soy de Bélgica y tengo 16 años. Vivo en Gante. Soy alegre y trabajadora, y hablo neerlandés y español. ¡Mucho gusto!»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Países, nacionalidades y números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woord → de vertaling/vorm.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español/a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mexicano/a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Colombia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colombiano/a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554480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peruano/a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argentino/a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belga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cincuenta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322576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cien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lengua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idioma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de taal (m!)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nacionalidad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090672"/>
            <a:ext cx="1005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56A9"/>
                </a:solidFill>
                <a:latin typeface="Inter"/>
              </a:rPr>
              <a:t>→ nationaliteit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Zin: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Soy de España, soy español/a y hablo español.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🔴 nacionalidades met kleine letter; landen met hoofdletter.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Números: veinte (20) · cincuenta (50) · cien (100).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Acentuación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uitspraak en verbinden.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acento: aguda / llana /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Ma-drid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ca-sa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41448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mú-si-ca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099816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esdrújula (tilde!)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es-pa-ñol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758184"/>
            <a:ext cx="28346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aguda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conectores: y · pero · porque · también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Soy de Bélgica ___ hablo NL.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178308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Estudio español ___ me gusta.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44144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Nina es tranquila, ___ Diego habla mucho.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309981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39319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Tengo un hermano ___ una hermana.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75818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meeste woorden zijn llana; draagt het een tilde, volg de tilde (mú-si-ca).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«want» én «omdat» = porque · «maar» = pero · «dus» = así que/por eso (niet luego).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EL REENCUENTRO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 verschijnt. 21 países, 500+ miljoen sprekers.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🇪🇸 Europa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is het enige Spaanstalige land in Europa. Ook catalán, gallego y euskera. Madrid = hoofdstad.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castellano = español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🌎 América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meeste hispanohablantes wonen in Latijns-Amerika: van México (~130 mln) tot Argentina (voseo).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19 landen, veel accenten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🌍 ¿Sabías que…?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Ook in Guinea Ecuatorial (Afrika) is Spaans officieel. En in de VS ~40 mln hispanohablantes.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2ª lengua materna del mundo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¿Qué país quieres visitar y por qué? Schrijf één zin met «Quiero visitar … porque …».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te ___? (heten)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llamas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de Bélgica. (ik kom uit)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Tengo dieciséis ___.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años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¿De ___ eres? (waar)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dónde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___ en Gante. (wonen)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Mucho ___. (aangenaam)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4592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gusto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Presentarse: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¿Cómo te llamas? · Soy de … · Tengo … años · ¿De dónde eres? · Vivo en … · Mucho gusto.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tablón de anuncios»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tablón de anuncios (drie korte berichten)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Bricolage Grotesque"/>
              </a:rPr>
              <a:t>TABLÓN DE ANUNCIOS · Instituto Santa Clara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🎸 BUSCO GRUPO DE MÚSICA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Me llamo Mateo, soy argentino y soy nuevo en el instituto. Toco la guitarra desde los ocho años. Busco compañeros para tocar los viernes. No soy profesional, pero soy constante. ¿Te animas?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📚 VENDO LIBROS DE SEGUNDA MANO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Los libros están en muy buen estado. Son de cuarto curso. Cuestan diez euros cada uno, o quince los dos. Estoy en el patio a la hora del recreo. Pregunta por Valen.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🌎 INTERCAMBIO DE LENGUAS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Somos cinco alumnos de México, Colombia y Perú. Queremos hablar neerlandés y vosotros queréis hablar español. Nos reunimos los miércoles en la biblioteca. Es gratis y es divertido. ¡Todos sois bienvenidos!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 cuestan dos libros?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¿Qué día se reúne el intercambio de lenguas?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¿Desde qué edad toca Mateo la guitarra?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alumnos organizan el intercambio?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Mateo es un guitarrista profesional.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Los libros de Valen están estropeados.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intercambio de lenguas no cuesta nada.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Mateo lleva poco tiempo en el instituto.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Escanear: 1) 15 · 2) miércoles · 3) 8 · 4) 5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F — «No soy profesional»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«Los libros están en muy buen estado»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V — «Es gratis»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4) V — «soy nuevo en el instituto»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de curso»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patio del instituto, primera semana de septiembre</a:t>
            </a:r>
            <a:r>
              <a:rPr sz="1100" b="1" i="0">
                <a:solidFill>
                  <a:srgbClr val="5B3E83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Diego (de México) y Valen (de Cartagena, Colombia)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reencuentran y hablan de sus clases y de un compañero nuevo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¿Qué tal el verano? · somos / estamos · el compañero nuevo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llama el compañero nuevo?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Mateo?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alumnos son este año?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¿Cómo está Diego?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días hay clase de español?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Valen pasó el verano en Colombia.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Mateo está en otra clase.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La profesora de español es nueva.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Eres el compañero nuevo. Preséntate a Diego y a Valen en cuatro frases: nombre · origen · cómo estás hoy · una cosa que te gusta.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Detalle: 1) Mateo · 2) De Buenos Aires · 3) 24 · 4) Cansado · 5) Martes y jueves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1) V — «Estuve en Cartagena»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2) F — «Está en nuestra clase»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3) F — «Es la misma»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C6+ · el reencuentro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🪪 Tarea final · Tarjeta de reencuentro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Maak je terugkeer-kaartje voor de klasmuur y preséntate en pareja.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Planifica tus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· edad · origen · lengua · carácter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Escribe la tarjeta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4–5 frases con me llamo / soy / tengo / vivo / hablo + conector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Preséntate en pareja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 en voz alta; tu compañero/a anota un dato y pregunta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Graba tu presentación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Cuelga la tarjeta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muro de la clase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5 datos (nombre·edad·origen·lengua·carácter)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presente correcto (soy/tengo/vivo)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conector (y/pero/porque)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presentar en pareja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(el muro) · doel jezelf (opnieuw) voorstellen · situatie de eerste les · resultaat: tarjeta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tú (tener)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(vivir)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vivimos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nacionalidad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español/a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chica (alto)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___ problema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«want/omdat»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clase → soy/estoy?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estoy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 presente · género/concordancia · ser/estar · países/nacionalidades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(13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Presentarte: me llamo · soy (de) · tengo … años · vivo en · hablo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 presente: -ar → o/as/a/amos/áis/an · -er/-ir gelijkaardig · 7 onreg. (soy·estoy·tengo·voy·hago·vengo·doy).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el chico alto / la chica alta · los/las + -os/-as.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Países/nacionalidades: soy de España, soy español/a (kleine letter), hablo español.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soy ≠ estoy · porque = want én omdat · nacionalidad = kleine letter · belga = m/v gelijk.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saludar + presentarse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presente (regular + ser/estar/tener/ir)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género + concordancia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país/nacionalidad/lengua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leer un perfil + escribir una tarjeta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U0 «¡Volvemos!»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Menu 2' · saludos/presentarse 8' · el presente 12' · género 8' · ser/estar 5' · lectura/escucha 8' · cultura 3'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soy ≠ estoy (identiteit vs plaats/gevoel) · porque = want én omdat · nacionalidades met kleine letter · belga = m/v gelijk · el problema/día/mapa (m), la mano/foto (f).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U0 = diagnostisch, geen heronderwijs. Sterker: volledige presentación + tarjeta + perfil beschrijven. Zwakker: presente-tabel + soy/estoy-kaart langer open, frames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13 spellen + flip cards + klikbare wereldkaart + recorder (Hablar) + Lectura (dos perfiles)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EE8F5"/>
                </a:solidFill>
                <a:latin typeface="Inter"/>
              </a:rPr>
              <a:t>Tarea «Tarjeta de reencuentro» met rúbrica (4 criteria). LPD (III-Spa-d): presentarse 4·5·9 · datos 7·3 · países/nacionalidades 7·8·5 · ser/verbos 8·3 · género 8·7. U0 = opstap, geen zware toetsing.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¡VOLVEMOS!   ·   C6+ · el reencuentro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