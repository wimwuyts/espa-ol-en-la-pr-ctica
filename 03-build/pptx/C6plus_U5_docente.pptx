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77" r:id="rId29"/>
    <p:sldId id="278" r:id="rId30"/>
    <p:sldId id="279" r:id="rId31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TITLE. U5 = de kern-verleden tijd. Kerngrammatica: pretérito indefinido (regular + fuertes: fue/hizo/tuvo/estuvo/dijo) + se lo/se la. Parada 5 = Buenos Aires (Mateo, voseo). Kernvalstrikken: indefinido = afgeronde feiten (ayer, en 1919) ≠ perfecto · hizo (z) · fue = ser én ir · le lo → se lo. Docentdeck = oplossing; leerlingdeck (.pptx, F5) = klik onthult.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LESSON_MENU. Kern = §2 indefinido + §3 se lo. Kruisverwijzing: «oefen online — 12 juegos + 100+ oefeningen».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VOCABULARY. Laat de biografiewoorden raden. Koppel persona → logro. Online: memoria de la vida + memoria de oficios.</a:t>
            </a:r>
          </a:p>
          <a:p/>
          <a:p>
            <a:r>
              <a:t>— SOLUCIÓN (docent · presenter view) —</a:t>
            </a:r>
          </a:p>
          <a:p>
            <a:r>
              <a:t>Etapas: nacer → crecer → estudiar → casarse → morir. Logros: ganar, escribir, pintar, componer, descubrir.</a:t>
            </a:r>
          </a:p>
          <a:p>
            <a:r>
              <a:t>Personas: el escritor, la pintora, el cantante, el futbolista, el científico.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indefinido. Toon raíz + uitgang. Online: completa el indefinido (cloze) + indefinido Tetris.</a:t>
            </a:r>
          </a:p>
          <a:p/>
          <a:p>
            <a:r>
              <a:t>— SOLUCIÓN (docent · presenter view) —</a:t>
            </a:r>
          </a:p>
          <a:p>
            <a:r>
              <a:t>Regla: de klemtoon staat op de uitgang: hablé, habló, comí, comió. -er en -ir zijn identiek. Marker: ayer, en 1967.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indefinido (retrieval). Klas roept de vorm vóór de klik. Online: cloze el indefinido.</a:t>
            </a:r>
          </a:p>
          <a:p/>
          <a:p>
            <a:r>
              <a:t>— SOLUCIÓN (docent · presenter view) —</a:t>
            </a:r>
          </a:p>
          <a:p>
            <a:r>
              <a:t>Truc: -ar → é/ó · -er/-ir → í/ió. Klemtoon op de uitgang.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fuertes. Coro vóór de klik. Online: ¿regular o irregular? (classify) + indefinido Tetris.</a:t>
            </a:r>
          </a:p>
          <a:p/>
          <a:p>
            <a:r>
              <a:t>— SOLUCIÓN (docent · presenter view) —</a:t>
            </a:r>
          </a:p>
          <a:p>
            <a:r>
              <a:t>Sin acento: fue · hizo · tuvo · estuvo · dijo · vino · dio · vio.</a:t>
            </a:r>
          </a:p>
          <a:p>
            <a:r>
              <a:t>🔴 hizo (z) · fue = ser én ir (Fue médico / Fue a París).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se lo. Toon le+lo → se lo. Online: completa se lo/se la (cloze) + vervangingsanimatie.</a:t>
            </a:r>
          </a:p>
          <a:p/>
          <a:p>
            <a:r>
              <a:t>— SOLUCIÓN (docent · presenter view) —</a:t>
            </a:r>
          </a:p>
          <a:p>
            <a:r>
              <a:t>Regla: als le/les + lo/la samenkomen → le/les wordt se. Volgorde: se + lo/la + werkwoord. </a:t>
            </a:r>
          </a:p>
          <a:p>
            <a:r>
              <a:t>Bij infinitivo: dárselo = se lo voy a dar.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se lo (retrieval). Klas roept vóór de klik. Online: cloze se lo/se la.</a:t>
            </a:r>
          </a:p>
          <a:p/>
          <a:p>
            <a:r>
              <a:t>— SOLUCIÓN (docent · presenter view) —</a:t>
            </a:r>
          </a:p>
          <a:p>
            <a:r>
              <a:t>Concordancia OD: el→lo · la→la · los→los · las→las. Altijd «se» als OI vooraan.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READING (lezen→schrijven, LPD 6). Eerst globaal, dan scannen. Daarna: eigen minibiografie met el indefinido.</a:t>
            </a:r>
          </a:p>
          <a:p/>
          <a:p>
            <a:r>
              <a:t>— SOLUCIÓN (docent · presenter view) —</a:t>
            </a:r>
          </a:p>
          <a:p>
            <a:r>
              <a:t>🎯 Leesdoel: scannen naar het indefinido (nació, ganó…) + datums.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LISTENING (luisteren→spreken). Lees voor (of TTS); klas raadt. Daarna adivina el personaje in parejas. Online: ¿quién fue? (audio).</a:t>
            </a:r>
          </a:p>
          <a:p/>
          <a:p>
            <a:r>
              <a:t>— SOLUCIÓN (docent · presenter view) —</a:t>
            </a:r>
          </a:p>
          <a:p>
            <a:r>
              <a:t>Modelo-audio (docent/TTS): «Nació en Rosario en 1987. De niño jugó al fútbol. Ganó muchos títulos y fue campeón del Mundo. ¿Quién es?» </a:t>
            </a:r>
          </a:p>
          <a:p>
            <a:r>
              <a:t>Daarna: A beschrijft een figuur, B raadt (info-gap).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GRAMMAR conectores. Structuur van een biografie. Online: ordena la biografía (order).</a:t>
            </a:r>
          </a:p>
          <a:p/>
          <a:p>
            <a:r>
              <a:t>— SOLUCIÓN (docent · presenter view) —</a:t>
            </a:r>
          </a:p>
          <a:p>
            <a:r>
              <a:t>Estructura: Érase una vez… Primero nació… Después estudió… Entonces triunfó… Al final murió famoso.</a:t>
            </a:r>
          </a:p>
          <a:p>
            <a:r>
              <a:t>De markers (ayer, en 1919, el año pasado) horen bij het indefinido.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(retrieval). Door elkaar. Online: cloze + indefinido Tetris.</a:t>
            </a:r>
          </a:p>
          <a:p/>
          <a:p>
            <a:r>
              <a:t>— SOLUCIÓN (docent · presenter view) —</a:t>
            </a:r>
          </a:p>
          <a:p>
            <a:r>
              <a:t>Fuertes: fue · hizo · tuvo · estuvo · dijo · vino · dio. Se lo = le/les + 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SPEAKING (interactie). Rondes met afbouwende steun. Online: recorder (una biografía + mi opinión).</a:t>
            </a:r>
          </a:p>
          <a:p/>
          <a:p>
            <a:r>
              <a:t>— SOLUCIÓN (docent · presenter view) —</a:t>
            </a:r>
          </a:p>
          <a:p>
            <a:r>
              <a:t>Modelo: «Frida Kahlo nació en México en 1907. Tuvo un accidente y empezó a pintar. Pintó autorretratos. Murió en 1954. Creo que fue una artista genial porque cambió el arte.»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WRITING (lezen→schrijven, LPD 6). Checklist = zichtbare steun; onthul het model pas na het schrijven. Nakijkfocus: indefinido, fuertes, conectores, opinión. Voedt de Tarea.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VOCAB personas. Klik onthult. Online: memoria de oficios + señala.</a:t>
            </a:r>
          </a:p>
          <a:p/>
          <a:p>
            <a:r>
              <a:t>— SOLUCIÓN (docent · presenter view) —</a:t>
            </a:r>
          </a:p>
          <a:p>
            <a:r>
              <a:t>Woordfamilie: escribir → escritor · pintar → pintor · cantar → cantante · la ciencia → científico.</a:t>
            </a:r>
          </a:p>
          <a:p>
            <a:r>
              <a:t>Opinión: creo que fue… · lo más importante fue… · admiro a…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TALLER. Spellingwissels (yo) + conectoren. Online: drills in de hub.</a:t>
            </a:r>
          </a:p>
          <a:p/>
          <a:p>
            <a:r>
              <a:t>— SOLUCIÓN (docent · presenter view) —</a:t>
            </a:r>
          </a:p>
          <a:p>
            <a:r>
              <a:t>A: enkel bij yo verandert de spelling: busqué, llegué, empecé, saqué, jugué, toqué.</a:t>
            </a:r>
          </a:p>
          <a:p>
            <a:r>
              <a:t>B: érase una vez → primero → después → entonces → al final.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CULTURE (LPD 5·6). Onthul per kaart. Bruggetje: La Ruta parada 5 = Argentina (★, persona). Online: klik op Argentina op de kaart.</a:t>
            </a:r>
          </a:p>
          <a:p/>
          <a:p>
            <a:r>
              <a:t>— SOLUCIÓN (docent · presenter view) —</a:t>
            </a:r>
          </a:p>
          <a:p>
            <a:r>
              <a:t>Voseo (Mateo): «¿de dónde sos?» «vos tenés razón». Rasgo típico del Río de la Plata. Actividad: ¿a quién admiras?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FINAL_MISSION (communicatieve eindtaak, LPD 6). Beoordeel met de rúbrica; opname op de web.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QUIZ mezcla (retrieval vóór herlezen). Exit-ticket. Zwakke punten → terug via menu.</a:t>
            </a:r>
          </a:p>
          <a:p/>
          <a:p>
            <a:r>
              <a:t>— SOLUCIÓN (docent · presenter view) —</a:t>
            </a:r>
          </a:p>
          <a:p>
            <a:r>
              <a:t>Alles komt terug: indefinido regular · fuertes · se lo · conectores · ortografía yo.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TEACHER · FEEDBACK/REPASO. Semáforo = zelfevaluatie. Repaso-drills online (12 spellen). Bruggetje: U6 «Cuando era pequeño» — el imperfecto + contrast (Cusco, Nina).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Alleen in het docentdeck. Volledige LPD-dekking en didactische route staan in het cursusdossier (cocktail + outline).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1 · El obituario del héroe anónimo — ✍️ creatieve beperking</a:t>
            </a:r>
          </a:p>
          <a:p>
            <a:r>
              <a:t>OPDRACHT: Schrijf het overlijdensbericht van iemand die niet beroemd werd, in acht zinnen.</a:t>
            </a:r>
          </a:p>
          <a:p>
            <a:r>
              <a:t>DE REGEL: Geen beroemdheid, geen uitvinder, geen held. Iemand uit een gewoon leven — en toch moet je in één zin kunnen zeggen wat er zonder deze persoon níet zou bestaan.</a:t>
            </a:r>
          </a:p>
          <a:p>
            <a:r>
              <a:t>VERLOOP: Piensa en alguien real o inventado, pero corriente. | Escribe la frase «gracias a él/ella, …». | Construye las otras siete alrededor. | Léelo en voz alta. ¿Se nota que importó?</a:t>
            </a:r>
          </a:p>
          <a:p>
            <a:r>
              <a:t>SLEUTEL: De verplichte zin «gracias a él/ella, …» is het hart: hij dwingt tot een gevolg dat nog bestaat, en dus tot een contrast tussen indefinido (het leven) en presente (het gevolg).  ||  «Nunca… , pero sí…» is de tweede sleutelzin: hij maakt de anonimiteit expliciet in plaats van hem te verzwijgen.  ||  De vijf voorbeelden zijn expres alledaags. Wie toch een beroemdheid kiest, heeft de beperking gemist — en de beperking ís de opdracht.  ||  Toets de acht zinnen, de indefinido-vormen en de aanwezigheid van de gracias-zin.</a:t>
            </a:r>
          </a:p>
          <a:p>
            <a:r>
              <a:t>NOTA: Sommige leerlingen schrijven over een eigen grootouder. Dat mag, en het levert de beste teksten op — maar niemand hoeft voor te lezen.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5 · La leyenda mal contada — ✍️ creatieve beperking</a:t>
            </a:r>
          </a:p>
          <a:p>
            <a:r>
              <a:t>OPDRACHT: Zet de acht delen op volgorde en vertel ze in eigen woorden.</a:t>
            </a:r>
          </a:p>
          <a:p>
            <a:r>
              <a:t>DE REGEL: Bij het navertellen mag je geen enkele zin letterlijk overnemen. Je gebruikt de conectoren van het verhaal — érase una vez, entonces, al final — en je eigen woorden.</a:t>
            </a:r>
          </a:p>
          <a:p>
            <a:r>
              <a:t>VERLOOP: Leed las ocho partes, desordenadas. | Ordenadlas. Dos pistas: quién aparece primero y qué causa qué. | Contadla sin leer, con vuestras palabras. | ¿Qué explica esta leyenda?</a:t>
            </a:r>
          </a:p>
          <a:p>
            <a:r>
              <a:t>SLEUTEL: De juiste volgorde is A · C · B · D · E · F · G · H.  ||  De moeilijkste is C vóór B: eerst vraagt hij toestemming, dán stelt de vader zijn voorwaarde. Wie B eerst zet, keert oorzaak en gevolg om.  ||  H is het slot dat de legende zijn functie geeft: een verklaring voor twee echte vulkanen naast Mexico-Stad. Zonder H is het een liefdesverhaal, mét H is het een mythe.  ||  Toets het navertellen, niet het ordenen. Wie de volgorde heeft maar voorleest, heeft de reto niet gedaan.  ||  «Se querían» en «estaba lejos» staan in het imperfecto, de verteltijd van elke legende. Dat is U6-stof: hier alleen herkennen, en bij het navertellen mag de leerling ze als vaste formule overnemen. Vraag er geen analyse over.</a:t>
            </a:r>
          </a:p>
          <a:p>
            <a:r>
              <a:t>NOTA: Toon een foto van de twee vulkanen ná het navertellen. De vorm van de Iztaccíhuatl — «la mujer dormida» — maakt het verhaal in één beeld af.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RETO 6 · Entrevista al pasado — 🎭 simulatie met beperking</a:t>
            </a:r>
          </a:p>
          <a:p>
            <a:r>
              <a:t>OPDRACHT: Interview het personage. Alle antwoorden in het indefinido.</a:t>
            </a:r>
          </a:p>
          <a:p>
            <a:r>
              <a:t>DE REGEL: Het personage antwoordt uitsluitend in het indefinido — hij vertelt afgeronde feiten, geen gewoontes en geen meningen. Wie «yo creo que» zegt, is uit zijn rol.</a:t>
            </a:r>
          </a:p>
          <a:p>
            <a:r>
              <a:t>VERLOOP: Un/a voluntario/-a elige un personaje y se sienta. | La clase prepara dos preguntas cada uno, en indefinido. | Entrevista de cinco minutos. Sin pausas largas. | Cambiad de personaje. | ¿Qué pregunta ha sido la mejor? ¿Por qué?</a:t>
            </a:r>
          </a:p>
          <a:p>
            <a:r>
              <a:t>SLEUTEL: Het verbod op meningen dwingt tot feiten, en feiten dwingen tot het indefinido. Dat is de hele constructie: de rolregel produceert de grammatica.  ||  Elke modelvraag staat bewust in het indefinido, ook «¿de qué decisión se arrepintió?» — een vraag in het presente laat het personage meteen uit zijn tijd stappen.  ||  De beste vragen zijn die met «cuándo» en «qué hizo»: ze laten geen ontsnappingsroute naar het presente.  ||  Toets de vragen van de klas, niet het antwoord van het personage. Twee goede vragen per leerling is de opdracht.</a:t>
            </a:r>
          </a:p>
          <a:p>
            <a:r>
              <a:t>NOTA: Bereid één personage zelf voor als de klas vastloopt. Vijf minuten in de stoel is langer dan het lijkt, en een leerkracht die het voordoet, breekt het ijs.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6.xml"/><Relationship Id="rId6" Type="http://schemas.openxmlformats.org/officeDocument/2006/relationships/slide" Target="slide7.xml"/><Relationship Id="rId7" Type="http://schemas.openxmlformats.org/officeDocument/2006/relationships/slide" Target="slide11.xml"/><Relationship Id="rId8" Type="http://schemas.openxmlformats.org/officeDocument/2006/relationships/slide" Target="slide9.xml"/><Relationship Id="rId9" Type="http://schemas.openxmlformats.org/officeDocument/2006/relationships/slide" Target="slide17.xml"/><Relationship Id="rId10" Type="http://schemas.openxmlformats.org/officeDocument/2006/relationships/slide" Target="slide18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slide" Target="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slide" Target="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slide" Target="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slide" Target="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Relationship Id="rId4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slide" Target="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slide" Target="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slide" Target="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3.xml"/><Relationship Id="rId4" Type="http://schemas.openxmlformats.org/officeDocument/2006/relationships/slide" Target="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slide" Target="slide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slide" Target="slide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slide" Target="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slide" Target="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slide" Target="slide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97680"/>
            <a:ext cx="12191695" cy="82296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20040"/>
            <a:ext cx="3108960" cy="3291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0" b="1" i="0">
                <a:solidFill>
                  <a:srgbClr val="9374C2"/>
                </a:solidFill>
                <a:latin typeface="Bricolage Grotesque"/>
              </a:rP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977639" y="777240"/>
            <a:ext cx="373623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5B3E83"/>
                </a:solidFill>
                <a:latin typeface="Inter"/>
              </a:rPr>
              <a:t>LA RUTA · BUENOS AIRES 🇦🇷 · ÉRASE UNA VEZ 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1234440"/>
            <a:ext cx="786384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5400" b="1" i="0">
                <a:solidFill>
                  <a:srgbClr val="FFFFFF"/>
                </a:solidFill>
                <a:latin typeface="Bricolage Grotesque"/>
              </a:rPr>
              <a:t>Érase una vez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77639" y="2468880"/>
            <a:ext cx="76809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0" i="1">
                <a:solidFill>
                  <a:srgbClr val="EEE8F5"/>
                </a:solidFill>
                <a:latin typeface="Inter"/>
              </a:rPr>
              <a:t>Biografías y relatos: el pretérito indefinido (fue, hizo) · se lo/se la.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7639" y="3063240"/>
            <a:ext cx="768096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200" b="1" i="0">
                <a:solidFill>
                  <a:srgbClr val="FFFFFF"/>
                </a:solidFill>
                <a:latin typeface="Bricolage Grotesque"/>
              </a:rPr>
              <a:t>¿A qué persona famosa admiras?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Welke beroemde persoon bewonder je?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5262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 gente de la ruta — parada 5: Buenos Aires (Mateo · voseo)</a:t>
            </a:r>
          </a:p>
        </p:txBody>
      </p:sp>
      <p:pic>
        <p:nvPicPr>
          <p:cNvPr id="11" name="Picture 10" descr="die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4937760"/>
            <a:ext cx="914400" cy="9144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1480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Diego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CDMX 🇲🇽</a:t>
            </a:r>
          </a:p>
        </p:txBody>
      </p:sp>
      <p:pic>
        <p:nvPicPr>
          <p:cNvPr id="13" name="Picture 12" descr="val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59" y="4937760"/>
            <a:ext cx="914400" cy="9144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2285999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Valen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Cartagena 🇨🇴</a:t>
            </a:r>
          </a:p>
        </p:txBody>
      </p:sp>
      <p:pic>
        <p:nvPicPr>
          <p:cNvPr id="15" name="Picture 14" descr="nin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78" y="4937760"/>
            <a:ext cx="914400" cy="9144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60518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Nina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Cusco 🇵🇪</a:t>
            </a:r>
          </a:p>
        </p:txBody>
      </p:sp>
      <p:pic>
        <p:nvPicPr>
          <p:cNvPr id="17" name="Picture 16" descr="mate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197" y="4937760"/>
            <a:ext cx="914400" cy="9144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035037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Mateo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BsAs 🇦🇷</a:t>
            </a:r>
          </a:p>
        </p:txBody>
      </p:sp>
      <p:pic>
        <p:nvPicPr>
          <p:cNvPr id="19" name="Picture 18" descr="tu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16" y="4937760"/>
            <a:ext cx="914400" cy="9144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909556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Tú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de reiziger = jij</a:t>
            </a:r>
          </a:p>
        </p:txBody>
      </p:sp>
      <p:pic>
        <p:nvPicPr>
          <p:cNvPr id="21" name="Picture 20" descr="mochil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921235" y="4937760"/>
            <a:ext cx="914400" cy="9144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784075" y="5870448"/>
            <a:ext cx="11887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20242E"/>
                </a:solidFill>
                <a:latin typeface="Inter"/>
              </a:rPr>
              <a:t>Mochila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La mochila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63311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MENÚ DE LA LECCIÓN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mapa de la Unidad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Kies je route — klik een tegel. Alles oefent naar de Tarea «Una biografía» toe.</a:t>
            </a:r>
          </a:p>
        </p:txBody>
      </p:sp>
      <p:sp>
        <p:nvSpPr>
          <p:cNvPr id="9" name="Rounded Rectangle 8">
            <a:hlinkClick action="ppaction://hlinksldjump" r:id="rId3"/>
          </p:cNvPr>
          <p:cNvSpPr/>
          <p:nvPr/>
        </p:nvSpPr>
        <p:spPr>
          <a:xfrm>
            <a:off x="457200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>
            <a:hlinkClick action="ppaction://hlinksldjump" r:id="rId3"/>
          </p:cNvPr>
          <p:cNvSpPr/>
          <p:nvPr/>
        </p:nvSpPr>
        <p:spPr>
          <a:xfrm>
            <a:off x="457200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66928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Biografía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y logros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3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3328416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>
            <a:hlinkClick action="ppaction://hlinksldjump" r:id="rId4"/>
          </p:cNvPr>
          <p:cNvSpPr/>
          <p:nvPr/>
        </p:nvSpPr>
        <p:spPr>
          <a:xfrm>
            <a:off x="3328416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38144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58768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Indefinido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008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regular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93008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4</a:t>
            </a:r>
          </a:p>
        </p:txBody>
      </p:sp>
      <p:sp>
        <p:nvSpPr>
          <p:cNvPr id="21" name="Rounded Rectangle 20">
            <a:hlinkClick action="ppaction://hlinksldjump" r:id="rId5"/>
          </p:cNvPr>
          <p:cNvSpPr/>
          <p:nvPr/>
        </p:nvSpPr>
        <p:spPr>
          <a:xfrm>
            <a:off x="6199632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>
            <a:hlinkClick action="ppaction://hlinksldjump" r:id="rId5"/>
          </p:cNvPr>
          <p:cNvSpPr/>
          <p:nvPr/>
        </p:nvSpPr>
        <p:spPr>
          <a:xfrm>
            <a:off x="6199632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309360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§2b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9984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Fuertes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64224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fue · hizo · tuvo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64224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6</a:t>
            </a:r>
          </a:p>
        </p:txBody>
      </p:sp>
      <p:sp>
        <p:nvSpPr>
          <p:cNvPr id="27" name="Rounded Rectangle 26">
            <a:hlinkClick action="ppaction://hlinksldjump" r:id="rId6"/>
          </p:cNvPr>
          <p:cNvSpPr/>
          <p:nvPr/>
        </p:nvSpPr>
        <p:spPr>
          <a:xfrm>
            <a:off x="9070848" y="141732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>
            <a:hlinkClick action="ppaction://hlinksldjump" r:id="rId6"/>
          </p:cNvPr>
          <p:cNvSpPr/>
          <p:nvPr/>
        </p:nvSpPr>
        <p:spPr>
          <a:xfrm>
            <a:off x="9070848" y="141732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180576" y="149047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0" y="147218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Se lo / se la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203911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OD + OI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235440" y="324612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7</a:t>
            </a:r>
          </a:p>
        </p:txBody>
      </p:sp>
      <p:sp>
        <p:nvSpPr>
          <p:cNvPr id="33" name="Rounded Rectangle 32">
            <a:hlinkClick action="ppaction://hlinksldjump" r:id="rId7"/>
          </p:cNvPr>
          <p:cNvSpPr/>
          <p:nvPr/>
        </p:nvSpPr>
        <p:spPr>
          <a:xfrm>
            <a:off x="457200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>
            <a:hlinkClick action="ppaction://hlinksldjump" r:id="rId7"/>
          </p:cNvPr>
          <p:cNvSpPr/>
          <p:nvPr/>
        </p:nvSpPr>
        <p:spPr>
          <a:xfrm>
            <a:off x="457200" y="3840480"/>
            <a:ext cx="2743200" cy="457200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66928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7C56A9"/>
                </a:solidFill>
                <a:latin typeface="Bricolage Grotesque"/>
              </a:rPr>
              <a:t>§4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Contar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1792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una historia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11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3328416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>
            <a:hlinkClick action="ppaction://hlinksldjump" r:id="rId8"/>
          </p:cNvPr>
          <p:cNvSpPr/>
          <p:nvPr/>
        </p:nvSpPr>
        <p:spPr>
          <a:xfrm>
            <a:off x="3328416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3438144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858768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Lectura + escucha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493008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una vida de película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3493008" y="56692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9</a:t>
            </a:r>
          </a:p>
        </p:txBody>
      </p:sp>
      <p:sp>
        <p:nvSpPr>
          <p:cNvPr id="45" name="Rounded Rectangle 44">
            <a:hlinkClick action="ppaction://hlinksldjump" r:id="rId9"/>
          </p:cNvPr>
          <p:cNvSpPr/>
          <p:nvPr/>
        </p:nvSpPr>
        <p:spPr>
          <a:xfrm>
            <a:off x="6199632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>
            <a:hlinkClick action="ppaction://hlinksldjump" r:id="rId9"/>
          </p:cNvPr>
          <p:cNvSpPr/>
          <p:nvPr/>
        </p:nvSpPr>
        <p:spPr>
          <a:xfrm>
            <a:off x="6199632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6309360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729984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Cultura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64224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figuras hispanas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364224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17</a:t>
            </a:r>
          </a:p>
        </p:txBody>
      </p:sp>
      <p:sp>
        <p:nvSpPr>
          <p:cNvPr id="51" name="Rounded Rectangle 50">
            <a:hlinkClick action="ppaction://hlinksldjump" r:id="rId10"/>
          </p:cNvPr>
          <p:cNvSpPr/>
          <p:nvPr/>
        </p:nvSpPr>
        <p:spPr>
          <a:xfrm>
            <a:off x="9070848" y="3840480"/>
            <a:ext cx="2743200" cy="22402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5B3E83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>
            <a:hlinkClick action="ppaction://hlinksldjump" r:id="rId10"/>
          </p:cNvPr>
          <p:cNvSpPr/>
          <p:nvPr/>
        </p:nvSpPr>
        <p:spPr>
          <a:xfrm>
            <a:off x="9070848" y="3840480"/>
            <a:ext cx="2743200" cy="4572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9180576" y="3913632"/>
            <a:ext cx="310896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5B3E83"/>
                </a:solidFill>
                <a:latin typeface="Bricolage Grotesque"/>
              </a:rPr>
              <a:t>📖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601200" y="3895344"/>
            <a:ext cx="210312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FFFFFF"/>
                </a:solidFill>
                <a:latin typeface="Bricolage Grotesque"/>
              </a:rPr>
              <a:t>Tarea · Biografía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235440" y="4462272"/>
            <a:ext cx="2414016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vida + opinión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235440" y="56692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→ dia 18</a:t>
            </a:r>
          </a:p>
        </p:txBody>
      </p:sp>
      <p:sp>
        <p:nvSpPr>
          <p:cNvPr id="57" name="Rectangle 5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Biografía y logros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woorden van een leven — observa. Herken ze, dan gebruik je ze.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nacer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geboren worden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 1927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crecer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43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opgroeien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 un pueblo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casarse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trouwen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joven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morir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sterven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en 1954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1463040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09360" y="1463040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ganar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58200" y="1463040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winnen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87000" y="1463040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un premio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2200" y="2121408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09360" y="2121408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escribir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458200" y="2121408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schrijven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87000" y="2121408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novelas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172200" y="2779776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09360" y="2779776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el escritor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58200" y="2779776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schrijver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0" y="2779776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el pintor, el cantante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172200" y="3438144"/>
            <a:ext cx="557784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09360" y="3438144"/>
            <a:ext cx="219456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famoso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58200" y="3438144"/>
            <a:ext cx="19202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beroemd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87000" y="3438144"/>
            <a:ext cx="13716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un icono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Woordfamilie: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escribir → el escritor · pintar → el pintor · cantar → el cantante. Het beroep zit in de actie.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55" name="Rounded Rectangle 5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457200" y="4892040"/>
            <a:ext cx="11247120" cy="86868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Etapas: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nacer → crecer → estudiar → casarse → morir. Logros: ganar, escribir, pintar, componer, descubrir.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Personas: el escritor, la pintora, el cantante, el futbolista, el científico.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9" name="Rectangle 5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El pretérito indefinido (regular)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-ar → é/aste/ó… · -er/-ir → í/iste/ió… voor afgeronde feiten.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9728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972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1" i="0">
                <a:solidFill>
                  <a:srgbClr val="2563EB"/>
                </a:solidFill>
                <a:latin typeface="Bricolage Grotesque"/>
              </a:rPr>
              <a:t>García Márquez </a:t>
            </a:r>
            <a:r>
              <a:rPr sz="2000" b="1" i="0">
                <a:solidFill>
                  <a:srgbClr val="EA7317"/>
                </a:solidFill>
                <a:latin typeface="Bricolage Grotesque"/>
              </a:rPr>
              <a:t>escribió </a:t>
            </a:r>
            <a:r>
              <a:rPr sz="2000" b="1" i="0">
                <a:solidFill>
                  <a:srgbClr val="B4309A"/>
                </a:solidFill>
                <a:latin typeface="Bricolage Grotesque"/>
              </a:rPr>
              <a:t>novelas </a:t>
            </a:r>
            <a:r>
              <a:rPr sz="2000" b="1" i="0">
                <a:solidFill>
                  <a:srgbClr val="7C3AED"/>
                </a:solidFill>
                <a:latin typeface="Bricolage Grotesque"/>
              </a:rPr>
              <a:t>en 1967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288036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Las terminaciones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yo -é / -í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51460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hablé / comí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tú -aste / -iste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51460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hablaste / comiste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él -ó / -ió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1460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habló / comió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291840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434840" y="3291840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nos. -amos / -imos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5080" y="3291840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hablamos / comimos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97680" y="3968496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3968496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vos. -asteis / -isteis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55080" y="3968496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hablasteis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297680" y="4645152"/>
            <a:ext cx="36576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34840" y="4645152"/>
            <a:ext cx="19202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1" i="0">
                <a:solidFill>
                  <a:srgbClr val="5B3E83"/>
                </a:solidFill>
                <a:latin typeface="Inter"/>
              </a:rPr>
              <a:t>ellos -aron / -ieron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55080" y="4645152"/>
            <a:ext cx="146304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1" i="0">
                <a:solidFill>
                  <a:srgbClr val="EA7317"/>
                </a:solidFill>
                <a:latin typeface="Inter"/>
              </a:rPr>
              <a:t>hablaron / comieron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3" name="Rounded Rectangle 42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25780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de klemtoon staat op de uitgang: hablé, habló, comí, comió. -er en -ir zijn identiek. Marker: ayer, en 1967.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" y="51297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forma del indefinido?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zin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(Él) ___ (nacer) en 1927.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nació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(Ella) ___ (pintar).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pintó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Messi ___ (ganar).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ganó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(Yo) ___ (estudiar).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estudié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Nosotros ___ (comer).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comimos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¿(Tú) ___ (viajar)?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viajaste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Truc: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-ar → é/ó · -er/-ir → í/ió. Klemtoon op de uitgang.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§2b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pretéritos fuertes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verbo → de él-vorm. Uit het hoofd leren.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ser / 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fue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hacer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hizo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tener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tuvo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estar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estuvo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decir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dijo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venir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vino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dar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dio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6A6E78"/>
                </a:solidFill>
                <a:latin typeface="Inter"/>
              </a:rPr>
              <a:t>ver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Inter"/>
              </a:rPr>
              <a:t>→ vio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Sin acento: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fue · hizo · tuvo · estuvo · dijo · vino · dio · vio.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DC2626"/>
                </a:solidFill>
                <a:latin typeface="Inter"/>
              </a:rPr>
              <a:t>🔴 hizo (z) · fue = ser én ir (Fue médico / Fue a París).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8549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GRAMÁTICA VISUAL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Los pronombres juntos — se lo / se 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le/les + lo/la → se lo/se la. Twee voornaamwoorden na elkaar.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484632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92124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8583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574121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38713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170309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334901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653112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817704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249300" y="521208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13892" y="475488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554480"/>
            <a:ext cx="11247120" cy="100584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554480"/>
            <a:ext cx="10698480" cy="10058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Di el libro </a:t>
            </a:r>
            <a:r>
              <a:rPr sz="1600" b="1" i="0">
                <a:solidFill>
                  <a:srgbClr val="64748B"/>
                </a:solidFill>
                <a:latin typeface="Inter"/>
              </a:rPr>
              <a:t>a Mateo </a:t>
            </a:r>
            <a:r>
              <a:rPr sz="1600" b="0" i="0">
                <a:solidFill>
                  <a:srgbClr val="6A6E78"/>
                </a:solidFill>
                <a:latin typeface="Inter"/>
              </a:rPr>
              <a:t>→ </a:t>
            </a:r>
            <a:r>
              <a:rPr sz="1600" b="0" i="0">
                <a:solidFill>
                  <a:srgbClr val="64748B"/>
                </a:solidFill>
                <a:latin typeface="Inter"/>
              </a:rPr>
              <a:t>Le </a:t>
            </a:r>
            <a:r>
              <a:rPr sz="1600" b="0" i="0">
                <a:solidFill>
                  <a:srgbClr val="B4309A"/>
                </a:solidFill>
                <a:latin typeface="Inter"/>
              </a:rPr>
              <a:t>lo </a:t>
            </a:r>
            <a:r>
              <a:rPr sz="1600" b="0" i="0">
                <a:solidFill>
                  <a:srgbClr val="6A6E78"/>
                </a:solidFill>
                <a:latin typeface="Inter"/>
              </a:rPr>
              <a:t>di → </a:t>
            </a:r>
            <a:r>
              <a:rPr sz="1800" b="1" i="0">
                <a:solidFill>
                  <a:srgbClr val="64748B"/>
                </a:solidFill>
                <a:latin typeface="Inter"/>
              </a:rPr>
              <a:t>Se </a:t>
            </a:r>
            <a:r>
              <a:rPr sz="1800" b="1" i="0">
                <a:solidFill>
                  <a:srgbClr val="B4309A"/>
                </a:solidFill>
                <a:latin typeface="Inter"/>
              </a:rPr>
              <a:t>lo </a:t>
            </a:r>
            <a:r>
              <a:rPr sz="1600" b="0" i="0">
                <a:solidFill>
                  <a:srgbClr val="20242E"/>
                </a:solidFill>
                <a:latin typeface="Inter"/>
              </a:rPr>
              <a:t>di.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2880360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288036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2880360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2880360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880360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575304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los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357530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los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3575304"/>
            <a:ext cx="548640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63640" y="3575304"/>
            <a:ext cx="210312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le/les + las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3575304"/>
            <a:ext cx="310896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B4309A"/>
                </a:solidFill>
                <a:latin typeface="Inter"/>
              </a:rPr>
              <a:t>→ se las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6" name="Rounded Rectangle 3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43434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Regla: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als le/les + lo/la samenkomen → le/les wordt se. Volgorde: se + lo/la + werkwoord.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Bij infinitivo: dárselo = se lo voy a dar.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4215384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REGLA · docent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¿se lo, se la, se los o se las?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pregunta → de respuesta.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¿El libro a Mateo?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 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 carta a Nina?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31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 mandé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¿Los discos a Diego?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31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los presté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¿Las fotos a Valen?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46920" y="1600200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las enseñé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¿El secreto a ella?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46920" y="2478024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 conté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29184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¿La noticia a él?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20" y="3355848"/>
            <a:ext cx="196596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 dije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Concordancia OD: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el→lo · la→la · los→los · las→las. Altijd «se» als OI vooraan.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053742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§5 · LEER · COMPRENSIÓN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Dos vidas — «Una vida de película»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Lees. Klik een vraag → het antwoord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08760"/>
            <a:ext cx="5120640" cy="356616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778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mat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783080"/>
            <a:ext cx="914400" cy="9144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181051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«Frida Kahlo nació en México en 1907. Tuvo un accidente y empezó a pintar. Pintó autorretratos, se casó con Diego Rivera y fue una artista única. Murió en 1954.»</a:t>
            </a:r>
          </a:p>
        </p:txBody>
      </p:sp>
      <p:pic>
        <p:nvPicPr>
          <p:cNvPr id="12" name="Picture 11" descr="mat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337560"/>
            <a:ext cx="914400" cy="9144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364992"/>
            <a:ext cx="35661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20242E"/>
                </a:solidFill>
                <a:latin typeface="Inter"/>
              </a:rPr>
              <a:t>«Lionel Messi nació en Rosario en 1987. Jugó en un equipo local, se mudó a Barcelona, ganó muchos títulos y en 2022 fue campeón del Mundo. Hizo historia.»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852160" y="1554480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89320" y="1609344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¿Cuándo nació Frida?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9320" y="1956816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1907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852160" y="2450592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505456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¿Con quién se casó?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852928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Con Diego Rivera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52160" y="3346704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89320" y="3401568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¿Dónde nació Messi?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89320" y="3749040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En Rosario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52160" y="4242816"/>
            <a:ext cx="5852160" cy="7772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89320" y="4297680"/>
            <a:ext cx="55778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¿Qué ganó en 2022?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89320" y="4645152"/>
            <a:ext cx="557784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→ El Mundial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852160" y="5166360"/>
            <a:ext cx="585216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🎯 Leesdoel: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scannen naar het indefinido (nació, ganó…) + datums.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89320" y="50383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ESCUCHAR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¿Quién fue…?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Volg de minibiografie. Klik un dato → de info. (audio + script op de web)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¿Dónde nació?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En Rosario, 1987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2900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2900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hizo de joven?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Jugó al fútbol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¿Qué logró?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Ganó el Mundial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06840" y="1737360"/>
            <a:ext cx="2697480" cy="2194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06840" y="1737360"/>
            <a:ext cx="2697480" cy="45720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dato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37744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20242E"/>
                </a:solidFill>
                <a:latin typeface="Bricolage Grotesque"/>
              </a:rPr>
              <a:t>🔊 ¿Quién es?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108960"/>
            <a:ext cx="2423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7C56A9"/>
                </a:solidFill>
                <a:latin typeface="Inter"/>
              </a:rPr>
              <a:t>¡Messi!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48056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Modelo-audio (docent/TTS):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«Nació en Rosario en 1987. De niño jugó al fútbol. Ganó muchos títulos y fue campeón del Mundo. ¿Quién es?» 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Daarna: A beschrijft een figuur, B raadt (info-gap).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" y="43525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Marcadores y conectores del relato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cue → de betekenis. Ordena la historia.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gisteren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in 1919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 1919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vorig jaar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el año pasado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plots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de repente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er was eens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32520" y="1600200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érase una vez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86584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86584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eerst / daarna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32520" y="2386584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primero / después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172968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172968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toen / dus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172968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entonces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959352"/>
            <a:ext cx="5532120" cy="65836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959352"/>
            <a:ext cx="237744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uiteindelijk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732520" y="3959352"/>
            <a:ext cx="2880360" cy="65836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→ al final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3484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Estructura: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Érase una vez… Primero nació… Después estudió… Entonces triunfó… Al final murió famoso.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De markers (ayer, en 1919, el año pasado) horen bij het indefinido.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3068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12836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§2–§3 · QUIZ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Indefinido + fuertes + se 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→ de juiste vorm.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él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hizo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ser/ir → él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fue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tener → yo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tuve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600200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60" y="1600200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escribir → él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680" y="1600200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escribió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2478024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2478024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¿El libro a él? ___ di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12680" y="2478024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355848"/>
            <a:ext cx="5532120" cy="713232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3355848"/>
            <a:ext cx="36576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¿Las fotos a ella? ___ mandé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12680" y="3355848"/>
            <a:ext cx="1600200" cy="713232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5B3E83"/>
                </a:solidFill>
                <a:latin typeface="Inter"/>
              </a:rPr>
              <a:t>→ se las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9" name="Rounded Rectangle 28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70916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7C56A9"/>
                </a:solidFill>
                <a:latin typeface="Inter"/>
              </a:rPr>
              <a:t>Fuertes: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fue · hizo · tuvo · estuvo · dijo · vino · dio. Se lo = le/les + lo.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94360" y="458114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39024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§2 · SPEAKING · INTERACCIÓN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Cuenta una biografía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Speel de scène met de frames. Steun bouwt af: kaarten → beginwoorden → uit het hoofd.</a:t>
            </a:r>
          </a:p>
        </p:txBody>
      </p:sp>
      <p:pic>
        <p:nvPicPr>
          <p:cNvPr id="9" name="Picture 8" descr="t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4160" y="1554480"/>
            <a:ext cx="1188720" cy="118872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45720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¿Dónde/cuándo?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Nació en… en (año)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De joven…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Estudió / jugó…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¿Qué logró?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Ganó / escribió…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749040" y="1645920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86200" y="1691640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¿Y después?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1975104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Después…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49040" y="2542032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886200" y="2587752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Al final…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86200" y="2871216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Murió en…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749040" y="3438144"/>
            <a:ext cx="3108960" cy="7315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886200" y="3483864"/>
            <a:ext cx="2834640" cy="292608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6A6E78"/>
                </a:solidFill>
                <a:latin typeface="Inter"/>
              </a:rPr>
              <a:t>Tu opinión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86200" y="3767328"/>
            <a:ext cx="2834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Bricolage Grotesque"/>
              </a:rPr>
              <a:t>Creo que fue…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251960"/>
            <a:ext cx="5502859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5B3E83"/>
                </a:solidFill>
                <a:latin typeface="Inter"/>
              </a:rPr>
              <a:t>🎙️ Grábate online · «Mensaje de voz: una biografía / mi opinión»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617720"/>
            <a:ext cx="96012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Ronda 1: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met de kaarten.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2: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beginwoorden.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3: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uit het hoofd. </a:t>
            </a:r>
            <a:r>
              <a:rPr sz="1200" b="1" i="0">
                <a:solidFill>
                  <a:srgbClr val="5B3E83"/>
                </a:solidFill>
                <a:latin typeface="Inter"/>
              </a:rPr>
              <a:t>Ronda 4: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grábate.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2" name="Rounded Rectangle 31">
            <a:hlinkClick action="ppaction://hlinksldjump" r:id="rId4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120640"/>
            <a:ext cx="11247120" cy="5943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«Frida Kahlo nació en México en 1907. Tuvo un accidente y empezó a pintar. Pintó autorretratos. Murió en 1954. Creo que fue una artista genial porque cambió el arte.»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4992624"/>
            <a:ext cx="138074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MODELO · docent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WRITING · PRODUCCIÓN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Una biografía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Schrijf een biografie. Klik → een modeltekst verschijnt.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5486400" cy="35661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✍️ Escribe tu biografía: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194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517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089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35661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40233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480560"/>
            <a:ext cx="5120640" cy="9144"/>
          </a:xfrm>
          <a:prstGeom prst="rect">
            <a:avLst/>
          </a:prstGeom>
          <a:solidFill>
            <a:srgbClr val="E4E3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15544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Checklist: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20116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datos (nació en… en año)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42316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3–4 hechos (estudió, escribió, ganó…)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283464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2 formas fuertes (fue, hizo…)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24612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conectores (primero, después, al final)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365760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una opinión (creo que fue…)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4069080"/>
            <a:ext cx="54864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☐  6–8 frases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3977639"/>
            <a:ext cx="5486400" cy="1143000"/>
          </a:xfrm>
          <a:prstGeom prst="roundRect">
            <a:avLst>
              <a:gd name="adj" fmla="val 5500"/>
            </a:avLst>
          </a:prstGeom>
          <a:solidFill>
            <a:srgbClr val="EEE8F5"/>
          </a:solidFill>
          <a:ln w="1524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46520" y="4023360"/>
            <a:ext cx="521208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Modelo: </a:t>
            </a:r>
            <a:r>
              <a:rPr sz="1100" b="0" i="1">
                <a:solidFill>
                  <a:srgbClr val="20242E"/>
                </a:solidFill>
                <a:latin typeface="Inter"/>
              </a:rPr>
              <a:t>«García Márquez nació en Colombia en 1927. Primero estudió periodismo. Después escribió «Cien años de soledad» y ganó el Nobel. Al final murió en 2014. Creo que fue un genio porque creó el realismo mágico.»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8" name="Rounded Rectangle 27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§1 · VOCABULARIO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Personas y logros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la respuesta. Bouw je woordnetwerk.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escritor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schrijver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0156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pintora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204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schilderes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3620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cantante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8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zanger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554480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70848" y="1554480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futbolista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61320" y="1554480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voetballer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científico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wetenschapper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9184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156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líder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leider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3620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premio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2668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prijs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20" y="2322576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70848" y="2322576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éxito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61320" y="2322576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succes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la leyenda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de legende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9184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0156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el personaje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204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het personage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2648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famoso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2668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beroemd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961120" y="3090672"/>
            <a:ext cx="2743200" cy="6400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070848" y="3090672"/>
            <a:ext cx="164592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20242E"/>
                </a:solidFill>
                <a:latin typeface="Inter"/>
              </a:rPr>
              <a:t>increíble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561320" y="3090672"/>
            <a:ext cx="1051560" cy="64008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0">
                <a:solidFill>
                  <a:srgbClr val="7C56A9"/>
                </a:solidFill>
                <a:latin typeface="Inter"/>
              </a:rPr>
              <a:t>→ ongelooflijk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47" name="Rounded Rectangle 4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72000"/>
            <a:ext cx="11247120" cy="82296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Woordfamilie: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escribir → escritor · pintar → pintor · cantar → cantante · la ciencia → científico.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Opinión: creo que fue… · lo más importante fue… · admiro a…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51" name="Rectangle 5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15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TALLER DE LENGUA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Ortografía (yo) + conectores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item → correcte vorm. Gereedschap voor spelling en volgorde.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A · ortografía: c→qu / g→gu / z→c (yo)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783080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buscar → yo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783080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busqué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441448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llegar → yo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83280" y="2441448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llegué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3099816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empezar → yo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099816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empecé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3758184"/>
            <a:ext cx="548640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jugar → yo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83280" y="3758184"/>
            <a:ext cx="246888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jugué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B · conectores del relato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60" y="1783080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1783080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érase una vez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1783080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er was eens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09360" y="2441448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19088" y="2441448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primero / después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441448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eerst / daarna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60" y="3099816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3099816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entonces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35440" y="3099816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toen / dus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309360" y="3758184"/>
            <a:ext cx="5394960" cy="54864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19088" y="3758184"/>
            <a:ext cx="27432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Inter"/>
              </a:rPr>
              <a:t>al final / por eso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35440" y="3758184"/>
            <a:ext cx="237744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5B3E83"/>
                </a:solidFill>
                <a:latin typeface="Inter"/>
              </a:rPr>
              <a:t>→ uiteindelijk / daarom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4572000"/>
            <a:ext cx="11247120" cy="7772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enkel bij yo verandert de spelling: busqué, llegué, empecé, saqué, jugué, toqué.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5B3E83"/>
                </a:solidFill>
                <a:latin typeface="Inter"/>
              </a:rPr>
              <a:t>B: érase una vez → primero → después → entonces → al final.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" y="444398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16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281086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CULTURA · PARADA 5: BUENOS 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Figuras del mundo hispano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Klik een kaart → het weetje. Gardel, Messi, Frida y García Márquez.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🎵 Carlos Gardel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De legende van de tango. Hij groeide op in Buenos Aires en werd de stem van het genre. «Gardel cada día canta mejor».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Mateo's stad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79392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79392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6552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⚽ Messi y Maradona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62272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Twee argentijnse voetbalgoden. Maradona maakte in 1986 het «gol del siglo»; Messi werd in 2022 wereldkampioen. Hicieron historia.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62272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orgullo argentino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01584" y="1554480"/>
            <a:ext cx="370332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6510">
            <a:solidFill>
              <a:srgbClr val="7C56A9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01584" y="1554480"/>
            <a:ext cx="3703320" cy="548640"/>
          </a:xfrm>
          <a:prstGeom prst="rect">
            <a:avLst/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38744" y="1554480"/>
            <a:ext cx="3429000" cy="54864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🎨 Frida &amp; García Márquez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4464" y="2286000"/>
            <a:ext cx="3337560" cy="17373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Frida Kahlo (México) schilderde autorretratos; García Márquez (Colombia) won de Nobelprijs met het «realismo mágico».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4464" y="4069080"/>
            <a:ext cx="33375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iconos hispanos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26" name="Rounded Rectangle 25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892040"/>
            <a:ext cx="11247120" cy="54864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Voseo (Mateo):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«¿de dónde sos?» «vos tenés razón». Rasgo típico del Río de la Plata. Actividad: ¿a quién admiras?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4360" y="476402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8229600" cy="9144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📖 Tarea final · Una biografía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EEE8F5"/>
                </a:solidFill>
                <a:latin typeface="Inter"/>
              </a:rPr>
              <a:t>Escribe la vida de una persona con el indefinido, conectores y una opinión.</a:t>
            </a:r>
          </a:p>
        </p:txBody>
      </p:sp>
      <p:pic>
        <p:nvPicPr>
          <p:cNvPr id="5" name="Picture 4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182880"/>
            <a:ext cx="914400" cy="9144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57200" y="15544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Empieza con los datos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1554480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«Nació en… en (año). Creció en…»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121408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Cuenta 3–4 hechos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2121408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«Estudió…, escribió…, ganó…, hizo…»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68833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688336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Usa conectores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2688336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primero · después · entonces · al final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25526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3255264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Añade tu opinión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3255264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«Creo que fue… porque…»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22192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22192"/>
            <a:ext cx="402336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5B3E83"/>
                </a:solidFill>
                <a:latin typeface="Bricolage Grotesque"/>
              </a:rPr>
              <a:t>Preséntalo y graba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822192"/>
            <a:ext cx="640080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en la web (recorder) — escúchate y mejora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Rúbrica · ¿lo logré?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indefinido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3756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2 fuertes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conectores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280" y="4983480"/>
            <a:ext cx="2788920" cy="292608"/>
          </a:xfrm>
          <a:prstGeom prst="roundRect">
            <a:avLst>
              <a:gd name="adj" fmla="val 5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5B3E83"/>
                </a:solidFill>
                <a:latin typeface="Inter"/>
              </a:rPr>
              <a:t>☐ una opinión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53212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🎯 </a:t>
            </a:r>
            <a:r>
              <a:rPr sz="1150" b="0" i="1">
                <a:solidFill>
                  <a:srgbClr val="6A6E78"/>
                </a:solidFill>
                <a:latin typeface="Inter"/>
              </a:rPr>
              <a:t>Afzender jij · ontvanger de klas · doel een leven delen · situatie een biografie · resultaat: biografía + presentación oral.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QUIZ · LA MEZCLA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Ophaal door elkaar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Gemengde ophaal van de hele unit. Klik → het antwoord. (retrieval)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escribir → él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51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escribió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hacer → él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hizo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ser/ir → él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1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fue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tener → yo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tuve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1600200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9360" y="1600200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¿El libro a él? ___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66960" y="1600200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se lo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2313432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313432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¿Las fotos a ella? ___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66960" y="2313432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se las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72200" y="3026664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0" y="3026664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«uiteindelijk» =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66960" y="3026664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al final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72200" y="3739896"/>
            <a:ext cx="5532120" cy="566928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739896"/>
            <a:ext cx="36576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buscar → yo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66960" y="3739896"/>
            <a:ext cx="1600200" cy="566928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→ busqué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⏭  Saltar</a:t>
            </a:r>
          </a:p>
        </p:txBody>
      </p:sp>
      <p:sp>
        <p:nvSpPr>
          <p:cNvPr id="35" name="Rounded Rectangle 34">
            <a:hlinkClick action="ppaction://hlinksldjump" r:id="rId3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5B3E83"/>
                </a:solidFill>
                <a:latin typeface="Inter"/>
              </a:rPr>
              <a:t>⌂  Menú (dia 2)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Noodroute (§5): werkt zonder audio/internet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617720"/>
            <a:ext cx="11247120" cy="502920"/>
          </a:xfrm>
          <a:prstGeom prst="roundRect">
            <a:avLst>
              <a:gd name="adj" fmla="val 6000"/>
            </a:avLst>
          </a:prstGeom>
          <a:solidFill>
            <a:srgbClr val="EEE8F5"/>
          </a:solidFill>
          <a:ln w="19050">
            <a:solidFill>
              <a:srgbClr val="7C56A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 i="0">
                <a:solidFill>
                  <a:srgbClr val="5B3E83"/>
                </a:solidFill>
                <a:latin typeface="Inter"/>
              </a:rPr>
              <a:t>Alles komt terug: </a:t>
            </a:r>
            <a:r>
              <a:rPr sz="1200" b="0" i="0">
                <a:solidFill>
                  <a:srgbClr val="5B3E83"/>
                </a:solidFill>
                <a:latin typeface="Inter"/>
              </a:rPr>
              <a:t>indefinido regular · fuertes · se lo · conectores · ortografía yo.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94360" y="4489704"/>
            <a:ext cx="1548993" cy="292608"/>
          </a:xfrm>
          <a:prstGeom prst="roundRect">
            <a:avLst>
              <a:gd name="adj" fmla="val 50000"/>
            </a:avLst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 · docent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801367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7C56A9"/>
                </a:solidFill>
                <a:latin typeface="Inter"/>
              </a:rPr>
              <a:t>REPASO · LO ESENCIAL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EEE8F5"/>
                </a:solidFill>
                <a:latin typeface="Inter"/>
              </a:rPr>
              <a:t>De volledige herhaling (12 spellen, drills) staat online. Hier: de kern + semáforo.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3040"/>
            <a:ext cx="11247120" cy="2286000"/>
          </a:xfrm>
          <a:prstGeom prst="roundRect">
            <a:avLst>
              <a:gd name="adj" fmla="val 5500"/>
            </a:avLst>
          </a:prstGeom>
          <a:solidFill>
            <a:srgbClr val="F3EEE4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Indefinido regular: -ar → é/aste/ó/amos/asteis/aron · -er/-ir → í/iste/ió/imos/isteis/ieron.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066544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Fuertes: ser/ir → fue · hacer → hizo · tener → tuvo · estar → estuvo · decir → dijo · venir → vino · dar → dio.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487168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Se lo/se la: le/les + lo/la → se lo/se la. «¿El libro? Se lo di».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Marcadores: ayer · el año pasado · en 1919 · de repente. Conectoren: primero, después, al final.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28416"/>
            <a:ext cx="10789920" cy="4114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Inter"/>
              </a:rPr>
              <a:t>•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🔴 Trampas: hizo (z) · fue = ser én ir · le lo → se lo · yo: busqué/llegué/empecé.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931920"/>
            <a:ext cx="1097280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5B3E83"/>
                </a:solidFill>
                <a:latin typeface="Bricolage Grotesque"/>
              </a:rPr>
              <a:t>Semáforo — ¿cómo lo llevas?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over biografieën praten (oficios/logros)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6868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058400" y="4370832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27448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indefinido vormen (regelmatig)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58400" y="4754880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111496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de sterke vormen gebruiken (fue, hizo…)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058400" y="5138928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495544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se lo / se la gebruiken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058400" y="5522976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879592"/>
            <a:ext cx="640080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een verhaal vertellen met conectoren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C2626"/>
                </a:solidFill>
                <a:latin typeface="Inter"/>
              </a:rPr>
              <a:t>🔴 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B7860B"/>
                </a:solidFill>
                <a:latin typeface="Inter"/>
              </a:rPr>
              <a:t>🟠 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0" y="5907024"/>
            <a:ext cx="11887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7C56A9"/>
                </a:solidFill>
                <a:latin typeface="Inter"/>
              </a:rPr>
              <a:t>🟢 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5B3E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1097280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Bricolage Grotesque"/>
              </a:rPr>
              <a:t>TEACHER_NOTES · U5 «Érase una vez»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80160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353312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Timing (50 min)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719072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Menu 2' · biografía 6' · indefinido regular 12' · fuertes 6' · se lo 10' · contar/escucha 8' · Tarea-briefing 4'.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2304288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377440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Kernvalstrikken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43200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indefinido = afgeronde feiten (ayer, en 1919) ≠ perfecto (hoy) · hizo met z · fue = ser én ir · le lo → se lo (concordancia OD) · yo-spelling: busqué/llegué/empecé.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328416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3401568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Differentiatie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767328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Sterker: volledige biografie + 3 fuertes + se lo + una opinión con porque. Zwakker: indefinido-tabel + fuertes-lijst langer open, frames houden; se lo met vaste vraag-antwoord-paren.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352544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4425696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Digitaal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791456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12 spellen + flip cards + gramática interactiva (indefinido · fuertes · se lo) + recorder (una biografía · mi opinión) + Lectura (Frida/Messi) + klikbare kaart (Argentina ★, persona) op de página digital. QR's → juiste anker.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376672"/>
            <a:ext cx="11247120" cy="914400"/>
          </a:xfrm>
          <a:prstGeom prst="roundRect">
            <a:avLst>
              <a:gd name="adj" fmla="val 5500"/>
            </a:avLst>
          </a:prstGeom>
          <a:solidFill>
            <a:srgbClr val="473069"/>
          </a:solidFill>
          <a:ln>
            <a:noFill/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5449824"/>
            <a:ext cx="1078992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FFFFFF"/>
                </a:solidFill>
                <a:latin typeface="Bricolage Grotesque"/>
              </a:rPr>
              <a:t>Evaluatie &amp; LPD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5815584"/>
            <a:ext cx="1078992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EEE8F5"/>
                </a:solidFill>
                <a:latin typeface="Inter"/>
              </a:rPr>
              <a:t>Tarea «Una biografía» met rúbrica (4 criteria). LPD (III-Spa-d): biografía 7 · indefinido/se lo 8 · vertellen 3 · interactie 4 · literatuur (biografía/leyenda) 6 · lezen 1·2·5 · cultuur 5. Nieuwe cast: Mateo (voseo).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7C56A9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ÉRASE UNA VEZ   ·   C6+ · érase una vez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Docentenversie — met oplossingen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5B3E83"/>
                </a:solidFill>
                <a:latin typeface="Inter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1 · CREATIEVE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El obituario del héroe anónimo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👤 Solo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Nunca salió en los periódicos. Y sin embargo cambió algo.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Hij haalde nooit de krant. En tóch veranderde hij iets.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Geen beroemdheid, geen uitvinder, geen held. Iemand uit een gewoon leven — en toch moet je in één zin kunnen zeggen wat er zonder deze persoon níet zou bestaan.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una vida corriente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mujer que abrió la primera biblioteca del barrio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una vida corriente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hombre que arregló bicicletas gratis durante cuarenta años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una vida corriente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maestra que enseñó a leer a tres generaciones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una vida corriente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vecino que plantó todos los árboles de la calle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una vida corriente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enfermera del turno de noche que nadie vio nunca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Nació en … en …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Trabajó … años en …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696462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3751326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Nunca … , pero sí …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Gracias a él/ella, …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Murió en … , y … personas fueron a despedirlo/-la.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marco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Hoy … sigue …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4722876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4777740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Verbos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nació · creció · empezó · trabajó · abrió</a:t>
            </a:r>
          </a:p>
        </p:txBody>
      </p:sp>
      <p:sp>
        <p:nvSpPr>
          <p:cNvPr id="35" name="Tarjeta 12"/>
          <p:cNvSpPr/>
          <p:nvPr/>
        </p:nvSpPr>
        <p:spPr>
          <a:xfrm>
            <a:off x="457200" y="5749290"/>
            <a:ext cx="2708910" cy="89839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12"/>
          <p:cNvSpPr txBox="1"/>
          <p:nvPr/>
        </p:nvSpPr>
        <p:spPr>
          <a:xfrm>
            <a:off x="548640" y="5804154"/>
            <a:ext cx="2526030" cy="78867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Verbos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enseñó · plantó · arregló · cuidó · murió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5 · CREATIEVE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La leyenda mal contada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👥 En parejas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15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La leyenda está bien. El orden, no.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De legende klopt. De volgorde niet.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Bij het navertellen mag je geen enkele zin letterlijk overnemen. Je gebruikt de conectoren van het verhaal — érase una vez, entonces, al final — en je eigen woorden.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Érase una vez una princesa, Iztaccíhuatl, y un guerrero, Popocatépetl, que se querían.</a:t>
            </a:r>
          </a:p>
        </p:txBody>
      </p:sp>
      <p:sp>
        <p:nvSpPr>
          <p:cNvPr id="13" name="Onthul 0"/>
          <p:cNvSpPr/>
          <p:nvPr/>
        </p:nvSpPr>
        <p:spPr>
          <a:xfrm>
            <a:off x="548640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OnthulTxt 0"/>
          <p:cNvSpPr txBox="1"/>
          <p:nvPr/>
        </p:nvSpPr>
        <p:spPr>
          <a:xfrm>
            <a:off x="566928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15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1"/>
          <p:cNvSpPr txBox="1"/>
          <p:nvPr/>
        </p:nvSpPr>
        <p:spPr>
          <a:xfrm>
            <a:off x="3403854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B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El padre de ella aceptó, pero con una condición: volver vencedor de la guerra.</a:t>
            </a:r>
          </a:p>
        </p:txBody>
      </p:sp>
      <p:sp>
        <p:nvSpPr>
          <p:cNvPr id="17" name="Onthul 1"/>
          <p:cNvSpPr/>
          <p:nvPr/>
        </p:nvSpPr>
        <p:spPr>
          <a:xfrm>
            <a:off x="3403854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OnthulTxt 1"/>
          <p:cNvSpPr txBox="1"/>
          <p:nvPr/>
        </p:nvSpPr>
        <p:spPr>
          <a:xfrm>
            <a:off x="3422142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19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2"/>
          <p:cNvSpPr txBox="1"/>
          <p:nvPr/>
        </p:nvSpPr>
        <p:spPr>
          <a:xfrm>
            <a:off x="6259068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C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Popocatépetl pidió permiso para casarse con ella.</a:t>
            </a:r>
          </a:p>
        </p:txBody>
      </p:sp>
      <p:sp>
        <p:nvSpPr>
          <p:cNvPr id="21" name="Onthul 2"/>
          <p:cNvSpPr/>
          <p:nvPr/>
        </p:nvSpPr>
        <p:spPr>
          <a:xfrm>
            <a:off x="6259068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OnthulTxt 2"/>
          <p:cNvSpPr txBox="1"/>
          <p:nvPr/>
        </p:nvSpPr>
        <p:spPr>
          <a:xfrm>
            <a:off x="6277356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23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3"/>
          <p:cNvSpPr txBox="1"/>
          <p:nvPr/>
        </p:nvSpPr>
        <p:spPr>
          <a:xfrm>
            <a:off x="9114282" y="2724912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D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Mientras él estaba lejos, alguien mintió y dijo que había muerto.</a:t>
            </a:r>
          </a:p>
        </p:txBody>
      </p:sp>
      <p:sp>
        <p:nvSpPr>
          <p:cNvPr id="25" name="Onthul 3"/>
          <p:cNvSpPr/>
          <p:nvPr/>
        </p:nvSpPr>
        <p:spPr>
          <a:xfrm>
            <a:off x="9114282" y="3547872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OnthulTxt 3"/>
          <p:cNvSpPr txBox="1"/>
          <p:nvPr/>
        </p:nvSpPr>
        <p:spPr>
          <a:xfrm>
            <a:off x="9132570" y="3547872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27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4"/>
          <p:cNvSpPr txBox="1"/>
          <p:nvPr/>
        </p:nvSpPr>
        <p:spPr>
          <a:xfrm>
            <a:off x="548640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Iztaccíhuatl se murió de tristeza.</a:t>
            </a:r>
          </a:p>
        </p:txBody>
      </p:sp>
      <p:sp>
        <p:nvSpPr>
          <p:cNvPr id="29" name="Onthul 4"/>
          <p:cNvSpPr/>
          <p:nvPr/>
        </p:nvSpPr>
        <p:spPr>
          <a:xfrm>
            <a:off x="548640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OnthulTxt 4"/>
          <p:cNvSpPr txBox="1"/>
          <p:nvPr/>
        </p:nvSpPr>
        <p:spPr>
          <a:xfrm>
            <a:off x="566928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3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5"/>
          <p:cNvSpPr txBox="1"/>
          <p:nvPr/>
        </p:nvSpPr>
        <p:spPr>
          <a:xfrm>
            <a:off x="3403854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F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Popocatépetl volvió vencedor y la encontró muerta.</a:t>
            </a:r>
          </a:p>
        </p:txBody>
      </p:sp>
      <p:sp>
        <p:nvSpPr>
          <p:cNvPr id="33" name="Onthul 5"/>
          <p:cNvSpPr/>
          <p:nvPr/>
        </p:nvSpPr>
        <p:spPr>
          <a:xfrm>
            <a:off x="3403854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OnthulTxt 5"/>
          <p:cNvSpPr txBox="1"/>
          <p:nvPr/>
        </p:nvSpPr>
        <p:spPr>
          <a:xfrm>
            <a:off x="3422142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35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arjetaTxt 6"/>
          <p:cNvSpPr txBox="1"/>
          <p:nvPr/>
        </p:nvSpPr>
        <p:spPr>
          <a:xfrm>
            <a:off x="6259068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G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La llevó a la montaña y se quedó a su lado con una antorcha.</a:t>
            </a:r>
          </a:p>
        </p:txBody>
      </p:sp>
      <p:sp>
        <p:nvSpPr>
          <p:cNvPr id="37" name="Onthul 6"/>
          <p:cNvSpPr/>
          <p:nvPr/>
        </p:nvSpPr>
        <p:spPr>
          <a:xfrm>
            <a:off x="6259068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OnthulTxt 6"/>
          <p:cNvSpPr txBox="1"/>
          <p:nvPr/>
        </p:nvSpPr>
        <p:spPr>
          <a:xfrm>
            <a:off x="6277356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39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arjetaTxt 7"/>
          <p:cNvSpPr txBox="1"/>
          <p:nvPr/>
        </p:nvSpPr>
        <p:spPr>
          <a:xfrm>
            <a:off x="9114282" y="4023360"/>
            <a:ext cx="2526030" cy="85953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H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Por eso hoy hay dos volcanes: uno dormido y otro que todavía echa humo.</a:t>
            </a:r>
          </a:p>
        </p:txBody>
      </p:sp>
      <p:sp>
        <p:nvSpPr>
          <p:cNvPr id="41" name="Onthul 7"/>
          <p:cNvSpPr/>
          <p:nvPr/>
        </p:nvSpPr>
        <p:spPr>
          <a:xfrm>
            <a:off x="9114282" y="4846320"/>
            <a:ext cx="2526030" cy="237744"/>
          </a:xfrm>
          <a:prstGeom prst="roundRect">
            <a:avLst>
              <a:gd name="adj" fmla="val 20000"/>
            </a:avLst>
          </a:prstGeom>
          <a:solidFill>
            <a:srgbClr val="EEE8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OnthulTxt 7"/>
          <p:cNvSpPr txBox="1"/>
          <p:nvPr/>
        </p:nvSpPr>
        <p:spPr>
          <a:xfrm>
            <a:off x="9132570" y="4846320"/>
            <a:ext cx="2489454" cy="23774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5B3E83"/>
                </a:solidFill>
                <a:latin typeface="Inter"/>
              </a:rPr>
              <a:t>¿en qué lugar va?</a:t>
            </a:r>
          </a:p>
        </p:txBody>
      </p:sp>
      <p:sp>
        <p:nvSpPr>
          <p:cNvPr id="43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Conectores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Érase una vez · Un día · Entonces · Mientras tanto</a:t>
            </a:r>
          </a:p>
        </p:txBody>
      </p:sp>
      <p:sp>
        <p:nvSpPr>
          <p:cNvPr id="45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Conectores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Cuando volvió · Desde entonces · Al final · Por eso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5" fill="hold">
                      <p:stCondLst>
                        <p:cond delay="indefinite"/>
                      </p:stCondLst>
                      <p:childTnLst>
                        <p:par>
                          <p:cTn id="6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0" fill="hold">
                      <p:stCondLst>
                        <p:cond delay="indefinite"/>
                      </p:stCondLst>
                      <p:childTnLst>
                        <p:par>
                          <p:cTn id="81" fill="hold">
                            <p:stCondLst>
                              <p:cond delay="0"/>
                            </p:stCondLst>
                            <p:childTnLst>
                              <p:par>
                                <p:cTn id="8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ondo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Cabecera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7C56A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Chip"/>
          <p:cNvSpPr/>
          <p:nvPr/>
        </p:nvSpPr>
        <p:spPr>
          <a:xfrm>
            <a:off x="457200" y="182880"/>
            <a:ext cx="30175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Txt"/>
          <p:cNvSpPr txBox="1"/>
          <p:nvPr/>
        </p:nvSpPr>
        <p:spPr>
          <a:xfrm>
            <a:off x="457200" y="173736"/>
            <a:ext cx="301752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normAutofit/>
          </a:bodyPr>
          <a:lstStyle/>
          <a:p>
            <a:pPr algn="ctr"/>
            <a:r>
              <a:rPr sz="950" b="1">
                <a:solidFill>
                  <a:srgbClr val="5B3E83"/>
                </a:solidFill>
                <a:latin typeface="Inter"/>
              </a:rPr>
              <a:t>RETO 6 · SIMULATIE MET BEPERKING</a:t>
            </a:r>
          </a:p>
        </p:txBody>
      </p:sp>
      <p:sp>
        <p:nvSpPr>
          <p:cNvPr id="6" name="Titulo"/>
          <p:cNvSpPr txBox="1"/>
          <p:nvPr/>
        </p:nvSpPr>
        <p:spPr>
          <a:xfrm>
            <a:off x="457200" y="502920"/>
            <a:ext cx="8412480" cy="47548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Bricolage Grotesque"/>
              </a:rPr>
              <a:t>Entrevista al pasado</a:t>
            </a:r>
          </a:p>
        </p:txBody>
      </p:sp>
      <p:sp>
        <p:nvSpPr>
          <p:cNvPr id="7" name="Badges"/>
          <p:cNvSpPr txBox="1"/>
          <p:nvPr/>
        </p:nvSpPr>
        <p:spPr>
          <a:xfrm>
            <a:off x="9052560" y="256032"/>
            <a:ext cx="2651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🏫 Toda la clase</a:t>
            </a:r>
          </a:p>
          <a:p>
            <a:pPr algn="r"/>
            <a:r>
              <a:rPr sz="1000">
                <a:solidFill>
                  <a:srgbClr val="EEE8F5"/>
                </a:solidFill>
                <a:latin typeface="Inter"/>
              </a:rPr>
              <a:t>± 18 min · ★★★</a:t>
            </a:r>
          </a:p>
        </p:txBody>
      </p:sp>
      <p:sp>
        <p:nvSpPr>
          <p:cNvPr id="8" name="Gancho"/>
          <p:cNvSpPr txBox="1"/>
          <p:nvPr/>
        </p:nvSpPr>
        <p:spPr>
          <a:xfrm>
            <a:off x="457200" y="1225296"/>
            <a:ext cx="11274552" cy="5669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600" b="1">
                <a:solidFill>
                  <a:srgbClr val="5B3E83"/>
                </a:solidFill>
                <a:latin typeface="Bricolage Grotesque"/>
              </a:rPr>
              <a:t>Una silla, un personaje histórico y toda la clase con preguntas.</a:t>
            </a:r>
          </a:p>
          <a:p>
            <a:pPr algn="l"/>
            <a:r>
              <a:rPr sz="1100" i="1">
                <a:solidFill>
                  <a:srgbClr val="6A6E78"/>
                </a:solidFill>
                <a:latin typeface="Inter"/>
              </a:rPr>
              <a:t>Eén stoel, één historisch personage en de hele klas met vragen.</a:t>
            </a:r>
          </a:p>
        </p:txBody>
      </p:sp>
      <p:sp>
        <p:nvSpPr>
          <p:cNvPr id="9" name="ReglaCaja"/>
          <p:cNvSpPr/>
          <p:nvPr/>
        </p:nvSpPr>
        <p:spPr>
          <a:xfrm>
            <a:off x="457200" y="1847088"/>
            <a:ext cx="11274552" cy="658368"/>
          </a:xfrm>
          <a:prstGeom prst="roundRect">
            <a:avLst>
              <a:gd name="adj" fmla="val 5000"/>
            </a:avLst>
          </a:prstGeom>
          <a:solidFill>
            <a:srgbClr val="FBF3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glaTxt"/>
          <p:cNvSpPr txBox="1"/>
          <p:nvPr/>
        </p:nvSpPr>
        <p:spPr>
          <a:xfrm>
            <a:off x="603504" y="1883664"/>
            <a:ext cx="10972800" cy="585216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850" b="1">
                <a:solidFill>
                  <a:srgbClr val="B7860B"/>
                </a:solidFill>
                <a:latin typeface="Inter"/>
              </a:rPr>
              <a:t>LA REGLA DEL RETO</a:t>
            </a:r>
          </a:p>
          <a:p>
            <a:pPr algn="l"/>
            <a:r>
              <a:rPr sz="1100">
                <a:solidFill>
                  <a:srgbClr val="20242E"/>
                </a:solidFill>
                <a:latin typeface="Inter"/>
              </a:rPr>
              <a:t>Het personage antwoordt uitsluitend in het indefinido — hij vertelt afgeronde feiten, geen gewoontes en geen meningen. Wie «yo creo que» zegt, is uit zijn rol.</a:t>
            </a:r>
          </a:p>
        </p:txBody>
      </p:sp>
      <p:sp>
        <p:nvSpPr>
          <p:cNvPr id="11" name="Tarjeta 0"/>
          <p:cNvSpPr/>
          <p:nvPr/>
        </p:nvSpPr>
        <p:spPr>
          <a:xfrm>
            <a:off x="457200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arjetaTxt 0"/>
          <p:cNvSpPr txBox="1"/>
          <p:nvPr/>
        </p:nvSpPr>
        <p:spPr>
          <a:xfrm>
            <a:off x="548640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Frida Kahlo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México, 1907–1954 · pintora</a:t>
            </a:r>
          </a:p>
        </p:txBody>
      </p:sp>
      <p:sp>
        <p:nvSpPr>
          <p:cNvPr id="13" name="Tarjeta 1"/>
          <p:cNvSpPr/>
          <p:nvPr/>
        </p:nvSpPr>
        <p:spPr>
          <a:xfrm>
            <a:off x="3312414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arjetaTxt 1"/>
          <p:cNvSpPr txBox="1"/>
          <p:nvPr/>
        </p:nvSpPr>
        <p:spPr>
          <a:xfrm>
            <a:off x="3403854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Simón Bolívar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Venezuela, 1783–1830 · libertador</a:t>
            </a:r>
          </a:p>
        </p:txBody>
      </p:sp>
      <p:sp>
        <p:nvSpPr>
          <p:cNvPr id="15" name="Tarjeta 2"/>
          <p:cNvSpPr/>
          <p:nvPr/>
        </p:nvSpPr>
        <p:spPr>
          <a:xfrm>
            <a:off x="6167628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arjetaTxt 2"/>
          <p:cNvSpPr txBox="1"/>
          <p:nvPr/>
        </p:nvSpPr>
        <p:spPr>
          <a:xfrm>
            <a:off x="6259068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Rigoberta Menchú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Guatemala, 1959 · Nobel de la Paz</a:t>
            </a:r>
          </a:p>
        </p:txBody>
      </p:sp>
      <p:sp>
        <p:nvSpPr>
          <p:cNvPr id="17" name="Tarjeta 3"/>
          <p:cNvSpPr/>
          <p:nvPr/>
        </p:nvSpPr>
        <p:spPr>
          <a:xfrm>
            <a:off x="9022842" y="2670048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arjetaTxt 3"/>
          <p:cNvSpPr txBox="1"/>
          <p:nvPr/>
        </p:nvSpPr>
        <p:spPr>
          <a:xfrm>
            <a:off x="9114282" y="2724912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Violeta Parra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Chile, 1917–1967 · música</a:t>
            </a:r>
          </a:p>
        </p:txBody>
      </p:sp>
      <p:sp>
        <p:nvSpPr>
          <p:cNvPr id="19" name="Tarjeta 4"/>
          <p:cNvSpPr/>
          <p:nvPr/>
        </p:nvSpPr>
        <p:spPr>
          <a:xfrm>
            <a:off x="457200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arjetaTxt 4"/>
          <p:cNvSpPr txBox="1"/>
          <p:nvPr/>
        </p:nvSpPr>
        <p:spPr>
          <a:xfrm>
            <a:off x="548640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Bartolomé de las Casas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España, 1484–1566 · cronista</a:t>
            </a:r>
          </a:p>
        </p:txBody>
      </p:sp>
      <p:sp>
        <p:nvSpPr>
          <p:cNvPr id="21" name="Tarjeta 5"/>
          <p:cNvSpPr/>
          <p:nvPr/>
        </p:nvSpPr>
        <p:spPr>
          <a:xfrm>
            <a:off x="3312414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arjetaTxt 5"/>
          <p:cNvSpPr txBox="1"/>
          <p:nvPr/>
        </p:nvSpPr>
        <p:spPr>
          <a:xfrm>
            <a:off x="3403854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Mercedes Sosa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Argentina, 1935–2009 · cantante</a:t>
            </a:r>
          </a:p>
        </p:txBody>
      </p:sp>
      <p:sp>
        <p:nvSpPr>
          <p:cNvPr id="23" name="Tarjeta 6"/>
          <p:cNvSpPr/>
          <p:nvPr/>
        </p:nvSpPr>
        <p:spPr>
          <a:xfrm>
            <a:off x="6167628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arjetaTxt 6"/>
          <p:cNvSpPr txBox="1"/>
          <p:nvPr/>
        </p:nvSpPr>
        <p:spPr>
          <a:xfrm>
            <a:off x="6259068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 modelo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¿Cuándo salió usted de su país por primera vez?</a:t>
            </a:r>
          </a:p>
        </p:txBody>
      </p:sp>
      <p:sp>
        <p:nvSpPr>
          <p:cNvPr id="25" name="Tarjeta 7"/>
          <p:cNvSpPr/>
          <p:nvPr/>
        </p:nvSpPr>
        <p:spPr>
          <a:xfrm>
            <a:off x="9022842" y="3968496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arjetaTxt 7"/>
          <p:cNvSpPr txBox="1"/>
          <p:nvPr/>
        </p:nvSpPr>
        <p:spPr>
          <a:xfrm>
            <a:off x="9114282" y="4023360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 modelo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¿Qué hizo el día más difícil de su vida?</a:t>
            </a:r>
          </a:p>
        </p:txBody>
      </p:sp>
      <p:sp>
        <p:nvSpPr>
          <p:cNvPr id="27" name="Tarjeta 8"/>
          <p:cNvSpPr/>
          <p:nvPr/>
        </p:nvSpPr>
        <p:spPr>
          <a:xfrm>
            <a:off x="457200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arjetaTxt 8"/>
          <p:cNvSpPr txBox="1"/>
          <p:nvPr/>
        </p:nvSpPr>
        <p:spPr>
          <a:xfrm>
            <a:off x="548640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 modelo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¿Quién le ayudó cuando nadie más lo hizo?</a:t>
            </a:r>
          </a:p>
        </p:txBody>
      </p:sp>
      <p:sp>
        <p:nvSpPr>
          <p:cNvPr id="29" name="Tarjeta 9"/>
          <p:cNvSpPr/>
          <p:nvPr/>
        </p:nvSpPr>
        <p:spPr>
          <a:xfrm>
            <a:off x="3312414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arjetaTxt 9"/>
          <p:cNvSpPr txBox="1"/>
          <p:nvPr/>
        </p:nvSpPr>
        <p:spPr>
          <a:xfrm>
            <a:off x="3403854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 modelo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¿De qué decisión se arrepintió después?</a:t>
            </a:r>
          </a:p>
        </p:txBody>
      </p:sp>
      <p:sp>
        <p:nvSpPr>
          <p:cNvPr id="31" name="Tarjeta 10"/>
          <p:cNvSpPr/>
          <p:nvPr/>
        </p:nvSpPr>
        <p:spPr>
          <a:xfrm>
            <a:off x="6167628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arjetaTxt 10"/>
          <p:cNvSpPr txBox="1"/>
          <p:nvPr/>
        </p:nvSpPr>
        <p:spPr>
          <a:xfrm>
            <a:off x="6259068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pregunta modelo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¿Cuándo supo que su trabajo importaba?</a:t>
            </a:r>
          </a:p>
        </p:txBody>
      </p:sp>
      <p:sp>
        <p:nvSpPr>
          <p:cNvPr id="33" name="Tarjeta 11"/>
          <p:cNvSpPr/>
          <p:nvPr/>
        </p:nvSpPr>
        <p:spPr>
          <a:xfrm>
            <a:off x="9022842" y="5266944"/>
            <a:ext cx="2708910" cy="11704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arjetaTxt 11"/>
          <p:cNvSpPr txBox="1"/>
          <p:nvPr/>
        </p:nvSpPr>
        <p:spPr>
          <a:xfrm>
            <a:off x="9114282" y="5321808"/>
            <a:ext cx="2526030" cy="1060704"/>
          </a:xfrm>
          <a:prstGeom prst="rect">
            <a:avLst/>
          </a:prstGeom>
          <a:noFill/>
        </p:spPr>
        <p:txBody>
          <a:bodyPr wrap="square" anchor="t" lIns="45720" rIns="45720" tIns="27432" bIns="27432">
            <a:normAutofit/>
          </a:bodyPr>
          <a:lstStyle/>
          <a:p>
            <a:pPr algn="l"/>
            <a:r>
              <a:rPr sz="1100" b="1">
                <a:solidFill>
                  <a:srgbClr val="5B3E83"/>
                </a:solidFill>
                <a:latin typeface="Bricolage Grotesque"/>
              </a:rPr>
              <a:t>PROHIBIDO al personaje</a:t>
            </a:r>
          </a:p>
          <a:p>
            <a:pPr algn="l"/>
            <a:r>
              <a:rPr sz="1000">
                <a:solidFill>
                  <a:srgbClr val="20242E"/>
                </a:solidFill>
                <a:latin typeface="Inter"/>
              </a:rPr>
              <a:t>yo creo que · normalmente · siempre hacía · hoy en día · en mi opinión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