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Openingsdia. Lees het citaat voor en vraag wat ze al herkennen.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en María komen elkaar tegen op de markt. Zij zet zijn mandje recht — een ui, een blikje tonijn en zes repen chocolade — en stelt intussen de hele boodschappenlijst samen. Hij hoort er ongeveer niets van, want hij is met iets heel anders bezig. Alles wat zij zegt, heb jij nodig zodra je zelf op een Spaanse markt staat.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Julio! Hoe gaat het?
Julio: Heel goed, heel goed, heel goed.
María: Je ziet er niet zo goed uit.
Julio: Ik ben ziek. Ik ben ziek, daarom ga ik niet naar de academie.
María: Juist. Je moet voor jezelf zorgen.
Julio: Dat probeer ik. Vitamine C, dat is heel goed, ontzettend goed.
María: Een ui.
Julio: Het is… Ik probeer een mediterraan dieet te volgen, een gezond dieet.
María: Juist.
María: En een blikje tonijn.
Julio: Het is belangrijk om vis te eten. Ik ben geen vegetariër, ik eet niet veel vlees. Ik zorg graag voor mezelf.
María: En zes repen chocolade.
Julio: Dat is een aanbieding, ze zijn goedkoop. Je moet weten waar je moet kopen.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Ik raad je de appels aan. Ze zijn goedkoop en heel lekker. Hoeveel wil je, een kilo?
Julio: Een kilo is goed. Zijn ze duur?
María: Ze zijn niet duur, ze zijn goedkoop. Sinaasappels, bananen, wat groenten. Je moet wat groenten eten. Hoeveel kosten de tomaten?
Julio: Twee twintig de kilo.
María: Je neemt een kilo tomaten en een krop sla mee.
Julio: Ik hou van je.
María: We moeten nog langs de slagerij: kip, kalfsvlees, gehakt…
Julio: Ik hou van je.
María: Waar verkopen ze verse vis?
Julio: Ik wil mijn leven met jou doorbrengen. Het is kitsch, maar het is waar. Waarom? Ik weet het niet. Om kinderen te krijgen, om ruzie te maken in de IKEA. Hoe lang? Tja, dat weet ik niet. Misschien tien minuten, maar het worden de tien beste minuten van mijn leven. Ik wil de grootvader van jouw kleinkinderen zijn.
María: En eieren en melk. En brood. Volkorenbrood is het lekkerst.
Julio: Ik hou van je.
María: Waar verkopen ze verse vis?
Julio: Daar is een viswinkel.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klappen op de klemtoon. Iedereen zegt elk woord drie keer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klas eerst wat de rechterkolom zou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eerst luisteren, dan pas kiezen. Klik door naar de volgende dia voor de oplossing.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zin is een taalhandeling: wat dóé je ermee? Laat ze er zelf een bedenken.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Noodroute: lukt de opname niet, laat de scène dan gewoon live spelen.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een ronde: iedereen zegt één chunk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1371600"/>
            <a:ext cx="10725912" cy="365760"/>
          </a:xfrm>
          <a:prstGeom prst="rect">
            <a:avLst/>
          </a:prstGeom>
          <a:noFill/>
          <a:ln/>
        </p:spPr>
        <p:txBody>
          <a:bodyPr wrap="square" lIns="0" tIns="0" rIns="0" bIns="0" rtlCol="0" anchor="ctr"/>
          <a:lstStyle/>
          <a:p>
            <a:pPr indent="0" marL="0">
              <a:buNone/>
            </a:pPr>
            <a:r>
              <a:rPr lang="en-US" sz="1300" spc="200" kern="0" dirty="0">
                <a:solidFill>
                  <a:srgbClr val="FFFFFF"/>
                </a:solidFill>
                <a:latin typeface="Inter" pitchFamily="34" charset="0"/>
                <a:ea typeface="Inter" pitchFamily="34" charset="-122"/>
                <a:cs typeface="Inter" pitchFamily="34" charset="-120"/>
              </a:rPr>
              <a:t>C4 · LA RUTA · EL DESPEGUE · PARADA 13</a:t>
            </a:r>
            <a:endParaRPr lang="en-US" sz="1300" dirty="0"/>
          </a:p>
        </p:txBody>
      </p:sp>
      <p:sp>
        <p:nvSpPr>
          <p:cNvPr id="3" name="Text 1"/>
          <p:cNvSpPr/>
          <p:nvPr/>
        </p:nvSpPr>
        <p:spPr>
          <a:xfrm>
            <a:off x="731520" y="1783080"/>
            <a:ext cx="10725912" cy="1097280"/>
          </a:xfrm>
          <a:prstGeom prst="rect">
            <a:avLst/>
          </a:prstGeom>
          <a:noFill/>
          <a:ln/>
        </p:spPr>
        <p:txBody>
          <a:bodyPr wrap="square" lIns="0" tIns="0" rIns="0" bIns="0" rtlCol="0" anchor="ctr"/>
          <a:lstStyle/>
          <a:p>
            <a:pPr indent="0" marL="0">
              <a:buNone/>
            </a:pPr>
            <a:r>
              <a:rPr lang="en-US" sz="5400" b="1" dirty="0">
                <a:solidFill>
                  <a:srgbClr val="FFFFFF"/>
                </a:solidFill>
                <a:latin typeface="Bricolage Grotesque" pitchFamily="34" charset="0"/>
                <a:ea typeface="Bricolage Grotesque" pitchFamily="34" charset="-122"/>
                <a:cs typeface="Bricolage Grotesque" pitchFamily="34" charset="-120"/>
              </a:rPr>
              <a:t>En el mercado</a:t>
            </a:r>
            <a:endParaRPr lang="en-US" sz="5400" dirty="0"/>
          </a:p>
        </p:txBody>
      </p:sp>
      <p:sp>
        <p:nvSpPr>
          <p:cNvPr id="4" name="Text 2"/>
          <p:cNvSpPr/>
          <p:nvPr/>
        </p:nvSpPr>
        <p:spPr>
          <a:xfrm>
            <a:off x="731520" y="2880360"/>
            <a:ext cx="10725912" cy="64008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Boodschappen doen: producten, winkels, prijzen — en waarom.</a:t>
            </a:r>
            <a:endParaRPr lang="en-US" sz="1700" dirty="0"/>
          </a:p>
        </p:txBody>
      </p:sp>
      <p:sp>
        <p:nvSpPr>
          <p:cNvPr id="5" name="Shape 3"/>
          <p:cNvSpPr/>
          <p:nvPr/>
        </p:nvSpPr>
        <p:spPr>
          <a:xfrm>
            <a:off x="731520" y="3749040"/>
            <a:ext cx="10725912" cy="914400"/>
          </a:xfrm>
          <a:prstGeom prst="roundRect">
            <a:avLst>
              <a:gd name="adj" fmla="val 12000"/>
            </a:avLst>
          </a:prstGeom>
          <a:solidFill>
            <a:srgbClr val="FFFFFF">
              <a:alpha val="14000"/>
            </a:srgbClr>
          </a:solidFill>
          <a:ln/>
        </p:spPr>
      </p:sp>
      <p:sp>
        <p:nvSpPr>
          <p:cNvPr id="6" name="Text 4"/>
          <p:cNvSpPr/>
          <p:nvPr/>
        </p:nvSpPr>
        <p:spPr>
          <a:xfrm>
            <a:off x="1005840" y="3749040"/>
            <a:ext cx="10177272" cy="914400"/>
          </a:xfrm>
          <a:prstGeom prst="rect">
            <a:avLst/>
          </a:prstGeom>
          <a:noFill/>
          <a:ln/>
        </p:spPr>
        <p:txBody>
          <a:bodyPr wrap="square" lIns="0" tIns="0" rIns="0" bIns="0" rtlCol="0" anchor="ctr"/>
          <a:lstStyle/>
          <a:p>
            <a:pPr indent="0" marL="0">
              <a:buNone/>
            </a:pPr>
            <a:r>
              <a:rPr lang="en-US" sz="1900" dirty="0">
                <a:solidFill>
                  <a:srgbClr val="FFFFFF"/>
                </a:solidFill>
                <a:latin typeface="Bricolage Grotesque" pitchFamily="34" charset="0"/>
                <a:ea typeface="Bricolage Grotesque" pitchFamily="34" charset="-122"/>
                <a:cs typeface="Bricolage Grotesque" pitchFamily="34" charset="-120"/>
              </a:rPr>
              <a:t>« ¿Cuánto cuestan los tomates? — Dos con veinte el kilo. »</a:t>
            </a:r>
            <a:endParaRPr lang="en-US" sz="1900" dirty="0"/>
          </a:p>
        </p:txBody>
      </p:sp>
      <p:sp>
        <p:nvSpPr>
          <p:cNvPr id="7" name="Text 5"/>
          <p:cNvSpPr/>
          <p:nvPr/>
        </p:nvSpPr>
        <p:spPr>
          <a:xfrm>
            <a:off x="731520" y="5029200"/>
            <a:ext cx="10725912" cy="365760"/>
          </a:xfrm>
          <a:prstGeom prst="rect">
            <a:avLst/>
          </a:prstGeom>
          <a:noFill/>
          <a:ln/>
        </p:spPr>
        <p:txBody>
          <a:bodyPr wrap="square" lIns="0" tIns="0" rIns="0" bIns="0" rtlCol="0" anchor="ctr"/>
          <a:lstStyle/>
          <a:p>
            <a:pPr indent="0" marL="0">
              <a:buNone/>
            </a:pPr>
            <a:r>
              <a:rPr lang="en-US" sz="1400" dirty="0">
                <a:solidFill>
                  <a:srgbClr val="F6DDE0"/>
                </a:solidFill>
                <a:latin typeface="Inter" pitchFamily="34" charset="0"/>
                <a:ea typeface="Inter" pitchFamily="34" charset="-122"/>
                <a:cs typeface="Inter" pitchFamily="34" charset="-120"/>
              </a:rPr>
              <a:t>La comida · las tiendas · los precios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En esta unidad vas 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13</a:t>
            </a:r>
            <a:endParaRPr lang="en-US" sz="1200" dirty="0"/>
          </a:p>
        </p:txBody>
      </p:sp>
      <p:sp>
        <p:nvSpPr>
          <p:cNvPr id="5" name="Shape 3"/>
          <p:cNvSpPr/>
          <p:nvPr/>
        </p:nvSpPr>
        <p:spPr>
          <a:xfrm>
            <a:off x="640080" y="1234440"/>
            <a:ext cx="10908792" cy="960120"/>
          </a:xfrm>
          <a:prstGeom prst="roundRect">
            <a:avLst>
              <a:gd name="adj" fmla="val 8571"/>
            </a:avLst>
          </a:prstGeom>
          <a:solidFill>
            <a:srgbClr val="FFFFFF"/>
          </a:solidFill>
          <a:ln w="12700">
            <a:solidFill>
              <a:srgbClr val="E7E1DF"/>
            </a:solidFill>
            <a:prstDash val="solid"/>
          </a:ln>
        </p:spPr>
      </p:sp>
      <p:sp>
        <p:nvSpPr>
          <p:cNvPr id="6" name="Shape 4"/>
          <p:cNvSpPr/>
          <p:nvPr/>
        </p:nvSpPr>
        <p:spPr>
          <a:xfrm>
            <a:off x="868680" y="1490472"/>
            <a:ext cx="457200" cy="457200"/>
          </a:xfrm>
          <a:prstGeom prst="ellipse">
            <a:avLst/>
          </a:prstGeom>
          <a:solidFill>
            <a:srgbClr val="FBEAEC"/>
          </a:solidFill>
          <a:ln/>
        </p:spPr>
      </p:sp>
      <p:sp>
        <p:nvSpPr>
          <p:cNvPr id="7" name="Text 5"/>
          <p:cNvSpPr/>
          <p:nvPr/>
        </p:nvSpPr>
        <p:spPr>
          <a:xfrm>
            <a:off x="868680" y="1490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1</a:t>
            </a:r>
            <a:endParaRPr lang="en-US" sz="1600" dirty="0"/>
          </a:p>
        </p:txBody>
      </p:sp>
      <p:sp>
        <p:nvSpPr>
          <p:cNvPr id="8" name="Text 6"/>
          <p:cNvSpPr/>
          <p:nvPr/>
        </p:nvSpPr>
        <p:spPr>
          <a:xfrm>
            <a:off x="1508760" y="1362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Nombrar la comida</a:t>
            </a:r>
            <a:endParaRPr lang="en-US" sz="1700" dirty="0"/>
          </a:p>
        </p:txBody>
      </p:sp>
      <p:sp>
        <p:nvSpPr>
          <p:cNvPr id="9" name="Text 7"/>
          <p:cNvSpPr/>
          <p:nvPr/>
        </p:nvSpPr>
        <p:spPr>
          <a:xfrm>
            <a:off x="1508760" y="1746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manzanas · tomates · pollo · atún · pan</a:t>
            </a:r>
            <a:endParaRPr lang="en-US" sz="1350" dirty="0"/>
          </a:p>
        </p:txBody>
      </p:sp>
      <p:sp>
        <p:nvSpPr>
          <p:cNvPr id="10" name="Shape 8"/>
          <p:cNvSpPr/>
          <p:nvPr/>
        </p:nvSpPr>
        <p:spPr>
          <a:xfrm>
            <a:off x="640080" y="2377440"/>
            <a:ext cx="10908792" cy="960120"/>
          </a:xfrm>
          <a:prstGeom prst="roundRect">
            <a:avLst>
              <a:gd name="adj" fmla="val 8571"/>
            </a:avLst>
          </a:prstGeom>
          <a:solidFill>
            <a:srgbClr val="FFFFFF"/>
          </a:solidFill>
          <a:ln w="12700">
            <a:solidFill>
              <a:srgbClr val="E7E1DF"/>
            </a:solidFill>
            <a:prstDash val="solid"/>
          </a:ln>
        </p:spPr>
      </p:sp>
      <p:sp>
        <p:nvSpPr>
          <p:cNvPr id="11" name="Shape 9"/>
          <p:cNvSpPr/>
          <p:nvPr/>
        </p:nvSpPr>
        <p:spPr>
          <a:xfrm>
            <a:off x="868680" y="2633472"/>
            <a:ext cx="457200" cy="457200"/>
          </a:xfrm>
          <a:prstGeom prst="ellipse">
            <a:avLst/>
          </a:prstGeom>
          <a:solidFill>
            <a:srgbClr val="FBEAEC"/>
          </a:solidFill>
          <a:ln/>
        </p:spPr>
      </p:sp>
      <p:sp>
        <p:nvSpPr>
          <p:cNvPr id="12" name="Text 10"/>
          <p:cNvSpPr/>
          <p:nvPr/>
        </p:nvSpPr>
        <p:spPr>
          <a:xfrm>
            <a:off x="868680" y="2633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2</a:t>
            </a:r>
            <a:endParaRPr lang="en-US" sz="1600" dirty="0"/>
          </a:p>
        </p:txBody>
      </p:sp>
      <p:sp>
        <p:nvSpPr>
          <p:cNvPr id="13" name="Text 11"/>
          <p:cNvSpPr/>
          <p:nvPr/>
        </p:nvSpPr>
        <p:spPr>
          <a:xfrm>
            <a:off x="1508760" y="2505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en qué tienda se compra</a:t>
            </a:r>
            <a:endParaRPr lang="en-US" sz="1700" dirty="0"/>
          </a:p>
        </p:txBody>
      </p:sp>
      <p:sp>
        <p:nvSpPr>
          <p:cNvPr id="14" name="Text 12"/>
          <p:cNvSpPr/>
          <p:nvPr/>
        </p:nvSpPr>
        <p:spPr>
          <a:xfrm>
            <a:off x="1508760" y="2889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la pescadería · la carnicería · la frutería</a:t>
            </a:r>
            <a:endParaRPr lang="en-US" sz="1350" dirty="0"/>
          </a:p>
        </p:txBody>
      </p:sp>
      <p:sp>
        <p:nvSpPr>
          <p:cNvPr id="15" name="Shape 13"/>
          <p:cNvSpPr/>
          <p:nvPr/>
        </p:nvSpPr>
        <p:spPr>
          <a:xfrm>
            <a:off x="640080" y="3520440"/>
            <a:ext cx="10908792" cy="960120"/>
          </a:xfrm>
          <a:prstGeom prst="roundRect">
            <a:avLst>
              <a:gd name="adj" fmla="val 8571"/>
            </a:avLst>
          </a:prstGeom>
          <a:solidFill>
            <a:srgbClr val="FFFFFF"/>
          </a:solidFill>
          <a:ln w="12700">
            <a:solidFill>
              <a:srgbClr val="E7E1DF"/>
            </a:solidFill>
            <a:prstDash val="solid"/>
          </a:ln>
        </p:spPr>
      </p:sp>
      <p:sp>
        <p:nvSpPr>
          <p:cNvPr id="16" name="Shape 14"/>
          <p:cNvSpPr/>
          <p:nvPr/>
        </p:nvSpPr>
        <p:spPr>
          <a:xfrm>
            <a:off x="868680" y="3776472"/>
            <a:ext cx="457200" cy="457200"/>
          </a:xfrm>
          <a:prstGeom prst="ellipse">
            <a:avLst/>
          </a:prstGeom>
          <a:solidFill>
            <a:srgbClr val="FBEAEC"/>
          </a:solidFill>
          <a:ln/>
        </p:spPr>
      </p:sp>
      <p:sp>
        <p:nvSpPr>
          <p:cNvPr id="17" name="Text 15"/>
          <p:cNvSpPr/>
          <p:nvPr/>
        </p:nvSpPr>
        <p:spPr>
          <a:xfrm>
            <a:off x="868680" y="3776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3</a:t>
            </a:r>
            <a:endParaRPr lang="en-US" sz="1600" dirty="0"/>
          </a:p>
        </p:txBody>
      </p:sp>
      <p:sp>
        <p:nvSpPr>
          <p:cNvPr id="18" name="Text 16"/>
          <p:cNvSpPr/>
          <p:nvPr/>
        </p:nvSpPr>
        <p:spPr>
          <a:xfrm>
            <a:off x="1508760" y="3648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Preguntar el precio y decir si es caro</a:t>
            </a:r>
            <a:endParaRPr lang="en-US" sz="1700" dirty="0"/>
          </a:p>
        </p:txBody>
      </p:sp>
      <p:sp>
        <p:nvSpPr>
          <p:cNvPr id="19" name="Text 17"/>
          <p:cNvSpPr/>
          <p:nvPr/>
        </p:nvSpPr>
        <p:spPr>
          <a:xfrm>
            <a:off x="1508760" y="4032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¿cuánto cuesta? · es una oferta</a:t>
            </a:r>
            <a:endParaRPr lang="en-US" sz="1350" dirty="0"/>
          </a:p>
        </p:txBody>
      </p:sp>
      <p:sp>
        <p:nvSpPr>
          <p:cNvPr id="20" name="Shape 18"/>
          <p:cNvSpPr/>
          <p:nvPr/>
        </p:nvSpPr>
        <p:spPr>
          <a:xfrm>
            <a:off x="640080" y="4663440"/>
            <a:ext cx="10908792" cy="960120"/>
          </a:xfrm>
          <a:prstGeom prst="roundRect">
            <a:avLst>
              <a:gd name="adj" fmla="val 8571"/>
            </a:avLst>
          </a:prstGeom>
          <a:solidFill>
            <a:srgbClr val="FFFFFF"/>
          </a:solidFill>
          <a:ln w="12700">
            <a:solidFill>
              <a:srgbClr val="E7E1DF"/>
            </a:solidFill>
            <a:prstDash val="solid"/>
          </a:ln>
        </p:spPr>
      </p:sp>
      <p:sp>
        <p:nvSpPr>
          <p:cNvPr id="21" name="Shape 19"/>
          <p:cNvSpPr/>
          <p:nvPr/>
        </p:nvSpPr>
        <p:spPr>
          <a:xfrm>
            <a:off x="868680" y="4919472"/>
            <a:ext cx="457200" cy="457200"/>
          </a:xfrm>
          <a:prstGeom prst="ellipse">
            <a:avLst/>
          </a:prstGeom>
          <a:solidFill>
            <a:srgbClr val="FBEAEC"/>
          </a:solidFill>
          <a:ln/>
        </p:spPr>
      </p:sp>
      <p:sp>
        <p:nvSpPr>
          <p:cNvPr id="22" name="Text 20"/>
          <p:cNvSpPr/>
          <p:nvPr/>
        </p:nvSpPr>
        <p:spPr>
          <a:xfrm>
            <a:off x="868680" y="4919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4</a:t>
            </a:r>
            <a:endParaRPr lang="en-US" sz="1600" dirty="0"/>
          </a:p>
        </p:txBody>
      </p:sp>
      <p:sp>
        <p:nvSpPr>
          <p:cNvPr id="23" name="Text 21"/>
          <p:cNvSpPr/>
          <p:nvPr/>
        </p:nvSpPr>
        <p:spPr>
          <a:xfrm>
            <a:off x="1508760" y="4791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Preguntar y dar una razón</a:t>
            </a:r>
            <a:endParaRPr lang="en-US" sz="1700" dirty="0"/>
          </a:p>
        </p:txBody>
      </p:sp>
      <p:sp>
        <p:nvSpPr>
          <p:cNvPr id="24" name="Text 22"/>
          <p:cNvSpPr/>
          <p:nvPr/>
        </p:nvSpPr>
        <p:spPr>
          <a:xfrm>
            <a:off x="1508760" y="5175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¿por qué? · porque… · por eso…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1 · Julio y María se encuentran en el mercado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En el mercado</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María inspecteert wat er in Julio's mandje ligt. Hij probeert het uit te leggen — en denkt intussen aan iets heel anders.</a:t>
            </a:r>
            <a:endParaRPr lang="en-US" sz="1350" dirty="0"/>
          </a:p>
        </p:txBody>
      </p:sp>
      <p:sp>
        <p:nvSpPr>
          <p:cNvPr id="6" name="Text 4"/>
          <p:cNvSpPr/>
          <p:nvPr/>
        </p:nvSpPr>
        <p:spPr>
          <a:xfrm>
            <a:off x="685800" y="1417320"/>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¡Julio! ¿Cómo estás?</a:t>
            </a:r>
            <a:endParaRPr lang="en-US" sz="1500" dirty="0"/>
          </a:p>
        </p:txBody>
      </p:sp>
      <p:sp>
        <p:nvSpPr>
          <p:cNvPr id="8" name="Text 6"/>
          <p:cNvSpPr/>
          <p:nvPr/>
        </p:nvSpPr>
        <p:spPr>
          <a:xfrm>
            <a:off x="685800" y="1797148"/>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9" name="Text 7"/>
          <p:cNvSpPr/>
          <p:nvPr/>
        </p:nvSpPr>
        <p:spPr>
          <a:xfrm>
            <a:off x="2377440" y="1797148"/>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Muy bien, muy bien, muy bien.</a:t>
            </a:r>
            <a:endParaRPr lang="en-US" sz="1500" dirty="0"/>
          </a:p>
        </p:txBody>
      </p:sp>
      <p:sp>
        <p:nvSpPr>
          <p:cNvPr id="10" name="Text 8"/>
          <p:cNvSpPr/>
          <p:nvPr/>
        </p:nvSpPr>
        <p:spPr>
          <a:xfrm>
            <a:off x="685800" y="2176975"/>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1" name="Text 9"/>
          <p:cNvSpPr/>
          <p:nvPr/>
        </p:nvSpPr>
        <p:spPr>
          <a:xfrm>
            <a:off x="2377440" y="2176975"/>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tienes muy buen aspecto.</a:t>
            </a:r>
            <a:endParaRPr lang="en-US" sz="1500" dirty="0"/>
          </a:p>
        </p:txBody>
      </p:sp>
      <p:sp>
        <p:nvSpPr>
          <p:cNvPr id="12" name="Text 10"/>
          <p:cNvSpPr/>
          <p:nvPr/>
        </p:nvSpPr>
        <p:spPr>
          <a:xfrm>
            <a:off x="685800" y="2556803"/>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3" name="Text 11"/>
          <p:cNvSpPr/>
          <p:nvPr/>
        </p:nvSpPr>
        <p:spPr>
          <a:xfrm>
            <a:off x="2377440" y="2556803"/>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Estoy enfermo. Estoy enfermo, por eso no voy a la academia.</a:t>
            </a:r>
            <a:endParaRPr lang="en-US" sz="1500" dirty="0"/>
          </a:p>
        </p:txBody>
      </p:sp>
      <p:sp>
        <p:nvSpPr>
          <p:cNvPr id="14" name="Text 12"/>
          <p:cNvSpPr/>
          <p:nvPr/>
        </p:nvSpPr>
        <p:spPr>
          <a:xfrm>
            <a:off x="685800" y="2936631"/>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5" name="Text 13"/>
          <p:cNvSpPr/>
          <p:nvPr/>
        </p:nvSpPr>
        <p:spPr>
          <a:xfrm>
            <a:off x="2377440" y="2936631"/>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 Tienes que cuidarte.</a:t>
            </a:r>
            <a:endParaRPr lang="en-US" sz="1500" dirty="0"/>
          </a:p>
        </p:txBody>
      </p:sp>
      <p:sp>
        <p:nvSpPr>
          <p:cNvPr id="16" name="Text 14"/>
          <p:cNvSpPr/>
          <p:nvPr/>
        </p:nvSpPr>
        <p:spPr>
          <a:xfrm>
            <a:off x="685800" y="3316458"/>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7" name="Text 15"/>
          <p:cNvSpPr/>
          <p:nvPr/>
        </p:nvSpPr>
        <p:spPr>
          <a:xfrm>
            <a:off x="2377440" y="3316458"/>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Eso intento. Vitamina C, es muy buena, buenísima.</a:t>
            </a:r>
            <a:endParaRPr lang="en-US" sz="1500" dirty="0"/>
          </a:p>
        </p:txBody>
      </p:sp>
      <p:sp>
        <p:nvSpPr>
          <p:cNvPr id="18" name="Text 16"/>
          <p:cNvSpPr/>
          <p:nvPr/>
        </p:nvSpPr>
        <p:spPr>
          <a:xfrm>
            <a:off x="685800" y="3696286"/>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9" name="Text 17"/>
          <p:cNvSpPr/>
          <p:nvPr/>
        </p:nvSpPr>
        <p:spPr>
          <a:xfrm>
            <a:off x="2377440" y="3696286"/>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Una cebolla.</a:t>
            </a:r>
            <a:endParaRPr lang="en-US" sz="1500" dirty="0"/>
          </a:p>
        </p:txBody>
      </p:sp>
      <p:sp>
        <p:nvSpPr>
          <p:cNvPr id="20" name="Text 18"/>
          <p:cNvSpPr/>
          <p:nvPr/>
        </p:nvSpPr>
        <p:spPr>
          <a:xfrm>
            <a:off x="685800" y="4076114"/>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4076114"/>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Intento seguir una dieta mediterránea, una dieta sana.</a:t>
            </a:r>
            <a:endParaRPr lang="en-US" sz="1500" dirty="0"/>
          </a:p>
        </p:txBody>
      </p:sp>
      <p:sp>
        <p:nvSpPr>
          <p:cNvPr id="22" name="Text 20"/>
          <p:cNvSpPr/>
          <p:nvPr/>
        </p:nvSpPr>
        <p:spPr>
          <a:xfrm>
            <a:off x="685800" y="4455942"/>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3" name="Text 21"/>
          <p:cNvSpPr/>
          <p:nvPr/>
        </p:nvSpPr>
        <p:spPr>
          <a:xfrm>
            <a:off x="2377440" y="4455942"/>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a:t>
            </a:r>
            <a:endParaRPr lang="en-US" sz="1500" dirty="0"/>
          </a:p>
        </p:txBody>
      </p:sp>
      <p:sp>
        <p:nvSpPr>
          <p:cNvPr id="24" name="Text 22"/>
          <p:cNvSpPr/>
          <p:nvPr/>
        </p:nvSpPr>
        <p:spPr>
          <a:xfrm>
            <a:off x="685800" y="4835769"/>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5" name="Text 23"/>
          <p:cNvSpPr/>
          <p:nvPr/>
        </p:nvSpPr>
        <p:spPr>
          <a:xfrm>
            <a:off x="2377440" y="4835769"/>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una lata de atún.</a:t>
            </a:r>
            <a:endParaRPr lang="en-US" sz="1500" dirty="0"/>
          </a:p>
        </p:txBody>
      </p:sp>
      <p:sp>
        <p:nvSpPr>
          <p:cNvPr id="26" name="Text 24"/>
          <p:cNvSpPr/>
          <p:nvPr/>
        </p:nvSpPr>
        <p:spPr>
          <a:xfrm>
            <a:off x="685800" y="5215597"/>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7" name="Text 25"/>
          <p:cNvSpPr/>
          <p:nvPr/>
        </p:nvSpPr>
        <p:spPr>
          <a:xfrm>
            <a:off x="2377440" y="5215597"/>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importante comer pescado. No soy vegetariano, no como mucha carne. Me gusta cuidarme.</a:t>
            </a:r>
            <a:endParaRPr lang="en-US" sz="1500" dirty="0"/>
          </a:p>
        </p:txBody>
      </p:sp>
      <p:sp>
        <p:nvSpPr>
          <p:cNvPr id="28" name="Text 26"/>
          <p:cNvSpPr/>
          <p:nvPr/>
        </p:nvSpPr>
        <p:spPr>
          <a:xfrm>
            <a:off x="685800" y="5595425"/>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9" name="Text 27"/>
          <p:cNvSpPr/>
          <p:nvPr/>
        </p:nvSpPr>
        <p:spPr>
          <a:xfrm>
            <a:off x="2377440" y="5595425"/>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seis tabletas de chocolate.</a:t>
            </a:r>
            <a:endParaRPr lang="en-US" sz="1500" dirty="0"/>
          </a:p>
        </p:txBody>
      </p:sp>
      <p:sp>
        <p:nvSpPr>
          <p:cNvPr id="30" name="Text 28"/>
          <p:cNvSpPr/>
          <p:nvPr/>
        </p:nvSpPr>
        <p:spPr>
          <a:xfrm>
            <a:off x="685800" y="5975252"/>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1" name="Text 29"/>
          <p:cNvSpPr/>
          <p:nvPr/>
        </p:nvSpPr>
        <p:spPr>
          <a:xfrm>
            <a:off x="2377440" y="5975252"/>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una oferta, son baratas. Hay que saber dónde comprar.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2 · La compra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En el mercado</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María stelt de boodschappenlijst samen. Julio hoort de helft niet.</a:t>
            </a:r>
            <a:endParaRPr lang="en-US" sz="1350" dirty="0"/>
          </a:p>
        </p:txBody>
      </p:sp>
      <p:sp>
        <p:nvSpPr>
          <p:cNvPr id="6" name="Text 4"/>
          <p:cNvSpPr/>
          <p:nvPr/>
        </p:nvSpPr>
        <p:spPr>
          <a:xfrm>
            <a:off x="685800" y="1417320"/>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recomiendo las manzanas. Son baratas y son muy buenas. ¿Cuántas quieres, un kilo?</a:t>
            </a:r>
            <a:endParaRPr lang="en-US" sz="1500" dirty="0"/>
          </a:p>
        </p:txBody>
      </p:sp>
      <p:sp>
        <p:nvSpPr>
          <p:cNvPr id="8" name="Text 6"/>
          <p:cNvSpPr/>
          <p:nvPr/>
        </p:nvSpPr>
        <p:spPr>
          <a:xfrm>
            <a:off x="685800" y="1770017"/>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9" name="Text 7"/>
          <p:cNvSpPr/>
          <p:nvPr/>
        </p:nvSpPr>
        <p:spPr>
          <a:xfrm>
            <a:off x="2377440" y="1770017"/>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Un kilo está bien. ¿Son caras?</a:t>
            </a:r>
            <a:endParaRPr lang="en-US" sz="1500" dirty="0"/>
          </a:p>
        </p:txBody>
      </p:sp>
      <p:sp>
        <p:nvSpPr>
          <p:cNvPr id="10" name="Text 8"/>
          <p:cNvSpPr/>
          <p:nvPr/>
        </p:nvSpPr>
        <p:spPr>
          <a:xfrm>
            <a:off x="685800" y="2122714"/>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1" name="Text 9"/>
          <p:cNvSpPr/>
          <p:nvPr/>
        </p:nvSpPr>
        <p:spPr>
          <a:xfrm>
            <a:off x="2377440" y="2122714"/>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son caras, son baratas. Naranjas, plátanos, algo de verdura. Tienes que comer algo de verdura. ¿Cuánto cuestan los tomates?</a:t>
            </a:r>
            <a:endParaRPr lang="en-US" sz="1500" dirty="0"/>
          </a:p>
        </p:txBody>
      </p:sp>
      <p:sp>
        <p:nvSpPr>
          <p:cNvPr id="12" name="Text 10"/>
          <p:cNvSpPr/>
          <p:nvPr/>
        </p:nvSpPr>
        <p:spPr>
          <a:xfrm>
            <a:off x="685800" y="2475411"/>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3" name="Text 11"/>
          <p:cNvSpPr/>
          <p:nvPr/>
        </p:nvSpPr>
        <p:spPr>
          <a:xfrm>
            <a:off x="2377440" y="2475411"/>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Dos con veinte el kilo.</a:t>
            </a:r>
            <a:endParaRPr lang="en-US" sz="1500" dirty="0"/>
          </a:p>
        </p:txBody>
      </p:sp>
      <p:sp>
        <p:nvSpPr>
          <p:cNvPr id="14" name="Text 12"/>
          <p:cNvSpPr/>
          <p:nvPr/>
        </p:nvSpPr>
        <p:spPr>
          <a:xfrm>
            <a:off x="685800" y="2828109"/>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5" name="Text 13"/>
          <p:cNvSpPr/>
          <p:nvPr/>
        </p:nvSpPr>
        <p:spPr>
          <a:xfrm>
            <a:off x="2377440" y="2828109"/>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vas a llevar un kilo de tomates y una lechuga.</a:t>
            </a:r>
            <a:endParaRPr lang="en-US" sz="1500" dirty="0"/>
          </a:p>
        </p:txBody>
      </p:sp>
      <p:sp>
        <p:nvSpPr>
          <p:cNvPr id="16" name="Text 14"/>
          <p:cNvSpPr/>
          <p:nvPr/>
        </p:nvSpPr>
        <p:spPr>
          <a:xfrm>
            <a:off x="685800" y="3180806"/>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7" name="Text 15"/>
          <p:cNvSpPr/>
          <p:nvPr/>
        </p:nvSpPr>
        <p:spPr>
          <a:xfrm>
            <a:off x="2377440" y="3180806"/>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18" name="Text 16"/>
          <p:cNvSpPr/>
          <p:nvPr/>
        </p:nvSpPr>
        <p:spPr>
          <a:xfrm>
            <a:off x="685800" y="3533503"/>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9" name="Text 17"/>
          <p:cNvSpPr/>
          <p:nvPr/>
        </p:nvSpPr>
        <p:spPr>
          <a:xfrm>
            <a:off x="2377440" y="3533503"/>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Nos falta pasar por la carnicería: pollo, ternera, carne picada…</a:t>
            </a:r>
            <a:endParaRPr lang="en-US" sz="1500" dirty="0"/>
          </a:p>
        </p:txBody>
      </p:sp>
      <p:sp>
        <p:nvSpPr>
          <p:cNvPr id="20" name="Text 18"/>
          <p:cNvSpPr/>
          <p:nvPr/>
        </p:nvSpPr>
        <p:spPr>
          <a:xfrm>
            <a:off x="685800" y="3886200"/>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3886200"/>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22" name="Text 20"/>
          <p:cNvSpPr/>
          <p:nvPr/>
        </p:nvSpPr>
        <p:spPr>
          <a:xfrm>
            <a:off x="685800" y="4238897"/>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3" name="Text 21"/>
          <p:cNvSpPr/>
          <p:nvPr/>
        </p:nvSpPr>
        <p:spPr>
          <a:xfrm>
            <a:off x="2377440" y="4238897"/>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¿Dónde venden pescado fresco?</a:t>
            </a:r>
            <a:endParaRPr lang="en-US" sz="1500" dirty="0"/>
          </a:p>
        </p:txBody>
      </p:sp>
      <p:sp>
        <p:nvSpPr>
          <p:cNvPr id="24" name="Text 22"/>
          <p:cNvSpPr/>
          <p:nvPr/>
        </p:nvSpPr>
        <p:spPr>
          <a:xfrm>
            <a:off x="685800" y="4591594"/>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5" name="Text 23"/>
          <p:cNvSpPr/>
          <p:nvPr/>
        </p:nvSpPr>
        <p:spPr>
          <a:xfrm>
            <a:off x="2377440" y="4591594"/>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Quiero pasar mi vida contigo. Es cursi, pero es la verdad. ¿Por qué? No lo sé. Para tener hijos, para discutir en IKEA. ¿Cuánto tiempo? Pues no lo sé. A lo mejor son diez minutos, pero van a ser los diez mejores minutos de mi vida. Quiero ser el abuelo de tus nietos.</a:t>
            </a:r>
            <a:endParaRPr lang="en-US" sz="1500" dirty="0"/>
          </a:p>
        </p:txBody>
      </p:sp>
      <p:sp>
        <p:nvSpPr>
          <p:cNvPr id="26" name="Text 24"/>
          <p:cNvSpPr/>
          <p:nvPr/>
        </p:nvSpPr>
        <p:spPr>
          <a:xfrm>
            <a:off x="685800" y="4944291"/>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7" name="Text 25"/>
          <p:cNvSpPr/>
          <p:nvPr/>
        </p:nvSpPr>
        <p:spPr>
          <a:xfrm>
            <a:off x="2377440" y="4944291"/>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huevos y leche. Y pan. El pan integral es el mejor.</a:t>
            </a:r>
            <a:endParaRPr lang="en-US" sz="1500" dirty="0"/>
          </a:p>
        </p:txBody>
      </p:sp>
      <p:sp>
        <p:nvSpPr>
          <p:cNvPr id="28" name="Text 26"/>
          <p:cNvSpPr/>
          <p:nvPr/>
        </p:nvSpPr>
        <p:spPr>
          <a:xfrm>
            <a:off x="685800" y="5296989"/>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9" name="Text 27"/>
          <p:cNvSpPr/>
          <p:nvPr/>
        </p:nvSpPr>
        <p:spPr>
          <a:xfrm>
            <a:off x="2377440" y="5296989"/>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30" name="Text 28"/>
          <p:cNvSpPr/>
          <p:nvPr/>
        </p:nvSpPr>
        <p:spPr>
          <a:xfrm>
            <a:off x="685800" y="5649686"/>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31" name="Text 29"/>
          <p:cNvSpPr/>
          <p:nvPr/>
        </p:nvSpPr>
        <p:spPr>
          <a:xfrm>
            <a:off x="2377440" y="5649686"/>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¿Dónde venden pescado fresco?</a:t>
            </a:r>
            <a:endParaRPr lang="en-US" sz="1500" dirty="0"/>
          </a:p>
        </p:txBody>
      </p:sp>
      <p:sp>
        <p:nvSpPr>
          <p:cNvPr id="32" name="Text 30"/>
          <p:cNvSpPr/>
          <p:nvPr/>
        </p:nvSpPr>
        <p:spPr>
          <a:xfrm>
            <a:off x="685800" y="6002383"/>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3" name="Text 31"/>
          <p:cNvSpPr/>
          <p:nvPr/>
        </p:nvSpPr>
        <p:spPr>
          <a:xfrm>
            <a:off x="2377440" y="6002383"/>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Ahí hay una pescadería.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 fruta y la verdura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fruit en groenten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manzana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appel</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naranja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sinaasappel</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plátano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banaan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tomate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tomaat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lechuga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sla</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cebolla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ui</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verdura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groenten</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fruta</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fruit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Carne y pescado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vlees en vis</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pollo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kip</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ternera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kalfsvlees</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carne picada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gehakt</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pescado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vis</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atún</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tonijn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pescado fresco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verse vis</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una lata de atún</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blikje tonijn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Y además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rest van het mandje</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pan</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brood</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pan integral</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volkorenbrood</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huevos</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eieren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leche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melk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chocolate</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chocolade</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una tableta de chocolate</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reep chocolade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Las tiendas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waar je wat koopt</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mercado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markt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pescadería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viswinkel</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carnicería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slagerij</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panadería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bakkerij</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frutería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fruitwinkel</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supermercado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supermarkt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¿Cuánto cuesta?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prijs</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 cuesta?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 kost het?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 cuestan?</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 kosten ze?</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dos con veinte el kilo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twee twintig de kilo</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caro/a · barato/a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duur · goedkoop</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es una oferta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een aanbieding</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 kilo · medio kilo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kilo · een halve kilo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¿Por qué?</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naar de reden vragen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 qué?</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Waarom?</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porque…</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omdat · want</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 eso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daarom · dus</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No lo sé</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weet het niet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¿Cuántos? · ¿Cuántas?</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¿Dónde venden…?</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Waar verkopen ze…?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Suena bien</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El enlace — las palabras se dan la mano</a:t>
            </a:r>
            <a:endParaRPr lang="en-US" sz="1200" dirty="0"/>
          </a:p>
        </p:txBody>
      </p:sp>
      <p:sp>
        <p:nvSpPr>
          <p:cNvPr id="5" name="Shape 3"/>
          <p:cNvSpPr/>
          <p:nvPr/>
        </p:nvSpPr>
        <p:spPr>
          <a:xfrm>
            <a:off x="640080" y="1005840"/>
            <a:ext cx="10908792" cy="1051560"/>
          </a:xfrm>
          <a:prstGeom prst="roundRect">
            <a:avLst>
              <a:gd name="adj" fmla="val 8696"/>
            </a:avLst>
          </a:prstGeom>
          <a:solidFill>
            <a:srgbClr val="FEF3C7"/>
          </a:solidFill>
          <a:ln w="12700">
            <a:solidFill>
              <a:srgbClr val="B45309"/>
            </a:solidFill>
            <a:prstDash val="solid"/>
          </a:ln>
        </p:spPr>
      </p:sp>
      <p:sp>
        <p:nvSpPr>
          <p:cNvPr id="6" name="Text 4"/>
          <p:cNvSpPr/>
          <p:nvPr/>
        </p:nvSpPr>
        <p:spPr>
          <a:xfrm>
            <a:off x="914400" y="1005840"/>
            <a:ext cx="10360152" cy="1051560"/>
          </a:xfrm>
          <a:prstGeom prst="rect">
            <a:avLst/>
          </a:prstGeom>
          <a:noFill/>
          <a:ln/>
        </p:spPr>
        <p:txBody>
          <a:bodyPr wrap="square" lIns="0" tIns="0" rIns="0" bIns="0" rtlCol="0" anchor="ctr"/>
          <a:lstStyle/>
          <a:p>
            <a:pPr indent="0" marL="0">
              <a:buNone/>
            </a:pPr>
            <a:r>
              <a:rPr lang="en-US" sz="1400" dirty="0">
                <a:solidFill>
                  <a:srgbClr val="20242E"/>
                </a:solidFill>
                <a:latin typeface="Inter" pitchFamily="34" charset="0"/>
                <a:ea typeface="Inter" pitchFamily="34" charset="-122"/>
                <a:cs typeface="Inter" pitchFamily="34" charset="-120"/>
              </a:rPr>
              <a:t>Spanjaarden plakken woorden aaneen: het einde van het ene woord en het begin van het volgende worden één klank. Daarom klinkt een marktgesprek zo snel.</a:t>
            </a:r>
            <a:endParaRPr lang="en-US" sz="1400" dirty="0"/>
          </a:p>
        </p:txBody>
      </p:sp>
      <p:sp>
        <p:nvSpPr>
          <p:cNvPr id="7" name="Shape 5"/>
          <p:cNvSpPr/>
          <p:nvPr/>
        </p:nvSpPr>
        <p:spPr>
          <a:xfrm>
            <a:off x="640080" y="2286000"/>
            <a:ext cx="3499104" cy="548640"/>
          </a:xfrm>
          <a:prstGeom prst="roundRect">
            <a:avLst>
              <a:gd name="adj" fmla="val 15000"/>
            </a:avLst>
          </a:prstGeom>
          <a:solidFill>
            <a:srgbClr val="FFFFFF"/>
          </a:solidFill>
          <a:ln w="12700">
            <a:solidFill>
              <a:srgbClr val="E7E1DF"/>
            </a:solidFill>
            <a:prstDash val="solid"/>
          </a:ln>
        </p:spPr>
      </p:sp>
      <p:sp>
        <p:nvSpPr>
          <p:cNvPr id="8" name="Text 6"/>
          <p:cNvSpPr/>
          <p:nvPr/>
        </p:nvSpPr>
        <p:spPr>
          <a:xfrm>
            <a:off x="822960"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en el mercado</a:t>
            </a:r>
            <a:endParaRPr lang="en-US" sz="1600" dirty="0"/>
          </a:p>
        </p:txBody>
      </p:sp>
      <p:sp>
        <p:nvSpPr>
          <p:cNvPr id="9" name="Shape 7"/>
          <p:cNvSpPr/>
          <p:nvPr/>
        </p:nvSpPr>
        <p:spPr>
          <a:xfrm>
            <a:off x="4276344" y="2286000"/>
            <a:ext cx="3499104" cy="548640"/>
          </a:xfrm>
          <a:prstGeom prst="roundRect">
            <a:avLst>
              <a:gd name="adj" fmla="val 15000"/>
            </a:avLst>
          </a:prstGeom>
          <a:solidFill>
            <a:srgbClr val="FFFFFF"/>
          </a:solidFill>
          <a:ln w="12700">
            <a:solidFill>
              <a:srgbClr val="E7E1DF"/>
            </a:solidFill>
            <a:prstDash val="solid"/>
          </a:ln>
        </p:spPr>
      </p:sp>
      <p:sp>
        <p:nvSpPr>
          <p:cNvPr id="10" name="Text 8"/>
          <p:cNvSpPr/>
          <p:nvPr/>
        </p:nvSpPr>
        <p:spPr>
          <a:xfrm>
            <a:off x="4459224"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una lata de atún</a:t>
            </a:r>
            <a:endParaRPr lang="en-US" sz="1600" dirty="0"/>
          </a:p>
        </p:txBody>
      </p:sp>
      <p:sp>
        <p:nvSpPr>
          <p:cNvPr id="11" name="Shape 9"/>
          <p:cNvSpPr/>
          <p:nvPr/>
        </p:nvSpPr>
        <p:spPr>
          <a:xfrm>
            <a:off x="7912608" y="2286000"/>
            <a:ext cx="3499104" cy="548640"/>
          </a:xfrm>
          <a:prstGeom prst="roundRect">
            <a:avLst>
              <a:gd name="adj" fmla="val 15000"/>
            </a:avLst>
          </a:prstGeom>
          <a:solidFill>
            <a:srgbClr val="FFFFFF"/>
          </a:solidFill>
          <a:ln w="12700">
            <a:solidFill>
              <a:srgbClr val="E7E1DF"/>
            </a:solidFill>
            <a:prstDash val="solid"/>
          </a:ln>
        </p:spPr>
      </p:sp>
      <p:sp>
        <p:nvSpPr>
          <p:cNvPr id="12" name="Text 10"/>
          <p:cNvSpPr/>
          <p:nvPr/>
        </p:nvSpPr>
        <p:spPr>
          <a:xfrm>
            <a:off x="8095488"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los huevos</a:t>
            </a:r>
            <a:endParaRPr lang="en-US" sz="1600" dirty="0"/>
          </a:p>
        </p:txBody>
      </p:sp>
      <p:sp>
        <p:nvSpPr>
          <p:cNvPr id="13" name="Shape 11"/>
          <p:cNvSpPr/>
          <p:nvPr/>
        </p:nvSpPr>
        <p:spPr>
          <a:xfrm>
            <a:off x="640080" y="2971800"/>
            <a:ext cx="3499104" cy="548640"/>
          </a:xfrm>
          <a:prstGeom prst="roundRect">
            <a:avLst>
              <a:gd name="adj" fmla="val 15000"/>
            </a:avLst>
          </a:prstGeom>
          <a:solidFill>
            <a:srgbClr val="FFFFFF"/>
          </a:solidFill>
          <a:ln w="12700">
            <a:solidFill>
              <a:srgbClr val="E7E1DF"/>
            </a:solidFill>
            <a:prstDash val="solid"/>
          </a:ln>
        </p:spPr>
      </p:sp>
      <p:sp>
        <p:nvSpPr>
          <p:cNvPr id="14" name="Text 12"/>
          <p:cNvSpPr/>
          <p:nvPr/>
        </p:nvSpPr>
        <p:spPr>
          <a:xfrm>
            <a:off x="822960"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el atún</a:t>
            </a:r>
            <a:endParaRPr lang="en-US" sz="1600" dirty="0"/>
          </a:p>
        </p:txBody>
      </p:sp>
      <p:sp>
        <p:nvSpPr>
          <p:cNvPr id="15" name="Shape 13"/>
          <p:cNvSpPr/>
          <p:nvPr/>
        </p:nvSpPr>
        <p:spPr>
          <a:xfrm>
            <a:off x="4276344" y="2971800"/>
            <a:ext cx="3499104" cy="548640"/>
          </a:xfrm>
          <a:prstGeom prst="roundRect">
            <a:avLst>
              <a:gd name="adj" fmla="val 15000"/>
            </a:avLst>
          </a:prstGeom>
          <a:solidFill>
            <a:srgbClr val="FFFFFF"/>
          </a:solidFill>
          <a:ln w="12700">
            <a:solidFill>
              <a:srgbClr val="E7E1DF"/>
            </a:solidFill>
            <a:prstDash val="solid"/>
          </a:ln>
        </p:spPr>
      </p:sp>
      <p:sp>
        <p:nvSpPr>
          <p:cNvPr id="16" name="Text 14"/>
          <p:cNvSpPr/>
          <p:nvPr/>
        </p:nvSpPr>
        <p:spPr>
          <a:xfrm>
            <a:off x="4459224"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dos con veinte</a:t>
            </a:r>
            <a:endParaRPr lang="en-US" sz="1600" dirty="0"/>
          </a:p>
        </p:txBody>
      </p:sp>
      <p:sp>
        <p:nvSpPr>
          <p:cNvPr id="17" name="Text 15"/>
          <p:cNvSpPr/>
          <p:nvPr/>
        </p:nvSpPr>
        <p:spPr>
          <a:xfrm>
            <a:off x="640080" y="3886200"/>
            <a:ext cx="10908792" cy="365760"/>
          </a:xfrm>
          <a:prstGeom prst="rect">
            <a:avLst/>
          </a:prstGeom>
          <a:noFill/>
          <a:ln/>
        </p:spPr>
        <p:txBody>
          <a:bodyPr wrap="square" lIns="0" tIns="0" rIns="0" bIns="0" rtlCol="0" anchor="ctr"/>
          <a:lstStyle/>
          <a:p>
            <a:pPr indent="0" marL="0">
              <a:buNone/>
            </a:pPr>
            <a:r>
              <a:rPr lang="en-US" sz="1700" b="1" dirty="0">
                <a:solidFill>
                  <a:srgbClr val="A8323B"/>
                </a:solidFill>
                <a:latin typeface="Bricolage Grotesque" pitchFamily="34" charset="0"/>
                <a:ea typeface="Bricolage Grotesque" pitchFamily="34" charset="-122"/>
                <a:cs typeface="Bricolage Grotesque" pitchFamily="34" charset="-120"/>
              </a:rPr>
              <a:t>La pregunta sube</a:t>
            </a:r>
            <a:endParaRPr lang="en-US" sz="1700" dirty="0"/>
          </a:p>
        </p:txBody>
      </p:sp>
      <p:sp>
        <p:nvSpPr>
          <p:cNvPr id="18" name="Text 16"/>
          <p:cNvSpPr/>
          <p:nvPr/>
        </p:nvSpPr>
        <p:spPr>
          <a:xfrm>
            <a:off x="640080" y="4251960"/>
            <a:ext cx="10908792" cy="457200"/>
          </a:xfrm>
          <a:prstGeom prst="rect">
            <a:avLst/>
          </a:prstGeom>
          <a:noFill/>
          <a:ln/>
        </p:spPr>
        <p:txBody>
          <a:bodyPr wrap="square" lIns="0" tIns="0" rIns="0" bIns="0" rtlCol="0" anchor="ctr"/>
          <a:lstStyle/>
          <a:p>
            <a:pPr indent="0" marL="0">
              <a:buNone/>
            </a:pPr>
            <a:r>
              <a:rPr lang="en-US" sz="1300" dirty="0">
                <a:solidFill>
                  <a:srgbClr val="6A6E78"/>
                </a:solidFill>
                <a:latin typeface="Inter" pitchFamily="34" charset="0"/>
                <a:ea typeface="Inter" pitchFamily="34" charset="-122"/>
                <a:cs typeface="Inter" pitchFamily="34" charset="-120"/>
              </a:rPr>
              <a:t>Een ja-neevraag gaat aan het eind omhoog; een vraag met een vraagwoord (¿dónde? ¿cuánto? ¿por qué?) gaat juist omlaag.</a:t>
            </a:r>
            <a:endParaRPr lang="en-US" sz="1300" dirty="0"/>
          </a:p>
        </p:txBody>
      </p:sp>
      <p:sp>
        <p:nvSpPr>
          <p:cNvPr id="19" name="Text 17"/>
          <p:cNvSpPr/>
          <p:nvPr/>
        </p:nvSpPr>
        <p:spPr>
          <a:xfrm>
            <a:off x="822960" y="4754880"/>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¿Son caras?  ·  omhoog ↗</a:t>
            </a:r>
            <a:endParaRPr lang="en-US" sz="1350" dirty="0"/>
          </a:p>
        </p:txBody>
      </p:sp>
      <p:sp>
        <p:nvSpPr>
          <p:cNvPr id="20" name="Text 18"/>
          <p:cNvSpPr/>
          <p:nvPr/>
        </p:nvSpPr>
        <p:spPr>
          <a:xfrm>
            <a:off x="822960" y="5065776"/>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¿Es una oferta?  ·  omhoog ↗</a:t>
            </a:r>
            <a:endParaRPr lang="en-US" sz="1350" dirty="0"/>
          </a:p>
        </p:txBody>
      </p:sp>
      <p:sp>
        <p:nvSpPr>
          <p:cNvPr id="21" name="Text 19"/>
          <p:cNvSpPr/>
          <p:nvPr/>
        </p:nvSpPr>
        <p:spPr>
          <a:xfrm>
            <a:off x="822960" y="5376672"/>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¿Cuánto cuestan los tomates?  ·  omlaag ↘</a:t>
            </a:r>
            <a:endParaRPr lang="en-US" sz="1350" dirty="0"/>
          </a:p>
        </p:txBody>
      </p:sp>
      <p:sp>
        <p:nvSpPr>
          <p:cNvPr id="22" name="Text 20"/>
          <p:cNvSpPr/>
          <p:nvPr/>
        </p:nvSpPr>
        <p:spPr>
          <a:xfrm>
            <a:off x="822960" y="5687568"/>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¿Dónde venden pescado fresco?  ·  omlaag ↘</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¿Cuánto cuesta? · o → ue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vragen naar prijs en reden — en de klinker die springt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8" name="Shape 6"/>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9" name="Text 7"/>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cuestan?</a:t>
            </a:r>
            <a:endParaRPr lang="en-US" sz="1700" dirty="0"/>
          </a:p>
        </p:txBody>
      </p:sp>
      <p:sp>
        <p:nvSpPr>
          <p:cNvPr id="10" name="Text 8"/>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plural</a:t>
            </a:r>
            <a:endParaRPr lang="en-US" sz="1250" dirty="0"/>
          </a:p>
        </p:txBody>
      </p:sp>
      <p:sp>
        <p:nvSpPr>
          <p:cNvPr id="11" name="Shape 9"/>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2" name="Text 10"/>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poder → ¿Puedo…?</a:t>
            </a:r>
            <a:endParaRPr lang="en-US" sz="1700" dirty="0"/>
          </a:p>
        </p:txBody>
      </p:sp>
      <p:sp>
        <p:nvSpPr>
          <p:cNvPr id="13" name="Text 11"/>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14" name="Shape 12"/>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5" name="Text 13"/>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volver → vuelvo mañana</a:t>
            </a:r>
            <a:endParaRPr lang="en-US" sz="1700" dirty="0"/>
          </a:p>
        </p:txBody>
      </p:sp>
      <p:sp>
        <p:nvSpPr>
          <p:cNvPr id="16" name="Text 14"/>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17" name="Shape 15"/>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 qué no vas?</a:t>
            </a:r>
            <a:endParaRPr lang="en-US" sz="1700" dirty="0"/>
          </a:p>
        </p:txBody>
      </p:sp>
      <p:sp>
        <p:nvSpPr>
          <p:cNvPr id="19" name="Text 17"/>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pregunta</a:t>
            </a:r>
            <a:endParaRPr lang="en-US" sz="1250" dirty="0"/>
          </a:p>
        </p:txBody>
      </p:sp>
      <p:sp>
        <p:nvSpPr>
          <p:cNvPr id="20" name="Shape 18"/>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1" name="Text 19"/>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Porque estoy enfermo</a:t>
            </a:r>
            <a:endParaRPr lang="en-US" sz="1700" dirty="0"/>
          </a:p>
        </p:txBody>
      </p:sp>
      <p:sp>
        <p:nvSpPr>
          <p:cNvPr id="22" name="Text 20"/>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respuesta</a:t>
            </a:r>
            <a:endParaRPr lang="en-US" sz="1250" dirty="0"/>
          </a:p>
        </p:txBody>
      </p:sp>
      <p:sp>
        <p:nvSpPr>
          <p:cNvPr id="23" name="Shape 21"/>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24" name="Text 22"/>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Estoy enfermo, por eso no voy</a:t>
            </a:r>
            <a:endParaRPr lang="en-US" sz="1700" dirty="0"/>
          </a:p>
        </p:txBody>
      </p:sp>
      <p:sp>
        <p:nvSpPr>
          <p:cNvPr id="25" name="Text 23"/>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consecuencia</a:t>
            </a:r>
            <a:endParaRPr lang="en-US" sz="1250" dirty="0"/>
          </a:p>
        </p:txBody>
      </p:sp>
      <p:sp>
        <p:nvSpPr>
          <p:cNvPr id="26" name="Shape 24"/>
          <p:cNvSpPr/>
          <p:nvPr/>
        </p:nvSpPr>
        <p:spPr>
          <a:xfrm>
            <a:off x="640080" y="7772400"/>
            <a:ext cx="10908792" cy="914400"/>
          </a:xfrm>
          <a:prstGeom prst="roundRect">
            <a:avLst>
              <a:gd name="adj" fmla="val 10000"/>
            </a:avLst>
          </a:prstGeom>
          <a:solidFill>
            <a:srgbClr val="FBEAEC"/>
          </a:solidFill>
          <a:ln w="12700">
            <a:solidFill>
              <a:srgbClr val="FBEAEC"/>
            </a:solidFill>
            <a:prstDash val="solid"/>
          </a:ln>
        </p:spPr>
      </p:sp>
      <p:sp>
        <p:nvSpPr>
          <p:cNvPr id="27" name="Text 25"/>
          <p:cNvSpPr/>
          <p:nvPr/>
        </p:nvSpPr>
        <p:spPr>
          <a:xfrm>
            <a:off x="914400" y="77724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Por qué (twee woorden, met accent) is de vraag; porque (één woord, zonder accent) is het antwoord. En let op: «want» én «omdat» zijn in het Spaans allebei porque. «Dus» is por eso of así que — nooit «luego».</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el puesto de fruta del mercado</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¿Cuánto cuesta un kilo de manzanas?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1,20 €</a:t>
            </a:r>
            <a:endParaRPr lang="en-US" sz="1350" dirty="0"/>
          </a:p>
        </p:txBody>
      </p:sp>
      <p:sp>
        <p:nvSpPr>
          <p:cNvPr id="8" name="Shape 6"/>
          <p:cNvSpPr/>
          <p:nvPr/>
        </p:nvSpPr>
        <p:spPr>
          <a:xfrm>
            <a:off x="4276344" y="1600200"/>
            <a:ext cx="3270504" cy="566928"/>
          </a:xfrm>
          <a:prstGeom prst="roundRect">
            <a:avLst>
              <a:gd name="adj" fmla="val 14516"/>
            </a:avLst>
          </a:prstGeom>
          <a:solidFill>
            <a:srgbClr val="FFFFFF"/>
          </a:solidFill>
          <a:ln w="12700">
            <a:solidFill>
              <a:srgbClr val="E7E1DF"/>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1,80 €</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2,20 €</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¿Qué no compra Tomás?</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Tomates</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Manzanas</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Lechuga</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¿Por qué no lo compra?</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es caro</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le gusta</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hay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 que ya sé decir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Funciones comunicativas</a:t>
            </a:r>
            <a:endParaRPr lang="en-US" sz="1200" dirty="0"/>
          </a:p>
        </p:txBody>
      </p:sp>
      <p:sp>
        <p:nvSpPr>
          <p:cNvPr id="5" name="Shape 3"/>
          <p:cNvSpPr/>
          <p:nvPr/>
        </p:nvSpPr>
        <p:spPr>
          <a:xfrm>
            <a:off x="640080" y="1188720"/>
            <a:ext cx="10908792" cy="640080"/>
          </a:xfrm>
          <a:prstGeom prst="roundRect">
            <a:avLst>
              <a:gd name="adj" fmla="val 12857"/>
            </a:avLst>
          </a:prstGeom>
          <a:solidFill>
            <a:srgbClr val="FFFFFF"/>
          </a:solidFill>
          <a:ln w="12700">
            <a:solidFill>
              <a:srgbClr val="E7E1DF"/>
            </a:solidFill>
            <a:prstDash val="solid"/>
          </a:ln>
        </p:spPr>
      </p:sp>
      <p:sp>
        <p:nvSpPr>
          <p:cNvPr id="6" name="Text 4"/>
          <p:cNvSpPr/>
          <p:nvPr/>
        </p:nvSpPr>
        <p:spPr>
          <a:xfrm>
            <a:off x="914400" y="11887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«¿Cuánto cuestan los tomates?»</a:t>
            </a:r>
            <a:endParaRPr lang="en-US" sz="1600" dirty="0"/>
          </a:p>
        </p:txBody>
      </p:sp>
      <p:sp>
        <p:nvSpPr>
          <p:cNvPr id="7" name="Text 5"/>
          <p:cNvSpPr/>
          <p:nvPr/>
        </p:nvSpPr>
        <p:spPr>
          <a:xfrm>
            <a:off x="7680960" y="11887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8" name="Shape 6"/>
          <p:cNvSpPr/>
          <p:nvPr/>
        </p:nvSpPr>
        <p:spPr>
          <a:xfrm>
            <a:off x="640080" y="1965960"/>
            <a:ext cx="10908792" cy="640080"/>
          </a:xfrm>
          <a:prstGeom prst="roundRect">
            <a:avLst>
              <a:gd name="adj" fmla="val 12857"/>
            </a:avLst>
          </a:prstGeom>
          <a:solidFill>
            <a:srgbClr val="FFFFFF"/>
          </a:solidFill>
          <a:ln w="12700">
            <a:solidFill>
              <a:srgbClr val="E7E1DF"/>
            </a:solidFill>
            <a:prstDash val="solid"/>
          </a:ln>
        </p:spPr>
      </p:sp>
      <p:sp>
        <p:nvSpPr>
          <p:cNvPr id="9" name="Text 7"/>
          <p:cNvSpPr/>
          <p:nvPr/>
        </p:nvSpPr>
        <p:spPr>
          <a:xfrm>
            <a:off x="914400" y="19659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«Dos con veinte el kilo.»</a:t>
            </a:r>
            <a:endParaRPr lang="en-US" sz="1600" dirty="0"/>
          </a:p>
        </p:txBody>
      </p:sp>
      <p:sp>
        <p:nvSpPr>
          <p:cNvPr id="10" name="Text 8"/>
          <p:cNvSpPr/>
          <p:nvPr/>
        </p:nvSpPr>
        <p:spPr>
          <a:xfrm>
            <a:off x="7680960" y="19659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Contar (números 0–20)</a:t>
            </a:r>
            <a:endParaRPr lang="en-US" sz="1250" dirty="0"/>
          </a:p>
        </p:txBody>
      </p:sp>
      <p:sp>
        <p:nvSpPr>
          <p:cNvPr id="11" name="Shape 9"/>
          <p:cNvSpPr/>
          <p:nvPr/>
        </p:nvSpPr>
        <p:spPr>
          <a:xfrm>
            <a:off x="640080" y="2743200"/>
            <a:ext cx="10908792" cy="640080"/>
          </a:xfrm>
          <a:prstGeom prst="roundRect">
            <a:avLst>
              <a:gd name="adj" fmla="val 12857"/>
            </a:avLst>
          </a:prstGeom>
          <a:solidFill>
            <a:srgbClr val="FFFFFF"/>
          </a:solidFill>
          <a:ln w="12700">
            <a:solidFill>
              <a:srgbClr val="E7E1DF"/>
            </a:solidFill>
            <a:prstDash val="solid"/>
          </a:ln>
        </p:spPr>
      </p:sp>
      <p:sp>
        <p:nvSpPr>
          <p:cNvPr id="12" name="Text 10"/>
          <p:cNvSpPr/>
          <p:nvPr/>
        </p:nvSpPr>
        <p:spPr>
          <a:xfrm>
            <a:off x="914400" y="27432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«Es una oferta, son baratas.»</a:t>
            </a:r>
            <a:endParaRPr lang="en-US" sz="1600" dirty="0"/>
          </a:p>
        </p:txBody>
      </p:sp>
      <p:sp>
        <p:nvSpPr>
          <p:cNvPr id="13" name="Text 11"/>
          <p:cNvSpPr/>
          <p:nvPr/>
        </p:nvSpPr>
        <p:spPr>
          <a:xfrm>
            <a:off x="7680960" y="27432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14" name="Shape 12"/>
          <p:cNvSpPr/>
          <p:nvPr/>
        </p:nvSpPr>
        <p:spPr>
          <a:xfrm>
            <a:off x="640080" y="3520440"/>
            <a:ext cx="10908792" cy="640080"/>
          </a:xfrm>
          <a:prstGeom prst="roundRect">
            <a:avLst>
              <a:gd name="adj" fmla="val 12857"/>
            </a:avLst>
          </a:prstGeom>
          <a:solidFill>
            <a:srgbClr val="FFFFFF"/>
          </a:solidFill>
          <a:ln w="12700">
            <a:solidFill>
              <a:srgbClr val="E7E1DF"/>
            </a:solidFill>
            <a:prstDash val="solid"/>
          </a:ln>
        </p:spPr>
      </p:sp>
      <p:sp>
        <p:nvSpPr>
          <p:cNvPr id="15" name="Text 13"/>
          <p:cNvSpPr/>
          <p:nvPr/>
        </p:nvSpPr>
        <p:spPr>
          <a:xfrm>
            <a:off x="914400" y="352044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«¿Dónde venden pescado fresco?»</a:t>
            </a:r>
            <a:endParaRPr lang="en-US" sz="1600" dirty="0"/>
          </a:p>
        </p:txBody>
      </p:sp>
      <p:sp>
        <p:nvSpPr>
          <p:cNvPr id="16" name="Text 14"/>
          <p:cNvSpPr/>
          <p:nvPr/>
        </p:nvSpPr>
        <p:spPr>
          <a:xfrm>
            <a:off x="7680960" y="352044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17" name="Shape 15"/>
          <p:cNvSpPr/>
          <p:nvPr/>
        </p:nvSpPr>
        <p:spPr>
          <a:xfrm>
            <a:off x="640080" y="4297680"/>
            <a:ext cx="10908792" cy="640080"/>
          </a:xfrm>
          <a:prstGeom prst="roundRect">
            <a:avLst>
              <a:gd name="adj" fmla="val 12857"/>
            </a:avLst>
          </a:prstGeom>
          <a:solidFill>
            <a:srgbClr val="FFFFFF"/>
          </a:solidFill>
          <a:ln w="12700">
            <a:solidFill>
              <a:srgbClr val="E7E1DF"/>
            </a:solidFill>
            <a:prstDash val="solid"/>
          </a:ln>
        </p:spPr>
      </p:sp>
      <p:sp>
        <p:nvSpPr>
          <p:cNvPr id="18" name="Text 16"/>
          <p:cNvSpPr/>
          <p:nvPr/>
        </p:nvSpPr>
        <p:spPr>
          <a:xfrm>
            <a:off x="914400" y="429768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«Estoy enfermo, por eso no voy a la academia.»</a:t>
            </a:r>
            <a:endParaRPr lang="en-US" sz="1600" dirty="0"/>
          </a:p>
        </p:txBody>
      </p:sp>
      <p:sp>
        <p:nvSpPr>
          <p:cNvPr id="19" name="Text 17"/>
          <p:cNvSpPr/>
          <p:nvPr/>
        </p:nvSpPr>
        <p:spPr>
          <a:xfrm>
            <a:off x="7680960" y="429768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Preguntar y dar la razón</a:t>
            </a:r>
            <a:endParaRPr lang="en-US" sz="1250" dirty="0"/>
          </a:p>
        </p:txBody>
      </p:sp>
      <p:sp>
        <p:nvSpPr>
          <p:cNvPr id="20" name="Shape 18"/>
          <p:cNvSpPr/>
          <p:nvPr/>
        </p:nvSpPr>
        <p:spPr>
          <a:xfrm>
            <a:off x="640080" y="5074920"/>
            <a:ext cx="10908792" cy="640080"/>
          </a:xfrm>
          <a:prstGeom prst="roundRect">
            <a:avLst>
              <a:gd name="adj" fmla="val 12857"/>
            </a:avLst>
          </a:prstGeom>
          <a:solidFill>
            <a:srgbClr val="FFFFFF"/>
          </a:solidFill>
          <a:ln w="12700">
            <a:solidFill>
              <a:srgbClr val="E7E1DF"/>
            </a:solidFill>
            <a:prstDash val="solid"/>
          </a:ln>
        </p:spPr>
      </p:sp>
      <p:sp>
        <p:nvSpPr>
          <p:cNvPr id="21" name="Text 19"/>
          <p:cNvSpPr/>
          <p:nvPr/>
        </p:nvSpPr>
        <p:spPr>
          <a:xfrm>
            <a:off x="914400" y="50749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«¿Por qué? No lo sé.»</a:t>
            </a:r>
            <a:endParaRPr lang="en-US" sz="1600" dirty="0"/>
          </a:p>
        </p:txBody>
      </p:sp>
      <p:sp>
        <p:nvSpPr>
          <p:cNvPr id="22" name="Text 20"/>
          <p:cNvSpPr/>
          <p:nvPr/>
        </p:nvSpPr>
        <p:spPr>
          <a:xfrm>
            <a:off x="7680960" y="50749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Preguntar y dar la razón</a:t>
            </a:r>
            <a:endParaRPr lang="en-US" sz="1250" dirty="0"/>
          </a:p>
        </p:txBody>
      </p:sp>
      <p:sp>
        <p:nvSpPr>
          <p:cNvPr id="23" name="Shape 21"/>
          <p:cNvSpPr/>
          <p:nvPr/>
        </p:nvSpPr>
        <p:spPr>
          <a:xfrm>
            <a:off x="640080" y="5852160"/>
            <a:ext cx="10908792" cy="640080"/>
          </a:xfrm>
          <a:prstGeom prst="roundRect">
            <a:avLst>
              <a:gd name="adj" fmla="val 12857"/>
            </a:avLst>
          </a:prstGeom>
          <a:solidFill>
            <a:srgbClr val="FFFFFF"/>
          </a:solidFill>
          <a:ln w="12700">
            <a:solidFill>
              <a:srgbClr val="E7E1DF"/>
            </a:solidFill>
            <a:prstDash val="solid"/>
          </a:ln>
        </p:spPr>
      </p:sp>
      <p:sp>
        <p:nvSpPr>
          <p:cNvPr id="24" name="Text 22"/>
          <p:cNvSpPr/>
          <p:nvPr/>
        </p:nvSpPr>
        <p:spPr>
          <a:xfrm>
            <a:off x="914400" y="58521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«No tienes muy buen aspecto.»</a:t>
            </a:r>
            <a:endParaRPr lang="en-US" sz="1600" dirty="0"/>
          </a:p>
        </p:txBody>
      </p:sp>
      <p:sp>
        <p:nvSpPr>
          <p:cNvPr id="25" name="Text 23"/>
          <p:cNvSpPr/>
          <p:nvPr/>
        </p:nvSpPr>
        <p:spPr>
          <a:xfrm>
            <a:off x="7680960" y="58521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cómo te sientes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Tarea final · Mi lista de la compra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13</a:t>
            </a:r>
            <a:endParaRPr lang="en-US" sz="1200" dirty="0"/>
          </a:p>
        </p:txBody>
      </p:sp>
      <p:sp>
        <p:nvSpPr>
          <p:cNvPr id="5" name="Shape 3"/>
          <p:cNvSpPr/>
          <p:nvPr/>
        </p:nvSpPr>
        <p:spPr>
          <a:xfrm>
            <a:off x="640080" y="1005840"/>
            <a:ext cx="10908792" cy="914400"/>
          </a:xfrm>
          <a:prstGeom prst="roundRect">
            <a:avLst>
              <a:gd name="adj" fmla="val 10000"/>
            </a:avLst>
          </a:prstGeom>
          <a:solidFill>
            <a:srgbClr val="FBEAEC"/>
          </a:solidFill>
          <a:ln w="12700">
            <a:solidFill>
              <a:srgbClr val="FBEAEC"/>
            </a:solidFill>
            <a:prstDash val="solid"/>
          </a:ln>
        </p:spPr>
      </p:sp>
      <p:sp>
        <p:nvSpPr>
          <p:cNvPr id="6" name="Text 4"/>
          <p:cNvSpPr/>
          <p:nvPr/>
        </p:nvSpPr>
        <p:spPr>
          <a:xfrm>
            <a:off x="914400" y="1005840"/>
            <a:ext cx="10360152" cy="502920"/>
          </a:xfrm>
          <a:prstGeom prst="rect">
            <a:avLst/>
          </a:prstGeom>
          <a:noFill/>
          <a:ln/>
        </p:spPr>
        <p:txBody>
          <a:bodyPr wrap="square" lIns="0" tIns="0" rIns="0" bIns="0" rtlCol="0" anchor="ctr"/>
          <a:lstStyle/>
          <a:p>
            <a:pPr indent="0" marL="0">
              <a:buNone/>
            </a:pPr>
            <a:r>
              <a:rPr lang="en-US" sz="1800" b="1" dirty="0">
                <a:solidFill>
                  <a:srgbClr val="A8323B"/>
                </a:solidFill>
                <a:latin typeface="Bricolage Grotesque" pitchFamily="34" charset="0"/>
                <a:ea typeface="Bricolage Grotesque" pitchFamily="34" charset="-122"/>
                <a:cs typeface="Bricolage Grotesque" pitchFamily="34" charset="-120"/>
              </a:rPr>
              <a:t>Vas al mercado con veinte euros. Haz tu lista y regatea el precio.</a:t>
            </a:r>
            <a:endParaRPr lang="en-US" sz="1800" dirty="0"/>
          </a:p>
        </p:txBody>
      </p:sp>
      <p:sp>
        <p:nvSpPr>
          <p:cNvPr id="7" name="Text 5"/>
          <p:cNvSpPr/>
          <p:nvPr/>
        </p:nvSpPr>
        <p:spPr>
          <a:xfrm>
            <a:off x="914400" y="1463040"/>
            <a:ext cx="10360152" cy="41148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Je gaat met twintig euro naar de markt. Maak je lijst en vraag de prijs.</a:t>
            </a:r>
            <a:endParaRPr lang="en-US" sz="1350" dirty="0"/>
          </a:p>
        </p:txBody>
      </p:sp>
      <p:sp>
        <p:nvSpPr>
          <p:cNvPr id="8" name="Shape 6"/>
          <p:cNvSpPr/>
          <p:nvPr/>
        </p:nvSpPr>
        <p:spPr>
          <a:xfrm>
            <a:off x="685800" y="2240280"/>
            <a:ext cx="411480" cy="411480"/>
          </a:xfrm>
          <a:prstGeom prst="ellipse">
            <a:avLst/>
          </a:prstGeom>
          <a:solidFill>
            <a:srgbClr val="D64550"/>
          </a:solidFill>
          <a:ln/>
        </p:spPr>
      </p:sp>
      <p:sp>
        <p:nvSpPr>
          <p:cNvPr id="9" name="Text 7"/>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1</a:t>
            </a:r>
            <a:endParaRPr lang="en-US" sz="1400" dirty="0"/>
          </a:p>
        </p:txBody>
      </p:sp>
      <p:sp>
        <p:nvSpPr>
          <p:cNvPr id="10" name="Text 8"/>
          <p:cNvSpPr/>
          <p:nvPr/>
        </p:nvSpPr>
        <p:spPr>
          <a:xfrm>
            <a:off x="1280160" y="2148840"/>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Schrijf zes producten op, elk bij de juiste winkel (pescadería · carnicería · frutería · panadería).</a:t>
            </a:r>
            <a:endParaRPr lang="en-US" sz="1450" dirty="0"/>
          </a:p>
        </p:txBody>
      </p:sp>
      <p:sp>
        <p:nvSpPr>
          <p:cNvPr id="11" name="Shape 9"/>
          <p:cNvSpPr/>
          <p:nvPr/>
        </p:nvSpPr>
        <p:spPr>
          <a:xfrm>
            <a:off x="685800" y="3044952"/>
            <a:ext cx="411480" cy="411480"/>
          </a:xfrm>
          <a:prstGeom prst="ellipse">
            <a:avLst/>
          </a:prstGeom>
          <a:solidFill>
            <a:srgbClr val="D64550"/>
          </a:solidFill>
          <a:ln/>
        </p:spPr>
      </p:sp>
      <p:sp>
        <p:nvSpPr>
          <p:cNvPr id="12" name="Text 10"/>
          <p:cNvSpPr/>
          <p:nvPr/>
        </p:nvSpPr>
        <p:spPr>
          <a:xfrm>
            <a:off x="685800" y="3044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2</a:t>
            </a:r>
            <a:endParaRPr lang="en-US" sz="1400" dirty="0"/>
          </a:p>
        </p:txBody>
      </p:sp>
      <p:sp>
        <p:nvSpPr>
          <p:cNvPr id="13" name="Text 11"/>
          <p:cNvSpPr/>
          <p:nvPr/>
        </p:nvSpPr>
        <p:spPr>
          <a:xfrm>
            <a:off x="1280160" y="2953512"/>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Zet er per product een hoeveelheid bij: un kilo, medio kilo, una lata…</a:t>
            </a:r>
            <a:endParaRPr lang="en-US" sz="1450" dirty="0"/>
          </a:p>
        </p:txBody>
      </p:sp>
      <p:sp>
        <p:nvSpPr>
          <p:cNvPr id="14" name="Shape 12"/>
          <p:cNvSpPr/>
          <p:nvPr/>
        </p:nvSpPr>
        <p:spPr>
          <a:xfrm>
            <a:off x="685800" y="3849624"/>
            <a:ext cx="411480" cy="411480"/>
          </a:xfrm>
          <a:prstGeom prst="ellipse">
            <a:avLst/>
          </a:prstGeom>
          <a:solidFill>
            <a:srgbClr val="D64550"/>
          </a:solidFill>
          <a:ln/>
        </p:spPr>
      </p:sp>
      <p:sp>
        <p:nvSpPr>
          <p:cNvPr id="15" name="Text 13"/>
          <p:cNvSpPr/>
          <p:nvPr/>
        </p:nvSpPr>
        <p:spPr>
          <a:xfrm>
            <a:off x="68580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3</a:t>
            </a:r>
            <a:endParaRPr lang="en-US" sz="1400" dirty="0"/>
          </a:p>
        </p:txBody>
      </p:sp>
      <p:sp>
        <p:nvSpPr>
          <p:cNvPr id="16" name="Text 14"/>
          <p:cNvSpPr/>
          <p:nvPr/>
        </p:nvSpPr>
        <p:spPr>
          <a:xfrm>
            <a:off x="1280160" y="3758184"/>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Bereid twee prijsvragen voor: ¿Cuánto cuesta…? en ¿Cuánto cuestan…?</a:t>
            </a:r>
            <a:endParaRPr lang="en-US" sz="1450" dirty="0"/>
          </a:p>
        </p:txBody>
      </p:sp>
      <p:sp>
        <p:nvSpPr>
          <p:cNvPr id="17" name="Shape 15"/>
          <p:cNvSpPr/>
          <p:nvPr/>
        </p:nvSpPr>
        <p:spPr>
          <a:xfrm>
            <a:off x="685800" y="4654296"/>
            <a:ext cx="411480" cy="411480"/>
          </a:xfrm>
          <a:prstGeom prst="ellipse">
            <a:avLst/>
          </a:prstGeom>
          <a:solidFill>
            <a:srgbClr val="D64550"/>
          </a:solidFill>
          <a:ln/>
        </p:spPr>
      </p:sp>
      <p:sp>
        <p:nvSpPr>
          <p:cNvPr id="18" name="Text 16"/>
          <p:cNvSpPr/>
          <p:nvPr/>
        </p:nvSpPr>
        <p:spPr>
          <a:xfrm>
            <a:off x="68580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4</a:t>
            </a:r>
            <a:endParaRPr lang="en-US" sz="1400" dirty="0"/>
          </a:p>
        </p:txBody>
      </p:sp>
      <p:sp>
        <p:nvSpPr>
          <p:cNvPr id="19" name="Text 17"/>
          <p:cNvSpPr/>
          <p:nvPr/>
        </p:nvSpPr>
        <p:spPr>
          <a:xfrm>
            <a:off x="1280160" y="4562856"/>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Speel de scène in tweetallen: één is de verkoper, één de klant.</a:t>
            </a:r>
            <a:endParaRPr lang="en-US" sz="1450" dirty="0"/>
          </a:p>
        </p:txBody>
      </p:sp>
      <p:sp>
        <p:nvSpPr>
          <p:cNvPr id="20" name="Shape 18"/>
          <p:cNvSpPr/>
          <p:nvPr/>
        </p:nvSpPr>
        <p:spPr>
          <a:xfrm>
            <a:off x="685800" y="5458968"/>
            <a:ext cx="411480" cy="411480"/>
          </a:xfrm>
          <a:prstGeom prst="ellipse">
            <a:avLst/>
          </a:prstGeom>
          <a:solidFill>
            <a:srgbClr val="D64550"/>
          </a:solidFill>
          <a:ln/>
        </p:spPr>
      </p:sp>
      <p:sp>
        <p:nvSpPr>
          <p:cNvPr id="21" name="Text 19"/>
          <p:cNvSpPr/>
          <p:nvPr/>
        </p:nvSpPr>
        <p:spPr>
          <a:xfrm>
            <a:off x="685800" y="5458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5</a:t>
            </a:r>
            <a:endParaRPr lang="en-US" sz="1400" dirty="0"/>
          </a:p>
        </p:txBody>
      </p:sp>
      <p:sp>
        <p:nvSpPr>
          <p:cNvPr id="22" name="Text 20"/>
          <p:cNvSpPr/>
          <p:nvPr/>
        </p:nvSpPr>
        <p:spPr>
          <a:xfrm>
            <a:off x="1280160" y="5367528"/>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Zeg tot slot waarom je iets níet koopt, met porque: «No compro el cordero porque es muy caro.»</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2194560"/>
            <a:ext cx="10725912" cy="914400"/>
          </a:xfrm>
          <a:prstGeom prst="rect">
            <a:avLst/>
          </a:prstGeom>
          <a:noFill/>
          <a:ln/>
        </p:spPr>
        <p:txBody>
          <a:bodyPr wrap="square" lIns="0" tIns="0" rIns="0" bIns="0" rtlCol="0" anchor="ctr"/>
          <a:lstStyle/>
          <a:p>
            <a:pPr indent="0" marL="0">
              <a:buNone/>
            </a:pPr>
            <a:r>
              <a:rPr lang="en-US" sz="4600" b="1" dirty="0">
                <a:solidFill>
                  <a:srgbClr val="FFFFFF"/>
                </a:solidFill>
                <a:latin typeface="Bricolage Grotesque" pitchFamily="34" charset="0"/>
                <a:ea typeface="Bricolage Grotesque" pitchFamily="34" charset="-122"/>
                <a:cs typeface="Bricolage Grotesque" pitchFamily="34" charset="-120"/>
              </a:rPr>
              <a:t>¿Y tú?</a:t>
            </a:r>
            <a:endParaRPr lang="en-US" sz="4600" dirty="0"/>
          </a:p>
        </p:txBody>
      </p:sp>
      <p:sp>
        <p:nvSpPr>
          <p:cNvPr id="3" name="Text 1"/>
          <p:cNvSpPr/>
          <p:nvPr/>
        </p:nvSpPr>
        <p:spPr>
          <a:xfrm>
            <a:off x="731520" y="3200400"/>
            <a:ext cx="10725912" cy="73152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Wat neem je mee uit deze unidad? Noteer drie chunks die je zeker wil onthouden.</a:t>
            </a:r>
            <a:endParaRPr lang="en-US" sz="1700" dirty="0"/>
          </a:p>
        </p:txBody>
      </p:sp>
      <p:sp>
        <p:nvSpPr>
          <p:cNvPr id="4" name="Text 2"/>
          <p:cNvSpPr/>
          <p:nvPr/>
        </p:nvSpPr>
        <p:spPr>
          <a:xfrm>
            <a:off x="731520" y="4023360"/>
            <a:ext cx="10725912" cy="731520"/>
          </a:xfrm>
          <a:prstGeom prst="rect">
            <a:avLst/>
          </a:prstGeom>
          <a:noFill/>
          <a:ln/>
        </p:spPr>
        <p:txBody>
          <a:bodyPr wrap="square" lIns="0" tIns="0" rIns="0" bIns="0" rtlCol="0" anchor="ctr"/>
          <a:lstStyle/>
          <a:p>
            <a:pPr indent="0" marL="0">
              <a:buNone/>
            </a:pPr>
            <a:r>
              <a:rPr lang="en-US" sz="1600" dirty="0">
                <a:solidFill>
                  <a:srgbClr val="FFFFFF"/>
                </a:solidFill>
                <a:latin typeface="Bricolage Grotesque" pitchFamily="34" charset="0"/>
                <a:ea typeface="Bricolage Grotesque" pitchFamily="34" charset="-122"/>
                <a:cs typeface="Bricolage Grotesque" pitchFamily="34" charset="-120"/>
              </a:rPr>
              <a:t>· No tienes muy buen aspecto    · Estoy enfermo    · por eso    · Tienes que cuidarte    · buenísima    · una lata de atún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 Unidad 13 · En el mercado</dc:title>
  <dc:subject>PptxGenJS Presentation</dc:subject>
  <dc:creator>Español en la práctica</dc:creator>
  <cp:lastModifiedBy>Español en la práctica</cp:lastModifiedBy>
  <cp:revision>1</cp:revision>
  <dcterms:created xsi:type="dcterms:W3CDTF">2026-08-09T20:12:49Z</dcterms:created>
  <dcterms:modified xsi:type="dcterms:W3CDTF">2026-08-09T20:12:49Z</dcterms:modified>
</cp:coreProperties>
</file>