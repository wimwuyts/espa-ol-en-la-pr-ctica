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4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77" r:id="rId29"/>
    <p:sldId id="278" r:id="rId30"/>
    <p:sldId id="279" r:id="rId31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TITLE. Parada 5 = México (CDMX): cruzamos el charco. Gastheer = Diego. Doel: comida/bebida benoemen, cantidades (mucho/poco/un poco de · un kilo de), el futuro próximo (ir a + infinitivo), pedir con cortesía (¿me pone…?/para mí…) en la cuenta, en de OD-aanzet lo/la/los/las (la cuenta → la traigo). Kernvalstrik: much-A fruta ≠ mucho; voy A comer (a niet vergeten). Docentdeck = vrije navigatie + oplossing in notities; leerlingdeck (.pptx, F5) = elke klik onthult het volgende antwoord.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LESSON_MENU. Elke tegel = hyperlink; op elke oefendia staat ⌂ Menú terug. Richttijd 50 min. Begin bij §1 (cantidades) → §3 (pedir) = het hart van de unit. Kruisverwijzing print/HTML: «oefen online — 17 juegos».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VOCABULARY. Toon per cluster (comida/bebida/fruta/verdura/mesa). Laat raden zónder de NL-gloss. Online: flip cards + Memoria de la comida + Fruta y verdura + ¿comida o bebida?</a:t>
            </a:r>
          </a:p>
          <a:p/>
          <a:p>
            <a:r>
              <a:t>— SOLUCIÓN (docent · presenter view) —</a:t>
            </a:r>
          </a:p>
          <a:p>
            <a:r>
              <a:t>🔴 Cantidad concuerda: muchO pan · muchA fruta · muchOS tomates · muchAS manzanas.</a:t>
            </a:r>
          </a:p>
          <a:p>
            <a:r>
              <a:t>un poco de + niet-telbaar (queso, leche, agua) — verandert nooit.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(color-coding). Maak concordantie fysiek zichtbaar. Truc: kijk naar geslacht + aantal. Kleur nooit als enige drager. Online: «¿mucho, mucha, muchos o muchas?» (classify) + cantidades Tetris.</a:t>
            </a:r>
          </a:p>
          <a:p/>
          <a:p>
            <a:r>
              <a:t>— SOLUCIÓN (docent · presenter view) —</a:t>
            </a:r>
          </a:p>
          <a:p>
            <a:r>
              <a:t>Regla: mucho/-a/-os/-as past aan bij het woord · un poco de blijft gelijk (niet-telbaar) · envases: un kilo/una botella/un paquete 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(reveal). Laat de klas eerst kiezen, klik dan. Online: «cantidad» (classify) + cantidades Tetris.</a:t>
            </a:r>
          </a:p>
          <a:p/>
          <a:p>
            <a:r>
              <a:t>— SOLUCIÓN (docent · presenter view) —</a:t>
            </a:r>
          </a:p>
          <a:p>
            <a:r>
              <a:t>mucho/-a = enkelvoud (m/v) · muchos/-as = meervoud (m/v). Kijk naar het lidwoord: el/la · los/las.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ir a + inf. Onthul per kaart; laat de vorm voorspellen. Twee delen: ir (vervoegd) + a + infinitief (onveranderd). Online: «completa: ir a + infinitivo» (cloze) + presente-Tetris.</a:t>
            </a:r>
          </a:p>
          <a:p/>
          <a:p>
            <a:r>
              <a:t>— SOLUCIÓN (docent · presenter view) —</a:t>
            </a:r>
          </a:p>
          <a:p>
            <a:r>
              <a:t>🔴 Vergeet de «a» niet: voy A comer (niet «voy comer»). 🔴 Het tweede werkwoord blijft infinitief: voy a COMER. Gebruik: plannen dichtbij.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pedir. Twee rollen fysiek verdelen (klas in camareros/clientes). Onthul per klik. Online: «¿camarero o cliente?» (classify) + «ordena el diálogo» + «¡pide en el restaurante!» (sim).</a:t>
            </a:r>
          </a:p>
          <a:p/>
          <a:p>
            <a:r>
              <a:t>— SOLUCIÓN (docent · presenter view) —</a:t>
            </a:r>
          </a:p>
          <a:p>
            <a:r>
              <a:t>Structuur: de primero (voor) · de segundo (hoofd) · de postre (na) · para beber (drank).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rol (retrieval). Klas roept de rol vóór de klik. Daarna in parejas de scène spelen.</a:t>
            </a:r>
          </a:p>
          <a:p/>
          <a:p>
            <a:r>
              <a:t>— SOLUCIÓN (docent · presenter view) —</a:t>
            </a:r>
          </a:p>
          <a:p>
            <a:r>
              <a:t>Camarero = vraagt (¿qué va a tomar? / ¿y para beber?). Cliente = bestelt (para mí… / ¿me pone…? / la cuenta).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READING (lezen→spreken-keten). Eerst globaal (waarover?), dan scannen. Onthul de antwoorden pas na de klas. Daarna: leerlingen zeggen wat ze «van a pedir» (transfer → Tarea La carta).</a:t>
            </a:r>
          </a:p>
          <a:p/>
          <a:p>
            <a:r>
              <a:t>— SOLUCIÓN (docent · presenter view) —</a:t>
            </a:r>
          </a:p>
          <a:p>
            <a:r>
              <a:t>🎯 Leesdoel: scannen naar platos y precios — niet élk woord begrijpen. Vergelijk met de carta van Lucía.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LISTENING (selectief → spreken). Lees elk pedido voor (of TTS). Klas noteert comida + bebida; onthul per klik. Koppel meteen aan de rollenspel-scène (§3).</a:t>
            </a:r>
          </a:p>
          <a:p/>
          <a:p>
            <a:r>
              <a:t>— SOLUCIÓN (docent · presenter view) —</a:t>
            </a:r>
          </a:p>
          <a:p>
            <a:r>
              <a:t>Modelo-audio (docent leest of TTS): «Para mí, de primero una sopa y de segundo pollo. Para beber, agua.» …</a:t>
            </a:r>
          </a:p>
          <a:p>
            <a:r>
              <a:t>Daarna spreken: leerling speelt de cliente en bestelt zelf.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OD (reveal, A2-aanzet). Coro: klas zegt het woord vóór de klik. Kernidee: lo/la/los/las = «het/ze» + vóór het ww. Online: «¿lo, la, los o las?» (cloze).</a:t>
            </a:r>
          </a:p>
          <a:p/>
          <a:p>
            <a:r>
              <a:t>— SOLUCIÓN (docent · presenter view) —</a:t>
            </a:r>
          </a:p>
          <a:p>
            <a:r>
              <a:t>lo (m.ev.) · la (v.ev.) · los (m.mv.) · las (v.mv.). Het pronomen staat vóór het vervoegde werkwoord — zo herhaal je het voorwerp niet.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SPEAKING (interactie). Automatiseer saludar→pedir→cuenta in rondes met afbouwende steun. Online: recorder (opname + zelfevaluatie). Print blijft bruikbaar zonder opname.</a:t>
            </a:r>
          </a:p>
          <a:p/>
          <a:p>
            <a:r>
              <a:t>— SOLUCIÓN (docent · presenter view) —</a:t>
            </a:r>
          </a:p>
          <a:p>
            <a:r>
              <a:t>Modelo: «Buenas. Para mí, de primero una sopa y de segundo pollo. ¿Me pone agua? … La cuenta, por favor.»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WRITING (lezen→schrijven). Checklist = zichtbare steun; onthul het model pas na het schrijven (retrieval). Nakijkfocus: secties, precios, cortesía. Dit voedt de Tarea «La carta».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 fruta/verdura/mesa. Klik onthult; koppel elk woord aan een cantidad-zin. Volledige set + audio op de digitale pagina (flip cards + memoria).</a:t>
            </a:r>
          </a:p>
          <a:p/>
          <a:p>
            <a:r>
              <a:t>— SOLUCIÓN (docent · presenter view) —</a:t>
            </a:r>
          </a:p>
          <a:p>
            <a:r>
              <a:t>Combineer met cantidad: un kilo de manzanas · muchas uvas · un poco de maíz. Como con tenedor y cuchara.</a:t>
            </a:r>
          </a:p>
          <a:p>
            <a:r>
              <a:t>Los cubiertos: el tenedor, el cuchillo, la cuchara. La mesa: el plato, el vaso, la servilleta.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TALLER. Conectores = ideaal met een receta (guacamole). ñ = spelling-valstrik. Meteen toepassen in de mini-receta. Online: «ordena la receta» + «ordena el diálogo».</a:t>
            </a:r>
          </a:p>
          <a:p/>
          <a:p>
            <a:r>
              <a:t>— SOLUCIÓN (docent · presenter view) —</a:t>
            </a:r>
          </a:p>
          <a:p>
            <a:r>
              <a:t>A: primero → luego/después → por último (voor recepten en stappen).</a:t>
            </a:r>
          </a:p>
          <a:p>
            <a:r>
              <a:t>🔴 B: la ñ klinkt «nj»: piña, niño, caña, año. Verwar niet met n (pena ≠ peña).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CULTURE (identiteit in diversiteit, LPD 5). Onthul per kaart. Vergelijk horarios ES/MX/BE. Bruggetje naar de Tarea La carta. Online: «plato ↔ país» (match).</a:t>
            </a:r>
          </a:p>
          <a:p/>
          <a:p>
            <a:r>
              <a:t>— SOLUCIÓN (docent · presenter view) —</a:t>
            </a:r>
          </a:p>
          <a:p>
            <a:r>
              <a:t>Actividad: schrijf 3 zinnen over een typisch gerecht bij jou thuis (¿qué es? ¿qué lleva? ¿cuándo lo comes?).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interactie. Klas vult de zin vóór de klik. Daarna de rollenspel-scène in parejas.</a:t>
            </a:r>
          </a:p>
          <a:p/>
          <a:p>
            <a:r>
              <a:t>— SOLUCIÓN (docent · presenter view) —</a:t>
            </a:r>
          </a:p>
          <a:p>
            <a:r>
              <a:t>De bestelzinnen: ¿Qué va a tomar? · Para mí… · ¿Me pone…? · La cuenta, por favor · Voy a comer…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FINAL_MISSION (communicatieve eindtaak). Afzender/ontvanger/doel/situatie/resultaat expliciet. Beoordeel met de rúbrica; opname + zelfevaluatie op de digitale pagina. Voeg een mini-encuesta + grafiekje toe (platos favoritos van de klas).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mezcla (retrieval vóór herlezen). Zonder waarschuwing door elkaar. Exit-ticket. Zwakke punten → terug via menu.</a:t>
            </a:r>
          </a:p>
          <a:p/>
          <a:p>
            <a:r>
              <a:t>— SOLUCIÓN (docent · presenter view) —</a:t>
            </a:r>
          </a:p>
          <a:p>
            <a:r>
              <a:t>Alles komt terug: cantidades (concord) · ir a + infinitivo · pedir/cortesía · lo/la/los/las.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FEEDBACK/REPASO. Semáforo = zelfevaluatie. Repaso-drills online (17 spellen). Bruggetje: U6 «De tiendas» — de compras en el mercado: precios, ofertas, regateo.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Alleen in het docentdeck. Volledige LPD-dekking en didactische route staan in het cursusdossier (bron.md).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 4 · El pedido imposible — 🎭 simulatie met beperking</a:t>
            </a:r>
          </a:p>
          <a:p>
            <a:r>
              <a:t>OPDRACHT: Krijg een volledig menu binnen: voorgerecht, hoofdgerecht, drank en dessert.</a:t>
            </a:r>
          </a:p>
          <a:p>
            <a:r>
              <a:t>DE REGEL: Elke «lo siento» dwingt je tot een nieuw voorstel — en je mag nooit twee keer dezelfde beleefdheidsformule gebruiken.</a:t>
            </a:r>
          </a:p>
          <a:p>
            <a:r>
              <a:t>VERLOOP: El camarero coge su lista de «no hay». | Pides. Te dicen que no. Propón otra cosa. | Sigue hasta tener los cuatro platos. | Cambiad de papel.</a:t>
            </a:r>
          </a:p>
          <a:p>
            <a:r>
              <a:t>SLEUTEL: Zes formules voor vier gangen: er is speling, maar niet veel. Wie herhaalt, begint opnieuw.  ||  «¿Qué me recomienda?» is de ontsnappingsroute — laat leerlingen die zelf ontdekken in plaats van hem aan te reiken.  ||  De ober mag niet op alles nee zeggen: minstens vier gerechten blijven beschikbaar, anders loopt het spel vast.</a:t>
            </a:r>
          </a:p>
          <a:p>
            <a:r>
              <a:t>NOTA: Geef de «no hay»-lijst alleen aan de ober. Ziet de klant hem, dan verdwijnt het improviseren.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 7 · Cinco palabras para el mercado — 🔓 puzzel &amp; escape</a:t>
            </a:r>
          </a:p>
          <a:p>
            <a:r>
              <a:t>OPDRACHT: Krijg het product te pakken met maximaal vijf woorden per poging.</a:t>
            </a:r>
          </a:p>
          <a:p>
            <a:r>
              <a:t>DE REGEL: Vijf woorden per poging, gebaren mogen niet, en de naam van het product mag niet vallen — ook niet in het Nederlands of het Engels.</a:t>
            </a:r>
          </a:p>
          <a:p>
            <a:r>
              <a:t>VERLOOP: Coge una tarjeta de producto. No la enseñes. | Describe en cinco palabras. Cuenta en voz alta. | ¿No lo adivina? Otro intento, otras cinco. | Máximo tres intentos por producto.</a:t>
            </a:r>
          </a:p>
          <a:p>
            <a:r>
              <a:t>SLEUTEL: Sterke omschrijvingen gebruiken kleur, smaak en gebruik — precies de woordenschat van §1 en §2.  ||  «El chile» en «el cilantro» zijn de moeilijkste: beide vragen om smaak in plaats van vorm.  ||  Vijf woorden dwingt tot ser en estar zonder franje: «es verde», «está en la sopa».</a:t>
            </a:r>
          </a:p>
          <a:p>
            <a:r>
              <a:t>NOTA: Tel de woorden echt. Zonder tellen wordt het een gewone omschrijfoefening en verdwijnt de druk die de zinnen kort houdt.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 8 · La sobremesa — ⚖️ onderhandeling &amp; dilemma</a:t>
            </a:r>
          </a:p>
          <a:p>
            <a:r>
              <a:t>OPDRACHT: Verdeel de rekening. Ieder heeft een geheime instructie.</a:t>
            </a:r>
          </a:p>
          <a:p>
            <a:r>
              <a:t>DE REGEL: Je geheime instructie moet je volgen, maar je mag ze niet uitspreken. Wie zegt «ik heb weinig geld», heeft verloren — je moet het láten merken.</a:t>
            </a:r>
          </a:p>
          <a:p>
            <a:r>
              <a:t>VERLOOP: Coge tu instrucción secreta. No la enseñes. | Mirad la cuenta juntos. | Negociad hasta que todos paguen algo. | Al final: ¿quién tenía qué instrucción?</a:t>
            </a:r>
          </a:p>
          <a:p>
            <a:r>
              <a:t>SLEUTEL: Totaal: 415 pesos, ongeveer 21 euro. Eerlijk delen door vier is ruim 100 elk — precies wat de vier instructies onmogelijk maken.  ||  De spanning zit bij Nina en Diego: allebei willen minder betalen, maar om tegengestelde redenen.  ||  Toets of niemand zijn instructie heeft uitgesproken. Dat is de regel én de reden dat er echt onderhandeld wordt.</a:t>
            </a:r>
          </a:p>
          <a:p>
            <a:r>
              <a:t>NOTA: «La sobremesa» is cultureel echt: in Mexico en Spanje blijft men na het eten aan tafel. Zeg dat erbij, dan is de scène niet alleen een rekensom.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slide" Target="slide3.xml"/><Relationship Id="rId4" Type="http://schemas.openxmlformats.org/officeDocument/2006/relationships/slide" Target="slide6.xml"/><Relationship Id="rId5" Type="http://schemas.openxmlformats.org/officeDocument/2006/relationships/slide" Target="slide7.xml"/><Relationship Id="rId6" Type="http://schemas.openxmlformats.org/officeDocument/2006/relationships/slide" Target="slide11.xml"/><Relationship Id="rId7" Type="http://schemas.openxmlformats.org/officeDocument/2006/relationships/slide" Target="slide9.xml"/><Relationship Id="rId8" Type="http://schemas.openxmlformats.org/officeDocument/2006/relationships/slide" Target="slide16.xml"/><Relationship Id="rId9" Type="http://schemas.openxmlformats.org/officeDocument/2006/relationships/slide" Target="slide18.xml"/><Relationship Id="rId10" Type="http://schemas.openxmlformats.org/officeDocument/2006/relationships/slide" Target="slide2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Relationship Id="rId4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2.xml"/><Relationship Id="rId4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slide" Target="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2EB085"/>
                </a:solidFill>
                <a:latin typeface="Bricolage Grotesque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323148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LA RUTA · PARADA 5 · MÉXICO · CDMX 🇲🇽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7200" b="1" i="0">
                <a:solidFill>
                  <a:srgbClr val="FFFFFF"/>
                </a:solidFill>
                <a:latin typeface="Bricolage Grotesque"/>
              </a:rPr>
              <a:t>¡Ñam!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6888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1">
                <a:solidFill>
                  <a:srgbClr val="E4F4EE"/>
                </a:solidFill>
                <a:latin typeface="Inter"/>
              </a:rPr>
              <a:t>Comida y restaurante: cantidades, «voy a comer» y pedir con cortesía — en la CDMX, con Diego.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06324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Bricolage Grotesque"/>
              </a:rPr>
              <a:t>¿Qué vas a comer hoy?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Wat ga je vandaag eten?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La gente de la ruta — je reisgezellen</a:t>
            </a:r>
          </a:p>
        </p:txBody>
      </p:sp>
      <p:pic>
        <p:nvPicPr>
          <p:cNvPr id="11" name="Picture 10" descr="die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anfitrión</a:t>
            </a:r>
          </a:p>
        </p:txBody>
      </p:sp>
      <p:pic>
        <p:nvPicPr>
          <p:cNvPr id="13" name="Picture 12" descr="luc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Lucia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</a:t>
            </a:r>
          </a:p>
        </p:txBody>
      </p:sp>
      <p:pic>
        <p:nvPicPr>
          <p:cNvPr id="15" name="Picture 14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¡ÑAM!   ·   C5 · A1 · La Ruta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Kies je route — klik een tegel. Alles oefent naar de Tarea «La carta» toe.</a:t>
            </a:r>
          </a:p>
        </p:txBody>
      </p:sp>
      <p:sp>
        <p:nvSpPr>
          <p:cNvPr id="9" name="Rounded Rectangle 8">
            <a:hlinkClick action="ppaction://hlinksldjump" r:id="rId3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3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Cantidades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mucho/poco · un kilo 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3</a:t>
            </a:r>
          </a:p>
        </p:txBody>
      </p:sp>
      <p:sp>
        <p:nvSpPr>
          <p:cNvPr id="15" name="Rounded Rectangle 14">
            <a:hlinkClick action="ppaction://hlinksldjump" r:id="rId4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4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Voy a comer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ir a + infinitivo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6</a:t>
            </a:r>
          </a:p>
        </p:txBody>
      </p:sp>
      <p:sp>
        <p:nvSpPr>
          <p:cNvPr id="21" name="Rounded Rectangle 20">
            <a:hlinkClick action="ppaction://hlinksldjump" r:id="rId5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5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Pedir · cortesía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¿me pone…? · para mí…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7</a:t>
            </a:r>
          </a:p>
        </p:txBody>
      </p:sp>
      <p:sp>
        <p:nvSpPr>
          <p:cNvPr id="27" name="Rounded Rectangle 26">
            <a:hlinkClick action="ppaction://hlinksldjump" r:id="rId6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6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La cuenta (lo/la)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lo/la/los/las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11</a:t>
            </a:r>
          </a:p>
        </p:txBody>
      </p:sp>
      <p:sp>
        <p:nvSpPr>
          <p:cNvPr id="33" name="Rounded Rectangle 32">
            <a:hlinkClick action="ppaction://hlinksldjump" r:id="rId7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7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Lectura + escucha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dos cartas (menús)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9</a:t>
            </a:r>
          </a:p>
        </p:txBody>
      </p:sp>
      <p:sp>
        <p:nvSpPr>
          <p:cNvPr id="39" name="Rounded Rectangle 38">
            <a:hlinkClick action="ppaction://hlinksldjump" r:id="rId8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8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Cultura · tacos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mercados y horarios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16</a:t>
            </a:r>
          </a:p>
        </p:txBody>
      </p:sp>
      <p:sp>
        <p:nvSpPr>
          <p:cNvPr id="45" name="Rounded Rectangle 44">
            <a:hlinkClick action="ppaction://hlinksldjump" r:id="rId9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9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🍽️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Tarea · La carta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je menu + restaurante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18</a:t>
            </a:r>
          </a:p>
        </p:txBody>
      </p:sp>
      <p:sp>
        <p:nvSpPr>
          <p:cNvPr id="51" name="Rounded Rectangle 50">
            <a:hlinkClick action="ppaction://hlinksldjump" r:id="rId10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10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◎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Repaso + semáforo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 esencial · zelfevaluatie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20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¡ÑAM!   ·   C5 · A1 · La Ruta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comida y la bebida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woorden van tafel — observa. Herken ze, dan gebruik je ze.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comida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1463040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eten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1463040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pan · la carne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bebida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2121408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drinken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3440" y="2121408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agua · el zumo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fruta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779776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fruit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2779776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 manzana · el plátano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verdura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3438144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groente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63440" y="3438144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tomate · la lechuga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pollo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1463040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kip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78440" y="1463040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pescado · el arroz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sopa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2121408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soep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78440" y="2121408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 ensalada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72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taco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779776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taco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78440" y="2779776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guacamole 🇲🇽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72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los cubiertos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58200" y="3438144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bestek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378440" y="3438144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tenedor · cuchillo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43434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Cantidades: </a:t>
            </a:r>
            <a:r>
              <a:rPr sz="1300" b="1" i="0">
                <a:solidFill>
                  <a:srgbClr val="1E9E74"/>
                </a:solidFill>
                <a:latin typeface="Inter"/>
              </a:rPr>
              <a:t>mucho/poco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· </a:t>
            </a:r>
            <a:r>
              <a:rPr sz="1300" b="1" i="0">
                <a:solidFill>
                  <a:srgbClr val="1E9E74"/>
                </a:solidFill>
                <a:latin typeface="Inter"/>
              </a:rPr>
              <a:t>un poco de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· </a:t>
            </a:r>
            <a:r>
              <a:rPr sz="1300" b="1" i="0">
                <a:solidFill>
                  <a:srgbClr val="1E9E74"/>
                </a:solidFill>
                <a:latin typeface="Inter"/>
              </a:rPr>
              <a:t>un kilo de · una botella de · un paquete de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55" name="Rounded Rectangle 5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489204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Cantidad concuerda: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muchO pan · muchA fruta · muchOS tomates · muchAS manzanas.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un poco de + niet-telbaar (queso, leche, agua) — verandert nooit.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94360" y="47640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¡ÑAM!   ·   C5 · A1 · La Ruta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Cantidades — mucho / poco / un poco 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Kleur = het voorwerp. De cantidad past zich aan (m/v · ev/mv).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9728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20242E"/>
                </a:solidFill>
                <a:latin typeface="Bricolage Grotesque"/>
              </a:rPr>
              <a:t>En el mercado hay </a:t>
            </a:r>
            <a:r>
              <a:rPr sz="2200" b="1" i="0">
                <a:solidFill>
                  <a:srgbClr val="1E9E74"/>
                </a:solidFill>
                <a:latin typeface="Bricolage Grotesque"/>
              </a:rPr>
              <a:t>mucha </a:t>
            </a:r>
            <a:r>
              <a:rPr sz="2200" b="1" i="0">
                <a:solidFill>
                  <a:srgbClr val="14B8A6"/>
                </a:solidFill>
                <a:latin typeface="Bricolage Grotesque"/>
              </a:rPr>
              <a:t>fruta </a:t>
            </a:r>
            <a:r>
              <a:rPr sz="2200" b="1" i="0">
                <a:solidFill>
                  <a:srgbClr val="20242E"/>
                </a:solidFill>
                <a:latin typeface="Bricolage Grotesque"/>
              </a:rPr>
              <a:t>y </a:t>
            </a:r>
            <a:r>
              <a:rPr sz="2200" b="1" i="0">
                <a:solidFill>
                  <a:srgbClr val="1E9E74"/>
                </a:solidFill>
                <a:latin typeface="Bricolage Grotesque"/>
              </a:rPr>
              <a:t>muchos </a:t>
            </a:r>
            <a:r>
              <a:rPr sz="2200" b="1" i="0">
                <a:solidFill>
                  <a:srgbClr val="14B8A6"/>
                </a:solidFill>
                <a:latin typeface="Bricolage Grotesque"/>
              </a:rPr>
              <a:t>tomates,</a:t>
            </a:r>
            <a:r>
              <a:rPr sz="2200" b="1" i="0">
                <a:solidFill>
                  <a:srgbClr val="20242E"/>
                </a:solidFill>
                <a:latin typeface="Bricolage Grotesque"/>
              </a:rPr>
              <a:t> pero solo </a:t>
            </a:r>
            <a:r>
              <a:rPr sz="2200" b="1" i="0">
                <a:solidFill>
                  <a:srgbClr val="1E9E74"/>
                </a:solidFill>
                <a:latin typeface="Bricolage Grotesque"/>
              </a:rPr>
              <a:t>un poco de </a:t>
            </a:r>
            <a:r>
              <a:rPr sz="2200" b="1" i="0">
                <a:solidFill>
                  <a:srgbClr val="14B8A6"/>
                </a:solidFill>
                <a:latin typeface="Bricolage Grotesque"/>
              </a:rPr>
              <a:t>queso.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8036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La concordancia — ¿qué forma?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291840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mucho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329184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+ m. ev. (pan, arroz)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968496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mucha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48840" y="396849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+ v. ev. (fruta, leche)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4645152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muchos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48840" y="4645152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+ m. mv. (tomates)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34840" y="3291840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muchas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89320" y="329184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+ v. mv. (manzanas)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3968496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un poco 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89320" y="396849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niet-telbaar (queso)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34840" y="4645152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un kilo de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89320" y="4645152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envase + producto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3" name="Rounded Rectangle 42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212080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mucho/-a/-os/-as past aan bij het woord · un poco de blijft gelijk (niet-telbaar) · envases: un kilo/una botella/un paquete de.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5084064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REGLA · docent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¡ÑAM!   ·   C5 · A1 · La Ruta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¿mucho, mucha, muchos o muchas?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woord → de juiste vorm verschijnt. Kijk naar m/v en ev/mv.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___ pan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1554480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mucho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m. ev.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59152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___ fruta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mucha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v. ev.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___ tomates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163824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muchos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m. mv.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554480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___ manzanas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1554480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muchas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v. mv.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359152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___ leche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20" y="2359152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mucha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v. ev.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163824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___ huevos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46920" y="3163824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muchos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m. mv.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8056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mucho/-a =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enkelvoud (m/v) ·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muchos/-as =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meervoud (m/v). Kijk naar het lidwoord: el/la · los/las.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3525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¡ÑAM!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Voy a comer — ir a + infinitivo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kolomkop → de vormen verschijnen. Fórmula: ir (presente) + a + infinitivo.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0242E"/>
                </a:solidFill>
                <a:latin typeface="Inter"/>
              </a:rPr>
              <a:t>La fórmula: </a:t>
            </a:r>
            <a:r>
              <a:rPr sz="1400" b="1" i="0">
                <a:solidFill>
                  <a:srgbClr val="EA7317"/>
                </a:solidFill>
                <a:latin typeface="Inter"/>
              </a:rPr>
              <a:t>ir (voy, vas, va…) </a:t>
            </a:r>
            <a:r>
              <a:rPr sz="1400" b="1" i="0">
                <a:solidFill>
                  <a:srgbClr val="7C3AED"/>
                </a:solidFill>
                <a:latin typeface="Inter"/>
              </a:rPr>
              <a:t>+ a + </a:t>
            </a:r>
            <a:r>
              <a:rPr sz="1400" b="1" i="0">
                <a:solidFill>
                  <a:srgbClr val="1E9E74"/>
                </a:solidFill>
                <a:latin typeface="Inter"/>
              </a:rPr>
              <a:t>infinitivo</a:t>
            </a:r>
            <a:r>
              <a:rPr sz="1400" b="0" i="0">
                <a:solidFill>
                  <a:srgbClr val="20242E"/>
                </a:solidFill>
                <a:latin typeface="Inter"/>
              </a:rPr>
              <a:t>   →   Voy a comer un taco.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63040" y="2011680"/>
            <a:ext cx="3108960" cy="1005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3040" y="2121408"/>
            <a:ext cx="31089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450592"/>
            <a:ext cx="310896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voy a…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46320" y="2011680"/>
            <a:ext cx="3108960" cy="1005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46320" y="2121408"/>
            <a:ext cx="31089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2450592"/>
            <a:ext cx="310896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vas a…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2011680"/>
            <a:ext cx="3108960" cy="1005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2121408"/>
            <a:ext cx="31089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él/ella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450592"/>
            <a:ext cx="310896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va a…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3246120"/>
            <a:ext cx="3108960" cy="1005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63040" y="3355848"/>
            <a:ext cx="31089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nosotros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3685032"/>
            <a:ext cx="310896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vamos a…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46320" y="3246120"/>
            <a:ext cx="3108960" cy="1005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46320" y="3355848"/>
            <a:ext cx="31089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vosotros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0" y="3685032"/>
            <a:ext cx="310896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vais a…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0" y="3246120"/>
            <a:ext cx="3108960" cy="1005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0" y="3355848"/>
            <a:ext cx="31089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ellos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3685032"/>
            <a:ext cx="310896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van a…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120640"/>
            <a:ext cx="11247120" cy="68580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Vergeet de «a» niet: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voy A comer (niet «voy comer»). 🔴 Het tweede werkwoord blijft infinitief: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voy a COMER</a:t>
            </a:r>
            <a:r>
              <a:rPr sz="1200" b="0" i="0">
                <a:solidFill>
                  <a:srgbClr val="157355"/>
                </a:solidFill>
                <a:latin typeface="Inter"/>
              </a:rPr>
              <a:t>. Gebruik: plannen dichtbij.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49926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¡ÑAM!   ·   C5 · A1 · La Ruta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06116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GRAMÁTICA · FUNCIONES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Pedir con cortesía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Twee rollen. Klik een kaart → wie zegt het. Camarero pregunta, cliente pide.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45920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1755648"/>
            <a:ext cx="1128369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🧑‍🍳 Camarero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03120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¿Qué va a tomar?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645920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B7860B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55080" y="1755648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🙋 Cliente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103120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Para mí, una sopa.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724912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2834640"/>
            <a:ext cx="1128369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🧑‍🍳 Camarero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182112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¿Y para beber?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2724912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B7860B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55080" y="283464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🙋 Cliente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3182112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¿Me pone agua?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803904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3913632"/>
            <a:ext cx="1128369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🧑‍🍳 Camarero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261104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¡Que aproveche!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803904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B7860B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55080" y="3913632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🙋 Cliente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4261104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La cuenta, por favor.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07492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Pide con cortesía: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Para mí… / ¿Me pone…? / ¿Me trae…? + por favor. Niet enkel «quiero».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57784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Structuur: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de primero (voor) · de segundo (hoofd) · de postre (na) · para beber (drank).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54498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¡ÑAM!   ·   C5 · A1 · La Ruta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¿Camarero o cliente?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zin → wie het zegt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¿Qué va a tomar?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1600200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el camarero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Para mí, una sopa.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478024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el cliente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¿Y para beber?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355848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el camarero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¿Me pone un refresco?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1600200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el cliente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¡Que aproveche!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20" y="2478024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el camarero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La cuenta, por favor.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46920" y="3355848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el cliente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Camarero = vraagt (¿qué va a tomar? / ¿y para beber?).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Cliente = bestelt (para mí… / ¿me pone…? / la cuenta).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¡ÑAM!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§5 · LEER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carta de Diego (menú)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Lees en beantwoord. Klik een vraag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120640" cy="356616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die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1005840" cy="1005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920240" y="1828800"/>
            <a:ext cx="3474720" cy="11887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20242E"/>
                </a:solidFill>
                <a:latin typeface="Inter"/>
              </a:rPr>
              <a:t>«Para empezar: guacamole con nachos (5 €) y elote (4 €). Platos fuertes: tacos de pollo (8 €), ceviche (10 €). Para terminar: flan (3 €), piña con lima (3 €).»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1554480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1609344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¿Qué hay para empezar?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9320" y="1956816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Guacamole con nachos / elote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52160" y="2450592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89320" y="2505456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¿Cuánto cuestan los tacos?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2852928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8 €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0" y="3346704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20" y="3401568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¿El ceviche es un plato fuerte?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20" y="3749040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Sí, cuesta 10 €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52160" y="4242816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89320" y="4297680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¿Qué hay de postre?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89320" y="4645152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Flan / piña con lima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852160" y="5166360"/>
            <a:ext cx="585216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🎯 Leesdoel: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scannen naar platos y precios — niet élk woord begrijpen. Vergelijk met de carta van Lucía.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89320" y="50383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¡ÑAM!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ESCUCHAR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Escucha el pedido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Vier clientes piden. Klik un nombre → wat ze bestellen. (audio op de digitale pagina)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Leo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Come: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sopa + pollo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Bebe: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agua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2900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Frida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Come: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tacos de pollo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Bebe: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refresco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Mateo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Come: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ensalada + pescado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Bebe: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zumo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Sara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Come: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guacamole + ceviche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Bebe: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agua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9" name="Rounded Rectangle 3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Modelo-audio (docent leest of TTS):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«Para mí, de primero una sopa y de segundo pollo. Para beber, agua.» …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Daarna spreken: leerling speelt de cliente en bestelt zelf.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" y="43525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¡ÑAM!   ·   C5 · A1 · La Ruta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cuenta → la traigo (lo/la/los/las)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woord → het pronomen verschijnt. Vervang het voorwerp, niet herhalen.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el pan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→ lo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5196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la cuenta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→ la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los tacos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→ los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las gambas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→ las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5196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5196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el postre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6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→ lo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la carta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→ la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70916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🟡 Vóór het werkwoord: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¿La cuenta? → La traigo.   ¿Los tacos? → Los quiero.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25780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lo (m.ev.) · la (v.ev.) · los (m.mv.) · las (v.mv.).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Het pronomen staat vóór het vervoegde werkwoord — zo herhaal je het voorwerp niet.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51297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¡ÑAM!   ·   C5 · A1 · La Ruta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SPEAKING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¡Pide en el restaurante!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Speel de scène met de zinnen. Steun bouwt af: kaarten → beginwoorden → uit het hoofd.</a:t>
            </a:r>
          </a:p>
        </p:txBody>
      </p:sp>
      <p:pic>
        <p:nvPicPr>
          <p:cNvPr id="9" name="Picture 8" descr="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55448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Saludar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Buenas tardes.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Pedir 1º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De primero, 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Pedir 2º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De segundo, 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Pedir bebida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¿Me pone…?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Pedir la cuenta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La cuenta, por favor.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4904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Cerrar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Gracias.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572000"/>
            <a:ext cx="96012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Ronda 1: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met de kaarten.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2: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alleen beginwoorden.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3: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uit het hoofd, ander pedido.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4: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grábate en de digitale pagina.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251960"/>
            <a:ext cx="4240987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🎙️ Grábate online · «Mensaje de voz: pide comida»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2" name="Rounded Rectangle 31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«Buenas. Para mí, de primero una sopa y de segundo pollo. ¿Me pone agua? … La cuenta, por favor.»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992624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MODELO · docent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¡ÑAM!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WRITING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 carta (menú)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Ontwerp je menu. Klik → een modeltekst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✍️ Escribe aquí tu carta: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Checklist: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de primero … (precio)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42316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de segundo … (precio)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de postre … (precio)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para beber … (precio)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657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cortesía: para mí / ¿me pone?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690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plato de tu país/estilo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977639"/>
            <a:ext cx="5486400" cy="114300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023360"/>
            <a:ext cx="521208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«El Sabor de Diego. De primero: guacamole (5 €). De segundo: tacos de pollo (8 €). De postre: flan (3 €). Para beber: refresco (2 €).»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¡ÑAM!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06116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VOCABULARIO · MERCADO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Fruta, verdura y la mesa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woord → de vertaling verschijnt. Bouw je woordnetwerk.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manzana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appel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568" y="1554480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plátano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banaan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554480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las uvas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druiven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554480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piña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ananas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322576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tomate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tomaat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1568" y="2322576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lechuga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sla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36208" y="2322576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cebolla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ui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2322576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maíz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maïs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090672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plato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1168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bord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01568" y="3090672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vaso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4632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glas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36208" y="3090672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tenedor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8096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vork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70848" y="3090672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cuchara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lepel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7" name="Rounded Rectangle 4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Combineer met cantidad: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un kilo de manzanas · muchas uvas · un poco de maíz. Como con tenedor y cuchara.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Los cubiertos: el tenedor, el cuchillo, la cuchara. La mesa: el plato, el vaso, la servilleta.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¡ÑAM!   ·   C5 · A1 · La Ruta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Conectores de secuencia + ortografía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item → correcte vorm. Gereedschap voor recepten en spelling.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A · conectores: primero · luego · después · por último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32918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, corta el tomate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1783080"/>
            <a:ext cx="18288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Primero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41448"/>
            <a:ext cx="32918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, añade la sal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2441448"/>
            <a:ext cx="18288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Luego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99816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6"/>
            <a:ext cx="32918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, espera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3099816"/>
            <a:ext cx="18288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Después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58184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58184"/>
            <a:ext cx="32918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, ¡a comer!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3758184"/>
            <a:ext cx="18288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Por último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B · ortografía: ¿n o ñ?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83080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783080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la pi__a (ananas)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178308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ñ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piña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441448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441448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ni__o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244144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ñ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niño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099816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099816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la ca__a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20" y="309981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ñ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caña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58184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758184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a__o (jaar)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18320" y="375818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ñ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año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5720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primero → luego/después → por último (voor recepten en stappen).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B: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la ñ klinkt «nj»: piña, niño, caña, año. Verwar niet met n (pena ≠ peña).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¡ÑAM!   ·   C5 · A1 · La Ruta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CULTURA · PARADA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Tacos, mercados y horarios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kaart → het weetje verschijnt. La comida une al mundo hispano.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🌮 El taco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maíz, con carne, verdura y salsa. En la CDMX hay taquerías por todas partes: al pastor, de pollo, de pescado.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El taco = het hart van de Mexicaanse keuken.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🏪 Los mercados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Compras fruta, verdura y comida fresca. Regatear el precio es normal. Colores, olores y mucha vida.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 plek om cantidades te oefenen.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🕐 Horarios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España cena muy tarde (21:30). México y Bélgica un poco antes. Contraste: paella 🇪🇸 · tacos 🇲🇽 · arepa 🇨🇴 · ceviche 🇵🇪.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No comas a las 18:00 en Madrid.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9204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schrijf 3 zinnen over een typisch gerecht bij jou thuis (¿qué es? ¿qué lleva? ¿cuándo lo comes?).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640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¡ÑAM!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QUIZ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Completa el pedido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Wat past? Klik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¿Qué va a ___? (nemen)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1600200"/>
            <a:ext cx="19202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tomar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mí, una sopa.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478024"/>
            <a:ext cx="19202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Para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¿Me ___ agua? (serveren)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355848"/>
            <a:ext cx="19202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pone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La ___, por favor.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1600200"/>
            <a:ext cx="19202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cuenta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Voy ___ comer un taco.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20" y="2478024"/>
            <a:ext cx="19202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___, un flan. (na)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46920" y="3355848"/>
            <a:ext cx="19202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postre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De bestelzinnen: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¿Qué va a tomar? · Para mí… · ¿Me pone…? · La cuenta, por favor · Voy a comer…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¡ÑAM!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Bricolage Grotesque"/>
              </a:rPr>
              <a:t>🍽️ Tarea final · La carta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Maak de carta van je eigen restaurante y representa la escena camarero ↔ cliente.</a:t>
            </a:r>
          </a:p>
        </p:txBody>
      </p:sp>
      <p:pic>
        <p:nvPicPr>
          <p:cNvPr id="5" name="Picture 4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82880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554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Elige un nombre y estilo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1554480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mexicano, español…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Rellena la carta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121408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primeros · segundos · postres · bebidas + precios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88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Escribe el diálogo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2688336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saludar → pedir → ¡que aproveche! → la cuenta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552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Representa la escena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3255264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en pareja (of neem audio op)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Recomienda un plato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3822192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«Le recomiendo…» según los gustos del cliente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Rúbrica · ¿lo logré?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4 secties + precios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9184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cortesía (para mí/¿me pone?)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voy a pedir + la cuenta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6112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representar la escena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🎯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Afzender jij (het restaurant) · ontvanger de cliente · doel een menu aanbieden &amp; een pedido opnemen · situatie un restaurante en CDMX · resultaat: carta + gespeelde dialoog.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¡ÑAM!   ·   C5 · A1 · La Ruta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QUIZ · LA MEZCLA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Ophaal door elkaar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Gemengde ophaal van de hele unit. Klik een vraag → het antwoord. (retrieval)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fruta (veel)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1600200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mucha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tomates (veel)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2313432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muchos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ir, yo → futuro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3320" y="3026664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voy 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ir, nosotros → futuro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3320" y="3739896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vamos 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bestellen: «para ___»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1600200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mí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¿Me ___ agua? (serveren)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2313432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pone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¿La cuenta? → ___ traigo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20" y="3026664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la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Voy ___ comer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3739896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cantidades (concord) · ir a + infinitivo · pedir/cortesía · lo/la/los/las.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¡ÑAM!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REPASO · LO ESENCIAL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volledige herhaling (17 spellen, drills) staat online. Hier: de kern + semáforo.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22860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Cantidades: mucho/-a/-os/-as (past aan) · un poco de (blijft gelijk) · un kilo/una botella/un paquete 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66544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Futuro próximo: ir (voy, vas, va, vamos, vais, van) + a + infinitivo: «Voy a comer».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87168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Pedir con cortesía: ¿Qué va a tomar? · Para mí… · ¿Me pone…? · La cuenta, por favor. De primero/segundo/postre.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lo/la/los/las: ¿La cuenta? → La traigo. ¿Los tacos? → Los quiero (vóór het werkwoord).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28416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🔴 Trampas: muchA fruta ≠ mucho · voy A comer · pide con cortesía (niet enkel «quiero») · la ñ (piña).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Semáforo — ¿cómo lo llevas?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comida/bebida benoemen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27448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cantidades (mucho/un kilo de)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11496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voy a comer (ir a + inf.)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95544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pedir + la cuenta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879592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lo/la/los/las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¡ÑAM!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Bricolage Grotesque"/>
              </a:rPr>
              <a:t>TEACHER_NOTES · U5 «¡Ñam!»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53312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Timing (50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Menu 2' · cantidades 10' · ir a + inf. 8' · pedir/cortesía 10' · lo/la/los/las 6' · lectura/escucha 8' · cultura 3' · Tarea-briefing 3'.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304288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377440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Kernvalstrikken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43200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muchA fruta ≠ mucho (concord) · un poco de blijft gelijk · voy A comer (a niet vergeten) · 2e ww = infinitief · pide con cortesía (para mí/¿me pone?) · lo/la/los/las vóór het ww · la ñ (piña).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328416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401568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Differentiatie (zij-instromers)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767328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Alles start vanaf nul. Sterker: hele restaurantscène + eigen carta + recomendar. Zwakker: cantidad-kaart en ir-tabel langer open, cortesía-frames houden.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352544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425696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Digitaal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791456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17 spellen + flip cards + klikbare kaart + recorder (Hablar) + Lectura (dos cartas) op de página digital. QR's in het boek → juiste anker. Conjugador = aparte tool.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376672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5449824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Evaluatie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815584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Tarea «La carta» met rúbrica (4 criteria). LPD 3·4·7·8 + 5 (cultura) + 1·2 (receptief: lezen/luisteren).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¡ÑAM!   ·   C5 · A1 · La Ruta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Cabecera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ip"/>
          <p:cNvSpPr/>
          <p:nvPr/>
        </p:nvSpPr>
        <p:spPr>
          <a:xfrm>
            <a:off x="457200" y="182880"/>
            <a:ext cx="30175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ipTxt"/>
          <p:cNvSpPr txBox="1"/>
          <p:nvPr/>
        </p:nvSpPr>
        <p:spPr>
          <a:xfrm>
            <a:off x="457200" y="173736"/>
            <a:ext cx="301752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RETO 4 · SIMULATIE MET BEPERKING</a:t>
            </a:r>
          </a:p>
        </p:txBody>
      </p:sp>
      <p:sp>
        <p:nvSpPr>
          <p:cNvPr id="6" name="Titulo"/>
          <p:cNvSpPr txBox="1"/>
          <p:nvPr/>
        </p:nvSpPr>
        <p:spPr>
          <a:xfrm>
            <a:off x="457200" y="502920"/>
            <a:ext cx="8412480" cy="4754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Bricolage Grotesque"/>
              </a:rPr>
              <a:t>El pedido imposible</a:t>
            </a:r>
          </a:p>
        </p:txBody>
      </p:sp>
      <p:sp>
        <p:nvSpPr>
          <p:cNvPr id="7" name="Badges"/>
          <p:cNvSpPr txBox="1"/>
          <p:nvPr/>
        </p:nvSpPr>
        <p:spPr>
          <a:xfrm>
            <a:off x="9052560" y="256032"/>
            <a:ext cx="2651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r"/>
            <a:r>
              <a:rPr sz="1000">
                <a:solidFill>
                  <a:srgbClr val="E4F4EE"/>
                </a:solidFill>
                <a:latin typeface="Inter"/>
              </a:rPr>
              <a:t>👥 En parejas</a:t>
            </a:r>
          </a:p>
          <a:p>
            <a:pPr algn="r"/>
            <a:r>
              <a:rPr sz="1000">
                <a:solidFill>
                  <a:srgbClr val="E4F4EE"/>
                </a:solidFill>
                <a:latin typeface="Inter"/>
              </a:rPr>
              <a:t>± 15 min · ★★★</a:t>
            </a:r>
          </a:p>
        </p:txBody>
      </p:sp>
      <p:sp>
        <p:nvSpPr>
          <p:cNvPr id="8" name="Gancho"/>
          <p:cNvSpPr txBox="1"/>
          <p:nvPr/>
        </p:nvSpPr>
        <p:spPr>
          <a:xfrm>
            <a:off x="457200" y="1225296"/>
            <a:ext cx="11274552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600" b="1">
                <a:solidFill>
                  <a:srgbClr val="157355"/>
                </a:solidFill>
                <a:latin typeface="Bricolage Grotesque"/>
              </a:rPr>
              <a:t>El camarero dice que no a casi todo. Tú tienes que cenar igual.</a:t>
            </a:r>
          </a:p>
          <a:p>
            <a:pPr algn="l"/>
            <a:r>
              <a:rPr sz="1100" i="1">
                <a:solidFill>
                  <a:srgbClr val="6A6E78"/>
                </a:solidFill>
                <a:latin typeface="Inter"/>
              </a:rPr>
              <a:t>De ober zegt op bijna alles nee. Jij moet tóch eten.</a:t>
            </a:r>
          </a:p>
        </p:txBody>
      </p:sp>
      <p:sp>
        <p:nvSpPr>
          <p:cNvPr id="9" name="ReglaCaja"/>
          <p:cNvSpPr/>
          <p:nvPr/>
        </p:nvSpPr>
        <p:spPr>
          <a:xfrm>
            <a:off x="457200" y="1847088"/>
            <a:ext cx="11274552" cy="658368"/>
          </a:xfrm>
          <a:prstGeom prst="roundRect">
            <a:avLst>
              <a:gd name="adj" fmla="val 5000"/>
            </a:avLst>
          </a:prstGeom>
          <a:solidFill>
            <a:srgbClr val="FB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glaTxt"/>
          <p:cNvSpPr txBox="1"/>
          <p:nvPr/>
        </p:nvSpPr>
        <p:spPr>
          <a:xfrm>
            <a:off x="603504" y="1883664"/>
            <a:ext cx="10972800" cy="58521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B7860B"/>
                </a:solidFill>
                <a:latin typeface="Inter"/>
              </a:rPr>
              <a:t>LA REGLA DEL RETO</a:t>
            </a:r>
          </a:p>
          <a:p>
            <a:pPr algn="l"/>
            <a:r>
              <a:rPr sz="1100">
                <a:solidFill>
                  <a:srgbClr val="20242E"/>
                </a:solidFill>
                <a:latin typeface="Inter"/>
              </a:rPr>
              <a:t>Elke «lo siento» dwingt je tot een nieuw voorstel — en je mag nooit twee keer dezelfde beleefdheidsformule gebruiken.</a:t>
            </a:r>
          </a:p>
        </p:txBody>
      </p:sp>
      <p:sp>
        <p:nvSpPr>
          <p:cNvPr id="11" name="Tarjeta 0"/>
          <p:cNvSpPr/>
          <p:nvPr/>
        </p:nvSpPr>
        <p:spPr>
          <a:xfrm>
            <a:off x="457200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arjetaTxt 0"/>
          <p:cNvSpPr txBox="1"/>
          <p:nvPr/>
        </p:nvSpPr>
        <p:spPr>
          <a:xfrm>
            <a:off x="548640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La carta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sopa de tortilla · quesadillas · tacos al pastor</a:t>
            </a:r>
          </a:p>
        </p:txBody>
      </p:sp>
      <p:sp>
        <p:nvSpPr>
          <p:cNvPr id="13" name="Tarjeta 1"/>
          <p:cNvSpPr/>
          <p:nvPr/>
        </p:nvSpPr>
        <p:spPr>
          <a:xfrm>
            <a:off x="3312414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arjetaTxt 1"/>
          <p:cNvSpPr txBox="1"/>
          <p:nvPr/>
        </p:nvSpPr>
        <p:spPr>
          <a:xfrm>
            <a:off x="3403854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La carta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enchiladas · pozole · horchata</a:t>
            </a:r>
          </a:p>
        </p:txBody>
      </p:sp>
      <p:sp>
        <p:nvSpPr>
          <p:cNvPr id="15" name="Tarjeta 2"/>
          <p:cNvSpPr/>
          <p:nvPr/>
        </p:nvSpPr>
        <p:spPr>
          <a:xfrm>
            <a:off x="6167628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arjetaTxt 2"/>
          <p:cNvSpPr txBox="1"/>
          <p:nvPr/>
        </p:nvSpPr>
        <p:spPr>
          <a:xfrm>
            <a:off x="6259068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La carta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agua de jamaica · flan · arroz con leche</a:t>
            </a:r>
          </a:p>
        </p:txBody>
      </p:sp>
      <p:sp>
        <p:nvSpPr>
          <p:cNvPr id="17" name="Tarjeta 3"/>
          <p:cNvSpPr/>
          <p:nvPr/>
        </p:nvSpPr>
        <p:spPr>
          <a:xfrm>
            <a:off x="9022842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arjetaTxt 3"/>
          <p:cNvSpPr txBox="1"/>
          <p:nvPr/>
        </p:nvSpPr>
        <p:spPr>
          <a:xfrm>
            <a:off x="9114282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Fórmulas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Para mí, … · ¿Me pone …? · ¿Me trae …?</a:t>
            </a:r>
          </a:p>
        </p:txBody>
      </p:sp>
      <p:sp>
        <p:nvSpPr>
          <p:cNvPr id="19" name="Tarjeta 4"/>
          <p:cNvSpPr/>
          <p:nvPr/>
        </p:nvSpPr>
        <p:spPr>
          <a:xfrm>
            <a:off x="457200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arjetaTxt 4"/>
          <p:cNvSpPr txBox="1"/>
          <p:nvPr/>
        </p:nvSpPr>
        <p:spPr>
          <a:xfrm>
            <a:off x="548640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Fórmulas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¿Y tienen …? · Entonces …, por favor. · ¿Qué me recomienda?</a:t>
            </a:r>
          </a:p>
        </p:txBody>
      </p:sp>
      <p:sp>
        <p:nvSpPr>
          <p:cNvPr id="21" name="Tarjeta 5"/>
          <p:cNvSpPr/>
          <p:nvPr/>
        </p:nvSpPr>
        <p:spPr>
          <a:xfrm>
            <a:off x="3312414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arjetaTxt 5"/>
          <p:cNvSpPr txBox="1"/>
          <p:nvPr/>
        </p:nvSpPr>
        <p:spPr>
          <a:xfrm>
            <a:off x="3403854" y="4023360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El camarero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No hay tacos de pollo.</a:t>
            </a:r>
          </a:p>
        </p:txBody>
      </p:sp>
      <p:sp>
        <p:nvSpPr>
          <p:cNvPr id="23" name="Onthul 5"/>
          <p:cNvSpPr/>
          <p:nvPr/>
        </p:nvSpPr>
        <p:spPr>
          <a:xfrm>
            <a:off x="3403854" y="4846320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nthulTxt 5"/>
          <p:cNvSpPr txBox="1"/>
          <p:nvPr/>
        </p:nvSpPr>
        <p:spPr>
          <a:xfrm>
            <a:off x="3422142" y="4846320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cambia de plato y de fórmula</a:t>
            </a:r>
          </a:p>
        </p:txBody>
      </p:sp>
      <p:sp>
        <p:nvSpPr>
          <p:cNvPr id="25" name="Tarjeta 6"/>
          <p:cNvSpPr/>
          <p:nvPr/>
        </p:nvSpPr>
        <p:spPr>
          <a:xfrm>
            <a:off x="6167628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arjetaTxt 6"/>
          <p:cNvSpPr txBox="1"/>
          <p:nvPr/>
        </p:nvSpPr>
        <p:spPr>
          <a:xfrm>
            <a:off x="6259068" y="4023360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El camarero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Se acabó el pozole.</a:t>
            </a:r>
          </a:p>
        </p:txBody>
      </p:sp>
      <p:sp>
        <p:nvSpPr>
          <p:cNvPr id="27" name="Onthul 6"/>
          <p:cNvSpPr/>
          <p:nvPr/>
        </p:nvSpPr>
        <p:spPr>
          <a:xfrm>
            <a:off x="6259068" y="4846320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nthulTxt 6"/>
          <p:cNvSpPr txBox="1"/>
          <p:nvPr/>
        </p:nvSpPr>
        <p:spPr>
          <a:xfrm>
            <a:off x="6277356" y="4846320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cambia de plato y de fórmula</a:t>
            </a:r>
          </a:p>
        </p:txBody>
      </p:sp>
      <p:sp>
        <p:nvSpPr>
          <p:cNvPr id="29" name="Tarjeta 7"/>
          <p:cNvSpPr/>
          <p:nvPr/>
        </p:nvSpPr>
        <p:spPr>
          <a:xfrm>
            <a:off x="9022842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arjetaTxt 7"/>
          <p:cNvSpPr txBox="1"/>
          <p:nvPr/>
        </p:nvSpPr>
        <p:spPr>
          <a:xfrm>
            <a:off x="9114282" y="4023360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El camarero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El flan está terminado.</a:t>
            </a:r>
          </a:p>
        </p:txBody>
      </p:sp>
      <p:sp>
        <p:nvSpPr>
          <p:cNvPr id="31" name="Onthul 7"/>
          <p:cNvSpPr/>
          <p:nvPr/>
        </p:nvSpPr>
        <p:spPr>
          <a:xfrm>
            <a:off x="9114282" y="4846320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OnthulTxt 7"/>
          <p:cNvSpPr txBox="1"/>
          <p:nvPr/>
        </p:nvSpPr>
        <p:spPr>
          <a:xfrm>
            <a:off x="9132570" y="4846320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cambia de plato y de fórmula</a:t>
            </a:r>
          </a:p>
        </p:txBody>
      </p:sp>
      <p:sp>
        <p:nvSpPr>
          <p:cNvPr id="33" name="Tarjeta 8"/>
          <p:cNvSpPr/>
          <p:nvPr/>
        </p:nvSpPr>
        <p:spPr>
          <a:xfrm>
            <a:off x="457200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arjetaTxt 8"/>
          <p:cNvSpPr txBox="1"/>
          <p:nvPr/>
        </p:nvSpPr>
        <p:spPr>
          <a:xfrm>
            <a:off x="548640" y="5321808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El camarero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No queda agua de jamaica.</a:t>
            </a:r>
          </a:p>
        </p:txBody>
      </p:sp>
      <p:sp>
        <p:nvSpPr>
          <p:cNvPr id="35" name="Onthul 8"/>
          <p:cNvSpPr/>
          <p:nvPr/>
        </p:nvSpPr>
        <p:spPr>
          <a:xfrm>
            <a:off x="548640" y="6144768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nthulTxt 8"/>
          <p:cNvSpPr txBox="1"/>
          <p:nvPr/>
        </p:nvSpPr>
        <p:spPr>
          <a:xfrm>
            <a:off x="566928" y="6144768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cambia de plato y de fórmula</a:t>
            </a:r>
          </a:p>
        </p:txBody>
      </p:sp>
      <p:sp>
        <p:nvSpPr>
          <p:cNvPr id="37" name="Tarjeta 9"/>
          <p:cNvSpPr/>
          <p:nvPr/>
        </p:nvSpPr>
        <p:spPr>
          <a:xfrm>
            <a:off x="3312414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arjetaTxt 9"/>
          <p:cNvSpPr txBox="1"/>
          <p:nvPr/>
        </p:nvSpPr>
        <p:spPr>
          <a:xfrm>
            <a:off x="3403854" y="5321808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El camarero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Hoy no hacemos mole.</a:t>
            </a:r>
          </a:p>
        </p:txBody>
      </p:sp>
      <p:sp>
        <p:nvSpPr>
          <p:cNvPr id="39" name="Onthul 9"/>
          <p:cNvSpPr/>
          <p:nvPr/>
        </p:nvSpPr>
        <p:spPr>
          <a:xfrm>
            <a:off x="3403854" y="6144768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nthulTxt 9"/>
          <p:cNvSpPr txBox="1"/>
          <p:nvPr/>
        </p:nvSpPr>
        <p:spPr>
          <a:xfrm>
            <a:off x="3422142" y="6144768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cambia de plato y de fórmula</a:t>
            </a:r>
          </a:p>
        </p:txBody>
      </p:sp>
      <p:sp>
        <p:nvSpPr>
          <p:cNvPr id="41" name="Tarjeta 10"/>
          <p:cNvSpPr/>
          <p:nvPr/>
        </p:nvSpPr>
        <p:spPr>
          <a:xfrm>
            <a:off x="6167628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arjetaTxt 10"/>
          <p:cNvSpPr txBox="1"/>
          <p:nvPr/>
        </p:nvSpPr>
        <p:spPr>
          <a:xfrm>
            <a:off x="6259068" y="5321808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El camarero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La sopa está fría.</a:t>
            </a:r>
          </a:p>
        </p:txBody>
      </p:sp>
      <p:sp>
        <p:nvSpPr>
          <p:cNvPr id="43" name="Onthul 10"/>
          <p:cNvSpPr/>
          <p:nvPr/>
        </p:nvSpPr>
        <p:spPr>
          <a:xfrm>
            <a:off x="6259068" y="6144768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OnthulTxt 10"/>
          <p:cNvSpPr txBox="1"/>
          <p:nvPr/>
        </p:nvSpPr>
        <p:spPr>
          <a:xfrm>
            <a:off x="6277356" y="6144768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cambia de plato y de fórmula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Cabecera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ip"/>
          <p:cNvSpPr/>
          <p:nvPr/>
        </p:nvSpPr>
        <p:spPr>
          <a:xfrm>
            <a:off x="457200" y="182880"/>
            <a:ext cx="30175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ipTxt"/>
          <p:cNvSpPr txBox="1"/>
          <p:nvPr/>
        </p:nvSpPr>
        <p:spPr>
          <a:xfrm>
            <a:off x="457200" y="173736"/>
            <a:ext cx="301752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RETO 7 · PUZZEL &amp; ESCAPE</a:t>
            </a:r>
          </a:p>
        </p:txBody>
      </p:sp>
      <p:sp>
        <p:nvSpPr>
          <p:cNvPr id="6" name="Titulo"/>
          <p:cNvSpPr txBox="1"/>
          <p:nvPr/>
        </p:nvSpPr>
        <p:spPr>
          <a:xfrm>
            <a:off x="457200" y="502920"/>
            <a:ext cx="8412480" cy="4754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Bricolage Grotesque"/>
              </a:rPr>
              <a:t>Cinco palabras para el mercado</a:t>
            </a:r>
          </a:p>
        </p:txBody>
      </p:sp>
      <p:sp>
        <p:nvSpPr>
          <p:cNvPr id="7" name="Badges"/>
          <p:cNvSpPr txBox="1"/>
          <p:nvPr/>
        </p:nvSpPr>
        <p:spPr>
          <a:xfrm>
            <a:off x="9052560" y="256032"/>
            <a:ext cx="2651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r"/>
            <a:r>
              <a:rPr sz="1000">
                <a:solidFill>
                  <a:srgbClr val="E4F4EE"/>
                </a:solidFill>
                <a:latin typeface="Inter"/>
              </a:rPr>
              <a:t>👥 En parejas</a:t>
            </a:r>
          </a:p>
          <a:p>
            <a:pPr algn="r"/>
            <a:r>
              <a:rPr sz="1000">
                <a:solidFill>
                  <a:srgbClr val="E4F4EE"/>
                </a:solidFill>
                <a:latin typeface="Inter"/>
              </a:rPr>
              <a:t>± 12 min · ★★★</a:t>
            </a:r>
          </a:p>
        </p:txBody>
      </p:sp>
      <p:sp>
        <p:nvSpPr>
          <p:cNvPr id="8" name="Gancho"/>
          <p:cNvSpPr txBox="1"/>
          <p:nvPr/>
        </p:nvSpPr>
        <p:spPr>
          <a:xfrm>
            <a:off x="457200" y="1225296"/>
            <a:ext cx="11274552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600" b="1">
                <a:solidFill>
                  <a:srgbClr val="157355"/>
                </a:solidFill>
                <a:latin typeface="Bricolage Grotesque"/>
              </a:rPr>
              <a:t>Quieres comprar algo cuyo nombre no sabes. Tienes cinco palabras.</a:t>
            </a:r>
          </a:p>
          <a:p>
            <a:pPr algn="l"/>
            <a:r>
              <a:rPr sz="1100" i="1">
                <a:solidFill>
                  <a:srgbClr val="6A6E78"/>
                </a:solidFill>
                <a:latin typeface="Inter"/>
              </a:rPr>
              <a:t>Je wil iets kopen waarvan je de naam niet kent. Je hebt vijf woorden.</a:t>
            </a:r>
          </a:p>
        </p:txBody>
      </p:sp>
      <p:sp>
        <p:nvSpPr>
          <p:cNvPr id="9" name="ReglaCaja"/>
          <p:cNvSpPr/>
          <p:nvPr/>
        </p:nvSpPr>
        <p:spPr>
          <a:xfrm>
            <a:off x="457200" y="1847088"/>
            <a:ext cx="11274552" cy="658368"/>
          </a:xfrm>
          <a:prstGeom prst="roundRect">
            <a:avLst>
              <a:gd name="adj" fmla="val 5000"/>
            </a:avLst>
          </a:prstGeom>
          <a:solidFill>
            <a:srgbClr val="FB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glaTxt"/>
          <p:cNvSpPr txBox="1"/>
          <p:nvPr/>
        </p:nvSpPr>
        <p:spPr>
          <a:xfrm>
            <a:off x="603504" y="1883664"/>
            <a:ext cx="10972800" cy="58521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B7860B"/>
                </a:solidFill>
                <a:latin typeface="Inter"/>
              </a:rPr>
              <a:t>LA REGLA DEL RETO</a:t>
            </a:r>
          </a:p>
          <a:p>
            <a:pPr algn="l"/>
            <a:r>
              <a:rPr sz="1100">
                <a:solidFill>
                  <a:srgbClr val="20242E"/>
                </a:solidFill>
                <a:latin typeface="Inter"/>
              </a:rPr>
              <a:t>Vijf woorden per poging, gebaren mogen niet, en de naam van het product mag niet vallen — ook niet in het Nederlands of het Engels.</a:t>
            </a:r>
          </a:p>
        </p:txBody>
      </p:sp>
      <p:sp>
        <p:nvSpPr>
          <p:cNvPr id="11" name="Tarjeta 0"/>
          <p:cNvSpPr/>
          <p:nvPr/>
        </p:nvSpPr>
        <p:spPr>
          <a:xfrm>
            <a:off x="457200" y="2670048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arjetaTxt 0"/>
          <p:cNvSpPr txBox="1"/>
          <p:nvPr/>
        </p:nvSpPr>
        <p:spPr>
          <a:xfrm>
            <a:off x="548640" y="2724912"/>
            <a:ext cx="2526030" cy="587502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el aguacate</a:t>
            </a:r>
          </a:p>
        </p:txBody>
      </p:sp>
      <p:sp>
        <p:nvSpPr>
          <p:cNvPr id="13" name="Onthul 0"/>
          <p:cNvSpPr/>
          <p:nvPr/>
        </p:nvSpPr>
        <p:spPr>
          <a:xfrm>
            <a:off x="548640" y="3275838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nthulTxt 0"/>
          <p:cNvSpPr txBox="1"/>
          <p:nvPr/>
        </p:nvSpPr>
        <p:spPr>
          <a:xfrm>
            <a:off x="566928" y="3275838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descrito ✓</a:t>
            </a:r>
          </a:p>
        </p:txBody>
      </p:sp>
      <p:sp>
        <p:nvSpPr>
          <p:cNvPr id="15" name="Tarjeta 1"/>
          <p:cNvSpPr/>
          <p:nvPr/>
        </p:nvSpPr>
        <p:spPr>
          <a:xfrm>
            <a:off x="3312414" y="2670048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arjetaTxt 1"/>
          <p:cNvSpPr txBox="1"/>
          <p:nvPr/>
        </p:nvSpPr>
        <p:spPr>
          <a:xfrm>
            <a:off x="3403854" y="2724912"/>
            <a:ext cx="2526030" cy="587502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la sandía</a:t>
            </a:r>
          </a:p>
        </p:txBody>
      </p:sp>
      <p:sp>
        <p:nvSpPr>
          <p:cNvPr id="17" name="Onthul 1"/>
          <p:cNvSpPr/>
          <p:nvPr/>
        </p:nvSpPr>
        <p:spPr>
          <a:xfrm>
            <a:off x="3403854" y="3275838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nthulTxt 1"/>
          <p:cNvSpPr txBox="1"/>
          <p:nvPr/>
        </p:nvSpPr>
        <p:spPr>
          <a:xfrm>
            <a:off x="3422142" y="3275838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descrito ✓</a:t>
            </a:r>
          </a:p>
        </p:txBody>
      </p:sp>
      <p:sp>
        <p:nvSpPr>
          <p:cNvPr id="19" name="Tarjeta 2"/>
          <p:cNvSpPr/>
          <p:nvPr/>
        </p:nvSpPr>
        <p:spPr>
          <a:xfrm>
            <a:off x="6167628" y="2670048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arjetaTxt 2"/>
          <p:cNvSpPr txBox="1"/>
          <p:nvPr/>
        </p:nvSpPr>
        <p:spPr>
          <a:xfrm>
            <a:off x="6259068" y="2724912"/>
            <a:ext cx="2526030" cy="587502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el cilantro</a:t>
            </a:r>
          </a:p>
        </p:txBody>
      </p:sp>
      <p:sp>
        <p:nvSpPr>
          <p:cNvPr id="21" name="Onthul 2"/>
          <p:cNvSpPr/>
          <p:nvPr/>
        </p:nvSpPr>
        <p:spPr>
          <a:xfrm>
            <a:off x="6259068" y="3275838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nthulTxt 2"/>
          <p:cNvSpPr txBox="1"/>
          <p:nvPr/>
        </p:nvSpPr>
        <p:spPr>
          <a:xfrm>
            <a:off x="6277356" y="3275838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descrito ✓</a:t>
            </a:r>
          </a:p>
        </p:txBody>
      </p:sp>
      <p:sp>
        <p:nvSpPr>
          <p:cNvPr id="23" name="Tarjeta 3"/>
          <p:cNvSpPr/>
          <p:nvPr/>
        </p:nvSpPr>
        <p:spPr>
          <a:xfrm>
            <a:off x="9022842" y="2670048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arjetaTxt 3"/>
          <p:cNvSpPr txBox="1"/>
          <p:nvPr/>
        </p:nvSpPr>
        <p:spPr>
          <a:xfrm>
            <a:off x="9114282" y="2724912"/>
            <a:ext cx="2526030" cy="587502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la calabaza</a:t>
            </a:r>
          </a:p>
        </p:txBody>
      </p:sp>
      <p:sp>
        <p:nvSpPr>
          <p:cNvPr id="25" name="Onthul 3"/>
          <p:cNvSpPr/>
          <p:nvPr/>
        </p:nvSpPr>
        <p:spPr>
          <a:xfrm>
            <a:off x="9114282" y="3275838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nthulTxt 3"/>
          <p:cNvSpPr txBox="1"/>
          <p:nvPr/>
        </p:nvSpPr>
        <p:spPr>
          <a:xfrm>
            <a:off x="9132570" y="3275838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descrito ✓</a:t>
            </a:r>
          </a:p>
        </p:txBody>
      </p:sp>
      <p:sp>
        <p:nvSpPr>
          <p:cNvPr id="27" name="Tarjeta 4"/>
          <p:cNvSpPr/>
          <p:nvPr/>
        </p:nvSpPr>
        <p:spPr>
          <a:xfrm>
            <a:off x="457200" y="3696462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arjetaTxt 4"/>
          <p:cNvSpPr txBox="1"/>
          <p:nvPr/>
        </p:nvSpPr>
        <p:spPr>
          <a:xfrm>
            <a:off x="548640" y="3751326"/>
            <a:ext cx="2526030" cy="587502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el chile</a:t>
            </a:r>
          </a:p>
        </p:txBody>
      </p:sp>
      <p:sp>
        <p:nvSpPr>
          <p:cNvPr id="29" name="Onthul 4"/>
          <p:cNvSpPr/>
          <p:nvPr/>
        </p:nvSpPr>
        <p:spPr>
          <a:xfrm>
            <a:off x="548640" y="4302252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nthulTxt 4"/>
          <p:cNvSpPr txBox="1"/>
          <p:nvPr/>
        </p:nvSpPr>
        <p:spPr>
          <a:xfrm>
            <a:off x="566928" y="4302252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descrito ✓</a:t>
            </a:r>
          </a:p>
        </p:txBody>
      </p:sp>
      <p:sp>
        <p:nvSpPr>
          <p:cNvPr id="31" name="Tarjeta 5"/>
          <p:cNvSpPr/>
          <p:nvPr/>
        </p:nvSpPr>
        <p:spPr>
          <a:xfrm>
            <a:off x="3312414" y="3696462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arjetaTxt 5"/>
          <p:cNvSpPr txBox="1"/>
          <p:nvPr/>
        </p:nvSpPr>
        <p:spPr>
          <a:xfrm>
            <a:off x="3403854" y="3751326"/>
            <a:ext cx="2526030" cy="587502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la piña</a:t>
            </a:r>
          </a:p>
        </p:txBody>
      </p:sp>
      <p:sp>
        <p:nvSpPr>
          <p:cNvPr id="33" name="Onthul 5"/>
          <p:cNvSpPr/>
          <p:nvPr/>
        </p:nvSpPr>
        <p:spPr>
          <a:xfrm>
            <a:off x="3403854" y="4302252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nthulTxt 5"/>
          <p:cNvSpPr txBox="1"/>
          <p:nvPr/>
        </p:nvSpPr>
        <p:spPr>
          <a:xfrm>
            <a:off x="3422142" y="4302252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descrito ✓</a:t>
            </a:r>
          </a:p>
        </p:txBody>
      </p:sp>
      <p:sp>
        <p:nvSpPr>
          <p:cNvPr id="35" name="Tarjeta 6"/>
          <p:cNvSpPr/>
          <p:nvPr/>
        </p:nvSpPr>
        <p:spPr>
          <a:xfrm>
            <a:off x="6167628" y="3696462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arjetaTxt 6"/>
          <p:cNvSpPr txBox="1"/>
          <p:nvPr/>
        </p:nvSpPr>
        <p:spPr>
          <a:xfrm>
            <a:off x="6259068" y="3751326"/>
            <a:ext cx="2526030" cy="587502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el maíz</a:t>
            </a:r>
          </a:p>
        </p:txBody>
      </p:sp>
      <p:sp>
        <p:nvSpPr>
          <p:cNvPr id="37" name="Onthul 6"/>
          <p:cNvSpPr/>
          <p:nvPr/>
        </p:nvSpPr>
        <p:spPr>
          <a:xfrm>
            <a:off x="6259068" y="4302252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OnthulTxt 6"/>
          <p:cNvSpPr txBox="1"/>
          <p:nvPr/>
        </p:nvSpPr>
        <p:spPr>
          <a:xfrm>
            <a:off x="6277356" y="4302252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descrito ✓</a:t>
            </a:r>
          </a:p>
        </p:txBody>
      </p:sp>
      <p:sp>
        <p:nvSpPr>
          <p:cNvPr id="39" name="Tarjeta 7"/>
          <p:cNvSpPr/>
          <p:nvPr/>
        </p:nvSpPr>
        <p:spPr>
          <a:xfrm>
            <a:off x="9022842" y="3696462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arjetaTxt 7"/>
          <p:cNvSpPr txBox="1"/>
          <p:nvPr/>
        </p:nvSpPr>
        <p:spPr>
          <a:xfrm>
            <a:off x="9114282" y="3751326"/>
            <a:ext cx="2526030" cy="587502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la cebolla</a:t>
            </a:r>
          </a:p>
        </p:txBody>
      </p:sp>
      <p:sp>
        <p:nvSpPr>
          <p:cNvPr id="41" name="Onthul 7"/>
          <p:cNvSpPr/>
          <p:nvPr/>
        </p:nvSpPr>
        <p:spPr>
          <a:xfrm>
            <a:off x="9114282" y="4302252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OnthulTxt 7"/>
          <p:cNvSpPr txBox="1"/>
          <p:nvPr/>
        </p:nvSpPr>
        <p:spPr>
          <a:xfrm>
            <a:off x="9132570" y="4302252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descrito ✓</a:t>
            </a:r>
          </a:p>
        </p:txBody>
      </p:sp>
      <p:sp>
        <p:nvSpPr>
          <p:cNvPr id="43" name="Tarjeta 8"/>
          <p:cNvSpPr/>
          <p:nvPr/>
        </p:nvSpPr>
        <p:spPr>
          <a:xfrm>
            <a:off x="457200" y="4722876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arjetaTxt 8"/>
          <p:cNvSpPr txBox="1"/>
          <p:nvPr/>
        </p:nvSpPr>
        <p:spPr>
          <a:xfrm>
            <a:off x="548640" y="4777740"/>
            <a:ext cx="2526030" cy="587502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el limón</a:t>
            </a:r>
          </a:p>
        </p:txBody>
      </p:sp>
      <p:sp>
        <p:nvSpPr>
          <p:cNvPr id="45" name="Onthul 8"/>
          <p:cNvSpPr/>
          <p:nvPr/>
        </p:nvSpPr>
        <p:spPr>
          <a:xfrm>
            <a:off x="548640" y="5328666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nthulTxt 8"/>
          <p:cNvSpPr txBox="1"/>
          <p:nvPr/>
        </p:nvSpPr>
        <p:spPr>
          <a:xfrm>
            <a:off x="566928" y="5328666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descrito ✓</a:t>
            </a:r>
          </a:p>
        </p:txBody>
      </p:sp>
      <p:sp>
        <p:nvSpPr>
          <p:cNvPr id="47" name="Tarjeta 9"/>
          <p:cNvSpPr/>
          <p:nvPr/>
        </p:nvSpPr>
        <p:spPr>
          <a:xfrm>
            <a:off x="3312414" y="4722876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arjetaTxt 9"/>
          <p:cNvSpPr txBox="1"/>
          <p:nvPr/>
        </p:nvSpPr>
        <p:spPr>
          <a:xfrm>
            <a:off x="3403854" y="4777740"/>
            <a:ext cx="2526030" cy="587502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la tortilla</a:t>
            </a:r>
          </a:p>
        </p:txBody>
      </p:sp>
      <p:sp>
        <p:nvSpPr>
          <p:cNvPr id="49" name="Onthul 9"/>
          <p:cNvSpPr/>
          <p:nvPr/>
        </p:nvSpPr>
        <p:spPr>
          <a:xfrm>
            <a:off x="3403854" y="5328666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OnthulTxt 9"/>
          <p:cNvSpPr txBox="1"/>
          <p:nvPr/>
        </p:nvSpPr>
        <p:spPr>
          <a:xfrm>
            <a:off x="3422142" y="5328666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descrito ✓</a:t>
            </a:r>
          </a:p>
        </p:txBody>
      </p:sp>
      <p:sp>
        <p:nvSpPr>
          <p:cNvPr id="51" name="Tarjeta 10"/>
          <p:cNvSpPr/>
          <p:nvPr/>
        </p:nvSpPr>
        <p:spPr>
          <a:xfrm>
            <a:off x="6167628" y="4722876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arjetaTxt 10"/>
          <p:cNvSpPr txBox="1"/>
          <p:nvPr/>
        </p:nvSpPr>
        <p:spPr>
          <a:xfrm>
            <a:off x="6259068" y="4777740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Es verde y grande.</a:t>
            </a:r>
          </a:p>
        </p:txBody>
      </p:sp>
      <p:sp>
        <p:nvSpPr>
          <p:cNvPr id="53" name="Tarjeta 11"/>
          <p:cNvSpPr/>
          <p:nvPr/>
        </p:nvSpPr>
        <p:spPr>
          <a:xfrm>
            <a:off x="9022842" y="4722876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arjetaTxt 11"/>
          <p:cNvSpPr txBox="1"/>
          <p:nvPr/>
        </p:nvSpPr>
        <p:spPr>
          <a:xfrm>
            <a:off x="9114282" y="4777740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Se come con sal.</a:t>
            </a:r>
          </a:p>
        </p:txBody>
      </p:sp>
      <p:sp>
        <p:nvSpPr>
          <p:cNvPr id="55" name="Tarjeta 12"/>
          <p:cNvSpPr/>
          <p:nvPr/>
        </p:nvSpPr>
        <p:spPr>
          <a:xfrm>
            <a:off x="457200" y="5749290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arjetaTxt 12"/>
          <p:cNvSpPr txBox="1"/>
          <p:nvPr/>
        </p:nvSpPr>
        <p:spPr>
          <a:xfrm>
            <a:off x="548640" y="5804154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Es de color …</a:t>
            </a:r>
          </a:p>
        </p:txBody>
      </p:sp>
      <p:sp>
        <p:nvSpPr>
          <p:cNvPr id="57" name="Tarjeta 13"/>
          <p:cNvSpPr/>
          <p:nvPr/>
        </p:nvSpPr>
        <p:spPr>
          <a:xfrm>
            <a:off x="3312414" y="5749290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arjetaTxt 13"/>
          <p:cNvSpPr txBox="1"/>
          <p:nvPr/>
        </p:nvSpPr>
        <p:spPr>
          <a:xfrm>
            <a:off x="3403854" y="5804154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Está en la sopa.</a:t>
            </a:r>
          </a:p>
        </p:txBody>
      </p:sp>
      <p:sp>
        <p:nvSpPr>
          <p:cNvPr id="59" name="Tarjeta 14"/>
          <p:cNvSpPr/>
          <p:nvPr/>
        </p:nvSpPr>
        <p:spPr>
          <a:xfrm>
            <a:off x="6167628" y="5749290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arjetaTxt 14"/>
          <p:cNvSpPr txBox="1"/>
          <p:nvPr/>
        </p:nvSpPr>
        <p:spPr>
          <a:xfrm>
            <a:off x="6259068" y="5804154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Cuesta poco.</a:t>
            </a:r>
          </a:p>
        </p:txBody>
      </p:sp>
      <p:sp>
        <p:nvSpPr>
          <p:cNvPr id="61" name="Tarjeta 15"/>
          <p:cNvSpPr/>
          <p:nvPr/>
        </p:nvSpPr>
        <p:spPr>
          <a:xfrm>
            <a:off x="9022842" y="5749290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arjetaTxt 15"/>
          <p:cNvSpPr txBox="1"/>
          <p:nvPr/>
        </p:nvSpPr>
        <p:spPr>
          <a:xfrm>
            <a:off x="9114282" y="5804154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Es dulce, no salado.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Cabecera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ip"/>
          <p:cNvSpPr/>
          <p:nvPr/>
        </p:nvSpPr>
        <p:spPr>
          <a:xfrm>
            <a:off x="457200" y="182880"/>
            <a:ext cx="30175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ipTxt"/>
          <p:cNvSpPr txBox="1"/>
          <p:nvPr/>
        </p:nvSpPr>
        <p:spPr>
          <a:xfrm>
            <a:off x="457200" y="173736"/>
            <a:ext cx="301752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RETO 8 · ONDERHANDELING &amp; DILEMMA</a:t>
            </a:r>
          </a:p>
        </p:txBody>
      </p:sp>
      <p:sp>
        <p:nvSpPr>
          <p:cNvPr id="6" name="Titulo"/>
          <p:cNvSpPr txBox="1"/>
          <p:nvPr/>
        </p:nvSpPr>
        <p:spPr>
          <a:xfrm>
            <a:off x="457200" y="502920"/>
            <a:ext cx="8412480" cy="4754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Bricolage Grotesque"/>
              </a:rPr>
              <a:t>La sobremesa</a:t>
            </a:r>
          </a:p>
        </p:txBody>
      </p:sp>
      <p:sp>
        <p:nvSpPr>
          <p:cNvPr id="7" name="Badges"/>
          <p:cNvSpPr txBox="1"/>
          <p:nvPr/>
        </p:nvSpPr>
        <p:spPr>
          <a:xfrm>
            <a:off x="9052560" y="256032"/>
            <a:ext cx="2651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r"/>
            <a:r>
              <a:rPr sz="1000">
                <a:solidFill>
                  <a:srgbClr val="E4F4EE"/>
                </a:solidFill>
                <a:latin typeface="Inter"/>
              </a:rPr>
              <a:t>👨‍👩‍👧 En grupos</a:t>
            </a:r>
          </a:p>
          <a:p>
            <a:pPr algn="r"/>
            <a:r>
              <a:rPr sz="1000">
                <a:solidFill>
                  <a:srgbClr val="E4F4EE"/>
                </a:solidFill>
                <a:latin typeface="Inter"/>
              </a:rPr>
              <a:t>± 15 min · ★★★</a:t>
            </a:r>
          </a:p>
        </p:txBody>
      </p:sp>
      <p:sp>
        <p:nvSpPr>
          <p:cNvPr id="8" name="Gancho"/>
          <p:cNvSpPr txBox="1"/>
          <p:nvPr/>
        </p:nvSpPr>
        <p:spPr>
          <a:xfrm>
            <a:off x="457200" y="1225296"/>
            <a:ext cx="11274552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600" b="1">
                <a:solidFill>
                  <a:srgbClr val="157355"/>
                </a:solidFill>
                <a:latin typeface="Bricolage Grotesque"/>
              </a:rPr>
              <a:t>Habéis cenado bien. Ahora llega la cuenta.</a:t>
            </a:r>
          </a:p>
          <a:p>
            <a:pPr algn="l"/>
            <a:r>
              <a:rPr sz="1100" i="1">
                <a:solidFill>
                  <a:srgbClr val="6A6E78"/>
                </a:solidFill>
                <a:latin typeface="Inter"/>
              </a:rPr>
              <a:t>Jullie hebben goed gegeten. Nu komt de rekening.</a:t>
            </a:r>
          </a:p>
        </p:txBody>
      </p:sp>
      <p:sp>
        <p:nvSpPr>
          <p:cNvPr id="9" name="ReglaCaja"/>
          <p:cNvSpPr/>
          <p:nvPr/>
        </p:nvSpPr>
        <p:spPr>
          <a:xfrm>
            <a:off x="457200" y="1847088"/>
            <a:ext cx="11274552" cy="658368"/>
          </a:xfrm>
          <a:prstGeom prst="roundRect">
            <a:avLst>
              <a:gd name="adj" fmla="val 5000"/>
            </a:avLst>
          </a:prstGeom>
          <a:solidFill>
            <a:srgbClr val="FB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glaTxt"/>
          <p:cNvSpPr txBox="1"/>
          <p:nvPr/>
        </p:nvSpPr>
        <p:spPr>
          <a:xfrm>
            <a:off x="603504" y="1883664"/>
            <a:ext cx="10972800" cy="58521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B7860B"/>
                </a:solidFill>
                <a:latin typeface="Inter"/>
              </a:rPr>
              <a:t>LA REGLA DEL RETO</a:t>
            </a:r>
          </a:p>
          <a:p>
            <a:pPr algn="l"/>
            <a:r>
              <a:rPr sz="1100">
                <a:solidFill>
                  <a:srgbClr val="20242E"/>
                </a:solidFill>
                <a:latin typeface="Inter"/>
              </a:rPr>
              <a:t>Je geheime instructie moet je volgen, maar je mag ze niet uitspreken. Wie zegt «ik heb weinig geld», heeft verloren — je moet het láten merken.</a:t>
            </a:r>
          </a:p>
        </p:txBody>
      </p:sp>
      <p:sp>
        <p:nvSpPr>
          <p:cNvPr id="11" name="Tarjeta 0"/>
          <p:cNvSpPr/>
          <p:nvPr/>
        </p:nvSpPr>
        <p:spPr>
          <a:xfrm>
            <a:off x="457200" y="2670048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arjetaTxt 0"/>
          <p:cNvSpPr txBox="1"/>
          <p:nvPr/>
        </p:nvSpPr>
        <p:spPr>
          <a:xfrm>
            <a:off x="548640" y="2724912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La cuenta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sopa de tortilla — 45 pesos</a:t>
            </a:r>
          </a:p>
        </p:txBody>
      </p:sp>
      <p:sp>
        <p:nvSpPr>
          <p:cNvPr id="13" name="Tarjeta 1"/>
          <p:cNvSpPr/>
          <p:nvPr/>
        </p:nvSpPr>
        <p:spPr>
          <a:xfrm>
            <a:off x="3312414" y="2670048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arjetaTxt 1"/>
          <p:cNvSpPr txBox="1"/>
          <p:nvPr/>
        </p:nvSpPr>
        <p:spPr>
          <a:xfrm>
            <a:off x="3403854" y="2724912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La cuenta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dos quesadillas — 120 pesos</a:t>
            </a:r>
          </a:p>
        </p:txBody>
      </p:sp>
      <p:sp>
        <p:nvSpPr>
          <p:cNvPr id="15" name="Tarjeta 2"/>
          <p:cNvSpPr/>
          <p:nvPr/>
        </p:nvSpPr>
        <p:spPr>
          <a:xfrm>
            <a:off x="6167628" y="2670048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arjetaTxt 2"/>
          <p:cNvSpPr txBox="1"/>
          <p:nvPr/>
        </p:nvSpPr>
        <p:spPr>
          <a:xfrm>
            <a:off x="6259068" y="2724912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La cuenta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tacos al pastor — 95 pesos</a:t>
            </a:r>
          </a:p>
        </p:txBody>
      </p:sp>
      <p:sp>
        <p:nvSpPr>
          <p:cNvPr id="17" name="Tarjeta 3"/>
          <p:cNvSpPr/>
          <p:nvPr/>
        </p:nvSpPr>
        <p:spPr>
          <a:xfrm>
            <a:off x="9022842" y="2670048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arjetaTxt 3"/>
          <p:cNvSpPr txBox="1"/>
          <p:nvPr/>
        </p:nvSpPr>
        <p:spPr>
          <a:xfrm>
            <a:off x="9114282" y="2724912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La cuenta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tres horchatas — 75 pesos</a:t>
            </a:r>
          </a:p>
        </p:txBody>
      </p:sp>
      <p:sp>
        <p:nvSpPr>
          <p:cNvPr id="19" name="Tarjeta 4"/>
          <p:cNvSpPr/>
          <p:nvPr/>
        </p:nvSpPr>
        <p:spPr>
          <a:xfrm>
            <a:off x="457200" y="3696462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arjetaTxt 4"/>
          <p:cNvSpPr txBox="1"/>
          <p:nvPr/>
        </p:nvSpPr>
        <p:spPr>
          <a:xfrm>
            <a:off x="548640" y="3751326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La cuenta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flan — 40 pesos</a:t>
            </a:r>
          </a:p>
        </p:txBody>
      </p:sp>
      <p:sp>
        <p:nvSpPr>
          <p:cNvPr id="21" name="Tarjeta 5"/>
          <p:cNvSpPr/>
          <p:nvPr/>
        </p:nvSpPr>
        <p:spPr>
          <a:xfrm>
            <a:off x="3312414" y="3696462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arjetaTxt 5"/>
          <p:cNvSpPr txBox="1"/>
          <p:nvPr/>
        </p:nvSpPr>
        <p:spPr>
          <a:xfrm>
            <a:off x="3403854" y="3751326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La cuenta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propina — 40 pesos</a:t>
            </a:r>
          </a:p>
        </p:txBody>
      </p:sp>
      <p:sp>
        <p:nvSpPr>
          <p:cNvPr id="23" name="Tarjeta 6"/>
          <p:cNvSpPr/>
          <p:nvPr/>
        </p:nvSpPr>
        <p:spPr>
          <a:xfrm>
            <a:off x="6167628" y="3696462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arjetaTxt 6"/>
          <p:cNvSpPr txBox="1"/>
          <p:nvPr/>
        </p:nvSpPr>
        <p:spPr>
          <a:xfrm>
            <a:off x="6259068" y="3751326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TOTAL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415 pesos</a:t>
            </a:r>
          </a:p>
        </p:txBody>
      </p:sp>
      <p:sp>
        <p:nvSpPr>
          <p:cNvPr id="25" name="Tarjeta 7"/>
          <p:cNvSpPr/>
          <p:nvPr/>
        </p:nvSpPr>
        <p:spPr>
          <a:xfrm>
            <a:off x="9022842" y="3696462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arjetaTxt 7"/>
          <p:cNvSpPr txBox="1"/>
          <p:nvPr/>
        </p:nvSpPr>
        <p:spPr>
          <a:xfrm>
            <a:off x="9114282" y="3751326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Diego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Estás sin dinero, pero te da vergüenza decirlo.</a:t>
            </a:r>
          </a:p>
        </p:txBody>
      </p:sp>
      <p:sp>
        <p:nvSpPr>
          <p:cNvPr id="27" name="Tarjeta 8"/>
          <p:cNvSpPr/>
          <p:nvPr/>
        </p:nvSpPr>
        <p:spPr>
          <a:xfrm>
            <a:off x="457200" y="4722876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arjetaTxt 8"/>
          <p:cNvSpPr txBox="1"/>
          <p:nvPr/>
        </p:nvSpPr>
        <p:spPr>
          <a:xfrm>
            <a:off x="548640" y="4777740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Valen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Quieres invitar a todos, pero sin ofender a nadie.</a:t>
            </a:r>
          </a:p>
        </p:txBody>
      </p:sp>
      <p:sp>
        <p:nvSpPr>
          <p:cNvPr id="29" name="Tarjeta 9"/>
          <p:cNvSpPr/>
          <p:nvPr/>
        </p:nvSpPr>
        <p:spPr>
          <a:xfrm>
            <a:off x="3312414" y="4722876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arjetaTxt 9"/>
          <p:cNvSpPr txBox="1"/>
          <p:nvPr/>
        </p:nvSpPr>
        <p:spPr>
          <a:xfrm>
            <a:off x="3403854" y="4777740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Nina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Solo has comido el flan. No quieres pagar lo demás.</a:t>
            </a:r>
          </a:p>
        </p:txBody>
      </p:sp>
      <p:sp>
        <p:nvSpPr>
          <p:cNvPr id="31" name="Tarjeta 10"/>
          <p:cNvSpPr/>
          <p:nvPr/>
        </p:nvSpPr>
        <p:spPr>
          <a:xfrm>
            <a:off x="6167628" y="4722876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arjetaTxt 10"/>
          <p:cNvSpPr txBox="1"/>
          <p:nvPr/>
        </p:nvSpPr>
        <p:spPr>
          <a:xfrm>
            <a:off x="6259068" y="4777740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Tú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Has olvidado la cartera en casa. De verdad.</a:t>
            </a:r>
          </a:p>
        </p:txBody>
      </p:sp>
      <p:sp>
        <p:nvSpPr>
          <p:cNvPr id="33" name="Tarjeta 11"/>
          <p:cNvSpPr/>
          <p:nvPr/>
        </p:nvSpPr>
        <p:spPr>
          <a:xfrm>
            <a:off x="9022842" y="4722876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arjetaTxt 11"/>
          <p:cNvSpPr txBox="1"/>
          <p:nvPr/>
        </p:nvSpPr>
        <p:spPr>
          <a:xfrm>
            <a:off x="9114282" y="4777740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Yo pago …</a:t>
            </a:r>
          </a:p>
        </p:txBody>
      </p:sp>
      <p:sp>
        <p:nvSpPr>
          <p:cNvPr id="35" name="Tarjeta 12"/>
          <p:cNvSpPr/>
          <p:nvPr/>
        </p:nvSpPr>
        <p:spPr>
          <a:xfrm>
            <a:off x="457200" y="5749290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arjetaTxt 12"/>
          <p:cNvSpPr txBox="1"/>
          <p:nvPr/>
        </p:nvSpPr>
        <p:spPr>
          <a:xfrm>
            <a:off x="548640" y="5804154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Yo solo he tomado …</a:t>
            </a:r>
          </a:p>
        </p:txBody>
      </p:sp>
      <p:sp>
        <p:nvSpPr>
          <p:cNvPr id="37" name="Tarjeta 13"/>
          <p:cNvSpPr/>
          <p:nvPr/>
        </p:nvSpPr>
        <p:spPr>
          <a:xfrm>
            <a:off x="3312414" y="5749290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arjetaTxt 13"/>
          <p:cNvSpPr txBox="1"/>
          <p:nvPr/>
        </p:nvSpPr>
        <p:spPr>
          <a:xfrm>
            <a:off x="3403854" y="5804154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¿Y si …?</a:t>
            </a:r>
          </a:p>
        </p:txBody>
      </p:sp>
      <p:sp>
        <p:nvSpPr>
          <p:cNvPr id="39" name="Tarjeta 14"/>
          <p:cNvSpPr/>
          <p:nvPr/>
        </p:nvSpPr>
        <p:spPr>
          <a:xfrm>
            <a:off x="6167628" y="5749290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arjetaTxt 14"/>
          <p:cNvSpPr txBox="1"/>
          <p:nvPr/>
        </p:nvSpPr>
        <p:spPr>
          <a:xfrm>
            <a:off x="6259068" y="5804154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No hace falta, de verdad.</a:t>
            </a:r>
          </a:p>
        </p:txBody>
      </p:sp>
      <p:sp>
        <p:nvSpPr>
          <p:cNvPr id="41" name="Tarjeta 15"/>
          <p:cNvSpPr/>
          <p:nvPr/>
        </p:nvSpPr>
        <p:spPr>
          <a:xfrm>
            <a:off x="9022842" y="5749290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arjetaTxt 15"/>
          <p:cNvSpPr txBox="1"/>
          <p:nvPr/>
        </p:nvSpPr>
        <p:spPr>
          <a:xfrm>
            <a:off x="9114282" y="5804154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Entonces la próxima vez invito yo.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