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TITLE. Parada 5 = México (CDMX): cruzamos el charco. Gastheer = Diego. Doel: comida/bebida benoemen, cantidades (mucho/poco/un poco de · un kilo de), el futuro próximo (ir a + infinitivo), pedir con cortesía (¿me pone…?/para mí…) en la cuenta, en de OD-aanzet lo/la/los/las (la cuenta → la traigo). Kernvalstrik: much-A fruta ≠ mucho; voy A comer (a niet vergeten). Docentdeck = vrije navigatie + oplossing in notities; leerlingdeck (.pptx, F5) = elke klik onthult het volgende antwoord.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LESSON_MENU. Elke tegel = hyperlink; op elke oefendia staat ⌂ Menú terug. Richttijd 50 min. Begin bij §1 (cantidades) → §3 (pedir) = het hart van de unit. Kruisverwijzing print/HTML: «oefen online — 17 juegos».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VOCABULARY. Toon per cluster (comida/bebida/fruta/verdura/mesa). Laat raden zónder de NL-gloss. Online: flip cards + Memoria de la comida + Fruta y verdura + ¿comida o bebida?</a:t>
            </a:r>
          </a:p>
          <a:p/>
          <a:p>
            <a:r>
              <a:t>— SOLUCIÓN (docent · presenter view) —</a:t>
            </a:r>
          </a:p>
          <a:p>
            <a:r>
              <a:t>🔴 Cantidad concuerda: muchO pan · muchA fruta · muchOS tomates · muchAS manzanas.</a:t>
            </a:r>
          </a:p>
          <a:p>
            <a:r>
              <a:t>un poco de + niet-telbaar (queso, leche, agua) — verandert nooit.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(color-coding). Maak concordantie fysiek zichtbaar. Truc: kijk naar geslacht + aantal. Kleur nooit als enige drager. Online: «¿mucho, mucha, muchos o muchas?» (classify) + cantidades Tetris.</a:t>
            </a:r>
          </a:p>
          <a:p/>
          <a:p>
            <a:r>
              <a:t>— SOLUCIÓN (docent · presenter view) —</a:t>
            </a:r>
          </a:p>
          <a:p>
            <a:r>
              <a:t>Regla: mucho/-a/-os/-as past aan bij het woord · un poco de blijft gelijk (niet-telbaar) · envases: un kilo/una botella/un paquete 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(reveal). Laat de klas eerst kiezen, klik dan. Online: «cantidad» (classify) + cantidades Tetris.</a:t>
            </a:r>
          </a:p>
          <a:p/>
          <a:p>
            <a:r>
              <a:t>— SOLUCIÓN (docent · presenter view) —</a:t>
            </a:r>
          </a:p>
          <a:p>
            <a:r>
              <a:t>mucho/-a = enkelvoud (m/v) · muchos/-as = meervoud (m/v). Kijk naar het lidwoord: el/la · los/las.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ir a + inf. Onthul per kaart; laat de vorm voorspellen. Twee delen: ir (vervoegd) + a + infinitief (onveranderd). Online: «completa: ir a + infinitivo» (cloze) + presente-Tetris.</a:t>
            </a:r>
          </a:p>
          <a:p/>
          <a:p>
            <a:r>
              <a:t>— SOLUCIÓN (docent · presenter view) —</a:t>
            </a:r>
          </a:p>
          <a:p>
            <a:r>
              <a:t>🔴 Vergeet de «a» niet: voy A comer (niet «voy comer»). 🔴 Het tweede werkwoord blijft infinitief: voy a COMER. Gebruik: plannen dichtbij.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pedir. Twee rollen fysiek verdelen (klas in camareros/clientes). Onthul per klik. Online: «¿camarero o cliente?» (classify) + «ordena el diálogo» + «¡pide en el restaurante!» (sim).</a:t>
            </a:r>
          </a:p>
          <a:p/>
          <a:p>
            <a:r>
              <a:t>— SOLUCIÓN (docent · presenter view) —</a:t>
            </a:r>
          </a:p>
          <a:p>
            <a:r>
              <a:t>Structuur: de primero (voor) · de segundo (hoofd) · de postre (na) · para beber (drank).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rol (retrieval). Klas roept de rol vóór de klik. Daarna in parejas de scène spelen.</a:t>
            </a:r>
          </a:p>
          <a:p/>
          <a:p>
            <a:r>
              <a:t>— SOLUCIÓN (docent · presenter view) —</a:t>
            </a:r>
          </a:p>
          <a:p>
            <a:r>
              <a:t>Camarero = vraagt (¿qué va a tomar? / ¿y para beber?). Cliente = bestelt (para mí… / ¿me pone…? / la cuenta).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READING (lezen→spreken-keten). Eerst globaal (waarover?), dan scannen. Onthul de antwoorden pas na de klas. Daarna: leerlingen zeggen wat ze «van a pedir» (transfer → Tarea La carta).</a:t>
            </a:r>
          </a:p>
          <a:p/>
          <a:p>
            <a:r>
              <a:t>— SOLUCIÓN (docent · presenter view) —</a:t>
            </a:r>
          </a:p>
          <a:p>
            <a:r>
              <a:t>🎯 Leesdoel: scannen naar platos y precios — niet élk woord begrijpen. Vergelijk met de carta van Lucía.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LISTENING (selectief → spreken). Lees elk pedido voor (of TTS). Klas noteert comida + bebida; onthul per klik. Koppel meteen aan de rollenspel-scène (§3).</a:t>
            </a:r>
          </a:p>
          <a:p/>
          <a:p>
            <a:r>
              <a:t>— SOLUCIÓN (docent · presenter view) —</a:t>
            </a:r>
          </a:p>
          <a:p>
            <a:r>
              <a:t>Modelo-audio (docent leest of TTS): «Para mí, de primero una sopa y de segundo pollo. Para beber, agua.» …</a:t>
            </a:r>
          </a:p>
          <a:p>
            <a:r>
              <a:t>Daarna spreken: leerling speelt de cliente en bestelt zelf.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OD (reveal, A2-aanzet). Coro: klas zegt het woord vóór de klik. Kernidee: lo/la/los/las = «het/ze» + vóór het ww. Online: «¿lo, la, los o las?» (cloze).</a:t>
            </a:r>
          </a:p>
          <a:p/>
          <a:p>
            <a:r>
              <a:t>— SOLUCIÓN (docent · presenter view) —</a:t>
            </a:r>
          </a:p>
          <a:p>
            <a:r>
              <a:t>lo (m.ev.) · la (v.ev.) · los (m.mv.) · las (v.mv.). Het pronomen staat vóór het vervoegde werkwoord — zo herhaal je het voorwerp niet.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SPEAKING (interactie). Automatiseer saludar→pedir→cuenta in rondes met afbouwende steun. Online: recorder (opname + zelfevaluatie). Print blijft bruikbaar zonder opname.</a:t>
            </a:r>
          </a:p>
          <a:p/>
          <a:p>
            <a:r>
              <a:t>— SOLUCIÓN (docent · presenter view) —</a:t>
            </a:r>
          </a:p>
          <a:p>
            <a:r>
              <a:t>Modelo: «Buenas. Para mí, de primero una sopa y de segundo pollo. ¿Me pone agua? … La cuenta, por favor.»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WRITING (lezen→schrijven). Checklist = zichtbare steun; onthul het model pas na het schrijven (retrieval). Nakijkfocus: secties, precios, cortesía. Dit voedt de Tarea «La carta».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 fruta/verdura/mesa. Klik onthult; koppel elk woord aan een cantidad-zin. Volledige set + audio op de digitale pagina (flip cards + memoria).</a:t>
            </a:r>
          </a:p>
          <a:p/>
          <a:p>
            <a:r>
              <a:t>— SOLUCIÓN (docent · presenter view) —</a:t>
            </a:r>
          </a:p>
          <a:p>
            <a:r>
              <a:t>Combineer met cantidad: un kilo de manzanas · muchas uvas · un poco de maíz. Como con tenedor y cuchara.</a:t>
            </a:r>
          </a:p>
          <a:p>
            <a:r>
              <a:t>Los cubiertos: el tenedor, el cuchillo, la cuchara. La mesa: el plato, el vaso, la servilleta.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TALLER. Conectores = ideaal met een receta (guacamole). ñ = spelling-valstrik. Meteen toepassen in de mini-receta. Online: «ordena la receta» + «ordena el diálogo».</a:t>
            </a:r>
          </a:p>
          <a:p/>
          <a:p>
            <a:r>
              <a:t>— SOLUCIÓN (docent · presenter view) —</a:t>
            </a:r>
          </a:p>
          <a:p>
            <a:r>
              <a:t>A: primero → luego/después → por último (voor recepten en stappen).</a:t>
            </a:r>
          </a:p>
          <a:p>
            <a:r>
              <a:t>🔴 B: la ñ klinkt «nj»: piña, niño, caña, año. Verwar niet met n (pena ≠ peña).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CULTURE (identiteit in diversiteit, LPD 5). Onthul per kaart. Vergelijk horarios ES/MX/BE. Bruggetje naar de Tarea La carta. Online: «plato ↔ país» (match).</a:t>
            </a:r>
          </a:p>
          <a:p/>
          <a:p>
            <a:r>
              <a:t>— SOLUCIÓN (docent · presenter view) —</a:t>
            </a:r>
          </a:p>
          <a:p>
            <a:r>
              <a:t>Actividad: schrijf 3 zinnen over een typisch gerecht bij jou thuis (¿qué es? ¿qué lleva? ¿cuándo lo comes?).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interactie. Klas vult de zin vóór de klik. Daarna de rollenspel-scène in parejas.</a:t>
            </a:r>
          </a:p>
          <a:p/>
          <a:p>
            <a:r>
              <a:t>— SOLUCIÓN (docent · presenter view) —</a:t>
            </a:r>
          </a:p>
          <a:p>
            <a:r>
              <a:t>De bestelzinnen: ¿Qué va a tomar? · Para mí… · ¿Me pone…? · La cuenta, por favor · Voy a comer…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FINAL_MISSION (communicatieve eindtaak). Afzender/ontvanger/doel/situatie/resultaat expliciet. Beoordeel met de rúbrica; opname + zelfevaluatie op de digitale pagina. Voeg een mini-encuesta + grafiekje toe (platos favoritos van de klas).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mezcla (retrieval vóór herlezen). Zonder waarschuwing door elkaar. Exit-ticket. Zwakke punten → terug via menu.</a:t>
            </a:r>
          </a:p>
          <a:p/>
          <a:p>
            <a:r>
              <a:t>— SOLUCIÓN (docent · presenter view) —</a:t>
            </a:r>
          </a:p>
          <a:p>
            <a:r>
              <a:t>Alles komt terug: cantidades (concord) · ir a + infinitivo · pedir/cortesía · lo/la/los/las.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FEEDBACK/REPASO. Semáforo = zelfevaluatie. Repaso-drills online (17 spellen). Bruggetje: U6 «De tiendas» — de compras en el mercado: precios, ofertas, regateo.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Alleen in het docentdeck. Volledige LPD-dekking en didactische route staan in het cursusdossier (bron.md).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11.xml"/><Relationship Id="rId7" Type="http://schemas.openxmlformats.org/officeDocument/2006/relationships/slide" Target="slide9.xml"/><Relationship Id="rId8" Type="http://schemas.openxmlformats.org/officeDocument/2006/relationships/slide" Target="slide16.xml"/><Relationship Id="rId9" Type="http://schemas.openxmlformats.org/officeDocument/2006/relationships/slide" Target="slide18.xml"/><Relationship Id="rId10" Type="http://schemas.openxmlformats.org/officeDocument/2006/relationships/slide" Target="slide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Relationship Id="rId4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Relationship Id="rId4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2EB085"/>
                </a:solidFill>
                <a:latin typeface="Bricolage Grotesque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32314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57355"/>
                </a:solidFill>
                <a:latin typeface="Inter"/>
              </a:rPr>
              <a:t>LA RUTA · PARADA 5 · MÉXICO · CDMX 🇲🇽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200" b="1" i="0">
                <a:solidFill>
                  <a:srgbClr val="FFFFFF"/>
                </a:solidFill>
                <a:latin typeface="Bricolage Grotesque"/>
              </a:rPr>
              <a:t>¡Ñam!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E4F4EE"/>
                </a:solidFill>
                <a:latin typeface="Inter"/>
              </a:rPr>
              <a:t>Comida y restaurante: cantidades, «voy a comer» y pedir con cortesía — en la CDMX, con Diego.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Bricolage Grotesque"/>
              </a:rPr>
              <a:t>¿Qué vas a comer hoy?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Wat ga je vandaag eten?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La gente de la ruta — je reisgezellen</a:t>
            </a:r>
          </a:p>
        </p:txBody>
      </p:sp>
      <p:pic>
        <p:nvPicPr>
          <p:cNvPr id="11" name="Picture 10" descr="die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anfitrión</a:t>
            </a:r>
          </a:p>
        </p:txBody>
      </p:sp>
      <p:pic>
        <p:nvPicPr>
          <p:cNvPr id="13" name="Picture 12" descr="lu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5" name="Picture 14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Kies je route — klik een tegel. Alles oefent naar de Tarea «La carta» toe.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3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Cantidades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mucho/poco · un kilo 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4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Voy a comer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ir a + infinitivo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6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5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Pedir · cortesía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¿me pone…? · para mí…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7</a:t>
            </a:r>
          </a:p>
        </p:txBody>
      </p:sp>
      <p:sp>
        <p:nvSpPr>
          <p:cNvPr id="27" name="Rounded Rectangle 26">
            <a:hlinkClick action="ppaction://hlinksldjump" r:id="rId6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6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La cuenta (lo/la)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lo/la/los/las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11</a:t>
            </a:r>
          </a:p>
        </p:txBody>
      </p:sp>
      <p:sp>
        <p:nvSpPr>
          <p:cNvPr id="33" name="Rounded Rectangle 32">
            <a:hlinkClick action="ppaction://hlinksldjump" r:id="rId7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7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Lectura + escucha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dos cartas (menús)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9</a:t>
            </a:r>
          </a:p>
        </p:txBody>
      </p:sp>
      <p:sp>
        <p:nvSpPr>
          <p:cNvPr id="39" name="Rounded Rectangle 38">
            <a:hlinkClick action="ppaction://hlinksldjump" r:id="rId8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8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Cultura · tacos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mercados y horarios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16</a:t>
            </a:r>
          </a:p>
        </p:txBody>
      </p:sp>
      <p:sp>
        <p:nvSpPr>
          <p:cNvPr id="45" name="Rounded Rectangle 44">
            <a:hlinkClick action="ppaction://hlinksldjump" r:id="rId9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9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🍽️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· La carta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je menu + restaurante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18</a:t>
            </a:r>
          </a:p>
        </p:txBody>
      </p:sp>
      <p:sp>
        <p:nvSpPr>
          <p:cNvPr id="51" name="Rounded Rectangle 50">
            <a:hlinkClick action="ppaction://hlinksldjump" r:id="rId10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10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Repaso + semáforo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 esencial · zelfevaluatie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comida y la bebida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woorden van tafel — observa. Herken ze,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comida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eten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1463040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pan · la carne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bebida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drinken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2121408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agua · el zumo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fruta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fruit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779776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manzana · el plátano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verdura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groente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438144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tomate · la lechuga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pollo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kip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40" y="1463040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pescado · el arroz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sopa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soep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78440" y="2121408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ensalada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taco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taco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8440" y="2779776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guacamole 🇲🇽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los cubiertos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bestek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78440" y="3438144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tenedor · cuchillo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Cantidades: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mucho/poco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·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un poco de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·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un kilo de · una botella de · un paquete de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Cantidad concuerda: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muchO pan · muchA fruta · muchOS tomates · muchAS manzanas.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un poco de + niet-telbaar (queso, leche, agua) — verandert nooit.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Cantidades — mucho / poco / un poco 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Kleur = het voorwerp. De cantidad past zich aan (m/v · ev/mv).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0242E"/>
                </a:solidFill>
                <a:latin typeface="Bricolage Grotesque"/>
              </a:rPr>
              <a:t>En el mercado hay </a:t>
            </a:r>
            <a:r>
              <a:rPr sz="2200" b="1" i="0">
                <a:solidFill>
                  <a:srgbClr val="1E9E74"/>
                </a:solidFill>
                <a:latin typeface="Bricolage Grotesque"/>
              </a:rPr>
              <a:t>mucha </a:t>
            </a:r>
            <a:r>
              <a:rPr sz="2200" b="1" i="0">
                <a:solidFill>
                  <a:srgbClr val="14B8A6"/>
                </a:solidFill>
                <a:latin typeface="Bricolage Grotesque"/>
              </a:rPr>
              <a:t>fruta </a:t>
            </a:r>
            <a:r>
              <a:rPr sz="2200" b="1" i="0">
                <a:solidFill>
                  <a:srgbClr val="20242E"/>
                </a:solidFill>
                <a:latin typeface="Bricolage Grotesque"/>
              </a:rPr>
              <a:t>y </a:t>
            </a:r>
            <a:r>
              <a:rPr sz="2200" b="1" i="0">
                <a:solidFill>
                  <a:srgbClr val="1E9E74"/>
                </a:solidFill>
                <a:latin typeface="Bricolage Grotesque"/>
              </a:rPr>
              <a:t>muchos </a:t>
            </a:r>
            <a:r>
              <a:rPr sz="2200" b="1" i="0">
                <a:solidFill>
                  <a:srgbClr val="14B8A6"/>
                </a:solidFill>
                <a:latin typeface="Bricolage Grotesque"/>
              </a:rPr>
              <a:t>tomates,</a:t>
            </a:r>
            <a:r>
              <a:rPr sz="2200" b="1" i="0">
                <a:solidFill>
                  <a:srgbClr val="20242E"/>
                </a:solidFill>
                <a:latin typeface="Bricolage Grotesque"/>
              </a:rPr>
              <a:t> pero solo </a:t>
            </a:r>
            <a:r>
              <a:rPr sz="2200" b="1" i="0">
                <a:solidFill>
                  <a:srgbClr val="1E9E74"/>
                </a:solidFill>
                <a:latin typeface="Bricolage Grotesque"/>
              </a:rPr>
              <a:t>un poco de </a:t>
            </a:r>
            <a:r>
              <a:rPr sz="2200" b="1" i="0">
                <a:solidFill>
                  <a:srgbClr val="14B8A6"/>
                </a:solidFill>
                <a:latin typeface="Bricolage Grotesque"/>
              </a:rPr>
              <a:t>queso.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La concordancia — ¿qué forma?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mucho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329184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+ m. ev. (pan, arroz)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mucha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396849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+ v. ev. (fruta, leche)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muchos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464515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+ m. mv. (tomates)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muchas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29184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+ v. mv. (manzanas)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un poco 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396849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niet-telbaar (queso)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un kilo 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464515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envase + producto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1208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mucho/-a/-os/-as past aan bij het woord · un poco de blijft gelijk (niet-telbaar) · envases: un kilo/una botella/un paquete de.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08406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¿mucho, mucha, muchos o muchas?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woord → de juiste vorm verschijnt. Kijk naar m/v en ev/mv.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___ pan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554480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mucho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m. ev.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___ fruta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59152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mucha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v. ev.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___ tomates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163824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muchos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m. mv.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___ manzanas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1554480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muchas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v. mv.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59152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___ leche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359152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mucha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v. ev.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163824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___ huevos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3163824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muchos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m. mv.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8056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mucho/-a =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enkelvoud (m/v) ·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muchos/-as =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meervoud (m/v). Kijk naar het lidwoord: el/la · los/las.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Voy a comer — ir a + infinitivo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kolomkop → de vormen verschijnen. Fórmula: ir (presente) + a + infinitivo.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La fórmula: </a:t>
            </a:r>
            <a:r>
              <a:rPr sz="1400" b="1" i="0">
                <a:solidFill>
                  <a:srgbClr val="EA7317"/>
                </a:solidFill>
                <a:latin typeface="Inter"/>
              </a:rPr>
              <a:t>ir (voy, vas, va…) </a:t>
            </a:r>
            <a:r>
              <a:rPr sz="1400" b="1" i="0">
                <a:solidFill>
                  <a:srgbClr val="7C3AED"/>
                </a:solidFill>
                <a:latin typeface="Inter"/>
              </a:rPr>
              <a:t>+ a + </a:t>
            </a:r>
            <a:r>
              <a:rPr sz="1400" b="1" i="0">
                <a:solidFill>
                  <a:srgbClr val="1E9E74"/>
                </a:solidFill>
                <a:latin typeface="Inter"/>
              </a:rPr>
              <a:t>infinitivo</a:t>
            </a:r>
            <a:r>
              <a:rPr sz="1400" b="0" i="0">
                <a:solidFill>
                  <a:srgbClr val="20242E"/>
                </a:solidFill>
                <a:latin typeface="Inter"/>
              </a:rPr>
              <a:t>   →   Voy a comer un taco.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201168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yo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5059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voy a…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01168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12140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tú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45059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vas a…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1168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12140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él/ella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45059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va a…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324612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335584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nosotros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8503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vamos a…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324612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35584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vosotros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68503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vais a…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24612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35584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ellos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8503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van a…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12064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Vergeet de «a» niet: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voy A comer (niet «voy comer»). 🔴 Het tweede werkwoord blijft infinitief: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voy a COMER</a:t>
            </a:r>
            <a:r>
              <a:rPr sz="1200" b="0" i="0">
                <a:solidFill>
                  <a:srgbClr val="157355"/>
                </a:solidFill>
                <a:latin typeface="Inter"/>
              </a:rPr>
              <a:t>. Gebruik: plannen dichtbij.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9926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061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GRAMÁTICA · 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Pedir con cortesía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Twee rollen. Klik een kaart → wie zegt het. Camarero pregunta, cliente pide.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755648"/>
            <a:ext cx="1128369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🧑‍🍳 Camarero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¿Qué va a tomar?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B7860B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755648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🙋 Cliente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03120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Para mí, una sopa.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24912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834640"/>
            <a:ext cx="1128369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🧑‍🍳 Camarero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82112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¿Y para beber?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24912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B7860B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283464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🙋 Cliente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82112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¿Me pone agua?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03904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3913632"/>
            <a:ext cx="1128369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🧑‍🍳 Camarero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61104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¡Que aproveche!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803904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B7860B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3913632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🙋 Cliente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261104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La cuenta, por favor.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Pide con cortesía: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Para mí… / ¿Me pone…? / ¿Me trae…? + por favor. Niet enkel «quiero».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57784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Structuur: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de primero (voor) · de segundo (hoofd) · de postre (na) · para beber (drank).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4498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¿Camarero o cliente?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zin → wie het zegt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¿Qué va a tomar?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600200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el camarero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Para mí, una sopa.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478024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el cliente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¿Y para beber?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355848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el camarero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¿Me pone un refresco?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1600200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el cliente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¡Que aproveche!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478024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el camarero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La cuenta, por favor.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3355848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el cliente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Camarero = vraagt (¿qué va a tomar? / ¿y para beber?).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Cliente = bestelt (para mí… / ¿me pone…? / la cuenta).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§5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carta de Diego (menú)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Lees en beantwoord.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e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1005840" cy="1005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20240" y="1828800"/>
            <a:ext cx="347472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20242E"/>
                </a:solidFill>
                <a:latin typeface="Inter"/>
              </a:rPr>
              <a:t>«Para empezar: guacamole con nachos (5 €) y elote (4 €). Platos fuertes: tacos de pollo (8 €), ceviche (10 €). Para terminar: flan (3 €), piña con lima (3 €).»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¿Qué hay para empezar?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Guacamole con nachos / elote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¿Cuánto cuestan los tacos?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8 €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¿El ceviche es un plato fuerte?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Sí, cuesta 10 €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¿Qué hay de postre?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Flan / piña con lima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🎯 Leesdoel: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scannen naar platos y precios — niet élk woord begrijpen. Vergelijk met de carta van Lucía.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5038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ESCUCHAR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Escucha el pedido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Vier clientes piden. Klik un nombre → wat ze bestellen. (audio op de digitale pagina)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Leo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Come: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sopa + pollo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Bebe: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agua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Frida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Come: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tacos de pollo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Bebe: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refresco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Mateo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Come: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ensalada + pescado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Bebe: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zumo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Sara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Come: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guacamole + ceviche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Bebe: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agua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9" name="Rounded Rectangle 3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Modelo-audio (docent leest of TTS):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«Para mí, de primero una sopa y de segundo pollo. Para beber, agua.» …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Daarna spreken: leerling speelt de cliente en bestelt zelf.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cuenta → la traigo (lo/la/los/las)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woord → het pronomen verschijnt. Vervang het voorwerp, niet herhalen.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el pan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→ lo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la cuenta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→ la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los tacos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→ los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las gambas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→ las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el postre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→ lo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la carta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→ 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🟡 Vóór het werkwoord: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¿La cuenta? → La traigo.   ¿Los tacos? → Los quiero.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25780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lo (m.ev.) · la (v.ev.) · los (m.mv.) · las (v.mv.).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Het pronomen staat vóór het vervoegde werkwoord — zo herhaal je het voorwerp niet.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1297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¡Pide en el restaurante!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Speel de scène met de zinnen. Steun bouwt af: kaarten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Saludar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Buenas tardes.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Pedir 1º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De primero, 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Pedir 2º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De segundo, 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Pedir bebida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¿Me pone…?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Pedir la cuenta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La cuenta, por favor.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Cerrar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Gracias.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kaarten.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alleen beginwoorden.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hoofd, ander pedido.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 en de digitale pagina.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51960"/>
            <a:ext cx="4240987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🎙️ Grábate online · «Mensaje de voz: pide comida»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«Buenas. Para mí, de primero una sopa y de segundo pollo. ¿Me pone agua? … La cuenta, por favor.»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MODELO · docent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carta (menú)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Ontwerp je menu.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✍️ Escribe aquí tu carta: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de primero … (precio)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de segundo … (precio)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de postre … (precio)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para beber … (precio)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cortesía: para mí / ¿me pone?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plato de tu país/estilo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«El Sabor de Diego. De primero: guacamole (5 €). De segundo: tacos de pollo (8 €). De postre: flan (3 €). Para beber: refresco (2 €).»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061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VOCABULARIO · MERCADO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Fruta, verdura y la mesa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woord → de vertaling verschijnt. Bouw je woordnetwerk.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manzana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appel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plátano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banaan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las uvas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druiven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piña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ananas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tomate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tomaat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lechuga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sla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cebolla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ui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maíz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maïs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plato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bord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vaso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glas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tenedor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vork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cuchara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lepel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Combineer met cantidad: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un kilo de manzanas · muchas uvas · un poco de maíz. Como con tenedor y cuchara.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Los cubiertos: el tenedor, el cuchillo, la cuchara. La mesa: el plato, el vaso, la servilleta.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Conectores de secuencia + ortografía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item → correcte vorm. Gereedschap voor recepten en spelling.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A · conectores: primero · luego · después · por último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, corta el tomate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783080"/>
            <a:ext cx="18288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Primero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, añade la 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441448"/>
            <a:ext cx="18288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Luego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, espera 15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099816"/>
            <a:ext cx="18288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Después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, ¡a comer!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758184"/>
            <a:ext cx="18288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Por último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B · ortografía: ¿n o ñ?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la pi__a (ananas)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178308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ñ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piña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ni__o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44144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ñ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niño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la ca__a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09981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ñ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caña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a__o (jaar)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375818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ñ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año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primero → luego/después → por último (voor recepten en stappen).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B: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la ñ klinkt «nj»: piña, niño, caña, año. Verwar niet met n (pena ≠ peña).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CULTURA · PARADA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Tacos, mercados y horarios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het weetje verschijnt. La comida une al mundo hispano.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🌮 El taco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maíz, con carne, verdura y salsa. En la CDMX hay taquerías por todas partes: al pastor, de pollo, de pescado.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El taco = het hart van de Mexicaanse keuken.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🏪 Los mercados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Compras fruta, verdura y comida fresca. Regatear el precio es normal. Colores, olores y mucha vida.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De plek om cantidades te oefenen.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🕐 Horarios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España cena muy tarde (21:30). México y Bélgica un poco antes. Contraste: paella 🇪🇸 · tacos 🇲🇽 · arepa 🇨🇴 · ceviche 🇵🇪.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No comas a las 18:00 en Madrid.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schrijf 3 zinnen over een typisch gerecht bij jou thuis (¿qué es? ¿qué lleva? ¿cuándo lo comes?).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QUIZ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el pedido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Wat past? Klik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¿Qué va a ___? (nemen)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600200"/>
            <a:ext cx="1920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tomar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mí, una sopa.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478024"/>
            <a:ext cx="1920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Para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¿Me ___ agua? (serveren)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355848"/>
            <a:ext cx="1920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La ___, por favor.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1600200"/>
            <a:ext cx="1920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cuenta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Voy ___ comer un taco.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478024"/>
            <a:ext cx="1920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___, un flan. (na)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3355848"/>
            <a:ext cx="1920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postre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De bestelzinnen: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¿Qué va a tomar? · Para mí… · ¿Me pone…? · La cuenta, por favor · Voy a comer…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Bricolage Grotesque"/>
              </a:rPr>
              <a:t>🍽️ Tarea final · La carta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Maak de carta van je eigen restaurante y representa la escena camarero ↔ cliente.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Elige un nombre y estilo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554480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mexicano, español…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Rellena la carta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21408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primeros · segundos · postres · bebidas + precios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Escribe el diálogo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88336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saludar → pedir → ¡que aproveche! → la cuenta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Representa la escena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255264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en pareja (of neem audio op)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Recomienda un plato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822192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«Le recomiendo…» según los gustos del cliente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4 secties + precios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cortesía (para mí/¿me pone?)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voy a pedir + la cuenta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representar la escena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(het restaurant) · ontvanger de cliente · doel een menu aanbieden &amp; een pedido opnemen · situatie un restaurante en CDMX · resultaat: carta + gespeelde dialoog.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Gemengde ophaal van de hele unit. Klik een vraag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fruta (veel)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600200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mucha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tomates (veel)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313432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muchos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ir, yo → futuro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026664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voy 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ir, nosotros → futuro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739896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vamos 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bestellen: «para ___»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1600200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mí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¿Me ___ agua? (serveren)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313432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¿La cuenta? → ___ traigo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026664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la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Voy ___ comer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739896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cantidades (concord) · ir a + infinitivo · pedir/cortesía · lo/la/los/las.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volledige herhaling (17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Cantidades: mucho/-a/-os/-as (past aan) · un poco de (blijft gelijk) · un kilo/una botella/un paquete 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Futuro próximo: ir (voy, vas, va, vamos, vais, van) + a + infinitivo: «Voy a comer».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Pedir con cortesía: ¿Qué va a tomar? · Para mí… · ¿Me pone…? · La cuenta, por favor. De primero/segundo/postre.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lo/la/los/las: ¿La cuenta? → La traigo. ¿Los tacos? → Los quiero (vóór het werkwoord).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muchA fruta ≠ mucho · voy A comer · pide con cortesía (niet enkel «quiero») · la ñ (piña).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comida/bebida benoemen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cantidades (mucho/un kilo de)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voy a comer (ir a + inf.)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pedir + la cuenta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lo/la/los/las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TEACHER_NOTES · U5 «¡Ñam!»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Timing (50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Menu 2' · cantidades 10' · ir a + inf. 8' · pedir/cortesía 10' · lo/la/los/las 6' · lectura/escucha 8' · cultura 3' · Tarea-briefing 3'.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04288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Kernvalstrikken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muchA fruta ≠ mucho (concord) · un poco de blijft gelijk · voy A comer (a niet vergeten) · 2e ww = infinitief · pide con cortesía (para mí/¿me pone?) · lo/la/los/las vóór het ww · la ñ (piña).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28416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01568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Differentiatie (zij-instromers)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8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Alles start vanaf nul. Sterker: hele restaurantscène + eigen carta + recomendar. Zwakker: cantidad-kaart en ir-tabel langer open, cortesía-frames houden.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52544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425696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Digitaal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91456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17 spellen + flip cards + klikbare kaart + recorder (Hablar) + Lectura (dos cartas) op de página digital. QR's in het boek → juiste anker. Conjugador = aparte tool.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76672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449824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Evaluatie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15584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Tarea «La carta» met rúbrica (4 criteria). LPD 3·4·7·8 + 5 (cultura) + 1·2 (receptief: lezen/luisteren).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