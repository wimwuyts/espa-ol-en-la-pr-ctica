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video van aflevering 11 komt uit GOOGLE DRIVE (er is voor deze aflevering géén YouTube-link): file-id 1saLd6_-eTVUTVbv1v8KbKwfYp3Ale6-D, deelrechten reader/anyone → INTERNET VEREIST. Klik op de poster om in PowerPoint af te spelen; lukt dat niet, klik dan de knop «▶ Abrir en Drive» (of open https://drive.google.com/file/d/1saLd6_-eTVUTVbv1v8KbKwfYp3Ale6-D/view in een browser). LET OP: in het aangeleverde transcript stonden de sprekerlabels van escena 1 deels verwisseld (bijna alles op «Julio»); de beurten zijn hier gereconstrueerd tot een coherente scène met drie stemmen (Julio · camarero · clienta). Aanpak: eerst één keer kijken zónder transcript (globaal: wie gaat waarheen op vakantie, en welk weer is het daar?), daarna met het transcript. Laat de leerlingen drie kolommen maken: EL TIEMPO (hace buen tiempo · hace un frío · hace mucho viento · hace calor) ↔ LOS GUSTOS (me gusta hacer submarinismo · me gusta el cine · me gusta la ópera · me gusta más el frío) ↔ LA FRECUENCIA (siempre · nunca · a veces · casi nunca · todos los años · tres veces por semana · mucho). Wijs op «A ella también le gusta» — dezelfde chunk met een andere persoon. Doelcodes: C4-LU-1 · C4-STR-1 · C4-WS-1.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Werkvorm: bouw hardop in koor. Wijs blok 1 aan (hace / me gusta / me gustan), dan blok 3, en de klas zegt de volledige zin; klik daarna de zin open ter controle. Kernidee: blok 1 is een VASTE CHUNK en blok 2 zegt wat erop volgt (een naamwoord bij hace; el/la + naamwoord of een infinitivo bij gusta; los/las + meervoud bij gustan). Zo hoeven leerlingen niets te vervoegen (het paradigma van hacer en gustar komt later). Verbind expliciet met U10 (hay que + infinitivo) en U9 (voy a / tengo que): de reeks onveranderlijke vormen groeit — hay · hay que · hace. Let op het lidwoord: «me gusta EL cine» (niet «me gusta cine»). Oplossing: Hace viento. · Me gusta hacer submarinismo. · Me gustan las vacaciones. Doelcodes: C4-WS-1 · C4-SP-2 · C4-TS-3 · C4-MEC-2.</a:t>
            </a:r>
          </a:p>
          <a:p/>
          <a:p>
            <a:r>
              <a:t>— SOLUCIÓN (docent · presenter view) —</a:t>
            </a:r>
          </a:p>
          <a:p>
            <a:r>
              <a:t>Hace viento. · Me gusta hacer submarinismo. · Me gustan las vacaciones.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«hace + sustantivo» is de standaardmanier om over het weer te praten. Presenteer «hace» als ÉÉN onveranderlijke vorm — niet als vervoeging van «hacer» (dat systeem hoort in het 5de jaar, C5). De parallel met «hay» en «hay que» (U10) is didactisch handig: drie vaste vormen zonder persoon. DE VALSTRIK voor Nederlandstaligen: wij zeggen «het IS koud», dus leerlingen produceren spontaan «es frío» of «está frío» — beide fout voor het weer. Zet daar ook meteen het contrast met de persoon naast: «hace frío» (het weer) ↔ «tengo frío» (ík heb het koud, recycling U9 tener + naamwoord); dat onderscheid is een klassieke bron van fouten. Extra chunks: «hace un frío» (met un = versterkend: het is ijskoud) en «demasiado calor» (te warm). Doelcodes: C4-WS-1 · C4-TS-3 · C4-LU-1.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«gustar» werkt omgekeerd aan ons «houden van»: letterlijk «het bevalt mij». Daarom bepaalt HET DING de vorm — niet de spreker. Vuistregel voor de klas: één ding of een heel werkwoord → gusta · meervoud → gustan. TWEE VALSTRIKKEN: (1) nooit «yo gusto el cine» (dat betekent «ik val in de smaak»); (2) de vorm volgt het ding, dus niet «me gusta los deportes». Houd het bij VASTE CHUNKS: me gusta / me gustan / te gusta / le gusta — géén volledig pronomensysteem en géén gustar-paradigma (dat hoort in C6). De reactiechunks (a mí también · a mí tampoco · a mí no · a mí sí) zijn goud voor interactie: laat ze meteen in de enquête gebruiken. Let op: bij een negatieve zin is «tampoco» de juiste reactie — dat is voor Nederlandstaligen niet intuïtief («ik ook niet»). Oplossing: gustan · gusta · sí. Doelcodes: C4-SP-2 · C4-GE-3 · C4-TS-3.</a:t>
            </a:r>
          </a:p>
          <a:p/>
          <a:p>
            <a:r>
              <a:t>— SOLUCIÓN (docent · presenter view) —</a:t>
            </a:r>
          </a:p>
          <a:p>
            <a:r>
              <a:t>gustan · gusta · sí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duo, hardop). Klik daarna de oplossing open. Let op: «hace demasiado calor» — het weer, dus hace; «me gusta más el frío» — één ding; «me gustan mucho» verwijst naar «los deportes» (meervoud!) — precies de valstrik; «tres veces por semana» staat achteraan; «¡a mí también!» reageert op een positieve zin. Oplossing: hace · gusta · gustan · veces · también.</a:t>
            </a:r>
          </a:p>
          <a:p/>
          <a:p>
            <a:r>
              <a:t>— SOLUCIÓN (docent · presenter view) —</a:t>
            </a:r>
          </a:p>
          <a:p>
            <a:r>
              <a:t>1. hace</a:t>
            </a:r>
          </a:p>
          <a:p>
            <a:r>
              <a:t>2. gusta</a:t>
            </a:r>
          </a:p>
          <a:p>
            <a:r>
              <a:t>3. gustan</a:t>
            </a:r>
          </a:p>
          <a:p>
            <a:r>
              <a:t>4. veces</a:t>
            </a:r>
          </a:p>
          <a:p>
            <a:r>
              <a:t>5. también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saLd6_-eTVUTVbv1v8KbKwfYp3Ale6-D/view" TargetMode="External"/><Relationship Id="rId3" Type="http://schemas.openxmlformats.org/officeDocument/2006/relationships/image" Target="../media/image2.png"/><Relationship Id="rId4" Type="http://schemas.openxmlformats.org/officeDocument/2006/relationships/video" Target="https://drive.google.com/file/d/1saLd6_-eTVUTVbv1v8KbKwfYp3Ale6-D/preview" TargetMode="External"/><Relationship Id="rId5" Type="http://schemas.microsoft.com/office/2007/relationships/media" Target="https://drive.google.com/file/d/1saLd6_-eTVUTVbv1v8KbKwfYp3Ale6-D/preview" TargetMode="External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31561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Bricolage Grotesque"/>
              </a:rPr>
              <a:t>El tiempo y los gustos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¡Uh, hace mucho viento!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A mí me gusta más el frío.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Praten over het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weer</a:t>
            </a:r>
            <a:r>
              <a:rPr sz="1600" b="0" i="0">
                <a:solidFill>
                  <a:srgbClr val="FFFFFF"/>
                </a:solidFill>
                <a:latin typeface="Inter"/>
              </a:rPr>
              <a:t>, over wat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graag doet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hoe vaak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(hace frío · me gusta · casi nunca).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in een bar praten Julio en de camarero over hun vakantie… en een clienta mengt zich in het gesprek.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Hablar del tiempo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hace frío · hace calor · hace viento · ¿qué tiempo hace?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Nombrar las estaciones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la primavera · el verano · el otoño · el invierno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Expresar gustos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me gusta el cine ↔ me gustan los deportes · a mí también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con qué frecuencia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siempre · a veces · casi nunca · tres veces por semana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s siempre sorda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La máquina de frases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hace / me gusta / me gustan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tiempo · los gustos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hace + sustantivo · gustar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encuesta de gustos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Cultura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idioma, 21 climas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estación favorita</a:t>
            </a:r>
          </a:p>
        </p:txBody>
      </p:sp>
      <p:sp>
        <p:nvSpPr>
          <p:cNvPr id="35" name="Rounded Rectangle 34">
            <a:hlinkClick action="ppaction://hlinksldjump" r:id="rId11"/>
          </p:cNvPr>
          <p:cNvSpPr/>
          <p:nvPr/>
        </p:nvSpPr>
        <p:spPr>
          <a:xfrm>
            <a:off x="3410712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Het weer «doet» iets: hace frío · hace calor (nooit «es frío»). En bij gustar kiest HET DING de vorm: me gusta el cine ↔ me gustan los deportes.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in de bar gaat het over vakantie, het weer en wat ze graag doen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55448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Ella se va de vacaciones a la playa, a Canarias.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490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76662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Siempre hace buen tiempo en Canarias.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9704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197876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Son cuatro cincuenta.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091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19090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Yo no, yo voy al pueblo de mis padres, en Ávila.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21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240304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Pero hace un frío… Nunca hace ese frío en Madrid.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63346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261518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Lo bueno es que puedes estar con tu familia.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84560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282732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Pasas las fiestas de Navidad con los tuyos: tus tíos, tus cuñados.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0577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303946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A veces te cansas de restaurantes y playas. La familia es para siempre.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698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325160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¿Y tú te quedas en Madrid?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48202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346374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Yo voy todos los años al Caribe.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69416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367588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Es que me gusta hacer submarinismo.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906308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Camarero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632" y="388802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A ella también le gusta hacer submarinismo.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11844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" y="410016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En Ávila es difícil, ¿sabes? Yo voy mucho al cine.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330588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Clienta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431230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Me gusta el cine y me gusta la ópera.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5427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452444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Casi nunca voy a la ópera.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754868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Clienta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7632" y="473658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 los deportes: voy al gimnasio tres veces por semana.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967008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Clienta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" y="494872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¡Uh, hace mucho viento! En invierno hace frío.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179148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Clienta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27632" y="516086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En verano, en cambio, hace calor.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39128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7632" y="537300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A mí me gusta más el frío.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5603428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Clienta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7632" y="5585140"/>
            <a:ext cx="55778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En mi casa hace calor.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 frío · hace calor · hace viento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Siempre hace buen tiempo · en cambio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el cine · me gustan los deportes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 ella también le gusta · me gusta más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siempre · a veces · casi nunca · tres veces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767328"/>
            <a:ext cx="2697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Episodio 11 — klik om af te spelen</a:t>
            </a:r>
          </a:p>
        </p:txBody>
      </p:sp>
      <p:sp>
        <p:nvSpPr>
          <p:cNvPr id="53" name="Rounded Rectangle 52">
            <a:hlinkClick r:id="rId2"/>
          </p:cNvPr>
          <p:cNvSpPr/>
          <p:nvPr/>
        </p:nvSpPr>
        <p:spPr>
          <a:xfrm>
            <a:off x="10241280" y="3739896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▶ Abrir en Drive</a:t>
            </a:r>
          </a:p>
        </p:txBody>
      </p:sp>
      <p:pic>
        <p:nvPicPr>
          <p:cNvPr id="54" name="Picture 53" descr="video_poster_U11.png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s siempre es sorda · el acento en los precios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Spaanse s is altijd scherp — nooit onze 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① La s sorda · siempre /s/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iempre · ca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i · gu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ta · 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tacione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 · vacacione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Zoals in «sok» — nooit zoals onze z in «zomer».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② También la -s del plural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0242E"/>
                </a:solidFill>
                <a:latin typeface="Inter"/>
              </a:rPr>
              <a:t>lo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 año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 · tre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 vece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 · mi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  <a:r>
              <a:rPr sz="1450" b="0" i="0">
                <a:solidFill>
                  <a:srgbClr val="20242E"/>
                </a:solidFill>
                <a:latin typeface="Inter"/>
              </a:rPr>
              <a:t> primo</a:t>
            </a:r>
            <a:r>
              <a:rPr sz="1450" b="1" i="0">
                <a:solidFill>
                  <a:srgbClr val="D64550"/>
                </a:solidFill>
                <a:latin typeface="Inter"/>
              </a:rPr>
              <a:t>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Ook tussen twee klinkers blijft ze scherp: «los años», niet «loz añoz».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Nederlandstaligen maken van «lo</a:t>
            </a:r>
            <a:r>
              <a:rPr sz="1300" b="1" i="0">
                <a:solidFill>
                  <a:srgbClr val="A8323B"/>
                </a:solidFill>
                <a:latin typeface="Inter"/>
              </a:rPr>
              <a:t>s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año</a:t>
            </a:r>
            <a:r>
              <a:rPr sz="1300" b="1" i="0">
                <a:solidFill>
                  <a:srgbClr val="A8323B"/>
                </a:solidFill>
                <a:latin typeface="Inter"/>
              </a:rPr>
              <a:t>s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» vaak «lo</a:t>
            </a:r>
            <a:r>
              <a:rPr sz="1300" b="1" i="0">
                <a:solidFill>
                  <a:srgbClr val="DC2626"/>
                </a:solidFill>
                <a:latin typeface="Inter"/>
              </a:rPr>
              <a:t>z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año</a:t>
            </a:r>
            <a:r>
              <a:rPr sz="1300" b="1" i="0">
                <a:solidFill>
                  <a:srgbClr val="DC2626"/>
                </a:solidFill>
                <a:latin typeface="Inter"/>
              </a:rPr>
              <a:t>z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». Herhaling U3: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c+e/i en z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klinken in Spanje als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/θ/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(cielo · cinco · doce · zona).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③ El acento en los precios · uit de scène: «Son cuatro cincuenta»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0242E"/>
                </a:solidFill>
                <a:latin typeface="Bricolage Grotesque"/>
              </a:rPr>
              <a:t>cua·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TRO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 cin·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CUEN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·ta      vein·ti·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CIN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·co      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TREIN</a:t>
            </a:r>
            <a:r>
              <a:rPr sz="1900" b="0" i="0">
                <a:solidFill>
                  <a:srgbClr val="20242E"/>
                </a:solidFill>
                <a:latin typeface="Bricolage Grotesque"/>
              </a:rPr>
              <a:t>·ta y </a:t>
            </a:r>
            <a:r>
              <a:rPr sz="1900" b="1" i="0">
                <a:solidFill>
                  <a:srgbClr val="D64550"/>
                </a:solidFill>
                <a:latin typeface="Bricolage Grotesque"/>
              </a:rPr>
              <a:t>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42432"/>
            <a:ext cx="11155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Getallen op -enta hebben de klemtoon op die lettergreep: cin·CUEN·ta · se·SEN·ta · o·CHEN·ta.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 — daar staat ook het dictado de precios.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LA MÁQUINA DE FRASES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Hace / Me gusta / Me gustan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Drie formules — klik en de zin verschijnt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517904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664208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Hace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weer «doet»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517904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1664208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517904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664208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frío · calor · viento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73936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517904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Hace frío.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Het is koud.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414016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560320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Me gusta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1 ding / werkwoord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414016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2560320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414016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560320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el cine · hacer yoga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70048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414016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Me gusta el cine.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hou van film.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310128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56432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Me gustan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meervoud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310128"/>
            <a:ext cx="2834640" cy="841248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3456432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10128"/>
            <a:ext cx="283464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456432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los deportes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66160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3310128"/>
            <a:ext cx="2194560" cy="841248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Me gustan los deportes.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hou van sport.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261104"/>
            <a:ext cx="11201400" cy="658368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334256"/>
            <a:ext cx="1069848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Cómo funciona ·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bij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hace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komt een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naamwoord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(frío · calor · viento) — de vorm verandert nooit. Bij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gustar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kiest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het ding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de vorm: 1 → gusta · meervoud → gustan.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Ook zo: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te gusta · le gusta · no me gustan · me gusta más el frío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 —   en vergeet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el / la / los / las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niet: me gusta EL cine.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4748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Construye · bouw zelf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weer + viento  ·  gusta + hacer submarinismo  ·  meervoud + las vacaciones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44068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Hace viento. · Me gusta hacer submarinismo. · Me gustan las vacaciones.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3126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51" name="Rounded Rectangle 5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tiempo · las estaciones · el 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Het weer beschrijven, de seizoenen benoemen en zeggen wat je graag doet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¿Qué tiempo hace? 🌤️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 frío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koud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 calor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warm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 sol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zonnig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 viento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waait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 buen / mal tiempo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mooi / slecht weer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¿Qué tiempo hace?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wat voor weer is het?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Las estaciones 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la primavera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lente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el verano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zomer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el otoño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herfst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el invierno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winter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en verano · en invierno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in de zomer · in de winter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demasiado calor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te warm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Me gusta… · el ocio ❤️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Me gusta el cine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hou van film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Me gustan los deportes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hou van sport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Me gusta hacer yoga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doe graag yoga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el gimnasio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sportzaal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hacer submarinismo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duiken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¿Te gusta…?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hou jij van…?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frecuencia · reaccionar a los gustos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hoe vaak je iets doet — en reageren op wat iemand graag heeft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¿Con qué frecuencia? 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siempre · casi siempre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altijd · bijna altijd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 veces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casi nunca · nunca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bijna nooit · nooit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tres veces por semana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drie keer per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todos los años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elk jaar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Reaccionar 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 mí también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ook (bij een + zin)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 mí tampoco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ook niet (bij een − zin)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 mí no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niet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 mí sí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wel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¡Qué bien! · en cambio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goed! · daarentegen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8813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«siempre · nunca · a veces» staan vóór het werkwoord (nunca voy a la ópera) · «tres veces por semana» komt achteraan.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hace + sustantivo — hablar del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Het weer «doet» iets: één vaste vorm die nooit verandert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hace  +  frío · calor · viento · sol · buen tiempo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377440"/>
            <a:ext cx="196596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395728"/>
            <a:ext cx="196596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Bricolage Grotesque"/>
              </a:rPr>
              <a:t>hace frío / calor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2395728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het is koud / 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395728"/>
            <a:ext cx="28346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En invierno hace frío.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52928"/>
            <a:ext cx="196596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71216"/>
            <a:ext cx="196596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Bricolage Grotesque"/>
              </a:rPr>
              <a:t>hace viento / sol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2871216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het waait / het is zonnig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871216"/>
            <a:ext cx="28346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¡Hace mucho viento!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328416"/>
            <a:ext cx="196596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346704"/>
            <a:ext cx="196596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A7317"/>
                </a:solidFill>
                <a:latin typeface="Bricolage Grotesque"/>
              </a:rPr>
              <a:t>hace buen/mal tiempo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3346704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het is mooi/slecht weer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346704"/>
            <a:ext cx="28346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Siempre hace buen tiempo en Canarias.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886200"/>
            <a:ext cx="6492240" cy="621792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778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50208"/>
            <a:ext cx="6217920" cy="53035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Inter"/>
              </a:rPr>
              <a:t>«hace» no cambia nunca: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hace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frío · calor · viento  —  </a:t>
            </a:r>
            <a:r>
              <a:rPr sz="1200" b="0" i="1">
                <a:solidFill>
                  <a:srgbClr val="6A6E78"/>
                </a:solidFill>
                <a:latin typeface="Inter"/>
              </a:rPr>
              <a:t>net als «hay» en «hay que» (U10).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17720"/>
            <a:ext cx="64922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⚠️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Nooit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es frío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of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está frío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voor het weer.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 para preguntar: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¿Qué tiempo hace hoy? · ¿Hace frío en Bélgica?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1609344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🔎 FÍJATE · EN LA ESCENA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103120"/>
            <a:ext cx="3566160" cy="2194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Je hoorde het al: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«Siempre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hace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buen tiempo.»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«Pero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hace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un frío…»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«¡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Hace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mucho viento!»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«En verano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hace calor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.»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24528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315968"/>
            <a:ext cx="3337560" cy="1051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C2626"/>
                </a:solidFill>
                <a:latin typeface="Bricolage Grotesque"/>
              </a:rPr>
              <a:t>¡OJO! el tiempo ↔ la persona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hace frío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= het ís koud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tengo frío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= ík heb het koud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(tener + naamwoord, U9)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me gusta ↔ me gustan — expresar gustos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«Het bevalt mij»: het ding kiest de vorm, niet jij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me gusta · me gustan · te / le gusta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EA7317"/>
                </a:solidFill>
                <a:latin typeface="Bricolage Grotesque"/>
              </a:rPr>
              <a:t>me gusta  </a:t>
            </a:r>
            <a:r>
              <a:rPr sz="1050" b="0" i="0">
                <a:solidFill>
                  <a:srgbClr val="20242E"/>
                </a:solidFill>
                <a:latin typeface="Inter"/>
              </a:rPr>
              <a:t>ik hou van (1 ding / werkwoord)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Me gusta el cine.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84832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EA7317"/>
                </a:solidFill>
                <a:latin typeface="Bricolage Grotesque"/>
              </a:rPr>
              <a:t>me gustan  </a:t>
            </a:r>
            <a:r>
              <a:rPr sz="1050" b="0" i="0">
                <a:solidFill>
                  <a:srgbClr val="20242E"/>
                </a:solidFill>
                <a:latin typeface="Inter"/>
              </a:rPr>
              <a:t>ik hou van (meervoud)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Me gustan los deportes.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14016"/>
            <a:ext cx="51206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EA7317"/>
                </a:solidFill>
                <a:latin typeface="Bricolage Grotesque"/>
              </a:rPr>
              <a:t>te / le gusta  </a:t>
            </a:r>
            <a:r>
              <a:rPr sz="1050" b="0" i="0">
                <a:solidFill>
                  <a:srgbClr val="20242E"/>
                </a:solidFill>
                <a:latin typeface="Inter"/>
              </a:rPr>
              <a:t>jij / hij-zij houdt van   </a:t>
            </a:r>
            <a:r>
              <a:rPr sz="1050" b="0" i="1">
                <a:solidFill>
                  <a:srgbClr val="6A6E78"/>
                </a:solidFill>
                <a:latin typeface="Inter"/>
              </a:rPr>
              <a:t>A ella también le gusta.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23744"/>
            <a:ext cx="5120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Letterlijk: «het </a:t>
            </a:r>
            <a:r>
              <a:rPr sz="1100" b="1" i="0">
                <a:solidFill>
                  <a:srgbClr val="A8323B"/>
                </a:solidFill>
                <a:latin typeface="Inter"/>
              </a:rPr>
              <a:t>bevalt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mij» → daarom kiest het ding de vorm.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¿Uno o varios? · el truco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530E"/>
                </a:solidFill>
                <a:latin typeface="Inter"/>
              </a:rPr>
              <a:t>☝️ 1 ding / werkwoord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Me gusta el cine.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Me gusta hacer yoga.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40AF"/>
                </a:solidFill>
                <a:latin typeface="Inter"/>
              </a:rPr>
              <a:t>✌️ meervoud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gustan los deportes.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 me gustan los hoteles.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«ik hou van film» = </a:t>
            </a:r>
            <a:r>
              <a:rPr sz="1600" b="1" i="0">
                <a:solidFill>
                  <a:srgbClr val="EA7317"/>
                </a:solidFill>
                <a:latin typeface="Bricolage Grotesque"/>
              </a:rPr>
              <a:t>me gusta el cine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nooit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yo gusto el cine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— dat betekent «ik val in de smaak».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ding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kiest de vorm: me gusta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el frío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↔ me gustan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los deportes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dus 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me gusta los deportes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· 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me gustan el cine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69663"/>
            <a:ext cx="11201400" cy="71323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42816"/>
            <a:ext cx="1078992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Reaccionar ·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«— Me gusta el cine. —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A mí también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.»   ·   «— No me gusta la ópera. —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A mí tampoco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Bij een </a:t>
            </a:r>
            <a:r>
              <a:rPr sz="1150" b="1" i="0">
                <a:solidFill>
                  <a:srgbClr val="A8323B"/>
                </a:solidFill>
                <a:latin typeface="Inter"/>
              </a:rPr>
              <a:t>+ zin</a:t>
            </a:r>
            <a:r>
              <a:rPr sz="1150" b="0" i="0">
                <a:solidFill>
                  <a:srgbClr val="20242E"/>
                </a:solidFill>
                <a:latin typeface="Inter"/>
              </a:rPr>
              <a:t>: a mí también / a mí no   ·   bij een </a:t>
            </a:r>
            <a:r>
              <a:rPr sz="1150" b="1" i="0">
                <a:solidFill>
                  <a:srgbClr val="A8323B"/>
                </a:solidFill>
                <a:latin typeface="Inter"/>
              </a:rPr>
              <a:t>− zin</a:t>
            </a:r>
            <a:r>
              <a:rPr sz="1150" b="0" i="0">
                <a:solidFill>
                  <a:srgbClr val="20242E"/>
                </a:solidFill>
                <a:latin typeface="Inter"/>
              </a:rPr>
              <a:t>: a mí tampoco / a mí sí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Me gust___ los deportes.   Me gust___ hacer yoga.   — No me gusta el calor. — ¡A mí ___! (jij wel)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76672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gustan · gusta · sí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248656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¡Uf! Aquí ___ demasiado calor.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A mí me ___ más el frío.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los deportes?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Sí, me ___ mucho.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Voy al gimnasio tres ___ por semana.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¡A mí ___!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hace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gusta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gustan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veces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también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encuesta de gustos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Vraag rond, reageer en zoek iemand met dezelfde smaak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«— ¿Te gusta el cine?  — Sí, me gusta mucho.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¡A mí también! ¿Y te gustan los deportes?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No, no me gustan.  — A mí sí. Voy al gimnasio.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cuándo hace frío?  — Casi nunca salgo.»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1. Pregunta: «¿Te gusta…?» · «¿Te gustan…?».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2. Responde: «Sí, me gusta» / «No, no me gustan».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3. Reacciona: «a mí también / tampoco / no / sí».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4. Añade frecuencia: «voy… tres veces por semana».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5. Busca a alguien con los mismos gustos.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vragen, reageren én doorvragen. Elke leerling bevraagt 3 klasgenoten. Wie vindt een «gemelo de gustos»? Verstaan? Zeg: «¿Cómo? / ¿Puedes repetir?»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idioma, 21 climas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Van eeuwige lente tot omgekeerde seizoenen — en muziek erbij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🇪🇸/🇫🇷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Álvaro Soler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El Mismo Sol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Juan Luis Guerra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Ojalá Que Llueva Café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🇩🇴 R. Dominicana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Carlos Vives &amp; 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Bicicleta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Jarabe de Palo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Bonito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Gente de Zona &amp; Marc Anthony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Gozadera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🇨🇺 Cuba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🌞 Un idioma, 21 climas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Julio heeft gelijk: op de </a:t>
            </a:r>
            <a:r>
              <a:rPr sz="1200" b="1" i="0">
                <a:solidFill>
                  <a:srgbClr val="0E9E97"/>
                </a:solidFill>
                <a:latin typeface="Inter"/>
              </a:rPr>
              <a:t>Canarias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is het het hele jaar 20–24 °C, en </a:t>
            </a:r>
            <a:r>
              <a:rPr sz="1200" b="1" i="0">
                <a:solidFill>
                  <a:srgbClr val="0E9E97"/>
                </a:solidFill>
                <a:latin typeface="Inter"/>
              </a:rPr>
              <a:t>Guatemala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heet «el país de la eterna primavera». Maar </a:t>
            </a:r>
            <a:r>
              <a:rPr sz="1200" b="1" i="0">
                <a:solidFill>
                  <a:srgbClr val="0E9E97"/>
                </a:solidFill>
                <a:latin typeface="Inter"/>
              </a:rPr>
              <a:t>Ávila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is de koudste provincie van Spanje (1.130 m).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</a:t>
            </a:r>
            <a:r>
              <a:rPr sz="1200" b="1" i="0">
                <a:solidFill>
                  <a:srgbClr val="0E9E97"/>
                </a:solidFill>
                <a:latin typeface="Inter"/>
              </a:rPr>
              <a:t>Argentina, Chile y Uruguay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staan de estaciones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al revés</a:t>
            </a:r>
            <a:r>
              <a:rPr sz="1200" b="0" i="0">
                <a:solidFill>
                  <a:srgbClr val="20242E"/>
                </a:solidFill>
                <a:latin typeface="Inter"/>
              </a:rPr>
              <a:t>: in diciembre is het verano en viert men Navidad in de hitte. In Costa Rica betekent «invierno» het regenseizoen, niet kou. «Me gustas tú» = één lange me-gusta-oefening (LyricsTraining op de hub).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estación favorita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Jouw ficha: het weer, twee smaken en hoe vaak — daarna de enquête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4572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669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FICHA · El tiempo y yo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212848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22860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🌤️  Mi estación favorita es…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5536" y="2212848"/>
            <a:ext cx="3438144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2688336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15768"/>
            <a:ext cx="22860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🌡️  En … hace…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5536" y="2688336"/>
            <a:ext cx="3438144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3163824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91256"/>
            <a:ext cx="22860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❤️  Me gusta… (1 ding)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45536" y="3163824"/>
            <a:ext cx="3438144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3639312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66744"/>
            <a:ext cx="22860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❤️  Me gustan… (meervoud)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5536" y="3639312"/>
            <a:ext cx="3438144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" y="4114800"/>
            <a:ext cx="246888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42232"/>
            <a:ext cx="22860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A8323B"/>
                </a:solidFill>
                <a:latin typeface="Inter"/>
              </a:rPr>
              <a:t>🔁  …, X veces por semana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45536" y="4114800"/>
            <a:ext cx="3438144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90288"/>
            <a:ext cx="56692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🤝 Mi gemelo de gustos: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____________ </a:t>
            </a:r>
            <a:r>
              <a:rPr sz="1150" b="1" i="0">
                <a:solidFill>
                  <a:srgbClr val="20242E"/>
                </a:solidFill>
                <a:latin typeface="Inter"/>
              </a:rPr>
              <a:t>(a los dos nos gusta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__________ 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1554480"/>
            <a:ext cx="4937760" cy="32918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719072"/>
            <a:ext cx="4480560" cy="3017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1. Elige tu estación y di el tiempo: «En verano hace calor».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2. Dos gustos: één met «me gusta», één met «me gustan».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3. Añade la frecuencia: «siempre / a veces / casi nunca» + «X veces por semana».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4. La encuesta: pregunta a tres compañeros «¿Te gusta…?» y reacciona («a mí también / tampoco»).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5. Presenta: «A Sara y a mí nos gusta el cine» — sin leer.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je het weer van je seizoen zegt met «hace + naamwoord», twee smaken geeft (één keer gusta, één keer gustan), één frecuencia-woord gebruikt en in de enquête minstens één keer «a mí también / a mí tampoco» zegt — zónder af te lezen.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4956048"/>
            <a:ext cx="40233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5029200"/>
            <a:ext cx="36576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323B"/>
                </a:solidFill>
                <a:latin typeface="Bricolage Grotesque"/>
              </a:rPr>
              <a:t>Evaluatie · 🟢🟡🔴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hace + naamwoord correct (het weer)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me gusta ↔ me gustan correct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frecuencia + reageren in de enquête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25 / 25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1640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82973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64208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691640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82973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664208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5" y="1691640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5" y="1882973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190496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21792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40926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2190496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21792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40926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3" y="2190496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94775" y="221792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4775" y="240926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716784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744216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2935549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uno · dos · tres · cinco · diez · veinte · las horas: la una · las doce · y media · y cuarto · menos cuarto · en veinte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6552" y="2716784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1144" y="2744216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2935549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 · ¿Sí? · No te oigo (nada) · ¿Puedes hablar más despacio?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0183" y="2716784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5" y="2744216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85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5" y="2935549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 · con los tuyos (bij de jouwen) · mis tíos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243072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3270504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3461837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6552" y="3243072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81144" y="3270504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144" y="3461837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30183" y="3243072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5" y="3270504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5" y="3461837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769359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379679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" y="3988124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16552" y="3769359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81144" y="379679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1144" y="3988124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30183" y="3769359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94775" y="379679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94775" y="3988124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295648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" y="4323080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" y="4514413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16552" y="4295648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81144" y="4323080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y preguntar la hora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81144" y="4514413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¿Qué hora es? · Es la una · Son las ocho · y media · y cuarto · menos cuarto · en punto · ¿A qué hora? · a las doce · el lunes · los lunes 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30183" y="4295648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94775" y="4323080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Quedar con alguien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4775" y="4514413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¿Quieres quedar (esta noche)? · Quedamos a las… · en mi casa · Más tarde · ahora mismo no puedo · Es un poco pronto · un poco tarde · Hasta ahora 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4821936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" y="484936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 planes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04070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Voy a + infinitivo (voy a preparar café) · Vamos a dormir un poquito más · El domingo voy a quedar con amigas · ¿Vamos a pasear?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16552" y="4821936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81144" y="484936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Expresar obligación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1144" y="504070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Tengo que + infinitivo (tengo que trabajar) · Tengo cosas que hacer · ¿Tienes que hacer algo? · tengo hambre · tengo sueño (tener + naamwoord) 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30183" y="4821936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94775" y="484936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Ofrecer y pedir ayuda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94775" y="5040701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Yo te ayudo · ¿Te ayudo? · ¿Qué tengo que hacer? · No es molestia · Déjame, lo hago yo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5348223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" y="5375655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lo que sé hacer</a:t>
            </a:r>
            <a:r>
              <a:rPr sz="85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" y="556698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Sé + infinitivo (sé pasar la aspiradora) · ¿Sabes…? · ¿Sabes cómo funciona? · Sabemos… (nosotros) · Claro que sé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16552" y="5348223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81144" y="5375655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del tiempo</a:t>
            </a:r>
            <a:r>
              <a:rPr sz="85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81144" y="556698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¿Qué tiempo hace? · Hace frío · hace calor · hace viento · hace sol · Hace buen / mal tiempo · En invierno / en verano… · Aquí hace demasiado calor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30183" y="5348223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94775" y="5375655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Expresar gustos y aficiones</a:t>
            </a:r>
            <a:r>
              <a:rPr sz="85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94775" y="5566988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Me gusta + el cine / la ópera · Me gusta + infinitivo (me gusta hacer yoga) · Me gustan los deportes (meervoud) · A mí me gusta más el frío …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5874512"/>
            <a:ext cx="35661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7512" y="5901944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con qué frecuencia</a:t>
            </a:r>
            <a:r>
              <a:rPr sz="85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512" y="6093277"/>
            <a:ext cx="3236976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" b="0" i="0">
                <a:solidFill>
                  <a:srgbClr val="6A6E78"/>
                </a:solidFill>
                <a:latin typeface="Inter"/>
              </a:rPr>
              <a:t>siempre · casi siempre · a veces · casi nunca · nunca · todos los años · todos los días · tres veces por semana · Voy mucho al cine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9224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praat je over het weer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Hace frío · hace calor · hace viento · hace buen tiempo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¿Qué tiempo hace? — hace verandert nooit (net als hay)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je graag hebt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gusta el cine · Me gusta hacer yoga · Me gustan los deportes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 mí también · A mí tampoco · A mí no · A mí sí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hoe vaak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siempre → casi siempre → a veces → casi nunca → nunca · tres veces por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91440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2312"/>
            <a:ext cx="64922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¡Ojo! · las dos trampas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het weer: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hace frío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(nooit «es frío») ↔ de persoon: </a:t>
            </a:r>
            <a:r>
              <a:rPr sz="1250" b="1" i="0">
                <a:solidFill>
                  <a:srgbClr val="2563EB"/>
                </a:solidFill>
                <a:latin typeface="Inter"/>
              </a:rPr>
              <a:t>tengo frío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bij gustar kiest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het ding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de vorm: me gusta el cine ↔ me gustan los deportes — nooit «yo gusto».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4023360" cy="40690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over het weer praten (hace frío · hace calor)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estaciones benoemen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wat ik graag heb (me gusta / me gustan)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reageren (a mí también / tampoco)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9768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zeggen hoe vaak (siempre · a veces · nunca)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006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vragen «¿te gusta…?» in een enquête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el gustómetro · ¿gusta o gustan?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11 «El tiempo y los gustos»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Les 1: Escucha (sitcom ep. 11 — in de bar praten Julio en de camarero over de vakantie: Canarias met «siempre hace buen tiempo» tegenover het ijskoude Ávila; een clienta vertelt wat ze allemaal graag doet) + Suena bien (la s siempre sorda · de -s van het meervoud · ¿s of c/z? · el acento en los precios) + La máquina de frases (hace / me gusta / me gustan) + Kit (el tiempo · las estaciones · el ocio · la frecuencia · reaccionar). Les 2: gramática functioneel (hace + sustantivo ↔ tengo frío · me gusta ↔ me gustan · reaccionar), práctica, hablar «La encuesta de gustos», tarea «Mi estación favorita» + cultura (un idioma, 21 climas).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VIDEO = GOOGLE DRIVE (geen YouTube voor deze aflevering).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File-id 1saLd6_-eTVUTVbv1v8KbKwfYp3Ale6-D (deelrechten reader/anyone). INTERNET VEREIST. In de escucha-dia klik je op de poster om in PowerPoint af te spelen; lukt dat niet, gebruik de knop «▶ Abrir en Drive» of open https://drive.google.com/file/d/1saLd6_-eTVUTVbv1v8KbKwfYp3Ale6-D/view in een browser. NB: in het aangeleverde transcript stonden de sprekerlabels van escena 1 deels verwisseld (bijna alles op «Julio»); de beurten zijn gereconstrueerd tot een coherente scène met drie stemmen (Julio · camarero · clienta). Test de verbinding vóór de les.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Chunks komen auditief binnen (luisteren → naspreken). «hace» presenteren als ÉÉN onveranderlijke vorm (zoals hay/hay que), niet als vervoeging van hacer — dat systeem hoort in het 5de jaar (C5). «me/te/le gusta(n)» blijven VASTE CHUNKS: géén volledig pronomensysteem en géén gustar-paradigma (C6). Géén futuro/condicional/subjuntivo. TWEE KERNVALSTRIKKEN: (1) wij zeggen «het IS koud», dus leerlingen produceren «es frío»/«está frío» — het weer «doet» iets: hace frío; en zet daar het contrast met de persoon naast (tengo frío = ík heb het koud, recycling U9); (2) gustar draait de zin om («het bevalt mij»), dus HET DING kiest de vorm: me gusta el cine ↔ me gustan los deportes — nooit «yo gusto el cine». Voor de reacties: bij een negatieve zin is «a mí tampoco» de juiste keuze — voor Nederlandstaligen niet intuïtief. Frecuencia: siempre/nunca/a veces staan vóór het werkwoord, «tres veces por semana» achteraan. Uitspraak: de Spaanse s is ALTIJD stemloos — ook tussen klinkers en in de -s van het meervoud («los años» nooit als /z/); herhaling U3 voor c+e/i en z = /θ/; acentuación-laag = de klemtoon in prijzen en getallen (uit «son cuatro cincuenta»). Doelcodes: C4-WS-1 · C4-SP-2 · C4-TS-3/5 · C4-LU-1 · C4-GE-3 · C4-STR-1 · C4-MEC-1/2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Mondelinge mini-taak «Mi estación favorita»: het weer van je favoriete seizoen zeggen met «hace + naamwoord», twee smaken geven (één keer gusta, één keer gustan), één frecuencia-woord gebruiken, en in de enquête drie klasgenoten bevragen met «¿Te gusta…?» + reageren met «a mí también / tampoco / no / sí». Geen leerplan → focus op «kunnen gebruiken in de praktijk». Rubric: hace + naamwoord correct · me gusta ↔ me gustan correct · frecuencia + reageren in de enquête.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U11 · TIEMPO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