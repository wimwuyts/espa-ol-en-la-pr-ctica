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notesSlides/notesSlide1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2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78" r:id="rId29"/>
    <p:sldId id="279" r:id="rId30"/>
    <p:sldId id="280" r:id="rId31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Rueda de prensa — 🎭 simulatie met beperking</a:t>
            </a:r>
          </a:p>
          <a:p>
            <a:r>
              <a:t>OPDRACHT: De pers vraagt, de ster antwoordt. Alleen vragen mét een vraagwoord tellen.</a:t>
            </a:r>
          </a:p>
          <a:p>
            <a:r>
              <a:t>DE REGEL: Een ja/nee-vraag kost je je beurt. Je moet dus met qué, quién, dónde, cuándo, cómo, cuánto of por qué beginnen — en niemand mag hetzelfde vraagwoord twee keer gebruiken.</a:t>
            </a:r>
          </a:p>
          <a:p>
            <a:r>
              <a:t>VERLOOP: La estrella coge una ficha secreta y se sienta delante. | La prensa levanta la mano. Una pregunta por periodista. | El/la profe tacha el interrogativo usado: ya no se puede repetir. | Al final la prensa escribe el titular en una frase.</a:t>
            </a:r>
          </a:p>
          <a:p>
            <a:r>
              <a:t>SLEUTEL: De zeven vraagwoorden zijn precies die van §4.1 — het spel dwingt de klas ze alle zeven te gebruiken in plaats van drie keer «¿qué?».  ||  «¿Por qué…?» is de moeilijkste en blijft meestal tot het laatst over. Hou hem bewust achter de hand voor de sterkste leerling.  ||  Valstrik: «¿Cuántos años tienes?» — leerlingen zeggen vaak «¿Cuánto años?». Cuántos beweegt mee met años.</a:t>
            </a:r>
          </a:p>
          <a:p>
            <a:r>
              <a:t>NOTA: Het verbod op herhaling is wat het spel maakt. Zet de zeven vraagwoorden op het scherm en streep ze zichtbaar door — de spanning stijgt met elke doorhaling.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4 · Preguntas prohibidas — ✍️ creatieve beperking</a:t>
            </a:r>
          </a:p>
          <a:p>
            <a:r>
              <a:t>OPDRACHT: Achterhaal leeftijd, stad en talen van je partner zónder «¿cuántos años…?», «¿dónde…?» of «¿qué lenguas…?» te gebruiken.</a:t>
            </a:r>
          </a:p>
          <a:p>
            <a:r>
              <a:t>DE REGEL: De drie rechtstreekse vragen zijn verboden. Je moet er dus omheen: met een voorstel, een vergelijking of een gok die je laat bevestigen.</a:t>
            </a:r>
          </a:p>
          <a:p>
            <a:r>
              <a:t>VERLOOP: Mira las tres preguntas prohibidas. Piensa un rodeo para cada una. | Pregunta. Tu compañero/a solo contesta lo que le preguntas de verdad. | Anota los tres datos. ¿Los tienes todos? Cambiad de papel. | Comparad: ¿qué rodeo ha funcionado mejor?</a:t>
            </a:r>
          </a:p>
          <a:p>
            <a:r>
              <a:t>SLEUTEL: Er is geen enkel juist antwoord — wel een meetbaar resultaat: heb je de drie gegevens binnen zonder de verboden vragen?  ||  De sterkste omweg is meestal de gok met bevestiging («¿Eres del dos mil nueve?»): die levert een getal op zonder ernaar te vragen.  ||  Deze reto bereidt de omweg-strategie voor die in U2 terugkomt bij «Mi gente, sin la palabra familia».</a:t>
            </a:r>
          </a:p>
          <a:p>
            <a:r>
              <a:t>NOTA: Kort houden. Tien minuten is genoeg; daarna wordt de beperking een spel op zich en verdwijnt het luisteren.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9 · Perfil para el algoritmo — ⚖️ onderhandeling &amp; dilemma</a:t>
            </a:r>
          </a:p>
          <a:p>
            <a:r>
              <a:t>OPDRACHT: Het algoritme stelt uitwisselingsduo's voor. Elk voorstel wordt verdedigd met «son… porque…». Zonder reden geen match.</a:t>
            </a:r>
          </a:p>
          <a:p>
            <a:r>
              <a:t>DE REGEL: Het algoritme mag niemand koppelen op naam of op wie bevriend is. Alleen gegevens uit de profielen tellen, en de reden moet met «son» of «tienen» geformuleerd worden.</a:t>
            </a:r>
          </a:p>
          <a:p>
            <a:r>
              <a:t>VERLOOP: Escribe tu perfil en cuatro frases. Sin nombre. | Los perfiles van al azar a la pizarra, numerados. | El algoritmo (tres alumnos) propone parejas y las justifica. | La clase acepta o rechaza. ¿Rechazo? Hay que dar una razón mejor.</a:t>
            </a:r>
          </a:p>
          <a:p>
            <a:r>
              <a:t>SLEUTEL: De didactische winst zit in het weigeren: wie «nee» zegt, moet een béter argument geven, en dus opnieuw een zin met ser of tener bouwen.  ||  Model: «El tres y el ocho son pareja porque los dos son belgas y tienen dieciséis años.» — «No, porque uno vive en un pueblo y el otro en la ciudad.»  ||  Let op de valstrik van §2: nationaliteit met kleine letter (belgas, no Belgas).</a:t>
            </a:r>
          </a:p>
          <a:p>
            <a:r>
              <a:t>NOTA: Werkt alleen anoniem. Zodra er namen bij komen, gaat het over vriendschappen in plaats van over gegevens — en dan verdwijnt het Spaans.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1.xml"/><Relationship Id="rId6" Type="http://schemas.openxmlformats.org/officeDocument/2006/relationships/slide" Target="slide16.xml"/><Relationship Id="rId7" Type="http://schemas.openxmlformats.org/officeDocument/2006/relationships/slide" Target="slide18.xml"/><Relationship Id="rId8" Type="http://schemas.openxmlformats.org/officeDocument/2006/relationships/slide" Target="slide19.xml"/><Relationship Id="rId9" Type="http://schemas.openxmlformats.org/officeDocument/2006/relationships/slide" Target="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64261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1 · MADRID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7200" b="1" i="0">
                <a:solidFill>
                  <a:srgbClr val="FFFFFF"/>
                </a:solidFill>
                <a:latin typeface="Bricolage Grotesque"/>
              </a:rPr>
              <a:t>¿Quién eres?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1">
                <a:solidFill>
                  <a:srgbClr val="E4F4EE"/>
                </a:solidFill>
                <a:latin typeface="Inter"/>
              </a:rPr>
              <a:t>Presentarse: nombre, edad, país, idiomas — en Madrid,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¿Cómo te llamas… y de dónde eres?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Hoe heet je… en waar kom je vandaan?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La gente de la ruta — je reisgezellen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Lucia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«Mi pasaporte»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nombre · edad · país · idiomas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El verbo 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· eres · es · presentarse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Presente regular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-ar · -er · -ir · hablar/vivir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7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Preguntar + el/la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interrogativos · género · artículos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★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 · Madrid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dos apellidos · tú/usted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Mi pasaporte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je paspoort + presentarte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18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?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«La mezcla»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gemengde ophaal — mét oplossing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19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Repaso + semáforo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 esencial · zelfevaluatie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20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6400800"/>
            <a:ext cx="8110728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🔗 Cruzar · libro (§1–§V + Lectura) ↔ página digital (20 juegos · audio · flip cards · recorder)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Tus datos personales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ficha van Lucía — observa. Herken de woorden,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nombre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voornaam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apellido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Ramírez García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achternaam ×2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edad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16 años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leeftijd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país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land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nacionalidad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69880" y="1463040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nationaliteit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la ciudad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Sevilla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69880" y="2121408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stad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los idiomas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español, inglés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69880" y="2779776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talen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el correo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2286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lucia@mail.com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69880" y="3438144"/>
            <a:ext cx="11887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e-mail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Presentarse: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naam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land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</a:t>
            </a:r>
            <a:r>
              <a:rPr sz="1300" b="1" i="0">
                <a:solidFill>
                  <a:srgbClr val="7C3AED"/>
                </a:solidFill>
                <a:latin typeface="Inter"/>
              </a:rPr>
              <a:t>… años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·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+ stad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Leeftijd = TENER: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</a:t>
            </a:r>
            <a:r>
              <a:rPr sz="1200" b="0" i="0">
                <a:solidFill>
                  <a:srgbClr val="DC2626"/>
                </a:solidFill>
                <a:latin typeface="Inter"/>
              </a:rPr>
              <a:t>soy 15</a:t>
            </a:r>
            <a:r>
              <a:rPr sz="1200" b="0" i="0">
                <a:solidFill>
                  <a:srgbClr val="157355"/>
                </a:solidFill>
                <a:latin typeface="Inter"/>
              </a:rPr>
              <a:t>). </a:t>
            </a:r>
            <a:r>
              <a:rPr sz="1200" b="1" i="0">
                <a:solidFill>
                  <a:srgbClr val="DC2626"/>
                </a:solidFill>
                <a:latin typeface="Inter"/>
              </a:rPr>
              <a:t>🔴 Nationaliteit met kleine letter: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belga, español.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el nombre = voornaam · el apellido = achternaam (in het Spaans twee: padre + madre → Cultura).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Presentarse — las frases clave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Beweeg van betekenis naar vorm.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2563EB"/>
                </a:solidFill>
                <a:latin typeface="Bricolage Grotesque"/>
              </a:rPr>
              <a:t>Yo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me llamo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Leo,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soy </a:t>
            </a:r>
            <a:r>
              <a:rPr sz="2600" b="1" i="0">
                <a:solidFill>
                  <a:srgbClr val="14B8A6"/>
                </a:solidFill>
                <a:latin typeface="Bricolage Grotesque"/>
              </a:rPr>
              <a:t>de Bélgica </a:t>
            </a:r>
            <a:r>
              <a:rPr sz="26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600" b="1" i="0">
                <a:solidFill>
                  <a:srgbClr val="EA7317"/>
                </a:solidFill>
                <a:latin typeface="Bricolage Grotesque"/>
              </a:rPr>
              <a:t>tengo </a:t>
            </a:r>
            <a:r>
              <a:rPr sz="2600" b="1" i="0">
                <a:solidFill>
                  <a:srgbClr val="7C3AED"/>
                </a:solidFill>
                <a:latin typeface="Bricolage Grotesque"/>
              </a:rPr>
              <a:t>15 años.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marco — bouw je eigen voorstelling: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Me llamo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5740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(voor)naam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 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land / stad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nationaliteit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Tengo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getal + años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Vivo 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stad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Hablo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+ taal/talen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1208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 y tengo 15 años. Vivo en Gante y hablo neerlandés y español.»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¿SER o TENER?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Welk werkwoord past? Klik een zin → het juiste werkwoord verschijnt. Let op de leeftijd!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de Bélgica.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soy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Yo ___ 15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tengo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Ella ___ española.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es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¿Cuántos años ___?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554480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tienes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Nosotros ___ estudiantes.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359152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somos </a:t>
            </a:r>
            <a:r>
              <a:rPr sz="1000" b="0" i="1">
                <a:solidFill>
                  <a:srgbClr val="1E9E74"/>
                </a:solidFill>
                <a:latin typeface="Inter"/>
              </a:rPr>
              <a:t>· ser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35661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Mi hermano ___ 12 años.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163824"/>
            <a:ext cx="169164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Inter"/>
              </a:rPr>
              <a:t>tiene </a:t>
            </a:r>
            <a:r>
              <a:rPr sz="1000" b="0" i="1">
                <a:solidFill>
                  <a:srgbClr val="DC2626"/>
                </a:solidFill>
                <a:latin typeface="Inter"/>
              </a:rPr>
              <a:t>· tener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8056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SER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identiteit, afkomst, nationaliteit, eigenschap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(soy/eres/es/somos/sois/son).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TENER =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bezit én LEEFTIJD: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Tengo 15 años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— nooit «soy 15».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SER (irregular)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 → de vorm verschijnt. Kortste én belangrijkste werkwoord.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157355"/>
                </a:solidFill>
                <a:latin typeface="Bricolage Grotesque"/>
              </a:rPr>
              <a:t>son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0916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🟡 Onderwerp mag weg — de vorm zegt al wie: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(Yo) soy Leo.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  🟡 tú (leeftijdsgenoot) ↔ usted (beleefd, 3e pers.: usted es).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0" name="Rounded Rectangle 2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525780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soy · eres · es · somos · sois · son.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Gebruik: identidad (soy Leo), origen (soy de Bélgica), nacionalidad (soy belga), cualidad (es simpática).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presente regular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Quita la terminación, añade la nueva. Klik een kolomkop → de uitgangen verschijnen.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14630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9456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9456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hablar (-ar)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6072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6072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aprender (-er)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26880" y="1554480"/>
            <a:ext cx="3383280" cy="457200"/>
          </a:xfrm>
          <a:prstGeom prst="roundRect">
            <a:avLst>
              <a:gd name="adj" fmla="val 5500"/>
            </a:avLst>
          </a:prstGeom>
          <a:solidFill>
            <a:srgbClr val="1E9E7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1554480"/>
            <a:ext cx="33832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vivir (-ir)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1031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9456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72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6880" y="21031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0" y="21031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265176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19456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6072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26880" y="265176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26880" y="265176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20040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19456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19456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76072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26880" y="320040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0" y="320040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4904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9456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19456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-amos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072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-emos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326880" y="374904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26880" y="374904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-imos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429768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19456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9456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-áis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6072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72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-éis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326880" y="429768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326880" y="429768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-ís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4846320"/>
            <a:ext cx="14630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19456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19456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habl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-an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76072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6072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aprend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326880" y="4846320"/>
            <a:ext cx="338328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326880" y="4846320"/>
            <a:ext cx="338328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viv</a:t>
            </a:r>
            <a:r>
              <a:rPr sz="1300" b="1" i="0">
                <a:solidFill>
                  <a:srgbClr val="EA7317"/>
                </a:solidFill>
                <a:latin typeface="Inter"/>
              </a:rPr>
              <a:t>-en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60" name="Rounded Rectangle 5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548640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-er en -ir zijn bijna gelijk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(alleen nosotros/vosotros verschillen). De yo-vorm eindigt altijd op -o.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94360" y="53583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¿el o la? — género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woord → het juiste lidwoord verschijnt. Let op de valstrikken.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nombre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ciudad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país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60020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98280" y="160020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dirección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160020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idioma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0312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2900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edad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correo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42316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98280" y="242316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nacionalidad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07040" y="242316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día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0312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 (🔴)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2900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firma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776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6364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apellido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246120"/>
            <a:ext cx="2743200" cy="685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98280" y="3246120"/>
            <a:ext cx="155448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mano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3246120"/>
            <a:ext cx="1005840" cy="6858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la (🔴)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Valstrikken: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el idioma, el día, el mapa, el problema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-a, tóch mannelijk!)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la mano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(op -o, tóch vrouwelijk).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Leer elk substantief mét lidwoord — dan ken je meteen het geslacht. Meervoud: los / las.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ficha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en beantwoord.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1005840" cy="1005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20240" y="1828800"/>
            <a:ext cx="347472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20242E"/>
                </a:solidFill>
                <a:latin typeface="Inter"/>
              </a:rPr>
              <a:t>«¡Hola! Me llamo Lucía Ramírez García. Soy de Sevilla, en España, y soy española. Tengo 16 años. Hablo español e inglés. Mi correo es lucia@mail.com.»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se llama?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Lucía Ramírez García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De Sevilla (España)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16 años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Español e inglés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«e» i.p.v. «y» vóór i-/hi-: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español e inglés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ESCUCHAR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anota el país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personen stellen zich voor. Klik een naam → land + nationaliteit verschijnen.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Leo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Bélgica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belga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Frida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México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mexicana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Mateo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Argentina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argentino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🔊  Sara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233172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País: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26517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los Países Bajos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Nacionalidad: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429000"/>
            <a:ext cx="24231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9E74"/>
                </a:solidFill>
                <a:latin typeface="Inter"/>
              </a:rPr>
              <a:t>neerlandesa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9" name="Rounded Rectangle 3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Modelo-audio (docent leest of TTS):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Leo, soy de Bélgica, soy belga.» …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Nationaliteiten m./v.: mexicano/mexicana · argentino/argentina · neerlandés/neerlandesa. Kleine letter!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Preguntar — palabras interrogativas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vraag → wát ze vraagt + een modelantwoord. Vraagwoorden dragen een tilde.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naam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 llamo Leo.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afkomst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Soy de Bélgica.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woonplaats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Vivo en Gante.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554480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1554480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 leeftijd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Tengo 15 años.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591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359152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2359152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een gegeven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6382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163824"/>
            <a:ext cx="26517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3163824"/>
            <a:ext cx="26060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info (open) →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Hablo dos idiomas.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¿Cuál? vs ¿Qué?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vóór ser + gegeven → ¿Cuál es tu nombre?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(niet ¿Qué es…?).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Vraagwoorden mét tilde: cómo, dónde, cuál, qué, quién, cuántos.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¡Preséntate!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Bouw je voorstelling met de substitutietabel. Steun bouwt af: tabel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Persona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Yo / (tú)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Nombre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Me llamo ___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Origen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Soy de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Tengo ___ años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Ciudad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Vivo en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Idiomas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Hablo ___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57200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tabel.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beginwoorden.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hoofd, tegen 3 klasgenoten.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 en de digitale pagina → terugluisteren.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51960"/>
            <a:ext cx="3652113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«Carrusel: preséntate»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«Hola, me llamo Sara, soy de Bélgica, tengo 14 años. Vivo en Amberes y hablo neerlandés e inglés.»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mini-perfil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4–5 zinnen over jezelf (echt of fictief).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nombre + apellido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edad (tener… años)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país + nacionalidad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ciudad (vivo en…)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idiomas (hablo…)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conector: y / porque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«Me llamo Nina Quispe. Tengo 16 años y soy de Perú, soy peruana. Vivo en Cusco y hablo español e inglés porque me gusta viajar.»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1378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 · MUNDO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Países y nacionalidades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kaart groeit mee. Klik een land → de nacionalidad verschijnt. Land = hoofdletter, nationaliteit = klein.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🇧🇪 Bélgica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belga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🇪🇸 España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español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🇲🇽 México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mexicano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🇦🇷 Argentina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52760" y="1554480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argentino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🇨🇴 Colombia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colombiano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🇵🇪 Perú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peruano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🇨🇱 Chile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chileno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🇻🇪 Venezuela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52760" y="2322576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venezolano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🇫🇷 Francia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francés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🇩🇪 Alemania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alemán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🇮🇹 Italia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1812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italiano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0020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🇧🇷 Brasil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52760" y="3090672"/>
            <a:ext cx="9601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1E9E74"/>
                </a:solidFill>
                <a:latin typeface="Inter"/>
              </a:rPr>
              <a:t>→ brasileño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Onze route (paradas):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España → México → Colombia → Perú.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 Spaans is officieel in +20 landen (~500 mln sprekers), ook in Guinea Ecuatorial (Afrika).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Genderneutraal in vorm: belga, estadounidense, canadiense, nicaragüense, marroquí. Klein!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Mayúsculas y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schrijfgereedschappen voor je perfil.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¿mayúscula o minúscula?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soy Español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783080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 español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vivo en bélgica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2441448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vivo en Bélgica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hablo Francés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9816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hablo francés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madrid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758184"/>
            <a:ext cx="26517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Madrid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conectores: y / e / o / u / porque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español ___ inglés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«en» vóór i-/hi-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siete ___ ocho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u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«of» vóór o-/ho-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belga ___ hablo español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aprendo español ___ me gusta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land/stad/naam = hoofdletter; nationaliteit/taal = kleine letter.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want én omdat = porque (één woord!). «dus» = así que / por eso, niet luego.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Madrid y los nombres hispanos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 verschijnt. La Ruta verankert in een echte plek.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🏙️ Madrid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Hoofdstad van España (~3,3 mln). Puerta del Sol, el Prado, el Retiro, el Real Madrid.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Ons vertrekpunt op La Ruta.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👥 Los dos apellidos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Lucía Ramírez García = apellido del padre + de la madre. Bij trouwen verandert de naam níet.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NL heeft één achternaam; hier twee.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🗣️ ¿Tú o usted?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6459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Vrienden/leeftijdsgenoten: tú. Beleefd/onbekende volwassene: usted (+ es).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2336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España: veel tú. Colombia/Perú: vaker usted. C6: vos (Argentina).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schrijf 3 namen «à la manière hispanique» (nombre + 2 apellidos) en kies per situatie tú/usted.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Haz la pregunta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Bij dit antwoord — welke vraag? Klik → de vraag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Soy de Colombia.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¿De dónde eres?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Tengo 14 años.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¿Cuántos años tienes?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Me llamo Nina.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¿Cómo te llamas?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Vivo en Madrid.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600200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¿Dónde vives?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Es leo@mail.com.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2478024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¿Cuál es tu correo?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23774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Hablo español.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3355848"/>
            <a:ext cx="2834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¿Qué idiomas hablas?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Vraagwoord ↔ antwoordtype: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origen→¿De dónde?, edad→¿Cuántos años?, nombre→¿Cómo?, dato→¿Cuál?.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LECTURA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«Busco un compi de intercambio»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Een echte tekst. Je hoeft niet alles te begrijpen om de informatie eruit te halen.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5577840" cy="4160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325880"/>
            <a:ext cx="5577840" cy="384048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344168"/>
            <a:ext cx="53035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FFFFFF"/>
                </a:solidFill>
                <a:latin typeface="Bricolage Grotesque"/>
              </a:rPr>
              <a:t>perfil (app de intercambio lingüístico)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810512"/>
            <a:ext cx="5212080" cy="3566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Bricolage Grotesque"/>
              </a:rPr>
              <a:t>BUSCO COMPI DE INTERCAMBIO 🇪🇸 ↔ 🇧🇪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Tú me hablas en neerlandés, yo te hablo en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Nombre: Álex Moreno Gil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Edad: tengo dieciséis años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Ciudad: Madrid, España. Soy español.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Instituto: IES Cervantes, cuarto curso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• Lenguas: hablo español e inglés. Estudio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¡Hola! Me llamo Álex y vivo en Madrid, en el barrio de Lavapiés. Estudio en el IES Cervantes y este año aprendo francés.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En mi tiempo libre escucho música, juego al baloncesto y leo cómics. Los sábados trabajo en la tienda de mi tía.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Busco un compi de Bélgica o de los Países Bajos. Hablamos media hora en español y media hora en neerlandés. ¿Te apuntas?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6A6E78"/>
                </a:solidFill>
                <a:latin typeface="Inter"/>
              </a:rPr>
              <a:t>Escríbeme: alex.moreno@correo.es · ¿Cómo te llamas tú?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25880"/>
            <a:ext cx="5468112" cy="196596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Escanea — busca el dato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175564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¿Cuántos años tiene Álex?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¿En qué ciudad vive?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¿Cómo se llama su instituto?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este año?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¿Qué día trabaja?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29000"/>
            <a:ext cx="5468112" cy="2057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5204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858768"/>
            <a:ext cx="5120640" cy="1554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es español.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Álex vive en Sevilla.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Álex habla inglés.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Álex juega al fútbol.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Álex trabaja en la tienda de su tía.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Escanear: 1) 16 · 2) Madrid · 3) IES Cervantes · 4) francés · 5) los sábados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«soy español»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«vivo en madrid»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«hablo español e inglés»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4) F — «juego al baloncesto»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5) V — «trabajo en la tienda de mi tía»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ESCUCHA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«El primer día en el instituto»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Eerst de situatie, dan luisteren. Het transcript komt pas ná de taken.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325880"/>
            <a:ext cx="11274552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10881360" cy="868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¿Dónde?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El pasillo del IES Cervantes, Madrid</a:t>
            </a:r>
            <a:r>
              <a:rPr sz="1100" b="1" i="0">
                <a:solidFill>
                  <a:srgbClr val="157355"/>
                </a:solidFill>
                <a:latin typeface="Inter"/>
              </a:rPr>
              <a:t>     ¿Quién?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Álex (de Madrid) y Sam, un alumno nuevo de Bélgica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57355"/>
                </a:solidFill>
                <a:latin typeface="Inter"/>
              </a:rPr>
              <a:t>¿Qué pasa?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Se conocen y se hacen preguntas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6A6E78"/>
                </a:solidFill>
                <a:latin typeface="Inter"/>
              </a:rPr>
              <a:t>Palabras clave: </a:t>
            </a:r>
            <a:r>
              <a:rPr sz="1050" b="0" i="1">
                <a:solidFill>
                  <a:srgbClr val="20242E"/>
                </a:solidFill>
                <a:latin typeface="Inter"/>
              </a:rPr>
              <a:t>¿cómo te llamas? · ¿de dónde eres? · ¿cuántos años tienes?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14600"/>
            <a:ext cx="5577840" cy="2971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606040"/>
            <a:ext cx="521208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Escucha con detalle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944368"/>
            <a:ext cx="5212080" cy="23774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¿Cómo se escribe el nombre de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¿De dónde es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¿Cuántos años tiene Sam?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4. ¿Qué lengua estudia Álex?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5. ¿Cuántos años tiene la hermana de Sam?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514600"/>
            <a:ext cx="5468112" cy="29718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606040"/>
            <a:ext cx="5120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¿Verdadero o falso? — y la prueba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944368"/>
            <a:ext cx="5120640" cy="1463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1. Álex tiene dieciséis años.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2. Sam estudia alemán.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3. Sam tiene una hermana.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4572000"/>
            <a:ext cx="51206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157355"/>
                </a:solidFill>
                <a:latin typeface="Inter"/>
              </a:rPr>
              <a:t>Tu reacción: </a:t>
            </a:r>
            <a:r>
              <a:rPr sz="1000" b="0" i="0">
                <a:solidFill>
                  <a:srgbClr val="20242E"/>
                </a:solidFill>
                <a:latin typeface="Inter"/>
              </a:rPr>
              <a:t>Álex te pregunta a ti: «¿Cómo te llamas, de dónde eres y cuántos años tienes?» Contesta en tres frases y añade una pregunta para él.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96128"/>
            <a:ext cx="11274552" cy="658368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Detalle: 1) Con ese · 2) De Amberes, Bélgica · 3) 15 · 4) Francés · 5) 12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1) V — «yo tengo dieciséis»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2) F — «estudio español, claro»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3) V — «tengo una hermana»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468112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U0 · ¡EMPEZAMOS!   ·   C5 · A1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✈ Tarea final · Mi pasaporte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La Ruta-paspoort en stel je voor (echt of met een nieuwe identiteit).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Elige tu identidad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554480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nombre + 2 apellidos, país, ciudad, edad, idiomas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Rellena el pasaporte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121408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in hele woorden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tu presentación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2688336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5–6 frases: ser + presente + conectores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Preséntate a la clase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3255264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of neem audio/video op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657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Pregunta a un compañero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3822192"/>
            <a:ext cx="67665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presenta a esa persona (3ª persona)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alle gegevens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+ presente correct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y/porque + mayúsculas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mondeling voorstellen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klas/Lucía · doel jezelf voorstellen · situatie aankomst in Madrid · resultaat: paspoort + voorstelling.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yo (ser)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leeftijd-werkwoord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tener (Tengo… años)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hablar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hablamos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¿___ te llamas?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Cómo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España → nationaliteit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1600200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español (klein!)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 of la: idioma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2313432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el idioma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vivir, tú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0" y="3026664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29260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want/omdat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739896"/>
            <a:ext cx="23317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· tener (edad) · presente · interrogativos · género · mayúsculas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Presentarse: Me llamo… · Soy de… · Soy + nat. · Tengo… años · Vivo en… · Hablo…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Ser: soy·eres·es·somos·sois·son. Presente reg.: -o/-as/-a/-amos/-áis/-an.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Preguntar: ¿Cómo? ¿De dónde? ¿Dónde? ¿Cuántos años? ¿Cuál? ¿Qué? ¿Quién?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Artículos: el/la · los/las · un/una (leer met lidwoord!).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🔴 Trampas: edad=tener · nationaliteit=klein · ¿Cuál? vóór ser · want/omdat=porque.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mezelf voorstellen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+ presente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vragen stellen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el/la kiezen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landen/nationaliteiten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 · ¿QUIÉN ERES?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1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Rueda de prensa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Silencio, empieza la rueda de prensa. Tenéis tres minutos con la estrella.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Stilte, de persconferentie begint. Jullie krijgen drie minuten met de ster.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Een ja/nee-vraag kost je je beurt. Je moet dus met qué, quién, dónde, cuándo, cómo, cuánto of por qué beginnen — en niemand mag hetzelfde vraagwoord twee keer gebruiken.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¿Qué…?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wat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¿Quién…?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wie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¿Dónde…?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waar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¿Cuándo…?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wanneer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¿Cómo…?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hoe</a:t>
            </a:r>
          </a:p>
        </p:txBody>
      </p:sp>
      <p:sp>
        <p:nvSpPr>
          <p:cNvPr id="29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3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¿Cuántos…?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hoeveel</a:t>
            </a:r>
          </a:p>
        </p:txBody>
      </p:sp>
      <p:sp>
        <p:nvSpPr>
          <p:cNvPr id="33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35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¿Por qué…?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waarom</a:t>
            </a:r>
          </a:p>
        </p:txBody>
      </p:sp>
      <p:sp>
        <p:nvSpPr>
          <p:cNvPr id="37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· usado ·</a:t>
            </a:r>
          </a:p>
        </p:txBody>
      </p:sp>
      <p:sp>
        <p:nvSpPr>
          <p:cNvPr id="39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una futbolista del Real Madrid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speelt sinds haar zesde, woont in Madrid, spreekt drie talen</a:t>
            </a:r>
          </a:p>
        </p:txBody>
      </p:sp>
      <p:sp>
        <p:nvSpPr>
          <p:cNvPr id="41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 cantante de Sevilla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zingt flamenco-pop, twintig jaar, woont bij zijn oma</a:t>
            </a:r>
          </a:p>
        </p:txBody>
      </p:sp>
      <p:sp>
        <p:nvSpPr>
          <p:cNvPr id="43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una astronauta mexicana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werkt in Houston, spreekt Spaans en Engels, heeft twee kinderen</a:t>
            </a:r>
          </a:p>
        </p:txBody>
      </p:sp>
      <p:sp>
        <p:nvSpPr>
          <p:cNvPr id="45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★ un cocinero peruano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restaurant in Lima, kookt ceviche, veertig jaar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4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Preguntas prohibidas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10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Necesitas la misma información. Pero tres preguntas están prohibidas.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Je hebt dezelfde informatie nodig. Maar drie vragen zijn verboden.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De drie rechtstreekse vragen zijn verboden. Je moet er dus omheen: met een voorstel, een vergelijking of een gok die je laat bevestigen.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¿Cuántos años tienes?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¿Dónde vives?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PROHIBIDA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lenguas hablas?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¿Eres del dos mil nueve?</a:t>
            </a:r>
          </a:p>
        </p:txBody>
      </p:sp>
      <p:sp>
        <p:nvSpPr>
          <p:cNvPr id="19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gok het geboortejaar en laat beve…</a:t>
            </a:r>
          </a:p>
        </p:txBody>
      </p:sp>
      <p:sp>
        <p:nvSpPr>
          <p:cNvPr id="21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¿Tienes la misma edad que yo?</a:t>
            </a:r>
          </a:p>
        </p:txBody>
      </p:sp>
      <p:sp>
        <p:nvSpPr>
          <p:cNvPr id="23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vergelijk met jezelf</a:t>
            </a:r>
          </a:p>
        </p:txBody>
      </p:sp>
      <p:sp>
        <p:nvSpPr>
          <p:cNvPr id="25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¿Vienes al instituto en bici o en tren?</a:t>
            </a:r>
          </a:p>
        </p:txBody>
      </p:sp>
      <p:sp>
        <p:nvSpPr>
          <p:cNvPr id="27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vervoer verraadt de afstand</a:t>
            </a:r>
          </a:p>
        </p:txBody>
      </p:sp>
      <p:sp>
        <p:nvSpPr>
          <p:cNvPr id="29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¿Tu ciudad es grande?</a:t>
            </a:r>
          </a:p>
        </p:txBody>
      </p:sp>
      <p:sp>
        <p:nvSpPr>
          <p:cNvPr id="31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eigenschap in plaats van naam</a:t>
            </a:r>
          </a:p>
        </p:txBody>
      </p:sp>
      <p:sp>
        <p:nvSpPr>
          <p:cNvPr id="33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¿Hablas español en casa?</a:t>
            </a:r>
          </a:p>
        </p:txBody>
      </p:sp>
      <p:sp>
        <p:nvSpPr>
          <p:cNvPr id="35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test één taal per keer</a:t>
            </a:r>
          </a:p>
        </p:txBody>
      </p:sp>
      <p:sp>
        <p:nvSpPr>
          <p:cNvPr id="3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arjetaTxt 8"/>
          <p:cNvSpPr txBox="1"/>
          <p:nvPr/>
        </p:nvSpPr>
        <p:spPr>
          <a:xfrm>
            <a:off x="548640" y="5321808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rodeo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¿Ves series en inglés sin subtítulos?</a:t>
            </a:r>
          </a:p>
        </p:txBody>
      </p:sp>
      <p:sp>
        <p:nvSpPr>
          <p:cNvPr id="39" name="Onthul 8"/>
          <p:cNvSpPr/>
          <p:nvPr/>
        </p:nvSpPr>
        <p:spPr>
          <a:xfrm>
            <a:off x="548640" y="6144768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OnthulTxt 8"/>
          <p:cNvSpPr txBox="1"/>
          <p:nvPr/>
        </p:nvSpPr>
        <p:spPr>
          <a:xfrm>
            <a:off x="566928" y="6144768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157355"/>
                </a:solidFill>
                <a:latin typeface="Inter"/>
              </a:rPr>
              <a:t>gewoonte verraadt het niveau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RETO 9 · ONDERHANDELING &amp; DILEMMA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Perfil para el algoritmo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4F4EE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157355"/>
                </a:solidFill>
                <a:latin typeface="Bricolage Grotesque"/>
              </a:rPr>
              <a:t>Escribe tu perfil. Hoy la clase es el algoritmo, y tiene que justificarse.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Schrijf je profiel. Vandaag is de klas het algoritme — en het moet zich verantwoorden.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Het algoritme mag niemand koppelen op naam of op wie bevriend is. Alleen gegevens uit de profielen tellen, en de reden moet met «son» of «tienen» geformuleerd worden.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Tengo … años.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Soy de … y vivo en …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Hablo … y estudio …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Tu perfil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 mi tiempo libre …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uno y el siete son pareja porque los dos son de …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… porque tienen la misma edad.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… porque los dos hablan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El algoritmo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No, porque uno vive en la ciudad y el otro en un pueblo.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Perfil 3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Tengo 16 años. Soy de Bélgica y vivo en un pueblo. Hablo neerlandés e inglés.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157355"/>
                </a:solidFill>
                <a:latin typeface="Bricolage Grotesque"/>
              </a:rPr>
              <a:t>Perfil 8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Tengo 16 años. Soy de Bélgica y vivo en Gante. Hablo neerlandés, francés y un poco de español.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