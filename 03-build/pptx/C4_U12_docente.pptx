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Openingsdia. Lees het citaat voor en vraag wat ze al herkennen.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geeft les en zet Paul vooraan als levend voorbeeld: Paul is groot, hij niet; Paul heeft een goede jas, hij een goedkope trui. Terwijl hij zichzelf de grond in praat, leer jij precies wat je nodig hebt om iemand te beschrijven — en om te zeggen wat je zelf elke ochtend doet.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Julio: Sta je even op, alsjeblieft? En kom je hier, alsjeblieft. Hoe gaat het?
Paul: Goed.
Julio: Vraag je mij niet hoe het met míj gaat?
Paul: Hoe gaat het, Julio?
Julio: Slecht, maar bedankt voor het vragen. Wat vinden jullie van Paul? Vinden jullie hem leuk? Vinden jullie hem knap? Heel goed, hij is knap, dat is waar.
Paul: Dank je.
Julio: Paul is groot en ik niet. Paul heeft blauwe ogen, en ik niet. Paul is gespierd. En ik daarentegen ben niet zo gespierd.
Julio: Paul draagt een zwarte jas, een goede. Ik daarentegen draag een groene trui, een goedkope. Paul draagt een das. Ik heb geen dassen.
Julio: Paul staat de kleding heel goed. Mij daarentegen staat kleding niet zo goed.
Julio: Paul draagt moderne schoenen. Ik daarentegen draag oude witte sportschoenen. Weet iemand mij nog een verschil te noemen tussen Paul en mij?
Alumna: Scheert Paul zich?
Julio: Precies, heel goed. Wederkerende werkwoorden zijn handelingen die op jezelf gericht zijn. Ik bijvoorbeeld ga mezelf van kant maken.
Julio: 's Ochtends doucht men zich en kamt men zich. Jullie douchen je, kammen je. Ik niet, natuurlijk.
Julio: De voornaamwoorden van de wederkerende werkwoorden en die van het meewerkend voorwerp zijn dezelfde. Me gusta, me enamoro. Te gusta, te enamoras. Os gusta, os enamoráis.
Julio: Behalve in de derde persoon. No le gusta, no se enamora. Want als hij het niet leuk vindt, waarom zou hij dan verliefd worden? Hè?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Wat is er?
Josefina: Sst…! Kom, kom!
Julio: 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klappen op de klemtoon. Iedereen zegt elk woord drie keer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klas eerst wat de rechterkolom zou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Docentenversie: de betekenis staat er al bij.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eerst luisteren, dan pas kiezen. Klik door naar de volgende dia voor de oplossing.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juiste antwoorden staan groen.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zin is een taalhandeling: wat dóé je ermee? Laat ze er zelf een bedenken.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Noodroute: lukt de opname niet, laat de scène dan gewoon live spelen.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een ronde: iedereen zegt één chunk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1371600"/>
            <a:ext cx="10725912" cy="365760"/>
          </a:xfrm>
          <a:prstGeom prst="rect">
            <a:avLst/>
          </a:prstGeom>
          <a:noFill/>
          <a:ln/>
        </p:spPr>
        <p:txBody>
          <a:bodyPr wrap="square" lIns="0" tIns="0" rIns="0" bIns="0" rtlCol="0" anchor="ctr"/>
          <a:lstStyle/>
          <a:p>
            <a:pPr indent="0" marL="0">
              <a:buNone/>
            </a:pPr>
            <a:r>
              <a:rPr lang="en-US" sz="1300" spc="200" kern="0" dirty="0">
                <a:solidFill>
                  <a:srgbClr val="FFFFFF"/>
                </a:solidFill>
                <a:latin typeface="Inter" pitchFamily="34" charset="0"/>
                <a:ea typeface="Inter" pitchFamily="34" charset="-122"/>
                <a:cs typeface="Inter" pitchFamily="34" charset="-120"/>
              </a:rPr>
              <a:t>C4 · LA RUTA · EL DESPEGUE · PARADA 12</a:t>
            </a:r>
            <a:endParaRPr lang="en-US" sz="1300" dirty="0"/>
          </a:p>
        </p:txBody>
      </p:sp>
      <p:sp>
        <p:nvSpPr>
          <p:cNvPr id="3" name="Text 1"/>
          <p:cNvSpPr/>
          <p:nvPr/>
        </p:nvSpPr>
        <p:spPr>
          <a:xfrm>
            <a:off x="731520" y="1783080"/>
            <a:ext cx="10725912" cy="1097280"/>
          </a:xfrm>
          <a:prstGeom prst="rect">
            <a:avLst/>
          </a:prstGeom>
          <a:noFill/>
          <a:ln/>
        </p:spPr>
        <p:txBody>
          <a:bodyPr wrap="square" lIns="0" tIns="0" rIns="0" bIns="0" rtlCol="0" anchor="ctr"/>
          <a:lstStyle/>
          <a:p>
            <a:pPr indent="0" marL="0">
              <a:buNone/>
            </a:pPr>
            <a:r>
              <a:rPr lang="en-US" sz="5400" b="1" dirty="0">
                <a:solidFill>
                  <a:srgbClr val="FFFFFF"/>
                </a:solidFill>
                <a:latin typeface="Bricolage Grotesque" pitchFamily="34" charset="0"/>
                <a:ea typeface="Bricolage Grotesque" pitchFamily="34" charset="-122"/>
                <a:cs typeface="Bricolage Grotesque" pitchFamily="34" charset="-120"/>
              </a:rPr>
              <a:t>La ropa y los colores</a:t>
            </a:r>
            <a:endParaRPr lang="en-US" sz="5400" dirty="0"/>
          </a:p>
        </p:txBody>
      </p:sp>
      <p:sp>
        <p:nvSpPr>
          <p:cNvPr id="4" name="Text 2"/>
          <p:cNvSpPr/>
          <p:nvPr/>
        </p:nvSpPr>
        <p:spPr>
          <a:xfrm>
            <a:off x="731520" y="2880360"/>
            <a:ext cx="10725912" cy="64008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Zeggen wat iemand aanheeft, hoe hij eruitziet — en wat je elke ochtend doet.</a:t>
            </a:r>
            <a:endParaRPr lang="en-US" sz="1700" dirty="0"/>
          </a:p>
        </p:txBody>
      </p:sp>
      <p:sp>
        <p:nvSpPr>
          <p:cNvPr id="5" name="Shape 3"/>
          <p:cNvSpPr/>
          <p:nvPr/>
        </p:nvSpPr>
        <p:spPr>
          <a:xfrm>
            <a:off x="731520" y="3749040"/>
            <a:ext cx="10725912" cy="914400"/>
          </a:xfrm>
          <a:prstGeom prst="roundRect">
            <a:avLst>
              <a:gd name="adj" fmla="val 12000"/>
            </a:avLst>
          </a:prstGeom>
          <a:solidFill>
            <a:srgbClr val="FFFFFF">
              <a:alpha val="14000"/>
            </a:srgbClr>
          </a:solidFill>
          <a:ln/>
        </p:spPr>
      </p:sp>
      <p:sp>
        <p:nvSpPr>
          <p:cNvPr id="6" name="Text 4"/>
          <p:cNvSpPr/>
          <p:nvPr/>
        </p:nvSpPr>
        <p:spPr>
          <a:xfrm>
            <a:off x="1005840" y="3749040"/>
            <a:ext cx="10177272" cy="914400"/>
          </a:xfrm>
          <a:prstGeom prst="rect">
            <a:avLst/>
          </a:prstGeom>
          <a:noFill/>
          <a:ln/>
        </p:spPr>
        <p:txBody>
          <a:bodyPr wrap="square" lIns="0" tIns="0" rIns="0" bIns="0" rtlCol="0" anchor="ctr"/>
          <a:lstStyle/>
          <a:p>
            <a:pPr indent="0" marL="0">
              <a:buNone/>
            </a:pPr>
            <a:r>
              <a:rPr lang="en-US" sz="1900" dirty="0">
                <a:solidFill>
                  <a:srgbClr val="FFFFFF"/>
                </a:solidFill>
                <a:latin typeface="Bricolage Grotesque" pitchFamily="34" charset="0"/>
                <a:ea typeface="Bricolage Grotesque" pitchFamily="34" charset="-122"/>
                <a:cs typeface="Bricolage Grotesque" pitchFamily="34" charset="-120"/>
              </a:rPr>
              <a:t>« Paul lleva una chaqueta negra, buena. Yo, en cambio, llevo un jersey verde, barato. »</a:t>
            </a:r>
            <a:endParaRPr lang="en-US" sz="1900" dirty="0"/>
          </a:p>
        </p:txBody>
      </p:sp>
      <p:sp>
        <p:nvSpPr>
          <p:cNvPr id="7" name="Text 5"/>
          <p:cNvSpPr/>
          <p:nvPr/>
        </p:nvSpPr>
        <p:spPr>
          <a:xfrm>
            <a:off x="731520" y="5029200"/>
            <a:ext cx="10725912" cy="365760"/>
          </a:xfrm>
          <a:prstGeom prst="rect">
            <a:avLst/>
          </a:prstGeom>
          <a:noFill/>
          <a:ln/>
        </p:spPr>
        <p:txBody>
          <a:bodyPr wrap="square" lIns="0" tIns="0" rIns="0" bIns="0" rtlCol="0" anchor="ctr"/>
          <a:lstStyle/>
          <a:p>
            <a:pPr indent="0" marL="0">
              <a:buNone/>
            </a:pPr>
            <a:r>
              <a:rPr lang="en-US" sz="1400" dirty="0">
                <a:solidFill>
                  <a:srgbClr val="F6DDE0"/>
                </a:solidFill>
                <a:latin typeface="Inter" pitchFamily="34" charset="0"/>
                <a:ea typeface="Inter" pitchFamily="34" charset="-122"/>
                <a:cs typeface="Inter" pitchFamily="34" charset="-120"/>
              </a:rPr>
              <a:t>La ropa · los colores · describir a alguien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En esta unidad vas 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12</a:t>
            </a:r>
            <a:endParaRPr lang="en-US" sz="1200" dirty="0"/>
          </a:p>
        </p:txBody>
      </p:sp>
      <p:sp>
        <p:nvSpPr>
          <p:cNvPr id="5" name="Shape 3"/>
          <p:cNvSpPr/>
          <p:nvPr/>
        </p:nvSpPr>
        <p:spPr>
          <a:xfrm>
            <a:off x="640080" y="1234440"/>
            <a:ext cx="10908792" cy="960120"/>
          </a:xfrm>
          <a:prstGeom prst="roundRect">
            <a:avLst>
              <a:gd name="adj" fmla="val 8571"/>
            </a:avLst>
          </a:prstGeom>
          <a:solidFill>
            <a:srgbClr val="FFFFFF"/>
          </a:solidFill>
          <a:ln w="12700">
            <a:solidFill>
              <a:srgbClr val="E7E1DF"/>
            </a:solidFill>
            <a:prstDash val="solid"/>
          </a:ln>
        </p:spPr>
      </p:sp>
      <p:sp>
        <p:nvSpPr>
          <p:cNvPr id="6" name="Shape 4"/>
          <p:cNvSpPr/>
          <p:nvPr/>
        </p:nvSpPr>
        <p:spPr>
          <a:xfrm>
            <a:off x="868680" y="1490472"/>
            <a:ext cx="457200" cy="457200"/>
          </a:xfrm>
          <a:prstGeom prst="ellipse">
            <a:avLst/>
          </a:prstGeom>
          <a:solidFill>
            <a:srgbClr val="FBEAEC"/>
          </a:solidFill>
          <a:ln/>
        </p:spPr>
      </p:sp>
      <p:sp>
        <p:nvSpPr>
          <p:cNvPr id="7" name="Text 5"/>
          <p:cNvSpPr/>
          <p:nvPr/>
        </p:nvSpPr>
        <p:spPr>
          <a:xfrm>
            <a:off x="868680" y="1490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1</a:t>
            </a:r>
            <a:endParaRPr lang="en-US" sz="1600" dirty="0"/>
          </a:p>
        </p:txBody>
      </p:sp>
      <p:sp>
        <p:nvSpPr>
          <p:cNvPr id="8" name="Text 6"/>
          <p:cNvSpPr/>
          <p:nvPr/>
        </p:nvSpPr>
        <p:spPr>
          <a:xfrm>
            <a:off x="1508760" y="1362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Nombrar la ropa y los colores</a:t>
            </a:r>
            <a:endParaRPr lang="en-US" sz="1700" dirty="0"/>
          </a:p>
        </p:txBody>
      </p:sp>
      <p:sp>
        <p:nvSpPr>
          <p:cNvPr id="9" name="Text 7"/>
          <p:cNvSpPr/>
          <p:nvPr/>
        </p:nvSpPr>
        <p:spPr>
          <a:xfrm>
            <a:off x="1508760" y="1746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una chaqueta negra · un jersey verde</a:t>
            </a:r>
            <a:endParaRPr lang="en-US" sz="1350" dirty="0"/>
          </a:p>
        </p:txBody>
      </p:sp>
      <p:sp>
        <p:nvSpPr>
          <p:cNvPr id="10" name="Shape 8"/>
          <p:cNvSpPr/>
          <p:nvPr/>
        </p:nvSpPr>
        <p:spPr>
          <a:xfrm>
            <a:off x="640080" y="2377440"/>
            <a:ext cx="10908792" cy="960120"/>
          </a:xfrm>
          <a:prstGeom prst="roundRect">
            <a:avLst>
              <a:gd name="adj" fmla="val 8571"/>
            </a:avLst>
          </a:prstGeom>
          <a:solidFill>
            <a:srgbClr val="FFFFFF"/>
          </a:solidFill>
          <a:ln w="12700">
            <a:solidFill>
              <a:srgbClr val="E7E1DF"/>
            </a:solidFill>
            <a:prstDash val="solid"/>
          </a:ln>
        </p:spPr>
      </p:sp>
      <p:sp>
        <p:nvSpPr>
          <p:cNvPr id="11" name="Shape 9"/>
          <p:cNvSpPr/>
          <p:nvPr/>
        </p:nvSpPr>
        <p:spPr>
          <a:xfrm>
            <a:off x="868680" y="2633472"/>
            <a:ext cx="457200" cy="457200"/>
          </a:xfrm>
          <a:prstGeom prst="ellipse">
            <a:avLst/>
          </a:prstGeom>
          <a:solidFill>
            <a:srgbClr val="FBEAEC"/>
          </a:solidFill>
          <a:ln/>
        </p:spPr>
      </p:sp>
      <p:sp>
        <p:nvSpPr>
          <p:cNvPr id="12" name="Text 10"/>
          <p:cNvSpPr/>
          <p:nvPr/>
        </p:nvSpPr>
        <p:spPr>
          <a:xfrm>
            <a:off x="868680" y="2633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2</a:t>
            </a:r>
            <a:endParaRPr lang="en-US" sz="1600" dirty="0"/>
          </a:p>
        </p:txBody>
      </p:sp>
      <p:sp>
        <p:nvSpPr>
          <p:cNvPr id="13" name="Text 11"/>
          <p:cNvSpPr/>
          <p:nvPr/>
        </p:nvSpPr>
        <p:spPr>
          <a:xfrm>
            <a:off x="1508760" y="2505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qué lleva alguien</a:t>
            </a:r>
            <a:endParaRPr lang="en-US" sz="1700" dirty="0"/>
          </a:p>
        </p:txBody>
      </p:sp>
      <p:sp>
        <p:nvSpPr>
          <p:cNvPr id="14" name="Text 12"/>
          <p:cNvSpPr/>
          <p:nvPr/>
        </p:nvSpPr>
        <p:spPr>
          <a:xfrm>
            <a:off x="1508760" y="2889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lleva corbata · llevo zapatillas viejas</a:t>
            </a:r>
            <a:endParaRPr lang="en-US" sz="1350" dirty="0"/>
          </a:p>
        </p:txBody>
      </p:sp>
      <p:sp>
        <p:nvSpPr>
          <p:cNvPr id="15" name="Shape 13"/>
          <p:cNvSpPr/>
          <p:nvPr/>
        </p:nvSpPr>
        <p:spPr>
          <a:xfrm>
            <a:off x="640080" y="3520440"/>
            <a:ext cx="10908792" cy="960120"/>
          </a:xfrm>
          <a:prstGeom prst="roundRect">
            <a:avLst>
              <a:gd name="adj" fmla="val 8571"/>
            </a:avLst>
          </a:prstGeom>
          <a:solidFill>
            <a:srgbClr val="FFFFFF"/>
          </a:solidFill>
          <a:ln w="12700">
            <a:solidFill>
              <a:srgbClr val="E7E1DF"/>
            </a:solidFill>
            <a:prstDash val="solid"/>
          </a:ln>
        </p:spPr>
      </p:sp>
      <p:sp>
        <p:nvSpPr>
          <p:cNvPr id="16" name="Shape 14"/>
          <p:cNvSpPr/>
          <p:nvPr/>
        </p:nvSpPr>
        <p:spPr>
          <a:xfrm>
            <a:off x="868680" y="3776472"/>
            <a:ext cx="457200" cy="457200"/>
          </a:xfrm>
          <a:prstGeom prst="ellipse">
            <a:avLst/>
          </a:prstGeom>
          <a:solidFill>
            <a:srgbClr val="FBEAEC"/>
          </a:solidFill>
          <a:ln/>
        </p:spPr>
      </p:sp>
      <p:sp>
        <p:nvSpPr>
          <p:cNvPr id="17" name="Text 15"/>
          <p:cNvSpPr/>
          <p:nvPr/>
        </p:nvSpPr>
        <p:spPr>
          <a:xfrm>
            <a:off x="868680" y="3776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3</a:t>
            </a:r>
            <a:endParaRPr lang="en-US" sz="1600" dirty="0"/>
          </a:p>
        </p:txBody>
      </p:sp>
      <p:sp>
        <p:nvSpPr>
          <p:cNvPr id="18" name="Text 16"/>
          <p:cNvSpPr/>
          <p:nvPr/>
        </p:nvSpPr>
        <p:spPr>
          <a:xfrm>
            <a:off x="1508760" y="3648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Describir a una persona</a:t>
            </a:r>
            <a:endParaRPr lang="en-US" sz="1700" dirty="0"/>
          </a:p>
        </p:txBody>
      </p:sp>
      <p:sp>
        <p:nvSpPr>
          <p:cNvPr id="19" name="Text 17"/>
          <p:cNvSpPr/>
          <p:nvPr/>
        </p:nvSpPr>
        <p:spPr>
          <a:xfrm>
            <a:off x="1508760" y="4032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es alto · tiene los ojos azules · está fuerte</a:t>
            </a:r>
            <a:endParaRPr lang="en-US" sz="1350" dirty="0"/>
          </a:p>
        </p:txBody>
      </p:sp>
      <p:sp>
        <p:nvSpPr>
          <p:cNvPr id="20" name="Shape 18"/>
          <p:cNvSpPr/>
          <p:nvPr/>
        </p:nvSpPr>
        <p:spPr>
          <a:xfrm>
            <a:off x="640080" y="4663440"/>
            <a:ext cx="10908792" cy="960120"/>
          </a:xfrm>
          <a:prstGeom prst="roundRect">
            <a:avLst>
              <a:gd name="adj" fmla="val 8571"/>
            </a:avLst>
          </a:prstGeom>
          <a:solidFill>
            <a:srgbClr val="FFFFFF"/>
          </a:solidFill>
          <a:ln w="12700">
            <a:solidFill>
              <a:srgbClr val="E7E1DF"/>
            </a:solidFill>
            <a:prstDash val="solid"/>
          </a:ln>
        </p:spPr>
      </p:sp>
      <p:sp>
        <p:nvSpPr>
          <p:cNvPr id="21" name="Shape 19"/>
          <p:cNvSpPr/>
          <p:nvPr/>
        </p:nvSpPr>
        <p:spPr>
          <a:xfrm>
            <a:off x="868680" y="4919472"/>
            <a:ext cx="457200" cy="457200"/>
          </a:xfrm>
          <a:prstGeom prst="ellipse">
            <a:avLst/>
          </a:prstGeom>
          <a:solidFill>
            <a:srgbClr val="FBEAEC"/>
          </a:solidFill>
          <a:ln/>
        </p:spPr>
      </p:sp>
      <p:sp>
        <p:nvSpPr>
          <p:cNvPr id="22" name="Text 20"/>
          <p:cNvSpPr/>
          <p:nvPr/>
        </p:nvSpPr>
        <p:spPr>
          <a:xfrm>
            <a:off x="868680" y="4919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4</a:t>
            </a:r>
            <a:endParaRPr lang="en-US" sz="1600" dirty="0"/>
          </a:p>
        </p:txBody>
      </p:sp>
      <p:sp>
        <p:nvSpPr>
          <p:cNvPr id="23" name="Text 21"/>
          <p:cNvSpPr/>
          <p:nvPr/>
        </p:nvSpPr>
        <p:spPr>
          <a:xfrm>
            <a:off x="1508760" y="4791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Hablar de tu rutina con verbos reflexivos</a:t>
            </a:r>
            <a:endParaRPr lang="en-US" sz="1700" dirty="0"/>
          </a:p>
        </p:txBody>
      </p:sp>
      <p:sp>
        <p:nvSpPr>
          <p:cNvPr id="24" name="Text 22"/>
          <p:cNvSpPr/>
          <p:nvPr/>
        </p:nvSpPr>
        <p:spPr>
          <a:xfrm>
            <a:off x="1508760" y="5175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me ducho · me peino · se afeita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1 · La clase de Julio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ropa y los colores</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Julio geeft les en roept Paul naar voren. Hij vergelijkt punt voor punt: Paul, en dan hijzelf.</a:t>
            </a:r>
            <a:endParaRPr lang="en-US" sz="1350" dirty="0"/>
          </a:p>
        </p:txBody>
      </p:sp>
      <p:sp>
        <p:nvSpPr>
          <p:cNvPr id="6" name="Text 4"/>
          <p:cNvSpPr/>
          <p:nvPr/>
        </p:nvSpPr>
        <p:spPr>
          <a:xfrm>
            <a:off x="685800" y="141732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7" name="Text 5"/>
          <p:cNvSpPr/>
          <p:nvPr/>
        </p:nvSpPr>
        <p:spPr>
          <a:xfrm>
            <a:off x="2377440" y="141732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levantas, por favor? Y vienes aquí, por favor. ¿Cómo estás?</a:t>
            </a:r>
            <a:endParaRPr lang="en-US" sz="1500" dirty="0"/>
          </a:p>
        </p:txBody>
      </p:sp>
      <p:sp>
        <p:nvSpPr>
          <p:cNvPr id="8" name="Text 6"/>
          <p:cNvSpPr/>
          <p:nvPr/>
        </p:nvSpPr>
        <p:spPr>
          <a:xfrm>
            <a:off x="685800" y="174650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9" name="Text 7"/>
          <p:cNvSpPr/>
          <p:nvPr/>
        </p:nvSpPr>
        <p:spPr>
          <a:xfrm>
            <a:off x="2377440" y="174650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Bien.</a:t>
            </a:r>
            <a:endParaRPr lang="en-US" sz="1500" dirty="0"/>
          </a:p>
        </p:txBody>
      </p:sp>
      <p:sp>
        <p:nvSpPr>
          <p:cNvPr id="10" name="Text 8"/>
          <p:cNvSpPr/>
          <p:nvPr/>
        </p:nvSpPr>
        <p:spPr>
          <a:xfrm>
            <a:off x="685800" y="207568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1" name="Text 9"/>
          <p:cNvSpPr/>
          <p:nvPr/>
        </p:nvSpPr>
        <p:spPr>
          <a:xfrm>
            <a:off x="2377440" y="207568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me preguntas cómo estoy yo?</a:t>
            </a:r>
            <a:endParaRPr lang="en-US" sz="1500" dirty="0"/>
          </a:p>
        </p:txBody>
      </p:sp>
      <p:sp>
        <p:nvSpPr>
          <p:cNvPr id="12" name="Text 10"/>
          <p:cNvSpPr/>
          <p:nvPr/>
        </p:nvSpPr>
        <p:spPr>
          <a:xfrm>
            <a:off x="685800" y="240487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13" name="Text 11"/>
          <p:cNvSpPr/>
          <p:nvPr/>
        </p:nvSpPr>
        <p:spPr>
          <a:xfrm>
            <a:off x="2377440" y="240487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¿Cómo estás, Julio?</a:t>
            </a:r>
            <a:endParaRPr lang="en-US" sz="1500" dirty="0"/>
          </a:p>
        </p:txBody>
      </p:sp>
      <p:sp>
        <p:nvSpPr>
          <p:cNvPr id="14" name="Text 12"/>
          <p:cNvSpPr/>
          <p:nvPr/>
        </p:nvSpPr>
        <p:spPr>
          <a:xfrm>
            <a:off x="685800" y="273405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5" name="Text 13"/>
          <p:cNvSpPr/>
          <p:nvPr/>
        </p:nvSpPr>
        <p:spPr>
          <a:xfrm>
            <a:off x="2377440" y="273405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Estoy mal, pero gracias por preguntar. ¿Qué les parece Paul? ¿Les gusta? ¿Les parece guapo? Muy bien, es guapo, es verdad.</a:t>
            </a:r>
            <a:endParaRPr lang="en-US" sz="1500" dirty="0"/>
          </a:p>
        </p:txBody>
      </p:sp>
      <p:sp>
        <p:nvSpPr>
          <p:cNvPr id="16" name="Text 14"/>
          <p:cNvSpPr/>
          <p:nvPr/>
        </p:nvSpPr>
        <p:spPr>
          <a:xfrm>
            <a:off x="685800" y="306324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Paul</a:t>
            </a:r>
            <a:endParaRPr lang="en-US" sz="1250" dirty="0"/>
          </a:p>
        </p:txBody>
      </p:sp>
      <p:sp>
        <p:nvSpPr>
          <p:cNvPr id="17" name="Text 15"/>
          <p:cNvSpPr/>
          <p:nvPr/>
        </p:nvSpPr>
        <p:spPr>
          <a:xfrm>
            <a:off x="2377440" y="306324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Gracias.</a:t>
            </a:r>
            <a:endParaRPr lang="en-US" sz="1500" dirty="0"/>
          </a:p>
        </p:txBody>
      </p:sp>
      <p:sp>
        <p:nvSpPr>
          <p:cNvPr id="18" name="Text 16"/>
          <p:cNvSpPr/>
          <p:nvPr/>
        </p:nvSpPr>
        <p:spPr>
          <a:xfrm>
            <a:off x="685800" y="339242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9" name="Text 17"/>
          <p:cNvSpPr/>
          <p:nvPr/>
        </p:nvSpPr>
        <p:spPr>
          <a:xfrm>
            <a:off x="2377440" y="339242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es alto y yo no. Paul tiene los ojos azules, y yo no. Paul está fuerte. Y yo, en cambio, no estoy tan fuerte.</a:t>
            </a:r>
            <a:endParaRPr lang="en-US" sz="1500" dirty="0"/>
          </a:p>
        </p:txBody>
      </p:sp>
      <p:sp>
        <p:nvSpPr>
          <p:cNvPr id="20" name="Text 18"/>
          <p:cNvSpPr/>
          <p:nvPr/>
        </p:nvSpPr>
        <p:spPr>
          <a:xfrm>
            <a:off x="685800" y="372160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372160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lleva una chaqueta negra, buena. Yo, en cambio, llevo un jersey verde, barato. Paul lleva corbata. Yo no tengo corbatas.</a:t>
            </a:r>
            <a:endParaRPr lang="en-US" sz="1500" dirty="0"/>
          </a:p>
        </p:txBody>
      </p:sp>
      <p:sp>
        <p:nvSpPr>
          <p:cNvPr id="22" name="Text 20"/>
          <p:cNvSpPr/>
          <p:nvPr/>
        </p:nvSpPr>
        <p:spPr>
          <a:xfrm>
            <a:off x="685800" y="405079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3" name="Text 21"/>
          <p:cNvSpPr/>
          <p:nvPr/>
        </p:nvSpPr>
        <p:spPr>
          <a:xfrm>
            <a:off x="2377440" y="405079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A Paul la ropa le queda muy bien. A mí, en cambio, no me queda tan bien la ropa.</a:t>
            </a:r>
            <a:endParaRPr lang="en-US" sz="1500" dirty="0"/>
          </a:p>
        </p:txBody>
      </p:sp>
      <p:sp>
        <p:nvSpPr>
          <p:cNvPr id="24" name="Text 22"/>
          <p:cNvSpPr/>
          <p:nvPr/>
        </p:nvSpPr>
        <p:spPr>
          <a:xfrm>
            <a:off x="685800" y="437997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5" name="Text 23"/>
          <p:cNvSpPr/>
          <p:nvPr/>
        </p:nvSpPr>
        <p:spPr>
          <a:xfrm>
            <a:off x="2377440" y="437997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lleva unos zapatos modernos. Yo en cambio llevo unas zapatillas viejas y blancas. ¿Alguien sabe decirme alguna diferencia más entre Paul y yo?</a:t>
            </a:r>
            <a:endParaRPr lang="en-US" sz="1500" dirty="0"/>
          </a:p>
        </p:txBody>
      </p:sp>
      <p:sp>
        <p:nvSpPr>
          <p:cNvPr id="26" name="Text 24"/>
          <p:cNvSpPr/>
          <p:nvPr/>
        </p:nvSpPr>
        <p:spPr>
          <a:xfrm>
            <a:off x="685800" y="4709160"/>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Alumna</a:t>
            </a:r>
            <a:endParaRPr lang="en-US" sz="1250" dirty="0"/>
          </a:p>
        </p:txBody>
      </p:sp>
      <p:sp>
        <p:nvSpPr>
          <p:cNvPr id="27" name="Text 25"/>
          <p:cNvSpPr/>
          <p:nvPr/>
        </p:nvSpPr>
        <p:spPr>
          <a:xfrm>
            <a:off x="2377440" y="4709160"/>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¿Paul se afeita?</a:t>
            </a:r>
            <a:endParaRPr lang="en-US" sz="1500" dirty="0"/>
          </a:p>
        </p:txBody>
      </p:sp>
      <p:sp>
        <p:nvSpPr>
          <p:cNvPr id="28" name="Text 26"/>
          <p:cNvSpPr/>
          <p:nvPr/>
        </p:nvSpPr>
        <p:spPr>
          <a:xfrm>
            <a:off x="685800" y="5038344"/>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9" name="Text 27"/>
          <p:cNvSpPr/>
          <p:nvPr/>
        </p:nvSpPr>
        <p:spPr>
          <a:xfrm>
            <a:off x="2377440" y="5038344"/>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Exacto, muy bien. Los verbos reflexivos son acciones dirigidas a uno mismo. Yo, por ejemplo, me voy a matar.</a:t>
            </a:r>
            <a:endParaRPr lang="en-US" sz="1500" dirty="0"/>
          </a:p>
        </p:txBody>
      </p:sp>
      <p:sp>
        <p:nvSpPr>
          <p:cNvPr id="30" name="Text 28"/>
          <p:cNvSpPr/>
          <p:nvPr/>
        </p:nvSpPr>
        <p:spPr>
          <a:xfrm>
            <a:off x="685800" y="5367528"/>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1" name="Text 29"/>
          <p:cNvSpPr/>
          <p:nvPr/>
        </p:nvSpPr>
        <p:spPr>
          <a:xfrm>
            <a:off x="2377440" y="5367528"/>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La gente por las mañanas se ducha, se peina. Vosotros os ducháis, os peináis. Yo no, claro.</a:t>
            </a:r>
            <a:endParaRPr lang="en-US" sz="1500" dirty="0"/>
          </a:p>
        </p:txBody>
      </p:sp>
      <p:sp>
        <p:nvSpPr>
          <p:cNvPr id="32" name="Text 30"/>
          <p:cNvSpPr/>
          <p:nvPr/>
        </p:nvSpPr>
        <p:spPr>
          <a:xfrm>
            <a:off x="685800" y="5696712"/>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3" name="Text 31"/>
          <p:cNvSpPr/>
          <p:nvPr/>
        </p:nvSpPr>
        <p:spPr>
          <a:xfrm>
            <a:off x="2377440" y="5696712"/>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Los pronombres de los verbos reflexivos y los pronombres del complemento indirecto son los mismos. Me gusta, me enamoro. Te gusta, te enamoras. Os gusta, os enamoráis.</a:t>
            </a:r>
            <a:endParaRPr lang="en-US" sz="1500" dirty="0"/>
          </a:p>
        </p:txBody>
      </p:sp>
      <p:sp>
        <p:nvSpPr>
          <p:cNvPr id="34" name="Text 32"/>
          <p:cNvSpPr/>
          <p:nvPr/>
        </p:nvSpPr>
        <p:spPr>
          <a:xfrm>
            <a:off x="685800" y="6025896"/>
            <a:ext cx="1645920" cy="283464"/>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5" name="Text 33"/>
          <p:cNvSpPr/>
          <p:nvPr/>
        </p:nvSpPr>
        <p:spPr>
          <a:xfrm>
            <a:off x="2377440" y="6025896"/>
            <a:ext cx="9079992" cy="283464"/>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Menos en la tercera persona. No le gusta, no se enamora. Porque si no le gusta, ¿por qué se va enamorar? ¿Eh?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2 · Por la ventana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ropa y los colores</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Josefina en María gluren door het raam van Julio's klas.</a:t>
            </a:r>
            <a:endParaRPr lang="en-US" sz="1350" dirty="0"/>
          </a:p>
        </p:txBody>
      </p:sp>
      <p:sp>
        <p:nvSpPr>
          <p:cNvPr id="6" name="Text 4"/>
          <p:cNvSpPr/>
          <p:nvPr/>
        </p:nvSpPr>
        <p:spPr>
          <a:xfrm>
            <a:off x="685800" y="1417320"/>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¿Qué pasa?</a:t>
            </a:r>
            <a:endParaRPr lang="en-US" sz="1500" dirty="0"/>
          </a:p>
        </p:txBody>
      </p:sp>
      <p:sp>
        <p:nvSpPr>
          <p:cNvPr id="8" name="Text 6"/>
          <p:cNvSpPr/>
          <p:nvPr/>
        </p:nvSpPr>
        <p:spPr>
          <a:xfrm>
            <a:off x="685800" y="1984248"/>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Josefina</a:t>
            </a:r>
            <a:endParaRPr lang="en-US" sz="1250" dirty="0"/>
          </a:p>
        </p:txBody>
      </p:sp>
      <p:sp>
        <p:nvSpPr>
          <p:cNvPr id="9" name="Text 7"/>
          <p:cNvSpPr/>
          <p:nvPr/>
        </p:nvSpPr>
        <p:spPr>
          <a:xfrm>
            <a:off x="2377440" y="1984248"/>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¡Shh…! ¡Ven, ven!</a:t>
            </a:r>
            <a:endParaRPr lang="en-US" sz="1500" dirty="0"/>
          </a:p>
        </p:txBody>
      </p:sp>
      <p:sp>
        <p:nvSpPr>
          <p:cNvPr id="10" name="Text 8"/>
          <p:cNvSpPr/>
          <p:nvPr/>
        </p:nvSpPr>
        <p:spPr>
          <a:xfrm>
            <a:off x="685800" y="2551176"/>
            <a:ext cx="1645920" cy="5212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1" name="Text 9"/>
          <p:cNvSpPr/>
          <p:nvPr/>
        </p:nvSpPr>
        <p:spPr>
          <a:xfrm>
            <a:off x="2377440" y="2551176"/>
            <a:ext cx="9079992" cy="5212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 ropa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kleren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chaqueta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jas · het jasje</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jersey</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trui</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camisa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hemd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camiseta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T-shirt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blusa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bloes</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pantalones</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broek</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falda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rok</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vestido</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jurk</a:t>
            </a:r>
            <a:endParaRPr lang="en-US" sz="1250" dirty="0"/>
          </a:p>
        </p:txBody>
      </p:sp>
      <p:sp>
        <p:nvSpPr>
          <p:cNvPr id="29" name="Shape 27"/>
          <p:cNvSpPr/>
          <p:nvPr/>
        </p:nvSpPr>
        <p:spPr>
          <a:xfrm>
            <a:off x="640080" y="4663440"/>
            <a:ext cx="5362956" cy="731520"/>
          </a:xfrm>
          <a:prstGeom prst="roundRect">
            <a:avLst>
              <a:gd name="adj" fmla="val 11250"/>
            </a:avLst>
          </a:prstGeom>
          <a:solidFill>
            <a:srgbClr val="F3EEE4"/>
          </a:solidFill>
          <a:ln w="12700">
            <a:solidFill>
              <a:srgbClr val="F3EEE4"/>
            </a:solidFill>
            <a:prstDash val="solid"/>
          </a:ln>
        </p:spPr>
      </p:sp>
      <p:sp>
        <p:nvSpPr>
          <p:cNvPr id="30" name="Text 28"/>
          <p:cNvSpPr/>
          <p:nvPr/>
        </p:nvSpPr>
        <p:spPr>
          <a:xfrm>
            <a:off x="868680" y="473659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corbata</a:t>
            </a:r>
            <a:endParaRPr lang="en-US" sz="1550" dirty="0"/>
          </a:p>
        </p:txBody>
      </p:sp>
      <p:sp>
        <p:nvSpPr>
          <p:cNvPr id="31" name="Text 29"/>
          <p:cNvSpPr/>
          <p:nvPr/>
        </p:nvSpPr>
        <p:spPr>
          <a:xfrm>
            <a:off x="868680" y="506577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das</a:t>
            </a:r>
            <a:endParaRPr lang="en-US" sz="1250" dirty="0"/>
          </a:p>
        </p:txBody>
      </p:sp>
      <p:sp>
        <p:nvSpPr>
          <p:cNvPr id="32" name="Shape 30"/>
          <p:cNvSpPr/>
          <p:nvPr/>
        </p:nvSpPr>
        <p:spPr>
          <a:xfrm>
            <a:off x="6185916" y="4663440"/>
            <a:ext cx="5362956" cy="731520"/>
          </a:xfrm>
          <a:prstGeom prst="roundRect">
            <a:avLst>
              <a:gd name="adj" fmla="val 11250"/>
            </a:avLst>
          </a:prstGeom>
          <a:solidFill>
            <a:srgbClr val="F3EEE4"/>
          </a:solidFill>
          <a:ln w="12700">
            <a:solidFill>
              <a:srgbClr val="F3EEE4"/>
            </a:solidFill>
            <a:prstDash val="solid"/>
          </a:ln>
        </p:spPr>
      </p:sp>
      <p:sp>
        <p:nvSpPr>
          <p:cNvPr id="33" name="Text 31"/>
          <p:cNvSpPr/>
          <p:nvPr/>
        </p:nvSpPr>
        <p:spPr>
          <a:xfrm>
            <a:off x="6414516" y="473659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abrigo</a:t>
            </a:r>
            <a:endParaRPr lang="en-US" sz="1550" dirty="0"/>
          </a:p>
        </p:txBody>
      </p:sp>
      <p:sp>
        <p:nvSpPr>
          <p:cNvPr id="34" name="Text 32"/>
          <p:cNvSpPr/>
          <p:nvPr/>
        </p:nvSpPr>
        <p:spPr>
          <a:xfrm>
            <a:off x="6414516" y="506577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winterjas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Los zapatos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schoenen en de rest</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zapatos</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schoenen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las zapatillas</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sportschoenen</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las botas</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laarzen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calcetines</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kousen</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gorra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pet</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bolso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handtas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Los colores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kleuren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negro/a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zwart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blanco/a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wit</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verde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groen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azul</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blauw</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rojo/a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rood</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amarillo/a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geel</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gris</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grijs</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marrón</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bruin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¿Cómo 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iemand beschrijven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alto/a · bajo/a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groot · klein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guapo/a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knap</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fuerte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sterk · gespierd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delgado/a · gordo/a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slank · dik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tiene los ojos azules</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hij/zij heeft blauwe ogen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moderno/a · viejo/a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modern · oud</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bueno/a · barato/a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goed · goedkoop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Cada mañana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wederkerende werkwoorden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levantarse</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opstaan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ducharse</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douchen</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peinarse</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kammen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afeitarse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scheren</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vestirse</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zich aankleden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ponerse la chaqueta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jas aandoen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¿Cómo te queda?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over kleren oordelen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llevar</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dragen · aanhebben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bien</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staat me goed</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ancho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zit me te wijd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me queda estrecho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zit me te strak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cambio</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daarentegen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Suena bien</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entonación — la música de la frase</a:t>
            </a:r>
            <a:endParaRPr lang="en-US" sz="1200" dirty="0"/>
          </a:p>
        </p:txBody>
      </p:sp>
      <p:sp>
        <p:nvSpPr>
          <p:cNvPr id="5" name="Shape 3"/>
          <p:cNvSpPr/>
          <p:nvPr/>
        </p:nvSpPr>
        <p:spPr>
          <a:xfrm>
            <a:off x="640080" y="1005840"/>
            <a:ext cx="10908792" cy="1051560"/>
          </a:xfrm>
          <a:prstGeom prst="roundRect">
            <a:avLst>
              <a:gd name="adj" fmla="val 8696"/>
            </a:avLst>
          </a:prstGeom>
          <a:solidFill>
            <a:srgbClr val="FEF3C7"/>
          </a:solidFill>
          <a:ln w="12700">
            <a:solidFill>
              <a:srgbClr val="B45309"/>
            </a:solidFill>
            <a:prstDash val="solid"/>
          </a:ln>
        </p:spPr>
      </p:sp>
      <p:sp>
        <p:nvSpPr>
          <p:cNvPr id="6" name="Text 4"/>
          <p:cNvSpPr/>
          <p:nvPr/>
        </p:nvSpPr>
        <p:spPr>
          <a:xfrm>
            <a:off x="914400" y="1005840"/>
            <a:ext cx="10360152" cy="1051560"/>
          </a:xfrm>
          <a:prstGeom prst="rect">
            <a:avLst/>
          </a:prstGeom>
          <a:noFill/>
          <a:ln/>
        </p:spPr>
        <p:txBody>
          <a:bodyPr wrap="square" lIns="0" tIns="0" rIns="0" bIns="0" rtlCol="0" anchor="ctr"/>
          <a:lstStyle/>
          <a:p>
            <a:pPr indent="0" marL="0">
              <a:buNone/>
            </a:pPr>
            <a:r>
              <a:rPr lang="en-US" sz="1400" dirty="0">
                <a:solidFill>
                  <a:srgbClr val="20242E"/>
                </a:solidFill>
                <a:latin typeface="Inter" pitchFamily="34" charset="0"/>
                <a:ea typeface="Inter" pitchFamily="34" charset="-122"/>
                <a:cs typeface="Inter" pitchFamily="34" charset="-120"/>
              </a:rPr>
              <a:t>Spaans laat je hóren wat voor zin het is. Een vraag krult omhoog, een uitroep gaat omhoog en dan kort omlaag, een mededeling zakt gewoon. In deze aflevering staan alle drie naast elkaar, in één les van Julio.</a:t>
            </a:r>
            <a:endParaRPr lang="en-US" sz="1400" dirty="0"/>
          </a:p>
        </p:txBody>
      </p:sp>
      <p:sp>
        <p:nvSpPr>
          <p:cNvPr id="7" name="Shape 5"/>
          <p:cNvSpPr/>
          <p:nvPr/>
        </p:nvSpPr>
        <p:spPr>
          <a:xfrm>
            <a:off x="640080" y="2286000"/>
            <a:ext cx="3499104" cy="548640"/>
          </a:xfrm>
          <a:prstGeom prst="roundRect">
            <a:avLst>
              <a:gd name="adj" fmla="val 15000"/>
            </a:avLst>
          </a:prstGeom>
          <a:solidFill>
            <a:srgbClr val="FFFFFF"/>
          </a:solidFill>
          <a:ln w="12700">
            <a:solidFill>
              <a:srgbClr val="E7E1DF"/>
            </a:solidFill>
            <a:prstDash val="solid"/>
          </a:ln>
        </p:spPr>
      </p:sp>
      <p:sp>
        <p:nvSpPr>
          <p:cNvPr id="8" name="Text 6"/>
          <p:cNvSpPr/>
          <p:nvPr/>
        </p:nvSpPr>
        <p:spPr>
          <a:xfrm>
            <a:off x="822960"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¿Te levantas, por favor?</a:t>
            </a:r>
            <a:endParaRPr lang="en-US" sz="1600" dirty="0"/>
          </a:p>
        </p:txBody>
      </p:sp>
      <p:sp>
        <p:nvSpPr>
          <p:cNvPr id="9" name="Shape 7"/>
          <p:cNvSpPr/>
          <p:nvPr/>
        </p:nvSpPr>
        <p:spPr>
          <a:xfrm>
            <a:off x="4276344" y="2286000"/>
            <a:ext cx="3499104" cy="548640"/>
          </a:xfrm>
          <a:prstGeom prst="roundRect">
            <a:avLst>
              <a:gd name="adj" fmla="val 15000"/>
            </a:avLst>
          </a:prstGeom>
          <a:solidFill>
            <a:srgbClr val="FFFFFF"/>
          </a:solidFill>
          <a:ln w="12700">
            <a:solidFill>
              <a:srgbClr val="E7E1DF"/>
            </a:solidFill>
            <a:prstDash val="solid"/>
          </a:ln>
        </p:spPr>
      </p:sp>
      <p:sp>
        <p:nvSpPr>
          <p:cNvPr id="10" name="Text 8"/>
          <p:cNvSpPr/>
          <p:nvPr/>
        </p:nvSpPr>
        <p:spPr>
          <a:xfrm>
            <a:off x="4459224"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¿Les parece guapo?</a:t>
            </a:r>
            <a:endParaRPr lang="en-US" sz="1600" dirty="0"/>
          </a:p>
        </p:txBody>
      </p:sp>
      <p:sp>
        <p:nvSpPr>
          <p:cNvPr id="11" name="Shape 9"/>
          <p:cNvSpPr/>
          <p:nvPr/>
        </p:nvSpPr>
        <p:spPr>
          <a:xfrm>
            <a:off x="7912608" y="2286000"/>
            <a:ext cx="3499104" cy="548640"/>
          </a:xfrm>
          <a:prstGeom prst="roundRect">
            <a:avLst>
              <a:gd name="adj" fmla="val 15000"/>
            </a:avLst>
          </a:prstGeom>
          <a:solidFill>
            <a:srgbClr val="FFFFFF"/>
          </a:solidFill>
          <a:ln w="12700">
            <a:solidFill>
              <a:srgbClr val="E7E1DF"/>
            </a:solidFill>
            <a:prstDash val="solid"/>
          </a:ln>
        </p:spPr>
      </p:sp>
      <p:sp>
        <p:nvSpPr>
          <p:cNvPr id="12" name="Text 10"/>
          <p:cNvSpPr/>
          <p:nvPr/>
        </p:nvSpPr>
        <p:spPr>
          <a:xfrm>
            <a:off x="8095488"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Paul lleva corbata.</a:t>
            </a:r>
            <a:endParaRPr lang="en-US" sz="1600" dirty="0"/>
          </a:p>
        </p:txBody>
      </p:sp>
      <p:sp>
        <p:nvSpPr>
          <p:cNvPr id="13" name="Shape 11"/>
          <p:cNvSpPr/>
          <p:nvPr/>
        </p:nvSpPr>
        <p:spPr>
          <a:xfrm>
            <a:off x="640080" y="2971800"/>
            <a:ext cx="3499104" cy="548640"/>
          </a:xfrm>
          <a:prstGeom prst="roundRect">
            <a:avLst>
              <a:gd name="adj" fmla="val 15000"/>
            </a:avLst>
          </a:prstGeom>
          <a:solidFill>
            <a:srgbClr val="FFFFFF"/>
          </a:solidFill>
          <a:ln w="12700">
            <a:solidFill>
              <a:srgbClr val="E7E1DF"/>
            </a:solidFill>
            <a:prstDash val="solid"/>
          </a:ln>
        </p:spPr>
      </p:sp>
      <p:sp>
        <p:nvSpPr>
          <p:cNvPr id="14" name="Text 12"/>
          <p:cNvSpPr/>
          <p:nvPr/>
        </p:nvSpPr>
        <p:spPr>
          <a:xfrm>
            <a:off x="822960"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¡Muy bien!</a:t>
            </a:r>
            <a:endParaRPr lang="en-US" sz="1600" dirty="0"/>
          </a:p>
        </p:txBody>
      </p:sp>
      <p:sp>
        <p:nvSpPr>
          <p:cNvPr id="15" name="Shape 13"/>
          <p:cNvSpPr/>
          <p:nvPr/>
        </p:nvSpPr>
        <p:spPr>
          <a:xfrm>
            <a:off x="4276344" y="2971800"/>
            <a:ext cx="3499104" cy="548640"/>
          </a:xfrm>
          <a:prstGeom prst="roundRect">
            <a:avLst>
              <a:gd name="adj" fmla="val 15000"/>
            </a:avLst>
          </a:prstGeom>
          <a:solidFill>
            <a:srgbClr val="FFFFFF"/>
          </a:solidFill>
          <a:ln w="12700">
            <a:solidFill>
              <a:srgbClr val="E7E1DF"/>
            </a:solidFill>
            <a:prstDash val="solid"/>
          </a:ln>
        </p:spPr>
      </p:sp>
      <p:sp>
        <p:nvSpPr>
          <p:cNvPr id="16" name="Text 14"/>
          <p:cNvSpPr/>
          <p:nvPr/>
        </p:nvSpPr>
        <p:spPr>
          <a:xfrm>
            <a:off x="4459224"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¿Paul se afeita?</a:t>
            </a:r>
            <a:endParaRPr lang="en-US" sz="1600" dirty="0"/>
          </a:p>
        </p:txBody>
      </p:sp>
      <p:sp>
        <p:nvSpPr>
          <p:cNvPr id="17" name="Text 15"/>
          <p:cNvSpPr/>
          <p:nvPr/>
        </p:nvSpPr>
        <p:spPr>
          <a:xfrm>
            <a:off x="640080" y="3886200"/>
            <a:ext cx="10908792" cy="365760"/>
          </a:xfrm>
          <a:prstGeom prst="rect">
            <a:avLst/>
          </a:prstGeom>
          <a:noFill/>
          <a:ln/>
        </p:spPr>
        <p:txBody>
          <a:bodyPr wrap="square" lIns="0" tIns="0" rIns="0" bIns="0" rtlCol="0" anchor="ctr"/>
          <a:lstStyle/>
          <a:p>
            <a:pPr indent="0" marL="0">
              <a:buNone/>
            </a:pPr>
            <a:r>
              <a:rPr lang="en-US" sz="1700" b="1" dirty="0">
                <a:solidFill>
                  <a:srgbClr val="A8323B"/>
                </a:solidFill>
                <a:latin typeface="Bricolage Grotesque" pitchFamily="34" charset="0"/>
                <a:ea typeface="Bricolage Grotesque" pitchFamily="34" charset="-122"/>
                <a:cs typeface="Bricolage Grotesque" pitchFamily="34" charset="-120"/>
              </a:rPr>
              <a:t>¡ … ! y ¿ … ?</a:t>
            </a:r>
            <a:endParaRPr lang="en-US" sz="1700" dirty="0"/>
          </a:p>
        </p:txBody>
      </p:sp>
      <p:sp>
        <p:nvSpPr>
          <p:cNvPr id="18" name="Text 16"/>
          <p:cNvSpPr/>
          <p:nvPr/>
        </p:nvSpPr>
        <p:spPr>
          <a:xfrm>
            <a:off x="640080" y="4251960"/>
            <a:ext cx="10908792" cy="457200"/>
          </a:xfrm>
          <a:prstGeom prst="rect">
            <a:avLst/>
          </a:prstGeom>
          <a:noFill/>
          <a:ln/>
        </p:spPr>
        <p:txBody>
          <a:bodyPr wrap="square" lIns="0" tIns="0" rIns="0" bIns="0" rtlCol="0" anchor="ctr"/>
          <a:lstStyle/>
          <a:p>
            <a:pPr indent="0" marL="0">
              <a:buNone/>
            </a:pPr>
            <a:r>
              <a:rPr lang="en-US" sz="1300" dirty="0">
                <a:solidFill>
                  <a:srgbClr val="6A6E78"/>
                </a:solidFill>
                <a:latin typeface="Inter" pitchFamily="34" charset="0"/>
                <a:ea typeface="Inter" pitchFamily="34" charset="-122"/>
                <a:cs typeface="Inter" pitchFamily="34" charset="-120"/>
              </a:rPr>
              <a:t>Het teken staat er twee keer: aan het begin ondersteboven, aan het eind gewoon. Zo weet je vóór het lezen al hoe de zin klinkt.</a:t>
            </a:r>
            <a:endParaRPr lang="en-US" sz="1300" dirty="0"/>
          </a:p>
        </p:txBody>
      </p:sp>
      <p:sp>
        <p:nvSpPr>
          <p:cNvPr id="19" name="Text 17"/>
          <p:cNvSpPr/>
          <p:nvPr/>
        </p:nvSpPr>
        <p:spPr>
          <a:xfrm>
            <a:off x="822960" y="4754880"/>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¿Cómo estás?  ·  ¿ … ?</a:t>
            </a:r>
            <a:endParaRPr lang="en-US" sz="1350" dirty="0"/>
          </a:p>
        </p:txBody>
      </p:sp>
      <p:sp>
        <p:nvSpPr>
          <p:cNvPr id="20" name="Text 18"/>
          <p:cNvSpPr/>
          <p:nvPr/>
        </p:nvSpPr>
        <p:spPr>
          <a:xfrm>
            <a:off x="822960" y="5065776"/>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¡Qué guapo!  ·  ¡ … !</a:t>
            </a:r>
            <a:endParaRPr lang="en-US" sz="1350" dirty="0"/>
          </a:p>
        </p:txBody>
      </p:sp>
      <p:sp>
        <p:nvSpPr>
          <p:cNvPr id="21" name="Text 19"/>
          <p:cNvSpPr/>
          <p:nvPr/>
        </p:nvSpPr>
        <p:spPr>
          <a:xfrm>
            <a:off x="822960" y="5376672"/>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Llevo un jersey verde.  ·  geen teken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Me ducho · llevo · es y está</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handelingen op jezelf — en wat je aanhebt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me ducho, yo me peino</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yo</a:t>
            </a:r>
            <a:endParaRPr lang="en-US" sz="1250" dirty="0"/>
          </a:p>
        </p:txBody>
      </p:sp>
      <p:sp>
        <p:nvSpPr>
          <p:cNvPr id="8" name="Shape 6"/>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9" name="Text 7"/>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Tú te duchas, tú te peinas</a:t>
            </a:r>
            <a:endParaRPr lang="en-US" sz="1700" dirty="0"/>
          </a:p>
        </p:txBody>
      </p:sp>
      <p:sp>
        <p:nvSpPr>
          <p:cNvPr id="10" name="Text 8"/>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tú</a:t>
            </a:r>
            <a:endParaRPr lang="en-US" sz="1250" dirty="0"/>
          </a:p>
        </p:txBody>
      </p:sp>
      <p:sp>
        <p:nvSpPr>
          <p:cNvPr id="11" name="Shape 9"/>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2" name="Text 10"/>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Él se afeita</a:t>
            </a:r>
            <a:endParaRPr lang="en-US" sz="1700" dirty="0"/>
          </a:p>
        </p:txBody>
      </p:sp>
      <p:sp>
        <p:nvSpPr>
          <p:cNvPr id="13" name="Text 11"/>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él · ella</a:t>
            </a:r>
            <a:endParaRPr lang="en-US" sz="1250" dirty="0"/>
          </a:p>
        </p:txBody>
      </p:sp>
      <p:sp>
        <p:nvSpPr>
          <p:cNvPr id="14" name="Shape 12"/>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5" name="Text 13"/>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Vosotros os ducháis</a:t>
            </a:r>
            <a:endParaRPr lang="en-US" sz="1700" dirty="0"/>
          </a:p>
        </p:txBody>
      </p:sp>
      <p:sp>
        <p:nvSpPr>
          <p:cNvPr id="16" name="Text 14"/>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vosotros</a:t>
            </a:r>
            <a:endParaRPr lang="en-US" sz="1250" dirty="0"/>
          </a:p>
        </p:txBody>
      </p:sp>
      <p:sp>
        <p:nvSpPr>
          <p:cNvPr id="17" name="Shape 15"/>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lleva una chaqueta negra</a:t>
            </a:r>
            <a:endParaRPr lang="en-US" sz="1700" dirty="0"/>
          </a:p>
        </p:txBody>
      </p:sp>
      <p:sp>
        <p:nvSpPr>
          <p:cNvPr id="19" name="Text 17"/>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ahora mismo</a:t>
            </a:r>
            <a:endParaRPr lang="en-US" sz="1250" dirty="0"/>
          </a:p>
        </p:txBody>
      </p:sp>
      <p:sp>
        <p:nvSpPr>
          <p:cNvPr id="20" name="Shape 18"/>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1" name="Text 19"/>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no tengo corbatas</a:t>
            </a:r>
            <a:endParaRPr lang="en-US" sz="1700" dirty="0"/>
          </a:p>
        </p:txBody>
      </p:sp>
      <p:sp>
        <p:nvSpPr>
          <p:cNvPr id="22" name="Text 20"/>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posesión</a:t>
            </a:r>
            <a:endParaRPr lang="en-US" sz="1250" dirty="0"/>
          </a:p>
        </p:txBody>
      </p:sp>
      <p:sp>
        <p:nvSpPr>
          <p:cNvPr id="23" name="Shape 21"/>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24" name="Text 22"/>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 alto y guapo</a:t>
            </a:r>
            <a:endParaRPr lang="en-US" sz="1700" dirty="0"/>
          </a:p>
        </p:txBody>
      </p:sp>
      <p:sp>
        <p:nvSpPr>
          <p:cNvPr id="25" name="Text 23"/>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ser · cómo es siempre</a:t>
            </a:r>
            <a:endParaRPr lang="en-US" sz="1250" dirty="0"/>
          </a:p>
        </p:txBody>
      </p:sp>
      <p:sp>
        <p:nvSpPr>
          <p:cNvPr id="26" name="Shape 24"/>
          <p:cNvSpPr/>
          <p:nvPr/>
        </p:nvSpPr>
        <p:spPr>
          <a:xfrm>
            <a:off x="640080" y="7589520"/>
            <a:ext cx="10908792" cy="777240"/>
          </a:xfrm>
          <a:prstGeom prst="roundRect">
            <a:avLst>
              <a:gd name="adj" fmla="val 10588"/>
            </a:avLst>
          </a:prstGeom>
          <a:solidFill>
            <a:srgbClr val="FFFFFF"/>
          </a:solidFill>
          <a:ln w="12700">
            <a:solidFill>
              <a:srgbClr val="E7E1DF"/>
            </a:solidFill>
            <a:prstDash val="solid"/>
          </a:ln>
        </p:spPr>
      </p:sp>
      <p:sp>
        <p:nvSpPr>
          <p:cNvPr id="27" name="Text 25"/>
          <p:cNvSpPr/>
          <p:nvPr/>
        </p:nvSpPr>
        <p:spPr>
          <a:xfrm>
            <a:off x="914400" y="7644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está fuerte</a:t>
            </a:r>
            <a:endParaRPr lang="en-US" sz="1700" dirty="0"/>
          </a:p>
        </p:txBody>
      </p:sp>
      <p:sp>
        <p:nvSpPr>
          <p:cNvPr id="28" name="Text 26"/>
          <p:cNvSpPr/>
          <p:nvPr/>
        </p:nvSpPr>
        <p:spPr>
          <a:xfrm>
            <a:off x="914400" y="8010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estar · cómo está ahora</a:t>
            </a:r>
            <a:endParaRPr lang="en-US" sz="1250" dirty="0"/>
          </a:p>
        </p:txBody>
      </p:sp>
      <p:sp>
        <p:nvSpPr>
          <p:cNvPr id="29" name="Shape 27"/>
          <p:cNvSpPr/>
          <p:nvPr/>
        </p:nvSpPr>
        <p:spPr>
          <a:xfrm>
            <a:off x="640080" y="8686800"/>
            <a:ext cx="10908792" cy="914400"/>
          </a:xfrm>
          <a:prstGeom prst="roundRect">
            <a:avLst>
              <a:gd name="adj" fmla="val 10000"/>
            </a:avLst>
          </a:prstGeom>
          <a:solidFill>
            <a:srgbClr val="FBEAEC"/>
          </a:solidFill>
          <a:ln w="12700">
            <a:solidFill>
              <a:srgbClr val="FBEAEC"/>
            </a:solidFill>
            <a:prstDash val="solid"/>
          </a:ln>
        </p:spPr>
      </p:sp>
      <p:sp>
        <p:nvSpPr>
          <p:cNvPr id="30" name="Text 28"/>
          <p:cNvSpPr/>
          <p:nvPr/>
        </p:nvSpPr>
        <p:spPr>
          <a:xfrm>
            <a:off x="914400" y="86868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Drie valstrikken op één bladzijde. Eén: me ducho, niet «yo ducho» — de handeling komt op jezelf terug. Twee: wat je aanhebt is llevar, niet «tener» en zeker niet «dragen» in de zin van sjouwen. Drie: es guapo is wie hij is, está fuerte is hoe hij er nu bij loopt.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Me ducho · llevo · es y está</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handelingen op jezelf — en wat je aanhebt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me ducho, yo me peino</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yo</a:t>
            </a:r>
            <a:endParaRPr lang="en-US" sz="1250" dirty="0"/>
          </a:p>
        </p:txBody>
      </p:sp>
      <p:sp>
        <p:nvSpPr>
          <p:cNvPr id="8" name="Text 6"/>
          <p:cNvSpPr/>
          <p:nvPr/>
        </p:nvSpPr>
        <p:spPr>
          <a:xfrm>
            <a:off x="6035040" y="11887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ik douche mij, ik kam mij</a:t>
            </a:r>
            <a:endParaRPr lang="en-US" sz="1350" dirty="0"/>
          </a:p>
        </p:txBody>
      </p:sp>
      <p:sp>
        <p:nvSpPr>
          <p:cNvPr id="9" name="Shape 7"/>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10" name="Text 8"/>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Tú te duchas, tú te peinas</a:t>
            </a:r>
            <a:endParaRPr lang="en-US" sz="1700" dirty="0"/>
          </a:p>
        </p:txBody>
      </p:sp>
      <p:sp>
        <p:nvSpPr>
          <p:cNvPr id="11" name="Text 9"/>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tú</a:t>
            </a:r>
            <a:endParaRPr lang="en-US" sz="1250" dirty="0"/>
          </a:p>
        </p:txBody>
      </p:sp>
      <p:sp>
        <p:nvSpPr>
          <p:cNvPr id="12" name="Text 10"/>
          <p:cNvSpPr/>
          <p:nvPr/>
        </p:nvSpPr>
        <p:spPr>
          <a:xfrm>
            <a:off x="6035040" y="21031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jij doucht je</a:t>
            </a:r>
            <a:endParaRPr lang="en-US" sz="1350" dirty="0"/>
          </a:p>
        </p:txBody>
      </p:sp>
      <p:sp>
        <p:nvSpPr>
          <p:cNvPr id="13" name="Shape 11"/>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4" name="Text 12"/>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Él se afeita</a:t>
            </a:r>
            <a:endParaRPr lang="en-US" sz="1700" dirty="0"/>
          </a:p>
        </p:txBody>
      </p:sp>
      <p:sp>
        <p:nvSpPr>
          <p:cNvPr id="15" name="Text 13"/>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él · ella</a:t>
            </a:r>
            <a:endParaRPr lang="en-US" sz="1250" dirty="0"/>
          </a:p>
        </p:txBody>
      </p:sp>
      <p:sp>
        <p:nvSpPr>
          <p:cNvPr id="16" name="Text 14"/>
          <p:cNvSpPr/>
          <p:nvPr/>
        </p:nvSpPr>
        <p:spPr>
          <a:xfrm>
            <a:off x="6035040" y="30175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hij scheert zich</a:t>
            </a:r>
            <a:endParaRPr lang="en-US" sz="1350" dirty="0"/>
          </a:p>
        </p:txBody>
      </p:sp>
      <p:sp>
        <p:nvSpPr>
          <p:cNvPr id="17" name="Shape 15"/>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Vosotros os ducháis</a:t>
            </a:r>
            <a:endParaRPr lang="en-US" sz="1700" dirty="0"/>
          </a:p>
        </p:txBody>
      </p:sp>
      <p:sp>
        <p:nvSpPr>
          <p:cNvPr id="19" name="Text 17"/>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vosotros</a:t>
            </a:r>
            <a:endParaRPr lang="en-US" sz="1250" dirty="0"/>
          </a:p>
        </p:txBody>
      </p:sp>
      <p:sp>
        <p:nvSpPr>
          <p:cNvPr id="20" name="Text 18"/>
          <p:cNvSpPr/>
          <p:nvPr/>
        </p:nvSpPr>
        <p:spPr>
          <a:xfrm>
            <a:off x="6035040" y="39319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jullie douchen je</a:t>
            </a:r>
            <a:endParaRPr lang="en-US" sz="1350" dirty="0"/>
          </a:p>
        </p:txBody>
      </p:sp>
      <p:sp>
        <p:nvSpPr>
          <p:cNvPr id="21" name="Shape 19"/>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22" name="Text 20"/>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lleva una chaqueta negra</a:t>
            </a:r>
            <a:endParaRPr lang="en-US" sz="1700" dirty="0"/>
          </a:p>
        </p:txBody>
      </p:sp>
      <p:sp>
        <p:nvSpPr>
          <p:cNvPr id="23" name="Text 21"/>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ahora mismo</a:t>
            </a:r>
            <a:endParaRPr lang="en-US" sz="1250" dirty="0"/>
          </a:p>
        </p:txBody>
      </p:sp>
      <p:sp>
        <p:nvSpPr>
          <p:cNvPr id="24" name="Text 22"/>
          <p:cNvSpPr/>
          <p:nvPr/>
        </p:nvSpPr>
        <p:spPr>
          <a:xfrm>
            <a:off x="6035040" y="48463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wat hij nú aanheeft → llevar</a:t>
            </a:r>
            <a:endParaRPr lang="en-US" sz="1350" dirty="0"/>
          </a:p>
        </p:txBody>
      </p:sp>
      <p:sp>
        <p:nvSpPr>
          <p:cNvPr id="25" name="Shape 23"/>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6" name="Text 24"/>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Yo no tengo corbatas</a:t>
            </a:r>
            <a:endParaRPr lang="en-US" sz="1700" dirty="0"/>
          </a:p>
        </p:txBody>
      </p:sp>
      <p:sp>
        <p:nvSpPr>
          <p:cNvPr id="27" name="Text 25"/>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posesión</a:t>
            </a:r>
            <a:endParaRPr lang="en-US" sz="1250" dirty="0"/>
          </a:p>
        </p:txBody>
      </p:sp>
      <p:sp>
        <p:nvSpPr>
          <p:cNvPr id="28" name="Text 26"/>
          <p:cNvSpPr/>
          <p:nvPr/>
        </p:nvSpPr>
        <p:spPr>
          <a:xfrm>
            <a:off x="6035040" y="57607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wat je bezit → tener</a:t>
            </a:r>
            <a:endParaRPr lang="en-US" sz="1350" dirty="0"/>
          </a:p>
        </p:txBody>
      </p:sp>
      <p:sp>
        <p:nvSpPr>
          <p:cNvPr id="29" name="Shape 27"/>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30" name="Text 28"/>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 alto y guapo</a:t>
            </a:r>
            <a:endParaRPr lang="en-US" sz="1700" dirty="0"/>
          </a:p>
        </p:txBody>
      </p:sp>
      <p:sp>
        <p:nvSpPr>
          <p:cNvPr id="31" name="Text 29"/>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ser · cómo es siempre</a:t>
            </a:r>
            <a:endParaRPr lang="en-US" sz="1250" dirty="0"/>
          </a:p>
        </p:txBody>
      </p:sp>
      <p:sp>
        <p:nvSpPr>
          <p:cNvPr id="32" name="Text 30"/>
          <p:cNvSpPr/>
          <p:nvPr/>
        </p:nvSpPr>
        <p:spPr>
          <a:xfrm>
            <a:off x="6035040" y="66751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hoe hij áltijd is → ser</a:t>
            </a:r>
            <a:endParaRPr lang="en-US" sz="1350" dirty="0"/>
          </a:p>
        </p:txBody>
      </p:sp>
      <p:sp>
        <p:nvSpPr>
          <p:cNvPr id="33" name="Shape 31"/>
          <p:cNvSpPr/>
          <p:nvPr/>
        </p:nvSpPr>
        <p:spPr>
          <a:xfrm>
            <a:off x="640080" y="7589520"/>
            <a:ext cx="10908792" cy="777240"/>
          </a:xfrm>
          <a:prstGeom prst="roundRect">
            <a:avLst>
              <a:gd name="adj" fmla="val 10588"/>
            </a:avLst>
          </a:prstGeom>
          <a:solidFill>
            <a:srgbClr val="FFFFFF"/>
          </a:solidFill>
          <a:ln w="12700">
            <a:solidFill>
              <a:srgbClr val="E7E1DF"/>
            </a:solidFill>
            <a:prstDash val="solid"/>
          </a:ln>
        </p:spPr>
      </p:sp>
      <p:sp>
        <p:nvSpPr>
          <p:cNvPr id="34" name="Text 32"/>
          <p:cNvSpPr/>
          <p:nvPr/>
        </p:nvSpPr>
        <p:spPr>
          <a:xfrm>
            <a:off x="914400" y="7644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Paul está fuerte</a:t>
            </a:r>
            <a:endParaRPr lang="en-US" sz="1700" dirty="0"/>
          </a:p>
        </p:txBody>
      </p:sp>
      <p:sp>
        <p:nvSpPr>
          <p:cNvPr id="35" name="Text 33"/>
          <p:cNvSpPr/>
          <p:nvPr/>
        </p:nvSpPr>
        <p:spPr>
          <a:xfrm>
            <a:off x="914400" y="8010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estar · cómo está ahora</a:t>
            </a:r>
            <a:endParaRPr lang="en-US" sz="1250" dirty="0"/>
          </a:p>
        </p:txBody>
      </p:sp>
      <p:sp>
        <p:nvSpPr>
          <p:cNvPr id="36" name="Text 34"/>
          <p:cNvSpPr/>
          <p:nvPr/>
        </p:nvSpPr>
        <p:spPr>
          <a:xfrm>
            <a:off x="6035040" y="75895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hoe hij er nú aan toe is → estar</a:t>
            </a:r>
            <a:endParaRPr lang="en-US" sz="1350" dirty="0"/>
          </a:p>
        </p:txBody>
      </p:sp>
      <p:sp>
        <p:nvSpPr>
          <p:cNvPr id="37" name="Shape 35"/>
          <p:cNvSpPr/>
          <p:nvPr/>
        </p:nvSpPr>
        <p:spPr>
          <a:xfrm>
            <a:off x="640080" y="8686800"/>
            <a:ext cx="10908792" cy="914400"/>
          </a:xfrm>
          <a:prstGeom prst="roundRect">
            <a:avLst>
              <a:gd name="adj" fmla="val 10000"/>
            </a:avLst>
          </a:prstGeom>
          <a:solidFill>
            <a:srgbClr val="FBEAEC"/>
          </a:solidFill>
          <a:ln w="12700">
            <a:solidFill>
              <a:srgbClr val="FBEAEC"/>
            </a:solidFill>
            <a:prstDash val="solid"/>
          </a:ln>
        </p:spPr>
      </p:sp>
      <p:sp>
        <p:nvSpPr>
          <p:cNvPr id="38" name="Text 36"/>
          <p:cNvSpPr/>
          <p:nvPr/>
        </p:nvSpPr>
        <p:spPr>
          <a:xfrm>
            <a:off x="914400" y="86868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Drie valstrikken op één bladzijde. Eén: me ducho, niet «yo ducho» — de handeling komt op jezelf terug. Twee: wat je aanhebt is llevar, niet «tener» en zeker niet «dragen» in de zin van sjouwen. Drie: es guapo is wie hij is, está fuerte is hoe hij er nu bij loopt.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una tienda de ropa</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¿Qué busca Lucas?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Unos zapatos</a:t>
            </a:r>
            <a:endParaRPr lang="en-US" sz="1350" dirty="0"/>
          </a:p>
        </p:txBody>
      </p:sp>
      <p:sp>
        <p:nvSpPr>
          <p:cNvPr id="8" name="Shape 6"/>
          <p:cNvSpPr/>
          <p:nvPr/>
        </p:nvSpPr>
        <p:spPr>
          <a:xfrm>
            <a:off x="4276344" y="1600200"/>
            <a:ext cx="3270504" cy="566928"/>
          </a:xfrm>
          <a:prstGeom prst="roundRect">
            <a:avLst>
              <a:gd name="adj" fmla="val 14516"/>
            </a:avLst>
          </a:prstGeom>
          <a:solidFill>
            <a:srgbClr val="FFFFFF"/>
          </a:solidFill>
          <a:ln w="12700">
            <a:solidFill>
              <a:srgbClr val="E7E1DF"/>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Una chaqueta</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 jersey</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¿Cuánto cuesta?</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29,90 €</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39,90 €</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49,90 €</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¿Qué talla se lleva al final?</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S</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M</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L</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una tienda de ropa</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¿Qué busca Lucas?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Unos zapatos</a:t>
            </a:r>
            <a:endParaRPr lang="en-US" sz="1350" dirty="0"/>
          </a:p>
        </p:txBody>
      </p:sp>
      <p:sp>
        <p:nvSpPr>
          <p:cNvPr id="8" name="Shape 6"/>
          <p:cNvSpPr/>
          <p:nvPr/>
        </p:nvSpPr>
        <p:spPr>
          <a:xfrm>
            <a:off x="4276344" y="1600200"/>
            <a:ext cx="3270504" cy="566928"/>
          </a:xfrm>
          <a:prstGeom prst="roundRect">
            <a:avLst>
              <a:gd name="adj" fmla="val 14516"/>
            </a:avLst>
          </a:prstGeom>
          <a:solidFill>
            <a:srgbClr val="EAF7EE"/>
          </a:solidFill>
          <a:ln w="12700">
            <a:solidFill>
              <a:srgbClr val="2F9A4A"/>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Una chaqueta</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Un jersey</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¿Cuánto cuesta?</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29,90 €</a:t>
            </a:r>
            <a:endParaRPr lang="en-US" sz="1350" dirty="0"/>
          </a:p>
        </p:txBody>
      </p:sp>
      <p:sp>
        <p:nvSpPr>
          <p:cNvPr id="15" name="Shape 13"/>
          <p:cNvSpPr/>
          <p:nvPr/>
        </p:nvSpPr>
        <p:spPr>
          <a:xfrm>
            <a:off x="4276344" y="3200400"/>
            <a:ext cx="3270504" cy="566928"/>
          </a:xfrm>
          <a:prstGeom prst="roundRect">
            <a:avLst>
              <a:gd name="adj" fmla="val 14516"/>
            </a:avLst>
          </a:prstGeom>
          <a:solidFill>
            <a:srgbClr val="EAF7EE"/>
          </a:solidFill>
          <a:ln w="12700">
            <a:solidFill>
              <a:srgbClr val="2F9A4A"/>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39,90 €</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49,90 €</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¿Qué talla se lleva al final?</a:t>
            </a:r>
            <a:endParaRPr lang="en-US" sz="1700" dirty="0"/>
          </a:p>
        </p:txBody>
      </p:sp>
      <p:sp>
        <p:nvSpPr>
          <p:cNvPr id="20" name="Shape 18"/>
          <p:cNvSpPr/>
          <p:nvPr/>
        </p:nvSpPr>
        <p:spPr>
          <a:xfrm>
            <a:off x="822960" y="4800600"/>
            <a:ext cx="3270504" cy="566928"/>
          </a:xfrm>
          <a:prstGeom prst="roundRect">
            <a:avLst>
              <a:gd name="adj" fmla="val 14516"/>
            </a:avLst>
          </a:prstGeom>
          <a:solidFill>
            <a:srgbClr val="EAF7EE"/>
          </a:solidFill>
          <a:ln w="12700">
            <a:solidFill>
              <a:srgbClr val="2F9A4A"/>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La S</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M</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La 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 que ya sé decir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Funciones comunicativas</a:t>
            </a:r>
            <a:endParaRPr lang="en-US" sz="1200" dirty="0"/>
          </a:p>
        </p:txBody>
      </p:sp>
      <p:sp>
        <p:nvSpPr>
          <p:cNvPr id="5" name="Shape 3"/>
          <p:cNvSpPr/>
          <p:nvPr/>
        </p:nvSpPr>
        <p:spPr>
          <a:xfrm>
            <a:off x="640080" y="1188720"/>
            <a:ext cx="10908792" cy="640080"/>
          </a:xfrm>
          <a:prstGeom prst="roundRect">
            <a:avLst>
              <a:gd name="adj" fmla="val 12857"/>
            </a:avLst>
          </a:prstGeom>
          <a:solidFill>
            <a:srgbClr val="FFFFFF"/>
          </a:solidFill>
          <a:ln w="12700">
            <a:solidFill>
              <a:srgbClr val="E7E1DF"/>
            </a:solidFill>
            <a:prstDash val="solid"/>
          </a:ln>
        </p:spPr>
      </p:sp>
      <p:sp>
        <p:nvSpPr>
          <p:cNvPr id="6" name="Text 4"/>
          <p:cNvSpPr/>
          <p:nvPr/>
        </p:nvSpPr>
        <p:spPr>
          <a:xfrm>
            <a:off x="914400" y="11887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lleva una chaqueta negra, buena.»</a:t>
            </a:r>
            <a:endParaRPr lang="en-US" sz="1600" dirty="0"/>
          </a:p>
        </p:txBody>
      </p:sp>
      <p:sp>
        <p:nvSpPr>
          <p:cNvPr id="7" name="Text 5"/>
          <p:cNvSpPr/>
          <p:nvPr/>
        </p:nvSpPr>
        <p:spPr>
          <a:xfrm>
            <a:off x="7680960" y="11887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8" name="Shape 6"/>
          <p:cNvSpPr/>
          <p:nvPr/>
        </p:nvSpPr>
        <p:spPr>
          <a:xfrm>
            <a:off x="640080" y="1965960"/>
            <a:ext cx="10908792" cy="640080"/>
          </a:xfrm>
          <a:prstGeom prst="roundRect">
            <a:avLst>
              <a:gd name="adj" fmla="val 12857"/>
            </a:avLst>
          </a:prstGeom>
          <a:solidFill>
            <a:srgbClr val="FFFFFF"/>
          </a:solidFill>
          <a:ln w="12700">
            <a:solidFill>
              <a:srgbClr val="E7E1DF"/>
            </a:solidFill>
            <a:prstDash val="solid"/>
          </a:ln>
        </p:spPr>
      </p:sp>
      <p:sp>
        <p:nvSpPr>
          <p:cNvPr id="9" name="Text 7"/>
          <p:cNvSpPr/>
          <p:nvPr/>
        </p:nvSpPr>
        <p:spPr>
          <a:xfrm>
            <a:off x="914400" y="19659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«Yo, en cambio, llevo un jersey verde, barato.»</a:t>
            </a:r>
            <a:endParaRPr lang="en-US" sz="1600" dirty="0"/>
          </a:p>
        </p:txBody>
      </p:sp>
      <p:sp>
        <p:nvSpPr>
          <p:cNvPr id="10" name="Text 8"/>
          <p:cNvSpPr/>
          <p:nvPr/>
        </p:nvSpPr>
        <p:spPr>
          <a:xfrm>
            <a:off x="7680960" y="19659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1" name="Shape 9"/>
          <p:cNvSpPr/>
          <p:nvPr/>
        </p:nvSpPr>
        <p:spPr>
          <a:xfrm>
            <a:off x="640080" y="2743200"/>
            <a:ext cx="10908792" cy="640080"/>
          </a:xfrm>
          <a:prstGeom prst="roundRect">
            <a:avLst>
              <a:gd name="adj" fmla="val 12857"/>
            </a:avLst>
          </a:prstGeom>
          <a:solidFill>
            <a:srgbClr val="FFFFFF"/>
          </a:solidFill>
          <a:ln w="12700">
            <a:solidFill>
              <a:srgbClr val="E7E1DF"/>
            </a:solidFill>
            <a:prstDash val="solid"/>
          </a:ln>
        </p:spPr>
      </p:sp>
      <p:sp>
        <p:nvSpPr>
          <p:cNvPr id="12" name="Text 10"/>
          <p:cNvSpPr/>
          <p:nvPr/>
        </p:nvSpPr>
        <p:spPr>
          <a:xfrm>
            <a:off x="914400" y="27432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es alto y yo no.»</a:t>
            </a:r>
            <a:endParaRPr lang="en-US" sz="1600" dirty="0"/>
          </a:p>
        </p:txBody>
      </p:sp>
      <p:sp>
        <p:nvSpPr>
          <p:cNvPr id="13" name="Text 11"/>
          <p:cNvSpPr/>
          <p:nvPr/>
        </p:nvSpPr>
        <p:spPr>
          <a:xfrm>
            <a:off x="7680960" y="27432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4" name="Shape 12"/>
          <p:cNvSpPr/>
          <p:nvPr/>
        </p:nvSpPr>
        <p:spPr>
          <a:xfrm>
            <a:off x="640080" y="3520440"/>
            <a:ext cx="10908792" cy="640080"/>
          </a:xfrm>
          <a:prstGeom prst="roundRect">
            <a:avLst>
              <a:gd name="adj" fmla="val 12857"/>
            </a:avLst>
          </a:prstGeom>
          <a:solidFill>
            <a:srgbClr val="FFFFFF"/>
          </a:solidFill>
          <a:ln w="12700">
            <a:solidFill>
              <a:srgbClr val="E7E1DF"/>
            </a:solidFill>
            <a:prstDash val="solid"/>
          </a:ln>
        </p:spPr>
      </p:sp>
      <p:sp>
        <p:nvSpPr>
          <p:cNvPr id="15" name="Text 13"/>
          <p:cNvSpPr/>
          <p:nvPr/>
        </p:nvSpPr>
        <p:spPr>
          <a:xfrm>
            <a:off x="914400" y="352044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está fuerte.»</a:t>
            </a:r>
            <a:endParaRPr lang="en-US" sz="1600" dirty="0"/>
          </a:p>
        </p:txBody>
      </p:sp>
      <p:sp>
        <p:nvSpPr>
          <p:cNvPr id="16" name="Text 14"/>
          <p:cNvSpPr/>
          <p:nvPr/>
        </p:nvSpPr>
        <p:spPr>
          <a:xfrm>
            <a:off x="7680960" y="352044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Describir a alguien</a:t>
            </a:r>
            <a:endParaRPr lang="en-US" sz="1250" dirty="0"/>
          </a:p>
        </p:txBody>
      </p:sp>
      <p:sp>
        <p:nvSpPr>
          <p:cNvPr id="17" name="Shape 15"/>
          <p:cNvSpPr/>
          <p:nvPr/>
        </p:nvSpPr>
        <p:spPr>
          <a:xfrm>
            <a:off x="640080" y="4297680"/>
            <a:ext cx="10908792" cy="640080"/>
          </a:xfrm>
          <a:prstGeom prst="roundRect">
            <a:avLst>
              <a:gd name="adj" fmla="val 12857"/>
            </a:avLst>
          </a:prstGeom>
          <a:solidFill>
            <a:srgbClr val="FFFFFF"/>
          </a:solidFill>
          <a:ln w="12700">
            <a:solidFill>
              <a:srgbClr val="E7E1DF"/>
            </a:solidFill>
            <a:prstDash val="solid"/>
          </a:ln>
        </p:spPr>
      </p:sp>
      <p:sp>
        <p:nvSpPr>
          <p:cNvPr id="18" name="Text 16"/>
          <p:cNvSpPr/>
          <p:nvPr/>
        </p:nvSpPr>
        <p:spPr>
          <a:xfrm>
            <a:off x="914400" y="429768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«¿Paul se afeita?»</a:t>
            </a:r>
            <a:endParaRPr lang="en-US" sz="1600" dirty="0"/>
          </a:p>
        </p:txBody>
      </p:sp>
      <p:sp>
        <p:nvSpPr>
          <p:cNvPr id="19" name="Text 17"/>
          <p:cNvSpPr/>
          <p:nvPr/>
        </p:nvSpPr>
        <p:spPr>
          <a:xfrm>
            <a:off x="7680960" y="429768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0" name="Shape 18"/>
          <p:cNvSpPr/>
          <p:nvPr/>
        </p:nvSpPr>
        <p:spPr>
          <a:xfrm>
            <a:off x="640080" y="5074920"/>
            <a:ext cx="10908792" cy="640080"/>
          </a:xfrm>
          <a:prstGeom prst="roundRect">
            <a:avLst>
              <a:gd name="adj" fmla="val 12857"/>
            </a:avLst>
          </a:prstGeom>
          <a:solidFill>
            <a:srgbClr val="FFFFFF"/>
          </a:solidFill>
          <a:ln w="12700">
            <a:solidFill>
              <a:srgbClr val="E7E1DF"/>
            </a:solidFill>
            <a:prstDash val="solid"/>
          </a:ln>
        </p:spPr>
      </p:sp>
      <p:sp>
        <p:nvSpPr>
          <p:cNvPr id="21" name="Text 19"/>
          <p:cNvSpPr/>
          <p:nvPr/>
        </p:nvSpPr>
        <p:spPr>
          <a:xfrm>
            <a:off x="914400" y="50749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«La gente por las mañanas se ducha, se peina.»</a:t>
            </a:r>
            <a:endParaRPr lang="en-US" sz="1600" dirty="0"/>
          </a:p>
        </p:txBody>
      </p:sp>
      <p:sp>
        <p:nvSpPr>
          <p:cNvPr id="22" name="Text 20"/>
          <p:cNvSpPr/>
          <p:nvPr/>
        </p:nvSpPr>
        <p:spPr>
          <a:xfrm>
            <a:off x="7680960" y="50749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3" name="Shape 21"/>
          <p:cNvSpPr/>
          <p:nvPr/>
        </p:nvSpPr>
        <p:spPr>
          <a:xfrm>
            <a:off x="640080" y="5852160"/>
            <a:ext cx="10908792" cy="640080"/>
          </a:xfrm>
          <a:prstGeom prst="roundRect">
            <a:avLst>
              <a:gd name="adj" fmla="val 12857"/>
            </a:avLst>
          </a:prstGeom>
          <a:solidFill>
            <a:srgbClr val="FFFFFF"/>
          </a:solidFill>
          <a:ln w="12700">
            <a:solidFill>
              <a:srgbClr val="E7E1DF"/>
            </a:solidFill>
            <a:prstDash val="solid"/>
          </a:ln>
        </p:spPr>
      </p:sp>
      <p:sp>
        <p:nvSpPr>
          <p:cNvPr id="24" name="Text 22"/>
          <p:cNvSpPr/>
          <p:nvPr/>
        </p:nvSpPr>
        <p:spPr>
          <a:xfrm>
            <a:off x="914400" y="58521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«Vosotros os ducháis, os peináis.»</a:t>
            </a:r>
            <a:endParaRPr lang="en-US" sz="1600" dirty="0"/>
          </a:p>
        </p:txBody>
      </p:sp>
      <p:sp>
        <p:nvSpPr>
          <p:cNvPr id="25" name="Text 23"/>
          <p:cNvSpPr/>
          <p:nvPr/>
        </p:nvSpPr>
        <p:spPr>
          <a:xfrm>
            <a:off x="7680960" y="58521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la rutina diaria</a:t>
            </a:r>
            <a:endParaRPr lang="en-US" sz="1250" dirty="0"/>
          </a:p>
        </p:txBody>
      </p:sp>
      <p:sp>
        <p:nvSpPr>
          <p:cNvPr id="26" name="Shape 24"/>
          <p:cNvSpPr/>
          <p:nvPr/>
        </p:nvSpPr>
        <p:spPr>
          <a:xfrm>
            <a:off x="640080" y="6629400"/>
            <a:ext cx="10908792" cy="640080"/>
          </a:xfrm>
          <a:prstGeom prst="roundRect">
            <a:avLst>
              <a:gd name="adj" fmla="val 12857"/>
            </a:avLst>
          </a:prstGeom>
          <a:solidFill>
            <a:srgbClr val="FFFFFF"/>
          </a:solidFill>
          <a:ln w="12700">
            <a:solidFill>
              <a:srgbClr val="E7E1DF"/>
            </a:solidFill>
            <a:prstDash val="solid"/>
          </a:ln>
        </p:spPr>
      </p:sp>
      <p:sp>
        <p:nvSpPr>
          <p:cNvPr id="27" name="Text 25"/>
          <p:cNvSpPr/>
          <p:nvPr/>
        </p:nvSpPr>
        <p:spPr>
          <a:xfrm>
            <a:off x="914400" y="66294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«A Paul la ropa le queda muy bien.»</a:t>
            </a:r>
            <a:endParaRPr lang="en-US" sz="1600" dirty="0"/>
          </a:p>
        </p:txBody>
      </p:sp>
      <p:sp>
        <p:nvSpPr>
          <p:cNvPr id="28" name="Text 26"/>
          <p:cNvSpPr/>
          <p:nvPr/>
        </p:nvSpPr>
        <p:spPr>
          <a:xfrm>
            <a:off x="7680960" y="66294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Tarea final · El desfile de la clase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12</a:t>
            </a:r>
            <a:endParaRPr lang="en-US" sz="1200" dirty="0"/>
          </a:p>
        </p:txBody>
      </p:sp>
      <p:sp>
        <p:nvSpPr>
          <p:cNvPr id="5" name="Shape 3"/>
          <p:cNvSpPr/>
          <p:nvPr/>
        </p:nvSpPr>
        <p:spPr>
          <a:xfrm>
            <a:off x="640080" y="1005840"/>
            <a:ext cx="10908792" cy="914400"/>
          </a:xfrm>
          <a:prstGeom prst="roundRect">
            <a:avLst>
              <a:gd name="adj" fmla="val 10000"/>
            </a:avLst>
          </a:prstGeom>
          <a:solidFill>
            <a:srgbClr val="FBEAEC"/>
          </a:solidFill>
          <a:ln w="12700">
            <a:solidFill>
              <a:srgbClr val="FBEAEC"/>
            </a:solidFill>
            <a:prstDash val="solid"/>
          </a:ln>
        </p:spPr>
      </p:sp>
      <p:sp>
        <p:nvSpPr>
          <p:cNvPr id="6" name="Text 4"/>
          <p:cNvSpPr/>
          <p:nvPr/>
        </p:nvSpPr>
        <p:spPr>
          <a:xfrm>
            <a:off x="914400" y="1005840"/>
            <a:ext cx="10360152" cy="502920"/>
          </a:xfrm>
          <a:prstGeom prst="rect">
            <a:avLst/>
          </a:prstGeom>
          <a:noFill/>
          <a:ln/>
        </p:spPr>
        <p:txBody>
          <a:bodyPr wrap="square" lIns="0" tIns="0" rIns="0" bIns="0" rtlCol="0" anchor="ctr"/>
          <a:lstStyle/>
          <a:p>
            <a:pPr indent="0" marL="0">
              <a:buNone/>
            </a:pPr>
            <a:r>
              <a:rPr lang="en-US" sz="1800" b="1" dirty="0">
                <a:solidFill>
                  <a:srgbClr val="A8323B"/>
                </a:solidFill>
                <a:latin typeface="Bricolage Grotesque" pitchFamily="34" charset="0"/>
                <a:ea typeface="Bricolage Grotesque" pitchFamily="34" charset="-122"/>
                <a:cs typeface="Bricolage Grotesque" pitchFamily="34" charset="-120"/>
              </a:rPr>
              <a:t>Describe a un compañero como Julio describe a Paul: ropa, colores y una diferencia contigo.</a:t>
            </a:r>
            <a:endParaRPr lang="en-US" sz="1800" dirty="0"/>
          </a:p>
        </p:txBody>
      </p:sp>
      <p:sp>
        <p:nvSpPr>
          <p:cNvPr id="7" name="Text 5"/>
          <p:cNvSpPr/>
          <p:nvPr/>
        </p:nvSpPr>
        <p:spPr>
          <a:xfrm>
            <a:off x="914400" y="1463040"/>
            <a:ext cx="10360152" cy="41148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Beschrijf een klasgenoot zoals Julio Paul beschrijft: kleren, kleuren en één verschil met jezelf.</a:t>
            </a:r>
            <a:endParaRPr lang="en-US" sz="1350" dirty="0"/>
          </a:p>
        </p:txBody>
      </p:sp>
      <p:sp>
        <p:nvSpPr>
          <p:cNvPr id="8" name="Shape 6"/>
          <p:cNvSpPr/>
          <p:nvPr/>
        </p:nvSpPr>
        <p:spPr>
          <a:xfrm>
            <a:off x="685800" y="2240280"/>
            <a:ext cx="411480" cy="411480"/>
          </a:xfrm>
          <a:prstGeom prst="ellipse">
            <a:avLst/>
          </a:prstGeom>
          <a:solidFill>
            <a:srgbClr val="D64550"/>
          </a:solidFill>
          <a:ln/>
        </p:spPr>
      </p:sp>
      <p:sp>
        <p:nvSpPr>
          <p:cNvPr id="9" name="Text 7"/>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1</a:t>
            </a:r>
            <a:endParaRPr lang="en-US" sz="1400" dirty="0"/>
          </a:p>
        </p:txBody>
      </p:sp>
      <p:sp>
        <p:nvSpPr>
          <p:cNvPr id="10" name="Text 8"/>
          <p:cNvSpPr/>
          <p:nvPr/>
        </p:nvSpPr>
        <p:spPr>
          <a:xfrm>
            <a:off x="1280160" y="2148840"/>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Kies iemand uit de klas (of een foto) en noteer wat hij/zij aanheeft: lleva… + kleur.</a:t>
            </a:r>
            <a:endParaRPr lang="en-US" sz="1450" dirty="0"/>
          </a:p>
        </p:txBody>
      </p:sp>
      <p:sp>
        <p:nvSpPr>
          <p:cNvPr id="11" name="Shape 9"/>
          <p:cNvSpPr/>
          <p:nvPr/>
        </p:nvSpPr>
        <p:spPr>
          <a:xfrm>
            <a:off x="685800" y="3044952"/>
            <a:ext cx="411480" cy="411480"/>
          </a:xfrm>
          <a:prstGeom prst="ellipse">
            <a:avLst/>
          </a:prstGeom>
          <a:solidFill>
            <a:srgbClr val="D64550"/>
          </a:solidFill>
          <a:ln/>
        </p:spPr>
      </p:sp>
      <p:sp>
        <p:nvSpPr>
          <p:cNvPr id="12" name="Text 10"/>
          <p:cNvSpPr/>
          <p:nvPr/>
        </p:nvSpPr>
        <p:spPr>
          <a:xfrm>
            <a:off x="685800" y="3044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2</a:t>
            </a:r>
            <a:endParaRPr lang="en-US" sz="1400" dirty="0"/>
          </a:p>
        </p:txBody>
      </p:sp>
      <p:sp>
        <p:nvSpPr>
          <p:cNvPr id="13" name="Text 11"/>
          <p:cNvSpPr/>
          <p:nvPr/>
        </p:nvSpPr>
        <p:spPr>
          <a:xfrm>
            <a:off x="1280160" y="2953512"/>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Voeg twee beschrijvingen toe met ser: es alto, es simpático.</a:t>
            </a:r>
            <a:endParaRPr lang="en-US" sz="1450" dirty="0"/>
          </a:p>
        </p:txBody>
      </p:sp>
      <p:sp>
        <p:nvSpPr>
          <p:cNvPr id="14" name="Shape 12"/>
          <p:cNvSpPr/>
          <p:nvPr/>
        </p:nvSpPr>
        <p:spPr>
          <a:xfrm>
            <a:off x="685800" y="3849624"/>
            <a:ext cx="411480" cy="411480"/>
          </a:xfrm>
          <a:prstGeom prst="ellipse">
            <a:avLst/>
          </a:prstGeom>
          <a:solidFill>
            <a:srgbClr val="D64550"/>
          </a:solidFill>
          <a:ln/>
        </p:spPr>
      </p:sp>
      <p:sp>
        <p:nvSpPr>
          <p:cNvPr id="15" name="Text 13"/>
          <p:cNvSpPr/>
          <p:nvPr/>
        </p:nvSpPr>
        <p:spPr>
          <a:xfrm>
            <a:off x="68580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3</a:t>
            </a:r>
            <a:endParaRPr lang="en-US" sz="1400" dirty="0"/>
          </a:p>
        </p:txBody>
      </p:sp>
      <p:sp>
        <p:nvSpPr>
          <p:cNvPr id="16" name="Text 14"/>
          <p:cNvSpPr/>
          <p:nvPr/>
        </p:nvSpPr>
        <p:spPr>
          <a:xfrm>
            <a:off x="1280160" y="3758184"/>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Voeg één met estar toe: hoy está cansado.</a:t>
            </a:r>
            <a:endParaRPr lang="en-US" sz="1450" dirty="0"/>
          </a:p>
        </p:txBody>
      </p:sp>
      <p:sp>
        <p:nvSpPr>
          <p:cNvPr id="17" name="Shape 15"/>
          <p:cNvSpPr/>
          <p:nvPr/>
        </p:nvSpPr>
        <p:spPr>
          <a:xfrm>
            <a:off x="685800" y="4654296"/>
            <a:ext cx="411480" cy="411480"/>
          </a:xfrm>
          <a:prstGeom prst="ellipse">
            <a:avLst/>
          </a:prstGeom>
          <a:solidFill>
            <a:srgbClr val="D64550"/>
          </a:solidFill>
          <a:ln/>
        </p:spPr>
      </p:sp>
      <p:sp>
        <p:nvSpPr>
          <p:cNvPr id="18" name="Text 16"/>
          <p:cNvSpPr/>
          <p:nvPr/>
        </p:nvSpPr>
        <p:spPr>
          <a:xfrm>
            <a:off x="68580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4</a:t>
            </a:r>
            <a:endParaRPr lang="en-US" sz="1400" dirty="0"/>
          </a:p>
        </p:txBody>
      </p:sp>
      <p:sp>
        <p:nvSpPr>
          <p:cNvPr id="19" name="Text 17"/>
          <p:cNvSpPr/>
          <p:nvPr/>
        </p:nvSpPr>
        <p:spPr>
          <a:xfrm>
            <a:off x="1280160" y="4562856"/>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Zet er één verschil met jezelf naast, met en cambio: «Él lleva zapatos; yo, en cambio, llevo zapatillas.»</a:t>
            </a:r>
            <a:endParaRPr lang="en-US" sz="1450" dirty="0"/>
          </a:p>
        </p:txBody>
      </p:sp>
      <p:sp>
        <p:nvSpPr>
          <p:cNvPr id="20" name="Shape 18"/>
          <p:cNvSpPr/>
          <p:nvPr/>
        </p:nvSpPr>
        <p:spPr>
          <a:xfrm>
            <a:off x="685800" y="5458968"/>
            <a:ext cx="411480" cy="411480"/>
          </a:xfrm>
          <a:prstGeom prst="ellipse">
            <a:avLst/>
          </a:prstGeom>
          <a:solidFill>
            <a:srgbClr val="D64550"/>
          </a:solidFill>
          <a:ln/>
        </p:spPr>
      </p:sp>
      <p:sp>
        <p:nvSpPr>
          <p:cNvPr id="21" name="Text 19"/>
          <p:cNvSpPr/>
          <p:nvPr/>
        </p:nvSpPr>
        <p:spPr>
          <a:xfrm>
            <a:off x="685800" y="5458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5</a:t>
            </a:r>
            <a:endParaRPr lang="en-US" sz="1400" dirty="0"/>
          </a:p>
        </p:txBody>
      </p:sp>
      <p:sp>
        <p:nvSpPr>
          <p:cNvPr id="22" name="Text 20"/>
          <p:cNvSpPr/>
          <p:nvPr/>
        </p:nvSpPr>
        <p:spPr>
          <a:xfrm>
            <a:off x="1280160" y="5367528"/>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Eindig met één wederkerend werkwoord over jouw ochtend: Yo me levanto a las siete y me ducho.</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2194560"/>
            <a:ext cx="10725912" cy="914400"/>
          </a:xfrm>
          <a:prstGeom prst="rect">
            <a:avLst/>
          </a:prstGeom>
          <a:noFill/>
          <a:ln/>
        </p:spPr>
        <p:txBody>
          <a:bodyPr wrap="square" lIns="0" tIns="0" rIns="0" bIns="0" rtlCol="0" anchor="ctr"/>
          <a:lstStyle/>
          <a:p>
            <a:pPr indent="0" marL="0">
              <a:buNone/>
            </a:pPr>
            <a:r>
              <a:rPr lang="en-US" sz="4600" b="1" dirty="0">
                <a:solidFill>
                  <a:srgbClr val="FFFFFF"/>
                </a:solidFill>
                <a:latin typeface="Bricolage Grotesque" pitchFamily="34" charset="0"/>
                <a:ea typeface="Bricolage Grotesque" pitchFamily="34" charset="-122"/>
                <a:cs typeface="Bricolage Grotesque" pitchFamily="34" charset="-120"/>
              </a:rPr>
              <a:t>¿Y tú?</a:t>
            </a:r>
            <a:endParaRPr lang="en-US" sz="4600" dirty="0"/>
          </a:p>
        </p:txBody>
      </p:sp>
      <p:sp>
        <p:nvSpPr>
          <p:cNvPr id="3" name="Text 1"/>
          <p:cNvSpPr/>
          <p:nvPr/>
        </p:nvSpPr>
        <p:spPr>
          <a:xfrm>
            <a:off x="731520" y="3200400"/>
            <a:ext cx="10725912" cy="73152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Wat neem je mee uit deze unidad? Noteer drie chunks die je zeker wil onthouden.</a:t>
            </a:r>
            <a:endParaRPr lang="en-US" sz="1700" dirty="0"/>
          </a:p>
        </p:txBody>
      </p:sp>
      <p:sp>
        <p:nvSpPr>
          <p:cNvPr id="4" name="Text 2"/>
          <p:cNvSpPr/>
          <p:nvPr/>
        </p:nvSpPr>
        <p:spPr>
          <a:xfrm>
            <a:off x="731520" y="4023360"/>
            <a:ext cx="10725912" cy="731520"/>
          </a:xfrm>
          <a:prstGeom prst="rect">
            <a:avLst/>
          </a:prstGeom>
          <a:noFill/>
          <a:ln/>
        </p:spPr>
        <p:txBody>
          <a:bodyPr wrap="square" lIns="0" tIns="0" rIns="0" bIns="0" rtlCol="0" anchor="ctr"/>
          <a:lstStyle/>
          <a:p>
            <a:pPr indent="0" marL="0">
              <a:buNone/>
            </a:pPr>
            <a:r>
              <a:rPr lang="en-US" sz="1600" dirty="0">
                <a:solidFill>
                  <a:srgbClr val="FFFFFF"/>
                </a:solidFill>
                <a:latin typeface="Bricolage Grotesque" pitchFamily="34" charset="0"/>
                <a:ea typeface="Bricolage Grotesque" pitchFamily="34" charset="-122"/>
                <a:cs typeface="Bricolage Grotesque" pitchFamily="34" charset="-120"/>
              </a:rPr>
              <a:t>· ¿Te levantas, por favor?    · ¿Cómo estás?    · ¿Les gusta?    · ¿Les parece guapo?    · tiene los ojos azules    · está fuerte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 Unidad 12 · La ropa y los colores</dc:title>
  <dc:subject>PptxGenJS Presentation</dc:subject>
  <dc:creator>Español en la práctica</dc:creator>
  <cp:lastModifiedBy>Español en la práctica</cp:lastModifiedBy>
  <cp:revision>1</cp:revision>
  <dcterms:created xsi:type="dcterms:W3CDTF">2026-08-09T20:12:49Z</dcterms:created>
  <dcterms:modified xsi:type="dcterms:W3CDTF">2026-08-09T20:12:49Z</dcterms:modified>
</cp:coreProperties>
</file>