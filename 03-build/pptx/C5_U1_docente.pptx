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9" r:id="rId31"/>
    <p:sldId id="280" r:id="rId32"/>
    <p:sldId id="281" r:id="rId33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1 = Madrid, met gastvrouw Lucía. Doel van de unit: zich voorstellen (nombre/edad/país/idiomas) + iemand ernaar vragen. Kernvalstrik meteen benoemen: leeftijd = TENER (Tengo 15 años), niet SER. Instructietaal Spaans-eerst met NL-steun. Docentdeck = vrije navigatie + oplossing in notities; leerlingdeck (.ppsx) = elke klik onthult het volgende antwoord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Bij veel zij-instromers: begin gerust bij §1 (datos) — de kern van zich voorstellen. Richttijd 50 min. Kruisverwijzing print/HTML: elke sectie verwijst naar «oefen online» op de verrijkte hub (20 juegos + drills + flip cards).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eerst de ficha, laat leerlingen woorden raden zónder de NL-gloss (die staat klein). Kernframe presentarse meteen inoefenen. Valstrik tener/ser en mayúsculas benadrukken. Online: flip cards + Memoria de los datos.</a:t>
            </a:r>
          </a:p>
          <a:p/>
          <a:p>
            <a:r>
              <a:t>— SOLUCIÓN (docent · presenter view) —</a:t>
            </a:r>
          </a:p>
          <a:p>
            <a:r>
              <a:t>🔴 Leeftijd = TENER: Tengo 15 años (niet soy 15). 🔴 Nationaliteit met kleine letter: belga, español.</a:t>
            </a:r>
          </a:p>
          <a:p>
            <a:r>
              <a:t>el nombre = voornaam · el apellido = achternaam (in het Spaans twee: padre + madre → Cultura).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 = functionele taalsemantiek). Elke leerling bouwt zijn eigen voorstelling met het marco. Steun bouwt af: marco zichtbaar → alleen beginwoorden → uit het hoofd. Kleur is nooit de enige drager (ook label/vorm).</a:t>
            </a:r>
          </a:p>
          <a:p/>
          <a:p>
            <a:r>
              <a:t>— SOLUCIÓN (docent · presenter view) —</a:t>
            </a:r>
          </a:p>
          <a:p>
            <a:r>
              <a:t>Modelo: «Hola, me llamo Leo, soy de Bélgica y tengo 15 años. Vivo en Gante y hablo neerlandés y español.»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 per klik). Laat de klas eerst kiezen (hand/stem), klik dan het antwoord. Rode categorie = tener (leeftijd/bezit). De hardnekkigste NL-fout: «soy 15 años». Herhaal mondeling.</a:t>
            </a:r>
          </a:p>
          <a:p/>
          <a:p>
            <a:r>
              <a:t>— SOLUCIÓN (docent · presenter view) —</a:t>
            </a:r>
          </a:p>
          <a:p>
            <a:r>
              <a:t>SER = identiteit, afkomst, nationaliteit, eigenschap (soy/eres/es/somos/sois/son).</a:t>
            </a:r>
          </a:p>
          <a:p>
            <a:r>
              <a:t>TENER = bezit én LEEFTIJD: Tengo 15 años — nooit «soy 15».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Coro: klas zegt de vorm vóór je klikt. Wijs op yo→soy (onregelmatig). tú vs usted kort aanraken (uitwerking in Cultura). Online: «El verbo SER» + «Presente Tetris».</a:t>
            </a:r>
          </a:p>
          <a:p/>
          <a:p>
            <a:r>
              <a:t>— SOLUCIÓN (docent · presenter view) —</a:t>
            </a:r>
          </a:p>
          <a:p>
            <a:r>
              <a:t>soy · eres · es · somos · sois · son. Gebruik: identidad (soy Leo), origen (soy de Bélgica), nacionalidad (soy belga), cualidad (es simpática).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presente. Onthul rij per rij; laat de klas de uitgang voorspellen. Benadruk: één patroon, drie families; -er/-ir alleen bij nosotros/vosotros anders. Werkwoordsvervoeging verder = aparte Conjugador-tool, niet hier. Inoefenen: online cloze-spel «Completa el verbo» (invullen van de juiste vorm) + de cloze-oefening in de cursus (§3.2).</a:t>
            </a:r>
          </a:p>
          <a:p/>
          <a:p>
            <a:r>
              <a:t>— SOLUCIÓN (docent · presenter view) —</a:t>
            </a:r>
          </a:p>
          <a:p>
            <a:r>
              <a:t>-er en -ir zijn bijna gelijk (alleen nosotros/vosotros verschillen). De yo-vorm eindigt altijd op -o.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género. Onthul per klik. De -a/-o-regel klopt meestal, maar de valstrikken (idioma/día/mapa; mano) moeten los geleerd. Online: «¿el o la?» (generator, nagerekend).</a:t>
            </a:r>
          </a:p>
          <a:p/>
          <a:p>
            <a:r>
              <a:t>— SOLUCIÓN (docent · presenter view) —</a:t>
            </a:r>
          </a:p>
          <a:p>
            <a:r>
              <a:t>🔴 Valstrikken: el idioma, el día, el mapa, el problema (op -a, tóch mannelijk!) · la mano (op -o, tóch vrouwelijk).</a:t>
            </a:r>
          </a:p>
          <a:p>
            <a:r>
              <a:t>Leer elk substantief mét lidwoord — dan ken je meteen het geslacht. Meervoud: los / 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detail. Onthul de antwoorden pas na de klas. Daarna: leerlingen maken hun EIGEN ficha (transfer → Tarea). Let op «e» vóór inglés.</a:t>
            </a:r>
          </a:p>
          <a:p/>
          <a:p>
            <a:r>
              <a:t>— SOLUCIÓN (docent · presenter view) —</a:t>
            </a:r>
          </a:p>
          <a:p>
            <a:r>
              <a:t>🔴 «e» i.p.v. «y» vóór i-/hi-: español e inglés.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profiel voor (of gebruik TTS op de digitale pagina). Klas noteert país; onthul per klik. Koppel nationaliteit (m./v.) aan het land. Daarna spreken: leerling stelt een personage voor in 3e persoon.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Leo, soy de Bélgica, soy belga.» …</a:t>
            </a:r>
          </a:p>
          <a:p>
            <a:r>
              <a:t>Nationaliteiten m./v.: mexicano/mexicana · argentino/argentina · neerlandés/neerlandesa. Kleine letter!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interrogativos. Koppel elk vraagwoord aan het antwoordtype (spiegel). ¿Cuál? vs ¿Qué? is dé valstrik. Daarna: interactie — leerlingen interviewen elkaar (nombre/edad/ciudad). Online: «Palabras interrogativas», «Pregunta ↔ respuesta».</a:t>
            </a:r>
          </a:p>
          <a:p/>
          <a:p>
            <a:r>
              <a:t>— SOLUCIÓN (docent · presenter view) —</a:t>
            </a:r>
          </a:p>
          <a:p>
            <a:r>
              <a:t>🔴 ¿Cuál? vs ¿Qué? vóór ser + gegeven → ¿Cuál es tu nombre? (niet ¿Qué es…?).</a:t>
            </a:r>
          </a:p>
          <a:p>
            <a:r>
              <a:t>Vraagwoorden mét tilde: cómo, dónde, cuál, qué, quién, cuántos.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zelfvoorstelling in 3 rondes met afbouwende steun. Online: SubstitutionCarousel +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«Hola, me llamo Sara, soy de Bélgica, tengo 14 años. Vivo en Amberes y hablo neerlandés e inglés.»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ser/tener, mayúsculas, conector. Dit voedt rechtstreeks de Tarea «Mi pasaporte».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VOCAB/CULTURE. Koppel land↔nationaliteit; klik onthult. Volledige set (Spaanstalige + ~25 wereldlanden) op de digitale pagina (flip cards + «país ↔ nacionalidad» + klikbare kaart). Mayúscula-regel benadrukken.</a:t>
            </a:r>
          </a:p>
          <a:p/>
          <a:p>
            <a:r>
              <a:t>— SOLUCIÓN (docent · presenter view) —</a:t>
            </a:r>
          </a:p>
          <a:p>
            <a:r>
              <a:t>Onze route (paradas): España → México → Colombia → Perú.  Spaans is officieel in +20 landen (~500 mln sprekers), ook in Guinea Ecuatorial (Afrika).</a:t>
            </a:r>
          </a:p>
          <a:p>
            <a:r>
              <a:t>Genderneutraal in vorm: belga, estadounidense, canadiense, nicaragüense, marroquí. Klein!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Mayúscula-regel = grote NL-valstrik (NL schrijft Spaans/Belg met hoofdletter). Conector porque dekt want én omdat. Deze twee gereedschappen meteen toepassen in het perfil / de Tarea.</a:t>
            </a:r>
          </a:p>
          <a:p/>
          <a:p>
            <a:r>
              <a:t>— SOLUCIÓN (docent · presenter view) —</a:t>
            </a:r>
          </a:p>
          <a:p>
            <a:r>
              <a:t>A: land/stad/naam = hoofdletter; nationaliteit/taal = kleine letter.</a:t>
            </a:r>
          </a:p>
          <a:p>
            <a:r>
              <a:t>🔴 B: want én omdat = porque (één woord!). «dus» = así que / por eso, niet luego.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Los dos apellidos + tú/usted zijn kernculturele verschillen. Verbind met de klas: welke namen/achternamen kennen jullie? Bruggetje naar Mateo (vos) in C6.</a:t>
            </a:r>
          </a:p>
          <a:p/>
          <a:p>
            <a:r>
              <a:t>— SOLUCIÓN (docent · presenter view) —</a:t>
            </a:r>
          </a:p>
          <a:p>
            <a:r>
              <a:t>Actividad: schrijf 3 namen «à la manière hispanique» (nombre + 2 apellidos) en kies per situatie tú/usted.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leerlingen stellen elkaar de vragen en rapporteren in 3e persoon (Tom tiene 15 años y vive en…).</a:t>
            </a:r>
          </a:p>
          <a:p/>
          <a:p>
            <a:r>
              <a:t>— SOLUCIÓN (docent · presenter view) —</a:t>
            </a:r>
          </a:p>
          <a:p>
            <a:r>
              <a:t>Vraagwoord ↔ antwoordtype: origen→¿De dónde?, edad→¿Cuántos años?, nombre→¿Cómo?, dato→¿Cuál?.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16 · 2) Madrid · 3) IES Cervantes · 4) francés · 5) los sábados</a:t>
            </a:r>
          </a:p>
          <a:p>
            <a:r>
              <a:t>1) V — «soy español»</a:t>
            </a:r>
          </a:p>
          <a:p>
            <a:r>
              <a:t>2) F — «vivo en madrid»</a:t>
            </a:r>
          </a:p>
          <a:p>
            <a:r>
              <a:t>3) V — «hablo español e inglés»</a:t>
            </a:r>
          </a:p>
          <a:p>
            <a:r>
              <a:t>4) F — «juego al baloncesto»</a:t>
            </a:r>
          </a:p>
          <a:p>
            <a:r>
              <a:t>5) V — «trabajo en la tienda de mi tía»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Con ese · 2) De Amberes, Bélgica · 3) 15 · 4) Francés · 5) 12</a:t>
            </a:r>
          </a:p>
          <a:p>
            <a:r>
              <a:t>1) V — «yo tengo dieciséis»</a:t>
            </a:r>
          </a:p>
          <a:p>
            <a:r>
              <a:t>2) F — «estudio español, claro»</a:t>
            </a:r>
          </a:p>
          <a:p>
            <a:r>
              <a:t>3) V — «tengo una hermana»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Fictieve identiteit mag (recycling in nieuwe context).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Gebruik als exit-ticket of tussentijdse check. Zwakke punten → terug naar de betreffende dia (hyperlink via menu).</a:t>
            </a:r>
          </a:p>
          <a:p/>
          <a:p>
            <a:r>
              <a:t>— SOLUCIÓN (docent · presenter view) —</a:t>
            </a:r>
          </a:p>
          <a:p>
            <a:r>
              <a:t>Alles komt terug: ser · tener (edad) · presente · interrogativos · género · mayúsculas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 (receptief/productief). Repaso-drills staan online (spellen + zelfcorrectie). Bruggetje: U2 «Mi gente» (Sevilla) — familie voorstellen met tener + posesivos.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Rueda de prensa — 🎭 simulatie met beperking</a:t>
            </a:r>
          </a:p>
          <a:p>
            <a:r>
              <a:t>OPDRACHT: De pers vraagt, de ster antwoordt. Alleen vragen mét een vraagwoord tellen.</a:t>
            </a:r>
          </a:p>
          <a:p>
            <a:r>
              <a:t>DE REGEL: Een ja/nee-vraag kost je je beurt. Je moet dus met qué, quién, dónde, cuándo, cómo, cuánto of por qué beginnen — en niemand mag hetzelfde vraagwoord twee keer gebruiken.</a:t>
            </a:r>
          </a:p>
          <a:p>
            <a:r>
              <a:t>VERLOOP: La estrella coge una ficha secreta y se sienta delante. | La prensa levanta la mano. Una pregunta por periodista. | El/la profe tacha el interrogativo usado: ya no se puede repetir. | Al final la prensa escribe el titular en una frase.</a:t>
            </a:r>
          </a:p>
          <a:p>
            <a:r>
              <a:t>SLEUTEL: De zeven vraagwoorden zijn precies die van §4.1 — het spel dwingt de klas ze alle zeven te gebruiken in plaats van drie keer «¿qué?».  ||  «¿Por qué…?» is de moeilijkste en blijft meestal tot het laatst over. Hou hem bewust achter de hand voor de sterkste leerling.  ||  Valstrik: «¿Cuántos años tienes?» — leerlingen zeggen vaak «¿Cuánto años?». Cuántos beweegt mee met años.</a:t>
            </a:r>
          </a:p>
          <a:p>
            <a:r>
              <a:t>NOTA: Het verbod op herhaling is wat het spel maakt. Zet de zeven vraagwoorden op het scherm en streep ze zichtbaar door — de spanning stijgt met elke doorhaling.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Preguntas prohibidas — ✍️ creatieve beperking</a:t>
            </a:r>
          </a:p>
          <a:p>
            <a:r>
              <a:t>OPDRACHT: Achterhaal leeftijd, stad en talen van je partner zónder «¿cuántos años…?», «¿dónde…?» of «¿qué lenguas…?» te gebruiken.</a:t>
            </a:r>
          </a:p>
          <a:p>
            <a:r>
              <a:t>DE REGEL: De drie rechtstreekse vragen zijn verboden. Je moet er dus omheen: met een voorstel, een vergelijking of een gok die je laat bevestigen.</a:t>
            </a:r>
          </a:p>
          <a:p>
            <a:r>
              <a:t>VERLOOP: Mira las tres preguntas prohibidas. Piensa un rodeo para cada una. | Pregunta. Tu compañero/a solo contesta lo que le preguntas de verdad. | Anota los tres datos. ¿Los tienes todos? Cambiad de papel. | Comparad: ¿qué rodeo ha funcionado mejor?</a:t>
            </a:r>
          </a:p>
          <a:p>
            <a:r>
              <a:t>SLEUTEL: Er is geen enkel juist antwoord — wel een meetbaar resultaat: heb je de drie gegevens binnen zonder de verboden vragen?  ||  De sterkste omweg is meestal de gok met bevestiging («¿Eres del dos mil nueve?»): die levert een getal op zonder ernaar te vragen.  ||  Deze reto bereidt de omweg-strategie voor die in U2 terugkomt bij «Mi gente, sin la palabra familia».</a:t>
            </a:r>
          </a:p>
          <a:p>
            <a:r>
              <a:t>NOTA: Kort houden. Tien minuten is genoeg; daarna wordt de beperking een spel op zich en verdwijnt het luisteren.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9 · Perfil para el algoritmo — ⚖️ onderhandeling &amp; dilemma</a:t>
            </a:r>
          </a:p>
          <a:p>
            <a:r>
              <a:t>OPDRACHT: Het algoritme stelt uitwisselingsduo's voor. Elk voorstel wordt verdedigd met «son… porque…». Zonder reden geen match.</a:t>
            </a:r>
          </a:p>
          <a:p>
            <a:r>
              <a:t>DE REGEL: Het algoritme mag niemand koppelen op naam of op wie bevriend is. Alleen gegevens uit de profielen tellen, en de reden moet met «son» of «tienen» geformuleerd worden.</a:t>
            </a:r>
          </a:p>
          <a:p>
            <a:r>
              <a:t>VERLOOP: Escribe tu perfil en cuatro frases. Sin nombre. | Los perfiles van al azar a la pizarra, numerados. | El algoritmo (tres alumnos) propone parejas y las justifica. | La clase acepta o rechaza. ¿Rechazo? Hay que dar una razón mejor.</a:t>
            </a:r>
          </a:p>
          <a:p>
            <a:r>
              <a:t>SLEUTEL: De didactische winst zit in het weigeren: wie «nee» zegt, moet een béter argument geven, en dus opnieuw een zin met ser of tener bouwen.  ||  Model: «El tres y el ocho son pareja porque los dos son belgas y tienen dieciséis años.» — «No, porque uno vive en un pueblo y el otro en la ciudad.»  ||  Let op de valstrik van §2: nationaliteit met kleine letter (belgas, no Belgas).</a:t>
            </a:r>
          </a:p>
          <a:p>
            <a:r>
              <a:t>NOTA: Werkt alleen anoniem. Zodra er namen bij komen, gaat het over vriendschappen in plaats van over gegevens — en dan verdwijnt het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«Busco un compi de intercambio»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perfil (app de intercambio lingüístico)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BUSCO COMPI DE INTERCAMBIO 🇪🇸 ↔ 🇧🇪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Tú me hablas en neerlandés, yo te hablo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Nombre: Álex Moreno Gil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Edad: tengo dieciséis años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Ciudad: Madrid, España. Soy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Instituto: IES Cervantes, cuarto curso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Lenguas: hablo español e inglés. Estudio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¡Hola! Me llamo Álex y vivo en Madrid, en el barrio de Lavapiés. Estudio en el IES Cervantes y este año aprendo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 mi tiempo libre escucho música, juego al baloncesto y leo cómics. Los sábados trabajo en la tienda de mi tía.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Busco un compi de Bélgica o de los Países Bajos. Hablamos media hora en español y media hora en neerlandés. ¿Te apuntas?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Escríbeme: alex.moreno@correo.es · ¿Cómo te llamas tú?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¿Cuántos años tiene Álex?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¿En qué ciudad vive?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¿Cómo se llama su instituto?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este año?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 trabaja?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es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Álex vive en Sevilla.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Álex habla inglés.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Álex juega al fútbol.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Álex trabaja en la tienda de su tía.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16 · 2) Madrid · 3) IES Cervantes · 4) francés · 5) los sábados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«soy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«vivo en madrid»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«hablo español e inglés»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F — «juego al baloncesto»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5) V — «trabajo en la tienda de mi tía»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en el instituto»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pasillo del IES Cervantes, Madrid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Álex (de Madrid) y Sam, un alumno nuevo de Bélgica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conocen y se hacen preguntas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¿de dónde eres? · ¿cuántos años tienes?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escribe el nombre de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Álex?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años tiene la hermana de Sam?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tiene dieciséis años.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Sam estudia alemán.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tiene una hermana.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Álex te pregunta a ti: «¿Cómo te llamas, de dónde eres y cuántos años tienes?» Contesta en tres frases y añade una pregunta para él.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Con ese · 2) De Amberes, Bélgica · 3) 15 · 4) Francés · 5) 12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«yo tengo dieciséis»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«estudio español, claro»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«tengo una hermana»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«¿Quién eres?»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datos/presentarse 10' · ser/presente 12' · reading/listening 8' · interrogativos + speaking 10' · cultura 4'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edad = TENER · nationaliteit kleine letter · ¿Cuál? vóór ser · want/omdat = porque · el idioma/día (m.) · «e» vóór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Sterkere leerlingen: meer landen + fictieve identiteit. Zwakkere: marco/tabel langer open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pasaporte»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Rueda de prensa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Silencio, empieza la rueda de prensa. Tenéis tres minutos con la estrella.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Stilte, de persconferentie begint. Jullie krijgen drie minuten met de ster.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ja/nee-vraag kost je je beurt. Je moet dus met qué, quién, dónde, cuándo, cómo, cuánto of por qué beginnen — en niemand mag hetzelfde vraagwoord twee keer gebruiken.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¿Qué…?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wat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¿Quién…?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wie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¿Dónde…?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waar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¿Cuándo…?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wanneer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¿Cómo…?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hoe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¿Cuántos…?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hoeveel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¿Por qué…?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waarom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una futbolista del Real Madrid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speelt sinds haar zesde, woont in Madrid, spreekt drie talen</a:t>
            </a:r>
          </a:p>
        </p:txBody>
      </p:sp>
      <p:sp>
        <p:nvSpPr>
          <p:cNvPr id="41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 cantante de Sevilla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zingt flamenco-pop, twintig jaar, woont bij zijn oma</a:t>
            </a:r>
          </a:p>
        </p:txBody>
      </p:sp>
      <p:sp>
        <p:nvSpPr>
          <p:cNvPr id="43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una astronauta mexicana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werkt in Houston, spreekt Spaans en Engels, heeft twee kinderen</a:t>
            </a:r>
          </a:p>
        </p:txBody>
      </p:sp>
      <p:sp>
        <p:nvSpPr>
          <p:cNvPr id="45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 cocinero peruano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restaurant in Lima, kookt ceviche, veertig jaar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4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Preguntas prohibidas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Necesitas la misma información. Pero tres preguntas están prohibidas.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hebt dezelfde informatie nodig. Maar drie vragen zijn verboden.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drie rechtstreekse vragen zijn verboden. Je moet er dus omheen: met een voorstel, een vergelijking of een gok die je laat bevestigen.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¿Cuántos años tienes?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¿Dónde vives?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lenguas hablas?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¿Eres del dos mil nueve?</a:t>
            </a:r>
          </a:p>
        </p:txBody>
      </p:sp>
      <p:sp>
        <p:nvSpPr>
          <p:cNvPr id="19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gok het geboortejaar en laat beve…</a:t>
            </a:r>
          </a:p>
        </p:txBody>
      </p:sp>
      <p:sp>
        <p:nvSpPr>
          <p:cNvPr id="21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¿Tienes la misma edad que yo?</a:t>
            </a:r>
          </a:p>
        </p:txBody>
      </p:sp>
      <p:sp>
        <p:nvSpPr>
          <p:cNvPr id="23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vergelijk met jezelf</a:t>
            </a:r>
          </a:p>
        </p:txBody>
      </p:sp>
      <p:sp>
        <p:nvSpPr>
          <p:cNvPr id="25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¿Vienes al instituto en bici o en tren?</a:t>
            </a:r>
          </a:p>
        </p:txBody>
      </p:sp>
      <p:sp>
        <p:nvSpPr>
          <p:cNvPr id="27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vervoer verraadt de afstand</a:t>
            </a:r>
          </a:p>
        </p:txBody>
      </p:sp>
      <p:sp>
        <p:nvSpPr>
          <p:cNvPr id="29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¿Tu ciudad es grande?</a:t>
            </a:r>
          </a:p>
        </p:txBody>
      </p:sp>
      <p:sp>
        <p:nvSpPr>
          <p:cNvPr id="31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eigenschap in plaats van naam</a:t>
            </a:r>
          </a:p>
        </p:txBody>
      </p:sp>
      <p:sp>
        <p:nvSpPr>
          <p:cNvPr id="33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¿Hablas español en casa?</a:t>
            </a:r>
          </a:p>
        </p:txBody>
      </p:sp>
      <p:sp>
        <p:nvSpPr>
          <p:cNvPr id="35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test één taal per keer</a:t>
            </a:r>
          </a:p>
        </p:txBody>
      </p:sp>
      <p:sp>
        <p:nvSpPr>
          <p:cNvPr id="3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¿Ves series en inglés sin subtítulos?</a:t>
            </a:r>
          </a:p>
        </p:txBody>
      </p:sp>
      <p:sp>
        <p:nvSpPr>
          <p:cNvPr id="39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gewoonte verraadt het niveau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9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Perfil para el algoritmo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Escribe tu perfil. Hoy la clase es el algoritmo, y tiene que justificarse.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Schrijf je profiel. Vandaag is de klas het algoritme — en het moet zich verantwoorden.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Het algoritme mag niemand koppelen op naam of op wie bevriend is. Alleen gegevens uit de profielen tellen, en de reden moet met «son» of «tienen» geformuleerd worden.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… años.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Soy de … y vivo en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Hablo … y estudio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mi tiempo libre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uno y el siete son pareja porque los dos son de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porque tienen la misma edad.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porque los dos hablan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No, porque uno vive en la ciudad y el otro en un pueblo.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Perfil 3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16 años. Soy de Bélgica y vivo en un pueblo. Hablo neerlandés e inglés.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Perfil 8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16 años. Soy de Bélgica y vivo en Gante. Hablo neerlandés, francés y un poco de español.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