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1 = Madrid, met gastvrouw Lucía. Doel van de unit: zich voorstellen (nombre/edad/país/idiomas) + iemand ernaar vragen. Kernvalstrik meteen benoemen: leeftijd = TENER (Tengo 15 años), niet SER. Instructietaal Spaans-eerst met NL-steun. Docentdeck = vrije navigatie + oplossing in notities; leerlingdeck (.ppsx) = elke klik onthult het volgende antwoord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Bij veel zij-instromers: begin gerust bij §1 (datos) — de kern van zich voorstellen. Richttijd 50 min. Kruisverwijzing print/HTML: elke sectie verwijst naar «oefen online» op de verrijkte hub (20 juegos + drills + flip cards).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eerst de ficha, laat leerlingen woorden raden zónder de NL-gloss (die staat klein). Kernframe presentarse meteen inoefenen. Valstrik tener/ser en mayúsculas benadrukken. Online: flip cards + Memoria de los datos.</a:t>
            </a:r>
          </a:p>
          <a:p/>
          <a:p>
            <a:r>
              <a:t>— SOLUCIÓN (docent · presenter view) —</a:t>
            </a:r>
          </a:p>
          <a:p>
            <a:r>
              <a:t>🔴 Leeftijd = TENER: Tengo 15 años (niet soy 15). 🔴 Nationaliteit met kleine letter: belga, español.</a:t>
            </a:r>
          </a:p>
          <a:p>
            <a:r>
              <a:t>el nombre = voornaam · el apellido = achternaam (in het Spaans twee: padre + madre → Cultura).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 = functionele taalsemantiek). Elke leerling bouwt zijn eigen voorstelling met het marco. Steun bouwt af: marco zichtbaar → alleen beginwoorden → uit het hoofd. Kleur is nooit de enige drager (ook label/vorm).</a:t>
            </a:r>
          </a:p>
          <a:p/>
          <a:p>
            <a:r>
              <a:t>— SOLUCIÓN (docent · presenter view) —</a:t>
            </a:r>
          </a:p>
          <a:p>
            <a:r>
              <a:t>Modelo: «Hola, me llamo Leo, soy de Bélgica y tengo 15 años. Vivo en Gante y hablo neerlandés y español.»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 per klik). Laat de klas eerst kiezen (hand/stem), klik dan het antwoord. Rode categorie = tener (leeftijd/bezit). De hardnekkigste NL-fout: «soy 15 años». Herhaal mondeling.</a:t>
            </a:r>
          </a:p>
          <a:p/>
          <a:p>
            <a:r>
              <a:t>— SOLUCIÓN (docent · presenter view) —</a:t>
            </a:r>
          </a:p>
          <a:p>
            <a:r>
              <a:t>SER = identiteit, afkomst, nationaliteit, eigenschap (soy/eres/es/somos/sois/son).</a:t>
            </a:r>
          </a:p>
          <a:p>
            <a:r>
              <a:t>TENER = bezit én LEEFTIJD: Tengo 15 años — nooit «soy 15».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Coro: klas zegt de vorm vóór je klikt. Wijs op yo→soy (onregelmatig). tú vs usted kort aanraken (uitwerking in Cultura). Online: «El verbo SER» + «Presente Tetris».</a:t>
            </a:r>
          </a:p>
          <a:p/>
          <a:p>
            <a:r>
              <a:t>— SOLUCIÓN (docent · presenter view) —</a:t>
            </a:r>
          </a:p>
          <a:p>
            <a:r>
              <a:t>soy · eres · es · somos · sois · son. Gebruik: identidad (soy Leo), origen (soy de Bélgica), nacionalidad (soy belga), cualidad (es simpática).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presente. Onthul rij per rij; laat de klas de uitgang voorspellen. Benadruk: één patroon, drie families; -er/-ir alleen bij nosotros/vosotros anders. Werkwoordsvervoeging verder = aparte Conjugador-tool, niet hier. Inoefenen: online cloze-spel «Completa el verbo» (invullen van de juiste vorm) + de cloze-oefening in de cursus (§3.2).</a:t>
            </a:r>
          </a:p>
          <a:p/>
          <a:p>
            <a:r>
              <a:t>— SOLUCIÓN (docent · presenter view) —</a:t>
            </a:r>
          </a:p>
          <a:p>
            <a:r>
              <a:t>-er en -ir zijn bijna gelijk (alleen nosotros/vosotros verschillen). De yo-vorm eindigt altijd op -o.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género. Onthul per klik. De -a/-o-regel klopt meestal, maar de valstrikken (idioma/día/mapa; mano) moeten los geleerd. Online: «¿el o la?» (generator, nagerekend).</a:t>
            </a:r>
          </a:p>
          <a:p/>
          <a:p>
            <a:r>
              <a:t>— SOLUCIÓN (docent · presenter view) —</a:t>
            </a:r>
          </a:p>
          <a:p>
            <a:r>
              <a:t>🔴 Valstrikken: el idioma, el día, el mapa, el problema (op -a, tóch mannelijk!) · la mano (op -o, tóch vrouwelijk).</a:t>
            </a:r>
          </a:p>
          <a:p>
            <a:r>
              <a:t>Leer elk substantief mét lidwoord — dan ken je meteen het geslacht. Meervoud: los / 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detail. Onthul de antwoorden pas na de klas. Daarna: leerlingen maken hun EIGEN ficha (transfer → Tarea). Let op «e» vóór inglés.</a:t>
            </a:r>
          </a:p>
          <a:p/>
          <a:p>
            <a:r>
              <a:t>— SOLUCIÓN (docent · presenter view) —</a:t>
            </a:r>
          </a:p>
          <a:p>
            <a:r>
              <a:t>🔴 «e» i.p.v. «y» vóór i-/hi-: español e inglés.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profiel voor (of gebruik TTS op de digitale pagina). Klas noteert país; onthul per klik. Koppel nationaliteit (m./v.) aan het land. Daarna spreken: leerling stelt een personage voor in 3e persoon.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Leo, soy de Bélgica, soy belga.» …</a:t>
            </a:r>
          </a:p>
          <a:p>
            <a:r>
              <a:t>Nationaliteiten m./v.: mexicano/mexicana · argentino/argentina · neerlandés/neerlandesa. Kleine letter!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interrogativos. Koppel elk vraagwoord aan het antwoordtype (spiegel). ¿Cuál? vs ¿Qué? is dé valstrik. Daarna: interactie — leerlingen interviewen elkaar (nombre/edad/ciudad). Online: «Palabras interrogativas», «Pregunta ↔ respuesta».</a:t>
            </a:r>
          </a:p>
          <a:p/>
          <a:p>
            <a:r>
              <a:t>— SOLUCIÓN (docent · presenter view) —</a:t>
            </a:r>
          </a:p>
          <a:p>
            <a:r>
              <a:t>🔴 ¿Cuál? vs ¿Qué? vóór ser + gegeven → ¿Cuál es tu nombre? (niet ¿Qué es…?).</a:t>
            </a:r>
          </a:p>
          <a:p>
            <a:r>
              <a:t>Vraagwoorden mét tilde: cómo, dónde, cuál, qué, quién, cuántos.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zelfvoorstelling in 3 rondes met afbouwende steun. Online: SubstitutionCarousel +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«Hola, me llamo Sara, soy de Bélgica, tengo 14 años. Vivo en Amberes y hablo neerlandés e inglés.»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ser/tener, mayúsculas, conector. Dit voedt rechtstreeks de Tarea «Mi pasaporte».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VOCAB/CULTURE. Koppel land↔nationaliteit; klik onthult. Volledige set (Spaanstalige + ~25 wereldlanden) op de digitale pagina (flip cards + «país ↔ nacionalidad» + klikbare kaart). Mayúscula-regel benadrukken.</a:t>
            </a:r>
          </a:p>
          <a:p/>
          <a:p>
            <a:r>
              <a:t>— SOLUCIÓN (docent · presenter view) —</a:t>
            </a:r>
          </a:p>
          <a:p>
            <a:r>
              <a:t>Onze route (paradas): España → México → Colombia → Perú.  Spaans is officieel in +20 landen (~500 mln sprekers), ook in Guinea Ecuatorial (Afrika).</a:t>
            </a:r>
          </a:p>
          <a:p>
            <a:r>
              <a:t>Genderneutraal in vorm: belga, estadounidense, canadiense, nicaragüense, marroquí. Klein!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Mayúscula-regel = grote NL-valstrik (NL schrijft Spaans/Belg met hoofdletter). Conector porque dekt want én omdat. Deze twee gereedschappen meteen toepassen in het perfil / de Tarea.</a:t>
            </a:r>
          </a:p>
          <a:p/>
          <a:p>
            <a:r>
              <a:t>— SOLUCIÓN (docent · presenter view) —</a:t>
            </a:r>
          </a:p>
          <a:p>
            <a:r>
              <a:t>A: land/stad/naam = hoofdletter; nationaliteit/taal = kleine letter.</a:t>
            </a:r>
          </a:p>
          <a:p>
            <a:r>
              <a:t>🔴 B: want én omdat = porque (één woord!). «dus» = así que / por eso, niet luego.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Los dos apellidos + tú/usted zijn kernculturele verschillen. Verbind met de klas: welke namen/achternamen kennen jullie? Bruggetje naar Mateo (vos) in C6.</a:t>
            </a:r>
          </a:p>
          <a:p/>
          <a:p>
            <a:r>
              <a:t>— SOLUCIÓN (docent · presenter view) —</a:t>
            </a:r>
          </a:p>
          <a:p>
            <a:r>
              <a:t>Actividad: schrijf 3 namen «à la manière hispanique» (nombre + 2 apellidos) en kies per situatie tú/usted.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leerlingen stellen elkaar de vragen en rapporteren in 3e persoon (Tom tiene 15 años y vive en…).</a:t>
            </a:r>
          </a:p>
          <a:p/>
          <a:p>
            <a:r>
              <a:t>— SOLUCIÓN (docent · presenter view) —</a:t>
            </a:r>
          </a:p>
          <a:p>
            <a:r>
              <a:t>Vraagwoord ↔ antwoordtype: origen→¿De dónde?, edad→¿Cuántos años?, nombre→¿Cómo?, dato→¿Cuál?.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Fictieve identiteit mag (recycling in nieuwe context).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Gebruik als exit-ticket of tussentijdse check. Zwakke punten → terug naar de betreffende dia (hyperlink via menu).</a:t>
            </a:r>
          </a:p>
          <a:p/>
          <a:p>
            <a:r>
              <a:t>— SOLUCIÓN (docent · presenter view) —</a:t>
            </a:r>
          </a:p>
          <a:p>
            <a:r>
              <a:t>Alles komt terug: ser · tener (edad) · presente · interrogativos · género · mayúsculas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 (receptief/productief). Repaso-drills staan online (spellen + zelfcorrectie). Bruggetje: U2 «Mi gente» (Sevilla) — familie voorstellen met tener + posesivos.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«¿Quién eres?»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datos/presentarse 10' · ser/presente 12' · reading/listening 8' · interrogativos + speaking 10' · cultura 4'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edad = TENER · nationaliteit kleine letter · ¿Cuál? vóór ser · want/omdat = porque · el idioma/día (m.) · «e» vóór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Sterkere leerlingen: meer landen + fictieve identiteit. Zwakkere: marco/tabel langer open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pasaporte»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