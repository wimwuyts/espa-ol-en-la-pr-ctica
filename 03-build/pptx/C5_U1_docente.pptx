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1 = Madrid, met gastvrouw Lucía. Doel van de unit: zich voorstellen (nombre/edad/país/idiomas) + iemand ernaar vragen. Kernvalstrik meteen benoemen: leeftijd = TENER (Tengo 15 años), niet SER. Instructietaal Spaans-eerst met NL-steun. Docentdeck = vrije navigatie + oplossing in notities; leerlingdeck (.ppsx) = elke klik onthult het volgende antwoord (geen kiosk).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 naar de sectie; op elke oefendia staat ⌂ Menú terug. Bij veel zij-instromers: begin gerust bij §1 (datos) — de kern van zich voorstellen. Richttijd 50 min. Kruisverwijzing print/HTML: elke sectie verwijst naar «oefen online» op de verrijkte hub (20 juegos + drills + flip cards).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eerst de ficha, laat leerlingen woorden raden zónder de NL-gloss (die staat klein). Kernframe presentarse meteen inoefenen. Valstrik tener/ser en mayúsculas benadrukken. Online: flip cards + Memoria de los datos.</a:t>
            </a:r>
          </a:p>
          <a:p/>
          <a:p>
            <a:r>
              <a:t>— SOLUCIÓN (docent · presenter view) —</a:t>
            </a:r>
          </a:p>
          <a:p>
            <a:r>
              <a:t>🔴 Leeftijd = TENER: Tengo 15 años (niet soy 15). 🔴 Nationaliteit met kleine letter: belga, español.</a:t>
            </a:r>
          </a:p>
          <a:p>
            <a:r>
              <a:t>el nombre = voornaam · el apellido = achternaam (in het Spaans twee: padre + madre → Cultura).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 = functionele taalsemantiek). Elke leerling bouwt zijn eigen voorstelling met het marco. Steun bouwt af: marco zichtbaar → alleen beginwoorden → uit het hoofd. Kleur is nooit de enige drager (ook label/vorm).</a:t>
            </a:r>
          </a:p>
          <a:p/>
          <a:p>
            <a:r>
              <a:t>— SOLUCIÓN (docent · presenter view) —</a:t>
            </a:r>
          </a:p>
          <a:p>
            <a:r>
              <a:t>Modelo: «Hola, me llamo Leo, soy de Bélgica y tengo 15 años. Vivo en Gante y hablo neerlandés y español.»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 per klik). Laat de klas eerst kiezen (hand/stem), klik dan het antwoord. Rode categorie = tener (leeftijd/bezit). De hardnekkigste NL-fout: «soy 15 años». Herhaal mondeling.</a:t>
            </a:r>
          </a:p>
          <a:p/>
          <a:p>
            <a:r>
              <a:t>— SOLUCIÓN (docent · presenter view) —</a:t>
            </a:r>
          </a:p>
          <a:p>
            <a:r>
              <a:t>SER = identiteit, afkomst, nationaliteit, eigenschap (soy/eres/es/somos/sois/son).</a:t>
            </a:r>
          </a:p>
          <a:p>
            <a:r>
              <a:t>TENER = bezit én LEEFTIJD: Tengo 15 años — nooit «soy 15».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SER (reveal). Coro: klas zegt de vorm vóór je klikt. Wijs op yo→soy (onregelmatig). tú vs usted kort aanraken (uitwerking in Cultura). Online: «El verbo SER» + «Presente Tetris».</a:t>
            </a:r>
          </a:p>
          <a:p/>
          <a:p>
            <a:r>
              <a:t>— SOLUCIÓN (docent · presenter view) —</a:t>
            </a:r>
          </a:p>
          <a:p>
            <a:r>
              <a:t>soy · eres · es · somos · sois · son. Gebruik: identidad (soy Leo), origen (soy de Bélgica), nacionalidad (soy belga), cualidad (es simpática).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presente. Onthul rij per rij; laat de klas de uitgang voorspellen. Benadruk: één patroon, drie families; -er/-ir alleen bij nosotros/vosotros anders. Werkwoordsvervoeging verder = aparte Conjugador-tool, niet hier. Inoefenen: online cloze-spel «Completa el verbo» (invullen van de juiste vorm) + de cloze-oefening in de cursus (§3.2).</a:t>
            </a:r>
          </a:p>
          <a:p/>
          <a:p>
            <a:r>
              <a:t>— SOLUCIÓN (docent · presenter view) —</a:t>
            </a:r>
          </a:p>
          <a:p>
            <a:r>
              <a:t>-er en -ir zijn bijna gelijk (alleen nosotros/vosotros verschillen). De yo-vorm eindigt altijd op -o.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género. Onthul per klik. De -a/-o-regel klopt meestal, maar de valstrikken (idioma/día/mapa; mano) moeten los geleerd. Online: «¿el o la?» (generator, nagerekend).</a:t>
            </a:r>
          </a:p>
          <a:p/>
          <a:p>
            <a:r>
              <a:t>— SOLUCIÓN (docent · presenter view) —</a:t>
            </a:r>
          </a:p>
          <a:p>
            <a:r>
              <a:t>🔴 Valstrikken: el idioma, el día, el mapa, el problema (op -a, tóch mannelijk!) · la mano (op -o, tóch vrouwelijk).</a:t>
            </a:r>
          </a:p>
          <a:p>
            <a:r>
              <a:t>Leer elk substantief mét lidwoord — dan ken je meteen het geslacht. Meervoud: los / 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(lezen→spreken-keten). Eerst globaal (waarover?), dan detail. Onthul de antwoorden pas na de klas. Daarna: leerlingen maken hun EIGEN ficha (transfer → Tarea). Let op «e» vóór inglés.</a:t>
            </a:r>
          </a:p>
          <a:p/>
          <a:p>
            <a:r>
              <a:t>— SOLUCIÓN (docent · presenter view) —</a:t>
            </a:r>
          </a:p>
          <a:p>
            <a:r>
              <a:t>🔴 «e» i.p.v. «y» vóór i-/hi-: español e inglés.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(selectief). Lees elk profiel voor (of gebruik TTS op de digitale pagina). Klas noteert país; onthul per klik. Koppel nationaliteit (m./v.) aan het land. Daarna spreken: leerling stelt een personage voor in 3e persoon.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«Hola, me llamo Leo, soy de Bélgica, soy belga.» …</a:t>
            </a:r>
          </a:p>
          <a:p>
            <a:r>
              <a:t>Nationaliteiten m./v.: mexicano/mexicana · argentino/argentina · neerlandés/neerlandesa. Kleine letter!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interrogativos. Koppel elk vraagwoord aan het antwoordtype (spiegel). ¿Cuál? vs ¿Qué? is dé valstrik. Daarna: interactie — leerlingen interviewen elkaar (nombre/edad/ciudad). Online: «Palabras interrogativas», «Pregunta ↔ respuesta».</a:t>
            </a:r>
          </a:p>
          <a:p/>
          <a:p>
            <a:r>
              <a:t>— SOLUCIÓN (docent · presenter view) —</a:t>
            </a:r>
          </a:p>
          <a:p>
            <a:r>
              <a:t>🔴 ¿Cuál? vs ¿Qué? vóór ser + gegeven → ¿Cuál es tu nombre? (niet ¿Qué es…?).</a:t>
            </a:r>
          </a:p>
          <a:p>
            <a:r>
              <a:t>Vraagwoorden mét tilde: cómo, dónde, cuál, qué, quién, cuántos.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(substitutie → productie). Automatiseer de zelfvoorstelling in 3 rondes met afbouwende steun. Online: SubstitutionCarousel +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«Hola, me llamo Sara, soy de Bélgica, tengo 14 años. Vivo en Amberes y hablo neerlandés e inglés.»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(lezen→schrijven-keten). Checklist = zichtbare steun; onthul het model pas na het schrijven (retrieval vóór herlezen). Nakijkfocus: ser/tener, mayúsculas, conector. Dit voedt rechtstreeks de Tarea «Mi pasaporte».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VOCAB/CULTURE. Koppel land↔nationaliteit; klik onthult. Volledige set (Spaanstalige + ~25 wereldlanden) op de digitale pagina (flip cards + «país ↔ nacionalidad» + klikbare kaart). Mayúscula-regel benadrukken.</a:t>
            </a:r>
          </a:p>
          <a:p/>
          <a:p>
            <a:r>
              <a:t>— SOLUCIÓN (docent · presenter view) —</a:t>
            </a:r>
          </a:p>
          <a:p>
            <a:r>
              <a:t>Onze route (paradas): España → México → Colombia → Perú.  Spaans is officieel in +20 landen (~500 mln sprekers), ook in Guinea Ecuatorial (Afrika).</a:t>
            </a:r>
          </a:p>
          <a:p>
            <a:r>
              <a:t>Genderneutraal in vorm: belga, estadounidense, canadiense, nicaragüense, marroquí. Klein!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Onthul per klik. Mayúscula-regel = grote NL-valstrik (NL schrijft Spaans/Belg met hoofdletter). Conector porque dekt want én omdat. Deze twee gereedschappen meteen toepassen in het perfil / de Tarea.</a:t>
            </a:r>
          </a:p>
          <a:p/>
          <a:p>
            <a:r>
              <a:t>— SOLUCIÓN (docent · presenter view) —</a:t>
            </a:r>
          </a:p>
          <a:p>
            <a:r>
              <a:t>A: land/stad/naam = hoofdletter; nationaliteit/taal = kleine letter.</a:t>
            </a:r>
          </a:p>
          <a:p>
            <a:r>
              <a:t>🔴 B: want én omdat = porque (één woord!). «dus» = así que / por eso, niet luego.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Los dos apellidos + tú/usted zijn kernculturele verschillen. Verbind met de klas: welke namen/achternamen kennen jullie? Bruggetje naar Mateo (vos) in C6.</a:t>
            </a:r>
          </a:p>
          <a:p/>
          <a:p>
            <a:r>
              <a:t>— SOLUCIÓN (docent · presenter view) —</a:t>
            </a:r>
          </a:p>
          <a:p>
            <a:r>
              <a:t>Actividad: schrijf 3 namen «à la manière hispanique» (nombre + 2 apellidos) en kies per situatie tú/usted.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interactie. Klas formuleert de vraag vóór de klik. Daarna klassikale enquête: leerlingen stellen elkaar de vragen en rapporteren in 3e persoon (Tom tiene 15 años y vive en…).</a:t>
            </a:r>
          </a:p>
          <a:p/>
          <a:p>
            <a:r>
              <a:t>— SOLUCIÓN (docent · presenter view) —</a:t>
            </a:r>
          </a:p>
          <a:p>
            <a:r>
              <a:t>Vraagwoord ↔ antwoordtype: origen→¿De dónde?, edad→¿Cuántos años?, nombre→¿Cómo?, dato→¿Cuál?.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READING. Route: voorspellen → globaal → scannen → juist/fout MET BEWIJS → betekenis uit context → zelf schrijven. Laat de tekst staan tijdens het scannen: informatie terugvinden is lezen, uit het hoofd opzeggen is iets anders. Eis bij elke V/F de zin uit de tekst — dat is de stap die gokken onmogelijk maakt. Dezelfde tekst staat in de cursus (met schrijfruimte) en op de hub (zelfcorrigerend, met vertaalknop).</a:t>
            </a:r>
          </a:p>
          <a:p/>
          <a:p>
            <a:r>
              <a:t>— SOLUCIÓN (docent · presenter view) —</a:t>
            </a:r>
          </a:p>
          <a:p>
            <a:r>
              <a:t>Escanear: 1) 16 · 2) Madrid · 3) IES Cervantes · 4) francés · 5) los sábados</a:t>
            </a:r>
          </a:p>
          <a:p>
            <a:r>
              <a:t>1) V — «soy español»</a:t>
            </a:r>
          </a:p>
          <a:p>
            <a:r>
              <a:t>2) F — «vivo en madrid»</a:t>
            </a:r>
          </a:p>
          <a:p>
            <a:r>
              <a:t>3) V — «hablo español e inglés»</a:t>
            </a:r>
          </a:p>
          <a:p>
            <a:r>
              <a:t>4) F — «juego al baloncesto»</a:t>
            </a:r>
          </a:p>
          <a:p>
            <a:r>
              <a:t>5) V — «trabajo en la tienda de mi tía»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LISTENING. Zes treden: situatie vooraf → globaal → vijf details → juist/fout MET BEWIJS → transcript pas ná de taken → productieve reactie. Speel het fragment minstens twee keer: één keer globaal (boeken dicht), daarna gericht. Het transcript staat op de hub en gaat daar pas open als de taken gedaan zijn — meelezen tijdens het luisteren maakt er een leesoefening van. Zolang er geen opname is, leest de computerstem het gesprek voor met een eigen stem per spreker. Noodroute: het fragment ook voorlezen kan, met twee leerlingen in de rollen.</a:t>
            </a:r>
          </a:p>
          <a:p/>
          <a:p>
            <a:r>
              <a:t>— SOLUCIÓN (docent · presenter view) —</a:t>
            </a:r>
          </a:p>
          <a:p>
            <a:r>
              <a:t>Detalle: 1) Con ese · 2) De Amberes, Bélgica · 3) 15 · 4) Francés · 5) 12</a:t>
            </a:r>
          </a:p>
          <a:p>
            <a:r>
              <a:t>1) V — «yo tengo dieciséis»</a:t>
            </a:r>
          </a:p>
          <a:p>
            <a:r>
              <a:t>2) F — «estudio español, claro»</a:t>
            </a:r>
          </a:p>
          <a:p>
            <a:r>
              <a:t>3) V — «tengo una hermana»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Fictieve identiteit mag (recycling in nieuwe context).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Gebruik als exit-ticket of tussentijdse check. Zwakke punten → terug naar de betreffende dia (hyperlink via menu).</a:t>
            </a:r>
          </a:p>
          <a:p/>
          <a:p>
            <a:r>
              <a:t>— SOLUCIÓN (docent · presenter view) —</a:t>
            </a:r>
          </a:p>
          <a:p>
            <a:r>
              <a:t>Alles komt terug: ser · tener (edad) · presente · interrogativos · género · mayúsculas · conectores.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 (receptief/productief). Repaso-drills staan online (spellen + zelfcorrectie). Bruggetje: U2 «Mi gente» (Sevilla) — familie voorstellen met tener + posesivos.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(bron.md).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64261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1 · MADRID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¿Quién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E4F4EE"/>
                </a:solidFill>
                <a:latin typeface="Inter"/>
              </a:rPr>
              <a:t>Presentarse: nombre, edad, país, idiomas — en Madrid, con Lucía.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¿Cómo te llamas… y de dónde eres?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Hoe heet je… en waar kom je vandaan?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pasaporte»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Tus datos personales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nombre · edad · país · idiomas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verbo 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soy · eres · es · presentarse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Presente 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-ar · -er · -ir · hablar/vivir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Preguntar + el/la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interrogativos · género · artículos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Madrid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 dos apellidos · tú/usted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pasaporte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paspoort + presentarte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400800"/>
            <a:ext cx="8110728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🔗 Cruzar · libro (§1–§V + Lectura) ↔ página digital (20 juegos · audio · flip cards · recorder)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Tus datos personales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ficha van Lucía — observa. Herken de woorden,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nombre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Lucía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463040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voornaam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apellido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Ramírez García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121408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achternaam ×2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edad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16 años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779776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leeftijd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país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438144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nacionalidad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española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1463040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nationaliteit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ciudad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Sevilla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121408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stad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idiomas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español, inglés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2779776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talen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correo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286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lucia@mail.com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3438144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e-mail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Presentarse: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llamo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naam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land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… años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Vivo en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+ stad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Leeftijd = TENER: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Tengo 15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</a:t>
            </a:r>
            <a:r>
              <a:rPr sz="1200" b="0" i="0">
                <a:solidFill>
                  <a:srgbClr val="DC2626"/>
                </a:solidFill>
                <a:latin typeface="Inter"/>
              </a:rPr>
              <a:t>soy 15</a:t>
            </a:r>
            <a:r>
              <a:rPr sz="1200" b="0" i="0">
                <a:solidFill>
                  <a:srgbClr val="157355"/>
                </a:solidFill>
                <a:latin typeface="Inter"/>
              </a:rPr>
              <a:t>).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🔴 Nationaliteit met kleine letter: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belga, español.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el nombre = voornaam · el apellido = achternaam (in het Spaans twee: padre + madre → Cultura).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Presentarse — las frases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Beweeg van betekenis naar vorm.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563EB"/>
                </a:solidFill>
                <a:latin typeface="Bricolage Grotesque"/>
              </a:rPr>
              <a:t>Yo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me llamo </a:t>
            </a:r>
            <a:r>
              <a:rPr sz="2600" b="1" i="0">
                <a:solidFill>
                  <a:srgbClr val="20242E"/>
                </a:solidFill>
                <a:latin typeface="Bricolage Grotesque"/>
              </a:rPr>
              <a:t>Leo,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soy </a:t>
            </a:r>
            <a:r>
              <a:rPr sz="2600" b="1" i="0">
                <a:solidFill>
                  <a:srgbClr val="14B8A6"/>
                </a:solidFill>
                <a:latin typeface="Bricolage Grotesque"/>
              </a:rPr>
              <a:t>de Bélgica </a:t>
            </a:r>
            <a:r>
              <a:rPr sz="26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600" b="1" i="0">
                <a:solidFill>
                  <a:srgbClr val="EA7317"/>
                </a:solidFill>
                <a:latin typeface="Bricolage Grotesque"/>
              </a:rPr>
              <a:t>tengo </a:t>
            </a:r>
            <a:r>
              <a:rPr sz="2600" b="1" i="0">
                <a:solidFill>
                  <a:srgbClr val="7C3AED"/>
                </a:solidFill>
                <a:latin typeface="Bricolage Grotesque"/>
              </a:rPr>
              <a:t>15 años.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marco — bouw je eigen voorstelling: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Me llamo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(voor)naam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land / stad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nationaliteit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Tengo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getal + años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Vivo 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stad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Hablo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+ taal/talen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Leo, soy de Bélgica y tengo 15 años. Vivo en Gante y hablo neerlandés y español.»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¿SER o TENER?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Welk werkwoord past? Klik een zin → het juiste werkwoord verschijnt. Let op de leeftijd!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___ de Bélgica.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soy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___ 15 años.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tengo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Ella ___ española.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es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¿Cuántos años ___?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554480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tienes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Nosotros ___ estudiantes.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359152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somos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566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Mi hermano ___ 12 años.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163824"/>
            <a:ext cx="16916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tiene </a:t>
            </a:r>
            <a:r>
              <a:rPr sz="1000" b="0" i="1">
                <a:solidFill>
                  <a:srgbClr val="DC2626"/>
                </a:solidFill>
                <a:latin typeface="Inter"/>
              </a:rPr>
              <a:t>· tener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SER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identiteit, afkomst, nationaliteit, eigenschap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(soy/eres/es/somos/sois/son).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TENER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bezit én LEEFTIJD: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Tengo 15 años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— nooit «soy 15».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verbo SER (irregular)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de vorm, klik de kaart → de vorm verschijnt. Kortste én belangrijkste werkwoord.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Onderwerp mag weg — de vorm zegt al wie: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(Yo) soy Leo.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 🟡 tú (leeftijdsgenoot) ↔ usted (beleefd, 3e pers.: usted es).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soy · eres · es · somos · sois · son.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Gebruik: identidad (soy Leo), origen (soy de Bélgica), nacionalidad (soy belga), cualidad (es simpática).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presente 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Quita la terminación, añade la nueva. Klik een kolomkop → de uitgangen verschijnen.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4630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hablar (-ar)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aprender (-er)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vivir (-ir)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5176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0040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4904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-amos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-emos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688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-imos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456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-áis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-éis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-ís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9456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aprend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viv</a:t>
            </a:r>
            <a:r>
              <a:rPr sz="1300" b="1" i="0">
                <a:solidFill>
                  <a:srgbClr val="EA7317"/>
                </a:solidFill>
                <a:latin typeface="Inter"/>
              </a:rPr>
              <a:t>-en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60" name="Rounded Rectangle 5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-er en -ir zijn bijna gelijk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(alleen nosotros/vosotros verschillen). De yo-vorm eindigt altijd op -o.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53583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¿el o la? — género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het juiste lidwoord verschijnt. Let op de valstrikken.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ciudad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país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0020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60020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60020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idioma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 (🔴)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correo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42316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42316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nacionalidad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42316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 (🔴)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firma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apellido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246120"/>
            <a:ext cx="2743200" cy="685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46120"/>
            <a:ext cx="155448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mano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246120"/>
            <a:ext cx="1005840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la (🔴)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Valstrikken: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el idioma, el día, el mapa, el problema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(op -a, tóch mannelijk!) ·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la mano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(op -o, tóch vrouwelijk).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Leer elk substantief mét lidwoord — dan ken je meteen het geslacht. Meervoud: los / las.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ficha de Lucía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20242E"/>
                </a:solidFill>
                <a:latin typeface="Inter"/>
              </a:rPr>
              <a:t>«¡Hola! Me llamo Lucía Ramírez García. Soy de Sevilla, en España, y soy española. Tengo 16 años. Hablo español e inglés. Mi correo es lucia@mail.com.»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se llama?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Lucía Ramírez García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De Sevilla (España)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16 años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Español e inglés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«e» i.p.v. «y» vóór i-/hi-: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español e inglés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anota el país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personen stellen zich voor. Klik een naam → land + nationaliteit verschijnen.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Bélgica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belga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México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mexicana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Argentina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argentino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País: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los Países Bajos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Nacionalidad: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neerlandesa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Leo, soy de Bélgica, soy belga.»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Nationaliteiten m./v.: mexicano/mexicana · argentino/argentina · neerlandés/neerlandesa. Kleine letter!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Preguntar — palabras interrogativas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vraag → wát ze vraagt + een modelantwoord. Vraagwoorden dragen een tilde.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te llamas?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naam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 llamo Leo.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eres?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59152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afkomst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Soy de Bélgica.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¿Dónde vives?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163824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woonplaats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Vivo en Gante.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554480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leeftijd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Tengo 15 años.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¿Cuál es tu correo?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359152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een gegeven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 leo@mail.com.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26517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63824"/>
            <a:ext cx="2606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info (open) →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Hablo dos idiomas.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¿Cuál? vs ¿Qué?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vóór ser + gegeven → ¿Cuál es tu nombre?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¿Qué es…?).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Vraagwoorden mét tilde: cómo, dónde, cuál, qué, quién, cuántos.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SPEAKING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¡Preséntate!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Bouw je voorstelling met de substitutietabel. Steun bouwt af: tabel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Yo / (tú)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Me llamo 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Origen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Soy de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Tengo ___ años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Ciudad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Vivo en 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Idiomas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Hablo 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tabel.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tegen 3 klasgenoten.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 → terugluisteren.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3652113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«Carrusel: preséntate»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«Hola, me llamo Sara, soy de Bélgica, tengo 14 años. Vivo en Amberes y hablo neerlandés e inglés.»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mini-perfil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4–5 zinnen over jezelf (echt of fictief).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nombre + apellido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edad (tener… años)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país + nacionalidad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ciudad (vivo en…)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idiomas (hablo…)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conector: y / porque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«Me llamo Nina Quispe. Tengo 16 años y soy de Perú, soy peruana. Vivo en Cusco y hablo español e inglés porque me gusta viajar.»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Países y nacionalidades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kaart groeit mee. Klik een land → de nacionalidad verschijnt. Land = hoofdletter, nationaliteit = klein.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🇧🇪 Bélgica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belga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🇪🇸 España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español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🇲🇽 México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mexicano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🇦🇷 Argentina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argentino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🇨🇴 Colombia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colombiano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🇵🇪 Perú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peruano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🇨🇱 Chile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chileno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🇻🇪 Venezuela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venezolano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🇫🇷 Francia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francés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🇩🇪 Alemania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alemán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🇮🇹 Italia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italiano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00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🇧🇷 Brasil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E9E74"/>
                </a:solidFill>
                <a:latin typeface="Inter"/>
              </a:rPr>
              <a:t>→ brasileño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Onze route (paradas):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España → México → Colombia → Perú.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 Spaans is officieel in +20 landen (~500 mln sprekers), ook in Guinea Ecuatorial (Afrika).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Genderneutraal in vorm: belga, estadounidense, canadiense, nicaragüense, marroquí. Klein!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Mayúsculas y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Twee schrijfgereedschappen voor je perfil.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¿mayúscula o minúscula?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soy Español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soy español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vivo en bélgica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vivo en Bélgica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hablo Francés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hablo francés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es de madrid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de Madrid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conectores: y / e / o / u / porque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español ___ inglés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«en» vóór i-/hi-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siete ___ ocho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u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«of» vóór o-/ho-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belga ___ hablo español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y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aprendo español ___ me gusta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porque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want/omdat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land/stad/naam = hoofdletter; nationaliteit/taal = kleine letter.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want én omdat = porque (één woord!). «dus» = así que / por eso, niet luego.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Madrid y los nombres hispanos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Ruta verankert in een echte plek.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🏙️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Hoofdstad van España (~3,3 mln). Puerta del Sol, el Prado, el Retiro, el Real Madrid.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Ons vertrekpunt op La Ruta.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👥 Los dos apellidos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Lucía Ramírez García = apellido del padre + de la madre. Bij trouwen verandert de naam níet.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NL heeft één achternaam; hier twee.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🗣️ ¿Tú o usted?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Vrienden/leeftijdsgenoten: tú. Beleefd/onbekende volwassene: usted (+ 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España: veel tú. Colombia/Perú: vaker usted. C6: vos (Argentina).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namen «à la manière hispanique» (nombre + 2 apellidos) en kies per situatie tú/usted.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Haz 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Bij dit antwoord — welke vraag? Klik → de vraag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Soy de Colombia.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¿De dónde eres?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Tengo 14 años.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¿Cuántos años tienes?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llamo Nina.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¿Cómo te llamas?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Vivo en Madrid.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¿Dónde vives?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 leo@mail.com.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¿Cuál es tu correo?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Hablo español.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idiomas hablas?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Vraagwoord ↔ antwoordtype: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origen→¿De dónde?, edad→¿Cuántos años?, nombre→¿Cómo?, dato→¿Cuál?.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«Busco un compi de intercambio»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Een echte tekst. Je hoeft niet alles te begrijpen om de informatie eruit te halen.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7784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77840" cy="384048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5303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Bricolage Grotesque"/>
              </a:rPr>
              <a:t>perfil (app de intercambio lingüístico)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5212080" cy="3566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Bricolage Grotesque"/>
              </a:rPr>
              <a:t>BUSCO COMPI DE INTERCAMBIO 🇪🇸 ↔ 🇧🇪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Tú me hablas en neerlandés, yo te hablo en español.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Nombre: Álex Moreno Gil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Edad: tengo dieciséis años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Ciudad: Madrid, España. Soy español.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Instituto: IES Cervantes, cuarto curso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• Lenguas: hablo español e inglés. Estudio francés.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¡Hola! Me llamo Álex y vivo en Madrid, en el barrio de Lavapiés. Estudio en el IES Cervantes y este año aprendo francés.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En mi tiempo libre escucho música, juego al baloncesto y leo cómics. Los sábados trabajo en la tienda de mi tía.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Busco un compi de Bélgica o de los Países Bajos. Hablamos media hora en español y media hora en neerlandés. ¿Te apuntas?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A6E78"/>
                </a:solidFill>
                <a:latin typeface="Inter"/>
              </a:rPr>
              <a:t>Escríbeme: alex.moreno@correo.es · ¿Cómo te llamas tú?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468112" cy="19659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Escanea — busca el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5564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¿Cuántos años tiene Álex?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¿En qué ciudad vive?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¿Cómo se llama su instituto?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¿Qué lengua estudia este año?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¿Qué día trabaja?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468112" cy="2057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58768"/>
            <a:ext cx="512064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Álex es español.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Álex vive en Sevilla.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Álex habla inglés.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Álex juega al fútbol.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Álex trabaja en la tienda de su tía.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Escanear: 1) 16 · 2) Madrid · 3) IES Cervantes · 4) francés · 5) los sábados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1) V — «soy español»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2) F — «vivo en madrid»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3) V — «hablo español e inglés»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4) F — «juego al baloncesto»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5) V — «trabajo en la tienda de mi tía»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46811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§6 · ESCUCHA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«El primer día en el instituto»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Eerst de situatie, dan luisteren. Het transcript komt pas ná de taken.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0515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¿Dónde?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El pasillo del IES Cervantes, Madrid</a:t>
            </a:r>
            <a:r>
              <a:rPr sz="1100" b="1" i="0">
                <a:solidFill>
                  <a:srgbClr val="157355"/>
                </a:solidFill>
                <a:latin typeface="Inter"/>
              </a:rPr>
              <a:t>     ¿Quién?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Álex (de Madrid) y Sam, un alumno nuevo de Bélgica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7355"/>
                </a:solidFill>
                <a:latin typeface="Inter"/>
              </a:rPr>
              <a:t>¿Qué pasa?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Se conocen y se hacen preguntas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Palabras clave: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¿cómo te llamas? · ¿de dónde eres? · ¿cuántos años tienes?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5577840" cy="2971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2120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Escucha con detalle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5212080" cy="23774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¿Cómo se escribe el nombre de Sam?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¿De dónde es Sam?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¿Cuántos años tiene Sam?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¿Qué lengua estudia Álex?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¿Cuántos años tiene la hermana de Sam?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14600"/>
            <a:ext cx="5468112" cy="29718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4436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Álex tiene dieciséis años.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Sam estudia alemán.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Sam tiene una hermana.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57355"/>
                </a:solidFill>
                <a:latin typeface="Inter"/>
              </a:rPr>
              <a:t>Tu reacción: </a:t>
            </a:r>
            <a:r>
              <a:rPr sz="1000" b="0" i="0">
                <a:solidFill>
                  <a:srgbClr val="20242E"/>
                </a:solidFill>
                <a:latin typeface="Inter"/>
              </a:rPr>
              <a:t>Álex te pregunta a ti: «¿Cómo te llamas, de dónde eres y cuántos años tienes?» Contesta en tres frases y añade una pregunta para él.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Detalle: 1) Con ese · 2) De Amberes, Bélgica · 3) 15 · 4) Francés · 5) 12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1) V — «yo tengo dieciséis»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2) F — «estudio español, claro»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3) V — «tengo una hermana»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6811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C5 · A1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✈ Tarea final · Mi pasaporte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La Ruta-paspoort en stel je voor (echt of met een nieuwe identiteit).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tu identidad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nombre + 2 apellidos, país, ciudad, edad, idiomas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el pasaporte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in hele woorden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tu 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88336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5–6 frases: ser + presente + conectores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Preséntate a la 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neem audio/video op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Pregunta a un compañero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presenta a esa persona (3ª persona)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alle gegevens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ser + presente correct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y/porque + mayúsculas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mondeling voorstellen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klas/Lucía · doel jezelf voorstellen · situatie aankomst in Madrid · resultaat: paspoort + voorstelling.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(ser)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leeftijd-werkwoord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tener (Tengo… años)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hablar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hablamos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te llamas?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Cómo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→ nationaliteit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español (klein!)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of la: idioma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el idioma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vivir, tú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want/omdat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ser · tener (edad) · presente · interrogativos · género · mayúsculas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Presentarse: Me llamo… · Soy de… · Soy + nat. · Tengo… años · Vivo en… · Hablo…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Ser: soy·eres·es·somos·sois·son. Presente reg.: -o/-as/-a/-amos/-áis/-an.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Preguntar: ¿Cómo? ¿De dónde? ¿Dónde? ¿Cuántos años? ¿Cuál? ¿Qué? ¿Quién?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Artículos: el/la · los/las · un/una (leer met lidwoord!).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🔴 Trampas: edad=tener · nationaliteit=klein · ¿Cuál? vóór ser · want/omdat=porque.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mezelf voorstellen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ser + presente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vragen stellen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el/la kiezen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landen/nationaliteiten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U1 «¿Quién eres?»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datos/presentarse 10' · ser/presente 12' · reading/listening 8' · interrogativos + speaking 10' · cultura 4'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edad = TENER · nationaliteit kleine letter · ¿Cuál? vóór ser · want/omdat = porque · el idioma/día (m.) · «e» vóór inglés.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Sterkere leerlingen: meer landen + fictieve identiteit. Zwakkere: marco/tabel langer open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20 spellen + flip cards + klikbare kaart + recorder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«Mi pasaporte» met rúbrica (4 criteria). LPD 3·4·7·8 + 5 (cultura) + 1·2 (receptief).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U1 · ¿QUIÉN ERES?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