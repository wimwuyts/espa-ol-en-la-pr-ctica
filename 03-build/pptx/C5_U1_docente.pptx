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1 = Madrid, met gastvrouw Lucía. Doel van de unit: zich voorstellen (nombre/edad/país/idiomas) + iemand ernaar vragen. Kernvalstrik meteen benoemen: leeftijd = TENER (Tengo 15 años), niet SER. Instructietaal Spaans-eerst met NL-steun. Docentdeck = vrije navigatie + oplossing in notities; leerlingdeck (.ppsx) = elke klik onthult het volgende antwoord (geen kiosk).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Bij veel zij-instromers: begin gerust bij §1 (datos) — de kern van zich voorstellen. Richttijd 50 min. Kruisverwijzing print/HTML: elke sectie verwijst naar «oefen online» op de verrijkte hub (20 juegos + drills + flip cards).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Toon eerst de ficha, laat leerlingen woorden raden zónder de NL-gloss (die staat klein). Kernframe presentarse meteen inoefenen. Valstrik tener/ser en mayúsculas benadrukken. Online: flip cards + Memoria de los datos.</a:t>
            </a:r>
          </a:p>
          <a:p/>
          <a:p>
            <a:r>
              <a:t>— SOLUCIÓN (docent · presenter view) —</a:t>
            </a:r>
          </a:p>
          <a:p>
            <a:r>
              <a:t>🔴 Leeftijd = TENER: Tengo 15 años (niet soy 15). 🔴 Nationaliteit met kleine letter: belga, español.</a:t>
            </a:r>
          </a:p>
          <a:p>
            <a:r>
              <a:t>el nombre = voornaam · el apellido = achternaam (in het Spaans twee: padre + madre → Cultura).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(color-coding = functionele taalsemantiek). Elke leerling bouwt zijn eigen voorstelling met het marco. Steun bouwt af: marco zichtbaar → alleen beginwoorden → uit het hoofd. Kleur is nooit de enige drager (ook label/vorm).</a:t>
            </a:r>
          </a:p>
          <a:p/>
          <a:p>
            <a:r>
              <a:t>— SOLUCIÓN (docent · presenter view) —</a:t>
            </a:r>
          </a:p>
          <a:p>
            <a:r>
              <a:t>Modelo: «Hola, me llamo Leo, soy de Bélgica y tengo 15 años. Vivo en Gante y hablo neerlandés y español.»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(reveal per klik). Laat de klas eerst kiezen (hand/stem), klik dan het antwoord. Rode categorie = tener (leeftijd/bezit). De hardnekkigste NL-fout: «soy 15 años». Herhaal mondeling.</a:t>
            </a:r>
          </a:p>
          <a:p/>
          <a:p>
            <a:r>
              <a:t>— SOLUCIÓN (docent · presenter view) —</a:t>
            </a:r>
          </a:p>
          <a:p>
            <a:r>
              <a:t>SER = identiteit, afkomst, nationaliteit, eigenschap (soy/eres/es/somos/sois/son).</a:t>
            </a:r>
          </a:p>
          <a:p>
            <a:r>
              <a:t>TENER = bezit én LEEFTIJD: Tengo 15 años — nooit «soy 15».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 (reveal). Coro: klas zegt de vorm vóór je klikt. Wijs op yo→soy (onregelmatig). tú vs usted kort aanraken (uitwerking in Cultura). Online: «El verbo SER» + «Presente Tetris».</a:t>
            </a:r>
          </a:p>
          <a:p/>
          <a:p>
            <a:r>
              <a:t>— SOLUCIÓN (docent · presenter view) —</a:t>
            </a:r>
          </a:p>
          <a:p>
            <a:r>
              <a:t>soy · eres · es · somos · sois · son. Gebruik: identidad (soy Leo), origen (soy de Bélgica), nacionalidad (soy belga), cualidad (es simpática).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presente. Onthul rij per rij; laat de klas de uitgang voorspellen. Benadruk: één patroon, drie families; -er/-ir alleen bij nosotros/vosotros anders. Werkwoordsvervoeging verder = aparte Conjugador-tool, niet hier. Inoefenen: online cloze-spel «Completa el verbo» (invullen van de juiste vorm) + de cloze-oefening in de cursus (§3.2).</a:t>
            </a:r>
          </a:p>
          <a:p/>
          <a:p>
            <a:r>
              <a:t>— SOLUCIÓN (docent · presenter view) —</a:t>
            </a:r>
          </a:p>
          <a:p>
            <a:r>
              <a:t>-er en -ir zijn bijna gelijk (alleen nosotros/vosotros verschillen). De yo-vorm eindigt altijd op -o.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género. Onthul per klik. De -a/-o-regel klopt meestal, maar de valstrikken (idioma/día/mapa; mano) moeten los geleerd. Online: «¿el o la?» (generator, nagerekend).</a:t>
            </a:r>
          </a:p>
          <a:p/>
          <a:p>
            <a:r>
              <a:t>— SOLUCIÓN (docent · presenter view) —</a:t>
            </a:r>
          </a:p>
          <a:p>
            <a:r>
              <a:t>🔴 Valstrikken: el idioma, el día, el mapa, el problema (op -a, tóch mannelijk!) · la mano (op -o, tóch vrouwelijk).</a:t>
            </a:r>
          </a:p>
          <a:p>
            <a:r>
              <a:t>Leer elk substantief mét lidwoord — dan ken je meteen het geslacht. Meervoud: los / 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(lezen→spreken-keten). Eerst globaal (waarover?), dan detail. Onthul de antwoorden pas na de klas. Daarna: leerlingen maken hun EIGEN ficha (transfer → Tarea). Let op «e» vóór inglés.</a:t>
            </a:r>
          </a:p>
          <a:p/>
          <a:p>
            <a:r>
              <a:t>— SOLUCIÓN (docent · presenter view) —</a:t>
            </a:r>
          </a:p>
          <a:p>
            <a:r>
              <a:t>🔴 «e» i.p.v. «y» vóór i-/hi-: español e inglés.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(selectief). Lees elk profiel voor (of gebruik TTS op de digitale pagina). Klas noteert país; onthul per klik. Koppel nationaliteit (m./v.) aan het land. Daarna spreken: leerling stelt een personage voor in 3e persoon.</a:t>
            </a:r>
          </a:p>
          <a:p/>
          <a:p>
            <a:r>
              <a:t>— SOLUCIÓN (docent · presenter view) —</a:t>
            </a:r>
          </a:p>
          <a:p>
            <a:r>
              <a:t>Modelo-audio (docent leest of TTS): «Hola, me llamo Leo, soy de Bélgica, soy belga.» …</a:t>
            </a:r>
          </a:p>
          <a:p>
            <a:r>
              <a:t>Nationaliteiten m./v.: mexicano/mexicana · argentino/argentina · neerlandés/neerlandesa. Kleine letter!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interrogativos. Koppel elk vraagwoord aan het antwoordtype (spiegel). ¿Cuál? vs ¿Qué? is dé valstrik. Daarna: interactie — leerlingen interviewen elkaar (nombre/edad/ciudad). Online: «Palabras interrogativas», «Pregunta ↔ respuesta».</a:t>
            </a:r>
          </a:p>
          <a:p/>
          <a:p>
            <a:r>
              <a:t>— SOLUCIÓN (docent · presenter view) —</a:t>
            </a:r>
          </a:p>
          <a:p>
            <a:r>
              <a:t>🔴 ¿Cuál? vs ¿Qué? vóór ser + gegeven → ¿Cuál es tu nombre? (niet ¿Qué es…?).</a:t>
            </a:r>
          </a:p>
          <a:p>
            <a:r>
              <a:t>Vraagwoorden mét tilde: cómo, dónde, cuál, qué, quién, cuántos.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(substitutie → productie). Automatiseer de zelfvoorstelling in 3 rondes met afbouwende steun. Online: SubstitutionCarousel + recorder (opname + zelfevaluatie).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Modelo: «Hola, me llamo Sara, soy de Bélgica, tengo 14 años. Vivo en Amberes y hablo neerlandés e inglés.»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ser/tener, mayúsculas, conector. Dit voedt rechtstreeks de Tarea «Mi pasaporte».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VOCAB/CULTURE. Koppel land↔nationaliteit; klik onthult. Volledige set (Spaanstalige + ~25 wereldlanden) op de digitale pagina (flip cards + «país ↔ nacionalidad» + klikbare kaart). Mayúscula-regel benadrukken.</a:t>
            </a:r>
          </a:p>
          <a:p/>
          <a:p>
            <a:r>
              <a:t>— SOLUCIÓN (docent · presenter view) —</a:t>
            </a:r>
          </a:p>
          <a:p>
            <a:r>
              <a:t>Onze route (paradas): España → México → Colombia → Perú.  Spaans is officieel in +20 landen (~500 mln sprekers), ook in Guinea Ecuatorial (Afrika).</a:t>
            </a:r>
          </a:p>
          <a:p>
            <a:r>
              <a:t>Genderneutraal in vorm: belga, estadounidense, canadiense, nicaragüense, marroquí. Klein!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Mayúscula-regel = grote NL-valstrik (NL schrijft Spaans/Belg met hoofdletter). Conector porque dekt want én omdat. Deze twee gereedschappen meteen toepassen in het perfil / de Tarea.</a:t>
            </a:r>
          </a:p>
          <a:p/>
          <a:p>
            <a:r>
              <a:t>— SOLUCIÓN (docent · presenter view) —</a:t>
            </a:r>
          </a:p>
          <a:p>
            <a:r>
              <a:t>A: land/stad/naam = hoofdletter; nationaliteit/taal = kleine letter.</a:t>
            </a:r>
          </a:p>
          <a:p>
            <a:r>
              <a:t>🔴 B: want én omdat = porque (één woord!). «dus» = así que / por eso, niet luego.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Los dos apellidos + tú/usted zijn kernculturele verschillen. Verbind met de klas: welke namen/achternamen kennen jullie? Bruggetje naar Mateo (vos) in C6.</a:t>
            </a:r>
          </a:p>
          <a:p/>
          <a:p>
            <a:r>
              <a:t>— SOLUCIÓN (docent · presenter view) —</a:t>
            </a:r>
          </a:p>
          <a:p>
            <a:r>
              <a:t>Actividad: schrijf 3 namen «à la manière hispanique» (nombre + 2 apellidos) en kies per situatie tú/usted.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interactie. Klas formuleert de vraag vóór de klik. Daarna klassikale enquête: leerlingen stellen elkaar de vragen en rapporteren in 3e persoon (Tom tiene 15 años y vive en…).</a:t>
            </a:r>
          </a:p>
          <a:p/>
          <a:p>
            <a:r>
              <a:t>— SOLUCIÓN (docent · presenter view) —</a:t>
            </a:r>
          </a:p>
          <a:p>
            <a:r>
              <a:t>Vraagwoord ↔ antwoordtype: origen→¿De dónde?, edad→¿Cuántos años?, nombre→¿Cómo?, dato→¿Cuál?.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READING. Route: voorspellen → globaal → scannen → juist/fout MET BEWIJS → betekenis uit context → zelf schrijven. Laat de tekst staan tijdens het scannen: informatie terugvinden is lezen, uit het hoofd opzeggen is iets anders. Eis bij elke V/F de zin uit de tekst — dat is de stap die gokken onmogelijk maakt. Dezelfde tekst staat in de cursus (met schrijfruimte) en op de hub (zelfcorrigerend, met vertaalknop).</a:t>
            </a:r>
          </a:p>
          <a:p/>
          <a:p>
            <a:r>
              <a:t>— SOLUCIÓN (docent · presenter view) —</a:t>
            </a:r>
          </a:p>
          <a:p>
            <a:r>
              <a:t>Escanear: 1) 16 · 2) Madrid · 3) IES Cervantes · 4) francés · 5) los sábados</a:t>
            </a:r>
          </a:p>
          <a:p>
            <a:r>
              <a:t>1) V — «soy español»</a:t>
            </a:r>
          </a:p>
          <a:p>
            <a:r>
              <a:t>2) F — «vivo en madrid»</a:t>
            </a:r>
          </a:p>
          <a:p>
            <a:r>
              <a:t>3) V — «hablo español e inglés»</a:t>
            </a:r>
          </a:p>
          <a:p>
            <a:r>
              <a:t>4) F — «juego al baloncesto»</a:t>
            </a:r>
          </a:p>
          <a:p>
            <a:r>
              <a:t>5) V — «trabajo en la tienda de mi tía»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LISTENING. Zes treden: situatie vooraf → globaal → vijf details → juist/fout MET BEWIJS → transcript pas ná de taken → productieve reactie. Speel het fragment minstens twee keer: één keer globaal (boeken dicht), daarna gericht. Het transcript staat op de hub en gaat daar pas open als de taken gedaan zijn — meelezen tijdens het luisteren maakt er een leesoefening van. Zolang er geen opname is, leest de computerstem het gesprek voor met een eigen stem per spreker. Noodroute: het fragment ook voorlezen kan, met twee leerlingen in de rollen.</a:t>
            </a:r>
          </a:p>
          <a:p/>
          <a:p>
            <a:r>
              <a:t>— SOLUCIÓN (docent · presenter view) —</a:t>
            </a:r>
          </a:p>
          <a:p>
            <a:r>
              <a:t>Detalle: 1) Con ese · 2) De Amberes, Bélgica · 3) 15 · 4) Francés · 5) 12</a:t>
            </a:r>
          </a:p>
          <a:p>
            <a:r>
              <a:t>1) V — «yo tengo dieciséis»</a:t>
            </a:r>
          </a:p>
          <a:p>
            <a:r>
              <a:t>2) F — «estudio español, claro»</a:t>
            </a:r>
          </a:p>
          <a:p>
            <a:r>
              <a:t>3) V — «tengo una hermana»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pagina. Fictieve identiteit mag (recycling in nieuwe context).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Gebruik als exit-ticket of tussentijdse check. Zwakke punten → terug naar de betreffende dia (hyperlink via menu).</a:t>
            </a:r>
          </a:p>
          <a:p/>
          <a:p>
            <a:r>
              <a:t>— SOLUCIÓN (docent · presenter view) —</a:t>
            </a:r>
          </a:p>
          <a:p>
            <a:r>
              <a:t>Alles komt terug: ser · tener (edad) · presente · interrogativos · género · mayúsculas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 (receptief/productief). Repaso-drills staan online (spellen + zelfcorrectie). Bruggetje: U2 «Mi gente» (Sevilla) — familie voorstellen met tener + posesivos.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(bron.md).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16.xml"/><Relationship Id="rId8" Type="http://schemas.openxmlformats.org/officeDocument/2006/relationships/slide" Target="slide18.xml"/><Relationship Id="rId9" Type="http://schemas.openxmlformats.org/officeDocument/2006/relationships/slide" Target="slide19.xml"/><Relationship Id="rId10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Relationship Id="rId4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«Busco un compi de intercambio»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perfil (app de intercambio lingüístico)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BUSCO COMPI DE INTERCAMBIO 🇪🇸 ↔ 🇧🇪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Tú me hablas en neerlandés, yo te hablo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Nombre: Álex Moreno Gil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Edad: tengo dieciséis años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Ciudad: Madrid, España. Soy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Instituto: IES Cervantes, cuarto curso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Lenguas: hablo español e inglés. Estudio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¡Hola! Me llamo Álex y vivo en Madrid, en el barrio de Lavapiés. Estudio en el IES Cervantes y este año aprendo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 mi tiempo libre escucho música, juego al baloncesto y leo cómics. Los sábados trabajo en la tienda de mi tía.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Busco un compi de Bélgica o de los Países Bajos. Hablamos media hora en español y media hora en neerlandés. ¿Te apuntas?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Escríbeme: alex.moreno@correo.es · ¿Cómo te llamas tú?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¿Cuántos años tiene Álex?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¿En qué ciudad vive?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¿Cómo se llama su instituto?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este año?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 trabaja?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es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Álex vive en Sevilla.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Álex habla inglés.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Álex juega al fútbol.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Álex trabaja en la tienda de su tía.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16 · 2) Madrid · 3) IES Cervantes · 4) francés · 5) los sábados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«soy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«vivo en madrid»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«hablo español e inglés»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F — «juego al baloncesto»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5) V — «trabajo en la tienda de mi tía»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en el instituto»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pasillo del IES Cervantes, Madrid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Álex (de Madrid) y Sam, un alumno nuevo de Bélgica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conocen y se hacen preguntas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¿de dónde eres? · ¿cuántos años tienes?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escribe el nombre de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Álex?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años tiene la hermana de Sam?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tiene dieciséis años.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Sam estudia alemán.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tiene una hermana.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Álex te pregunta a ti: «¿Cómo te llamas, de dónde eres y cuántos años tienes?» Contesta en tres frases y añade una pregunta para él.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Con ese · 2) De Amberes, Bélgica · 3) 15 · 4) Francés · 5) 12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«yo tengo dieciséis»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«estudio español, claro»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«tengo una hermana»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U1 «¿Quién eres?»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datos/presentarse 10' · ser/presente 12' · reading/listening 8' · interrogativos + speaking 10' · cultura 4'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edad = TENER · nationaliteit kleine letter · ¿Cuál? vóór ser · want/omdat = porque · el idioma/día (m.) · «e» vóór inglés.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Sterkere leerlingen: meer landen + fictieve identiteit. Zwakkere: marco/tabel langer open houden.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20 spellen + flip cards + klikbare kaart + recorder op de página digital. QR's in het boek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«Mi pasaporte» met rúbrica (4 criteria). LPD 3·4·7·8 + 5 (cultura) + 1·2 (receptief).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