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Open de reis (La Ruta). Stel cast + mochila voor (30-40 s). Klasritueel: laat de klas straks (§4/opener) de NAAM van de mochila kiezen. Instructietaal: Spaans-eerst met NL-steun. Timing hele les: 50 min — zie dia TEACHER_NOTES. Docentversie = vrije navigatie + oplossing in notities; leerlingversie (.ppsx) = gewone diavoorstelling waarin elke klik het volgende antwoord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 (idee 1: interactieve startpagina · idee 3: niet-lineaire keuze). Vaste navigatie: elke tegel = hyperlink naar de betreffende dia; op elke oefendia staat ⌂ Menú terug hierheen. Kies je route naargelang de klas (zij-instromers): begin gerust bij §4 (saludos) om drempel te verlagen, of lineair §1→Repaso. Richttijd totaal 50 min (zie laatste dia).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Audiopaneel personages (idee 34). Klik-per-avatar speelt in HTML de chunk af; hier klassikaal voorlezen. Laat elke leerling één castlid 'nadoen' (soy … de …). Kies NU samen de naam van de mochila (schrijf op bord). Differentiatie: sterke leerlingen voegen '¿y tú?' toe. Cross-ref: HTML flip-cards cast · PDF opener A.1.3.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 woordmuur · idee 22 beeld-woord-audio). Fase: context→observeren→regel. Speel eerst 'la canción del abecedario' (audio) — luister, nog niet schrijven. Rode vakjes = klanktrampas (dia 5). Observatievragen (en parejas, NL): welke letternaam verrast? welke letter zie je niet in NL (ñ)? welke hoor je nooit (h)? Actividad: 'Deletrea tu nombre' — modelo 'Me llamo Lucía: ele-u-ce-i-a, con tilde en la i'. Cross-ref: HTML flip-cards alfabet · PDF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Uitspraak in 6 families (PronunciationCard). Route: 'Caza de sonidos' — beluister het intro-tekstje en onderstreep de jota (Jorge, Gijón, colegio, gente, jamón). Betekenis eerst (waar komt Jorge vandaan?). Escucha y repite met opname (ListenRepeatRecorder). Sombrero-brug: het golfje op ñ + puntjes op güe/güi horen bij §2. De klanktrampa-quiz staat op de volgende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12 meerkeuze met feedback · idee 38 uitspraakcontrast). Onthul-flow: laat de klas eerst kiezen (klik audio), DAN de solución tonen. Belangrijk: b=v en h muda maken sommige paren identiek — dat is geen valstrik-fout maar Spaans. Na kiezen: elke leerling spreekt BEIDE vormen zelf in (van receptie → productie). Trabalenguas als extra: 'Rápido corre el carro del ferrocarril'.</a:t>
            </a:r>
          </a:p>
          <a:p/>
          <a:p>
            <a:r>
              <a:t>— SOLUCIÓN (docent · presenter view) —</a:t>
            </a:r>
          </a:p>
          <a:p>
            <a:r>
              <a:t>A · «geen fout, dat is Spaans!»  vaca=baca en hola=ola klinken IDENTIEK (b=v, h muda). gente≠tente (jota-klank), casa≠caza (s ↔ th).</a:t>
            </a:r>
          </a:p>
          <a:p>
            <a:r>
              <a:t>B · r/rr:  één tik tussen klinkers (pero) ↔ rol bij rr, woordbegin en na n/l/s (perro, Roma, Enrique). Betekenis verandert!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GRAMMAR-noticing (idee 27 Morph kan het hoedje visueel laten 'landen'). Fase: context→observeren→regel, NOG geen tilde-regel. Laat de klas hardop lezen en klappen (Escucha y da una palmada, 8 woorden). Truc: tel van achteren — última(1)·penúltima(2)·antepenúltima(3), heb je nodig op dia 8. Sombrero-familie: golfje ~ (ñ) en puntjes ¨ (güe) zijn ándere hoedjes dan de tilde 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(idee 29 beslisboom · idee 27 Morph). Laat de klas eerst sorteren (Ordena por familia) vóór je de regel-tabel toont. Ezelsbrug: a-GU-das is zelf een llana maar 'wijst naar het einde'; es-DRÚ-ju-las doet wat de naam zegt. Grootste A1-fout = TE VEEL tildes zetten. Recycling-teaser: joven→jóvenes / canción→canciones (hoedje verspringt) komt pas later. Cross-ref: HTML klikbare beslisboom (StressTapper).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11 klik-om-te-onthullen · idee 14 zoek de fout). Laat elke leerling eerst zelf beslissen + de regel benoemen ('waarom?'), dan solución. Vervolg: 'Clínica de tildes' (foutenkliniek): ✗cásada→casa, ✗Mexico→México, ✗telefóno→teléfono, ✗árból→árbol. Het CORRECTE model komt altijd als laatste, nooit de fout alleen (§14). Communicatief slot: 'Sube el sombrero al mapa' met paradas (Perú, México, Bogotá, Panamá dragen ´).</a:t>
            </a:r>
          </a:p>
          <a:p/>
          <a:p>
            <a:r>
              <a:t>— SOLUCIÓN (docent · presenter view) —</a:t>
            </a:r>
          </a:p>
          <a:p>
            <a:r>
              <a:t>Perú (aguda -ú) · café (aguda -é) · casa → GEEN (llana -a) · árbol (llana -l → wél) · México (esdrújula → altijd)</a:t>
            </a:r>
          </a:p>
          <a:p>
            <a:r>
              <a:t>número (esdrújula) · lunes → GEEN (llana -s) · adiós (aguda -s → wél)</a:t>
            </a:r>
          </a:p>
          <a:p>
            <a:r>
              <a:t>🔴 Ojo — geen hoedjes strooien! lunes en profesor krijgen er GÉÉN. De grootste A1-fout is te veel tildes zetten.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21/22 · idee 19 timer voor snelle oproep). Verborgen vertaling: hoor het getal vóór het NL-gloss verschijnt. Trucs per laag: los blokjes / aan elkaar / machine met 'y'. 4 hoedjes in laag 2: dieciSÉis, veintiDÓS, veintiTRÉS, veintiSÉis (sluit aan bij §2!). Speel 'Bingo del mundo hispano' (ronde 2 = leerling is spelleider). Volgende dia: valstrikken + oefening leeftijd/telefoon.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functioneel (idee 25 zinsbouwer · idee 30 grammaticakliniek). Context vóór vorm: we willen LEEFTIJDEN zeggen → daarvoor dient tener. Substitutietabel: kies één blok per kolom, spreek de zin hardop. Kernfout ser↔tener stevig inoefenen (keert terug in U1). Info-gap 'intercambio de teléfonos' (A/B): leerlingen moeten práten om elkaars nummer te weten. Communicatief slot §3: encuesta '¿Cuántos años tiene la clase?' + rapporteren in 3e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(idee 42 schrijfopdracht · idee 36 microdictee). Leerling schrijft ECHT (antwoordruimte). 16-29 aan elkaar (één woord), 30-100 met 'y' (drie woorden). Zelfcorrectie met de solución-laag. Uitbreiding dictee: 'Tengo dieciséis años', 'Vivo en el número veintidós', 'Somos treinta y tres en clase'. Getal in cijfers ÉN letters, mét juiste tilde (koppelt §3 + §2).</a:t>
            </a:r>
          </a:p>
          <a:p/>
          <a:p>
            <a:r>
              <a:t>— SOLUCIÓN (docent · presenter view) —</a:t>
            </a:r>
          </a:p>
          <a:p>
            <a:r>
              <a:t>18 dieciocho  ·  24 veinticuatro  ·  53 cincuenta y tres</a:t>
            </a:r>
          </a:p>
          <a:p>
            <a:r>
              <a:t>71 setenta y uno  ·  96 noventa y seis  ·  47 cuarenta y siete</a:t>
            </a:r>
          </a:p>
          <a:p>
            <a:r>
              <a:t>Mini-transfer: schrijf jouw huisnummer en jouw schoenmaat voluit in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(idee 34 audiopaneel · idee 21 klikbare chunks). Chunks = één geheel, niet losse woorden. 🔴 Valstrikken: Encantado (jongen) / Encantada (meisje) — volgt WIE spreekt. Buenos días/tardes/noches in MEERVOUD. Me llamo = wederkerend. ¿Qué tal? niet woord-voor-woord. h is stom. tú vs usted (usted enkel herkennen). Hang de klasposter 'Cartel de la clase' met de lengua de clase het hele jaar op (spreiding).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READING→SPEAKING (idee 34 audiopaneel · idee 37 shadowing). Speel het model (2 stemmen). Shadowing in 4 stappen: volledige tekst → alleen sleutelwoorden → geen tekst → eigen variant ('Me llamo [naam]. ¿Cómo te llamas?'). Opname → terugluisteren → 1 verbeterpunt → opnieuw (RecordReflectRetry). Substitutiecarrousel: naam · herkomst · leeftijd roteert. Cross-ref: HTML ShadowingPlayer.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SPEAKING/interactie (idee 39 rollenkaart · idee 43 peerfeedback). De rechterkolom (→ chunk) is de oplossing: toon ze pas na de klaspoging. Klasposter 'Cartel de la clase' ophangen. Dit is compensatie-/strategie-taal (LPD lengua de clase) — laat leerlingen ze het hele jaar echt gebruiken i.p.v. NL. Encantad_ clínica del error kan hier ook: Diego zegt Encantado, Nina zegt Encantada (uitgang volgt wie spreekt).</a:t>
            </a:r>
          </a:p>
          <a:p/>
          <a:p>
            <a:r>
              <a:t>— SOLUCIÓN (docent · presenter view) —</a:t>
            </a:r>
          </a:p>
          <a:p>
            <a:r>
              <a:t>Mini-rollenspel (geen steun): A speelt docent (praat te snel / zegt een nieuw woord); B reageert met de passende chunk. Wissel.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2 klikbare kaart · idee 47 zoom). Component Identiteit in diversiteit (leerplan). Juist/fout met bewijs: 'In Brasil is español officieel?' (nee → portugués) · 'Perú está en Europa?' (nee). Coloca a la cast: Lucía→Sevilla, Diego→CDMX, Valen→Cartagena, Nina→Cusco. Strategie cognados. 🔴 Spelling: landen mét hoofdletter (España), taal met kleine letter (el español). Volgende dia: variatie ES↔LatAm.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38 klankcontrast). Kernidee A1: dezelfde taal, kleine verschillen — bewustwording, geen toets. Woordparen matchen (met beginletter als cue): coche/carro, móvil/celular, patata/papa, zumo/jugo. Communicatief slot: mini-encuesta 'Yo prefiero «celular» porque suena bien' → verslag klas. Onze parada start in España → wij vertrekken van /θ/ (th), maar beide varianten zijn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14 · 2) 18 · 3) 0 · 4) 4</a:t>
            </a:r>
          </a:p>
          <a:p>
            <a:r>
              <a:t>1) V — «¡Cero euros!»</a:t>
            </a:r>
          </a:p>
          <a:p>
            <a:r>
              <a:t>2) F — «¿O cero español? ¡No importa!»</a:t>
            </a:r>
          </a:p>
          <a:p>
            <a:r>
              <a:t>3) V — «Los martes y los jueves»</a:t>
            </a:r>
          </a:p>
          <a:p>
            <a:r>
              <a:t>4) V — «Hay sitio para veinte»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B12 · 2) De Sevilla · 3) 16 · 4) 17 · 5) A las once</a:t>
            </a:r>
          </a:p>
          <a:p>
            <a:r>
              <a:t>1) V — «Hablo neerlandés y un poco de español»</a:t>
            </a:r>
          </a:p>
          <a:p>
            <a:r>
              <a:t>2) F — «Yo soy de Sevilla»</a:t>
            </a:r>
          </a:p>
          <a:p>
            <a:r>
              <a:t>3) V — «Ese, a, eme»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(idee 45 vier-vaardighedenmissie · idee 42 zelfopbouwende schrijftaak). Keten 3: model beluisteren → stappen ordenen → uitdrukkingen oefenen → eigen dialoog. Steun bouwt af per paso (MODEL→FRAME→CUE→GEEN). Succescriteria: spelt naam verstaanbaar · groet + afscheid · stelt 1 klasvraag. Feedback &amp; herneming: na paso 5 één verbeterpunt kiezen → opnieuw inspreken (RecordReflectRetry). 🔴 Spel-valstrikken NL→ES: W=uve doble, Y=i griega/ye, J=jota, H=hache (stom). Cross-ref: HTML VoiceMessageTask.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17 Jeopardy-achtig · idee 18 oplopende reeks). Gemengde ophaal over de hele unit — geen aangeduide regel, leerling kiest zelf. Extra items: 'Pasaporte fonético' (Zaragoza·Málaga·Bogotá·Cáceres·Ecuador·Panamá hardop + familie benoemen) en 'Dictado mixto' (getal in cijfers+letters mét tilde). Sluit af met 'Check-in en la puerta' = generale repetitie van de Tarjeta de embarque.</a:t>
            </a:r>
          </a:p>
          <a:p/>
          <a:p>
            <a:r>
              <a:t>— SOLUCIÓN (docent · presenter view) —</a:t>
            </a:r>
          </a:p>
          <a:p>
            <a:r>
              <a:t>1 Perú (aguda -ú)   ·   2 de h zwijgt (hola = «ola»)   ·   3 cuarenta y siete</a:t>
            </a:r>
          </a:p>
          <a:p>
            <a:r>
              <a:t>4 Encantada (Nina is een meisje — de uitgang volgt wie spreekt)   ·   5 casa = llana · México = esdrújula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REPASO/FEEDBACK (idee 8 voortgangsmeter · idee 23 flashcards afbouw). SummaryQuadrant = spiekkaart. BESLIST 2026-07-26: het echte inoefen-repaso staat ONLINE (spellen + zelfcorrectie); print/PPT = spiekkaart + semáforo + 'Repasa jugando (online)'. Laat leerlingen het semáforo eerlijk inkleuren (receptief/productief apart, statusladder 0-5). Vooruitblik U1 «¿Quién eres?» (Madrid): naam &amp; e-mail spellen, edad met tener, saludos openen elke kennismaking (recycling).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TEACHER_NOTES. Deze dia niet projecteren (of overslaan in de leerlingversie .ppsx). Differentiatie / zij-instromers: U0 vertrekt van nul, dus geschikt voor iedereen. Con apoyo = frames open houden; desafío = frames dicht + tempo op. Beoordeling: de Tarjeta de embarque (dia 18) dekt spellen+groeten+klasvraag. Alle LPD-codes III-Spa-d nog concreet in te vullen (zie bron-md Bijlage C). Print-hygiëne / kleurlagen: cursusgroen = navigatie; functionele kleuren (blauw persoon · oranje werkw · paars tijd) enkel bij taalmarkering.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6" Type="http://schemas.openxmlformats.org/officeDocument/2006/relationships/slide" Target="slide13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COMUNICAR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5559552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👀 LEER · comprensión lectora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731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V/F · Lee la lista: «En Brasil se habla español.» 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0" y="5943600"/>
            <a:ext cx="19202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Inter"/>
              </a:rPr>
              <a:t>→ FALSO (portugués)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0" y="594360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🔗 Online: mapa clicable + flip cards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Club de Español»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anuncio (cartel del instituto)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¡APÚNTATE AL CLUB DE ESPAÑOL! 🇪🇸🇲🇽🇨🇴🇵🇪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idioma, veinte países, una ruta.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¿Hablas un poco de español? ¿O cero español? ¡No importa! En el club hablamos, cantamos y jugamos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¿Cuándo? Los martes y los jueves, de cuatro a cinco.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¿Dónde? En el aula catorce, primera planta.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 cuesta? ¡Cero euros!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¿Cuántos somos? Ahora somos dieciocho. Hay sitio para veinte.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Este año viajamos por el mundo hispano: España, México, Colombia y Perú. Cada mes, un país y una fiesta.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Escribe a: club.espanol@instituto.be — o habla con la señora Ortega.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¿En qué aula es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¿Cuántos alumnos hay ahora en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 cuesta?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países visita el club este año?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El club es gratis.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El club es solo para alumnos que ya hablan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club se reúne dos días por semana.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Todavía hay sitio en el club.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14 · 2) 18 · 3) 0 · 4) 4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«¡Cero euros!»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«¿O cero español? ¡No importa!»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«Los martes y los jueves»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V — «Hay sitio para veinte»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 la puerta de embarque»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aeropuerto de Barajas, Madrid — puerta B12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Lucía (de Sevilla) y tú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Esperáis el mismo vuelo y os presentáis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Soy de… · ¿Cómo se escribe?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¿Cuál es la puerta de embarque?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años tiene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sale el vuelo?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Sam habla dos lenguas.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Lucía es de Madrid.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deletrea su nombre.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Lucía te pregunta: «¿Y tú, cómo te llamas y de dónde eres?» Contesta en tres frases: nombre · origen · edad.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B12 · 2) De Sevilla · 3) 16 · 4) 17 · 5) A las once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«Hablo neerlandés y un poco de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«Yo soy de Sevilla»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«Ese, a, eme»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30632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20242E"/>
                </a:solidFill>
                <a:latin typeface="Inter"/>
              </a:rPr>
              <a:t>TEACHER_NOTES · DOSSIER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Verloop · noodroute · cross-refs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Alleen voor de leerkracht — niet projecteren. Timing 50 min, technische noodroute en verwijzingen.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2120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⏱ Verdeling over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Oriëntatie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menu · cast · kaart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288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Begrijpen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317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alfabet · klanktrampas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317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8'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3317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3464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Opmerken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83464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sílaba tónica · sombrero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83464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7'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83464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7-8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Oefenen (steun)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33756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quizzes · números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33756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12'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33756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6·9·10-12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Productie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84048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saludos · diálogo · tarea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4048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10'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4048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13-18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434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3434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modelantwoord · peer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3434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3434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8463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repaso · semáforo · online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463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3'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8463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1325880"/>
            <a:ext cx="5440680" cy="196596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524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41732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🆘 Noodroute (§5) — altijd beschikbaar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1810512"/>
            <a:ext cx="5120640" cy="1417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Elke oefendia: knop ▶ Mostrar solución · ⏭ Saltar · ⌂ Menú (dia 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Valt audio/video/internet weg → alle content staat óók als tekst/beeld op de dia (statische fallback).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Docentversie .pptx = vrije navigatie + oplossing in de notities; leerlingversie .ppsx = gewone diavoorstelling (geen kiosk): elke klik onthult het volgende antwoord (fade). Geen docentnotities.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429000"/>
            <a:ext cx="5440680" cy="20574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5204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🔗 Cross-refs (§16)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13632"/>
            <a:ext cx="5120640" cy="1508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📄 Cursus (PDF/Word):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U0 §1-§4 · Cultura · Tarea · Repaso · §V Vocabulario.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💻 Online (HTML):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flip-cards (alfabet·getallen·cast) · ShadowingPlayer · info-gap teléfonos · bingo · ~10 spaans-motor-spellen.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➕ Extra-tab: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profe-video «alfabeto» + «números 0-100» · Genially «saludos»/«sílaba tónica» (arche-ele) — links door leerkracht.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