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Open de reis (La Ruta). Stel cast + mochila voor (30-40 s). Klasritueel: laat de klas straks (§4/opener) de NAAM van de mochila kiezen. Instructietaal: Spaans-eerst met NL-steun. Timing hele les: 50 min — zie dia TEACHER_NOTES. Docentversie = vrije navigatie + oplossing in notities; leerlingversie (.ppsx) = gewone diavoorstelling waarin elke klik het volgende antwoord onthult (geen kiosk).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 (idee 1: interactieve startpagina · idee 3: niet-lineaire keuze). Vaste navigatie: elke tegel = hyperlink naar de betreffende dia; op elke oefendia staat ⌂ Menú terug hierheen. Kies je route naargelang de klas (zij-instromers): begin gerust bij §4 (saludos) om drempel te verlagen, of lineair §1→Repaso. Richttijd totaal 50 min (zie laatste dia).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Audiopaneel personages (idee 34). Klik-per-avatar speelt in HTML de chunk af; hier klassikaal voorlezen. Laat elke leerling één castlid 'nadoen' (soy … de …). Kies NU samen de naam van de mochila (schrijf op bord). Differentiatie: sterke leerlingen voegen '¿y tú?' toe. Cross-ref: HTML flip-cards cast · PDF opener A.1.3.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 (idee 21 woordmuur · idee 22 beeld-woord-audio). Fase: context→observeren→regel. Speel eerst 'la canción del abecedario' (audio) — luister, nog niet schrijven. Rode vakjes = klanktrampas (dia 5). Observatievragen (en parejas, NL): welke letternaam verrast? welke letter zie je niet in NL (ñ)? welke hoor je nooit (h)? Actividad: 'Deletrea tu nombre' — modelo 'Me llamo Lucía: ele-u-ce-i-a, con tilde en la i'. Cross-ref: HTML flip-cards alfabet · PDF §1.1.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Uitspraak in 6 families (PronunciationCard). Route: 'Caza de sonidos' — beluister het intro-tekstje en onderstreep de jota (Jorge, Gijón, colegio, gente, jamón). Betekenis eerst (waar komt Jorge vandaan?). Escucha y repite met opname (ListenRepeatRecorder). Sombrero-brug: het golfje op ñ + puntjes op güe/güi horen bij §2. De klanktrampa-quiz staat op de volgende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(idee 12 meerkeuze met feedback · idee 38 uitspraakcontrast). Onthul-flow: laat de klas eerst kiezen (klik audio), DAN de solución tonen. Belangrijk: b=v en h muda maken sommige paren identiek — dat is geen valstrik-fout maar Spaans. Na kiezen: elke leerling spreekt BEIDE vormen zelf in (van receptie → productie). Trabalenguas als extra: 'Rápido corre el carro del ferrocarril'.</a:t>
            </a:r>
          </a:p>
          <a:p/>
          <a:p>
            <a:r>
              <a:t>— SOLUCIÓN (docent · presenter view) —</a:t>
            </a:r>
          </a:p>
          <a:p>
            <a:r>
              <a:t>A · «geen fout, dat is Spaans!»  vaca=baca en hola=ola klinken IDENTIEK (b=v, h muda). gente≠tente (jota-klank), casa≠caza (s ↔ th).</a:t>
            </a:r>
          </a:p>
          <a:p>
            <a:r>
              <a:t>B · r/rr:  één tik tussen klinkers (pero) ↔ rol bij rr, woordbegin en na n/l/s (perro, Roma, Enrique). Betekenis verandert!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GRAMMAR-noticing (idee 27 Morph kan het hoedje visueel laten 'landen'). Fase: context→observeren→regel, NOG geen tilde-regel. Laat de klas hardop lezen en klappen (Escucha y da una palmada, 8 woorden). Truc: tel van achteren — última(1)·penúltima(2)·antepenúltima(3), heb je nodig op dia 8. Sombrero-familie: golfje ~ (ñ) en puntjes ¨ (güe) zijn ándere hoedjes dan de tilde 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(idee 29 beslisboom · idee 27 Morph). Laat de klas eerst sorteren (Ordena por familia) vóór je de regel-tabel toont. Ezelsbrug: a-GU-das is zelf een llana maar 'wijst naar het einde'; es-DRÚ-ju-las doet wat de naam zegt. Grootste A1-fout = TE VEEL tildes zetten. Recycling-teaser: joven→jóvenes / canción→canciones (hoedje verspringt) komt pas later. Cross-ref: HTML klikbare beslisboom (StressTapper).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(idee 11 klik-om-te-onthullen · idee 14 zoek de fout). Laat elke leerling eerst zelf beslissen + de regel benoemen ('waarom?'), dan solución. Vervolg: 'Clínica de tildes' (foutenkliniek): ✗cásada→casa, ✗Mexico→México, ✗telefóno→teléfono, ✗árból→árbol. Het CORRECTE model komt altijd als laatste, nooit de fout alleen (§14). Communicatief slot: 'Sube el sombrero al mapa' met paradas (Perú, México, Bogotá, Panamá dragen ´).</a:t>
            </a:r>
          </a:p>
          <a:p/>
          <a:p>
            <a:r>
              <a:t>— SOLUCIÓN (docent · presenter view) —</a:t>
            </a:r>
          </a:p>
          <a:p>
            <a:r>
              <a:t>Perú (aguda -ú) · café (aguda -é) · casa → GEEN (llana -a) · árbol (llana -l → wél) · México (esdrújula → altijd)</a:t>
            </a:r>
          </a:p>
          <a:p>
            <a:r>
              <a:t>número (esdrújula) · lunes → GEEN (llana -s) · adiós (aguda -s → wél)</a:t>
            </a:r>
          </a:p>
          <a:p>
            <a:r>
              <a:t>🔴 Ojo — geen hoedjes strooien! lunes en profesor krijgen er GÉÉN. De grootste A1-fout is te veel tildes zetten.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 (idee 21/22 · idee 19 timer voor snelle oproep). Verborgen vertaling: hoor het getal vóór het NL-gloss verschijnt. Trucs per laag: los blokjes / aan elkaar / machine met 'y'. 4 hoedjes in laag 2: dieciSÉis, veintiDÓS, veintiTRÉS, veintiSÉis (sluit aan bij §2!). Speel 'Bingo del mundo hispano' (ronde 2 = leerling is spelleider). Volgende dia: valstrikken + oefening leeftijd/telefoon.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functioneel (idee 25 zinsbouwer · idee 30 grammaticakliniek). Context vóór vorm: we willen LEEFTIJDEN zeggen → daarvoor dient tener. Substitutietabel: kies één blok per kolom, spreek de zin hardop. Kernfout ser↔tener stevig inoefenen (keert terug in U1). Info-gap 'intercambio de teléfonos' (A/B): leerlingen moeten práten om elkaars nummer te weten. Communicatief slot §3: encuesta '¿Cuántos años tiene la clase?' + rapporteren in 3e 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(idee 42 schrijfopdracht · idee 36 microdictee). Leerling schrijft ECHT (antwoordruimte). 16-29 aan elkaar (één woord), 30-100 met 'y' (drie woorden). Zelfcorrectie met de solución-laag. Uitbreiding dictee: 'Tengo dieciséis años', 'Vivo en el número veintidós', 'Somos treinta y tres en clase'. Getal in cijfers ÉN letters, mét juiste tilde (koppelt §3 + §2).</a:t>
            </a:r>
          </a:p>
          <a:p/>
          <a:p>
            <a:r>
              <a:t>— SOLUCIÓN (docent · presenter view) —</a:t>
            </a:r>
          </a:p>
          <a:p>
            <a:r>
              <a:t>18 dieciocho  ·  24 veinticuatro  ·  53 cincuenta y tres</a:t>
            </a:r>
          </a:p>
          <a:p>
            <a:r>
              <a:t>71 setenta y uno  ·  96 noventa y seis  ·  47 cuarenta y siete</a:t>
            </a:r>
          </a:p>
          <a:p>
            <a:r>
              <a:t>Mini-transfer: schrijf jouw huisnummer en jouw schoenmaat voluit in letters.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(idee 34 audiopaneel · idee 21 klikbare chunks). Chunks = één geheel, niet losse woorden. 🔴 Valstrikken: Encantado (jongen) / Encantada (meisje) — volgt WIE spreekt. Buenos días/tardes/noches in MEERVOUD. Me llamo = wederkerend. ¿Qué tal? niet woord-voor-woord. h is stom. tú vs usted (usted enkel herkennen). Hang de klasposter 'Cartel de la clase' met de lengua de clase het hele jaar op (spreiding).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READING→SPEAKING (idee 34 audiopaneel · idee 37 shadowing). Speel het model (2 stemmen). Shadowing in 4 stappen: volledige tekst → alleen sleutelwoorden → geen tekst → eigen variant ('Me llamo [naam]. ¿Cómo te llamas?'). Opname → terugluisteren → 1 verbeterpunt → opnieuw (RecordReflectRetry). Substitutiecarrousel: naam · herkomst · leeftijd roteert. Cross-ref: HTML ShadowingPlayer.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SPEAKING/interactie (idee 39 rollenkaart · idee 43 peerfeedback). De rechterkolom (→ chunk) is de oplossing: toon ze pas na de klaspoging. Klasposter 'Cartel de la clase' ophangen. Dit is compensatie-/strategie-taal (LPD lengua de clase) — laat leerlingen ze het hele jaar echt gebruiken i.p.v. NL. Encantad_ clínica del error kan hier ook: Diego zegt Encantado, Nina zegt Encantada (uitgang volgt wie spreekt).</a:t>
            </a:r>
          </a:p>
          <a:p/>
          <a:p>
            <a:r>
              <a:t>— SOLUCIÓN (docent · presenter view) —</a:t>
            </a:r>
          </a:p>
          <a:p>
            <a:r>
              <a:t>Mini-rollenspel (geen steun): A speelt docent (praat te snel / zegt een nieuw woord); B reageert met de passende chunk. Wissel.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(idee 2 klikbare kaart · idee 47 zoom). Component Identiteit in diversiteit (leerplan). Juist/fout met bewijs: 'In Brasil is español officieel?' (nee → portugués) · 'Perú está en Europa?' (nee). Coloca a la cast: Lucía→Sevilla, Diego→CDMX, Valen→Cartagena, Nina→Cusco. Strategie cognados. 🔴 Spelling: landen mét hoofdletter (España), taal met kleine letter (el español). Volgende dia: variatie ES↔LatAm.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(idee 38 klankcontrast). Kernidee A1: dezelfde taal, kleine verschillen — bewustwording, geen toets. Woordparen matchen (met beginletter als cue): coche/carro, móvil/celular, patata/papa, zumo/jugo. Communicatief slot: mini-encuesta 'Yo prefiero «celular» porque suena bien' → verslag klas. Onze parada start in España → wij vertrekken van /θ/ (th), maar beide varianten zijn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(idee 45 vier-vaardighedenmissie · idee 42 zelfopbouwende schrijftaak). Keten 3: model beluisteren → stappen ordenen → uitdrukkingen oefenen → eigen dialoog. Steun bouwt af per paso (MODEL→FRAME→CUE→GEEN). Succescriteria: spelt naam verstaanbaar · groet + afscheid · stelt 1 klasvraag. Feedback &amp; herneming: na paso 5 één verbeterpunt kiezen → opnieuw inspreken (RecordReflectRetry). 🔴 Spel-valstrikken NL→ES: W=uve doble, Y=i griega/ye, J=jota, H=hache (stom). Cross-ref: HTML VoiceMessageTask.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(idee 17 Jeopardy-achtig · idee 18 oplopende reeks). Gemengde ophaal over de hele unit — geen aangeduide regel, leerling kiest zelf. Extra items: 'Pasaporte fonético' (Zaragoza·Málaga·Bogotá·Cáceres·Ecuador·Panamá hardop + familie benoemen) en 'Dictado mixto' (getal in cijfers+letters mét tilde). Sluit af met 'Check-in en la puerta' = generale repetitie van de Tarjeta de embarque.</a:t>
            </a:r>
          </a:p>
          <a:p/>
          <a:p>
            <a:r>
              <a:t>— SOLUCIÓN (docent · presenter view) —</a:t>
            </a:r>
          </a:p>
          <a:p>
            <a:r>
              <a:t>1 Perú (aguda -ú)   ·   2 de h zwijgt (hola = «ola»)   ·   3 cuarenta y siete</a:t>
            </a:r>
          </a:p>
          <a:p>
            <a:r>
              <a:t>4 Encantada (Nina is een meisje — de uitgang volgt wie spreekt)   ·   5 casa = llana · México = esdrújula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REPASO/FEEDBACK (idee 8 voortgangsmeter · idee 23 flashcards afbouw). SummaryQuadrant = spiekkaart. BESLIST 2026-07-26: het echte inoefen-repaso staat ONLINE (spellen + zelfcorrectie); print/PPT = spiekkaart + semáforo + 'Repasa jugando (online)'. Laat leerlingen het semáforo eerlijk inkleuren (receptief/productief apart, statusladder 0-5). Vooruitblik U1 «¿Quién eres?» (Madrid): naam &amp; e-mail spellen, edad met tener, saludos openen elke kennismaking (recycling).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TEACHER_NOTES. Deze dia niet projecteren (of overslaan in de leerlingversie .ppsx). Differentiatie / zij-instromers: U0 vertrekt van nul, dus geschikt voor iedereen. Con apoyo = frames open houden; desafío = frames dicht + tempo op. Beoordeling: de Tarjeta de embarque (dia 18) dekt spellen+groeten+klasvraag. Alle LPD-codes III-Spa-d nog concreet in te vullen (zie bron-md Bijlage C). Print-hygiëne / kleurlagen: cursusgroen = navigatie; functionele kleuren (blauw persoon · oranje werkw · paars tijd) enkel bij taalmarkering.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6" Type="http://schemas.openxmlformats.org/officeDocument/2006/relationships/slide" Target="slide13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19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0 · 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¡Empezamos!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We beginnen! — jouw eerste stappen in het Spaans en op La Ruta.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¿Estás listo/a para el viaje?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Klaar voor de reis?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 (of volg de volgorde). Alles oefent naar de Tarea final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Sonar en español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alfabet · uitspraak · klanktrampas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regla del sombrero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klemtoon · aguda/llana/esdrújula · tilde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Números 0–100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tellen · leeftijd · telefoon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10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Saludos y clase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groeten · voorstellen · lengua de clase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13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¿Dónde se habla español? (+20 países)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final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Tarjeta de embarque (eindmissie)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LA RUTA · PERSONAJES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gente de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Je koppelt de reis aan mensen, niet aan een landenlijst. Tú = de reiziger (jij).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E07A5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2212848" cy="12801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737360"/>
            <a:ext cx="1371600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Lucía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7A5F"/>
                </a:solidFill>
                <a:latin typeface="Inter"/>
              </a:rPr>
              <a:t>Sevilla 🇪🇸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«¡Hola! Yo soy Lucía, de Sevilla.»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gastvrouw España · familie (U2)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8892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5B8DE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8920" y="1417320"/>
            <a:ext cx="2212848" cy="128016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544" y="1737360"/>
            <a:ext cx="1371600" cy="1371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8892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Diego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8DEF"/>
                </a:solidFill>
                <a:latin typeface="Inter"/>
              </a:rPr>
              <a:t>CDMX 🇲🇽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«¡Qué onda! Soy Diego, de México.»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eten &amp; markt (U5–U6)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2FA8A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1417320"/>
            <a:ext cx="2212848" cy="128016"/>
          </a:xfrm>
          <a:prstGeom prst="rect">
            <a:avLst/>
          </a:prstGeom>
          <a:solidFill>
            <a:srgbClr val="2F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1737360"/>
            <a:ext cx="1371600" cy="1371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2064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Valen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FA8A0"/>
                </a:solidFill>
                <a:latin typeface="Inter"/>
              </a:rPr>
              <a:t>Cartagena 🇨🇴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«¡Hey! Soy Valen, de Colombia.»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wonen &amp; barrio (U7)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5236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D69A2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52360" y="1417320"/>
            <a:ext cx="2212848" cy="128016"/>
          </a:xfrm>
          <a:prstGeom prst="rect">
            <a:avLst/>
          </a:prstGeom>
          <a:solidFill>
            <a:srgbClr val="D6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2984" y="1737360"/>
            <a:ext cx="1371600" cy="1371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45236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Nina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9A2E"/>
                </a:solidFill>
                <a:latin typeface="Inter"/>
              </a:rPr>
              <a:t>Cusco 🇵🇪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8952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«¡Buenas! Soy Nina, de Perú.»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208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reizen &amp; natuur (U8)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8A7BE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84080" y="1417320"/>
            <a:ext cx="2212848" cy="128016"/>
          </a:xfrm>
          <a:prstGeom prst="rect">
            <a:avLst/>
          </a:prstGeom>
          <a:solidFill>
            <a:srgbClr val="8A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04704" y="1737360"/>
            <a:ext cx="1371600" cy="13716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78408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Tú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A7BE0"/>
                </a:solidFill>
                <a:latin typeface="Inter"/>
              </a:rPr>
              <a:t>Flandes 🇧🇪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2124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«Yo soy… — en jij?»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9380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🎒 </a:t>
            </a:r>
            <a:r>
              <a:rPr sz="1250" b="1" i="0">
                <a:solidFill>
                  <a:srgbClr val="157355"/>
                </a:solidFill>
                <a:latin typeface="Bricolage Grotesque"/>
              </a:rPr>
              <a:t>La mochila viajera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= reisgezel. Klasritueel: </a:t>
            </a:r>
            <a:r>
              <a:rPr sz="1200" b="1" i="1">
                <a:solidFill>
                  <a:srgbClr val="1E9E74"/>
                </a:solidFill>
                <a:latin typeface="Inter"/>
              </a:rPr>
              <a:t>¿Cómo se llama nuestra mochila?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(de klas kiest de naam — meteen een mini-taak).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Teaser C6: </a:t>
            </a:r>
            <a:r>
              <a:rPr sz="1050" b="1" i="1">
                <a:solidFill>
                  <a:srgbClr val="6A6E78"/>
                </a:solidFill>
                <a:latin typeface="Inter"/>
              </a:rPr>
              <a:t>Mateo, de Buenos Aires 🇦🇷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komt er pas in het 6de bij (voseo). Niet productief in C5.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SONAR EN ESPAÑOL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abecedario — las 27 letras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Spaans lees je zoals je het schrijft. Eén keer de klankregels → daarna lees je bijna elk woord correct hardop.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Doel: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de klanken &amp; letters herkennen · je naam kunnen spellen (deletrear).  </a:t>
            </a:r>
            <a:r>
              <a:rPr sz="950" b="0" i="1">
                <a:solidFill>
                  <a:srgbClr val="6A6E78"/>
                </a:solidFill>
                <a:latin typeface="Inter"/>
              </a:rPr>
              <a:t>[LPD · Taalsysteem — klank–schriftbeeld A1]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19072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9072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80944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80944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80944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42816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2816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2816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04688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4688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efe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28432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8432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2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90304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90304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0304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hache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52176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52176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52176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J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jota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719072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9072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19072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ka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80944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80944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80944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42816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42816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42816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04688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04688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ene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66560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66560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eñe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28432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28432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28432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o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290304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90304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90304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pe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552176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52176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Q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52176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cu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erre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19072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19072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19072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ese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980944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80944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80944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te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42816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42816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U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42816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504688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504688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V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04688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uve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766560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66560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W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66560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uve doble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028432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28432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28432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equis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290304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290304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90304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ye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552176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52176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Z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552176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zeta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57200" y="4617720"/>
            <a:ext cx="292608" cy="292608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778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2960" y="4599432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= klanktrampa (klinkt anders dan in het NL) → dia 5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57200" y="5074920"/>
            <a:ext cx="11274552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27 letras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26 van het NL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+ ñ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ch / ll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dígrafos (klankcombinaties), géén aparte letters meer.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letternaam verraadt soms de klank: </a:t>
            </a:r>
            <a:r>
              <a:rPr sz="1200" b="1" i="1">
                <a:solidFill>
                  <a:srgbClr val="1E9E74"/>
                </a:solidFill>
                <a:latin typeface="Inter"/>
              </a:rPr>
              <a:t>«jota», «ge», «zeta».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¿Welke letter zie je niet in het NL?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ñ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·  ¿Welke hoor je nooit?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h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94360" y="4946904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+ REGLA · docent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TRAMPAS PARA NEERLANDESES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sonidos que cambian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handvol letters doet iets anders dan je gewend bent. Vorm + label + icoon dragen de info (geen kleur alleen).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La jota /x/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j · ge · 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hard, achter in de keel — als «ch» in lachen, acht, Bach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Juan · jamón · gente · Gijón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niet de NL-j! Juan = «Choean»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ll / y /ʝ/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ll · 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als «j» in ja, jong (yeísmo)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calle · paella · yo · playa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paella = «pa-e-JA», geen l-l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6176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ñ /ɲ/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6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als «nj» in oranje, Anja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España · niño · año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año ≠ ano — het streepje telt!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= v /b/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b · 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 én v klinken exact gelijk (/b/)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Bélgica · vino · Sevilla · vivir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vivir = «bi-bir»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24528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4528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07408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 muda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h zwijgt altijd — doe alsof ze er niet staat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hola · hora · ahora · hay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hola = «ola» (ch = wél eigen klank)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66176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qu / z /k/ /θ/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qu · z · ce · ci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6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qu = «k» (u zwijgt) · z/ce/ci = «th» (España)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6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queso · aquí · zapato · gracias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6176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aquí = «a-kie», gracias met «th»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47436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ESCUCHA Y DECIDE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oyes? — klankdiscriminatie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Je hoort één woord; kruis aan wat je hoort. Daarna spreek je beide vormen zelf in. (idee 38: uitspraakcontrast)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¿B o V? ¿H o sin H?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91640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6916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vaca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6916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baca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31720" y="1810512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350008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350008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50008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gente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350008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tente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468880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08376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008376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00837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casa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00837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caza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31720" y="3127248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66674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666744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666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hola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3666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ola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31720" y="3785616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132588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¿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pero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 o 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perro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? — één tik ↔ rol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1691640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16916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16916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perro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1691640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maar / hond 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2350008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2350008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caro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2350008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carro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2350008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duur / kar 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008376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300837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300837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corro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008376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koor / ik ren 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60" y="3666744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088" y="3666744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3666744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perra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3666744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peer / teef 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8" name="Rounded Rectangle 4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4434840"/>
            <a:ext cx="11247120" cy="9601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 · «geen fout, dat is Spaans!» 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vaca=baca en hola=ola klinken IDENTIEK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(b=v, h muda).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gente≠tente (jota-klank), casa≠caza (s ↔ th).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 · r/rr: 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één tik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tussen klinkers (pero) ↔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rol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bij rr, woordbegin en na n/l/s (perro, Roma, Enrique). Betekenis verandert!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4360" y="4306824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+ uitleg · docent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acento — «la regla del sombrero»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Welke lettergreep zeg je harder (sílaba tónica)? En wanneer schrijf je een hoedje (´)?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① Observeren — luister &amp; klap 👏.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Elk woord heeft één 'sterke' lettergreep. Klap ze aan.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café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865376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ca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2616" y="1792224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FÉ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1627632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737360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(laatste)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737360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792224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1627632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7616" y="1865376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60" y="1737360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(voorlaatste)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395728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México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2450592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MÉ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2286000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42616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xi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56432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395728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395728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teléfono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57616" y="2450592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LÉ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2286000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71432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85248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5560" y="2395728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054096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Perú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42616" y="3108960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RÚ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42616" y="2944368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3054096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(laatste)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3054096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número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43800" y="3108960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NÚ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2944368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57616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me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71432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054096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160520"/>
            <a:ext cx="11247120" cy="12344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 1 ·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Elk woord heeft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één sílaba tónica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die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hoor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je altijd; het streepje (´)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schrijf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je maar soms.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Kernvalstrik: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klemtoon ≠ tilde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 Bij casa hoor je de klap op 'ca', maar er staat géén hoedje.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NL-valstrik: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leg je Nederlandse klemtoon af — «pe-RÚ» (niet PE-ru), «es-pa-ÑOL» (niet ES-panjol).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4032504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→ REGLA · docent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LA REGLA DEL SOMBRERO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Tres familias · ¿cuándo la tilde?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Drie families naar de plaats van de klap — en dé regel voor het hoedje: de magische eindletters -n, -s, klinker.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E07A5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657600" cy="42062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agudas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E07A5F"/>
                </a:solidFill>
                <a:latin typeface="Inter"/>
              </a:rPr>
              <a:t>laatste lettergreep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ca-fé · Pe-rú · es-pa-ñol · Ma-drid · ja-món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1104" y="1280160"/>
            <a:ext cx="3657600" cy="420624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1104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llanas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8264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voorlaatste (de gewoonste!)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8264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ca-sa · lu-nes · a-mi-go · ár-bol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8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8A7BE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008" y="1280160"/>
            <a:ext cx="3657600" cy="420624"/>
          </a:xfrm>
          <a:prstGeom prst="rect">
            <a:avLst/>
          </a:prstGeom>
          <a:solidFill>
            <a:srgbClr val="8A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8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esdrújulas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8A7BE0"/>
                </a:solidFill>
                <a:latin typeface="Inter"/>
              </a:rPr>
              <a:t>derde van achteren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Mé-xi-co · te-lé-fo-no · mú-si-ca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46120"/>
            <a:ext cx="6766560" cy="23317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REGLA DEL SOMBRERO 🎩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Esdrújula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SIEMPRE ´</a:t>
            </a:r>
            <a:r>
              <a:rPr sz="1200" b="0" i="1">
                <a:solidFill>
                  <a:srgbClr val="157355"/>
                </a:solidFill>
                <a:latin typeface="Inter"/>
              </a:rPr>
              <a:t>  (México, teléfono, música)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Aguda → ´ als ze eindigt op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-n, -s of klinker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157355"/>
                </a:solidFill>
                <a:latin typeface="Inter"/>
              </a:rPr>
              <a:t>     wél: café, Perú, jamón, adiós  ·  niet: Madrid, español, reloj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Llana → ´ als ze NÍET zo eindigt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157355"/>
                </a:solidFill>
                <a:latin typeface="Inter"/>
              </a:rPr>
              <a:t>     wél: árbol, lápiz, Cádiz  ·  niet: casa, lunes, examen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Monosílabo (1 lettergreep) → géén ´ (sol, pan, tres)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11810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de kern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3246120"/>
            <a:ext cx="4315968" cy="23317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3337560"/>
            <a:ext cx="40233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7860B"/>
                </a:solidFill>
                <a:latin typeface="Bricolage Grotesque"/>
              </a:rPr>
              <a:t>🟡 Spiegel-truc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749039"/>
            <a:ext cx="40233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Dezelfde 3 eindletters (-n · -s · klinker) doen bij </a:t>
            </a:r>
            <a:r>
              <a:rPr sz="1100" b="1" i="0">
                <a:solidFill>
                  <a:srgbClr val="E07A5F"/>
                </a:solidFill>
                <a:latin typeface="Inter"/>
              </a:rPr>
              <a:t>agudas</a:t>
            </a:r>
            <a:r>
              <a:rPr sz="1100" b="0" i="0">
                <a:solidFill>
                  <a:srgbClr val="20242E"/>
                </a:solidFill>
                <a:latin typeface="Inter"/>
              </a:rPr>
              <a:t> het hoedje verschijnen en bij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llanas</a:t>
            </a:r>
            <a:r>
              <a:rPr sz="1100" b="0" i="0">
                <a:solidFill>
                  <a:srgbClr val="20242E"/>
                </a:solidFill>
                <a:latin typeface="Inter"/>
              </a:rPr>
              <a:t> verdwijnen.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663440"/>
            <a:ext cx="4023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Beslisboom: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¿Esdrújula?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→ sí: 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¿No? → ¿termina en -n/-s/vocal?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aguda: sí→´  ·  llana: no→´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 · COLOCA LA TILDE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¿Lleva sombrero o no?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Zet de tilde ALLEEN waar het moet — en enkel op de tónica-klinker. Beslis eerst, onthul dan.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Peru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Perú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3552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3552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cafe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73552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76472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café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9904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casa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92824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casa · sin 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06256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06256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arbol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09176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árbol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Mexico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México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73552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numero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73552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76472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número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9904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9904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lunes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92824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lunes · sin 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06256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06256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adios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06256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09176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adiós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2" name="Rounded Rectangle 4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977639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Perú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-ú)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café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-é)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casa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GEEN (llana -a)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árbol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(llana -l → wél)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México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(esdrújula → altijd)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número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(esdrújula)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lunes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GEEN (llana -s)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adiós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-s → wél)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Ojo — geen hoedjes strooien!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lunes en profesor krijgen er GÉÉN. De grootste A1-fout is te veel tildes zetten.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3849623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+ uitleg · docent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Números 0–100 — en tres capas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Geen kale lijst: drie bouwlagen, elk met één truc. Voor je leeftijd (edad) en je telefoonnummer.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11274552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11000232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1 · los cimientos (0–15)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apart leren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01368"/>
            <a:ext cx="1094536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0 cero · 1 uno · 2 dos · 3 tres · 4 cuatro · 5 cinco · 6 seis · 7 siete · 8 ocho · 9 nueve · 10 diez · 11 once · 12 doce · 13 trece · 14 catorce · 15 quince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80360"/>
            <a:ext cx="11274552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11274552" cy="384048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898648"/>
            <a:ext cx="11000232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2 · «todo junto» (16–29)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één woord, geen «y» · let op 4 hoedjes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55848"/>
            <a:ext cx="1094536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16 dieciséis · 17 diecisiete · 18 dieciocho · 19 diecinueve · 20 veinte · 21 veintiuno · 22 veintidós · 23 veintitrés · 24 veinticuatro · 25 veinticinco · 26 veintiséis · 27 veintisiete · 28 veintiocho · 29 veintinueve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34840"/>
            <a:ext cx="7132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34840"/>
            <a:ext cx="7132320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453128"/>
            <a:ext cx="6858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3 · las decenas + «y» (30–100)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drie stukjes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892040"/>
            <a:ext cx="68580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30 treinta · 40 cuarenta · 50 cincuenta · 60 sesenta · 70 setenta · 80 ochenta · 90 noventa · 100 cien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4434840"/>
            <a:ext cx="3959352" cy="14173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45262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Bricolage Grotesque"/>
              </a:rPr>
              <a:t>⚙ La máquina «y»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6992" y="4892040"/>
            <a:ext cx="3657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563EB"/>
                </a:solidFill>
                <a:latin typeface="Inter"/>
              </a:rPr>
              <a:t>[ decena ] +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1" i="0">
                <a:solidFill>
                  <a:srgbClr val="1E9E74"/>
                </a:solidFill>
                <a:latin typeface="Inter"/>
              </a:rPr>
              <a:t> + [ unidad 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563EB"/>
                </a:solidFill>
                <a:latin typeface="Inter"/>
              </a:rPr>
              <a:t>treinta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0" i="0">
                <a:solidFill>
                  <a:srgbClr val="1E9E74"/>
                </a:solidFill>
                <a:latin typeface="Inter"/>
              </a:rPr>
              <a:t> cinco → </a:t>
            </a:r>
            <a:r>
              <a:rPr sz="1200" b="1" i="0">
                <a:solidFill>
                  <a:srgbClr val="20242E"/>
                </a:solidFill>
                <a:latin typeface="Inter"/>
              </a:rPr>
              <a:t>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563EB"/>
                </a:solidFill>
                <a:latin typeface="Inter"/>
              </a:rPr>
              <a:t>noventa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0" i="0">
                <a:solidFill>
                  <a:srgbClr val="1E9E74"/>
                </a:solidFill>
                <a:latin typeface="Inter"/>
              </a:rPr>
              <a:t> nueve → </a:t>
            </a:r>
            <a:r>
              <a:rPr sz="1200" b="1" i="0">
                <a:solidFill>
                  <a:srgbClr val="20242E"/>
                </a:solidFill>
                <a:latin typeface="Inter"/>
              </a:rPr>
              <a:t>99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¡OJO! + TU EDAD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Valstrikken + «tener … años»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kernvalstrik van U0/U1: leeftijd = tener, niet ser. En de substitutietabel om je edad te zeggen.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77840" cy="4114800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52120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C2626"/>
                </a:solidFill>
                <a:latin typeface="Bricolage Grotesque"/>
              </a:rPr>
              <a:t>🔴 Trampas para neerlandeses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Leeftijd = tener, niet ser.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Tengo 14 años ✔  ·  ~Soy 14 años~ ✘ (NL «ik ben 14»)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50591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«y» alleen bij 30–100.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dieciséis (1 woord) ↔ treinta y seis (3 woorden)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26663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«y» klinkt als /i/.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cuarenta y cinco = [koe-a-REN-ta i SIN-ko]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02735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Hoedjes niet vergeten.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~veintidos~ → veintidós · ~dieciseis~ → dieciséis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78807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100 = cien.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cien años, cien euros (niet ciento voor exact 100)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79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Lastige paren.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seis↔siete · nueve↔nuevo → extra luisteren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371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Substitutietabel — </a:t>
            </a:r>
            <a:r>
              <a:rPr sz="1300" b="1" i="0">
                <a:solidFill>
                  <a:srgbClr val="EA7317"/>
                </a:solidFill>
                <a:latin typeface="Bricolage Grotesque"/>
              </a:rPr>
              <a:t>tener + número + años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1737360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783080"/>
            <a:ext cx="17373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Persoon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783080"/>
            <a:ext cx="1371600" cy="384048"/>
          </a:xfrm>
          <a:prstGeom prst="rect">
            <a:avLst/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783080"/>
            <a:ext cx="1371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tener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1783080"/>
            <a:ext cx="2286000" cy="3840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783080"/>
            <a:ext cx="22860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número + años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167128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167128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Yo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2167128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2167128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2167128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2167128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catorce años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569464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569464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Tú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2569464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0" y="2569464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2569464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2569464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quince años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971800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2971800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Lucía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46720" y="2971800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0" y="2971800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18320" y="2971800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0" y="2971800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dieciséis años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374136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3374136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Mi hermano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46720" y="3374136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3374136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18320" y="3374136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0" y="3374136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veinte años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3913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60920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25512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13801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393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09989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74581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92792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57384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688980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53572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09360" y="4297680"/>
            <a:ext cx="5394960" cy="11430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Vraag-antwoordspiegel: 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¿Cuántos años tienes?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Tengo ___ años.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Apocope: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veintiún años, treinta y un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(uno → un vóór «años»).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46520" y="416966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PRACTICA · ESCRIBE EN LETRAS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Let op: 16–29 = één woord · 30–100 = drie woorden met «y». Schrijf voluit.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dieci______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dieciocho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168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veinti______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veinticuatro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5644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cincuenta ___ ______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cincuenta y tres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2588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setenta y uno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6168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noventa y seis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644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644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cuarenta y siete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0" name="Rounded Rectangle 3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206240"/>
            <a:ext cx="11247120" cy="11887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18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dieciocho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24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veinticuatro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53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cincuenta y tres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71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setenta y uno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96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noventa y seis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47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cuarenta y siete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Mini-transfer: </a:t>
            </a:r>
            <a:r>
              <a:rPr sz="1200" b="0" i="1">
                <a:solidFill>
                  <a:srgbClr val="157355"/>
                </a:solidFill>
                <a:latin typeface="Inter"/>
              </a:rPr>
              <a:t>schrijf jouw huisnummer en jouw schoenmaat voluit in letters.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" y="40782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SALUDOS · SPEAKING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Kant-en-klare chunks: je leert ze als één geheel. Ze openen elke kennismaking op de reis.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EA7317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657600" cy="438912"/>
          </a:xfrm>
          <a:prstGeom prst="rect">
            <a:avLst/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🟠 Saludar / despedirse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¡Hola! · Buenos días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Hallo! ·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Buenas tardes / noches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Goeimiddag / -avond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tal? · ¿Cómo estás?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(Muy) bien, gracias. ¿Y tú?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(Heel) goed, dank je. En jij?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Adiós · Hasta luego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Dag · Tot straks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Chao (informal)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Doei (onder vrienden)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60" y="1325880"/>
            <a:ext cx="3657600" cy="4389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🔵 Presentarse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Me llamo … / Soy …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heet … / Ik ben 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te llamas?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heet jij?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Encantado / Encantada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Aangenaam (m / 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Mucho gusto · Igualmente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Aangenaam · Insgelijks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Este es… / Esta es…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Dit is… (m / v)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Soy de Bélgica.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kom uit België.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EAB308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1325880"/>
            <a:ext cx="3657600" cy="438912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🟡 Lengua de clase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se dice … en español?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zeg je … in het Spaans?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significa …?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Wat betekent …?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No entiendo.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begrijp het niet.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¿Puedes repetir, por favor?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Kun je herhalen, a.u.b.?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Más despacio, por favor.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Trager, a.u.b.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se escribe?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schrijf je dat?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DIÁLOGO ·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kennismaking van begin tot eind. Route: saludar → presentarse → preguntar → reaccionar → despedirse.</a:t>
            </a:r>
          </a:p>
        </p:txBody>
      </p:sp>
      <p:pic>
        <p:nvPicPr>
          <p:cNvPr id="8" name="Picture 7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566928" cy="5669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143000" y="1325880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¡Hola! Buenos días. Me llamo Lucía. ¿Y tú, cómo te llamas?</a:t>
            </a:r>
          </a:p>
        </p:txBody>
      </p:sp>
      <p:pic>
        <p:nvPicPr>
          <p:cNvPr id="10" name="Picture 9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075688"/>
            <a:ext cx="566928" cy="56692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754880" y="2075688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Hola, buenos días. Soy Tom. Soy de Bélgica.</a:t>
            </a:r>
          </a:p>
        </p:txBody>
      </p:sp>
      <p:pic>
        <p:nvPicPr>
          <p:cNvPr id="12" name="Picture 11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25496"/>
            <a:ext cx="566928" cy="5669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143000" y="2825496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¡Encantada, Tom!</a:t>
            </a:r>
          </a:p>
        </p:txBody>
      </p:sp>
      <p:pic>
        <p:nvPicPr>
          <p:cNvPr id="14" name="Picture 13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3575304"/>
            <a:ext cx="566928" cy="56692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754880" y="3575304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Igualmente. ¿Qué tal?</a:t>
            </a:r>
          </a:p>
        </p:txBody>
      </p:sp>
      <p:pic>
        <p:nvPicPr>
          <p:cNvPr id="16" name="Picture 15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25112"/>
            <a:ext cx="566928" cy="56692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43000" y="4325112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Muy bien, gracias. ¡Hasta luego!</a:t>
            </a:r>
          </a:p>
        </p:txBody>
      </p:sp>
      <p:pic>
        <p:nvPicPr>
          <p:cNvPr id="18" name="Picture 17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5074920"/>
            <a:ext cx="566928" cy="56692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754880" y="5074920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¡Adiós!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53212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Opmerken (betekenis vóór vorm):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Lucía reageert op «Soy Tom» met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«¡Encantada!»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Tú antwoordt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«Igualmente»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Begin = saludo, einde = despedida (Hasta luego / Adiós).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4041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· docent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LENGUA DE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dices? — la reddingsboei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Koppel elke situatie aan de juiste klastaal-chunk. Betekenis vóór vorm: kies je 'reddingsboei'.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00584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50" b="1">
                <a:solidFill>
                  <a:srgbClr val="157355"/>
                </a:solidFill>
                <a:latin typeface="Inter"/>
              </a:rPr>
              <a:t>Banco de frases:  ¿cómo se dice…?  ·  no entiendo  ·  ¿puedes repetir?  ·  más despacio  ·  ¿qué significa…?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00253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00253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78308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De docent praat te snel.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24028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80136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Más despacio, por favor.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5176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287121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87121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65176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kent een woord niet in het Spaans.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10896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267004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¿Cómo se dice «…» en español?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52044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73989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73989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52044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verstond de vraag niet.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97764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353872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¿Puedes repetir, por favor?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38912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66928" y="460857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60857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38912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snapt de betekenis van «tarea» niet.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484632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40740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¿Qué significa «tarea»?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39496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Mini-rollenspel (geen steun):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 speelt docent (praat te snel / zegt een nieuw woord); B reageert met de passende chunk. Wissel.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266944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COMUNICAR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CULTURA · IDENTIDAD EN DIVERSIDAD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¿Dónde se habla español?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Officiële taal in +20 landen. Je koppelt de reis aan de wereldkaart en aan de cast.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7040880" cy="41148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6675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🗺️ El mundo hispano — lengua oficial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España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9864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864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México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892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892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Guatemala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Honduras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9864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9864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El Salvador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3892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3892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Nicaragua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Costa Rica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9864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9864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Panamá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3892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3892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Cuba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Rep. Dominicana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9864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9864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Puerto Rico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3892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3892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Colombia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Venezuela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9864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9864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Ecuador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3892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3892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Perú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Bolivia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9864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9864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Paraguay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3892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3892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Uruguay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9864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9864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Chile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13892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3892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Guinea Ecuatorial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" y="5029200"/>
            <a:ext cx="6675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1">
                <a:solidFill>
                  <a:srgbClr val="6A6E78"/>
                </a:solidFill>
                <a:latin typeface="Inter"/>
              </a:rPr>
              <a:t>★ = una parada de C5 (España · México · Colombia · Perú)  ·  🇺🇸 EE.UU. = millones de hispanohablantes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680960" y="1463040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0" y="1517904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~500 mln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1883664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moedertaalsprekers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80960" y="2304288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63840" y="2359152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+20 países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2724912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lengua oficial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680960" y="3145536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63840" y="3200400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2ª lengua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3566160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materna del mundo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680960" y="3986784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63840" y="4041648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español = castellano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4407408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twee namen, één taal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680960" y="4846320"/>
            <a:ext cx="4023360" cy="5943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18120" y="4901184"/>
            <a:ext cx="3794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7860B"/>
                </a:solidFill>
                <a:latin typeface="Inter"/>
              </a:rPr>
              <a:t>🟡 Cognados: </a:t>
            </a:r>
            <a:r>
              <a:rPr sz="1050" b="0" i="0">
                <a:solidFill>
                  <a:srgbClr val="20242E"/>
                </a:solidFill>
                <a:latin typeface="Inter"/>
              </a:rPr>
              <a:t>hospital, animal, chocolate, familia, taxi… je herkent al véél Spaans!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5559552"/>
            <a:ext cx="2474366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👀 LEER · comprensión lectora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7315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V/F · Lee la lista: «En Brasil se habla español.» 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0" y="5943600"/>
            <a:ext cx="19202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C2626"/>
                </a:solidFill>
                <a:latin typeface="Inter"/>
              </a:rPr>
              <a:t>→ FALSO (portugués)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772400" y="5943600"/>
            <a:ext cx="3147364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🔗 Online: mapa clicable + flip cards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CULTURA · VARIACIÓN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Mismo idioma, pequeñas diferencias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Zelfde taal, kleine verschillen in woorden en klanken. Géén grammatica — enkel bewustwording (A1).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29184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371600"/>
            <a:ext cx="329184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🌎 Hispanoamérica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1371600"/>
            <a:ext cx="3291840" cy="457200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🇳🇱 Nederlands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coche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carro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804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auto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móvil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4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celular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gsm / mobiel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ordenador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4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620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computadora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computer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zumo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8620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jugo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7804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het (vruchten)sap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patata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4904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8620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papa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4088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7804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aardappel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vosotros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4904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8620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ustedes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4088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7804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jullie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¡vale!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4904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8620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¡dale! / ¡listo!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4088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7804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oké!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515600" y="1371600"/>
            <a:ext cx="1216152" cy="36576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07040" y="1463040"/>
            <a:ext cx="1051560" cy="3474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🔊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Inter"/>
              </a:rPr>
              <a:t>seseo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c(e/i)/z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= /s/ in LatAm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= /θ/ «th»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in España.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57355"/>
                </a:solidFill>
                <a:latin typeface="Inter"/>
              </a:rPr>
              <a:t>Beide OK!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5120640"/>
            <a:ext cx="978408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 (spelling):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landen mét hoofdletter (España, México, Perú), maar de taal met kleine letter: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el español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«el Español»).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4360" y="4992624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OJO · docent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★ TAREA FINAL · EINDMISSIE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 tarjeta de embarque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Jouw instapkaart voor La Ruta. Alles komt samen: spellen · groeten · één klasvraag stellen.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035040" cy="2880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17320"/>
            <a:ext cx="5669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Communicatief kader (§14)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✈️ Situación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810512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Aan de gate stel je je kort voor voor de eerste etappe.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🗣️ Afzender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286000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jij (de reiziger).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761488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👥 Ontvanger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761488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een klasgenoot / de mochila / de klas.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236976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🎯 Doel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236976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voorstellen + spellen · groeten · één klasvraag stellen.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12464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🎁 Resultaat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712464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ingevulde tarjeta + korte gesproken kennismaking (live/opname).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1325880"/>
            <a:ext cx="5029200" cy="2011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1325880"/>
            <a:ext cx="5029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1344168"/>
            <a:ext cx="475488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✈  TARJETA DE EMBARQUE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1920240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NOMBRE / NAAM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920240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___________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176272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DESTINO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176272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ESPAÑA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432304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RUTA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32304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EL MUNDO HISPANO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688336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PUERTA (gate)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688336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U0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944368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ASIENTO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2944368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___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200400"/>
            <a:ext cx="4572000" cy="1828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▮▮▯▮▯▮▮▯▮  ·  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520440"/>
            <a:ext cx="5029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Pasos (steun bouwt af):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0" y="384048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1 Prepara tu tarjeta (MODEL)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420624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2 Ensaya tu nombre (alfabet)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457200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3 Escribe tu mini-diálogo (frame)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75120" y="493776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4 Practica en duo (cue)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0" y="530352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5 Preséntate (SIN AYUDA)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343400"/>
            <a:ext cx="6035040" cy="14630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Modelo (en la puerta):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Lucía: ¡Hola! Yo soy Lucía. ¿Y tú?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Tú: ¡Hola! Yo soy Sam.  — Lucía: ¿Cómo se escribe?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Tú: Ese-a-eme. Sam.  Una pregunta: ¿cómo se dice «rugzak»?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Lucía: Se dice «la mochila». — Tú: ¡Gracias! ¡Hasta luego!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21538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B7860B"/>
                </a:solidFill>
                <a:latin typeface="Inter"/>
              </a:rPr>
              <a:t>QUIZ ·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«La mezcla» — gemengde 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Vijf mini-items, elk uit een ándere sectie. Kies zélf de juiste regel. (retrieval vóór herlezen, §14)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0876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1 · §2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37160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¿Lleva tilde: «Peru» o «Perú»?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49961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Perú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1168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14884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2 · §1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01168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¿«h» klinkt of niet in «hola»?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213969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de h zwijgt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5176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7889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3 · §3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65176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Escribe 47 en letras.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277977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cuarenta y siete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29184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34290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4 · §4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29184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¿Encantado o encantada dice Nina?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341985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Encantada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93192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6928" y="406908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5 · §2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93192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Ordena: llana / esdrújula → «casa», «México».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405993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casa=llana · México=esdrújula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75488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1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Perú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-ú)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2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de h zwijgt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(hola = «ola»)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3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cuarenta y siete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4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Encantada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(Nina is een meisje — de uitgang volgt wie spreekt)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5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casa = llana · México = esdrújula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6268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◎ 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 + semáforo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hele U0 op één plaat + zelfevaluatie. Retrieval eerst (dia 19), dán terugbladeren.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🗺️ El mundo hispano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82880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+20 landen · ~500 mln sprekers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157984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español = castellano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487168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kleine verschillen (coche/carro)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399032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🔤 Sonar en español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182880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27 letras (+ñ) · h zwijgt · b=v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157984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j+ge/gi=jota · ll/y=«j» · ñ=«nj»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2487168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qu=«k» · z/ce/ci=«th» · r↔rr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90672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090672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163824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🎩 La regla del sombrero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593592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esdrújula → altijd 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9227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aguda → ´ als -n/-s/klinker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25196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llana → ´ als NIET zo · monosíl. geen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090672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090672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163824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🔢 Números &amp; 👋 saludos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593592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0-15 apart · 16-29 één woord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39227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30-100 decena+y+unidad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425196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edad = tener años (🔴 niet ser)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983480"/>
            <a:ext cx="11274552" cy="9601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5047488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🚦 Semáforo — ¿cómo lo llevas?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394960"/>
            <a:ext cx="1097280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🔴 nog niet  ·  🟠 met steun  ·  🟢 zelfstandig — kleur per rij (receptief «ik herken» / productief «ik doe het zelf»).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Volledige checklist in de PDF/HTML.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0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30632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20242E"/>
                </a:solidFill>
                <a:latin typeface="Inter"/>
              </a:rPr>
              <a:t>TEACHER_NOTES · DOSSIER DEL DOCENTE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Verloop · noodroute · cross-refs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Alleen voor de leerkracht — niet projecteren. Timing 50 min, technische noodroute en verwijzingen.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17320"/>
            <a:ext cx="52120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⏱ Verdeling over 50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Oriëntatie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182880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menu · cast · kaart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82880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5'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82880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2-3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3172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Begrijpen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33172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alfabet · klanktrampas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33172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8'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33172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4-5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3464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Opmerken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283464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sílaba tónica · sombrero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283464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7'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283464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7-8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3756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Oefenen (steun)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33756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quizzes · números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33756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12'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333756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6·9·10-12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84048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Productie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384048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saludos · diálogo · tarea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384048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10'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384048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13-18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34340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434340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modelantwoord · peer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434340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5'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434340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Exit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484632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repaso · semáforo · online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84632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3'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84632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20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1325880"/>
            <a:ext cx="5440680" cy="1965960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524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141732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DC2626"/>
                </a:solidFill>
                <a:latin typeface="Bricolage Grotesque"/>
              </a:rPr>
              <a:t>🆘 Noodroute (§5) — altijd beschikbaar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1810512"/>
            <a:ext cx="5120640" cy="1417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• Elke oefendia: knop ▶ Mostrar solución · ⏭ Saltar · ⌂ Menú (dia 2).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• Valt audio/video/internet weg → alle content staat óók als tekst/beeld op de dia (statische fallback).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• Docentversie .pptx = vrije navigatie + oplossing in de notities; leerlingversie .ppsx = gewone diavoorstelling (geen kiosk): elke klik onthult het volgende antwoord (fade). Geen docentnotities.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429000"/>
            <a:ext cx="5440680" cy="20574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35204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🔗 Cross-refs (§16)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913632"/>
            <a:ext cx="5120640" cy="1508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📄 Cursus (PDF/Word):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U0 §1-§4 · Cultura · Tarea · Repaso · §V Vocabulario.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💻 Online (HTML):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flip-cards (alfabet·getallen·cast) · ShadowingPlayer · info-gap teléfonos · bingo · ~10 spaans-motor-spellen.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➕ Extra-tab: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profe-video «alfabeto» + «números 0-100» · Genially «saludos»/«sílaba tónica» (arche-ele) — links door leerkracht.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