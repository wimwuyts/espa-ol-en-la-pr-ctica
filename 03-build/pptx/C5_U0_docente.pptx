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79" r:id="rId31"/>
    <p:sldId id="280" r:id="rId32"/>
    <p:sldId id="281" r:id="rId3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TITLE. Open de reis (La Ruta). Stel cast + mochila voor (30-40 s). Klasritueel: laat de klas straks (§4/opener) de NAAM van de mochila kiezen. Instructietaal: Spaans-eerst met NL-steun. Timing hele les: 50 min — zie dia TEACHER_NOTES. Docentversie = vrije navigatie + oplossing in notities; leerlingversie (.ppsx) = gewone diavoorstelling waarin elke klik het volgende antwoord onthult (geen kiosk).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LESSON_MENU (idee 1: interactieve startpagina · idee 3: niet-lineaire keuze). Vaste navigatie: elke tegel = hyperlink naar de betreffende dia; op elke oefendia staat ⌂ Menú terug hierheen. Kies je route naargelang de klas (zij-instromers): begin gerust bij §4 (saludos) om drempel te verlagen, of lineair §1→Repaso. Richttijd totaal 50 min (zie laatste 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Audiopaneel personages (idee 34). Klik-per-avatar speelt in HTML de chunk af; hier klassikaal voorlezen. Laat elke leerling één castlid 'nadoen' (soy … de …). Kies NU samen de naam van de mochila (schrijf op bord). Differentiatie: sterke leerlingen voegen '¿y tú?' toe. Cross-ref: HTML flip-cards cast · PDF opener A.1.3.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VOCABULARY (idee 21 woordmuur · idee 22 beeld-woord-audio). Fase: context→observeren→regel. Speel eerst 'la canción del abecedario' (audio) — luister, nog niet schrijven. Rode vakjes = klanktrampas (dia 5). Observatievragen (en parejas, NL): welke letternaam verrast? welke letter zie je niet in NL (ñ)? welke hoor je nooit (h)? Actividad: 'Deletrea tu nombre' — modelo 'Me llamo Lucía: ele-u-ce-i-a, con tilde en la i'. Cross-ref: HTML flip-cards alfabet · PDF §1.1.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Uitspraak in 6 families (PronunciationCard). Route: 'Caza de sonidos' — beluister het intro-tekstje en onderstreep de jota (Jorge, Gijón, colegio, gente, jamón). Betekenis eerst (waar komt Jorge vandaan?). Escucha y repite met opname (ListenRepeatRecorder). Sombrero-brug: het golfje op ñ + puntjes op güe/güi horen bij §2. De klanktrampa-quiz staat op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(idee 12 meerkeuze met feedback · idee 38 uitspraakcontrast). Onthul-flow: laat de klas eerst kiezen (klik audio), DAN de solución tonen. Belangrijk: b=v en h muda maken sommige paren identiek — dat is geen valstrik-fout maar Spaans. Na kiezen: elke leerling spreekt BEIDE vormen zelf in (van receptie → productie). Trabalenguas als extra: 'Rápido corre el carro del ferrocarril'.</a:t>
            </a:r>
          </a:p>
          <a:p/>
          <a:p>
            <a:r>
              <a:t>— SOLUCIÓN (docent · presenter view) —</a:t>
            </a:r>
          </a:p>
          <a:p>
            <a:r>
              <a:t>A · «geen fout, dat is Spaans!»  vaca=baca en hola=ola klinken IDENTIEK (b=v, h muda). gente≠tente (jota-klank), casa≠caza (s ↔ th).</a:t>
            </a:r>
          </a:p>
          <a:p>
            <a:r>
              <a:t>B · r/rr:  één tik tussen klinkers (pero) ↔ rol bij rr, woordbegin en na n/l/s (perro, Roma, Enrique). Betekenis verandert!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GRAMMAR-noticing (idee 27 Morph kan het hoedje visueel laten 'landen'). Fase: context→observeren→regel, NOG geen tilde-regel. Laat de klas hardop lezen en klappen (Escucha y da una palmada, 8 woorden). Truc: tel van achteren — última(1)·penúltima(2)·antepenúltima(3), heb je nodig op dia 8. Sombrero-familie: golfje ~ (ñ) en puntjes ¨ (güe) zijn ándere hoedjes dan de tilde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 (idee 29 beslisboom · idee 27 Morph). Laat de klas eerst sorteren (Ordena por familia) vóór je de regel-tabel toont. Ezelsbrug: a-GU-das is zelf een llana maar 'wijst naar het einde'; es-DRÚ-ju-las doet wat de naam zegt. Grootste A1-fout = TE VEEL tildes zetten. Recycling-teaser: joven→jóvenes / canción→canciones (hoedje verspringt) komt pas later. Cross-ref: HTML klikbare beslisboom (StressTapper).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(idee 11 klik-om-te-onthullen · idee 14 zoek de fout). Laat elke leerling eerst zelf beslissen + de regel benoemen ('waarom?'), dan solución. Vervolg: 'Clínica de tildes' (foutenkliniek): ✗cásada→casa, ✗Mexico→México, ✗telefóno→teléfono, ✗árból→árbol. Het CORRECTE model komt altijd als laatste, nooit de fout alleen (§14). Communicatief slot: 'Sube el sombrero al mapa' met paradas (Perú, México, Bogotá, Panamá dragen ´).</a:t>
            </a:r>
          </a:p>
          <a:p/>
          <a:p>
            <a:r>
              <a:t>— SOLUCIÓN (docent · presenter view) —</a:t>
            </a:r>
          </a:p>
          <a:p>
            <a:r>
              <a:t>Perú (aguda -ú) · café (aguda -é) · casa → GEEN (llana -a) · árbol (llana -l → wél) · México (esdrújula → altijd)</a:t>
            </a:r>
          </a:p>
          <a:p>
            <a:r>
              <a:t>número (esdrújula) · lunes → GEEN (llana -s) · adiós (aguda -s → wél)</a:t>
            </a:r>
          </a:p>
          <a:p>
            <a:r>
              <a:t>🔴 Ojo — geen hoedjes strooien! lunes en profesor krijgen er GÉÉN. De grootste A1-fout is te veel tildes zetten.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VOCABULARY (idee 21/22 · idee 19 timer voor snelle oproep). Verborgen vertaling: hoor het getal vóór het NL-gloss verschijnt. Trucs per laag: los blokjes / aan elkaar / machine met 'y'. 4 hoedjes in laag 2: dieciSÉis, veintiDÓS, veintiTRÉS, veintiSÉis (sluit aan bij §2!). Speel 'Bingo del mundo hispano' (ronde 2 = leerling is spelleider). Volgende dia: valstrikken + oefening leeftijd/telefoon.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GRAMMAR functioneel (idee 25 zinsbouwer · idee 30 grammaticakliniek). Context vóór vorm: we willen LEEFTIJDEN zeggen → daarvoor dient tener. Substitutietabel: kies één blok per kolom, spreek de zin hardop. Kernfout ser↔tener stevig inoefenen (keert terug in U1). Info-gap 'intercambio de teléfonos' (A/B): leerlingen moeten práten om elkaars nummer te weten. Communicatief slot §3: encuesta '¿Cuántos años tiene la clase?' + rapporteren in 3e 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WRITING (idee 42 schrijfopdracht · idee 36 microdictee). Leerling schrijft ECHT (antwoordruimte). 16-29 aan elkaar (één woord), 30-100 met 'y' (drie woorden). Zelfcorrectie met de solución-laag. Uitbreiding dictee: 'Tengo dieciséis años', 'Vivo en el número veintidós', 'Somos treinta y tres en clase'. Getal in cijfers ÉN letters, mét juiste tilde (koppelt §3 + §2).</a:t>
            </a:r>
          </a:p>
          <a:p/>
          <a:p>
            <a:r>
              <a:t>— SOLUCIÓN (docent · presenter view) —</a:t>
            </a:r>
          </a:p>
          <a:p>
            <a:r>
              <a:t>18 dieciocho  ·  24 veinticuatro  ·  53 cincuenta y tres</a:t>
            </a:r>
          </a:p>
          <a:p>
            <a:r>
              <a:t>71 setenta y uno  ·  96 noventa y seis  ·  47 cuarenta y siete</a:t>
            </a:r>
          </a:p>
          <a:p>
            <a:r>
              <a:t>Mini-transfer: schrijf jouw huisnummer en jouw schoenmaat voluit in letters.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SPEAKING (idee 34 audiopaneel · idee 21 klikbare chunks). Chunks = één geheel, niet losse woorden. 🔴 Valstrikken: Encantado (jongen) / Encantada (meisje) — volgt WIE spreekt. Buenos días/tardes/noches in MEERVOUD. Me llamo = wederkerend. ¿Qué tal? niet woord-voor-woord. h is stom. tú vs usted (usted enkel herkennen). Hang de klasposter 'Cartel de la clase' met de lengua de clase het hele jaar op (spreiding).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READING→SPEAKING (idee 34 audiopaneel · idee 37 shadowing). Speel het model (2 stemmen). Shadowing in 4 stappen: volledige tekst → alleen sleutelwoorden → geen tekst → eigen variant ('Me llamo [naam]. ¿Cómo te llamas?'). Opname → terugluisteren → 1 verbeterpunt → opnieuw (RecordReflectRetry). Substitutiecarrousel: naam · herkomst · leeftijd roteert. Cross-ref: HTML ShadowingPlayer.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SPEAKING/interactie (idee 39 rollenkaart · idee 43 peerfeedback). De rechterkolom (→ chunk) is de oplossing: toon ze pas na de klaspoging. Klasposter 'Cartel de la clase' ophangen. Dit is compensatie-/strategie-taal (LPD lengua de clase) — laat leerlingen ze het hele jaar echt gebruiken i.p.v. NL. Encantad_ clínica del error kan hier ook: Diego zegt Encantado, Nina zegt Encantada (uitgang volgt wie spreekt).</a:t>
            </a:r>
          </a:p>
          <a:p/>
          <a:p>
            <a:r>
              <a:t>— SOLUCIÓN (docent · presenter view) —</a:t>
            </a:r>
          </a:p>
          <a:p>
            <a:r>
              <a:t>Mini-rollenspel (geen steun): A speelt docent (praat te snel / zegt een nieuw woord); B reageert met de passende chunk. Wissel.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CULTURE (idee 2 klikbare kaart · idee 47 zoom). Component Identiteit in diversiteit (leerplan). Juist/fout met bewijs: 'In Brasil is español officieel?' (nee → portugués) · 'Perú está en Europa?' (nee). Coloca a la cast: Lucía→Sevilla, Diego→CDMX, Valen→Cartagena, Nina→Cusco. Strategie cognados. 🔴 Spelling: landen mét hoofdletter (España), taal met kleine letter (el español). Volgende dia: variatie ES↔LatAm.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CULTURE (idee 38 klankcontrast). Kernidee A1: dezelfde taal, kleine verschillen — bewustwording, geen toets. Woordparen matchen (met beginletter als cue): coche/carro, móvil/celular, patata/papa, zumo/jugo. Communicatief slot: mini-encuesta 'Yo prefiero «celular» porque suena bien' → verslag klas. Onze parada start in España → wij vertrekken van /θ/ (th), maar beide varianten zijn correct.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READING. Route: voorspellen → globaal → scannen → juist/fout MET BEWIJS → betekenis uit context → zelf schrijven. Laat de tekst staan tijdens het scannen: informatie terugvinden is lezen, uit het hoofd opzeggen is iets anders. Eis bij elke V/F de zin uit de tekst — dat is de stap die gokken onmogelijk maakt. Dezelfde tekst staat in de cursus (met schrijfruimte) en op de hub (zelfcorrigerend, met vertaalknop).</a:t>
            </a:r>
          </a:p>
          <a:p/>
          <a:p>
            <a:r>
              <a:t>— SOLUCIÓN (docent · presenter view) —</a:t>
            </a:r>
          </a:p>
          <a:p>
            <a:r>
              <a:t>Escanear: 1) 14 · 2) 18 · 3) 0 · 4) 4</a:t>
            </a:r>
          </a:p>
          <a:p>
            <a:r>
              <a:t>1) V — «¡Cero euros!»</a:t>
            </a:r>
          </a:p>
          <a:p>
            <a:r>
              <a:t>2) F — «¿O cero español? ¡No importa!»</a:t>
            </a:r>
          </a:p>
          <a:p>
            <a:r>
              <a:t>3) V — «Los martes y los jueves»</a:t>
            </a:r>
          </a:p>
          <a:p>
            <a:r>
              <a:t>4) V — «Hay sitio para veinte»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LISTENING. Zes treden: situatie vooraf → globaal → vijf details → juist/fout MET BEWIJS → transcript pas ná de taken → productieve reactie. Speel het fragment minstens twee keer: één keer globaal (boeken dicht), daarna gericht. Het transcript staat op de hub en gaat daar pas open als de taken gedaan zijn — meelezen tijdens het luisteren maakt er een leesoefening van. Zolang er geen opname is, leest de computerstem het gesprek voor met een eigen stem per spreker. Noodroute: het fragment ook voorlezen kan, met twee leerlingen in de rollen.</a:t>
            </a:r>
          </a:p>
          <a:p/>
          <a:p>
            <a:r>
              <a:t>— SOLUCIÓN (docent · presenter view) —</a:t>
            </a:r>
          </a:p>
          <a:p>
            <a:r>
              <a:t>Detalle: 1) B12 · 2) De Sevilla · 3) 16 · 4) 17 · 5) A las once</a:t>
            </a:r>
          </a:p>
          <a:p>
            <a:r>
              <a:t>1) V — «Hablo neerlandés y un poco de español»</a:t>
            </a:r>
          </a:p>
          <a:p>
            <a:r>
              <a:t>2) F — «Yo soy de Sevilla»</a:t>
            </a:r>
          </a:p>
          <a:p>
            <a:r>
              <a:t>3) V — «Ese, a, eme»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FINAL_MISSION (idee 45 vier-vaardighedenmissie · idee 42 zelfopbouwende schrijftaak). Keten 3: model beluisteren → stappen ordenen → uitdrukkingen oefenen → eigen dialoog. Steun bouwt af per paso (MODEL→FRAME→CUE→GEEN). Succescriteria: spelt naam verstaanbaar · groet + afscheid · stelt 1 klasvraag. Feedback &amp; herneming: na paso 5 één verbeterpunt kiezen → opnieuw inspreken (RecordReflectRetry). 🔴 Spel-valstrikken NL→ES: W=uve doble, Y=i griega/ye, J=jota, H=hache (stom). Cross-ref: HTML VoiceMessageTask.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QUIZ (idee 17 Jeopardy-achtig · idee 18 oplopende reeks). Gemengde ophaal over de hele unit — geen aangeduide regel, leerling kiest zelf. Extra items: 'Pasaporte fonético' (Zaragoza·Málaga·Bogotá·Cáceres·Ecuador·Panamá hardop + familie benoemen) en 'Dictado mixto' (getal in cijfers+letters mét tilde). Sluit af met 'Check-in en la puerta' = generale repetitie van de Tarjeta de embarque.</a:t>
            </a:r>
          </a:p>
          <a:p/>
          <a:p>
            <a:r>
              <a:t>— SOLUCIÓN (docent · presenter view) —</a:t>
            </a:r>
          </a:p>
          <a:p>
            <a:r>
              <a:t>1 Perú (aguda -ú)   ·   2 de h zwijgt (hola = «ola»)   ·   3 cuarenta y siete</a:t>
            </a:r>
          </a:p>
          <a:p>
            <a:r>
              <a:t>4 Encantada (Nina is een meisje — de uitgang volgt wie spreekt)   ·   5 casa = llana · México = esdrújula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 · REPASO/FEEDBACK (idee 8 voortgangsmeter · idee 23 flashcards afbouw). SummaryQuadrant = spiekkaart. BESLIST 2026-07-26: het echte inoefen-repaso staat ONLINE (spellen + zelfcorrectie); print/PPT = spiekkaart + semáforo + 'Repasa jugando (online)'. Laat leerlingen het semáforo eerlijk inkleuren (receptief/productief apart, statusladder 0-5). Vooruitblik U1 «¿Quién eres?» (Madrid): naam &amp; e-mail spellen, edad met tener, saludos openen elke kennismaking (recycling).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TEACHER_NOTES. Deze dia niet projecteren (of overslaan in de leerlingversie .ppsx). Differentiatie / zij-instromers: U0 vertrekt van nul, dus geschikt voor iedereen. Con apoyo = frames open houden; desafío = frames dicht + tempo op. Beoordeling: de Tarjeta de embarque (dia 18) dekt spellen+groeten+klasvraag. Alle LPD-codes III-Spa-d nog concreet in te vullen (zie bron-md Bijlage C). Print-hygiëne / kleurlagen: cursusgroen = navigatie; functionele kleuren (blauw persoon · oranje werkw · paars tijd) enkel bij taalmarkering.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2 · La subasta de sonidos — 🔓 puzzel &amp; escape</a:t>
            </a:r>
          </a:p>
          <a:p>
            <a:r>
              <a:t>OPDRACHT: Bied op een lot. Win je het, dan spreek je beide woorden uit en zeg je of ze hetzelfde of verschillend klinken. Juist? Je wint de waarde van het lot. Fout? Je verliest je bod.</a:t>
            </a:r>
          </a:p>
          <a:p>
            <a:r>
              <a:t>DE REGEL: Je mag pas bieden ná het horen van het lot, en je mag niet overleggen terwijl je biedt. De duurste loten zijn de valstrikken.</a:t>
            </a:r>
          </a:p>
          <a:p>
            <a:r>
              <a:t>VERLOOP: El/la profe lee el lote en voz alta, una sola vez. | Los equipos pujan por turnos. El más alto se lo lleva. | El equipo pronuncia y decide: ¿igual o diferente? | Se revela la respuesta y la regla que hay detrás.</a:t>
            </a:r>
          </a:p>
          <a:p>
            <a:r>
              <a:t>SLEUTEL: Lot 1 diferente · 2 diferente · 3 IGUAL · 4 diferente · 5 IGUAL · 6 diferente · 7 diferente · 8 diferente in Spanje, gelijk in Amerika  ||  De twee duurste loten (3 en 5) zijn precies de twee die Nederlandstaligen het vaakst fout hebben: zij hóren een h en een v die er niet zijn.  ||  Lot 8 heeft geen enkel juist antwoord zonder de vraag «waar?» — accepteer beide, mits het team zijn keuze motiveert.</a:t>
            </a:r>
          </a:p>
          <a:p>
            <a:r>
              <a:t>NOTA: Zet het puntentotaal zichtbaar op het bord. De spanning zit in lot 3 en 5: teams die daar hoog bieden zonder de regel te kennen, verliezen alles.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5 · La tilde en el semáforo — 🔓 puzzel &amp; escape</a:t>
            </a:r>
          </a:p>
          <a:p>
            <a:r>
              <a:t>OPDRACHT: Je hoort een woord. Links = aguda, midden = llana, rechts = esdrújula. Je hebt drie seconden.</a:t>
            </a:r>
          </a:p>
          <a:p>
            <a:r>
              <a:t>DE REGEL: Je beslist op wat je hóórt, niet op wat je ziet — het woord staat pas op het scherm ná de beslissing. Wie te laat is, gaat zitten.</a:t>
            </a:r>
          </a:p>
          <a:p>
            <a:r>
              <a:t>VERLOOP: Calentamiento: tres palabras con el escrito a la vista. | El juego: solo la voz. Tres segundos por palabra. | Ronda final: los que quedan de pie deciden a la vez. | Después: ¿qué palabras engañaron a más gente? ¿Por qué?</a:t>
            </a:r>
          </a:p>
          <a:p>
            <a:r>
              <a:t>SLEUTEL: aguda (links): café · Perú · jamón · papel · reloj  ||  llana (midden): casa · mesa · lápiz · ventana  ||  esdrújula (rechts): México · teléfono · número · sábado · música · plátano  ||  De twee lastigste: «papel» en «reloj» dragen géén tilde maar zijn wél aguda (ze eindigen niet op klinker, -n of -s). «lápiz» draagt er wél een en is llana.</a:t>
            </a:r>
          </a:p>
          <a:p>
            <a:r>
              <a:t>NOTA: Het lichaam onthoudt wat het hoofd vergeet. Speel minstens twee rondes: in de tweede ronde zie je de klemtoon al door de klas heen bewegen.</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RETO 6 · Radio Nombres — 📻 mediaformat</a:t>
            </a:r>
          </a:p>
          <a:p>
            <a:r>
              <a:t>OPDRACHT: Spel de naam binnen tien seconden. Eén punt per correcte letternaam, één punt aftrek per hapering.</a:t>
            </a:r>
          </a:p>
          <a:p>
            <a:r>
              <a:t>DE REGEL: Je zegt de lettersnamen (efe, hache, uve doble), nooit de klanken. Wie «ffff» zegt in plaats van «efe», verliest de beurt.</a:t>
            </a:r>
          </a:p>
          <a:p>
            <a:r>
              <a:t>VERLOOP: Ronda 1 — los compañeros: deletrea el nombre de alguien de la clase. | Ronda 2 — las ciudades: el/la profe dice la ciudad, tú la deletreas. | Ronda 3 — las trampas: nombres flamencos con w, y, ij, j. | Final — el nombre más largo de la clase, sin errores.</a:t>
            </a:r>
          </a:p>
          <a:p>
            <a:r>
              <a:t>SLEUTEL: Zaragoza = zeta-a-erre-a-ge-o-zeta-a  ·  Jaén = jota-a-e con tilde-ene  ||  Huelva = hache-u-e-ele-uve-a (de hache zwijgt, maar je spélt ze wél)  ||  Wouter = uve doble-o-u-te-e-erre  ·  Yara = i griega-a-erre-a  ||  Veelgemaakte fout: «be» en «uve» verwisselen. Laat leerlingen «be de burro» en «uve de vaca» zeggen zoals in Latijns-Amerika.</a:t>
            </a:r>
          </a:p>
          <a:p>
            <a:r>
              <a:t>NOTA: Werkt het best met een echte timer op het scherm. De aftrek voor haperen klinkt streng, maar maakt juist dat leerlingen eerst denken en dan spreken.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0.xml"/><Relationship Id="rId6" Type="http://schemas.openxmlformats.org/officeDocument/2006/relationships/slide" Target="slide13.xml"/><Relationship Id="rId7" Type="http://schemas.openxmlformats.org/officeDocument/2006/relationships/slide" Target="slide16.xml"/><Relationship Id="rId8" Type="http://schemas.openxmlformats.org/officeDocument/2006/relationships/slide" Target="slide18.xml"/><Relationship Id="rId9" Type="http://schemas.openxmlformats.org/officeDocument/2006/relationships/slide" Target="slide19.xml"/><Relationship Id="rId10" Type="http://schemas.openxmlformats.org/officeDocument/2006/relationships/slide" Target="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29768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297680"/>
            <a:ext cx="12191695" cy="82296"/>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20040"/>
            <a:ext cx="3108960" cy="32918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6000" b="1" i="0">
                <a:solidFill>
                  <a:srgbClr val="2EB085"/>
                </a:solidFill>
                <a:latin typeface="Bricolage Grotesque"/>
              </a:rPr>
              <a:t>0</a:t>
            </a:r>
          </a:p>
        </p:txBody>
      </p:sp>
      <p:sp>
        <p:nvSpPr>
          <p:cNvPr id="6" name="Rounded Rectangle 5"/>
          <p:cNvSpPr/>
          <p:nvPr/>
        </p:nvSpPr>
        <p:spPr>
          <a:xfrm>
            <a:off x="3977639" y="777240"/>
            <a:ext cx="323148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200" b="1">
                <a:solidFill>
                  <a:srgbClr val="157355"/>
                </a:solidFill>
                <a:latin typeface="Inter"/>
              </a:rPr>
              <a:t>LA RUTA · PARADA 0 · EL MUNDO HISPANO</a:t>
            </a:r>
          </a:p>
        </p:txBody>
      </p:sp>
      <p:sp>
        <p:nvSpPr>
          <p:cNvPr id="7" name="TextBox 6"/>
          <p:cNvSpPr txBox="1"/>
          <p:nvPr/>
        </p:nvSpPr>
        <p:spPr>
          <a:xfrm>
            <a:off x="3931920" y="1234440"/>
            <a:ext cx="7863840" cy="13716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7200" b="1" i="0">
                <a:solidFill>
                  <a:srgbClr val="FFFFFF"/>
                </a:solidFill>
                <a:latin typeface="Bricolage Grotesque"/>
              </a:rPr>
              <a:t>¡Empezamos!</a:t>
            </a:r>
          </a:p>
        </p:txBody>
      </p:sp>
      <p:sp>
        <p:nvSpPr>
          <p:cNvPr id="8" name="TextBox 7"/>
          <p:cNvSpPr txBox="1"/>
          <p:nvPr/>
        </p:nvSpPr>
        <p:spPr>
          <a:xfrm>
            <a:off x="3977639" y="2468880"/>
            <a:ext cx="7680960" cy="5486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0" i="1">
                <a:solidFill>
                  <a:srgbClr val="E4F4EE"/>
                </a:solidFill>
                <a:latin typeface="Inter"/>
              </a:rPr>
              <a:t>We beginnen! — jouw eerste stappen in het Spaans en op La Ruta.</a:t>
            </a:r>
          </a:p>
        </p:txBody>
      </p:sp>
      <p:sp>
        <p:nvSpPr>
          <p:cNvPr id="9" name="TextBox 8"/>
          <p:cNvSpPr txBox="1"/>
          <p:nvPr/>
        </p:nvSpPr>
        <p:spPr>
          <a:xfrm>
            <a:off x="3977639" y="3063240"/>
            <a:ext cx="7680960" cy="8229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2600" b="1" i="0">
                <a:solidFill>
                  <a:srgbClr val="FFFFFF"/>
                </a:solidFill>
                <a:latin typeface="Bricolage Grotesque"/>
              </a:rPr>
              <a:t>¿Estás listo/a para el viaje?</a:t>
            </a:r>
          </a:p>
          <a:p>
            <a:pPr algn="l">
              <a:lnSpc>
                <a:spcPct val="106000"/>
              </a:lnSpc>
              <a:spcBef>
                <a:spcPts val="0"/>
              </a:spcBef>
              <a:spcAft>
                <a:spcPts val="200"/>
              </a:spcAft>
            </a:pPr>
            <a:r>
              <a:rPr sz="1300" b="0" i="1">
                <a:solidFill>
                  <a:srgbClr val="E4F4EE"/>
                </a:solidFill>
                <a:latin typeface="Inter"/>
              </a:rPr>
              <a:t>Klaar voor de reis?</a:t>
            </a:r>
          </a:p>
        </p:txBody>
      </p:sp>
      <p:sp>
        <p:nvSpPr>
          <p:cNvPr id="10" name="TextBox 9"/>
          <p:cNvSpPr txBox="1"/>
          <p:nvPr/>
        </p:nvSpPr>
        <p:spPr>
          <a:xfrm>
            <a:off x="548640" y="452628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La gente de la ruta — je reisgezellen</a:t>
            </a:r>
          </a:p>
        </p:txBody>
      </p:sp>
      <p:pic>
        <p:nvPicPr>
          <p:cNvPr id="11" name="Picture 10" descr="lucia.png"/>
          <p:cNvPicPr>
            <a:picLocks noChangeAspect="1"/>
          </p:cNvPicPr>
          <p:nvPr/>
        </p:nvPicPr>
        <p:blipFill>
          <a:blip r:embed="rId2"/>
          <a:stretch>
            <a:fillRect/>
          </a:stretch>
        </p:blipFill>
        <p:spPr>
          <a:xfrm>
            <a:off x="548640" y="4937760"/>
            <a:ext cx="914400" cy="914400"/>
          </a:xfrm>
          <a:prstGeom prst="rect">
            <a:avLst/>
          </a:prstGeom>
        </p:spPr>
      </p:pic>
      <p:sp>
        <p:nvSpPr>
          <p:cNvPr id="12" name="TextBox 11"/>
          <p:cNvSpPr txBox="1"/>
          <p:nvPr/>
        </p:nvSpPr>
        <p:spPr>
          <a:xfrm>
            <a:off x="411480"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Lucia</a:t>
            </a:r>
          </a:p>
          <a:p>
            <a:pPr algn="ctr">
              <a:lnSpc>
                <a:spcPct val="106000"/>
              </a:lnSpc>
              <a:spcBef>
                <a:spcPts val="0"/>
              </a:spcBef>
              <a:spcAft>
                <a:spcPts val="200"/>
              </a:spcAft>
            </a:pPr>
            <a:r>
              <a:rPr sz="850" b="0" i="0">
                <a:solidFill>
                  <a:srgbClr val="6A6E78"/>
                </a:solidFill>
                <a:latin typeface="Inter"/>
              </a:rPr>
              <a:t>Sevilla 🇪🇸</a:t>
            </a:r>
          </a:p>
        </p:txBody>
      </p:sp>
      <p:pic>
        <p:nvPicPr>
          <p:cNvPr id="13" name="Picture 12" descr="diego.png"/>
          <p:cNvPicPr>
            <a:picLocks noChangeAspect="1"/>
          </p:cNvPicPr>
          <p:nvPr/>
        </p:nvPicPr>
        <p:blipFill>
          <a:blip r:embed="rId3"/>
          <a:stretch>
            <a:fillRect/>
          </a:stretch>
        </p:blipFill>
        <p:spPr>
          <a:xfrm>
            <a:off x="2423159" y="4937760"/>
            <a:ext cx="914400" cy="914400"/>
          </a:xfrm>
          <a:prstGeom prst="rect">
            <a:avLst/>
          </a:prstGeom>
        </p:spPr>
      </p:pic>
      <p:sp>
        <p:nvSpPr>
          <p:cNvPr id="14" name="TextBox 13"/>
          <p:cNvSpPr txBox="1"/>
          <p:nvPr/>
        </p:nvSpPr>
        <p:spPr>
          <a:xfrm>
            <a:off x="2285999"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Diego</a:t>
            </a:r>
          </a:p>
          <a:p>
            <a:pPr algn="ctr">
              <a:lnSpc>
                <a:spcPct val="106000"/>
              </a:lnSpc>
              <a:spcBef>
                <a:spcPts val="0"/>
              </a:spcBef>
              <a:spcAft>
                <a:spcPts val="200"/>
              </a:spcAft>
            </a:pPr>
            <a:r>
              <a:rPr sz="850" b="0" i="0">
                <a:solidFill>
                  <a:srgbClr val="6A6E78"/>
                </a:solidFill>
                <a:latin typeface="Inter"/>
              </a:rPr>
              <a:t>CDMX 🇲🇽</a:t>
            </a:r>
          </a:p>
        </p:txBody>
      </p:sp>
      <p:pic>
        <p:nvPicPr>
          <p:cNvPr id="15" name="Picture 14" descr="valen.png"/>
          <p:cNvPicPr>
            <a:picLocks noChangeAspect="1"/>
          </p:cNvPicPr>
          <p:nvPr/>
        </p:nvPicPr>
        <p:blipFill>
          <a:blip r:embed="rId4"/>
          <a:stretch>
            <a:fillRect/>
          </a:stretch>
        </p:blipFill>
        <p:spPr>
          <a:xfrm>
            <a:off x="4297678" y="4937760"/>
            <a:ext cx="914400" cy="914400"/>
          </a:xfrm>
          <a:prstGeom prst="rect">
            <a:avLst/>
          </a:prstGeom>
        </p:spPr>
      </p:pic>
      <p:sp>
        <p:nvSpPr>
          <p:cNvPr id="16" name="TextBox 15"/>
          <p:cNvSpPr txBox="1"/>
          <p:nvPr/>
        </p:nvSpPr>
        <p:spPr>
          <a:xfrm>
            <a:off x="4160518"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Valen</a:t>
            </a:r>
          </a:p>
          <a:p>
            <a:pPr algn="ctr">
              <a:lnSpc>
                <a:spcPct val="106000"/>
              </a:lnSpc>
              <a:spcBef>
                <a:spcPts val="0"/>
              </a:spcBef>
              <a:spcAft>
                <a:spcPts val="200"/>
              </a:spcAft>
            </a:pPr>
            <a:r>
              <a:rPr sz="850" b="0" i="0">
                <a:solidFill>
                  <a:srgbClr val="6A6E78"/>
                </a:solidFill>
                <a:latin typeface="Inter"/>
              </a:rPr>
              <a:t>Cartagena 🇨🇴</a:t>
            </a:r>
          </a:p>
        </p:txBody>
      </p:sp>
      <p:pic>
        <p:nvPicPr>
          <p:cNvPr id="17" name="Picture 16" descr="nina.png"/>
          <p:cNvPicPr>
            <a:picLocks noChangeAspect="1"/>
          </p:cNvPicPr>
          <p:nvPr/>
        </p:nvPicPr>
        <p:blipFill>
          <a:blip r:embed="rId5"/>
          <a:stretch>
            <a:fillRect/>
          </a:stretch>
        </p:blipFill>
        <p:spPr>
          <a:xfrm>
            <a:off x="6172197" y="4937760"/>
            <a:ext cx="914400" cy="914400"/>
          </a:xfrm>
          <a:prstGeom prst="rect">
            <a:avLst/>
          </a:prstGeom>
        </p:spPr>
      </p:pic>
      <p:sp>
        <p:nvSpPr>
          <p:cNvPr id="18" name="TextBox 17"/>
          <p:cNvSpPr txBox="1"/>
          <p:nvPr/>
        </p:nvSpPr>
        <p:spPr>
          <a:xfrm>
            <a:off x="6035037"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Nina</a:t>
            </a:r>
          </a:p>
          <a:p>
            <a:pPr algn="ctr">
              <a:lnSpc>
                <a:spcPct val="106000"/>
              </a:lnSpc>
              <a:spcBef>
                <a:spcPts val="0"/>
              </a:spcBef>
              <a:spcAft>
                <a:spcPts val="200"/>
              </a:spcAft>
            </a:pPr>
            <a:r>
              <a:rPr sz="850" b="0" i="0">
                <a:solidFill>
                  <a:srgbClr val="6A6E78"/>
                </a:solidFill>
                <a:latin typeface="Inter"/>
              </a:rPr>
              <a:t>Cusco 🇵🇪</a:t>
            </a:r>
          </a:p>
        </p:txBody>
      </p:sp>
      <p:pic>
        <p:nvPicPr>
          <p:cNvPr id="19" name="Picture 18" descr="tu.png"/>
          <p:cNvPicPr>
            <a:picLocks noChangeAspect="1"/>
          </p:cNvPicPr>
          <p:nvPr/>
        </p:nvPicPr>
        <p:blipFill>
          <a:blip r:embed="rId6"/>
          <a:stretch>
            <a:fillRect/>
          </a:stretch>
        </p:blipFill>
        <p:spPr>
          <a:xfrm>
            <a:off x="8046716" y="4937760"/>
            <a:ext cx="914400" cy="914400"/>
          </a:xfrm>
          <a:prstGeom prst="rect">
            <a:avLst/>
          </a:prstGeom>
        </p:spPr>
      </p:pic>
      <p:sp>
        <p:nvSpPr>
          <p:cNvPr id="20" name="TextBox 19"/>
          <p:cNvSpPr txBox="1"/>
          <p:nvPr/>
        </p:nvSpPr>
        <p:spPr>
          <a:xfrm>
            <a:off x="7909556"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Tú</a:t>
            </a:r>
          </a:p>
          <a:p>
            <a:pPr algn="ctr">
              <a:lnSpc>
                <a:spcPct val="106000"/>
              </a:lnSpc>
              <a:spcBef>
                <a:spcPts val="0"/>
              </a:spcBef>
              <a:spcAft>
                <a:spcPts val="200"/>
              </a:spcAft>
            </a:pPr>
            <a:r>
              <a:rPr sz="850" b="0" i="0">
                <a:solidFill>
                  <a:srgbClr val="6A6E78"/>
                </a:solidFill>
                <a:latin typeface="Inter"/>
              </a:rPr>
              <a:t>de reiziger = jij</a:t>
            </a:r>
          </a:p>
        </p:txBody>
      </p:sp>
      <p:pic>
        <p:nvPicPr>
          <p:cNvPr id="21" name="Picture 20" descr="mochila.png"/>
          <p:cNvPicPr>
            <a:picLocks noChangeAspect="1"/>
          </p:cNvPicPr>
          <p:nvPr/>
        </p:nvPicPr>
        <p:blipFill>
          <a:blip r:embed="rId7"/>
          <a:stretch>
            <a:fillRect/>
          </a:stretch>
        </p:blipFill>
        <p:spPr>
          <a:xfrm>
            <a:off x="9921235" y="4937760"/>
            <a:ext cx="914400" cy="914400"/>
          </a:xfrm>
          <a:prstGeom prst="rect">
            <a:avLst/>
          </a:prstGeom>
        </p:spPr>
      </p:pic>
      <p:sp>
        <p:nvSpPr>
          <p:cNvPr id="22" name="TextBox 21"/>
          <p:cNvSpPr txBox="1"/>
          <p:nvPr/>
        </p:nvSpPr>
        <p:spPr>
          <a:xfrm>
            <a:off x="9784075" y="5870448"/>
            <a:ext cx="1188720" cy="4572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050" b="1" i="0">
                <a:solidFill>
                  <a:srgbClr val="20242E"/>
                </a:solidFill>
                <a:latin typeface="Inter"/>
              </a:rPr>
              <a:t>Mochila</a:t>
            </a:r>
          </a:p>
          <a:p>
            <a:pPr algn="ctr">
              <a:lnSpc>
                <a:spcPct val="106000"/>
              </a:lnSpc>
              <a:spcBef>
                <a:spcPts val="0"/>
              </a:spcBef>
              <a:spcAft>
                <a:spcPts val="200"/>
              </a:spcAft>
            </a:pPr>
            <a:r>
              <a:rPr sz="850" b="0" i="0">
                <a:solidFill>
                  <a:srgbClr val="6A6E78"/>
                </a:solidFill>
                <a:latin typeface="Inter"/>
              </a:rPr>
              <a:t>La mochila</a:t>
            </a:r>
          </a:p>
        </p:txBody>
      </p:sp>
      <p:sp>
        <p:nvSpPr>
          <p:cNvPr id="23" name="Rectangle 22"/>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5" name="TextBox 24"/>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6" name="TextBox 25"/>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63311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MENÚ DE LA LECCIÓN</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0</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mapa de la Unidad 0</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Kies je route — klik een tegel (of volg de volgorde). Alles oefent naar de Tarea final toe.</a:t>
            </a:r>
          </a:p>
        </p:txBody>
      </p:sp>
      <p:sp>
        <p:nvSpPr>
          <p:cNvPr id="9" name="Rounded Rectangle 8">
            <a:hlinkClick action="ppaction://hlinksldjump" r:id="rId3"/>
          </p:cNvPr>
          <p:cNvSpPr/>
          <p:nvPr/>
        </p:nvSpPr>
        <p:spPr>
          <a:xfrm>
            <a:off x="457200"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hlinkClick action="ppaction://hlinksldjump" r:id="rId3"/>
          </p:cNvPr>
          <p:cNvSpPr/>
          <p:nvPr/>
        </p:nvSpPr>
        <p:spPr>
          <a:xfrm>
            <a:off x="457200"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§1</a:t>
            </a:r>
          </a:p>
        </p:txBody>
      </p:sp>
      <p:sp>
        <p:nvSpPr>
          <p:cNvPr id="12" name="TextBox 11"/>
          <p:cNvSpPr txBox="1"/>
          <p:nvPr/>
        </p:nvSpPr>
        <p:spPr>
          <a:xfrm>
            <a:off x="987552"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Sonar en español</a:t>
            </a:r>
          </a:p>
        </p:txBody>
      </p:sp>
      <p:sp>
        <p:nvSpPr>
          <p:cNvPr id="13" name="TextBox 12"/>
          <p:cNvSpPr txBox="1"/>
          <p:nvPr/>
        </p:nvSpPr>
        <p:spPr>
          <a:xfrm>
            <a:off x="621792"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alfabet · uitspraak · klanktrampas</a:t>
            </a:r>
          </a:p>
        </p:txBody>
      </p:sp>
      <p:sp>
        <p:nvSpPr>
          <p:cNvPr id="14" name="Rounded Rectangle 13"/>
          <p:cNvSpPr/>
          <p:nvPr/>
        </p:nvSpPr>
        <p:spPr>
          <a:xfrm>
            <a:off x="621792"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4</a:t>
            </a:r>
          </a:p>
        </p:txBody>
      </p:sp>
      <p:sp>
        <p:nvSpPr>
          <p:cNvPr id="15" name="Rounded Rectangle 14">
            <a:hlinkClick action="ppaction://hlinksldjump" r:id="rId4"/>
          </p:cNvPr>
          <p:cNvSpPr/>
          <p:nvPr/>
        </p:nvSpPr>
        <p:spPr>
          <a:xfrm>
            <a:off x="3328416"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hlinkClick action="ppaction://hlinksldjump" r:id="rId4"/>
          </p:cNvPr>
          <p:cNvSpPr/>
          <p:nvPr/>
        </p:nvSpPr>
        <p:spPr>
          <a:xfrm>
            <a:off x="3328416"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438144"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§2</a:t>
            </a:r>
          </a:p>
        </p:txBody>
      </p:sp>
      <p:sp>
        <p:nvSpPr>
          <p:cNvPr id="18" name="TextBox 17"/>
          <p:cNvSpPr txBox="1"/>
          <p:nvPr/>
        </p:nvSpPr>
        <p:spPr>
          <a:xfrm>
            <a:off x="3858768"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La regla del sombrero</a:t>
            </a:r>
          </a:p>
        </p:txBody>
      </p:sp>
      <p:sp>
        <p:nvSpPr>
          <p:cNvPr id="19" name="TextBox 18"/>
          <p:cNvSpPr txBox="1"/>
          <p:nvPr/>
        </p:nvSpPr>
        <p:spPr>
          <a:xfrm>
            <a:off x="3493008"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klemtoon · aguda/llana/esdrújula · tilde</a:t>
            </a:r>
          </a:p>
        </p:txBody>
      </p:sp>
      <p:sp>
        <p:nvSpPr>
          <p:cNvPr id="20" name="Rounded Rectangle 19"/>
          <p:cNvSpPr/>
          <p:nvPr/>
        </p:nvSpPr>
        <p:spPr>
          <a:xfrm>
            <a:off x="3493008" y="3246120"/>
            <a:ext cx="707745"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7</a:t>
            </a:r>
          </a:p>
        </p:txBody>
      </p:sp>
      <p:sp>
        <p:nvSpPr>
          <p:cNvPr id="21" name="Rounded Rectangle 20">
            <a:hlinkClick action="ppaction://hlinksldjump" r:id="rId5"/>
          </p:cNvPr>
          <p:cNvSpPr/>
          <p:nvPr/>
        </p:nvSpPr>
        <p:spPr>
          <a:xfrm>
            <a:off x="6199632"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hlinkClick action="ppaction://hlinksldjump" r:id="rId5"/>
          </p:cNvPr>
          <p:cNvSpPr/>
          <p:nvPr/>
        </p:nvSpPr>
        <p:spPr>
          <a:xfrm>
            <a:off x="6199632"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09360"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§3</a:t>
            </a:r>
          </a:p>
        </p:txBody>
      </p:sp>
      <p:sp>
        <p:nvSpPr>
          <p:cNvPr id="24" name="TextBox 23"/>
          <p:cNvSpPr txBox="1"/>
          <p:nvPr/>
        </p:nvSpPr>
        <p:spPr>
          <a:xfrm>
            <a:off x="6729984"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Números 0–100</a:t>
            </a:r>
          </a:p>
        </p:txBody>
      </p:sp>
      <p:sp>
        <p:nvSpPr>
          <p:cNvPr id="25" name="TextBox 24"/>
          <p:cNvSpPr txBox="1"/>
          <p:nvPr/>
        </p:nvSpPr>
        <p:spPr>
          <a:xfrm>
            <a:off x="6364224"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tellen · leeftijd · telefoon</a:t>
            </a:r>
          </a:p>
        </p:txBody>
      </p:sp>
      <p:sp>
        <p:nvSpPr>
          <p:cNvPr id="26" name="Rounded Rectangle 25"/>
          <p:cNvSpPr/>
          <p:nvPr/>
        </p:nvSpPr>
        <p:spPr>
          <a:xfrm>
            <a:off x="6364224" y="324612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10</a:t>
            </a:r>
          </a:p>
        </p:txBody>
      </p:sp>
      <p:sp>
        <p:nvSpPr>
          <p:cNvPr id="27" name="Rounded Rectangle 26">
            <a:hlinkClick action="ppaction://hlinksldjump" r:id="rId6"/>
          </p:cNvPr>
          <p:cNvSpPr/>
          <p:nvPr/>
        </p:nvSpPr>
        <p:spPr>
          <a:xfrm>
            <a:off x="9070848" y="1417320"/>
            <a:ext cx="2743200" cy="224028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6"/>
          </p:cNvPr>
          <p:cNvSpPr/>
          <p:nvPr/>
        </p:nvSpPr>
        <p:spPr>
          <a:xfrm>
            <a:off x="9070848" y="1417320"/>
            <a:ext cx="274320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180576" y="149047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9E74"/>
                </a:solidFill>
                <a:latin typeface="Bricolage Grotesque"/>
              </a:rPr>
              <a:t>§4</a:t>
            </a:r>
          </a:p>
        </p:txBody>
      </p:sp>
      <p:sp>
        <p:nvSpPr>
          <p:cNvPr id="30" name="TextBox 29"/>
          <p:cNvSpPr txBox="1"/>
          <p:nvPr/>
        </p:nvSpPr>
        <p:spPr>
          <a:xfrm>
            <a:off x="9601200" y="147218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Saludos y clase</a:t>
            </a:r>
          </a:p>
        </p:txBody>
      </p:sp>
      <p:sp>
        <p:nvSpPr>
          <p:cNvPr id="31" name="TextBox 30"/>
          <p:cNvSpPr txBox="1"/>
          <p:nvPr/>
        </p:nvSpPr>
        <p:spPr>
          <a:xfrm>
            <a:off x="9235440" y="203911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groeten · voorstellen · lengua de clase</a:t>
            </a:r>
          </a:p>
        </p:txBody>
      </p:sp>
      <p:sp>
        <p:nvSpPr>
          <p:cNvPr id="32" name="Rounded Rectangle 31"/>
          <p:cNvSpPr/>
          <p:nvPr/>
        </p:nvSpPr>
        <p:spPr>
          <a:xfrm>
            <a:off x="9235440" y="324612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13</a:t>
            </a:r>
          </a:p>
        </p:txBody>
      </p:sp>
      <p:sp>
        <p:nvSpPr>
          <p:cNvPr id="33" name="Rounded Rectangle 32">
            <a:hlinkClick action="ppaction://hlinksldjump" r:id="rId7"/>
          </p:cNvPr>
          <p:cNvSpPr/>
          <p:nvPr/>
        </p:nvSpPr>
        <p:spPr>
          <a:xfrm>
            <a:off x="457200"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a:hlinkClick action="ppaction://hlinksldjump" r:id="rId7"/>
          </p:cNvPr>
          <p:cNvSpPr/>
          <p:nvPr/>
        </p:nvSpPr>
        <p:spPr>
          <a:xfrm>
            <a:off x="457200"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66928"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36" name="TextBox 35"/>
          <p:cNvSpPr txBox="1"/>
          <p:nvPr/>
        </p:nvSpPr>
        <p:spPr>
          <a:xfrm>
            <a:off x="987552"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Cultura</a:t>
            </a:r>
          </a:p>
        </p:txBody>
      </p:sp>
      <p:sp>
        <p:nvSpPr>
          <p:cNvPr id="37" name="TextBox 36"/>
          <p:cNvSpPr txBox="1"/>
          <p:nvPr/>
        </p:nvSpPr>
        <p:spPr>
          <a:xfrm>
            <a:off x="621792"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¿Dónde se habla español? (+20 países)</a:t>
            </a:r>
          </a:p>
        </p:txBody>
      </p:sp>
      <p:sp>
        <p:nvSpPr>
          <p:cNvPr id="38" name="Rounded Rectangle 37"/>
          <p:cNvSpPr/>
          <p:nvPr/>
        </p:nvSpPr>
        <p:spPr>
          <a:xfrm>
            <a:off x="621792"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16</a:t>
            </a:r>
          </a:p>
        </p:txBody>
      </p:sp>
      <p:sp>
        <p:nvSpPr>
          <p:cNvPr id="39" name="Rounded Rectangle 38">
            <a:hlinkClick action="ppaction://hlinksldjump" r:id="rId8"/>
          </p:cNvPr>
          <p:cNvSpPr/>
          <p:nvPr/>
        </p:nvSpPr>
        <p:spPr>
          <a:xfrm>
            <a:off x="3328416"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a:hlinkClick action="ppaction://hlinksldjump" r:id="rId8"/>
          </p:cNvPr>
          <p:cNvSpPr/>
          <p:nvPr/>
        </p:nvSpPr>
        <p:spPr>
          <a:xfrm>
            <a:off x="3328416"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438144"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42" name="TextBox 41"/>
          <p:cNvSpPr txBox="1"/>
          <p:nvPr/>
        </p:nvSpPr>
        <p:spPr>
          <a:xfrm>
            <a:off x="3858768"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Tarea final</a:t>
            </a:r>
          </a:p>
        </p:txBody>
      </p:sp>
      <p:sp>
        <p:nvSpPr>
          <p:cNvPr id="43" name="TextBox 42"/>
          <p:cNvSpPr txBox="1"/>
          <p:nvPr/>
        </p:nvSpPr>
        <p:spPr>
          <a:xfrm>
            <a:off x="3493008"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Tarjeta de embarque (eindmissie)</a:t>
            </a:r>
          </a:p>
        </p:txBody>
      </p:sp>
      <p:sp>
        <p:nvSpPr>
          <p:cNvPr id="44" name="Rounded Rectangle 43"/>
          <p:cNvSpPr/>
          <p:nvPr/>
        </p:nvSpPr>
        <p:spPr>
          <a:xfrm>
            <a:off x="3493008"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18</a:t>
            </a:r>
          </a:p>
        </p:txBody>
      </p:sp>
      <p:sp>
        <p:nvSpPr>
          <p:cNvPr id="45" name="Rounded Rectangle 44">
            <a:hlinkClick action="ppaction://hlinksldjump" r:id="rId9"/>
          </p:cNvPr>
          <p:cNvSpPr/>
          <p:nvPr/>
        </p:nvSpPr>
        <p:spPr>
          <a:xfrm>
            <a:off x="6199632" y="3840480"/>
            <a:ext cx="2743200" cy="2240280"/>
          </a:xfrm>
          <a:prstGeom prst="roundRect">
            <a:avLst>
              <a:gd name="adj" fmla="val 5500"/>
            </a:avLst>
          </a:prstGeom>
          <a:solidFill>
            <a:srgbClr val="FFFFFF"/>
          </a:solidFill>
          <a:ln w="2032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a:hlinkClick action="ppaction://hlinksldjump" r:id="rId9"/>
          </p:cNvPr>
          <p:cNvSpPr/>
          <p:nvPr/>
        </p:nvSpPr>
        <p:spPr>
          <a:xfrm>
            <a:off x="6199632" y="3840480"/>
            <a:ext cx="2743200" cy="457200"/>
          </a:xfrm>
          <a:prstGeom prst="rect">
            <a:avLst/>
          </a:prstGeom>
          <a:solidFill>
            <a:srgbClr val="B7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309360"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B7860B"/>
                </a:solidFill>
                <a:latin typeface="Bricolage Grotesque"/>
              </a:rPr>
              <a:t>?</a:t>
            </a:r>
          </a:p>
        </p:txBody>
      </p:sp>
      <p:sp>
        <p:nvSpPr>
          <p:cNvPr id="48" name="TextBox 47"/>
          <p:cNvSpPr txBox="1"/>
          <p:nvPr/>
        </p:nvSpPr>
        <p:spPr>
          <a:xfrm>
            <a:off x="6729984"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Quiz «La mezcla»</a:t>
            </a:r>
          </a:p>
        </p:txBody>
      </p:sp>
      <p:sp>
        <p:nvSpPr>
          <p:cNvPr id="49" name="TextBox 48"/>
          <p:cNvSpPr txBox="1"/>
          <p:nvPr/>
        </p:nvSpPr>
        <p:spPr>
          <a:xfrm>
            <a:off x="6364224"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gemengde ophaal — mét oplossing</a:t>
            </a:r>
          </a:p>
        </p:txBody>
      </p:sp>
      <p:sp>
        <p:nvSpPr>
          <p:cNvPr id="50" name="Rounded Rectangle 49"/>
          <p:cNvSpPr/>
          <p:nvPr/>
        </p:nvSpPr>
        <p:spPr>
          <a:xfrm>
            <a:off x="6364224"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19</a:t>
            </a:r>
          </a:p>
        </p:txBody>
      </p:sp>
      <p:sp>
        <p:nvSpPr>
          <p:cNvPr id="51" name="Rounded Rectangle 50">
            <a:hlinkClick action="ppaction://hlinksldjump" r:id="rId10"/>
          </p:cNvPr>
          <p:cNvSpPr/>
          <p:nvPr/>
        </p:nvSpPr>
        <p:spPr>
          <a:xfrm>
            <a:off x="9070848" y="3840480"/>
            <a:ext cx="2743200" cy="2240280"/>
          </a:xfrm>
          <a:prstGeom prst="roundRect">
            <a:avLst>
              <a:gd name="adj" fmla="val 5500"/>
            </a:avLst>
          </a:prstGeom>
          <a:solidFill>
            <a:srgbClr val="FFFFFF"/>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a:hlinkClick action="ppaction://hlinksldjump" r:id="rId10"/>
          </p:cNvPr>
          <p:cNvSpPr/>
          <p:nvPr/>
        </p:nvSpPr>
        <p:spPr>
          <a:xfrm>
            <a:off x="9070848" y="3840480"/>
            <a:ext cx="2743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180576" y="3913632"/>
            <a:ext cx="310896" cy="31089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57355"/>
                </a:solidFill>
                <a:latin typeface="Bricolage Grotesque"/>
              </a:rPr>
              <a:t>◎</a:t>
            </a:r>
          </a:p>
        </p:txBody>
      </p:sp>
      <p:sp>
        <p:nvSpPr>
          <p:cNvPr id="54" name="TextBox 53"/>
          <p:cNvSpPr txBox="1"/>
          <p:nvPr/>
        </p:nvSpPr>
        <p:spPr>
          <a:xfrm>
            <a:off x="9601200" y="3895344"/>
            <a:ext cx="21031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450" b="1" i="0">
                <a:solidFill>
                  <a:srgbClr val="FFFFFF"/>
                </a:solidFill>
                <a:latin typeface="Bricolage Grotesque"/>
              </a:rPr>
              <a:t>Repaso + semáforo</a:t>
            </a:r>
          </a:p>
        </p:txBody>
      </p:sp>
      <p:sp>
        <p:nvSpPr>
          <p:cNvPr id="55" name="TextBox 54"/>
          <p:cNvSpPr txBox="1"/>
          <p:nvPr/>
        </p:nvSpPr>
        <p:spPr>
          <a:xfrm>
            <a:off x="9235440" y="4462272"/>
            <a:ext cx="2414016" cy="109728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50" b="0" i="0">
                <a:solidFill>
                  <a:srgbClr val="20242E"/>
                </a:solidFill>
                <a:latin typeface="Inter"/>
              </a:rPr>
              <a:t>lo esencial · zelfevaluatie</a:t>
            </a:r>
          </a:p>
        </p:txBody>
      </p:sp>
      <p:sp>
        <p:nvSpPr>
          <p:cNvPr id="56" name="Rounded Rectangle 55"/>
          <p:cNvSpPr/>
          <p:nvPr/>
        </p:nvSpPr>
        <p:spPr>
          <a:xfrm>
            <a:off x="9235440" y="5669280"/>
            <a:ext cx="79187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157355"/>
                </a:solidFill>
                <a:latin typeface="Inter"/>
              </a:rPr>
              <a:t>→ dia 20</a:t>
            </a:r>
          </a:p>
        </p:txBody>
      </p:sp>
      <p:sp>
        <p:nvSpPr>
          <p:cNvPr id="57" name="Rectangle 56"/>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59" name="TextBox 58"/>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60" name="TextBox 59"/>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LA RUTA · PERSONAJES</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La gente de la ruta</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Je koppelt de reis aan mensen, niet aan een landenlijst. Tú = de reiziger (jij).</a:t>
            </a:r>
          </a:p>
        </p:txBody>
      </p:sp>
      <p:sp>
        <p:nvSpPr>
          <p:cNvPr id="8" name="Rounded Rectangle 7"/>
          <p:cNvSpPr/>
          <p:nvPr/>
        </p:nvSpPr>
        <p:spPr>
          <a:xfrm>
            <a:off x="457200" y="1417320"/>
            <a:ext cx="2212848" cy="3931920"/>
          </a:xfrm>
          <a:prstGeom prst="roundRect">
            <a:avLst>
              <a:gd name="adj" fmla="val 5500"/>
            </a:avLst>
          </a:prstGeom>
          <a:solidFill>
            <a:srgbClr val="FFFFFF"/>
          </a:solidFill>
          <a:ln w="22860">
            <a:solidFill>
              <a:srgbClr val="E07A5F"/>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417320"/>
            <a:ext cx="2212848" cy="128016"/>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ucia.png"/>
          <p:cNvPicPr>
            <a:picLocks noChangeAspect="1"/>
          </p:cNvPicPr>
          <p:nvPr/>
        </p:nvPicPr>
        <p:blipFill>
          <a:blip r:embed="rId2"/>
          <a:stretch>
            <a:fillRect/>
          </a:stretch>
        </p:blipFill>
        <p:spPr>
          <a:xfrm>
            <a:off x="877824" y="1737360"/>
            <a:ext cx="1371600" cy="1371600"/>
          </a:xfrm>
          <a:prstGeom prst="rect">
            <a:avLst/>
          </a:prstGeom>
        </p:spPr>
      </p:pic>
      <p:sp>
        <p:nvSpPr>
          <p:cNvPr id="11" name="TextBox 10"/>
          <p:cNvSpPr txBox="1"/>
          <p:nvPr/>
        </p:nvSpPr>
        <p:spPr>
          <a:xfrm>
            <a:off x="45720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Lucía</a:t>
            </a:r>
          </a:p>
        </p:txBody>
      </p:sp>
      <p:sp>
        <p:nvSpPr>
          <p:cNvPr id="12" name="TextBox 11"/>
          <p:cNvSpPr txBox="1"/>
          <p:nvPr/>
        </p:nvSpPr>
        <p:spPr>
          <a:xfrm>
            <a:off x="45720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E07A5F"/>
                </a:solidFill>
                <a:latin typeface="Inter"/>
              </a:rPr>
              <a:t>Sevilla 🇪🇸</a:t>
            </a:r>
          </a:p>
        </p:txBody>
      </p:sp>
      <p:sp>
        <p:nvSpPr>
          <p:cNvPr id="13" name="Rounded Rectangle 12"/>
          <p:cNvSpPr/>
          <p:nvPr/>
        </p:nvSpPr>
        <p:spPr>
          <a:xfrm>
            <a:off x="59436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«¡Hola! Yo soy Lucía, de Sevilla.»</a:t>
            </a:r>
          </a:p>
        </p:txBody>
      </p:sp>
      <p:sp>
        <p:nvSpPr>
          <p:cNvPr id="14" name="TextBox 13"/>
          <p:cNvSpPr txBox="1"/>
          <p:nvPr/>
        </p:nvSpPr>
        <p:spPr>
          <a:xfrm>
            <a:off x="56692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gastvrouw España · familie (U2)</a:t>
            </a:r>
          </a:p>
        </p:txBody>
      </p:sp>
      <p:sp>
        <p:nvSpPr>
          <p:cNvPr id="15" name="Rounded Rectangle 14"/>
          <p:cNvSpPr/>
          <p:nvPr/>
        </p:nvSpPr>
        <p:spPr>
          <a:xfrm>
            <a:off x="2788920" y="1417320"/>
            <a:ext cx="2212848" cy="3931920"/>
          </a:xfrm>
          <a:prstGeom prst="roundRect">
            <a:avLst>
              <a:gd name="adj" fmla="val 5500"/>
            </a:avLst>
          </a:prstGeom>
          <a:solidFill>
            <a:srgbClr val="FFFFFF"/>
          </a:solidFill>
          <a:ln w="22860">
            <a:solidFill>
              <a:srgbClr val="5B8DEF"/>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88920" y="1417320"/>
            <a:ext cx="2212848" cy="128016"/>
          </a:xfrm>
          <a:prstGeom prst="rect">
            <a:avLst/>
          </a:prstGeom>
          <a:solidFill>
            <a:srgbClr val="5B8D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iego.png"/>
          <p:cNvPicPr>
            <a:picLocks noChangeAspect="1"/>
          </p:cNvPicPr>
          <p:nvPr/>
        </p:nvPicPr>
        <p:blipFill>
          <a:blip r:embed="rId3"/>
          <a:stretch>
            <a:fillRect/>
          </a:stretch>
        </p:blipFill>
        <p:spPr>
          <a:xfrm>
            <a:off x="3209544" y="1737360"/>
            <a:ext cx="1371600" cy="1371600"/>
          </a:xfrm>
          <a:prstGeom prst="rect">
            <a:avLst/>
          </a:prstGeom>
        </p:spPr>
      </p:pic>
      <p:sp>
        <p:nvSpPr>
          <p:cNvPr id="18" name="TextBox 17"/>
          <p:cNvSpPr txBox="1"/>
          <p:nvPr/>
        </p:nvSpPr>
        <p:spPr>
          <a:xfrm>
            <a:off x="278892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Diego</a:t>
            </a:r>
          </a:p>
        </p:txBody>
      </p:sp>
      <p:sp>
        <p:nvSpPr>
          <p:cNvPr id="19" name="TextBox 18"/>
          <p:cNvSpPr txBox="1"/>
          <p:nvPr/>
        </p:nvSpPr>
        <p:spPr>
          <a:xfrm>
            <a:off x="278892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5B8DEF"/>
                </a:solidFill>
                <a:latin typeface="Inter"/>
              </a:rPr>
              <a:t>CDMX 🇲🇽</a:t>
            </a:r>
          </a:p>
        </p:txBody>
      </p:sp>
      <p:sp>
        <p:nvSpPr>
          <p:cNvPr id="20" name="Rounded Rectangle 19"/>
          <p:cNvSpPr/>
          <p:nvPr/>
        </p:nvSpPr>
        <p:spPr>
          <a:xfrm>
            <a:off x="292608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«¡Qué onda! Soy Diego, de México.»</a:t>
            </a:r>
          </a:p>
        </p:txBody>
      </p:sp>
      <p:sp>
        <p:nvSpPr>
          <p:cNvPr id="21" name="TextBox 20"/>
          <p:cNvSpPr txBox="1"/>
          <p:nvPr/>
        </p:nvSpPr>
        <p:spPr>
          <a:xfrm>
            <a:off x="289864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eten &amp; markt (U5–U6)</a:t>
            </a:r>
          </a:p>
        </p:txBody>
      </p:sp>
      <p:sp>
        <p:nvSpPr>
          <p:cNvPr id="22" name="Rounded Rectangle 21"/>
          <p:cNvSpPr/>
          <p:nvPr/>
        </p:nvSpPr>
        <p:spPr>
          <a:xfrm>
            <a:off x="5120640" y="1417320"/>
            <a:ext cx="2212848" cy="3931920"/>
          </a:xfrm>
          <a:prstGeom prst="roundRect">
            <a:avLst>
              <a:gd name="adj" fmla="val 5500"/>
            </a:avLst>
          </a:prstGeom>
          <a:solidFill>
            <a:srgbClr val="FFFFFF"/>
          </a:solidFill>
          <a:ln w="22860">
            <a:solidFill>
              <a:srgbClr val="2FA8A0"/>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20640" y="1417320"/>
            <a:ext cx="2212848" cy="128016"/>
          </a:xfrm>
          <a:prstGeom prst="rect">
            <a:avLst/>
          </a:prstGeom>
          <a:solidFill>
            <a:srgbClr val="2FA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valen.png"/>
          <p:cNvPicPr>
            <a:picLocks noChangeAspect="1"/>
          </p:cNvPicPr>
          <p:nvPr/>
        </p:nvPicPr>
        <p:blipFill>
          <a:blip r:embed="rId4"/>
          <a:stretch>
            <a:fillRect/>
          </a:stretch>
        </p:blipFill>
        <p:spPr>
          <a:xfrm>
            <a:off x="5541264" y="1737360"/>
            <a:ext cx="1371600" cy="1371600"/>
          </a:xfrm>
          <a:prstGeom prst="rect">
            <a:avLst/>
          </a:prstGeom>
        </p:spPr>
      </p:pic>
      <p:sp>
        <p:nvSpPr>
          <p:cNvPr id="25" name="TextBox 24"/>
          <p:cNvSpPr txBox="1"/>
          <p:nvPr/>
        </p:nvSpPr>
        <p:spPr>
          <a:xfrm>
            <a:off x="512064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Valen</a:t>
            </a:r>
          </a:p>
        </p:txBody>
      </p:sp>
      <p:sp>
        <p:nvSpPr>
          <p:cNvPr id="26" name="TextBox 25"/>
          <p:cNvSpPr txBox="1"/>
          <p:nvPr/>
        </p:nvSpPr>
        <p:spPr>
          <a:xfrm>
            <a:off x="512064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2FA8A0"/>
                </a:solidFill>
                <a:latin typeface="Inter"/>
              </a:rPr>
              <a:t>Cartagena 🇨🇴</a:t>
            </a:r>
          </a:p>
        </p:txBody>
      </p:sp>
      <p:sp>
        <p:nvSpPr>
          <p:cNvPr id="27" name="Rounded Rectangle 26"/>
          <p:cNvSpPr/>
          <p:nvPr/>
        </p:nvSpPr>
        <p:spPr>
          <a:xfrm>
            <a:off x="525780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«¡Hey! Soy Valen, de Colombia.»</a:t>
            </a:r>
          </a:p>
        </p:txBody>
      </p:sp>
      <p:sp>
        <p:nvSpPr>
          <p:cNvPr id="28" name="TextBox 27"/>
          <p:cNvSpPr txBox="1"/>
          <p:nvPr/>
        </p:nvSpPr>
        <p:spPr>
          <a:xfrm>
            <a:off x="523036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wonen &amp; barrio (U7)</a:t>
            </a:r>
          </a:p>
        </p:txBody>
      </p:sp>
      <p:sp>
        <p:nvSpPr>
          <p:cNvPr id="29" name="Rounded Rectangle 28"/>
          <p:cNvSpPr/>
          <p:nvPr/>
        </p:nvSpPr>
        <p:spPr>
          <a:xfrm>
            <a:off x="7452360" y="1417320"/>
            <a:ext cx="2212848" cy="3931920"/>
          </a:xfrm>
          <a:prstGeom prst="roundRect">
            <a:avLst>
              <a:gd name="adj" fmla="val 5500"/>
            </a:avLst>
          </a:prstGeom>
          <a:solidFill>
            <a:srgbClr val="FFFFFF"/>
          </a:solidFill>
          <a:ln w="22860">
            <a:solidFill>
              <a:srgbClr val="D69A2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52360" y="1417320"/>
            <a:ext cx="2212848" cy="128016"/>
          </a:xfrm>
          <a:prstGeom prst="rect">
            <a:avLst/>
          </a:prstGeom>
          <a:solidFill>
            <a:srgbClr val="D69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nina.png"/>
          <p:cNvPicPr>
            <a:picLocks noChangeAspect="1"/>
          </p:cNvPicPr>
          <p:nvPr/>
        </p:nvPicPr>
        <p:blipFill>
          <a:blip r:embed="rId5"/>
          <a:stretch>
            <a:fillRect/>
          </a:stretch>
        </p:blipFill>
        <p:spPr>
          <a:xfrm>
            <a:off x="7872984" y="1737360"/>
            <a:ext cx="1371600" cy="1371600"/>
          </a:xfrm>
          <a:prstGeom prst="rect">
            <a:avLst/>
          </a:prstGeom>
        </p:spPr>
      </p:pic>
      <p:sp>
        <p:nvSpPr>
          <p:cNvPr id="32" name="TextBox 31"/>
          <p:cNvSpPr txBox="1"/>
          <p:nvPr/>
        </p:nvSpPr>
        <p:spPr>
          <a:xfrm>
            <a:off x="745236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Nina</a:t>
            </a:r>
          </a:p>
        </p:txBody>
      </p:sp>
      <p:sp>
        <p:nvSpPr>
          <p:cNvPr id="33" name="TextBox 32"/>
          <p:cNvSpPr txBox="1"/>
          <p:nvPr/>
        </p:nvSpPr>
        <p:spPr>
          <a:xfrm>
            <a:off x="745236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D69A2E"/>
                </a:solidFill>
                <a:latin typeface="Inter"/>
              </a:rPr>
              <a:t>Cusco 🇵🇪</a:t>
            </a:r>
          </a:p>
        </p:txBody>
      </p:sp>
      <p:sp>
        <p:nvSpPr>
          <p:cNvPr id="34" name="Rounded Rectangle 33"/>
          <p:cNvSpPr/>
          <p:nvPr/>
        </p:nvSpPr>
        <p:spPr>
          <a:xfrm>
            <a:off x="758952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«¡Buenas! Soy Nina, de Perú.»</a:t>
            </a:r>
          </a:p>
        </p:txBody>
      </p:sp>
      <p:sp>
        <p:nvSpPr>
          <p:cNvPr id="35" name="TextBox 34"/>
          <p:cNvSpPr txBox="1"/>
          <p:nvPr/>
        </p:nvSpPr>
        <p:spPr>
          <a:xfrm>
            <a:off x="756208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reizen &amp; natuur (U8)</a:t>
            </a:r>
          </a:p>
        </p:txBody>
      </p:sp>
      <p:sp>
        <p:nvSpPr>
          <p:cNvPr id="36" name="Rounded Rectangle 35"/>
          <p:cNvSpPr/>
          <p:nvPr/>
        </p:nvSpPr>
        <p:spPr>
          <a:xfrm>
            <a:off x="9784080" y="1417320"/>
            <a:ext cx="2212848" cy="3931920"/>
          </a:xfrm>
          <a:prstGeom prst="roundRect">
            <a:avLst>
              <a:gd name="adj" fmla="val 5500"/>
            </a:avLst>
          </a:prstGeom>
          <a:solidFill>
            <a:srgbClr val="FFFFFF"/>
          </a:solidFill>
          <a:ln w="22860">
            <a:solidFill>
              <a:srgbClr val="8A7BE0"/>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784080" y="1417320"/>
            <a:ext cx="2212848" cy="128016"/>
          </a:xfrm>
          <a:prstGeom prst="rect">
            <a:avLst/>
          </a:prstGeom>
          <a:solidFill>
            <a:srgbClr val="8A7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tu.png"/>
          <p:cNvPicPr>
            <a:picLocks noChangeAspect="1"/>
          </p:cNvPicPr>
          <p:nvPr/>
        </p:nvPicPr>
        <p:blipFill>
          <a:blip r:embed="rId6"/>
          <a:stretch>
            <a:fillRect/>
          </a:stretch>
        </p:blipFill>
        <p:spPr>
          <a:xfrm>
            <a:off x="10204704" y="1737360"/>
            <a:ext cx="1371600" cy="1371600"/>
          </a:xfrm>
          <a:prstGeom prst="rect">
            <a:avLst/>
          </a:prstGeom>
        </p:spPr>
      </p:pic>
      <p:sp>
        <p:nvSpPr>
          <p:cNvPr id="39" name="TextBox 38"/>
          <p:cNvSpPr txBox="1"/>
          <p:nvPr/>
        </p:nvSpPr>
        <p:spPr>
          <a:xfrm>
            <a:off x="9784080" y="3200400"/>
            <a:ext cx="2212848" cy="36576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800" b="1" i="0">
                <a:solidFill>
                  <a:srgbClr val="20242E"/>
                </a:solidFill>
                <a:latin typeface="Bricolage Grotesque"/>
              </a:rPr>
              <a:t>Tú</a:t>
            </a:r>
          </a:p>
        </p:txBody>
      </p:sp>
      <p:sp>
        <p:nvSpPr>
          <p:cNvPr id="40" name="TextBox 39"/>
          <p:cNvSpPr txBox="1"/>
          <p:nvPr/>
        </p:nvSpPr>
        <p:spPr>
          <a:xfrm>
            <a:off x="9784080" y="3566160"/>
            <a:ext cx="2212848"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1" i="0">
                <a:solidFill>
                  <a:srgbClr val="8A7BE0"/>
                </a:solidFill>
                <a:latin typeface="Inter"/>
              </a:rPr>
              <a:t>Flandes 🇧🇪</a:t>
            </a:r>
          </a:p>
        </p:txBody>
      </p:sp>
      <p:sp>
        <p:nvSpPr>
          <p:cNvPr id="41" name="Rounded Rectangle 40"/>
          <p:cNvSpPr/>
          <p:nvPr/>
        </p:nvSpPr>
        <p:spPr>
          <a:xfrm>
            <a:off x="9921240" y="3931920"/>
            <a:ext cx="1938528" cy="822960"/>
          </a:xfrm>
          <a:prstGeom prst="roundRect">
            <a:avLst>
              <a:gd name="adj" fmla="val 1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100" i="1" b="1">
                <a:solidFill>
                  <a:srgbClr val="157355"/>
                </a:solidFill>
                <a:latin typeface="Inter"/>
              </a:rPr>
              <a:t>«Yo soy… — en jij?»</a:t>
            </a:r>
          </a:p>
        </p:txBody>
      </p:sp>
      <p:sp>
        <p:nvSpPr>
          <p:cNvPr id="42" name="TextBox 41"/>
          <p:cNvSpPr txBox="1"/>
          <p:nvPr/>
        </p:nvSpPr>
        <p:spPr>
          <a:xfrm>
            <a:off x="9893808" y="4846320"/>
            <a:ext cx="1993392" cy="457200"/>
          </a:xfrm>
          <a:prstGeom prst="rect">
            <a:avLst/>
          </a:prstGeom>
          <a:noFill/>
        </p:spPr>
        <p:txBody>
          <a:bodyPr wrap="square" anchor="t" lIns="38100" rIns="38100" tIns="25400" bIns="25400">
            <a:spAutoFit/>
          </a:bodyPr>
          <a:lstStyle/>
          <a:p>
            <a:pPr algn="ctr">
              <a:lnSpc>
                <a:spcPct val="105000"/>
              </a:lnSpc>
              <a:spcBef>
                <a:spcPts val="0"/>
              </a:spcBef>
              <a:spcAft>
                <a:spcPts val="200"/>
              </a:spcAft>
            </a:pPr>
            <a:r>
              <a:rPr sz="950" b="0" i="0">
                <a:solidFill>
                  <a:srgbClr val="6A6E78"/>
                </a:solidFill>
                <a:latin typeface="Inter"/>
              </a:rPr>
              <a:t>de reiziger = JIJ</a:t>
            </a:r>
          </a:p>
        </p:txBody>
      </p:sp>
      <p:sp>
        <p:nvSpPr>
          <p:cNvPr id="43" name="TextBox 42"/>
          <p:cNvSpPr txBox="1"/>
          <p:nvPr/>
        </p:nvSpPr>
        <p:spPr>
          <a:xfrm>
            <a:off x="457200" y="5486400"/>
            <a:ext cx="112471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0" i="0">
                <a:solidFill>
                  <a:srgbClr val="20242E"/>
                </a:solidFill>
                <a:latin typeface="Inter"/>
              </a:rPr>
              <a:t>🎒 </a:t>
            </a:r>
            <a:r>
              <a:rPr sz="1250" b="1" i="0">
                <a:solidFill>
                  <a:srgbClr val="157355"/>
                </a:solidFill>
                <a:latin typeface="Bricolage Grotesque"/>
              </a:rPr>
              <a:t>La mochila viajera</a:t>
            </a:r>
            <a:r>
              <a:rPr sz="1200" b="0" i="0">
                <a:solidFill>
                  <a:srgbClr val="20242E"/>
                </a:solidFill>
                <a:latin typeface="Inter"/>
              </a:rPr>
              <a:t>  = reisgezel. Klasritueel: </a:t>
            </a:r>
            <a:r>
              <a:rPr sz="1200" b="1" i="1">
                <a:solidFill>
                  <a:srgbClr val="1E9E74"/>
                </a:solidFill>
                <a:latin typeface="Inter"/>
              </a:rPr>
              <a:t>¿Cómo se llama nuestra mochila?</a:t>
            </a:r>
            <a:r>
              <a:rPr sz="1200" b="0" i="0">
                <a:solidFill>
                  <a:srgbClr val="20242E"/>
                </a:solidFill>
                <a:latin typeface="Inter"/>
              </a:rPr>
              <a:t>  (de klas kiest de naam — meteen een mini-taak).</a:t>
            </a:r>
          </a:p>
        </p:txBody>
      </p:sp>
      <p:sp>
        <p:nvSpPr>
          <p:cNvPr id="44" name="TextBox 43"/>
          <p:cNvSpPr txBox="1"/>
          <p:nvPr/>
        </p:nvSpPr>
        <p:spPr>
          <a:xfrm>
            <a:off x="457200" y="5943600"/>
            <a:ext cx="112471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1">
                <a:solidFill>
                  <a:srgbClr val="6A6E78"/>
                </a:solidFill>
                <a:latin typeface="Inter"/>
              </a:rPr>
              <a:t>Teaser C6: </a:t>
            </a:r>
            <a:r>
              <a:rPr sz="1050" b="1" i="1">
                <a:solidFill>
                  <a:srgbClr val="6A6E78"/>
                </a:solidFill>
                <a:latin typeface="Inter"/>
              </a:rPr>
              <a:t>Mateo, de Buenos Aires 🇦🇷</a:t>
            </a:r>
            <a:r>
              <a:rPr sz="1050" b="0" i="1">
                <a:solidFill>
                  <a:srgbClr val="6A6E78"/>
                </a:solidFill>
                <a:latin typeface="Inter"/>
              </a:rPr>
              <a:t> komt er pas in het 6de bij (voseo). Niet productief in C5.</a:t>
            </a:r>
          </a:p>
        </p:txBody>
      </p:sp>
      <p:sp>
        <p:nvSpPr>
          <p:cNvPr id="45" name="Rectangle 44"/>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7" name="TextBox 46"/>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8" name="TextBox 47"/>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SONAR EN ESPAÑOL</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1</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abecedario — las 27 letras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Spaans lees je zoals je het schrijft. Eén keer de klankregels → daarna lees je bijna elk woord correct hardop.</a:t>
            </a:r>
          </a:p>
        </p:txBody>
      </p:sp>
      <p:sp>
        <p:nvSpPr>
          <p:cNvPr id="9" name="TextBox 8"/>
          <p:cNvSpPr txBox="1"/>
          <p:nvPr/>
        </p:nvSpPr>
        <p:spPr>
          <a:xfrm>
            <a:off x="457200" y="1280160"/>
            <a:ext cx="1124712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1" i="0">
                <a:solidFill>
                  <a:srgbClr val="157355"/>
                </a:solidFill>
                <a:latin typeface="Inter"/>
              </a:rPr>
              <a:t>Doel: </a:t>
            </a:r>
            <a:r>
              <a:rPr sz="1100" b="0" i="0">
                <a:solidFill>
                  <a:srgbClr val="20242E"/>
                </a:solidFill>
                <a:latin typeface="Inter"/>
              </a:rPr>
              <a:t>de klanken &amp; letters herkennen · je naam kunnen spellen (deletrear).  </a:t>
            </a:r>
            <a:r>
              <a:rPr sz="950" b="0" i="1">
                <a:solidFill>
                  <a:srgbClr val="6A6E78"/>
                </a:solidFill>
                <a:latin typeface="Inter"/>
              </a:rPr>
              <a:t>[LPD · Taalsysteem — klank–schriftbeeld A1]</a:t>
            </a:r>
          </a:p>
        </p:txBody>
      </p:sp>
      <p:sp>
        <p:nvSpPr>
          <p:cNvPr id="10" name="Rounded Rectangle 9"/>
          <p:cNvSpPr/>
          <p:nvPr/>
        </p:nvSpPr>
        <p:spPr>
          <a:xfrm>
            <a:off x="457200"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A</a:t>
            </a:r>
          </a:p>
        </p:txBody>
      </p:sp>
      <p:sp>
        <p:nvSpPr>
          <p:cNvPr id="12" name="TextBox 11"/>
          <p:cNvSpPr txBox="1"/>
          <p:nvPr/>
        </p:nvSpPr>
        <p:spPr>
          <a:xfrm>
            <a:off x="457200"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a</a:t>
            </a:r>
          </a:p>
        </p:txBody>
      </p:sp>
      <p:sp>
        <p:nvSpPr>
          <p:cNvPr id="13" name="Rounded Rectangle 12"/>
          <p:cNvSpPr/>
          <p:nvPr/>
        </p:nvSpPr>
        <p:spPr>
          <a:xfrm>
            <a:off x="1719072"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19072"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B</a:t>
            </a:r>
          </a:p>
        </p:txBody>
      </p:sp>
      <p:sp>
        <p:nvSpPr>
          <p:cNvPr id="15" name="TextBox 14"/>
          <p:cNvSpPr txBox="1"/>
          <p:nvPr/>
        </p:nvSpPr>
        <p:spPr>
          <a:xfrm>
            <a:off x="1719072"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be</a:t>
            </a:r>
          </a:p>
        </p:txBody>
      </p:sp>
      <p:sp>
        <p:nvSpPr>
          <p:cNvPr id="16" name="Rounded Rectangle 15"/>
          <p:cNvSpPr/>
          <p:nvPr/>
        </p:nvSpPr>
        <p:spPr>
          <a:xfrm>
            <a:off x="2980944"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80944"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C</a:t>
            </a:r>
          </a:p>
        </p:txBody>
      </p:sp>
      <p:sp>
        <p:nvSpPr>
          <p:cNvPr id="18" name="TextBox 17"/>
          <p:cNvSpPr txBox="1"/>
          <p:nvPr/>
        </p:nvSpPr>
        <p:spPr>
          <a:xfrm>
            <a:off x="2980944"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ce</a:t>
            </a:r>
          </a:p>
        </p:txBody>
      </p:sp>
      <p:sp>
        <p:nvSpPr>
          <p:cNvPr id="19" name="Rounded Rectangle 18"/>
          <p:cNvSpPr/>
          <p:nvPr/>
        </p:nvSpPr>
        <p:spPr>
          <a:xfrm>
            <a:off x="4242816"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D</a:t>
            </a:r>
          </a:p>
        </p:txBody>
      </p:sp>
      <p:sp>
        <p:nvSpPr>
          <p:cNvPr id="21" name="TextBox 20"/>
          <p:cNvSpPr txBox="1"/>
          <p:nvPr/>
        </p:nvSpPr>
        <p:spPr>
          <a:xfrm>
            <a:off x="4242816"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de</a:t>
            </a:r>
          </a:p>
        </p:txBody>
      </p:sp>
      <p:sp>
        <p:nvSpPr>
          <p:cNvPr id="22" name="Rounded Rectangle 21"/>
          <p:cNvSpPr/>
          <p:nvPr/>
        </p:nvSpPr>
        <p:spPr>
          <a:xfrm>
            <a:off x="5504688"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04688"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E</a:t>
            </a:r>
          </a:p>
        </p:txBody>
      </p:sp>
      <p:sp>
        <p:nvSpPr>
          <p:cNvPr id="24" name="TextBox 23"/>
          <p:cNvSpPr txBox="1"/>
          <p:nvPr/>
        </p:nvSpPr>
        <p:spPr>
          <a:xfrm>
            <a:off x="5504688"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a:t>
            </a:r>
          </a:p>
        </p:txBody>
      </p:sp>
      <p:sp>
        <p:nvSpPr>
          <p:cNvPr id="25" name="Rounded Rectangle 24"/>
          <p:cNvSpPr/>
          <p:nvPr/>
        </p:nvSpPr>
        <p:spPr>
          <a:xfrm>
            <a:off x="6766560"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0"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F</a:t>
            </a:r>
          </a:p>
        </p:txBody>
      </p:sp>
      <p:sp>
        <p:nvSpPr>
          <p:cNvPr id="27" name="TextBox 26"/>
          <p:cNvSpPr txBox="1"/>
          <p:nvPr/>
        </p:nvSpPr>
        <p:spPr>
          <a:xfrm>
            <a:off x="6766560"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efe</a:t>
            </a:r>
          </a:p>
        </p:txBody>
      </p:sp>
      <p:sp>
        <p:nvSpPr>
          <p:cNvPr id="28" name="Rounded Rectangle 27"/>
          <p:cNvSpPr/>
          <p:nvPr/>
        </p:nvSpPr>
        <p:spPr>
          <a:xfrm>
            <a:off x="8028432" y="169164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G</a:t>
            </a:r>
          </a:p>
        </p:txBody>
      </p:sp>
      <p:sp>
        <p:nvSpPr>
          <p:cNvPr id="30" name="TextBox 29"/>
          <p:cNvSpPr txBox="1"/>
          <p:nvPr/>
        </p:nvSpPr>
        <p:spPr>
          <a:xfrm>
            <a:off x="8028432"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ge</a:t>
            </a:r>
          </a:p>
        </p:txBody>
      </p:sp>
      <p:sp>
        <p:nvSpPr>
          <p:cNvPr id="31" name="Rounded Rectangle 30"/>
          <p:cNvSpPr/>
          <p:nvPr/>
        </p:nvSpPr>
        <p:spPr>
          <a:xfrm>
            <a:off x="9290304" y="169164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90304"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H</a:t>
            </a:r>
          </a:p>
        </p:txBody>
      </p:sp>
      <p:sp>
        <p:nvSpPr>
          <p:cNvPr id="33" name="TextBox 32"/>
          <p:cNvSpPr txBox="1"/>
          <p:nvPr/>
        </p:nvSpPr>
        <p:spPr>
          <a:xfrm>
            <a:off x="9290304"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hache</a:t>
            </a:r>
          </a:p>
        </p:txBody>
      </p:sp>
      <p:sp>
        <p:nvSpPr>
          <p:cNvPr id="34" name="Rounded Rectangle 33"/>
          <p:cNvSpPr/>
          <p:nvPr/>
        </p:nvSpPr>
        <p:spPr>
          <a:xfrm>
            <a:off x="10552176" y="169164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52176" y="171907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I</a:t>
            </a:r>
          </a:p>
        </p:txBody>
      </p:sp>
      <p:sp>
        <p:nvSpPr>
          <p:cNvPr id="36" name="TextBox 35"/>
          <p:cNvSpPr txBox="1"/>
          <p:nvPr/>
        </p:nvSpPr>
        <p:spPr>
          <a:xfrm>
            <a:off x="10552176" y="213055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i</a:t>
            </a:r>
          </a:p>
        </p:txBody>
      </p:sp>
      <p:sp>
        <p:nvSpPr>
          <p:cNvPr id="37" name="Rounded Rectangle 36"/>
          <p:cNvSpPr/>
          <p:nvPr/>
        </p:nvSpPr>
        <p:spPr>
          <a:xfrm>
            <a:off x="457200" y="251460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J</a:t>
            </a:r>
          </a:p>
        </p:txBody>
      </p:sp>
      <p:sp>
        <p:nvSpPr>
          <p:cNvPr id="39" name="TextBox 38"/>
          <p:cNvSpPr txBox="1"/>
          <p:nvPr/>
        </p:nvSpPr>
        <p:spPr>
          <a:xfrm>
            <a:off x="457200"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jota</a:t>
            </a:r>
          </a:p>
        </p:txBody>
      </p:sp>
      <p:sp>
        <p:nvSpPr>
          <p:cNvPr id="40" name="Rounded Rectangle 39"/>
          <p:cNvSpPr/>
          <p:nvPr/>
        </p:nvSpPr>
        <p:spPr>
          <a:xfrm>
            <a:off x="1719072"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19072"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K</a:t>
            </a:r>
          </a:p>
        </p:txBody>
      </p:sp>
      <p:sp>
        <p:nvSpPr>
          <p:cNvPr id="42" name="TextBox 41"/>
          <p:cNvSpPr txBox="1"/>
          <p:nvPr/>
        </p:nvSpPr>
        <p:spPr>
          <a:xfrm>
            <a:off x="1719072"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ka</a:t>
            </a:r>
          </a:p>
        </p:txBody>
      </p:sp>
      <p:sp>
        <p:nvSpPr>
          <p:cNvPr id="43" name="Rounded Rectangle 42"/>
          <p:cNvSpPr/>
          <p:nvPr/>
        </p:nvSpPr>
        <p:spPr>
          <a:xfrm>
            <a:off x="2980944"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80944"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L</a:t>
            </a:r>
          </a:p>
        </p:txBody>
      </p:sp>
      <p:sp>
        <p:nvSpPr>
          <p:cNvPr id="45" name="TextBox 44"/>
          <p:cNvSpPr txBox="1"/>
          <p:nvPr/>
        </p:nvSpPr>
        <p:spPr>
          <a:xfrm>
            <a:off x="2980944"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ele</a:t>
            </a:r>
          </a:p>
        </p:txBody>
      </p:sp>
      <p:sp>
        <p:nvSpPr>
          <p:cNvPr id="46" name="Rounded Rectangle 45"/>
          <p:cNvSpPr/>
          <p:nvPr/>
        </p:nvSpPr>
        <p:spPr>
          <a:xfrm>
            <a:off x="4242816"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42816"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M</a:t>
            </a:r>
          </a:p>
        </p:txBody>
      </p:sp>
      <p:sp>
        <p:nvSpPr>
          <p:cNvPr id="48" name="TextBox 47"/>
          <p:cNvSpPr txBox="1"/>
          <p:nvPr/>
        </p:nvSpPr>
        <p:spPr>
          <a:xfrm>
            <a:off x="4242816"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eme</a:t>
            </a:r>
          </a:p>
        </p:txBody>
      </p:sp>
      <p:sp>
        <p:nvSpPr>
          <p:cNvPr id="49" name="Rounded Rectangle 48"/>
          <p:cNvSpPr/>
          <p:nvPr/>
        </p:nvSpPr>
        <p:spPr>
          <a:xfrm>
            <a:off x="5504688"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504688"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N</a:t>
            </a:r>
          </a:p>
        </p:txBody>
      </p:sp>
      <p:sp>
        <p:nvSpPr>
          <p:cNvPr id="51" name="TextBox 50"/>
          <p:cNvSpPr txBox="1"/>
          <p:nvPr/>
        </p:nvSpPr>
        <p:spPr>
          <a:xfrm>
            <a:off x="5504688"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ene</a:t>
            </a:r>
          </a:p>
        </p:txBody>
      </p:sp>
      <p:sp>
        <p:nvSpPr>
          <p:cNvPr id="52" name="Rounded Rectangle 51"/>
          <p:cNvSpPr/>
          <p:nvPr/>
        </p:nvSpPr>
        <p:spPr>
          <a:xfrm>
            <a:off x="6766560" y="251460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766560"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Ñ</a:t>
            </a:r>
          </a:p>
        </p:txBody>
      </p:sp>
      <p:sp>
        <p:nvSpPr>
          <p:cNvPr id="54" name="TextBox 53"/>
          <p:cNvSpPr txBox="1"/>
          <p:nvPr/>
        </p:nvSpPr>
        <p:spPr>
          <a:xfrm>
            <a:off x="6766560"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eñe</a:t>
            </a:r>
          </a:p>
        </p:txBody>
      </p:sp>
      <p:sp>
        <p:nvSpPr>
          <p:cNvPr id="55" name="Rounded Rectangle 54"/>
          <p:cNvSpPr/>
          <p:nvPr/>
        </p:nvSpPr>
        <p:spPr>
          <a:xfrm>
            <a:off x="8028432"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28432"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O</a:t>
            </a:r>
          </a:p>
        </p:txBody>
      </p:sp>
      <p:sp>
        <p:nvSpPr>
          <p:cNvPr id="57" name="TextBox 56"/>
          <p:cNvSpPr txBox="1"/>
          <p:nvPr/>
        </p:nvSpPr>
        <p:spPr>
          <a:xfrm>
            <a:off x="8028432"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o</a:t>
            </a:r>
          </a:p>
        </p:txBody>
      </p:sp>
      <p:sp>
        <p:nvSpPr>
          <p:cNvPr id="58" name="Rounded Rectangle 57"/>
          <p:cNvSpPr/>
          <p:nvPr/>
        </p:nvSpPr>
        <p:spPr>
          <a:xfrm>
            <a:off x="9290304"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90304"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P</a:t>
            </a:r>
          </a:p>
        </p:txBody>
      </p:sp>
      <p:sp>
        <p:nvSpPr>
          <p:cNvPr id="60" name="TextBox 59"/>
          <p:cNvSpPr txBox="1"/>
          <p:nvPr/>
        </p:nvSpPr>
        <p:spPr>
          <a:xfrm>
            <a:off x="9290304"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pe</a:t>
            </a:r>
          </a:p>
        </p:txBody>
      </p:sp>
      <p:sp>
        <p:nvSpPr>
          <p:cNvPr id="61" name="Rounded Rectangle 60"/>
          <p:cNvSpPr/>
          <p:nvPr/>
        </p:nvSpPr>
        <p:spPr>
          <a:xfrm>
            <a:off x="10552176" y="251460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52176" y="254203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Q</a:t>
            </a:r>
          </a:p>
        </p:txBody>
      </p:sp>
      <p:sp>
        <p:nvSpPr>
          <p:cNvPr id="63" name="TextBox 62"/>
          <p:cNvSpPr txBox="1"/>
          <p:nvPr/>
        </p:nvSpPr>
        <p:spPr>
          <a:xfrm>
            <a:off x="10552176" y="295351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cu</a:t>
            </a:r>
          </a:p>
        </p:txBody>
      </p:sp>
      <p:sp>
        <p:nvSpPr>
          <p:cNvPr id="64" name="Rounded Rectangle 63"/>
          <p:cNvSpPr/>
          <p:nvPr/>
        </p:nvSpPr>
        <p:spPr>
          <a:xfrm>
            <a:off x="457200" y="333756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7200"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R</a:t>
            </a:r>
          </a:p>
        </p:txBody>
      </p:sp>
      <p:sp>
        <p:nvSpPr>
          <p:cNvPr id="66" name="TextBox 65"/>
          <p:cNvSpPr txBox="1"/>
          <p:nvPr/>
        </p:nvSpPr>
        <p:spPr>
          <a:xfrm>
            <a:off x="457200"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erre</a:t>
            </a:r>
          </a:p>
        </p:txBody>
      </p:sp>
      <p:sp>
        <p:nvSpPr>
          <p:cNvPr id="67" name="Rounded Rectangle 66"/>
          <p:cNvSpPr/>
          <p:nvPr/>
        </p:nvSpPr>
        <p:spPr>
          <a:xfrm>
            <a:off x="1719072"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719072"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S</a:t>
            </a:r>
          </a:p>
        </p:txBody>
      </p:sp>
      <p:sp>
        <p:nvSpPr>
          <p:cNvPr id="69" name="TextBox 68"/>
          <p:cNvSpPr txBox="1"/>
          <p:nvPr/>
        </p:nvSpPr>
        <p:spPr>
          <a:xfrm>
            <a:off x="1719072"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ese</a:t>
            </a:r>
          </a:p>
        </p:txBody>
      </p:sp>
      <p:sp>
        <p:nvSpPr>
          <p:cNvPr id="70" name="Rounded Rectangle 69"/>
          <p:cNvSpPr/>
          <p:nvPr/>
        </p:nvSpPr>
        <p:spPr>
          <a:xfrm>
            <a:off x="2980944"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0944"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T</a:t>
            </a:r>
          </a:p>
        </p:txBody>
      </p:sp>
      <p:sp>
        <p:nvSpPr>
          <p:cNvPr id="72" name="TextBox 71"/>
          <p:cNvSpPr txBox="1"/>
          <p:nvPr/>
        </p:nvSpPr>
        <p:spPr>
          <a:xfrm>
            <a:off x="2980944"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te</a:t>
            </a:r>
          </a:p>
        </p:txBody>
      </p:sp>
      <p:sp>
        <p:nvSpPr>
          <p:cNvPr id="73" name="Rounded Rectangle 72"/>
          <p:cNvSpPr/>
          <p:nvPr/>
        </p:nvSpPr>
        <p:spPr>
          <a:xfrm>
            <a:off x="4242816"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242816"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U</a:t>
            </a:r>
          </a:p>
        </p:txBody>
      </p:sp>
      <p:sp>
        <p:nvSpPr>
          <p:cNvPr id="75" name="TextBox 74"/>
          <p:cNvSpPr txBox="1"/>
          <p:nvPr/>
        </p:nvSpPr>
        <p:spPr>
          <a:xfrm>
            <a:off x="4242816"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u</a:t>
            </a:r>
          </a:p>
        </p:txBody>
      </p:sp>
      <p:sp>
        <p:nvSpPr>
          <p:cNvPr id="76" name="Rounded Rectangle 75"/>
          <p:cNvSpPr/>
          <p:nvPr/>
        </p:nvSpPr>
        <p:spPr>
          <a:xfrm>
            <a:off x="5504688" y="333756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04688"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V</a:t>
            </a:r>
          </a:p>
        </p:txBody>
      </p:sp>
      <p:sp>
        <p:nvSpPr>
          <p:cNvPr id="78" name="TextBox 77"/>
          <p:cNvSpPr txBox="1"/>
          <p:nvPr/>
        </p:nvSpPr>
        <p:spPr>
          <a:xfrm>
            <a:off x="5504688"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uve</a:t>
            </a:r>
          </a:p>
        </p:txBody>
      </p:sp>
      <p:sp>
        <p:nvSpPr>
          <p:cNvPr id="79" name="Rounded Rectangle 78"/>
          <p:cNvSpPr/>
          <p:nvPr/>
        </p:nvSpPr>
        <p:spPr>
          <a:xfrm>
            <a:off x="6766560"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766560"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W</a:t>
            </a:r>
          </a:p>
        </p:txBody>
      </p:sp>
      <p:sp>
        <p:nvSpPr>
          <p:cNvPr id="81" name="TextBox 80"/>
          <p:cNvSpPr txBox="1"/>
          <p:nvPr/>
        </p:nvSpPr>
        <p:spPr>
          <a:xfrm>
            <a:off x="6766560"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uve doble</a:t>
            </a:r>
          </a:p>
        </p:txBody>
      </p:sp>
      <p:sp>
        <p:nvSpPr>
          <p:cNvPr id="82" name="Rounded Rectangle 81"/>
          <p:cNvSpPr/>
          <p:nvPr/>
        </p:nvSpPr>
        <p:spPr>
          <a:xfrm>
            <a:off x="8028432"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028432"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X</a:t>
            </a:r>
          </a:p>
        </p:txBody>
      </p:sp>
      <p:sp>
        <p:nvSpPr>
          <p:cNvPr id="84" name="TextBox 83"/>
          <p:cNvSpPr txBox="1"/>
          <p:nvPr/>
        </p:nvSpPr>
        <p:spPr>
          <a:xfrm>
            <a:off x="8028432"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equis</a:t>
            </a:r>
          </a:p>
        </p:txBody>
      </p:sp>
      <p:sp>
        <p:nvSpPr>
          <p:cNvPr id="85" name="Rounded Rectangle 84"/>
          <p:cNvSpPr/>
          <p:nvPr/>
        </p:nvSpPr>
        <p:spPr>
          <a:xfrm>
            <a:off x="9290304" y="3337560"/>
            <a:ext cx="1216152" cy="74980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9290304"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157355"/>
                </a:solidFill>
                <a:latin typeface="Bricolage Grotesque"/>
              </a:rPr>
              <a:t>Y</a:t>
            </a:r>
          </a:p>
        </p:txBody>
      </p:sp>
      <p:sp>
        <p:nvSpPr>
          <p:cNvPr id="87" name="TextBox 86"/>
          <p:cNvSpPr txBox="1"/>
          <p:nvPr/>
        </p:nvSpPr>
        <p:spPr>
          <a:xfrm>
            <a:off x="9290304"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ye</a:t>
            </a:r>
          </a:p>
        </p:txBody>
      </p:sp>
      <p:sp>
        <p:nvSpPr>
          <p:cNvPr id="88" name="Rounded Rectangle 87"/>
          <p:cNvSpPr/>
          <p:nvPr/>
        </p:nvSpPr>
        <p:spPr>
          <a:xfrm>
            <a:off x="10552176" y="3337560"/>
            <a:ext cx="1216152" cy="749808"/>
          </a:xfrm>
          <a:prstGeom prst="roundRect">
            <a:avLst>
              <a:gd name="adj" fmla="val 5500"/>
            </a:avLst>
          </a:prstGeom>
          <a:solidFill>
            <a:srgbClr val="FDECEC"/>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552176" y="3364992"/>
            <a:ext cx="1216152"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100" b="1" i="0">
                <a:solidFill>
                  <a:srgbClr val="DC2626"/>
                </a:solidFill>
                <a:latin typeface="Bricolage Grotesque"/>
              </a:rPr>
              <a:t>Z</a:t>
            </a:r>
          </a:p>
        </p:txBody>
      </p:sp>
      <p:sp>
        <p:nvSpPr>
          <p:cNvPr id="90" name="TextBox 89"/>
          <p:cNvSpPr txBox="1"/>
          <p:nvPr/>
        </p:nvSpPr>
        <p:spPr>
          <a:xfrm>
            <a:off x="10552176" y="3776472"/>
            <a:ext cx="1216152" cy="27432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950" b="0" i="0">
                <a:solidFill>
                  <a:srgbClr val="6A6E78"/>
                </a:solidFill>
                <a:latin typeface="Inter"/>
              </a:rPr>
              <a:t>zeta</a:t>
            </a:r>
          </a:p>
        </p:txBody>
      </p:sp>
      <p:sp>
        <p:nvSpPr>
          <p:cNvPr id="91" name="Rounded Rectangle 90"/>
          <p:cNvSpPr/>
          <p:nvPr/>
        </p:nvSpPr>
        <p:spPr>
          <a:xfrm>
            <a:off x="457200" y="4617720"/>
            <a:ext cx="292608" cy="292608"/>
          </a:xfrm>
          <a:prstGeom prst="roundRect">
            <a:avLst>
              <a:gd name="adj" fmla="val 20000"/>
            </a:avLst>
          </a:prstGeom>
          <a:solidFill>
            <a:srgbClr val="FDECEC"/>
          </a:solidFill>
          <a:ln w="1778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2960" y="4599432"/>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20242E"/>
                </a:solidFill>
                <a:latin typeface="Inter"/>
              </a:rPr>
              <a:t>= klanktrampa (klinkt anders dan in het NL) → dia 5</a:t>
            </a:r>
          </a:p>
        </p:txBody>
      </p:sp>
      <p:sp>
        <p:nvSpPr>
          <p:cNvPr id="93" name="Rounded Rectangle 92"/>
          <p:cNvSpPr/>
          <p:nvPr/>
        </p:nvSpPr>
        <p:spPr>
          <a:xfrm>
            <a:off x="457200" y="5074920"/>
            <a:ext cx="11274552" cy="8686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Regla · </a:t>
            </a:r>
            <a:r>
              <a:rPr sz="1200" b="1" i="0">
                <a:solidFill>
                  <a:srgbClr val="1E9E74"/>
                </a:solidFill>
                <a:latin typeface="Inter"/>
              </a:rPr>
              <a:t>27 letras</a:t>
            </a:r>
            <a:r>
              <a:rPr sz="1200" b="0" i="0">
                <a:solidFill>
                  <a:srgbClr val="157355"/>
                </a:solidFill>
                <a:latin typeface="Inter"/>
              </a:rPr>
              <a:t> = 26 van het NL </a:t>
            </a:r>
            <a:r>
              <a:rPr sz="1200" b="1" i="0">
                <a:solidFill>
                  <a:srgbClr val="1E9E74"/>
                </a:solidFill>
                <a:latin typeface="Inter"/>
              </a:rPr>
              <a:t>+ ñ</a:t>
            </a:r>
            <a:r>
              <a:rPr sz="1200" b="0" i="0">
                <a:solidFill>
                  <a:srgbClr val="157355"/>
                </a:solidFill>
                <a:latin typeface="Inter"/>
              </a:rPr>
              <a:t>. </a:t>
            </a:r>
            <a:r>
              <a:rPr sz="1200" b="1" i="0">
                <a:solidFill>
                  <a:srgbClr val="1E9E74"/>
                </a:solidFill>
                <a:latin typeface="Inter"/>
              </a:rPr>
              <a:t>ch / ll</a:t>
            </a:r>
            <a:r>
              <a:rPr sz="1200" b="0" i="0">
                <a:solidFill>
                  <a:srgbClr val="157355"/>
                </a:solidFill>
                <a:latin typeface="Inter"/>
              </a:rPr>
              <a:t> = dígrafos (klankcombinaties), géén aparte letters meer. </a:t>
            </a:r>
            <a:r>
              <a:rPr sz="1200" b="0" i="0">
                <a:solidFill>
                  <a:srgbClr val="157355"/>
                </a:solidFill>
                <a:latin typeface="Inter"/>
              </a:rPr>
              <a:t>De letternaam verraadt soms de klank: </a:t>
            </a:r>
            <a:r>
              <a:rPr sz="1200" b="1" i="1">
                <a:solidFill>
                  <a:srgbClr val="1E9E74"/>
                </a:solidFill>
                <a:latin typeface="Inter"/>
              </a:rPr>
              <a:t>«jota», «ge», «zeta».</a:t>
            </a:r>
          </a:p>
          <a:p>
            <a:pPr>
              <a:lnSpc>
                <a:spcPct val="102000"/>
              </a:lnSpc>
              <a:spcBef>
                <a:spcPts val="0"/>
              </a:spcBef>
              <a:spcAft>
                <a:spcPts val="300"/>
              </a:spcAft>
            </a:pPr>
            <a:r>
              <a:rPr sz="1200" b="0" i="0">
                <a:solidFill>
                  <a:srgbClr val="157355"/>
                </a:solidFill>
                <a:latin typeface="Inter"/>
              </a:rPr>
              <a:t>¿Welke letter zie je niet in het NL? → </a:t>
            </a:r>
            <a:r>
              <a:rPr sz="1200" b="1" i="0">
                <a:solidFill>
                  <a:srgbClr val="1E9E74"/>
                </a:solidFill>
                <a:latin typeface="Inter"/>
              </a:rPr>
              <a:t>ñ</a:t>
            </a:r>
            <a:r>
              <a:rPr sz="1200" b="0" i="0">
                <a:solidFill>
                  <a:srgbClr val="157355"/>
                </a:solidFill>
                <a:latin typeface="Inter"/>
              </a:rPr>
              <a:t>  ·  ¿Welke hoor je nooit? → </a:t>
            </a:r>
            <a:r>
              <a:rPr sz="1200" b="1" i="0">
                <a:solidFill>
                  <a:srgbClr val="1E9E74"/>
                </a:solidFill>
                <a:latin typeface="Inter"/>
              </a:rPr>
              <a:t>h</a:t>
            </a:r>
          </a:p>
        </p:txBody>
      </p:sp>
      <p:sp>
        <p:nvSpPr>
          <p:cNvPr id="94" name="Rounded Rectangle 93"/>
          <p:cNvSpPr/>
          <p:nvPr/>
        </p:nvSpPr>
        <p:spPr>
          <a:xfrm>
            <a:off x="594360" y="4946904"/>
            <a:ext cx="2221991"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OBSERVAR + REGLA · docent</a:t>
            </a:r>
          </a:p>
        </p:txBody>
      </p:sp>
      <p:sp>
        <p:nvSpPr>
          <p:cNvPr id="95" name="Rectangle 94"/>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97" name="TextBox 96"/>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98" name="TextBox 97"/>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642615"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TRAMPAS PARA NEERLANDESES</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Los sonidos que cambian</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Een handvol letters doet iets anders dan je gewend bent. Vorm + label + icoon dragen de info (geen kleur alleen).</a:t>
            </a:r>
          </a:p>
        </p:txBody>
      </p:sp>
      <p:sp>
        <p:nvSpPr>
          <p:cNvPr id="8" name="Rounded Rectangle 7"/>
          <p:cNvSpPr/>
          <p:nvPr/>
        </p:nvSpPr>
        <p:spPr>
          <a:xfrm>
            <a:off x="365760" y="1280160"/>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280160"/>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335024"/>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La jota /x/</a:t>
            </a:r>
            <a:r>
              <a:rPr sz="1150" b="1" i="0">
                <a:solidFill>
                  <a:srgbClr val="1E9E74"/>
                </a:solidFill>
                <a:latin typeface="Inter"/>
              </a:rPr>
              <a:t>   j · ge · gi</a:t>
            </a:r>
          </a:p>
        </p:txBody>
      </p:sp>
      <p:sp>
        <p:nvSpPr>
          <p:cNvPr id="11" name="TextBox 10"/>
          <p:cNvSpPr txBox="1"/>
          <p:nvPr/>
        </p:nvSpPr>
        <p:spPr>
          <a:xfrm>
            <a:off x="548640" y="1691640"/>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hard, achter in de keel — als «ch» in lachen, acht, Bach</a:t>
            </a:r>
          </a:p>
        </p:txBody>
      </p:sp>
      <p:sp>
        <p:nvSpPr>
          <p:cNvPr id="12" name="TextBox 11"/>
          <p:cNvSpPr txBox="1"/>
          <p:nvPr/>
        </p:nvSpPr>
        <p:spPr>
          <a:xfrm>
            <a:off x="548640" y="2148840"/>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Juan · jamón · gente · Gijón</a:t>
            </a:r>
          </a:p>
        </p:txBody>
      </p:sp>
      <p:sp>
        <p:nvSpPr>
          <p:cNvPr id="13" name="TextBox 12"/>
          <p:cNvSpPr txBox="1"/>
          <p:nvPr/>
        </p:nvSpPr>
        <p:spPr>
          <a:xfrm>
            <a:off x="548640" y="2441448"/>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niet de NL-j! Juan = «Choean»</a:t>
            </a:r>
          </a:p>
        </p:txBody>
      </p:sp>
      <p:sp>
        <p:nvSpPr>
          <p:cNvPr id="14" name="Rounded Rectangle 13"/>
          <p:cNvSpPr/>
          <p:nvPr/>
        </p:nvSpPr>
        <p:spPr>
          <a:xfrm>
            <a:off x="4224528" y="1280160"/>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1280160"/>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8" y="1335024"/>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ll / y /ʝ/</a:t>
            </a:r>
            <a:r>
              <a:rPr sz="1150" b="1" i="0">
                <a:solidFill>
                  <a:srgbClr val="1E9E74"/>
                </a:solidFill>
                <a:latin typeface="Inter"/>
              </a:rPr>
              <a:t>   ll · y</a:t>
            </a:r>
          </a:p>
        </p:txBody>
      </p:sp>
      <p:sp>
        <p:nvSpPr>
          <p:cNvPr id="17" name="TextBox 16"/>
          <p:cNvSpPr txBox="1"/>
          <p:nvPr/>
        </p:nvSpPr>
        <p:spPr>
          <a:xfrm>
            <a:off x="4407408" y="1691640"/>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als «j» in ja, jong (yeísmo)</a:t>
            </a:r>
          </a:p>
        </p:txBody>
      </p:sp>
      <p:sp>
        <p:nvSpPr>
          <p:cNvPr id="18" name="TextBox 17"/>
          <p:cNvSpPr txBox="1"/>
          <p:nvPr/>
        </p:nvSpPr>
        <p:spPr>
          <a:xfrm>
            <a:off x="4407408" y="2148840"/>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calle · paella · yo · playa</a:t>
            </a:r>
          </a:p>
        </p:txBody>
      </p:sp>
      <p:sp>
        <p:nvSpPr>
          <p:cNvPr id="19" name="TextBox 18"/>
          <p:cNvSpPr txBox="1"/>
          <p:nvPr/>
        </p:nvSpPr>
        <p:spPr>
          <a:xfrm>
            <a:off x="4407408" y="2441448"/>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paella = «pa-e-JA», geen l-l</a:t>
            </a:r>
          </a:p>
        </p:txBody>
      </p:sp>
      <p:sp>
        <p:nvSpPr>
          <p:cNvPr id="20" name="Rounded Rectangle 19"/>
          <p:cNvSpPr/>
          <p:nvPr/>
        </p:nvSpPr>
        <p:spPr>
          <a:xfrm>
            <a:off x="8083296" y="1280160"/>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83296" y="1280160"/>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6" y="1335024"/>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ñ /ɲ/</a:t>
            </a:r>
            <a:r>
              <a:rPr sz="1150" b="1" i="0">
                <a:solidFill>
                  <a:srgbClr val="1E9E74"/>
                </a:solidFill>
                <a:latin typeface="Inter"/>
              </a:rPr>
              <a:t>   ñ</a:t>
            </a:r>
          </a:p>
        </p:txBody>
      </p:sp>
      <p:sp>
        <p:nvSpPr>
          <p:cNvPr id="23" name="TextBox 22"/>
          <p:cNvSpPr txBox="1"/>
          <p:nvPr/>
        </p:nvSpPr>
        <p:spPr>
          <a:xfrm>
            <a:off x="8266176" y="1691640"/>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als «nj» in oranje, Anja</a:t>
            </a:r>
          </a:p>
        </p:txBody>
      </p:sp>
      <p:sp>
        <p:nvSpPr>
          <p:cNvPr id="24" name="TextBox 23"/>
          <p:cNvSpPr txBox="1"/>
          <p:nvPr/>
        </p:nvSpPr>
        <p:spPr>
          <a:xfrm>
            <a:off x="8266176" y="2148840"/>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España · niño · año</a:t>
            </a:r>
          </a:p>
        </p:txBody>
      </p:sp>
      <p:sp>
        <p:nvSpPr>
          <p:cNvPr id="25" name="TextBox 24"/>
          <p:cNvSpPr txBox="1"/>
          <p:nvPr/>
        </p:nvSpPr>
        <p:spPr>
          <a:xfrm>
            <a:off x="8266176" y="2441448"/>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año ≠ ano — het streepje telt!</a:t>
            </a:r>
          </a:p>
        </p:txBody>
      </p:sp>
      <p:sp>
        <p:nvSpPr>
          <p:cNvPr id="26" name="Rounded Rectangle 25"/>
          <p:cNvSpPr/>
          <p:nvPr/>
        </p:nvSpPr>
        <p:spPr>
          <a:xfrm>
            <a:off x="365760" y="2962656"/>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2962656"/>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017520"/>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b = v /b/</a:t>
            </a:r>
            <a:r>
              <a:rPr sz="1150" b="1" i="0">
                <a:solidFill>
                  <a:srgbClr val="1E9E74"/>
                </a:solidFill>
                <a:latin typeface="Inter"/>
              </a:rPr>
              <a:t>   b · v</a:t>
            </a:r>
          </a:p>
        </p:txBody>
      </p:sp>
      <p:sp>
        <p:nvSpPr>
          <p:cNvPr id="29" name="TextBox 28"/>
          <p:cNvSpPr txBox="1"/>
          <p:nvPr/>
        </p:nvSpPr>
        <p:spPr>
          <a:xfrm>
            <a:off x="548640" y="3374136"/>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b én v klinken exact gelijk (/b/)</a:t>
            </a:r>
          </a:p>
        </p:txBody>
      </p:sp>
      <p:sp>
        <p:nvSpPr>
          <p:cNvPr id="30" name="TextBox 29"/>
          <p:cNvSpPr txBox="1"/>
          <p:nvPr/>
        </p:nvSpPr>
        <p:spPr>
          <a:xfrm>
            <a:off x="548640" y="3831336"/>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Bélgica · vino · Sevilla · vivir</a:t>
            </a:r>
          </a:p>
        </p:txBody>
      </p:sp>
      <p:sp>
        <p:nvSpPr>
          <p:cNvPr id="31" name="TextBox 30"/>
          <p:cNvSpPr txBox="1"/>
          <p:nvPr/>
        </p:nvSpPr>
        <p:spPr>
          <a:xfrm>
            <a:off x="548640" y="4123944"/>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vivir = «bi-bir»</a:t>
            </a:r>
          </a:p>
        </p:txBody>
      </p:sp>
      <p:sp>
        <p:nvSpPr>
          <p:cNvPr id="32" name="Rounded Rectangle 31"/>
          <p:cNvSpPr/>
          <p:nvPr/>
        </p:nvSpPr>
        <p:spPr>
          <a:xfrm>
            <a:off x="4224528" y="2962656"/>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24528" y="2962656"/>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07408" y="3017520"/>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h muda</a:t>
            </a:r>
            <a:r>
              <a:rPr sz="1150" b="1" i="0">
                <a:solidFill>
                  <a:srgbClr val="1E9E74"/>
                </a:solidFill>
                <a:latin typeface="Inter"/>
              </a:rPr>
              <a:t>   h</a:t>
            </a:r>
          </a:p>
        </p:txBody>
      </p:sp>
      <p:sp>
        <p:nvSpPr>
          <p:cNvPr id="35" name="TextBox 34"/>
          <p:cNvSpPr txBox="1"/>
          <p:nvPr/>
        </p:nvSpPr>
        <p:spPr>
          <a:xfrm>
            <a:off x="4407408" y="3374136"/>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de h zwijgt altijd — doe alsof ze er niet staat</a:t>
            </a:r>
          </a:p>
        </p:txBody>
      </p:sp>
      <p:sp>
        <p:nvSpPr>
          <p:cNvPr id="36" name="TextBox 35"/>
          <p:cNvSpPr txBox="1"/>
          <p:nvPr/>
        </p:nvSpPr>
        <p:spPr>
          <a:xfrm>
            <a:off x="4407408" y="3831336"/>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hola · hora · ahora · hay</a:t>
            </a:r>
          </a:p>
        </p:txBody>
      </p:sp>
      <p:sp>
        <p:nvSpPr>
          <p:cNvPr id="37" name="TextBox 36"/>
          <p:cNvSpPr txBox="1"/>
          <p:nvPr/>
        </p:nvSpPr>
        <p:spPr>
          <a:xfrm>
            <a:off x="4407408" y="4123944"/>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hola = «ola» (ch = wél eigen klank)</a:t>
            </a:r>
          </a:p>
        </p:txBody>
      </p:sp>
      <p:sp>
        <p:nvSpPr>
          <p:cNvPr id="38" name="Rounded Rectangle 37"/>
          <p:cNvSpPr/>
          <p:nvPr/>
        </p:nvSpPr>
        <p:spPr>
          <a:xfrm>
            <a:off x="8083296" y="2962656"/>
            <a:ext cx="3776472" cy="1572768"/>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83296" y="2962656"/>
            <a:ext cx="109728" cy="157276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66176" y="3017520"/>
            <a:ext cx="3502152"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qu / z /k/ /θ/</a:t>
            </a:r>
            <a:r>
              <a:rPr sz="1150" b="1" i="0">
                <a:solidFill>
                  <a:srgbClr val="1E9E74"/>
                </a:solidFill>
                <a:latin typeface="Inter"/>
              </a:rPr>
              <a:t>   qu · z · ce · ci</a:t>
            </a:r>
          </a:p>
        </p:txBody>
      </p:sp>
      <p:sp>
        <p:nvSpPr>
          <p:cNvPr id="41" name="TextBox 40"/>
          <p:cNvSpPr txBox="1"/>
          <p:nvPr/>
        </p:nvSpPr>
        <p:spPr>
          <a:xfrm>
            <a:off x="8266176" y="3374136"/>
            <a:ext cx="3502152"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050" b="0" i="0">
                <a:solidFill>
                  <a:srgbClr val="20242E"/>
                </a:solidFill>
                <a:latin typeface="Inter"/>
              </a:rPr>
              <a:t>qu = «k» (u zwijgt) · z/ce/ci = «th» (España)</a:t>
            </a:r>
          </a:p>
        </p:txBody>
      </p:sp>
      <p:sp>
        <p:nvSpPr>
          <p:cNvPr id="42" name="TextBox 41"/>
          <p:cNvSpPr txBox="1"/>
          <p:nvPr/>
        </p:nvSpPr>
        <p:spPr>
          <a:xfrm>
            <a:off x="8266176" y="3831336"/>
            <a:ext cx="3502152"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1" i="0">
                <a:solidFill>
                  <a:srgbClr val="6A6E78"/>
                </a:solidFill>
                <a:latin typeface="Inter"/>
              </a:rPr>
              <a:t>Ej.: </a:t>
            </a:r>
            <a:r>
              <a:rPr sz="1050" b="0" i="1">
                <a:solidFill>
                  <a:srgbClr val="20242E"/>
                </a:solidFill>
                <a:latin typeface="Inter"/>
              </a:rPr>
              <a:t>queso · aquí · zapato · gracias</a:t>
            </a:r>
          </a:p>
        </p:txBody>
      </p:sp>
      <p:sp>
        <p:nvSpPr>
          <p:cNvPr id="43" name="TextBox 42"/>
          <p:cNvSpPr txBox="1"/>
          <p:nvPr/>
        </p:nvSpPr>
        <p:spPr>
          <a:xfrm>
            <a:off x="8266176" y="4123944"/>
            <a:ext cx="3502152" cy="36576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000" b="1" i="0">
                <a:solidFill>
                  <a:srgbClr val="DC2626"/>
                </a:solidFill>
                <a:latin typeface="Inter"/>
              </a:rPr>
              <a:t>🔴 aquí = «a-kie», gracias met «th»</a:t>
            </a:r>
          </a:p>
        </p:txBody>
      </p:sp>
      <p:sp>
        <p:nvSpPr>
          <p:cNvPr id="44" name="Rectangle 4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6" name="TextBox 4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7" name="TextBox 4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47436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§1 · QUIZ · ESCUCHA Y DECIDE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¿Qué oyes? — klankdiscriminatie</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Je hoort één woord; kruis aan wat je hoort. Daarna spreek je beide vormen zelf in. (idee 38: uitspraakcontrast)</a:t>
            </a:r>
          </a:p>
        </p:txBody>
      </p:sp>
      <p:sp>
        <p:nvSpPr>
          <p:cNvPr id="8" name="TextBox 7"/>
          <p:cNvSpPr txBox="1"/>
          <p:nvPr/>
        </p:nvSpPr>
        <p:spPr>
          <a:xfrm>
            <a:off x="457200" y="132588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A · ¿B o V? ¿H o sin H?</a:t>
            </a:r>
          </a:p>
        </p:txBody>
      </p:sp>
      <p:sp>
        <p:nvSpPr>
          <p:cNvPr id="9" name="Rounded Rectangle 8"/>
          <p:cNvSpPr/>
          <p:nvPr/>
        </p:nvSpPr>
        <p:spPr>
          <a:xfrm>
            <a:off x="457200" y="1691640"/>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91640"/>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1</a:t>
            </a:r>
          </a:p>
        </p:txBody>
      </p:sp>
      <p:sp>
        <p:nvSpPr>
          <p:cNvPr id="11" name="TextBox 10"/>
          <p:cNvSpPr txBox="1"/>
          <p:nvPr/>
        </p:nvSpPr>
        <p:spPr>
          <a:xfrm>
            <a:off x="960120" y="1691640"/>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vaca</a:t>
            </a:r>
          </a:p>
        </p:txBody>
      </p:sp>
      <p:sp>
        <p:nvSpPr>
          <p:cNvPr id="12" name="TextBox 11"/>
          <p:cNvSpPr txBox="1"/>
          <p:nvPr/>
        </p:nvSpPr>
        <p:spPr>
          <a:xfrm>
            <a:off x="3383280" y="1691640"/>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baca</a:t>
            </a:r>
          </a:p>
        </p:txBody>
      </p:sp>
      <p:sp>
        <p:nvSpPr>
          <p:cNvPr id="13" name="Rounded Rectangle 12"/>
          <p:cNvSpPr/>
          <p:nvPr/>
        </p:nvSpPr>
        <p:spPr>
          <a:xfrm>
            <a:off x="2331720" y="1810512"/>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14" name="Rounded Rectangle 13"/>
          <p:cNvSpPr/>
          <p:nvPr/>
        </p:nvSpPr>
        <p:spPr>
          <a:xfrm>
            <a:off x="457200" y="2350008"/>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350008"/>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2</a:t>
            </a:r>
          </a:p>
        </p:txBody>
      </p:sp>
      <p:sp>
        <p:nvSpPr>
          <p:cNvPr id="16" name="TextBox 15"/>
          <p:cNvSpPr txBox="1"/>
          <p:nvPr/>
        </p:nvSpPr>
        <p:spPr>
          <a:xfrm>
            <a:off x="960120" y="2350008"/>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gente</a:t>
            </a:r>
          </a:p>
        </p:txBody>
      </p:sp>
      <p:sp>
        <p:nvSpPr>
          <p:cNvPr id="17" name="TextBox 16"/>
          <p:cNvSpPr txBox="1"/>
          <p:nvPr/>
        </p:nvSpPr>
        <p:spPr>
          <a:xfrm>
            <a:off x="3383280" y="2350008"/>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tente</a:t>
            </a:r>
          </a:p>
        </p:txBody>
      </p:sp>
      <p:sp>
        <p:nvSpPr>
          <p:cNvPr id="18" name="Rounded Rectangle 17"/>
          <p:cNvSpPr/>
          <p:nvPr/>
        </p:nvSpPr>
        <p:spPr>
          <a:xfrm>
            <a:off x="2331720" y="2468880"/>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19" name="Rounded Rectangle 18"/>
          <p:cNvSpPr/>
          <p:nvPr/>
        </p:nvSpPr>
        <p:spPr>
          <a:xfrm>
            <a:off x="457200" y="3008376"/>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008376"/>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3</a:t>
            </a:r>
          </a:p>
        </p:txBody>
      </p:sp>
      <p:sp>
        <p:nvSpPr>
          <p:cNvPr id="21" name="TextBox 20"/>
          <p:cNvSpPr txBox="1"/>
          <p:nvPr/>
        </p:nvSpPr>
        <p:spPr>
          <a:xfrm>
            <a:off x="960120" y="3008376"/>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casa</a:t>
            </a:r>
          </a:p>
        </p:txBody>
      </p:sp>
      <p:sp>
        <p:nvSpPr>
          <p:cNvPr id="22" name="TextBox 21"/>
          <p:cNvSpPr txBox="1"/>
          <p:nvPr/>
        </p:nvSpPr>
        <p:spPr>
          <a:xfrm>
            <a:off x="3383280" y="3008376"/>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caza</a:t>
            </a:r>
          </a:p>
        </p:txBody>
      </p:sp>
      <p:sp>
        <p:nvSpPr>
          <p:cNvPr id="23" name="Rounded Rectangle 22"/>
          <p:cNvSpPr/>
          <p:nvPr/>
        </p:nvSpPr>
        <p:spPr>
          <a:xfrm>
            <a:off x="2331720" y="3127248"/>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24" name="Rounded Rectangle 23"/>
          <p:cNvSpPr/>
          <p:nvPr/>
        </p:nvSpPr>
        <p:spPr>
          <a:xfrm>
            <a:off x="457200" y="3666744"/>
            <a:ext cx="548640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66744"/>
            <a:ext cx="3657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1E9E74"/>
                </a:solidFill>
                <a:latin typeface="Inter"/>
              </a:rPr>
              <a:t>4</a:t>
            </a:r>
          </a:p>
        </p:txBody>
      </p:sp>
      <p:sp>
        <p:nvSpPr>
          <p:cNvPr id="26" name="TextBox 25"/>
          <p:cNvSpPr txBox="1"/>
          <p:nvPr/>
        </p:nvSpPr>
        <p:spPr>
          <a:xfrm>
            <a:off x="960120" y="3666744"/>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hola</a:t>
            </a:r>
          </a:p>
        </p:txBody>
      </p:sp>
      <p:sp>
        <p:nvSpPr>
          <p:cNvPr id="27" name="TextBox 26"/>
          <p:cNvSpPr txBox="1"/>
          <p:nvPr/>
        </p:nvSpPr>
        <p:spPr>
          <a:xfrm>
            <a:off x="3383280" y="3666744"/>
            <a:ext cx="22860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  ola</a:t>
            </a:r>
          </a:p>
        </p:txBody>
      </p:sp>
      <p:sp>
        <p:nvSpPr>
          <p:cNvPr id="28" name="Rounded Rectangle 27"/>
          <p:cNvSpPr/>
          <p:nvPr/>
        </p:nvSpPr>
        <p:spPr>
          <a:xfrm>
            <a:off x="2331720" y="3785616"/>
            <a:ext cx="329184"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t>
            </a:r>
          </a:p>
        </p:txBody>
      </p:sp>
      <p:sp>
        <p:nvSpPr>
          <p:cNvPr id="29" name="TextBox 28"/>
          <p:cNvSpPr txBox="1"/>
          <p:nvPr/>
        </p:nvSpPr>
        <p:spPr>
          <a:xfrm>
            <a:off x="6309360" y="1325880"/>
            <a:ext cx="54864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B · ¿</a:t>
            </a:r>
            <a:r>
              <a:rPr sz="1400" b="1" i="0">
                <a:solidFill>
                  <a:srgbClr val="157355"/>
                </a:solidFill>
                <a:latin typeface="Bricolage Grotesque"/>
              </a:rPr>
              <a:t>pero</a:t>
            </a:r>
            <a:r>
              <a:rPr sz="1400" b="1" i="0">
                <a:solidFill>
                  <a:srgbClr val="157355"/>
                </a:solidFill>
                <a:latin typeface="Bricolage Grotesque"/>
              </a:rPr>
              <a:t> o </a:t>
            </a:r>
            <a:r>
              <a:rPr sz="1400" b="1" i="0">
                <a:solidFill>
                  <a:srgbClr val="157355"/>
                </a:solidFill>
                <a:latin typeface="Bricolage Grotesque"/>
              </a:rPr>
              <a:t>perro</a:t>
            </a:r>
            <a:r>
              <a:rPr sz="1400" b="1" i="0">
                <a:solidFill>
                  <a:srgbClr val="157355"/>
                </a:solidFill>
                <a:latin typeface="Bricolage Grotesque"/>
              </a:rPr>
              <a:t>? — één tik ↔ rol</a:t>
            </a:r>
          </a:p>
        </p:txBody>
      </p:sp>
      <p:sp>
        <p:nvSpPr>
          <p:cNvPr id="30" name="Rounded Rectangle 29"/>
          <p:cNvSpPr/>
          <p:nvPr/>
        </p:nvSpPr>
        <p:spPr>
          <a:xfrm>
            <a:off x="6309360" y="1691640"/>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9088" y="1691640"/>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pero</a:t>
            </a:r>
          </a:p>
        </p:txBody>
      </p:sp>
      <p:sp>
        <p:nvSpPr>
          <p:cNvPr id="32" name="TextBox 31"/>
          <p:cNvSpPr txBox="1"/>
          <p:nvPr/>
        </p:nvSpPr>
        <p:spPr>
          <a:xfrm>
            <a:off x="7955279" y="1691640"/>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perro</a:t>
            </a:r>
          </a:p>
        </p:txBody>
      </p:sp>
      <p:sp>
        <p:nvSpPr>
          <p:cNvPr id="33" name="TextBox 32"/>
          <p:cNvSpPr txBox="1"/>
          <p:nvPr/>
        </p:nvSpPr>
        <p:spPr>
          <a:xfrm>
            <a:off x="9601200" y="1691640"/>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maar / hond 🐶</a:t>
            </a:r>
          </a:p>
        </p:txBody>
      </p:sp>
      <p:sp>
        <p:nvSpPr>
          <p:cNvPr id="34" name="Rounded Rectangle 33"/>
          <p:cNvSpPr/>
          <p:nvPr/>
        </p:nvSpPr>
        <p:spPr>
          <a:xfrm>
            <a:off x="6309360" y="2350008"/>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19088" y="2350008"/>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caro</a:t>
            </a:r>
          </a:p>
        </p:txBody>
      </p:sp>
      <p:sp>
        <p:nvSpPr>
          <p:cNvPr id="36" name="TextBox 35"/>
          <p:cNvSpPr txBox="1"/>
          <p:nvPr/>
        </p:nvSpPr>
        <p:spPr>
          <a:xfrm>
            <a:off x="7955279" y="2350008"/>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carro</a:t>
            </a:r>
          </a:p>
        </p:txBody>
      </p:sp>
      <p:sp>
        <p:nvSpPr>
          <p:cNvPr id="37" name="TextBox 36"/>
          <p:cNvSpPr txBox="1"/>
          <p:nvPr/>
        </p:nvSpPr>
        <p:spPr>
          <a:xfrm>
            <a:off x="9601200" y="2350008"/>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duur / kar 🚗</a:t>
            </a:r>
          </a:p>
        </p:txBody>
      </p:sp>
      <p:sp>
        <p:nvSpPr>
          <p:cNvPr id="38" name="Rounded Rectangle 37"/>
          <p:cNvSpPr/>
          <p:nvPr/>
        </p:nvSpPr>
        <p:spPr>
          <a:xfrm>
            <a:off x="6309360" y="3008376"/>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9088" y="3008376"/>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coro</a:t>
            </a:r>
          </a:p>
        </p:txBody>
      </p:sp>
      <p:sp>
        <p:nvSpPr>
          <p:cNvPr id="40" name="TextBox 39"/>
          <p:cNvSpPr txBox="1"/>
          <p:nvPr/>
        </p:nvSpPr>
        <p:spPr>
          <a:xfrm>
            <a:off x="7955279" y="3008376"/>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corro</a:t>
            </a:r>
          </a:p>
        </p:txBody>
      </p:sp>
      <p:sp>
        <p:nvSpPr>
          <p:cNvPr id="41" name="TextBox 40"/>
          <p:cNvSpPr txBox="1"/>
          <p:nvPr/>
        </p:nvSpPr>
        <p:spPr>
          <a:xfrm>
            <a:off x="9601200" y="3008376"/>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koor / ik ren 🏃</a:t>
            </a:r>
          </a:p>
        </p:txBody>
      </p:sp>
      <p:sp>
        <p:nvSpPr>
          <p:cNvPr id="42" name="Rounded Rectangle 41"/>
          <p:cNvSpPr/>
          <p:nvPr/>
        </p:nvSpPr>
        <p:spPr>
          <a:xfrm>
            <a:off x="6309360" y="3666744"/>
            <a:ext cx="5394960" cy="566928"/>
          </a:xfrm>
          <a:prstGeom prst="roundRect">
            <a:avLst>
              <a:gd name="adj" fmla="val 55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19088" y="3666744"/>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0" i="0">
                <a:solidFill>
                  <a:srgbClr val="20242E"/>
                </a:solidFill>
                <a:latin typeface="Inter"/>
              </a:rPr>
              <a:t>pera</a:t>
            </a:r>
          </a:p>
        </p:txBody>
      </p:sp>
      <p:sp>
        <p:nvSpPr>
          <p:cNvPr id="44" name="TextBox 43"/>
          <p:cNvSpPr txBox="1"/>
          <p:nvPr/>
        </p:nvSpPr>
        <p:spPr>
          <a:xfrm>
            <a:off x="7955279" y="3666744"/>
            <a:ext cx="182880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20242E"/>
                </a:solidFill>
                <a:latin typeface="Inter"/>
              </a:rPr>
              <a:t>perra</a:t>
            </a:r>
          </a:p>
        </p:txBody>
      </p:sp>
      <p:sp>
        <p:nvSpPr>
          <p:cNvPr id="45" name="TextBox 44"/>
          <p:cNvSpPr txBox="1"/>
          <p:nvPr/>
        </p:nvSpPr>
        <p:spPr>
          <a:xfrm>
            <a:off x="9601200" y="3666744"/>
            <a:ext cx="201168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50" b="0" i="1">
                <a:solidFill>
                  <a:srgbClr val="6A6E78"/>
                </a:solidFill>
                <a:latin typeface="Inter"/>
              </a:rPr>
              <a:t>peer / teef 🍐</a:t>
            </a:r>
          </a:p>
        </p:txBody>
      </p:sp>
      <p:sp>
        <p:nvSpPr>
          <p:cNvPr id="46" name="Rounded Rectangle 45"/>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7" name="Rounded Rectangle 46"/>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8" name="Rounded Rectangle 47">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9" name="TextBox 48"/>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50" name="Rounded Rectangle 49"/>
          <p:cNvSpPr/>
          <p:nvPr/>
        </p:nvSpPr>
        <p:spPr>
          <a:xfrm>
            <a:off x="457200" y="4434840"/>
            <a:ext cx="11247120" cy="9601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A · «geen fout, dat is Spaans!»  </a:t>
            </a:r>
            <a:r>
              <a:rPr sz="1200" b="0" i="0">
                <a:solidFill>
                  <a:srgbClr val="157355"/>
                </a:solidFill>
                <a:latin typeface="Inter"/>
              </a:rPr>
              <a:t>vaca=baca en hola=ola klinken IDENTIEK</a:t>
            </a:r>
            <a:r>
              <a:rPr sz="1200" b="0" i="0">
                <a:solidFill>
                  <a:srgbClr val="157355"/>
                </a:solidFill>
                <a:latin typeface="Inter"/>
              </a:rPr>
              <a:t> (b=v, h muda). </a:t>
            </a:r>
            <a:r>
              <a:rPr sz="1200" b="0" i="0">
                <a:solidFill>
                  <a:srgbClr val="157355"/>
                </a:solidFill>
                <a:latin typeface="Inter"/>
              </a:rPr>
              <a:t>gente≠tente (jota-klank), casa≠caza (s ↔ th).</a:t>
            </a:r>
          </a:p>
          <a:p>
            <a:pPr>
              <a:lnSpc>
                <a:spcPct val="102000"/>
              </a:lnSpc>
              <a:spcBef>
                <a:spcPts val="0"/>
              </a:spcBef>
              <a:spcAft>
                <a:spcPts val="300"/>
              </a:spcAft>
            </a:pPr>
            <a:r>
              <a:rPr sz="1200" b="1" i="0">
                <a:solidFill>
                  <a:srgbClr val="157355"/>
                </a:solidFill>
                <a:latin typeface="Inter"/>
              </a:rPr>
              <a:t>B · r/rr:  </a:t>
            </a:r>
            <a:r>
              <a:rPr sz="1200" b="1" i="0">
                <a:solidFill>
                  <a:srgbClr val="1E9E74"/>
                </a:solidFill>
                <a:latin typeface="Inter"/>
              </a:rPr>
              <a:t>één tik</a:t>
            </a:r>
            <a:r>
              <a:rPr sz="1200" b="0" i="0">
                <a:solidFill>
                  <a:srgbClr val="157355"/>
                </a:solidFill>
                <a:latin typeface="Inter"/>
              </a:rPr>
              <a:t> tussen klinkers (pero) ↔ </a:t>
            </a:r>
            <a:r>
              <a:rPr sz="1200" b="1" i="0">
                <a:solidFill>
                  <a:srgbClr val="1E9E74"/>
                </a:solidFill>
                <a:latin typeface="Inter"/>
              </a:rPr>
              <a:t>rol</a:t>
            </a:r>
            <a:r>
              <a:rPr sz="1200" b="0" i="0">
                <a:solidFill>
                  <a:srgbClr val="157355"/>
                </a:solidFill>
                <a:latin typeface="Inter"/>
              </a:rPr>
              <a:t> bij rr, woordbegin en na n/l/s (perro, Roma, Enrique). Betekenis verandert!</a:t>
            </a:r>
          </a:p>
        </p:txBody>
      </p:sp>
      <p:sp>
        <p:nvSpPr>
          <p:cNvPr id="51" name="Rounded Rectangle 50"/>
          <p:cNvSpPr/>
          <p:nvPr/>
        </p:nvSpPr>
        <p:spPr>
          <a:xfrm>
            <a:off x="594360" y="4306824"/>
            <a:ext cx="2306116"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uitleg · docent</a:t>
            </a:r>
          </a:p>
        </p:txBody>
      </p:sp>
      <p:sp>
        <p:nvSpPr>
          <p:cNvPr id="52" name="Rectangle 5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54" name="TextBox 5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55" name="TextBox 5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5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1"/>
                                        </p:tgtEl>
                                        <p:attrNameLst>
                                          <p:attrName>style.visibility</p:attrName>
                                        </p:attrNameLst>
                                      </p:cBhvr>
                                      <p:to>
                                        <p:strVal val="visible"/>
                                      </p:to>
                                    </p:set>
                                    <p:animEffect transition="in" filter="fade">
                                      <p:cBhvr>
                                        <p:cTn id="32"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TALLER DE LENGUA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2</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acento — «la regla del sombrero»</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Welke lettergreep zeg je harder (sílaba tónica)? En wanneer schrijf je een hoedje (´)?</a:t>
            </a:r>
          </a:p>
        </p:txBody>
      </p:sp>
      <p:sp>
        <p:nvSpPr>
          <p:cNvPr id="9" name="TextBox 8"/>
          <p:cNvSpPr txBox="1"/>
          <p:nvPr/>
        </p:nvSpPr>
        <p:spPr>
          <a:xfrm>
            <a:off x="457200" y="1280160"/>
            <a:ext cx="1124712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Inter"/>
              </a:rPr>
              <a:t>① Observeren — luister &amp; klap 👏.  </a:t>
            </a:r>
            <a:r>
              <a:rPr sz="1200" b="0" i="0">
                <a:solidFill>
                  <a:srgbClr val="20242E"/>
                </a:solidFill>
                <a:latin typeface="Inter"/>
              </a:rPr>
              <a:t>Elk woord heeft één 'sterke' lettergreep. Klap ze aan.</a:t>
            </a:r>
          </a:p>
        </p:txBody>
      </p:sp>
      <p:sp>
        <p:nvSpPr>
          <p:cNvPr id="10" name="TextBox 9"/>
          <p:cNvSpPr txBox="1"/>
          <p:nvPr/>
        </p:nvSpPr>
        <p:spPr>
          <a:xfrm>
            <a:off x="457200" y="1737360"/>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café</a:t>
            </a:r>
          </a:p>
        </p:txBody>
      </p:sp>
      <p:sp>
        <p:nvSpPr>
          <p:cNvPr id="11" name="Rounded Rectangle 10"/>
          <p:cNvSpPr/>
          <p:nvPr/>
        </p:nvSpPr>
        <p:spPr>
          <a:xfrm>
            <a:off x="1828800" y="1865376"/>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ca</a:t>
            </a:r>
          </a:p>
        </p:txBody>
      </p:sp>
      <p:sp>
        <p:nvSpPr>
          <p:cNvPr id="12" name="Rounded Rectangle 11"/>
          <p:cNvSpPr/>
          <p:nvPr/>
        </p:nvSpPr>
        <p:spPr>
          <a:xfrm>
            <a:off x="2642616" y="1792224"/>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FÉ</a:t>
            </a:r>
          </a:p>
        </p:txBody>
      </p:sp>
      <p:sp>
        <p:nvSpPr>
          <p:cNvPr id="13" name="TextBox 12"/>
          <p:cNvSpPr txBox="1"/>
          <p:nvPr/>
        </p:nvSpPr>
        <p:spPr>
          <a:xfrm>
            <a:off x="2642616" y="1627632"/>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14" name="TextBox 13"/>
          <p:cNvSpPr txBox="1"/>
          <p:nvPr/>
        </p:nvSpPr>
        <p:spPr>
          <a:xfrm>
            <a:off x="4480560" y="1737360"/>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(laatste)</a:t>
            </a:r>
          </a:p>
        </p:txBody>
      </p:sp>
      <p:sp>
        <p:nvSpPr>
          <p:cNvPr id="15" name="TextBox 14"/>
          <p:cNvSpPr txBox="1"/>
          <p:nvPr/>
        </p:nvSpPr>
        <p:spPr>
          <a:xfrm>
            <a:off x="6172200" y="1737360"/>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casa</a:t>
            </a:r>
          </a:p>
        </p:txBody>
      </p:sp>
      <p:sp>
        <p:nvSpPr>
          <p:cNvPr id="16" name="Rounded Rectangle 15"/>
          <p:cNvSpPr/>
          <p:nvPr/>
        </p:nvSpPr>
        <p:spPr>
          <a:xfrm>
            <a:off x="7543800" y="1792224"/>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CA</a:t>
            </a:r>
          </a:p>
        </p:txBody>
      </p:sp>
      <p:sp>
        <p:nvSpPr>
          <p:cNvPr id="17" name="TextBox 16"/>
          <p:cNvSpPr txBox="1"/>
          <p:nvPr/>
        </p:nvSpPr>
        <p:spPr>
          <a:xfrm>
            <a:off x="7543800" y="1627632"/>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18" name="Rounded Rectangle 17"/>
          <p:cNvSpPr/>
          <p:nvPr/>
        </p:nvSpPr>
        <p:spPr>
          <a:xfrm>
            <a:off x="8357616" y="1865376"/>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sa</a:t>
            </a:r>
          </a:p>
        </p:txBody>
      </p:sp>
      <p:sp>
        <p:nvSpPr>
          <p:cNvPr id="19" name="TextBox 18"/>
          <p:cNvSpPr txBox="1"/>
          <p:nvPr/>
        </p:nvSpPr>
        <p:spPr>
          <a:xfrm>
            <a:off x="10195560" y="1737360"/>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(voorlaatste)</a:t>
            </a:r>
          </a:p>
        </p:txBody>
      </p:sp>
      <p:sp>
        <p:nvSpPr>
          <p:cNvPr id="20" name="TextBox 19"/>
          <p:cNvSpPr txBox="1"/>
          <p:nvPr/>
        </p:nvSpPr>
        <p:spPr>
          <a:xfrm>
            <a:off x="457200" y="2395728"/>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México</a:t>
            </a:r>
          </a:p>
        </p:txBody>
      </p:sp>
      <p:sp>
        <p:nvSpPr>
          <p:cNvPr id="21" name="Rounded Rectangle 20"/>
          <p:cNvSpPr/>
          <p:nvPr/>
        </p:nvSpPr>
        <p:spPr>
          <a:xfrm>
            <a:off x="1828800" y="2450592"/>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MÉ</a:t>
            </a:r>
          </a:p>
        </p:txBody>
      </p:sp>
      <p:sp>
        <p:nvSpPr>
          <p:cNvPr id="22" name="TextBox 21"/>
          <p:cNvSpPr txBox="1"/>
          <p:nvPr/>
        </p:nvSpPr>
        <p:spPr>
          <a:xfrm>
            <a:off x="1828800" y="2286000"/>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23" name="Rounded Rectangle 22"/>
          <p:cNvSpPr/>
          <p:nvPr/>
        </p:nvSpPr>
        <p:spPr>
          <a:xfrm>
            <a:off x="2642616"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xi</a:t>
            </a:r>
          </a:p>
        </p:txBody>
      </p:sp>
      <p:sp>
        <p:nvSpPr>
          <p:cNvPr id="24" name="Rounded Rectangle 23"/>
          <p:cNvSpPr/>
          <p:nvPr/>
        </p:nvSpPr>
        <p:spPr>
          <a:xfrm>
            <a:off x="3456432"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co</a:t>
            </a:r>
          </a:p>
        </p:txBody>
      </p:sp>
      <p:sp>
        <p:nvSpPr>
          <p:cNvPr id="25" name="TextBox 24"/>
          <p:cNvSpPr txBox="1"/>
          <p:nvPr/>
        </p:nvSpPr>
        <p:spPr>
          <a:xfrm>
            <a:off x="4480560" y="2395728"/>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(3e van achteren)</a:t>
            </a:r>
          </a:p>
        </p:txBody>
      </p:sp>
      <p:sp>
        <p:nvSpPr>
          <p:cNvPr id="26" name="TextBox 25"/>
          <p:cNvSpPr txBox="1"/>
          <p:nvPr/>
        </p:nvSpPr>
        <p:spPr>
          <a:xfrm>
            <a:off x="6172200" y="2395728"/>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teléfono</a:t>
            </a:r>
          </a:p>
        </p:txBody>
      </p:sp>
      <p:sp>
        <p:nvSpPr>
          <p:cNvPr id="27" name="Rounded Rectangle 26"/>
          <p:cNvSpPr/>
          <p:nvPr/>
        </p:nvSpPr>
        <p:spPr>
          <a:xfrm>
            <a:off x="7543800"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te</a:t>
            </a:r>
          </a:p>
        </p:txBody>
      </p:sp>
      <p:sp>
        <p:nvSpPr>
          <p:cNvPr id="28" name="Rounded Rectangle 27"/>
          <p:cNvSpPr/>
          <p:nvPr/>
        </p:nvSpPr>
        <p:spPr>
          <a:xfrm>
            <a:off x="8357616" y="2450592"/>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LÉ</a:t>
            </a:r>
          </a:p>
        </p:txBody>
      </p:sp>
      <p:sp>
        <p:nvSpPr>
          <p:cNvPr id="29" name="TextBox 28"/>
          <p:cNvSpPr txBox="1"/>
          <p:nvPr/>
        </p:nvSpPr>
        <p:spPr>
          <a:xfrm>
            <a:off x="8357616" y="2286000"/>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30" name="Rounded Rectangle 29"/>
          <p:cNvSpPr/>
          <p:nvPr/>
        </p:nvSpPr>
        <p:spPr>
          <a:xfrm>
            <a:off x="9171432"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fo</a:t>
            </a:r>
          </a:p>
        </p:txBody>
      </p:sp>
      <p:sp>
        <p:nvSpPr>
          <p:cNvPr id="31" name="Rounded Rectangle 30"/>
          <p:cNvSpPr/>
          <p:nvPr/>
        </p:nvSpPr>
        <p:spPr>
          <a:xfrm>
            <a:off x="9985248" y="2523744"/>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no</a:t>
            </a:r>
          </a:p>
        </p:txBody>
      </p:sp>
      <p:sp>
        <p:nvSpPr>
          <p:cNvPr id="32" name="TextBox 31"/>
          <p:cNvSpPr txBox="1"/>
          <p:nvPr/>
        </p:nvSpPr>
        <p:spPr>
          <a:xfrm>
            <a:off x="10195560" y="2395728"/>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(3e van achteren)</a:t>
            </a:r>
          </a:p>
        </p:txBody>
      </p:sp>
      <p:sp>
        <p:nvSpPr>
          <p:cNvPr id="33" name="TextBox 32"/>
          <p:cNvSpPr txBox="1"/>
          <p:nvPr/>
        </p:nvSpPr>
        <p:spPr>
          <a:xfrm>
            <a:off x="457200" y="3054096"/>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Perú</a:t>
            </a:r>
          </a:p>
        </p:txBody>
      </p:sp>
      <p:sp>
        <p:nvSpPr>
          <p:cNvPr id="34" name="Rounded Rectangle 33"/>
          <p:cNvSpPr/>
          <p:nvPr/>
        </p:nvSpPr>
        <p:spPr>
          <a:xfrm>
            <a:off x="1828800" y="3182112"/>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pe</a:t>
            </a:r>
          </a:p>
        </p:txBody>
      </p:sp>
      <p:sp>
        <p:nvSpPr>
          <p:cNvPr id="35" name="Rounded Rectangle 34"/>
          <p:cNvSpPr/>
          <p:nvPr/>
        </p:nvSpPr>
        <p:spPr>
          <a:xfrm>
            <a:off x="2642616" y="3108960"/>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RÚ</a:t>
            </a:r>
          </a:p>
        </p:txBody>
      </p:sp>
      <p:sp>
        <p:nvSpPr>
          <p:cNvPr id="36" name="TextBox 35"/>
          <p:cNvSpPr txBox="1"/>
          <p:nvPr/>
        </p:nvSpPr>
        <p:spPr>
          <a:xfrm>
            <a:off x="2642616" y="2944368"/>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37" name="TextBox 36"/>
          <p:cNvSpPr txBox="1"/>
          <p:nvPr/>
        </p:nvSpPr>
        <p:spPr>
          <a:xfrm>
            <a:off x="4480560" y="3054096"/>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(laatste)</a:t>
            </a:r>
          </a:p>
        </p:txBody>
      </p:sp>
      <p:sp>
        <p:nvSpPr>
          <p:cNvPr id="38" name="TextBox 37"/>
          <p:cNvSpPr txBox="1"/>
          <p:nvPr/>
        </p:nvSpPr>
        <p:spPr>
          <a:xfrm>
            <a:off x="6172200" y="3054096"/>
            <a:ext cx="137160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1" i="0">
                <a:solidFill>
                  <a:srgbClr val="20242E"/>
                </a:solidFill>
                <a:latin typeface="Bricolage Grotesque"/>
              </a:rPr>
              <a:t>número</a:t>
            </a:r>
          </a:p>
        </p:txBody>
      </p:sp>
      <p:sp>
        <p:nvSpPr>
          <p:cNvPr id="39" name="Rounded Rectangle 38"/>
          <p:cNvSpPr/>
          <p:nvPr/>
        </p:nvSpPr>
        <p:spPr>
          <a:xfrm>
            <a:off x="7543800" y="3108960"/>
            <a:ext cx="758952" cy="457200"/>
          </a:xfrm>
          <a:prstGeom prst="roundRect">
            <a:avLst>
              <a:gd name="adj" fmla="val 25000"/>
            </a:avLst>
          </a:prstGeom>
          <a:solidFill>
            <a:srgbClr val="1E9E74"/>
          </a:solidFill>
          <a:ln w="1524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FFFFFF"/>
                </a:solidFill>
                <a:latin typeface="Inter"/>
              </a:rPr>
              <a:t>NÚ</a:t>
            </a:r>
          </a:p>
        </p:txBody>
      </p:sp>
      <p:sp>
        <p:nvSpPr>
          <p:cNvPr id="40" name="TextBox 39"/>
          <p:cNvSpPr txBox="1"/>
          <p:nvPr/>
        </p:nvSpPr>
        <p:spPr>
          <a:xfrm>
            <a:off x="7543800" y="2944368"/>
            <a:ext cx="758952" cy="22860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a:t>
            </a:r>
          </a:p>
        </p:txBody>
      </p:sp>
      <p:sp>
        <p:nvSpPr>
          <p:cNvPr id="41" name="Rounded Rectangle 40"/>
          <p:cNvSpPr/>
          <p:nvPr/>
        </p:nvSpPr>
        <p:spPr>
          <a:xfrm>
            <a:off x="8357616" y="3182112"/>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me</a:t>
            </a:r>
          </a:p>
        </p:txBody>
      </p:sp>
      <p:sp>
        <p:nvSpPr>
          <p:cNvPr id="42" name="Rounded Rectangle 41"/>
          <p:cNvSpPr/>
          <p:nvPr/>
        </p:nvSpPr>
        <p:spPr>
          <a:xfrm>
            <a:off x="9171432" y="3182112"/>
            <a:ext cx="758952" cy="310896"/>
          </a:xfrm>
          <a:prstGeom prst="roundRect">
            <a:avLst>
              <a:gd name="adj" fmla="val 25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50" b="0">
                <a:solidFill>
                  <a:srgbClr val="157355"/>
                </a:solidFill>
                <a:latin typeface="Inter"/>
              </a:rPr>
              <a:t>ro</a:t>
            </a:r>
          </a:p>
        </p:txBody>
      </p:sp>
      <p:sp>
        <p:nvSpPr>
          <p:cNvPr id="43" name="TextBox 42"/>
          <p:cNvSpPr txBox="1"/>
          <p:nvPr/>
        </p:nvSpPr>
        <p:spPr>
          <a:xfrm>
            <a:off x="10195560" y="3054096"/>
            <a:ext cx="1554480" cy="65836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000" b="0" i="1">
                <a:solidFill>
                  <a:srgbClr val="6A6E78"/>
                </a:solidFill>
                <a:latin typeface="Inter"/>
              </a:rPr>
              <a:t>(3e van achteren)</a:t>
            </a:r>
          </a:p>
        </p:txBody>
      </p:sp>
      <p:sp>
        <p:nvSpPr>
          <p:cNvPr id="44" name="Rounded Rectangle 43"/>
          <p:cNvSpPr/>
          <p:nvPr/>
        </p:nvSpPr>
        <p:spPr>
          <a:xfrm>
            <a:off x="457200" y="4160520"/>
            <a:ext cx="11247120" cy="12344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Regla 1 · </a:t>
            </a:r>
            <a:r>
              <a:rPr sz="1200" b="0" i="0">
                <a:solidFill>
                  <a:srgbClr val="157355"/>
                </a:solidFill>
                <a:latin typeface="Inter"/>
              </a:rPr>
              <a:t>Elk woord heeft </a:t>
            </a:r>
            <a:r>
              <a:rPr sz="1200" b="1" i="0">
                <a:solidFill>
                  <a:srgbClr val="1E9E74"/>
                </a:solidFill>
                <a:latin typeface="Inter"/>
              </a:rPr>
              <a:t>één sílaba tónica</a:t>
            </a:r>
            <a:r>
              <a:rPr sz="1200" b="0" i="0">
                <a:solidFill>
                  <a:srgbClr val="157355"/>
                </a:solidFill>
                <a:latin typeface="Inter"/>
              </a:rPr>
              <a:t> — die </a:t>
            </a:r>
            <a:r>
              <a:rPr sz="1200" b="1" i="0">
                <a:solidFill>
                  <a:srgbClr val="1E9E74"/>
                </a:solidFill>
                <a:latin typeface="Inter"/>
              </a:rPr>
              <a:t>hoor</a:t>
            </a:r>
            <a:r>
              <a:rPr sz="1200" b="0" i="0">
                <a:solidFill>
                  <a:srgbClr val="157355"/>
                </a:solidFill>
                <a:latin typeface="Inter"/>
              </a:rPr>
              <a:t> je altijd; het streepje (´) </a:t>
            </a:r>
            <a:r>
              <a:rPr sz="1200" b="1" i="0">
                <a:solidFill>
                  <a:srgbClr val="1E9E74"/>
                </a:solidFill>
                <a:latin typeface="Inter"/>
              </a:rPr>
              <a:t>schrijf</a:t>
            </a:r>
            <a:r>
              <a:rPr sz="1200" b="0" i="0">
                <a:solidFill>
                  <a:srgbClr val="157355"/>
                </a:solidFill>
                <a:latin typeface="Inter"/>
              </a:rPr>
              <a:t> je maar soms.</a:t>
            </a:r>
          </a:p>
          <a:p>
            <a:pPr>
              <a:lnSpc>
                <a:spcPct val="102000"/>
              </a:lnSpc>
              <a:spcBef>
                <a:spcPts val="0"/>
              </a:spcBef>
              <a:spcAft>
                <a:spcPts val="300"/>
              </a:spcAft>
            </a:pPr>
            <a:r>
              <a:rPr sz="1200" b="1" i="0">
                <a:solidFill>
                  <a:srgbClr val="DC2626"/>
                </a:solidFill>
                <a:latin typeface="Inter"/>
              </a:rPr>
              <a:t>🔴 Kernvalstrik: </a:t>
            </a:r>
            <a:r>
              <a:rPr sz="1200" b="1" i="0">
                <a:solidFill>
                  <a:srgbClr val="DC2626"/>
                </a:solidFill>
                <a:latin typeface="Inter"/>
              </a:rPr>
              <a:t>klemtoon ≠ tilde</a:t>
            </a:r>
            <a:r>
              <a:rPr sz="1200" b="0" i="0">
                <a:solidFill>
                  <a:srgbClr val="157355"/>
                </a:solidFill>
                <a:latin typeface="Inter"/>
              </a:rPr>
              <a:t>.  Bij casa hoor je de klap op 'ca', maar er staat géén hoedje.</a:t>
            </a:r>
          </a:p>
          <a:p>
            <a:pPr>
              <a:lnSpc>
                <a:spcPct val="102000"/>
              </a:lnSpc>
              <a:spcBef>
                <a:spcPts val="0"/>
              </a:spcBef>
              <a:spcAft>
                <a:spcPts val="300"/>
              </a:spcAft>
            </a:pPr>
            <a:r>
              <a:rPr sz="1200" b="1" i="0">
                <a:solidFill>
                  <a:srgbClr val="DC2626"/>
                </a:solidFill>
                <a:latin typeface="Inter"/>
              </a:rPr>
              <a:t>🔴 NL-valstrik: </a:t>
            </a:r>
            <a:r>
              <a:rPr sz="1200" b="0" i="0">
                <a:solidFill>
                  <a:srgbClr val="157355"/>
                </a:solidFill>
                <a:latin typeface="Inter"/>
              </a:rPr>
              <a:t>leg je Nederlandse klemtoon af — «pe-RÚ» (niet PE-ru), «es-pa-ÑOL» (niet ES-panjol).</a:t>
            </a:r>
          </a:p>
        </p:txBody>
      </p:sp>
      <p:sp>
        <p:nvSpPr>
          <p:cNvPr id="45" name="Rounded Rectangle 44"/>
          <p:cNvSpPr/>
          <p:nvPr/>
        </p:nvSpPr>
        <p:spPr>
          <a:xfrm>
            <a:off x="594360" y="4032504"/>
            <a:ext cx="2221991"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OBSERVAR → REGLA · docent</a:t>
            </a:r>
          </a:p>
        </p:txBody>
      </p:sp>
      <p:sp>
        <p:nvSpPr>
          <p:cNvPr id="46" name="Rectangle 4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8" name="TextBox 4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9" name="TextBox 4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0611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LA REGLA DEL SOMBRERO</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Tres familias · ¿cuándo la tilde?</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Drie families naar de plaats van de klap — en dé regel voor het hoedje: de magische eindletters -n, -s, klinker.</a:t>
            </a:r>
          </a:p>
        </p:txBody>
      </p:sp>
      <p:sp>
        <p:nvSpPr>
          <p:cNvPr id="8" name="Rounded Rectangle 7"/>
          <p:cNvSpPr/>
          <p:nvPr/>
        </p:nvSpPr>
        <p:spPr>
          <a:xfrm>
            <a:off x="457200" y="1280160"/>
            <a:ext cx="3657600" cy="1600200"/>
          </a:xfrm>
          <a:prstGeom prst="roundRect">
            <a:avLst>
              <a:gd name="adj" fmla="val 5500"/>
            </a:avLst>
          </a:prstGeom>
          <a:solidFill>
            <a:srgbClr val="FFFFFF"/>
          </a:solidFill>
          <a:ln w="20320">
            <a:solidFill>
              <a:srgbClr val="E07A5F"/>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280160"/>
            <a:ext cx="3657600" cy="420624"/>
          </a:xfrm>
          <a:prstGeom prst="rect">
            <a:avLst/>
          </a:prstGeom>
          <a:solidFill>
            <a:srgbClr val="E07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298448"/>
            <a:ext cx="3657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600" b="1" i="0">
                <a:solidFill>
                  <a:srgbClr val="FFFFFF"/>
                </a:solidFill>
                <a:latin typeface="Bricolage Grotesque"/>
              </a:rPr>
              <a:t>agudas</a:t>
            </a:r>
          </a:p>
        </p:txBody>
      </p:sp>
      <p:sp>
        <p:nvSpPr>
          <p:cNvPr id="11" name="TextBox 10"/>
          <p:cNvSpPr txBox="1"/>
          <p:nvPr/>
        </p:nvSpPr>
        <p:spPr>
          <a:xfrm>
            <a:off x="594360" y="1773936"/>
            <a:ext cx="338328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klap op de </a:t>
            </a:r>
            <a:r>
              <a:rPr sz="1100" b="1" i="0">
                <a:solidFill>
                  <a:srgbClr val="E07A5F"/>
                </a:solidFill>
                <a:latin typeface="Inter"/>
              </a:rPr>
              <a:t>laatste lettergreep</a:t>
            </a:r>
          </a:p>
        </p:txBody>
      </p:sp>
      <p:sp>
        <p:nvSpPr>
          <p:cNvPr id="12" name="TextBox 11"/>
          <p:cNvSpPr txBox="1"/>
          <p:nvPr/>
        </p:nvSpPr>
        <p:spPr>
          <a:xfrm>
            <a:off x="594360" y="2148840"/>
            <a:ext cx="3383280" cy="640080"/>
          </a:xfrm>
          <a:prstGeom prst="rect">
            <a:avLst/>
          </a:prstGeom>
          <a:noFill/>
        </p:spPr>
        <p:txBody>
          <a:bodyPr wrap="square" anchor="t" lIns="38100" rIns="38100" tIns="25400" bIns="25400">
            <a:spAutoFit/>
          </a:bodyPr>
          <a:lstStyle/>
          <a:p>
            <a:pPr algn="ctr">
              <a:lnSpc>
                <a:spcPct val="114000"/>
              </a:lnSpc>
              <a:spcBef>
                <a:spcPts val="0"/>
              </a:spcBef>
              <a:spcAft>
                <a:spcPts val="200"/>
              </a:spcAft>
            </a:pPr>
            <a:r>
              <a:rPr sz="1100" b="0" i="1">
                <a:solidFill>
                  <a:srgbClr val="20242E"/>
                </a:solidFill>
                <a:latin typeface="Inter"/>
              </a:rPr>
              <a:t>ca-fé · Pe-rú · es-pa-ñol · Ma-drid · ja-món</a:t>
            </a:r>
          </a:p>
        </p:txBody>
      </p:sp>
      <p:sp>
        <p:nvSpPr>
          <p:cNvPr id="13" name="Rounded Rectangle 12"/>
          <p:cNvSpPr/>
          <p:nvPr/>
        </p:nvSpPr>
        <p:spPr>
          <a:xfrm>
            <a:off x="4261104" y="1280160"/>
            <a:ext cx="3657600" cy="1600200"/>
          </a:xfrm>
          <a:prstGeom prst="roundRect">
            <a:avLst>
              <a:gd name="adj" fmla="val 5500"/>
            </a:avLst>
          </a:prstGeom>
          <a:solidFill>
            <a:srgbClr val="FFFFFF"/>
          </a:solidFill>
          <a:ln w="2032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61104" y="1280160"/>
            <a:ext cx="3657600" cy="420624"/>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61104" y="1298448"/>
            <a:ext cx="3657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600" b="1" i="0">
                <a:solidFill>
                  <a:srgbClr val="FFFFFF"/>
                </a:solidFill>
                <a:latin typeface="Bricolage Grotesque"/>
              </a:rPr>
              <a:t>llanas</a:t>
            </a:r>
          </a:p>
        </p:txBody>
      </p:sp>
      <p:sp>
        <p:nvSpPr>
          <p:cNvPr id="16" name="TextBox 15"/>
          <p:cNvSpPr txBox="1"/>
          <p:nvPr/>
        </p:nvSpPr>
        <p:spPr>
          <a:xfrm>
            <a:off x="4398264" y="1773936"/>
            <a:ext cx="338328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klap op de </a:t>
            </a:r>
            <a:r>
              <a:rPr sz="1100" b="1" i="0">
                <a:solidFill>
                  <a:srgbClr val="1E9E74"/>
                </a:solidFill>
                <a:latin typeface="Inter"/>
              </a:rPr>
              <a:t>voorlaatste (de gewoonste!)</a:t>
            </a:r>
          </a:p>
        </p:txBody>
      </p:sp>
      <p:sp>
        <p:nvSpPr>
          <p:cNvPr id="17" name="TextBox 16"/>
          <p:cNvSpPr txBox="1"/>
          <p:nvPr/>
        </p:nvSpPr>
        <p:spPr>
          <a:xfrm>
            <a:off x="4398264" y="2148840"/>
            <a:ext cx="3383280" cy="640080"/>
          </a:xfrm>
          <a:prstGeom prst="rect">
            <a:avLst/>
          </a:prstGeom>
          <a:noFill/>
        </p:spPr>
        <p:txBody>
          <a:bodyPr wrap="square" anchor="t" lIns="38100" rIns="38100" tIns="25400" bIns="25400">
            <a:spAutoFit/>
          </a:bodyPr>
          <a:lstStyle/>
          <a:p>
            <a:pPr algn="ctr">
              <a:lnSpc>
                <a:spcPct val="114000"/>
              </a:lnSpc>
              <a:spcBef>
                <a:spcPts val="0"/>
              </a:spcBef>
              <a:spcAft>
                <a:spcPts val="200"/>
              </a:spcAft>
            </a:pPr>
            <a:r>
              <a:rPr sz="1100" b="0" i="1">
                <a:solidFill>
                  <a:srgbClr val="20242E"/>
                </a:solidFill>
                <a:latin typeface="Inter"/>
              </a:rPr>
              <a:t>ca-sa · lu-nes · a-mi-go · ár-bol</a:t>
            </a:r>
          </a:p>
        </p:txBody>
      </p:sp>
      <p:sp>
        <p:nvSpPr>
          <p:cNvPr id="18" name="Rounded Rectangle 17"/>
          <p:cNvSpPr/>
          <p:nvPr/>
        </p:nvSpPr>
        <p:spPr>
          <a:xfrm>
            <a:off x="8065008" y="1280160"/>
            <a:ext cx="3657600" cy="1600200"/>
          </a:xfrm>
          <a:prstGeom prst="roundRect">
            <a:avLst>
              <a:gd name="adj" fmla="val 5500"/>
            </a:avLst>
          </a:prstGeom>
          <a:solidFill>
            <a:srgbClr val="FFFFFF"/>
          </a:solidFill>
          <a:ln w="20320">
            <a:solidFill>
              <a:srgbClr val="8A7BE0"/>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5008" y="1280160"/>
            <a:ext cx="3657600" cy="420624"/>
          </a:xfrm>
          <a:prstGeom prst="rect">
            <a:avLst/>
          </a:prstGeom>
          <a:solidFill>
            <a:srgbClr val="8A7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1298448"/>
            <a:ext cx="3657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600" b="1" i="0">
                <a:solidFill>
                  <a:srgbClr val="FFFFFF"/>
                </a:solidFill>
                <a:latin typeface="Bricolage Grotesque"/>
              </a:rPr>
              <a:t>esdrújulas</a:t>
            </a:r>
          </a:p>
        </p:txBody>
      </p:sp>
      <p:sp>
        <p:nvSpPr>
          <p:cNvPr id="21" name="TextBox 20"/>
          <p:cNvSpPr txBox="1"/>
          <p:nvPr/>
        </p:nvSpPr>
        <p:spPr>
          <a:xfrm>
            <a:off x="8202168" y="1773936"/>
            <a:ext cx="338328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00" b="0" i="0">
                <a:solidFill>
                  <a:srgbClr val="20242E"/>
                </a:solidFill>
                <a:latin typeface="Inter"/>
              </a:rPr>
              <a:t>klap op de </a:t>
            </a:r>
            <a:r>
              <a:rPr sz="1100" b="1" i="0">
                <a:solidFill>
                  <a:srgbClr val="8A7BE0"/>
                </a:solidFill>
                <a:latin typeface="Inter"/>
              </a:rPr>
              <a:t>derde van achteren</a:t>
            </a:r>
          </a:p>
        </p:txBody>
      </p:sp>
      <p:sp>
        <p:nvSpPr>
          <p:cNvPr id="22" name="TextBox 21"/>
          <p:cNvSpPr txBox="1"/>
          <p:nvPr/>
        </p:nvSpPr>
        <p:spPr>
          <a:xfrm>
            <a:off x="8202168" y="2148840"/>
            <a:ext cx="3383280" cy="640080"/>
          </a:xfrm>
          <a:prstGeom prst="rect">
            <a:avLst/>
          </a:prstGeom>
          <a:noFill/>
        </p:spPr>
        <p:txBody>
          <a:bodyPr wrap="square" anchor="t" lIns="38100" rIns="38100" tIns="25400" bIns="25400">
            <a:spAutoFit/>
          </a:bodyPr>
          <a:lstStyle/>
          <a:p>
            <a:pPr algn="ctr">
              <a:lnSpc>
                <a:spcPct val="114000"/>
              </a:lnSpc>
              <a:spcBef>
                <a:spcPts val="0"/>
              </a:spcBef>
              <a:spcAft>
                <a:spcPts val="200"/>
              </a:spcAft>
            </a:pPr>
            <a:r>
              <a:rPr sz="1100" b="0" i="1">
                <a:solidFill>
                  <a:srgbClr val="20242E"/>
                </a:solidFill>
                <a:latin typeface="Inter"/>
              </a:rPr>
              <a:t>Mé-xi-co · te-lé-fo-no · mú-si-ca</a:t>
            </a:r>
          </a:p>
        </p:txBody>
      </p:sp>
      <p:sp>
        <p:nvSpPr>
          <p:cNvPr id="23" name="Rounded Rectangle 22"/>
          <p:cNvSpPr/>
          <p:nvPr/>
        </p:nvSpPr>
        <p:spPr>
          <a:xfrm>
            <a:off x="457200" y="3246120"/>
            <a:ext cx="6766560" cy="23317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400" b="1" i="0">
                <a:solidFill>
                  <a:srgbClr val="1E9E74"/>
                </a:solidFill>
                <a:latin typeface="Inter"/>
              </a:rPr>
              <a:t>REGLA DEL SOMBRERO 🎩</a:t>
            </a:r>
          </a:p>
          <a:p>
            <a:pPr>
              <a:lnSpc>
                <a:spcPct val="102000"/>
              </a:lnSpc>
              <a:spcBef>
                <a:spcPts val="0"/>
              </a:spcBef>
              <a:spcAft>
                <a:spcPts val="300"/>
              </a:spcAft>
            </a:pPr>
            <a:r>
              <a:rPr sz="1200" b="1" i="0">
                <a:solidFill>
                  <a:srgbClr val="157355"/>
                </a:solidFill>
                <a:latin typeface="Inter"/>
              </a:rPr>
              <a:t>• Esdrújula → </a:t>
            </a:r>
            <a:r>
              <a:rPr sz="1200" b="1" i="0">
                <a:solidFill>
                  <a:srgbClr val="1E9E74"/>
                </a:solidFill>
                <a:latin typeface="Inter"/>
              </a:rPr>
              <a:t>SIEMPRE ´</a:t>
            </a:r>
            <a:r>
              <a:rPr sz="1200" b="0" i="1">
                <a:solidFill>
                  <a:srgbClr val="157355"/>
                </a:solidFill>
                <a:latin typeface="Inter"/>
              </a:rPr>
              <a:t>  (México, teléfono, música)</a:t>
            </a:r>
          </a:p>
          <a:p>
            <a:pPr>
              <a:lnSpc>
                <a:spcPct val="102000"/>
              </a:lnSpc>
              <a:spcBef>
                <a:spcPts val="0"/>
              </a:spcBef>
              <a:spcAft>
                <a:spcPts val="300"/>
              </a:spcAft>
            </a:pPr>
            <a:r>
              <a:rPr sz="1200" b="1" i="0">
                <a:solidFill>
                  <a:srgbClr val="157355"/>
                </a:solidFill>
                <a:latin typeface="Inter"/>
              </a:rPr>
              <a:t>• Aguda → ´ als ze eindigt op </a:t>
            </a:r>
            <a:r>
              <a:rPr sz="1200" b="1" i="0">
                <a:solidFill>
                  <a:srgbClr val="1E9E74"/>
                </a:solidFill>
                <a:latin typeface="Inter"/>
              </a:rPr>
              <a:t>-n, -s of klinker</a:t>
            </a:r>
          </a:p>
          <a:p>
            <a:pPr>
              <a:lnSpc>
                <a:spcPct val="102000"/>
              </a:lnSpc>
              <a:spcBef>
                <a:spcPts val="0"/>
              </a:spcBef>
              <a:spcAft>
                <a:spcPts val="300"/>
              </a:spcAft>
            </a:pPr>
            <a:r>
              <a:rPr sz="1100" b="0" i="1">
                <a:solidFill>
                  <a:srgbClr val="157355"/>
                </a:solidFill>
                <a:latin typeface="Inter"/>
              </a:rPr>
              <a:t>     wél: café, Perú, jamón, adiós  ·  niet: Madrid, español, reloj</a:t>
            </a:r>
          </a:p>
          <a:p>
            <a:pPr>
              <a:lnSpc>
                <a:spcPct val="102000"/>
              </a:lnSpc>
              <a:spcBef>
                <a:spcPts val="0"/>
              </a:spcBef>
              <a:spcAft>
                <a:spcPts val="300"/>
              </a:spcAft>
            </a:pPr>
            <a:r>
              <a:rPr sz="1200" b="1" i="0">
                <a:solidFill>
                  <a:srgbClr val="157355"/>
                </a:solidFill>
                <a:latin typeface="Inter"/>
              </a:rPr>
              <a:t>• Llana → ´ als ze NÍET zo eindigt</a:t>
            </a:r>
          </a:p>
          <a:p>
            <a:pPr>
              <a:lnSpc>
                <a:spcPct val="102000"/>
              </a:lnSpc>
              <a:spcBef>
                <a:spcPts val="0"/>
              </a:spcBef>
              <a:spcAft>
                <a:spcPts val="300"/>
              </a:spcAft>
            </a:pPr>
            <a:r>
              <a:rPr sz="1100" b="0" i="1">
                <a:solidFill>
                  <a:srgbClr val="157355"/>
                </a:solidFill>
                <a:latin typeface="Inter"/>
              </a:rPr>
              <a:t>     wél: árbol, lápiz, Cádiz  ·  niet: casa, lunes, examen</a:t>
            </a:r>
          </a:p>
          <a:p>
            <a:pPr>
              <a:lnSpc>
                <a:spcPct val="102000"/>
              </a:lnSpc>
              <a:spcBef>
                <a:spcPts val="0"/>
              </a:spcBef>
              <a:spcAft>
                <a:spcPts val="300"/>
              </a:spcAft>
            </a:pPr>
            <a:r>
              <a:rPr sz="1200" b="1" i="0">
                <a:solidFill>
                  <a:srgbClr val="157355"/>
                </a:solidFill>
                <a:latin typeface="Inter"/>
              </a:rPr>
              <a:t>• Monosílabo (1 lettergreep) → géén ´ (sol, pan, tres)</a:t>
            </a:r>
          </a:p>
        </p:txBody>
      </p:sp>
      <p:sp>
        <p:nvSpPr>
          <p:cNvPr id="24" name="Rounded Rectangle 23"/>
          <p:cNvSpPr/>
          <p:nvPr/>
        </p:nvSpPr>
        <p:spPr>
          <a:xfrm>
            <a:off x="594360" y="3118104"/>
            <a:ext cx="138074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REGLA · de kern</a:t>
            </a:r>
          </a:p>
        </p:txBody>
      </p:sp>
      <p:sp>
        <p:nvSpPr>
          <p:cNvPr id="25" name="Rounded Rectangle 24"/>
          <p:cNvSpPr/>
          <p:nvPr/>
        </p:nvSpPr>
        <p:spPr>
          <a:xfrm>
            <a:off x="7406640" y="3246120"/>
            <a:ext cx="4315968" cy="2331720"/>
          </a:xfrm>
          <a:prstGeom prst="roundRect">
            <a:avLst>
              <a:gd name="adj" fmla="val 5500"/>
            </a:avLst>
          </a:prstGeom>
          <a:solidFill>
            <a:srgbClr val="F3EEE4"/>
          </a:solidFill>
          <a:ln w="1778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337560"/>
            <a:ext cx="4023360" cy="5486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B7860B"/>
                </a:solidFill>
                <a:latin typeface="Bricolage Grotesque"/>
              </a:rPr>
              <a:t>🟡 Spiegel-truc</a:t>
            </a:r>
          </a:p>
        </p:txBody>
      </p:sp>
      <p:sp>
        <p:nvSpPr>
          <p:cNvPr id="27" name="TextBox 26"/>
          <p:cNvSpPr txBox="1"/>
          <p:nvPr/>
        </p:nvSpPr>
        <p:spPr>
          <a:xfrm>
            <a:off x="7589520" y="3749039"/>
            <a:ext cx="4023360" cy="82296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00" b="0" i="0">
                <a:solidFill>
                  <a:srgbClr val="20242E"/>
                </a:solidFill>
                <a:latin typeface="Inter"/>
              </a:rPr>
              <a:t>Dezelfde 3 eindletters (-n · -s · klinker) doen bij </a:t>
            </a:r>
            <a:r>
              <a:rPr sz="1100" b="1" i="0">
                <a:solidFill>
                  <a:srgbClr val="E07A5F"/>
                </a:solidFill>
                <a:latin typeface="Inter"/>
              </a:rPr>
              <a:t>agudas</a:t>
            </a:r>
            <a:r>
              <a:rPr sz="1100" b="0" i="0">
                <a:solidFill>
                  <a:srgbClr val="20242E"/>
                </a:solidFill>
                <a:latin typeface="Inter"/>
              </a:rPr>
              <a:t> het hoedje verschijnen en bij </a:t>
            </a:r>
            <a:r>
              <a:rPr sz="1100" b="1" i="0">
                <a:solidFill>
                  <a:srgbClr val="1E9E74"/>
                </a:solidFill>
                <a:latin typeface="Inter"/>
              </a:rPr>
              <a:t>llanas</a:t>
            </a:r>
            <a:r>
              <a:rPr sz="1100" b="0" i="0">
                <a:solidFill>
                  <a:srgbClr val="20242E"/>
                </a:solidFill>
                <a:latin typeface="Inter"/>
              </a:rPr>
              <a:t> verdwijnen.</a:t>
            </a:r>
          </a:p>
        </p:txBody>
      </p:sp>
      <p:sp>
        <p:nvSpPr>
          <p:cNvPr id="28" name="TextBox 27"/>
          <p:cNvSpPr txBox="1"/>
          <p:nvPr/>
        </p:nvSpPr>
        <p:spPr>
          <a:xfrm>
            <a:off x="7589520" y="4663440"/>
            <a:ext cx="4023360" cy="86868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100" b="1" i="0">
                <a:solidFill>
                  <a:srgbClr val="157355"/>
                </a:solidFill>
                <a:latin typeface="Inter"/>
              </a:rPr>
              <a:t>Beslisboom: </a:t>
            </a:r>
            <a:r>
              <a:rPr sz="1100" b="0" i="0">
                <a:solidFill>
                  <a:srgbClr val="20242E"/>
                </a:solidFill>
                <a:latin typeface="Inter"/>
              </a:rPr>
              <a:t>¿Esdrújula? </a:t>
            </a:r>
            <a:r>
              <a:rPr sz="1100" b="1" i="0">
                <a:solidFill>
                  <a:srgbClr val="1E9E74"/>
                </a:solidFill>
                <a:latin typeface="Inter"/>
              </a:rPr>
              <a:t>→ sí: ´</a:t>
            </a:r>
          </a:p>
          <a:p>
            <a:pPr algn="l">
              <a:lnSpc>
                <a:spcPct val="110000"/>
              </a:lnSpc>
              <a:spcBef>
                <a:spcPts val="0"/>
              </a:spcBef>
              <a:spcAft>
                <a:spcPts val="200"/>
              </a:spcAft>
            </a:pPr>
            <a:r>
              <a:rPr sz="1100" b="0" i="0">
                <a:solidFill>
                  <a:srgbClr val="20242E"/>
                </a:solidFill>
                <a:latin typeface="Inter"/>
              </a:rPr>
              <a:t>¿No? → ¿termina en -n/-s/vocal?</a:t>
            </a:r>
          </a:p>
          <a:p>
            <a:pPr algn="l">
              <a:lnSpc>
                <a:spcPct val="110000"/>
              </a:lnSpc>
              <a:spcBef>
                <a:spcPts val="0"/>
              </a:spcBef>
              <a:spcAft>
                <a:spcPts val="200"/>
              </a:spcAft>
            </a:pPr>
            <a:r>
              <a:rPr sz="1100" b="0" i="1">
                <a:solidFill>
                  <a:srgbClr val="6A6E78"/>
                </a:solidFill>
                <a:latin typeface="Inter"/>
              </a:rPr>
              <a:t>aguda: sí→´  ·  llana: no→´</a:t>
            </a:r>
          </a:p>
        </p:txBody>
      </p:sp>
      <p:sp>
        <p:nvSpPr>
          <p:cNvPr id="29" name="Rectangle 2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1" name="TextBox 3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2" name="TextBox 3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90241"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§2 · QUIZ · COLOCA LA TILDE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¿Lleva sombrero o no?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Zet de tilde ALLEEN waar het moet — en enkel op de tónica-klinker. Beslis eerst, onthul dan.</a:t>
            </a:r>
          </a:p>
        </p:txBody>
      </p:sp>
      <p:sp>
        <p:nvSpPr>
          <p:cNvPr id="8" name="Rounded Rectangle 7"/>
          <p:cNvSpPr/>
          <p:nvPr/>
        </p:nvSpPr>
        <p:spPr>
          <a:xfrm>
            <a:off x="457200"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Peru</a:t>
            </a:r>
          </a:p>
        </p:txBody>
      </p:sp>
      <p:sp>
        <p:nvSpPr>
          <p:cNvPr id="10" name="TextBox 9"/>
          <p:cNvSpPr txBox="1"/>
          <p:nvPr/>
        </p:nvSpPr>
        <p:spPr>
          <a:xfrm>
            <a:off x="457200"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11" name="Rounded Rectangle 10"/>
          <p:cNvSpPr/>
          <p:nvPr/>
        </p:nvSpPr>
        <p:spPr>
          <a:xfrm>
            <a:off x="960120"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Perú</a:t>
            </a:r>
          </a:p>
        </p:txBody>
      </p:sp>
      <p:sp>
        <p:nvSpPr>
          <p:cNvPr id="12" name="Rounded Rectangle 11"/>
          <p:cNvSpPr/>
          <p:nvPr/>
        </p:nvSpPr>
        <p:spPr>
          <a:xfrm>
            <a:off x="3273552"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73552"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cafe</a:t>
            </a:r>
          </a:p>
        </p:txBody>
      </p:sp>
      <p:sp>
        <p:nvSpPr>
          <p:cNvPr id="14" name="TextBox 13"/>
          <p:cNvSpPr txBox="1"/>
          <p:nvPr/>
        </p:nvSpPr>
        <p:spPr>
          <a:xfrm>
            <a:off x="3273552"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15" name="Rounded Rectangle 14"/>
          <p:cNvSpPr/>
          <p:nvPr/>
        </p:nvSpPr>
        <p:spPr>
          <a:xfrm>
            <a:off x="3776472"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café</a:t>
            </a:r>
          </a:p>
        </p:txBody>
      </p:sp>
      <p:sp>
        <p:nvSpPr>
          <p:cNvPr id="16" name="Rounded Rectangle 15"/>
          <p:cNvSpPr/>
          <p:nvPr/>
        </p:nvSpPr>
        <p:spPr>
          <a:xfrm>
            <a:off x="6089904"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9904"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casa</a:t>
            </a:r>
          </a:p>
        </p:txBody>
      </p:sp>
      <p:sp>
        <p:nvSpPr>
          <p:cNvPr id="18" name="TextBox 17"/>
          <p:cNvSpPr txBox="1"/>
          <p:nvPr/>
        </p:nvSpPr>
        <p:spPr>
          <a:xfrm>
            <a:off x="6089904"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19" name="Rounded Rectangle 18"/>
          <p:cNvSpPr/>
          <p:nvPr/>
        </p:nvSpPr>
        <p:spPr>
          <a:xfrm>
            <a:off x="6592824"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casa · sin ´</a:t>
            </a:r>
          </a:p>
        </p:txBody>
      </p:sp>
      <p:sp>
        <p:nvSpPr>
          <p:cNvPr id="20" name="Rounded Rectangle 19"/>
          <p:cNvSpPr/>
          <p:nvPr/>
        </p:nvSpPr>
        <p:spPr>
          <a:xfrm>
            <a:off x="8906256" y="141732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06256" y="149047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arbol</a:t>
            </a:r>
          </a:p>
        </p:txBody>
      </p:sp>
      <p:sp>
        <p:nvSpPr>
          <p:cNvPr id="22" name="TextBox 21"/>
          <p:cNvSpPr txBox="1"/>
          <p:nvPr/>
        </p:nvSpPr>
        <p:spPr>
          <a:xfrm>
            <a:off x="8906256" y="192024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23" name="Rounded Rectangle 22"/>
          <p:cNvSpPr/>
          <p:nvPr/>
        </p:nvSpPr>
        <p:spPr>
          <a:xfrm>
            <a:off x="9409176" y="199339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árbol</a:t>
            </a:r>
          </a:p>
        </p:txBody>
      </p:sp>
      <p:sp>
        <p:nvSpPr>
          <p:cNvPr id="24" name="Rounded Rectangle 23"/>
          <p:cNvSpPr/>
          <p:nvPr/>
        </p:nvSpPr>
        <p:spPr>
          <a:xfrm>
            <a:off x="457200"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Mexico</a:t>
            </a:r>
          </a:p>
        </p:txBody>
      </p:sp>
      <p:sp>
        <p:nvSpPr>
          <p:cNvPr id="26" name="TextBox 25"/>
          <p:cNvSpPr txBox="1"/>
          <p:nvPr/>
        </p:nvSpPr>
        <p:spPr>
          <a:xfrm>
            <a:off x="457200"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27" name="Rounded Rectangle 26"/>
          <p:cNvSpPr/>
          <p:nvPr/>
        </p:nvSpPr>
        <p:spPr>
          <a:xfrm>
            <a:off x="960120"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México</a:t>
            </a:r>
          </a:p>
        </p:txBody>
      </p:sp>
      <p:sp>
        <p:nvSpPr>
          <p:cNvPr id="28" name="Rounded Rectangle 27"/>
          <p:cNvSpPr/>
          <p:nvPr/>
        </p:nvSpPr>
        <p:spPr>
          <a:xfrm>
            <a:off x="3273552"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73552"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numero</a:t>
            </a:r>
          </a:p>
        </p:txBody>
      </p:sp>
      <p:sp>
        <p:nvSpPr>
          <p:cNvPr id="30" name="TextBox 29"/>
          <p:cNvSpPr txBox="1"/>
          <p:nvPr/>
        </p:nvSpPr>
        <p:spPr>
          <a:xfrm>
            <a:off x="3273552"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31" name="Rounded Rectangle 30"/>
          <p:cNvSpPr/>
          <p:nvPr/>
        </p:nvSpPr>
        <p:spPr>
          <a:xfrm>
            <a:off x="3776472"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número</a:t>
            </a:r>
          </a:p>
        </p:txBody>
      </p:sp>
      <p:sp>
        <p:nvSpPr>
          <p:cNvPr id="32" name="Rounded Rectangle 31"/>
          <p:cNvSpPr/>
          <p:nvPr/>
        </p:nvSpPr>
        <p:spPr>
          <a:xfrm>
            <a:off x="6089904"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89904"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lunes</a:t>
            </a:r>
          </a:p>
        </p:txBody>
      </p:sp>
      <p:sp>
        <p:nvSpPr>
          <p:cNvPr id="34" name="TextBox 33"/>
          <p:cNvSpPr txBox="1"/>
          <p:nvPr/>
        </p:nvSpPr>
        <p:spPr>
          <a:xfrm>
            <a:off x="6089904"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35" name="Rounded Rectangle 34"/>
          <p:cNvSpPr/>
          <p:nvPr/>
        </p:nvSpPr>
        <p:spPr>
          <a:xfrm>
            <a:off x="6592824"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lunes · sin ´</a:t>
            </a:r>
          </a:p>
        </p:txBody>
      </p:sp>
      <p:sp>
        <p:nvSpPr>
          <p:cNvPr id="36" name="Rounded Rectangle 35"/>
          <p:cNvSpPr/>
          <p:nvPr/>
        </p:nvSpPr>
        <p:spPr>
          <a:xfrm>
            <a:off x="8906256" y="2468880"/>
            <a:ext cx="2651760" cy="86868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06256" y="2542032"/>
            <a:ext cx="2651760" cy="41148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2000" b="1" i="0">
                <a:solidFill>
                  <a:srgbClr val="20242E"/>
                </a:solidFill>
                <a:latin typeface="Bricolage Grotesque"/>
              </a:rPr>
              <a:t>adios</a:t>
            </a:r>
          </a:p>
        </p:txBody>
      </p:sp>
      <p:sp>
        <p:nvSpPr>
          <p:cNvPr id="38" name="TextBox 37"/>
          <p:cNvSpPr txBox="1"/>
          <p:nvPr/>
        </p:nvSpPr>
        <p:spPr>
          <a:xfrm>
            <a:off x="8906256" y="2971800"/>
            <a:ext cx="2651760" cy="320040"/>
          </a:xfrm>
          <a:prstGeom prst="rect">
            <a:avLst/>
          </a:prstGeom>
          <a:noFill/>
        </p:spPr>
        <p:txBody>
          <a:bodyPr wrap="square" anchor="t" lIns="38100" rIns="38100" tIns="25400" bIns="25400">
            <a:spAutoFit/>
          </a:bodyPr>
          <a:lstStyle/>
          <a:p>
            <a:pPr algn="ctr">
              <a:lnSpc>
                <a:spcPct val="106000"/>
              </a:lnSpc>
              <a:spcBef>
                <a:spcPts val="0"/>
              </a:spcBef>
              <a:spcAft>
                <a:spcPts val="200"/>
              </a:spcAft>
            </a:pPr>
            <a:r>
              <a:rPr sz="1150" b="0" i="0">
                <a:solidFill>
                  <a:srgbClr val="6A6E78"/>
                </a:solidFill>
                <a:latin typeface="Inter"/>
              </a:rPr>
              <a:t>☐ con ´    ☐ sin ´</a:t>
            </a:r>
          </a:p>
        </p:txBody>
      </p:sp>
      <p:sp>
        <p:nvSpPr>
          <p:cNvPr id="39" name="Rounded Rectangle 38"/>
          <p:cNvSpPr/>
          <p:nvPr/>
        </p:nvSpPr>
        <p:spPr>
          <a:xfrm>
            <a:off x="9409176" y="3044952"/>
            <a:ext cx="164592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adiós</a:t>
            </a:r>
          </a:p>
        </p:txBody>
      </p:sp>
      <p:sp>
        <p:nvSpPr>
          <p:cNvPr id="40" name="Rounded Rectangle 39"/>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41" name="Rounded Rectangle 40"/>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2" name="Rounded Rectangle 41">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3" name="TextBox 42"/>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44" name="Rounded Rectangle 43"/>
          <p:cNvSpPr/>
          <p:nvPr/>
        </p:nvSpPr>
        <p:spPr>
          <a:xfrm>
            <a:off x="457200" y="3977639"/>
            <a:ext cx="11247120" cy="14173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E9E74"/>
                </a:solidFill>
                <a:latin typeface="Inter"/>
              </a:rPr>
              <a:t>Perú</a:t>
            </a:r>
            <a:r>
              <a:rPr sz="1200" b="0" i="0">
                <a:solidFill>
                  <a:srgbClr val="157355"/>
                </a:solidFill>
                <a:latin typeface="Inter"/>
              </a:rPr>
              <a:t> (aguda -ú) · </a:t>
            </a:r>
            <a:r>
              <a:rPr sz="1200" b="1" i="0">
                <a:solidFill>
                  <a:srgbClr val="1E9E74"/>
                </a:solidFill>
                <a:latin typeface="Inter"/>
              </a:rPr>
              <a:t>café</a:t>
            </a:r>
            <a:r>
              <a:rPr sz="1200" b="0" i="0">
                <a:solidFill>
                  <a:srgbClr val="157355"/>
                </a:solidFill>
                <a:latin typeface="Inter"/>
              </a:rPr>
              <a:t> (aguda -é) · </a:t>
            </a:r>
            <a:r>
              <a:rPr sz="1200" b="1" i="0">
                <a:solidFill>
                  <a:srgbClr val="1E9E74"/>
                </a:solidFill>
                <a:latin typeface="Inter"/>
              </a:rPr>
              <a:t>casa</a:t>
            </a:r>
            <a:r>
              <a:rPr sz="1200" b="0" i="0">
                <a:solidFill>
                  <a:srgbClr val="157355"/>
                </a:solidFill>
                <a:latin typeface="Inter"/>
              </a:rPr>
              <a:t> → GEEN (llana -a) · </a:t>
            </a:r>
            <a:r>
              <a:rPr sz="1200" b="1" i="0">
                <a:solidFill>
                  <a:srgbClr val="1E9E74"/>
                </a:solidFill>
                <a:latin typeface="Inter"/>
              </a:rPr>
              <a:t>árbol</a:t>
            </a:r>
            <a:r>
              <a:rPr sz="1200" b="0" i="0">
                <a:solidFill>
                  <a:srgbClr val="157355"/>
                </a:solidFill>
                <a:latin typeface="Inter"/>
              </a:rPr>
              <a:t> (llana -l → wél) · </a:t>
            </a:r>
            <a:r>
              <a:rPr sz="1200" b="1" i="0">
                <a:solidFill>
                  <a:srgbClr val="1E9E74"/>
                </a:solidFill>
                <a:latin typeface="Inter"/>
              </a:rPr>
              <a:t>México</a:t>
            </a:r>
            <a:r>
              <a:rPr sz="1200" b="0" i="0">
                <a:solidFill>
                  <a:srgbClr val="157355"/>
                </a:solidFill>
                <a:latin typeface="Inter"/>
              </a:rPr>
              <a:t> (esdrújula → altijd)</a:t>
            </a:r>
          </a:p>
          <a:p>
            <a:pPr>
              <a:lnSpc>
                <a:spcPct val="102000"/>
              </a:lnSpc>
              <a:spcBef>
                <a:spcPts val="0"/>
              </a:spcBef>
              <a:spcAft>
                <a:spcPts val="300"/>
              </a:spcAft>
            </a:pPr>
            <a:r>
              <a:rPr sz="1200" b="1" i="0">
                <a:solidFill>
                  <a:srgbClr val="1E9E74"/>
                </a:solidFill>
                <a:latin typeface="Inter"/>
              </a:rPr>
              <a:t>número</a:t>
            </a:r>
            <a:r>
              <a:rPr sz="1200" b="0" i="0">
                <a:solidFill>
                  <a:srgbClr val="157355"/>
                </a:solidFill>
                <a:latin typeface="Inter"/>
              </a:rPr>
              <a:t> (esdrújula) · </a:t>
            </a:r>
            <a:r>
              <a:rPr sz="1200" b="1" i="0">
                <a:solidFill>
                  <a:srgbClr val="1E9E74"/>
                </a:solidFill>
                <a:latin typeface="Inter"/>
              </a:rPr>
              <a:t>lunes</a:t>
            </a:r>
            <a:r>
              <a:rPr sz="1200" b="0" i="0">
                <a:solidFill>
                  <a:srgbClr val="157355"/>
                </a:solidFill>
                <a:latin typeface="Inter"/>
              </a:rPr>
              <a:t> → GEEN (llana -s) · </a:t>
            </a:r>
            <a:r>
              <a:rPr sz="1200" b="1" i="0">
                <a:solidFill>
                  <a:srgbClr val="1E9E74"/>
                </a:solidFill>
                <a:latin typeface="Inter"/>
              </a:rPr>
              <a:t>adiós</a:t>
            </a:r>
            <a:r>
              <a:rPr sz="1200" b="0" i="0">
                <a:solidFill>
                  <a:srgbClr val="157355"/>
                </a:solidFill>
                <a:latin typeface="Inter"/>
              </a:rPr>
              <a:t> (aguda -s → wél)</a:t>
            </a:r>
          </a:p>
          <a:p>
            <a:pPr>
              <a:lnSpc>
                <a:spcPct val="102000"/>
              </a:lnSpc>
              <a:spcBef>
                <a:spcPts val="0"/>
              </a:spcBef>
              <a:spcAft>
                <a:spcPts val="300"/>
              </a:spcAft>
            </a:pPr>
            <a:r>
              <a:rPr sz="1200" b="1" i="0">
                <a:solidFill>
                  <a:srgbClr val="DC2626"/>
                </a:solidFill>
                <a:latin typeface="Inter"/>
              </a:rPr>
              <a:t>🔴 Ojo — geen hoedjes strooien! </a:t>
            </a:r>
            <a:r>
              <a:rPr sz="1200" b="0" i="0">
                <a:solidFill>
                  <a:srgbClr val="157355"/>
                </a:solidFill>
                <a:latin typeface="Inter"/>
              </a:rPr>
              <a:t>lunes en profesor krijgen er GÉÉN. De grootste A1-fout is te veel tildes zetten.</a:t>
            </a:r>
          </a:p>
        </p:txBody>
      </p:sp>
      <p:sp>
        <p:nvSpPr>
          <p:cNvPr id="45" name="Rounded Rectangle 44"/>
          <p:cNvSpPr/>
          <p:nvPr/>
        </p:nvSpPr>
        <p:spPr>
          <a:xfrm>
            <a:off x="594360" y="3849623"/>
            <a:ext cx="2306116"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uitleg · docent</a:t>
            </a:r>
          </a:p>
        </p:txBody>
      </p:sp>
      <p:sp>
        <p:nvSpPr>
          <p:cNvPr id="46" name="Rectangle 4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8" name="TextBox 4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9" name="TextBox 4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5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4"/>
                                        </p:tgtEl>
                                        <p:attrNameLst>
                                          <p:attrName>style.visibility</p:attrName>
                                        </p:attrNameLst>
                                      </p:cBhvr>
                                      <p:to>
                                        <p:strVal val="visible"/>
                                      </p:to>
                                    </p:set>
                                    <p:animEffect transition="in" filter="fade">
                                      <p:cBhvr>
                                        <p:cTn id="47" dur="500"/>
                                        <p:tgtEl>
                                          <p:spTgt spid="4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45"/>
                                        </p:tgtEl>
                                        <p:attrNameLst>
                                          <p:attrName>style.visibility</p:attrName>
                                        </p:attrNameLst>
                                      </p:cBhvr>
                                      <p:to>
                                        <p:strVal val="visible"/>
                                      </p:to>
                                    </p:set>
                                    <p:animEffect transition="in" filter="fade">
                                      <p:cBhvr>
                                        <p:cTn id="52"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VOCABULARIO</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3</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Números 0–100 — en tres capas</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Geen kale lijst: drie bouwlagen, elk met één truc. Voor je leeftijd (edad) en je telefoonnummer.</a:t>
            </a:r>
          </a:p>
        </p:txBody>
      </p:sp>
      <p:sp>
        <p:nvSpPr>
          <p:cNvPr id="9" name="Rounded Rectangle 8"/>
          <p:cNvSpPr/>
          <p:nvPr/>
        </p:nvSpPr>
        <p:spPr>
          <a:xfrm>
            <a:off x="457200" y="1325880"/>
            <a:ext cx="11274552" cy="14173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74552" cy="38404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11000232"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Laag 1 · los cimientos (0–15)</a:t>
            </a:r>
            <a:r>
              <a:rPr sz="1050" b="0" i="1">
                <a:solidFill>
                  <a:srgbClr val="E4F4EE"/>
                </a:solidFill>
                <a:latin typeface="Inter"/>
              </a:rPr>
              <a:t>   apart leren</a:t>
            </a:r>
          </a:p>
        </p:txBody>
      </p:sp>
      <p:sp>
        <p:nvSpPr>
          <p:cNvPr id="12" name="TextBox 11"/>
          <p:cNvSpPr txBox="1"/>
          <p:nvPr/>
        </p:nvSpPr>
        <p:spPr>
          <a:xfrm>
            <a:off x="621792" y="1801368"/>
            <a:ext cx="10945368" cy="8686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200" b="0" i="0">
                <a:solidFill>
                  <a:srgbClr val="20242E"/>
                </a:solidFill>
                <a:latin typeface="Inter"/>
              </a:rPr>
              <a:t>0 cero · 1 uno · 2 dos · 3 tres · 4 cuatro · 5 cinco · 6 seis · 7 siete · 8 ocho · 9 nueve · 10 diez · 11 once · 12 doce · 13 trece · 14 catorce · 15 quince</a:t>
            </a:r>
          </a:p>
        </p:txBody>
      </p:sp>
      <p:sp>
        <p:nvSpPr>
          <p:cNvPr id="13" name="Rounded Rectangle 12"/>
          <p:cNvSpPr/>
          <p:nvPr/>
        </p:nvSpPr>
        <p:spPr>
          <a:xfrm>
            <a:off x="457200" y="2880360"/>
            <a:ext cx="11274552" cy="14173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880360"/>
            <a:ext cx="11274552" cy="384048"/>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898648"/>
            <a:ext cx="11000232"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Laag 2 · «todo junto» (16–29)</a:t>
            </a:r>
            <a:r>
              <a:rPr sz="1050" b="0" i="1">
                <a:solidFill>
                  <a:srgbClr val="E4F4EE"/>
                </a:solidFill>
                <a:latin typeface="Inter"/>
              </a:rPr>
              <a:t>   één woord, geen «y» · let op 4 hoedjes</a:t>
            </a:r>
          </a:p>
        </p:txBody>
      </p:sp>
      <p:sp>
        <p:nvSpPr>
          <p:cNvPr id="16" name="TextBox 15"/>
          <p:cNvSpPr txBox="1"/>
          <p:nvPr/>
        </p:nvSpPr>
        <p:spPr>
          <a:xfrm>
            <a:off x="621792" y="3355848"/>
            <a:ext cx="10945368" cy="8686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200" b="0" i="0">
                <a:solidFill>
                  <a:srgbClr val="20242E"/>
                </a:solidFill>
                <a:latin typeface="Inter"/>
              </a:rPr>
              <a:t>16 dieciséis · 17 diecisiete · 18 dieciocho · 19 diecinueve · 20 veinte · 21 veintiuno · 22 veintidós · 23 veintitrés · 24 veinticuatro · 25 veinticinco · 26 veintiséis · 27 veintisiete · 28 veintiocho · 29 veintinueve</a:t>
            </a:r>
          </a:p>
        </p:txBody>
      </p:sp>
      <p:sp>
        <p:nvSpPr>
          <p:cNvPr id="17" name="Rounded Rectangle 16"/>
          <p:cNvSpPr/>
          <p:nvPr/>
        </p:nvSpPr>
        <p:spPr>
          <a:xfrm>
            <a:off x="457200" y="4434840"/>
            <a:ext cx="7132320" cy="14173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434840"/>
            <a:ext cx="7132320" cy="38404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53128"/>
            <a:ext cx="68580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Laag 3 · las decenas + «y» (30–100)</a:t>
            </a:r>
            <a:r>
              <a:rPr sz="1050" b="0" i="1">
                <a:solidFill>
                  <a:srgbClr val="E4F4EE"/>
                </a:solidFill>
                <a:latin typeface="Inter"/>
              </a:rPr>
              <a:t>   drie stukjes</a:t>
            </a:r>
          </a:p>
        </p:txBody>
      </p:sp>
      <p:sp>
        <p:nvSpPr>
          <p:cNvPr id="20" name="TextBox 19"/>
          <p:cNvSpPr txBox="1"/>
          <p:nvPr/>
        </p:nvSpPr>
        <p:spPr>
          <a:xfrm>
            <a:off x="621792" y="4892040"/>
            <a:ext cx="6858000" cy="91440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200" b="0" i="0">
                <a:solidFill>
                  <a:srgbClr val="20242E"/>
                </a:solidFill>
                <a:latin typeface="Inter"/>
              </a:rPr>
              <a:t>30 treinta · 40 cuarenta · 50 cincuenta · 60 sesenta · 70 setenta · 80 ochenta · 90 noventa · 100 cien</a:t>
            </a:r>
          </a:p>
        </p:txBody>
      </p:sp>
      <p:sp>
        <p:nvSpPr>
          <p:cNvPr id="21" name="Rounded Rectangle 20"/>
          <p:cNvSpPr/>
          <p:nvPr/>
        </p:nvSpPr>
        <p:spPr>
          <a:xfrm>
            <a:off x="7772400" y="4434840"/>
            <a:ext cx="3959352" cy="1417320"/>
          </a:xfrm>
          <a:prstGeom prst="roundRect">
            <a:avLst>
              <a:gd name="adj" fmla="val 5500"/>
            </a:avLst>
          </a:prstGeom>
          <a:solidFill>
            <a:srgbClr val="F3EEE4"/>
          </a:solidFill>
          <a:ln w="1778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36992" y="4526280"/>
            <a:ext cx="36576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B7860B"/>
                </a:solidFill>
                <a:latin typeface="Bricolage Grotesque"/>
              </a:rPr>
              <a:t>⚙ La máquina «y»</a:t>
            </a:r>
          </a:p>
        </p:txBody>
      </p:sp>
      <p:sp>
        <p:nvSpPr>
          <p:cNvPr id="23" name="TextBox 22"/>
          <p:cNvSpPr txBox="1"/>
          <p:nvPr/>
        </p:nvSpPr>
        <p:spPr>
          <a:xfrm>
            <a:off x="7936992" y="4892040"/>
            <a:ext cx="3657600" cy="914400"/>
          </a:xfrm>
          <a:prstGeom prst="rect">
            <a:avLst/>
          </a:prstGeom>
          <a:noFill/>
        </p:spPr>
        <p:txBody>
          <a:bodyPr wrap="square" anchor="t" lIns="38100" rIns="38100" tIns="25400" bIns="25400">
            <a:spAutoFit/>
          </a:bodyPr>
          <a:lstStyle/>
          <a:p>
            <a:pPr algn="l">
              <a:lnSpc>
                <a:spcPct val="115000"/>
              </a:lnSpc>
              <a:spcBef>
                <a:spcPts val="0"/>
              </a:spcBef>
              <a:spcAft>
                <a:spcPts val="200"/>
              </a:spcAft>
            </a:pPr>
            <a:r>
              <a:rPr sz="1200" b="1" i="0">
                <a:solidFill>
                  <a:srgbClr val="2563EB"/>
                </a:solidFill>
                <a:latin typeface="Inter"/>
              </a:rPr>
              <a:t>[ decena ] + </a:t>
            </a:r>
            <a:r>
              <a:rPr sz="1300" b="1" i="0">
                <a:solidFill>
                  <a:srgbClr val="EA7317"/>
                </a:solidFill>
                <a:latin typeface="Inter"/>
              </a:rPr>
              <a:t>y</a:t>
            </a:r>
            <a:r>
              <a:rPr sz="1200" b="1" i="0">
                <a:solidFill>
                  <a:srgbClr val="1E9E74"/>
                </a:solidFill>
                <a:latin typeface="Inter"/>
              </a:rPr>
              <a:t> + [ unidad ]</a:t>
            </a:r>
          </a:p>
          <a:p>
            <a:pPr algn="l">
              <a:lnSpc>
                <a:spcPct val="115000"/>
              </a:lnSpc>
              <a:spcBef>
                <a:spcPts val="0"/>
              </a:spcBef>
              <a:spcAft>
                <a:spcPts val="200"/>
              </a:spcAft>
            </a:pPr>
            <a:r>
              <a:rPr sz="1200" b="0" i="0">
                <a:solidFill>
                  <a:srgbClr val="2563EB"/>
                </a:solidFill>
                <a:latin typeface="Inter"/>
              </a:rPr>
              <a:t>treinta </a:t>
            </a:r>
            <a:r>
              <a:rPr sz="1200" b="1" i="0">
                <a:solidFill>
                  <a:srgbClr val="EA7317"/>
                </a:solidFill>
                <a:latin typeface="Inter"/>
              </a:rPr>
              <a:t>y</a:t>
            </a:r>
            <a:r>
              <a:rPr sz="1200" b="0" i="0">
                <a:solidFill>
                  <a:srgbClr val="1E9E74"/>
                </a:solidFill>
                <a:latin typeface="Inter"/>
              </a:rPr>
              <a:t> cinco → </a:t>
            </a:r>
            <a:r>
              <a:rPr sz="1200" b="1" i="0">
                <a:solidFill>
                  <a:srgbClr val="20242E"/>
                </a:solidFill>
                <a:latin typeface="Inter"/>
              </a:rPr>
              <a:t>35</a:t>
            </a:r>
          </a:p>
          <a:p>
            <a:pPr algn="l">
              <a:lnSpc>
                <a:spcPct val="115000"/>
              </a:lnSpc>
              <a:spcBef>
                <a:spcPts val="0"/>
              </a:spcBef>
              <a:spcAft>
                <a:spcPts val="200"/>
              </a:spcAft>
            </a:pPr>
            <a:r>
              <a:rPr sz="1200" b="0" i="0">
                <a:solidFill>
                  <a:srgbClr val="2563EB"/>
                </a:solidFill>
                <a:latin typeface="Inter"/>
              </a:rPr>
              <a:t>noventa </a:t>
            </a:r>
            <a:r>
              <a:rPr sz="1200" b="1" i="0">
                <a:solidFill>
                  <a:srgbClr val="EA7317"/>
                </a:solidFill>
                <a:latin typeface="Inter"/>
              </a:rPr>
              <a:t>y</a:t>
            </a:r>
            <a:r>
              <a:rPr sz="1200" b="0" i="0">
                <a:solidFill>
                  <a:srgbClr val="1E9E74"/>
                </a:solidFill>
                <a:latin typeface="Inter"/>
              </a:rPr>
              <a:t> nueve → </a:t>
            </a:r>
            <a:r>
              <a:rPr sz="1200" b="1" i="0">
                <a:solidFill>
                  <a:srgbClr val="20242E"/>
                </a:solidFill>
                <a:latin typeface="Inter"/>
              </a:rPr>
              <a:t>99</a:t>
            </a:r>
          </a:p>
        </p:txBody>
      </p:sp>
      <p:sp>
        <p:nvSpPr>
          <p:cNvPr id="24" name="Rectangle 2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6" name="TextBox 2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7" name="TextBox 2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¡OJO! + TU EDAD</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Valstrikken + «tener … años»</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De kernvalstrik van U0/U1: leeftijd = tener, niet ser. En de substitutietabel om je edad te zeggen.</a:t>
            </a:r>
          </a:p>
        </p:txBody>
      </p:sp>
      <p:sp>
        <p:nvSpPr>
          <p:cNvPr id="8" name="Rounded Rectangle 7"/>
          <p:cNvSpPr/>
          <p:nvPr/>
        </p:nvSpPr>
        <p:spPr>
          <a:xfrm>
            <a:off x="457200" y="1325880"/>
            <a:ext cx="5577840" cy="4114800"/>
          </a:xfrm>
          <a:prstGeom prst="roundRect">
            <a:avLst>
              <a:gd name="adj" fmla="val 5500"/>
            </a:avLst>
          </a:prstGeom>
          <a:solidFill>
            <a:srgbClr val="FDECEC"/>
          </a:solidFill>
          <a:ln w="17780">
            <a:solidFill>
              <a:srgbClr val="DC2626"/>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521208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500" b="1" i="0">
                <a:solidFill>
                  <a:srgbClr val="DC2626"/>
                </a:solidFill>
                <a:latin typeface="Bricolage Grotesque"/>
              </a:rPr>
              <a:t>🔴 Trampas para neerlandeses</a:t>
            </a:r>
          </a:p>
        </p:txBody>
      </p:sp>
      <p:sp>
        <p:nvSpPr>
          <p:cNvPr id="10" name="TextBox 9"/>
          <p:cNvSpPr txBox="1"/>
          <p:nvPr/>
        </p:nvSpPr>
        <p:spPr>
          <a:xfrm>
            <a:off x="640080" y="1874519"/>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Leeftijd = tener, niet ser.  </a:t>
            </a:r>
            <a:r>
              <a:rPr sz="1050" b="0" i="0">
                <a:solidFill>
                  <a:srgbClr val="157355"/>
                </a:solidFill>
                <a:latin typeface="Inter"/>
              </a:rPr>
              <a:t>Tengo 14 años ✔  ·  ~Soy 14 años~ ✘ (NL «ik ben 14»)</a:t>
            </a:r>
          </a:p>
        </p:txBody>
      </p:sp>
      <p:sp>
        <p:nvSpPr>
          <p:cNvPr id="11" name="TextBox 10"/>
          <p:cNvSpPr txBox="1"/>
          <p:nvPr/>
        </p:nvSpPr>
        <p:spPr>
          <a:xfrm>
            <a:off x="640080" y="2450591"/>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«y» alleen bij 30–100.  </a:t>
            </a:r>
            <a:r>
              <a:rPr sz="1050" b="0" i="0">
                <a:solidFill>
                  <a:srgbClr val="157355"/>
                </a:solidFill>
                <a:latin typeface="Inter"/>
              </a:rPr>
              <a:t>dieciséis (1 woord) ↔ treinta y seis (3 woorden)</a:t>
            </a:r>
          </a:p>
        </p:txBody>
      </p:sp>
      <p:sp>
        <p:nvSpPr>
          <p:cNvPr id="12" name="TextBox 11"/>
          <p:cNvSpPr txBox="1"/>
          <p:nvPr/>
        </p:nvSpPr>
        <p:spPr>
          <a:xfrm>
            <a:off x="640080" y="3026663"/>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«y» klinkt als /i/.  </a:t>
            </a:r>
            <a:r>
              <a:rPr sz="1050" b="0" i="0">
                <a:solidFill>
                  <a:srgbClr val="157355"/>
                </a:solidFill>
                <a:latin typeface="Inter"/>
              </a:rPr>
              <a:t>cuarenta y cinco = [koe-a-REN-ta i SIN-ko]</a:t>
            </a:r>
          </a:p>
        </p:txBody>
      </p:sp>
      <p:sp>
        <p:nvSpPr>
          <p:cNvPr id="13" name="TextBox 12"/>
          <p:cNvSpPr txBox="1"/>
          <p:nvPr/>
        </p:nvSpPr>
        <p:spPr>
          <a:xfrm>
            <a:off x="640080" y="3602735"/>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Hoedjes niet vergeten.  </a:t>
            </a:r>
            <a:r>
              <a:rPr sz="1050" b="0" i="0">
                <a:solidFill>
                  <a:srgbClr val="157355"/>
                </a:solidFill>
                <a:latin typeface="Inter"/>
              </a:rPr>
              <a:t>~veintidos~ → veintidós · ~dieciseis~ → dieciséis</a:t>
            </a:r>
          </a:p>
        </p:txBody>
      </p:sp>
      <p:sp>
        <p:nvSpPr>
          <p:cNvPr id="14" name="TextBox 13"/>
          <p:cNvSpPr txBox="1"/>
          <p:nvPr/>
        </p:nvSpPr>
        <p:spPr>
          <a:xfrm>
            <a:off x="640080" y="4178807"/>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100 = cien.  </a:t>
            </a:r>
            <a:r>
              <a:rPr sz="1050" b="0" i="0">
                <a:solidFill>
                  <a:srgbClr val="157355"/>
                </a:solidFill>
                <a:latin typeface="Inter"/>
              </a:rPr>
              <a:t>cien años, cien euros (niet ciento voor exact 100)</a:t>
            </a:r>
          </a:p>
        </p:txBody>
      </p:sp>
      <p:sp>
        <p:nvSpPr>
          <p:cNvPr id="15" name="TextBox 14"/>
          <p:cNvSpPr txBox="1"/>
          <p:nvPr/>
        </p:nvSpPr>
        <p:spPr>
          <a:xfrm>
            <a:off x="640080" y="4754879"/>
            <a:ext cx="5257800" cy="566928"/>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1" i="0">
                <a:solidFill>
                  <a:srgbClr val="20242E"/>
                </a:solidFill>
                <a:latin typeface="Inter"/>
              </a:rPr>
              <a:t>• Lastige paren.  </a:t>
            </a:r>
            <a:r>
              <a:rPr sz="1050" b="0" i="0">
                <a:solidFill>
                  <a:srgbClr val="157355"/>
                </a:solidFill>
                <a:latin typeface="Inter"/>
              </a:rPr>
              <a:t>seis↔siete · nueve↔nuevo → extra luisteren</a:t>
            </a:r>
          </a:p>
        </p:txBody>
      </p:sp>
      <p:sp>
        <p:nvSpPr>
          <p:cNvPr id="16" name="TextBox 15"/>
          <p:cNvSpPr txBox="1"/>
          <p:nvPr/>
        </p:nvSpPr>
        <p:spPr>
          <a:xfrm>
            <a:off x="6309360" y="1371600"/>
            <a:ext cx="548640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Substitutietabel — </a:t>
            </a:r>
            <a:r>
              <a:rPr sz="1300" b="1" i="0">
                <a:solidFill>
                  <a:srgbClr val="EA7317"/>
                </a:solidFill>
                <a:latin typeface="Bricolage Grotesque"/>
              </a:rPr>
              <a:t>tener + número + años</a:t>
            </a:r>
          </a:p>
        </p:txBody>
      </p:sp>
      <p:sp>
        <p:nvSpPr>
          <p:cNvPr id="17" name="Rectangle 16"/>
          <p:cNvSpPr/>
          <p:nvPr/>
        </p:nvSpPr>
        <p:spPr>
          <a:xfrm>
            <a:off x="6309360" y="1783080"/>
            <a:ext cx="1737360"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783080"/>
            <a:ext cx="17373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FFFFFF"/>
                </a:solidFill>
                <a:latin typeface="Inter"/>
              </a:rPr>
              <a:t>Persoon</a:t>
            </a:r>
          </a:p>
        </p:txBody>
      </p:sp>
      <p:sp>
        <p:nvSpPr>
          <p:cNvPr id="19" name="Rectangle 18"/>
          <p:cNvSpPr/>
          <p:nvPr/>
        </p:nvSpPr>
        <p:spPr>
          <a:xfrm>
            <a:off x="8046720" y="1783080"/>
            <a:ext cx="1371600" cy="384048"/>
          </a:xfrm>
          <a:prstGeom prst="rect">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1783080"/>
            <a:ext cx="13716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FFFFFF"/>
                </a:solidFill>
                <a:latin typeface="Inter"/>
              </a:rPr>
              <a:t>tener</a:t>
            </a:r>
          </a:p>
        </p:txBody>
      </p:sp>
      <p:sp>
        <p:nvSpPr>
          <p:cNvPr id="21" name="Rectangle 20"/>
          <p:cNvSpPr/>
          <p:nvPr/>
        </p:nvSpPr>
        <p:spPr>
          <a:xfrm>
            <a:off x="9418320" y="1783080"/>
            <a:ext cx="228600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0" y="1783080"/>
            <a:ext cx="228600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FFFFFF"/>
                </a:solidFill>
                <a:latin typeface="Inter"/>
              </a:rPr>
              <a:t>número + años</a:t>
            </a:r>
          </a:p>
        </p:txBody>
      </p:sp>
      <p:sp>
        <p:nvSpPr>
          <p:cNvPr id="23" name="Rectangle 22"/>
          <p:cNvSpPr/>
          <p:nvPr/>
        </p:nvSpPr>
        <p:spPr>
          <a:xfrm>
            <a:off x="6309360" y="2167128"/>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167128"/>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Yo</a:t>
            </a:r>
          </a:p>
        </p:txBody>
      </p:sp>
      <p:sp>
        <p:nvSpPr>
          <p:cNvPr id="25" name="Rectangle 24"/>
          <p:cNvSpPr/>
          <p:nvPr/>
        </p:nvSpPr>
        <p:spPr>
          <a:xfrm>
            <a:off x="8046720" y="2167128"/>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0" y="2167128"/>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tengo</a:t>
            </a:r>
          </a:p>
        </p:txBody>
      </p:sp>
      <p:sp>
        <p:nvSpPr>
          <p:cNvPr id="27" name="Rectangle 26"/>
          <p:cNvSpPr/>
          <p:nvPr/>
        </p:nvSpPr>
        <p:spPr>
          <a:xfrm>
            <a:off x="9418320" y="2167128"/>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18320" y="2167128"/>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catorce años</a:t>
            </a:r>
          </a:p>
        </p:txBody>
      </p:sp>
      <p:sp>
        <p:nvSpPr>
          <p:cNvPr id="29" name="Rectangle 28"/>
          <p:cNvSpPr/>
          <p:nvPr/>
        </p:nvSpPr>
        <p:spPr>
          <a:xfrm>
            <a:off x="6309360" y="2569464"/>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2569464"/>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Tú</a:t>
            </a:r>
          </a:p>
        </p:txBody>
      </p:sp>
      <p:sp>
        <p:nvSpPr>
          <p:cNvPr id="31" name="Rectangle 30"/>
          <p:cNvSpPr/>
          <p:nvPr/>
        </p:nvSpPr>
        <p:spPr>
          <a:xfrm>
            <a:off x="8046720" y="2569464"/>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2569464"/>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tienes</a:t>
            </a:r>
          </a:p>
        </p:txBody>
      </p:sp>
      <p:sp>
        <p:nvSpPr>
          <p:cNvPr id="33" name="Rectangle 32"/>
          <p:cNvSpPr/>
          <p:nvPr/>
        </p:nvSpPr>
        <p:spPr>
          <a:xfrm>
            <a:off x="9418320" y="2569464"/>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18320" y="2569464"/>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quince años</a:t>
            </a:r>
          </a:p>
        </p:txBody>
      </p:sp>
      <p:sp>
        <p:nvSpPr>
          <p:cNvPr id="35" name="Rectangle 34"/>
          <p:cNvSpPr/>
          <p:nvPr/>
        </p:nvSpPr>
        <p:spPr>
          <a:xfrm>
            <a:off x="6309360" y="2971800"/>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0" y="2971800"/>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Lucía</a:t>
            </a:r>
          </a:p>
        </p:txBody>
      </p:sp>
      <p:sp>
        <p:nvSpPr>
          <p:cNvPr id="37" name="Rectangle 36"/>
          <p:cNvSpPr/>
          <p:nvPr/>
        </p:nvSpPr>
        <p:spPr>
          <a:xfrm>
            <a:off x="8046720" y="2971800"/>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0" y="2971800"/>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tiene</a:t>
            </a:r>
          </a:p>
        </p:txBody>
      </p:sp>
      <p:sp>
        <p:nvSpPr>
          <p:cNvPr id="39" name="Rectangle 38"/>
          <p:cNvSpPr/>
          <p:nvPr/>
        </p:nvSpPr>
        <p:spPr>
          <a:xfrm>
            <a:off x="9418320" y="2971800"/>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0" y="2971800"/>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dieciséis años</a:t>
            </a:r>
          </a:p>
        </p:txBody>
      </p:sp>
      <p:sp>
        <p:nvSpPr>
          <p:cNvPr id="41" name="Rectangle 40"/>
          <p:cNvSpPr/>
          <p:nvPr/>
        </p:nvSpPr>
        <p:spPr>
          <a:xfrm>
            <a:off x="6309360" y="3374136"/>
            <a:ext cx="173736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09360" y="3374136"/>
            <a:ext cx="173736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2563EB"/>
                </a:solidFill>
                <a:latin typeface="Inter"/>
              </a:rPr>
              <a:t>Mi hermano</a:t>
            </a:r>
          </a:p>
        </p:txBody>
      </p:sp>
      <p:sp>
        <p:nvSpPr>
          <p:cNvPr id="43" name="Rectangle 42"/>
          <p:cNvSpPr/>
          <p:nvPr/>
        </p:nvSpPr>
        <p:spPr>
          <a:xfrm>
            <a:off x="8046720" y="3374136"/>
            <a:ext cx="13716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0" y="3374136"/>
            <a:ext cx="13716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1" i="0">
                <a:solidFill>
                  <a:srgbClr val="EA7317"/>
                </a:solidFill>
                <a:latin typeface="Inter"/>
              </a:rPr>
              <a:t>tiene</a:t>
            </a:r>
          </a:p>
        </p:txBody>
      </p:sp>
      <p:sp>
        <p:nvSpPr>
          <p:cNvPr id="45" name="Rectangle 44"/>
          <p:cNvSpPr/>
          <p:nvPr/>
        </p:nvSpPr>
        <p:spPr>
          <a:xfrm>
            <a:off x="9418320" y="3374136"/>
            <a:ext cx="2286000" cy="402336"/>
          </a:xfrm>
          <a:prstGeom prst="rect">
            <a:avLst/>
          </a:prstGeom>
          <a:solidFill>
            <a:srgbClr val="FFFFFF"/>
          </a:solidFill>
          <a:ln w="1016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20" y="3374136"/>
            <a:ext cx="2286000" cy="402336"/>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150" b="0" i="0">
                <a:solidFill>
                  <a:srgbClr val="7C3AED"/>
                </a:solidFill>
                <a:latin typeface="Inter"/>
              </a:rPr>
              <a:t>veinte años</a:t>
            </a:r>
          </a:p>
        </p:txBody>
      </p:sp>
      <p:sp>
        <p:nvSpPr>
          <p:cNvPr id="47" name="TextBox 46"/>
          <p:cNvSpPr txBox="1"/>
          <p:nvPr/>
        </p:nvSpPr>
        <p:spPr>
          <a:xfrm>
            <a:off x="6309360" y="3913632"/>
            <a:ext cx="118872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1" i="0">
                <a:solidFill>
                  <a:srgbClr val="6A6E78"/>
                </a:solidFill>
                <a:latin typeface="Inter"/>
              </a:rPr>
              <a:t>Kleurcode:</a:t>
            </a:r>
          </a:p>
        </p:txBody>
      </p:sp>
      <p:sp>
        <p:nvSpPr>
          <p:cNvPr id="48" name="Rounded Rectangle 47"/>
          <p:cNvSpPr/>
          <p:nvPr/>
        </p:nvSpPr>
        <p:spPr>
          <a:xfrm>
            <a:off x="7360920" y="3950208"/>
            <a:ext cx="128016" cy="128016"/>
          </a:xfrm>
          <a:prstGeom prst="roundRect">
            <a:avLst>
              <a:gd name="adj" fmla="val 5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25512"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persoon</a:t>
            </a:r>
          </a:p>
        </p:txBody>
      </p:sp>
      <p:sp>
        <p:nvSpPr>
          <p:cNvPr id="50" name="Rounded Rectangle 49"/>
          <p:cNvSpPr/>
          <p:nvPr/>
        </p:nvSpPr>
        <p:spPr>
          <a:xfrm>
            <a:off x="8013801" y="3950208"/>
            <a:ext cx="128016" cy="128016"/>
          </a:xfrm>
          <a:prstGeom prst="roundRect">
            <a:avLst>
              <a:gd name="adj" fmla="val 50000"/>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78393"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werkw.</a:t>
            </a:r>
          </a:p>
        </p:txBody>
      </p:sp>
      <p:sp>
        <p:nvSpPr>
          <p:cNvPr id="52" name="Rounded Rectangle 51"/>
          <p:cNvSpPr/>
          <p:nvPr/>
        </p:nvSpPr>
        <p:spPr>
          <a:xfrm>
            <a:off x="8609989" y="3950208"/>
            <a:ext cx="128016" cy="12801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774581"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tijd</a:t>
            </a:r>
          </a:p>
        </p:txBody>
      </p:sp>
      <p:sp>
        <p:nvSpPr>
          <p:cNvPr id="54" name="Rounded Rectangle 53"/>
          <p:cNvSpPr/>
          <p:nvPr/>
        </p:nvSpPr>
        <p:spPr>
          <a:xfrm>
            <a:off x="9092792" y="3950208"/>
            <a:ext cx="128016" cy="128016"/>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57384"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plaats</a:t>
            </a:r>
          </a:p>
        </p:txBody>
      </p:sp>
      <p:sp>
        <p:nvSpPr>
          <p:cNvPr id="56" name="Rounded Rectangle 55"/>
          <p:cNvSpPr/>
          <p:nvPr/>
        </p:nvSpPr>
        <p:spPr>
          <a:xfrm>
            <a:off x="9688980" y="3950208"/>
            <a:ext cx="128016" cy="128016"/>
          </a:xfrm>
          <a:prstGeom prst="roundRect">
            <a:avLst>
              <a:gd name="adj" fmla="val 5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853572" y="3904488"/>
            <a:ext cx="9144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00" b="0" i="0">
                <a:solidFill>
                  <a:srgbClr val="20242E"/>
                </a:solidFill>
                <a:latin typeface="Inter"/>
              </a:rPr>
              <a:t>valstrik</a:t>
            </a:r>
          </a:p>
        </p:txBody>
      </p:sp>
      <p:sp>
        <p:nvSpPr>
          <p:cNvPr id="58" name="Rounded Rectangle 57"/>
          <p:cNvSpPr/>
          <p:nvPr/>
        </p:nvSpPr>
        <p:spPr>
          <a:xfrm>
            <a:off x="6309360" y="4297680"/>
            <a:ext cx="5394960" cy="114300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Vraag-antwoordspiegel:  </a:t>
            </a:r>
            <a:r>
              <a:rPr sz="1200" b="1" i="0">
                <a:solidFill>
                  <a:srgbClr val="7C3AED"/>
                </a:solidFill>
                <a:latin typeface="Inter"/>
              </a:rPr>
              <a:t>¿Cuántos años tienes?</a:t>
            </a:r>
            <a:r>
              <a:rPr sz="1200" b="0" i="0">
                <a:solidFill>
                  <a:srgbClr val="157355"/>
                </a:solidFill>
                <a:latin typeface="Inter"/>
              </a:rPr>
              <a:t> → </a:t>
            </a:r>
            <a:r>
              <a:rPr sz="1200" b="1" i="0">
                <a:solidFill>
                  <a:srgbClr val="EA7317"/>
                </a:solidFill>
                <a:latin typeface="Inter"/>
              </a:rPr>
              <a:t>Tengo ___ años.</a:t>
            </a:r>
          </a:p>
          <a:p>
            <a:pPr>
              <a:lnSpc>
                <a:spcPct val="102000"/>
              </a:lnSpc>
              <a:spcBef>
                <a:spcPts val="0"/>
              </a:spcBef>
              <a:spcAft>
                <a:spcPts val="300"/>
              </a:spcAft>
            </a:pPr>
            <a:r>
              <a:rPr sz="1200" b="1" i="0">
                <a:solidFill>
                  <a:srgbClr val="DC2626"/>
                </a:solidFill>
                <a:latin typeface="Inter"/>
              </a:rPr>
              <a:t>🔴 Apocope: </a:t>
            </a:r>
            <a:r>
              <a:rPr sz="1200" b="1" i="0">
                <a:solidFill>
                  <a:srgbClr val="1E9E74"/>
                </a:solidFill>
                <a:latin typeface="Inter"/>
              </a:rPr>
              <a:t>veintiún años, treinta y un años</a:t>
            </a:r>
            <a:r>
              <a:rPr sz="1200" b="0" i="0">
                <a:solidFill>
                  <a:srgbClr val="157355"/>
                </a:solidFill>
                <a:latin typeface="Inter"/>
              </a:rPr>
              <a:t>  (uno → un vóór «años»).</a:t>
            </a:r>
          </a:p>
        </p:txBody>
      </p:sp>
      <p:sp>
        <p:nvSpPr>
          <p:cNvPr id="59" name="Rounded Rectangle 58"/>
          <p:cNvSpPr/>
          <p:nvPr/>
        </p:nvSpPr>
        <p:spPr>
          <a:xfrm>
            <a:off x="6446520" y="4169664"/>
            <a:ext cx="138074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MODELO · docent</a:t>
            </a:r>
          </a:p>
        </p:txBody>
      </p:sp>
      <p:sp>
        <p:nvSpPr>
          <p:cNvPr id="60" name="Rectangle 5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62" name="TextBox 6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63" name="TextBox 6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89499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§3 · PRACTICA · ESCRIBE EN LETRAS</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Completa el número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Let op: 16–29 = één woord · 30–100 = drie woorden met «y». Schrijf voluit.</a:t>
            </a:r>
          </a:p>
        </p:txBody>
      </p:sp>
      <p:sp>
        <p:nvSpPr>
          <p:cNvPr id="8" name="Rounded Rectangle 7"/>
          <p:cNvSpPr/>
          <p:nvPr/>
        </p:nvSpPr>
        <p:spPr>
          <a:xfrm>
            <a:off x="457200" y="1463040"/>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664208"/>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64208"/>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18</a:t>
            </a:r>
          </a:p>
        </p:txBody>
      </p:sp>
      <p:sp>
        <p:nvSpPr>
          <p:cNvPr id="11" name="TextBox 10"/>
          <p:cNvSpPr txBox="1"/>
          <p:nvPr/>
        </p:nvSpPr>
        <p:spPr>
          <a:xfrm>
            <a:off x="1325880" y="1463040"/>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dieci______</a:t>
            </a:r>
          </a:p>
        </p:txBody>
      </p:sp>
      <p:sp>
        <p:nvSpPr>
          <p:cNvPr id="12" name="Rounded Rectangle 11"/>
          <p:cNvSpPr/>
          <p:nvPr/>
        </p:nvSpPr>
        <p:spPr>
          <a:xfrm>
            <a:off x="1325880" y="1965960"/>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dieciocho</a:t>
            </a:r>
          </a:p>
        </p:txBody>
      </p:sp>
      <p:sp>
        <p:nvSpPr>
          <p:cNvPr id="13" name="Rounded Rectangle 12"/>
          <p:cNvSpPr/>
          <p:nvPr/>
        </p:nvSpPr>
        <p:spPr>
          <a:xfrm>
            <a:off x="4251960" y="1463040"/>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61688" y="1664208"/>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1664208"/>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24</a:t>
            </a:r>
          </a:p>
        </p:txBody>
      </p:sp>
      <p:sp>
        <p:nvSpPr>
          <p:cNvPr id="16" name="TextBox 15"/>
          <p:cNvSpPr txBox="1"/>
          <p:nvPr/>
        </p:nvSpPr>
        <p:spPr>
          <a:xfrm>
            <a:off x="5120640" y="1463040"/>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veinti______</a:t>
            </a:r>
          </a:p>
        </p:txBody>
      </p:sp>
      <p:sp>
        <p:nvSpPr>
          <p:cNvPr id="17" name="Rounded Rectangle 16"/>
          <p:cNvSpPr/>
          <p:nvPr/>
        </p:nvSpPr>
        <p:spPr>
          <a:xfrm>
            <a:off x="5120640" y="1965960"/>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veinticuatro</a:t>
            </a:r>
          </a:p>
        </p:txBody>
      </p:sp>
      <p:sp>
        <p:nvSpPr>
          <p:cNvPr id="18" name="Rounded Rectangle 17"/>
          <p:cNvSpPr/>
          <p:nvPr/>
        </p:nvSpPr>
        <p:spPr>
          <a:xfrm>
            <a:off x="8046720" y="1463040"/>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56448" y="1664208"/>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664208"/>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53</a:t>
            </a:r>
          </a:p>
        </p:txBody>
      </p:sp>
      <p:sp>
        <p:nvSpPr>
          <p:cNvPr id="21" name="TextBox 20"/>
          <p:cNvSpPr txBox="1"/>
          <p:nvPr/>
        </p:nvSpPr>
        <p:spPr>
          <a:xfrm>
            <a:off x="8915400" y="1463040"/>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cincuenta ___ ______</a:t>
            </a:r>
          </a:p>
        </p:txBody>
      </p:sp>
      <p:sp>
        <p:nvSpPr>
          <p:cNvPr id="22" name="Rounded Rectangle 21"/>
          <p:cNvSpPr/>
          <p:nvPr/>
        </p:nvSpPr>
        <p:spPr>
          <a:xfrm>
            <a:off x="8915400" y="1965960"/>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cincuenta y tres</a:t>
            </a:r>
          </a:p>
        </p:txBody>
      </p:sp>
      <p:sp>
        <p:nvSpPr>
          <p:cNvPr id="23" name="Rounded Rectangle 22"/>
          <p:cNvSpPr/>
          <p:nvPr/>
        </p:nvSpPr>
        <p:spPr>
          <a:xfrm>
            <a:off x="457200" y="2578608"/>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6928" y="2779776"/>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2779776"/>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71</a:t>
            </a:r>
          </a:p>
        </p:txBody>
      </p:sp>
      <p:sp>
        <p:nvSpPr>
          <p:cNvPr id="26" name="TextBox 25"/>
          <p:cNvSpPr txBox="1"/>
          <p:nvPr/>
        </p:nvSpPr>
        <p:spPr>
          <a:xfrm>
            <a:off x="1325880" y="2578608"/>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______ y ______</a:t>
            </a:r>
          </a:p>
        </p:txBody>
      </p:sp>
      <p:sp>
        <p:nvSpPr>
          <p:cNvPr id="27" name="Rounded Rectangle 26"/>
          <p:cNvSpPr/>
          <p:nvPr/>
        </p:nvSpPr>
        <p:spPr>
          <a:xfrm>
            <a:off x="1325880" y="3081528"/>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setenta y uno</a:t>
            </a:r>
          </a:p>
        </p:txBody>
      </p:sp>
      <p:sp>
        <p:nvSpPr>
          <p:cNvPr id="28" name="Rounded Rectangle 27"/>
          <p:cNvSpPr/>
          <p:nvPr/>
        </p:nvSpPr>
        <p:spPr>
          <a:xfrm>
            <a:off x="4251960" y="2578608"/>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61688" y="2779776"/>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1688" y="2779776"/>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96</a:t>
            </a:r>
          </a:p>
        </p:txBody>
      </p:sp>
      <p:sp>
        <p:nvSpPr>
          <p:cNvPr id="31" name="TextBox 30"/>
          <p:cNvSpPr txBox="1"/>
          <p:nvPr/>
        </p:nvSpPr>
        <p:spPr>
          <a:xfrm>
            <a:off x="5120640" y="2578608"/>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______ y ______</a:t>
            </a:r>
          </a:p>
        </p:txBody>
      </p:sp>
      <p:sp>
        <p:nvSpPr>
          <p:cNvPr id="32" name="Rounded Rectangle 31"/>
          <p:cNvSpPr/>
          <p:nvPr/>
        </p:nvSpPr>
        <p:spPr>
          <a:xfrm>
            <a:off x="5120640" y="3081528"/>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noventa y seis</a:t>
            </a:r>
          </a:p>
        </p:txBody>
      </p:sp>
      <p:sp>
        <p:nvSpPr>
          <p:cNvPr id="33" name="Rounded Rectangle 32"/>
          <p:cNvSpPr/>
          <p:nvPr/>
        </p:nvSpPr>
        <p:spPr>
          <a:xfrm>
            <a:off x="8046720" y="2578608"/>
            <a:ext cx="3611880" cy="914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6448" y="2779776"/>
            <a:ext cx="640080" cy="502920"/>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56448" y="2779776"/>
            <a:ext cx="640080" cy="50292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2000" b="1" i="0">
                <a:solidFill>
                  <a:srgbClr val="157355"/>
                </a:solidFill>
                <a:latin typeface="Bricolage Grotesque"/>
              </a:rPr>
              <a:t>47</a:t>
            </a:r>
          </a:p>
        </p:txBody>
      </p:sp>
      <p:sp>
        <p:nvSpPr>
          <p:cNvPr id="36" name="TextBox 35"/>
          <p:cNvSpPr txBox="1"/>
          <p:nvPr/>
        </p:nvSpPr>
        <p:spPr>
          <a:xfrm>
            <a:off x="8915400" y="2578608"/>
            <a:ext cx="2651760" cy="9144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500" b="0" i="0">
                <a:solidFill>
                  <a:srgbClr val="20242E"/>
                </a:solidFill>
                <a:latin typeface="Inter"/>
              </a:rPr>
              <a:t>______ y ______</a:t>
            </a:r>
          </a:p>
        </p:txBody>
      </p:sp>
      <p:sp>
        <p:nvSpPr>
          <p:cNvPr id="37" name="Rounded Rectangle 36"/>
          <p:cNvSpPr/>
          <p:nvPr/>
        </p:nvSpPr>
        <p:spPr>
          <a:xfrm>
            <a:off x="8915400" y="3081528"/>
            <a:ext cx="260604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cuarenta y siete</a:t>
            </a:r>
          </a:p>
        </p:txBody>
      </p:sp>
      <p:sp>
        <p:nvSpPr>
          <p:cNvPr id="38" name="Rounded Rectangle 37"/>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9" name="Rounded Rectangle 38"/>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40" name="Rounded Rectangle 39">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41" name="TextBox 40"/>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42" name="Rounded Rectangle 41"/>
          <p:cNvSpPr/>
          <p:nvPr/>
        </p:nvSpPr>
        <p:spPr>
          <a:xfrm>
            <a:off x="457200" y="4206240"/>
            <a:ext cx="11247120" cy="11887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18 </a:t>
            </a:r>
            <a:r>
              <a:rPr sz="1200" b="1" i="0">
                <a:solidFill>
                  <a:srgbClr val="1E9E74"/>
                </a:solidFill>
                <a:latin typeface="Inter"/>
              </a:rPr>
              <a:t>dieciocho</a:t>
            </a:r>
            <a:r>
              <a:rPr sz="1200" b="1" i="0">
                <a:solidFill>
                  <a:srgbClr val="157355"/>
                </a:solidFill>
                <a:latin typeface="Inter"/>
              </a:rPr>
              <a:t>  ·  24 </a:t>
            </a:r>
            <a:r>
              <a:rPr sz="1200" b="1" i="0">
                <a:solidFill>
                  <a:srgbClr val="1E9E74"/>
                </a:solidFill>
                <a:latin typeface="Inter"/>
              </a:rPr>
              <a:t>veinticuatro</a:t>
            </a:r>
            <a:r>
              <a:rPr sz="1200" b="1" i="0">
                <a:solidFill>
                  <a:srgbClr val="157355"/>
                </a:solidFill>
                <a:latin typeface="Inter"/>
              </a:rPr>
              <a:t>  ·  53 </a:t>
            </a:r>
            <a:r>
              <a:rPr sz="1200" b="1" i="0">
                <a:solidFill>
                  <a:srgbClr val="1E9E74"/>
                </a:solidFill>
                <a:latin typeface="Inter"/>
              </a:rPr>
              <a:t>cincuenta y tres</a:t>
            </a:r>
          </a:p>
          <a:p>
            <a:pPr>
              <a:lnSpc>
                <a:spcPct val="102000"/>
              </a:lnSpc>
              <a:spcBef>
                <a:spcPts val="0"/>
              </a:spcBef>
              <a:spcAft>
                <a:spcPts val="300"/>
              </a:spcAft>
            </a:pPr>
            <a:r>
              <a:rPr sz="1200" b="1" i="0">
                <a:solidFill>
                  <a:srgbClr val="157355"/>
                </a:solidFill>
                <a:latin typeface="Inter"/>
              </a:rPr>
              <a:t>71 </a:t>
            </a:r>
            <a:r>
              <a:rPr sz="1200" b="1" i="0">
                <a:solidFill>
                  <a:srgbClr val="1E9E74"/>
                </a:solidFill>
                <a:latin typeface="Inter"/>
              </a:rPr>
              <a:t>setenta y uno</a:t>
            </a:r>
            <a:r>
              <a:rPr sz="1200" b="1" i="0">
                <a:solidFill>
                  <a:srgbClr val="157355"/>
                </a:solidFill>
                <a:latin typeface="Inter"/>
              </a:rPr>
              <a:t>  ·  96 </a:t>
            </a:r>
            <a:r>
              <a:rPr sz="1200" b="1" i="0">
                <a:solidFill>
                  <a:srgbClr val="1E9E74"/>
                </a:solidFill>
                <a:latin typeface="Inter"/>
              </a:rPr>
              <a:t>noventa y seis</a:t>
            </a:r>
            <a:r>
              <a:rPr sz="1200" b="1" i="0">
                <a:solidFill>
                  <a:srgbClr val="157355"/>
                </a:solidFill>
                <a:latin typeface="Inter"/>
              </a:rPr>
              <a:t>  ·  47 </a:t>
            </a:r>
            <a:r>
              <a:rPr sz="1200" b="1" i="0">
                <a:solidFill>
                  <a:srgbClr val="1E9E74"/>
                </a:solidFill>
                <a:latin typeface="Inter"/>
              </a:rPr>
              <a:t>cuarenta y siete</a:t>
            </a:r>
          </a:p>
          <a:p>
            <a:pPr>
              <a:lnSpc>
                <a:spcPct val="102000"/>
              </a:lnSpc>
              <a:spcBef>
                <a:spcPts val="0"/>
              </a:spcBef>
              <a:spcAft>
                <a:spcPts val="300"/>
              </a:spcAft>
            </a:pPr>
            <a:r>
              <a:rPr sz="1200" b="1" i="0">
                <a:solidFill>
                  <a:srgbClr val="157355"/>
                </a:solidFill>
                <a:latin typeface="Inter"/>
              </a:rPr>
              <a:t>Mini-transfer: </a:t>
            </a:r>
            <a:r>
              <a:rPr sz="1200" b="0" i="1">
                <a:solidFill>
                  <a:srgbClr val="157355"/>
                </a:solidFill>
                <a:latin typeface="Inter"/>
              </a:rPr>
              <a:t>schrijf jouw huisnummer en jouw schoenmaat voluit in letters.</a:t>
            </a:r>
          </a:p>
        </p:txBody>
      </p:sp>
      <p:sp>
        <p:nvSpPr>
          <p:cNvPr id="43" name="Rounded Rectangle 42"/>
          <p:cNvSpPr/>
          <p:nvPr/>
        </p:nvSpPr>
        <p:spPr>
          <a:xfrm>
            <a:off x="594360" y="4078224"/>
            <a:ext cx="154899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44" name="Rectangle 4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6" name="TextBox 4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7" name="TextBox 4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5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500"/>
                                        <p:tgtEl>
                                          <p:spTgt spid="4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05374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SALUDOS · SPEAKING</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4</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Saludar y presentarse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Kant-en-klare chunks: je leert ze als één geheel. Ze openen elke kennismaking op de reis.</a:t>
            </a:r>
          </a:p>
        </p:txBody>
      </p:sp>
      <p:sp>
        <p:nvSpPr>
          <p:cNvPr id="9" name="Rounded Rectangle 8"/>
          <p:cNvSpPr/>
          <p:nvPr/>
        </p:nvSpPr>
        <p:spPr>
          <a:xfrm>
            <a:off x="457200" y="1325880"/>
            <a:ext cx="3657600" cy="4114800"/>
          </a:xfrm>
          <a:prstGeom prst="roundRect">
            <a:avLst>
              <a:gd name="adj" fmla="val 5500"/>
            </a:avLst>
          </a:prstGeom>
          <a:solidFill>
            <a:srgbClr val="FFFFFF"/>
          </a:solidFill>
          <a:ln w="19050">
            <a:solidFill>
              <a:srgbClr val="EA7317"/>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657600" cy="438912"/>
          </a:xfrm>
          <a:prstGeom prst="rect">
            <a:avLst/>
          </a:prstGeom>
          <a:solidFill>
            <a:srgbClr val="EA7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3383280" cy="402336"/>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FFFFFF"/>
                </a:solidFill>
                <a:latin typeface="Bricolage Grotesque"/>
              </a:rPr>
              <a:t>🟠 Saludar / despedirse</a:t>
            </a:r>
          </a:p>
        </p:txBody>
      </p:sp>
      <p:sp>
        <p:nvSpPr>
          <p:cNvPr id="12" name="TextBox 11"/>
          <p:cNvSpPr txBox="1"/>
          <p:nvPr/>
        </p:nvSpPr>
        <p:spPr>
          <a:xfrm>
            <a:off x="621792" y="187451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¡Hola! · Buenos días</a:t>
            </a:r>
          </a:p>
          <a:p>
            <a:pPr algn="l">
              <a:lnSpc>
                <a:spcPct val="102000"/>
              </a:lnSpc>
              <a:spcBef>
                <a:spcPts val="0"/>
              </a:spcBef>
              <a:spcAft>
                <a:spcPts val="200"/>
              </a:spcAft>
            </a:pPr>
            <a:r>
              <a:rPr sz="1000" b="0" i="1">
                <a:solidFill>
                  <a:srgbClr val="6A6E78"/>
                </a:solidFill>
                <a:latin typeface="Inter"/>
              </a:rPr>
              <a:t>Hallo! · Goedemorgen</a:t>
            </a:r>
          </a:p>
        </p:txBody>
      </p:sp>
      <p:sp>
        <p:nvSpPr>
          <p:cNvPr id="13" name="TextBox 12"/>
          <p:cNvSpPr txBox="1"/>
          <p:nvPr/>
        </p:nvSpPr>
        <p:spPr>
          <a:xfrm>
            <a:off x="621792" y="2441447"/>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Buenas tardes / noches</a:t>
            </a:r>
          </a:p>
          <a:p>
            <a:pPr algn="l">
              <a:lnSpc>
                <a:spcPct val="102000"/>
              </a:lnSpc>
              <a:spcBef>
                <a:spcPts val="0"/>
              </a:spcBef>
              <a:spcAft>
                <a:spcPts val="200"/>
              </a:spcAft>
            </a:pPr>
            <a:r>
              <a:rPr sz="1000" b="0" i="1">
                <a:solidFill>
                  <a:srgbClr val="6A6E78"/>
                </a:solidFill>
                <a:latin typeface="Inter"/>
              </a:rPr>
              <a:t>Goeimiddag / -avond</a:t>
            </a:r>
          </a:p>
        </p:txBody>
      </p:sp>
      <p:sp>
        <p:nvSpPr>
          <p:cNvPr id="14" name="TextBox 13"/>
          <p:cNvSpPr txBox="1"/>
          <p:nvPr/>
        </p:nvSpPr>
        <p:spPr>
          <a:xfrm>
            <a:off x="621792" y="3008375"/>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¿Qué tal? · ¿Cómo estás?</a:t>
            </a:r>
          </a:p>
          <a:p>
            <a:pPr algn="l">
              <a:lnSpc>
                <a:spcPct val="102000"/>
              </a:lnSpc>
              <a:spcBef>
                <a:spcPts val="0"/>
              </a:spcBef>
              <a:spcAft>
                <a:spcPts val="200"/>
              </a:spcAft>
            </a:pPr>
            <a:r>
              <a:rPr sz="1000" b="0" i="1">
                <a:solidFill>
                  <a:srgbClr val="6A6E78"/>
                </a:solidFill>
                <a:latin typeface="Inter"/>
              </a:rPr>
              <a:t>Hoe gaat het?</a:t>
            </a:r>
          </a:p>
        </p:txBody>
      </p:sp>
      <p:sp>
        <p:nvSpPr>
          <p:cNvPr id="15" name="TextBox 14"/>
          <p:cNvSpPr txBox="1"/>
          <p:nvPr/>
        </p:nvSpPr>
        <p:spPr>
          <a:xfrm>
            <a:off x="621792" y="3575303"/>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(Muy) bien, gracias. ¿Y tú?</a:t>
            </a:r>
          </a:p>
          <a:p>
            <a:pPr algn="l">
              <a:lnSpc>
                <a:spcPct val="102000"/>
              </a:lnSpc>
              <a:spcBef>
                <a:spcPts val="0"/>
              </a:spcBef>
              <a:spcAft>
                <a:spcPts val="200"/>
              </a:spcAft>
            </a:pPr>
            <a:r>
              <a:rPr sz="1000" b="0" i="1">
                <a:solidFill>
                  <a:srgbClr val="6A6E78"/>
                </a:solidFill>
                <a:latin typeface="Inter"/>
              </a:rPr>
              <a:t>(Heel) goed, dank je. En jij?</a:t>
            </a:r>
          </a:p>
        </p:txBody>
      </p:sp>
      <p:sp>
        <p:nvSpPr>
          <p:cNvPr id="16" name="TextBox 15"/>
          <p:cNvSpPr txBox="1"/>
          <p:nvPr/>
        </p:nvSpPr>
        <p:spPr>
          <a:xfrm>
            <a:off x="621792" y="4142231"/>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Adiós · Hasta luego</a:t>
            </a:r>
          </a:p>
          <a:p>
            <a:pPr algn="l">
              <a:lnSpc>
                <a:spcPct val="102000"/>
              </a:lnSpc>
              <a:spcBef>
                <a:spcPts val="0"/>
              </a:spcBef>
              <a:spcAft>
                <a:spcPts val="200"/>
              </a:spcAft>
            </a:pPr>
            <a:r>
              <a:rPr sz="1000" b="0" i="1">
                <a:solidFill>
                  <a:srgbClr val="6A6E78"/>
                </a:solidFill>
                <a:latin typeface="Inter"/>
              </a:rPr>
              <a:t>Dag · Tot straks</a:t>
            </a:r>
          </a:p>
        </p:txBody>
      </p:sp>
      <p:sp>
        <p:nvSpPr>
          <p:cNvPr id="17" name="TextBox 16"/>
          <p:cNvSpPr txBox="1"/>
          <p:nvPr/>
        </p:nvSpPr>
        <p:spPr>
          <a:xfrm>
            <a:off x="621792" y="470915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Chao (informal)</a:t>
            </a:r>
          </a:p>
          <a:p>
            <a:pPr algn="l">
              <a:lnSpc>
                <a:spcPct val="102000"/>
              </a:lnSpc>
              <a:spcBef>
                <a:spcPts val="0"/>
              </a:spcBef>
              <a:spcAft>
                <a:spcPts val="200"/>
              </a:spcAft>
            </a:pPr>
            <a:r>
              <a:rPr sz="1000" b="0" i="1">
                <a:solidFill>
                  <a:srgbClr val="6A6E78"/>
                </a:solidFill>
                <a:latin typeface="Inter"/>
              </a:rPr>
              <a:t>Doei (onder vrienden)</a:t>
            </a:r>
          </a:p>
        </p:txBody>
      </p:sp>
      <p:sp>
        <p:nvSpPr>
          <p:cNvPr id="18" name="Rounded Rectangle 17"/>
          <p:cNvSpPr/>
          <p:nvPr/>
        </p:nvSpPr>
        <p:spPr>
          <a:xfrm>
            <a:off x="4251960" y="1325880"/>
            <a:ext cx="3657600" cy="4114800"/>
          </a:xfrm>
          <a:prstGeom prst="roundRect">
            <a:avLst>
              <a:gd name="adj" fmla="val 5500"/>
            </a:avLst>
          </a:prstGeom>
          <a:solidFill>
            <a:srgbClr val="FFFFFF"/>
          </a:solidFill>
          <a:ln w="19050">
            <a:solidFill>
              <a:srgbClr val="2563E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325880"/>
            <a:ext cx="3657600" cy="43891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1344168"/>
            <a:ext cx="3383280" cy="402336"/>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FFFFFF"/>
                </a:solidFill>
                <a:latin typeface="Bricolage Grotesque"/>
              </a:rPr>
              <a:t>🔵 Presentarse</a:t>
            </a:r>
          </a:p>
        </p:txBody>
      </p:sp>
      <p:sp>
        <p:nvSpPr>
          <p:cNvPr id="21" name="TextBox 20"/>
          <p:cNvSpPr txBox="1"/>
          <p:nvPr/>
        </p:nvSpPr>
        <p:spPr>
          <a:xfrm>
            <a:off x="4416552" y="187451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Me llamo … / Soy …</a:t>
            </a:r>
          </a:p>
          <a:p>
            <a:pPr algn="l">
              <a:lnSpc>
                <a:spcPct val="102000"/>
              </a:lnSpc>
              <a:spcBef>
                <a:spcPts val="0"/>
              </a:spcBef>
              <a:spcAft>
                <a:spcPts val="200"/>
              </a:spcAft>
            </a:pPr>
            <a:r>
              <a:rPr sz="1000" b="0" i="1">
                <a:solidFill>
                  <a:srgbClr val="6A6E78"/>
                </a:solidFill>
                <a:latin typeface="Inter"/>
              </a:rPr>
              <a:t>Ik heet … / Ik ben …</a:t>
            </a:r>
          </a:p>
        </p:txBody>
      </p:sp>
      <p:sp>
        <p:nvSpPr>
          <p:cNvPr id="22" name="TextBox 21"/>
          <p:cNvSpPr txBox="1"/>
          <p:nvPr/>
        </p:nvSpPr>
        <p:spPr>
          <a:xfrm>
            <a:off x="4416552" y="2441447"/>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¿Cómo te llamas?</a:t>
            </a:r>
          </a:p>
          <a:p>
            <a:pPr algn="l">
              <a:lnSpc>
                <a:spcPct val="102000"/>
              </a:lnSpc>
              <a:spcBef>
                <a:spcPts val="0"/>
              </a:spcBef>
              <a:spcAft>
                <a:spcPts val="200"/>
              </a:spcAft>
            </a:pPr>
            <a:r>
              <a:rPr sz="1000" b="0" i="1">
                <a:solidFill>
                  <a:srgbClr val="6A6E78"/>
                </a:solidFill>
                <a:latin typeface="Inter"/>
              </a:rPr>
              <a:t>Hoe heet jij?</a:t>
            </a:r>
          </a:p>
        </p:txBody>
      </p:sp>
      <p:sp>
        <p:nvSpPr>
          <p:cNvPr id="23" name="TextBox 22"/>
          <p:cNvSpPr txBox="1"/>
          <p:nvPr/>
        </p:nvSpPr>
        <p:spPr>
          <a:xfrm>
            <a:off x="4416552" y="3008375"/>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Encantado / Encantada</a:t>
            </a:r>
          </a:p>
          <a:p>
            <a:pPr algn="l">
              <a:lnSpc>
                <a:spcPct val="102000"/>
              </a:lnSpc>
              <a:spcBef>
                <a:spcPts val="0"/>
              </a:spcBef>
              <a:spcAft>
                <a:spcPts val="200"/>
              </a:spcAft>
            </a:pPr>
            <a:r>
              <a:rPr sz="1000" b="0" i="1">
                <a:solidFill>
                  <a:srgbClr val="6A6E78"/>
                </a:solidFill>
                <a:latin typeface="Inter"/>
              </a:rPr>
              <a:t>Aangenaam (m / v)</a:t>
            </a:r>
          </a:p>
        </p:txBody>
      </p:sp>
      <p:sp>
        <p:nvSpPr>
          <p:cNvPr id="24" name="TextBox 23"/>
          <p:cNvSpPr txBox="1"/>
          <p:nvPr/>
        </p:nvSpPr>
        <p:spPr>
          <a:xfrm>
            <a:off x="4416552" y="3575303"/>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Mucho gusto · Igualmente</a:t>
            </a:r>
          </a:p>
          <a:p>
            <a:pPr algn="l">
              <a:lnSpc>
                <a:spcPct val="102000"/>
              </a:lnSpc>
              <a:spcBef>
                <a:spcPts val="0"/>
              </a:spcBef>
              <a:spcAft>
                <a:spcPts val="200"/>
              </a:spcAft>
            </a:pPr>
            <a:r>
              <a:rPr sz="1000" b="0" i="1">
                <a:solidFill>
                  <a:srgbClr val="6A6E78"/>
                </a:solidFill>
                <a:latin typeface="Inter"/>
              </a:rPr>
              <a:t>Aangenaam · Insgelijks</a:t>
            </a:r>
          </a:p>
        </p:txBody>
      </p:sp>
      <p:sp>
        <p:nvSpPr>
          <p:cNvPr id="25" name="TextBox 24"/>
          <p:cNvSpPr txBox="1"/>
          <p:nvPr/>
        </p:nvSpPr>
        <p:spPr>
          <a:xfrm>
            <a:off x="4416552" y="4142231"/>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Este es… / Esta es…</a:t>
            </a:r>
          </a:p>
          <a:p>
            <a:pPr algn="l">
              <a:lnSpc>
                <a:spcPct val="102000"/>
              </a:lnSpc>
              <a:spcBef>
                <a:spcPts val="0"/>
              </a:spcBef>
              <a:spcAft>
                <a:spcPts val="200"/>
              </a:spcAft>
            </a:pPr>
            <a:r>
              <a:rPr sz="1000" b="0" i="1">
                <a:solidFill>
                  <a:srgbClr val="6A6E78"/>
                </a:solidFill>
                <a:latin typeface="Inter"/>
              </a:rPr>
              <a:t>Dit is… (m / v)</a:t>
            </a:r>
          </a:p>
        </p:txBody>
      </p:sp>
      <p:sp>
        <p:nvSpPr>
          <p:cNvPr id="26" name="TextBox 25"/>
          <p:cNvSpPr txBox="1"/>
          <p:nvPr/>
        </p:nvSpPr>
        <p:spPr>
          <a:xfrm>
            <a:off x="4416552" y="470915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Soy de Bélgica.</a:t>
            </a:r>
          </a:p>
          <a:p>
            <a:pPr algn="l">
              <a:lnSpc>
                <a:spcPct val="102000"/>
              </a:lnSpc>
              <a:spcBef>
                <a:spcPts val="0"/>
              </a:spcBef>
              <a:spcAft>
                <a:spcPts val="200"/>
              </a:spcAft>
            </a:pPr>
            <a:r>
              <a:rPr sz="1000" b="0" i="1">
                <a:solidFill>
                  <a:srgbClr val="6A6E78"/>
                </a:solidFill>
                <a:latin typeface="Inter"/>
              </a:rPr>
              <a:t>Ik kom uit België.</a:t>
            </a:r>
          </a:p>
        </p:txBody>
      </p:sp>
      <p:sp>
        <p:nvSpPr>
          <p:cNvPr id="27" name="Rounded Rectangle 26"/>
          <p:cNvSpPr/>
          <p:nvPr/>
        </p:nvSpPr>
        <p:spPr>
          <a:xfrm>
            <a:off x="8046720" y="1325880"/>
            <a:ext cx="3657600" cy="4114800"/>
          </a:xfrm>
          <a:prstGeom prst="roundRect">
            <a:avLst>
              <a:gd name="adj" fmla="val 5500"/>
            </a:avLst>
          </a:prstGeom>
          <a:solidFill>
            <a:srgbClr val="FFFFFF"/>
          </a:solidFill>
          <a:ln w="19050">
            <a:solidFill>
              <a:srgbClr val="EAB308"/>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46720" y="1325880"/>
            <a:ext cx="3657600" cy="438912"/>
          </a:xfrm>
          <a:prstGeom prst="rect">
            <a:avLst/>
          </a:prstGeom>
          <a:solidFill>
            <a:srgbClr val="EAB3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80" y="1344168"/>
            <a:ext cx="3383280" cy="402336"/>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00" b="1" i="0">
                <a:solidFill>
                  <a:srgbClr val="FFFFFF"/>
                </a:solidFill>
                <a:latin typeface="Bricolage Grotesque"/>
              </a:rPr>
              <a:t>🟡 Lengua de clase</a:t>
            </a:r>
          </a:p>
        </p:txBody>
      </p:sp>
      <p:sp>
        <p:nvSpPr>
          <p:cNvPr id="30" name="TextBox 29"/>
          <p:cNvSpPr txBox="1"/>
          <p:nvPr/>
        </p:nvSpPr>
        <p:spPr>
          <a:xfrm>
            <a:off x="8211312" y="187451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¿Cómo se dice … en español?</a:t>
            </a:r>
          </a:p>
          <a:p>
            <a:pPr algn="l">
              <a:lnSpc>
                <a:spcPct val="102000"/>
              </a:lnSpc>
              <a:spcBef>
                <a:spcPts val="0"/>
              </a:spcBef>
              <a:spcAft>
                <a:spcPts val="200"/>
              </a:spcAft>
            </a:pPr>
            <a:r>
              <a:rPr sz="1000" b="0" i="1">
                <a:solidFill>
                  <a:srgbClr val="6A6E78"/>
                </a:solidFill>
                <a:latin typeface="Inter"/>
              </a:rPr>
              <a:t>Hoe zeg je … in het Spaans?</a:t>
            </a:r>
          </a:p>
        </p:txBody>
      </p:sp>
      <p:sp>
        <p:nvSpPr>
          <p:cNvPr id="31" name="TextBox 30"/>
          <p:cNvSpPr txBox="1"/>
          <p:nvPr/>
        </p:nvSpPr>
        <p:spPr>
          <a:xfrm>
            <a:off x="8211312" y="2441447"/>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¿Qué significa …?</a:t>
            </a:r>
          </a:p>
          <a:p>
            <a:pPr algn="l">
              <a:lnSpc>
                <a:spcPct val="102000"/>
              </a:lnSpc>
              <a:spcBef>
                <a:spcPts val="0"/>
              </a:spcBef>
              <a:spcAft>
                <a:spcPts val="200"/>
              </a:spcAft>
            </a:pPr>
            <a:r>
              <a:rPr sz="1000" b="0" i="1">
                <a:solidFill>
                  <a:srgbClr val="6A6E78"/>
                </a:solidFill>
                <a:latin typeface="Inter"/>
              </a:rPr>
              <a:t>Wat betekent …?</a:t>
            </a:r>
          </a:p>
        </p:txBody>
      </p:sp>
      <p:sp>
        <p:nvSpPr>
          <p:cNvPr id="32" name="TextBox 31"/>
          <p:cNvSpPr txBox="1"/>
          <p:nvPr/>
        </p:nvSpPr>
        <p:spPr>
          <a:xfrm>
            <a:off x="8211312" y="3008375"/>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No entiendo.</a:t>
            </a:r>
          </a:p>
          <a:p>
            <a:pPr algn="l">
              <a:lnSpc>
                <a:spcPct val="102000"/>
              </a:lnSpc>
              <a:spcBef>
                <a:spcPts val="0"/>
              </a:spcBef>
              <a:spcAft>
                <a:spcPts val="200"/>
              </a:spcAft>
            </a:pPr>
            <a:r>
              <a:rPr sz="1000" b="0" i="1">
                <a:solidFill>
                  <a:srgbClr val="6A6E78"/>
                </a:solidFill>
                <a:latin typeface="Inter"/>
              </a:rPr>
              <a:t>Ik begrijp het niet.</a:t>
            </a:r>
          </a:p>
        </p:txBody>
      </p:sp>
      <p:sp>
        <p:nvSpPr>
          <p:cNvPr id="33" name="TextBox 32"/>
          <p:cNvSpPr txBox="1"/>
          <p:nvPr/>
        </p:nvSpPr>
        <p:spPr>
          <a:xfrm>
            <a:off x="8211312" y="3575303"/>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¿Puedes repetir, por favor?</a:t>
            </a:r>
          </a:p>
          <a:p>
            <a:pPr algn="l">
              <a:lnSpc>
                <a:spcPct val="102000"/>
              </a:lnSpc>
              <a:spcBef>
                <a:spcPts val="0"/>
              </a:spcBef>
              <a:spcAft>
                <a:spcPts val="200"/>
              </a:spcAft>
            </a:pPr>
            <a:r>
              <a:rPr sz="1000" b="0" i="1">
                <a:solidFill>
                  <a:srgbClr val="6A6E78"/>
                </a:solidFill>
                <a:latin typeface="Inter"/>
              </a:rPr>
              <a:t>Kun je herhalen, a.u.b.?</a:t>
            </a:r>
          </a:p>
        </p:txBody>
      </p:sp>
      <p:sp>
        <p:nvSpPr>
          <p:cNvPr id="34" name="TextBox 33"/>
          <p:cNvSpPr txBox="1"/>
          <p:nvPr/>
        </p:nvSpPr>
        <p:spPr>
          <a:xfrm>
            <a:off x="8211312" y="4142231"/>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Más despacio, por favor.</a:t>
            </a:r>
          </a:p>
          <a:p>
            <a:pPr algn="l">
              <a:lnSpc>
                <a:spcPct val="102000"/>
              </a:lnSpc>
              <a:spcBef>
                <a:spcPts val="0"/>
              </a:spcBef>
              <a:spcAft>
                <a:spcPts val="200"/>
              </a:spcAft>
            </a:pPr>
            <a:r>
              <a:rPr sz="1000" b="0" i="1">
                <a:solidFill>
                  <a:srgbClr val="6A6E78"/>
                </a:solidFill>
                <a:latin typeface="Inter"/>
              </a:rPr>
              <a:t>Trager, a.u.b.</a:t>
            </a:r>
          </a:p>
        </p:txBody>
      </p:sp>
      <p:sp>
        <p:nvSpPr>
          <p:cNvPr id="35" name="TextBox 34"/>
          <p:cNvSpPr txBox="1"/>
          <p:nvPr/>
        </p:nvSpPr>
        <p:spPr>
          <a:xfrm>
            <a:off x="8211312" y="4709159"/>
            <a:ext cx="3328416" cy="502920"/>
          </a:xfrm>
          <a:prstGeom prst="rect">
            <a:avLst/>
          </a:prstGeom>
          <a:noFill/>
        </p:spPr>
        <p:txBody>
          <a:bodyPr wrap="square" anchor="t" lIns="38100" rIns="38100" tIns="25400" bIns="25400">
            <a:spAutoFit/>
          </a:bodyPr>
          <a:lstStyle/>
          <a:p>
            <a:pPr algn="l">
              <a:lnSpc>
                <a:spcPct val="102000"/>
              </a:lnSpc>
              <a:spcBef>
                <a:spcPts val="0"/>
              </a:spcBef>
              <a:spcAft>
                <a:spcPts val="200"/>
              </a:spcAft>
            </a:pPr>
            <a:r>
              <a:rPr sz="1200" b="1" i="0">
                <a:solidFill>
                  <a:srgbClr val="20242E"/>
                </a:solidFill>
                <a:latin typeface="Inter"/>
              </a:rPr>
              <a:t>¿Cómo se escribe?</a:t>
            </a:r>
          </a:p>
          <a:p>
            <a:pPr algn="l">
              <a:lnSpc>
                <a:spcPct val="102000"/>
              </a:lnSpc>
              <a:spcBef>
                <a:spcPts val="0"/>
              </a:spcBef>
              <a:spcAft>
                <a:spcPts val="200"/>
              </a:spcAft>
            </a:pPr>
            <a:r>
              <a:rPr sz="1000" b="0" i="1">
                <a:solidFill>
                  <a:srgbClr val="6A6E78"/>
                </a:solidFill>
                <a:latin typeface="Inter"/>
              </a:rPr>
              <a:t>Hoe schrijf je dat?</a:t>
            </a:r>
          </a:p>
        </p:txBody>
      </p:sp>
      <p:sp>
        <p:nvSpPr>
          <p:cNvPr id="36" name="Rectangle 35"/>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8" name="TextBox 37"/>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9" name="TextBox 38"/>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85492"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DIÁLOGO · MODELO</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Presentarse en vivo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Een kennismaking van begin tot eind. Route: saludar → presentarse → preguntar → reaccionar → despedirse.</a:t>
            </a:r>
          </a:p>
        </p:txBody>
      </p:sp>
      <p:pic>
        <p:nvPicPr>
          <p:cNvPr id="8" name="Picture 7" descr="lucia.png"/>
          <p:cNvPicPr>
            <a:picLocks noChangeAspect="1"/>
          </p:cNvPicPr>
          <p:nvPr/>
        </p:nvPicPr>
        <p:blipFill>
          <a:blip r:embed="rId2"/>
          <a:stretch>
            <a:fillRect/>
          </a:stretch>
        </p:blipFill>
        <p:spPr>
          <a:xfrm>
            <a:off x="457200" y="1325880"/>
            <a:ext cx="566928" cy="566928"/>
          </a:xfrm>
          <a:prstGeom prst="rect">
            <a:avLst/>
          </a:prstGeom>
        </p:spPr>
      </p:pic>
      <p:sp>
        <p:nvSpPr>
          <p:cNvPr id="9" name="Rounded Rectangle 8"/>
          <p:cNvSpPr/>
          <p:nvPr/>
        </p:nvSpPr>
        <p:spPr>
          <a:xfrm>
            <a:off x="1143000" y="1325880"/>
            <a:ext cx="6766560" cy="658368"/>
          </a:xfrm>
          <a:prstGeom prst="roundRect">
            <a:avLst>
              <a:gd name="adj" fmla="val 14000"/>
            </a:avLst>
          </a:prstGeom>
          <a:solidFill>
            <a:srgbClr val="E4F4EE"/>
          </a:solidFill>
          <a:ln w="15240">
            <a:solidFill>
              <a:srgbClr val="E07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l"/>
            <a:r>
              <a:rPr sz="1100" b="1">
                <a:solidFill>
                  <a:srgbClr val="E07A5F"/>
                </a:solidFill>
                <a:latin typeface="Inter"/>
              </a:rPr>
              <a:t>Lucía: </a:t>
            </a:r>
            <a:r>
              <a:rPr sz="1300">
                <a:solidFill>
                  <a:srgbClr val="20242E"/>
                </a:solidFill>
                <a:latin typeface="Inter"/>
              </a:rPr>
              <a:t>¡Hola! Buenos días. Me llamo Lucía. ¿Y tú, cómo te llamas?</a:t>
            </a:r>
          </a:p>
        </p:txBody>
      </p:sp>
      <p:pic>
        <p:nvPicPr>
          <p:cNvPr id="10" name="Picture 9" descr="tu.png"/>
          <p:cNvPicPr>
            <a:picLocks noChangeAspect="1"/>
          </p:cNvPicPr>
          <p:nvPr/>
        </p:nvPicPr>
        <p:blipFill>
          <a:blip r:embed="rId3"/>
          <a:stretch>
            <a:fillRect/>
          </a:stretch>
        </p:blipFill>
        <p:spPr>
          <a:xfrm>
            <a:off x="11155680" y="2075688"/>
            <a:ext cx="566928" cy="566928"/>
          </a:xfrm>
          <a:prstGeom prst="rect">
            <a:avLst/>
          </a:prstGeom>
        </p:spPr>
      </p:pic>
      <p:sp>
        <p:nvSpPr>
          <p:cNvPr id="11" name="Rounded Rectangle 10"/>
          <p:cNvSpPr/>
          <p:nvPr/>
        </p:nvSpPr>
        <p:spPr>
          <a:xfrm>
            <a:off x="4754880" y="2075688"/>
            <a:ext cx="6309360" cy="658368"/>
          </a:xfrm>
          <a:prstGeom prst="roundRect">
            <a:avLst>
              <a:gd name="adj" fmla="val 14000"/>
            </a:avLst>
          </a:prstGeom>
          <a:solidFill>
            <a:srgbClr val="EAEEFC"/>
          </a:solidFill>
          <a:ln w="15240">
            <a:solidFill>
              <a:srgbClr val="8A7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r"/>
            <a:r>
              <a:rPr sz="1100" b="1">
                <a:solidFill>
                  <a:srgbClr val="8A7BE0"/>
                </a:solidFill>
                <a:latin typeface="Inter"/>
              </a:rPr>
              <a:t>Tú: </a:t>
            </a:r>
            <a:r>
              <a:rPr sz="1300">
                <a:solidFill>
                  <a:srgbClr val="20242E"/>
                </a:solidFill>
                <a:latin typeface="Inter"/>
              </a:rPr>
              <a:t>Hola, buenos días. Soy Tom. Soy de Bélgica.</a:t>
            </a:r>
          </a:p>
        </p:txBody>
      </p:sp>
      <p:pic>
        <p:nvPicPr>
          <p:cNvPr id="12" name="Picture 11" descr="lucia.png"/>
          <p:cNvPicPr>
            <a:picLocks noChangeAspect="1"/>
          </p:cNvPicPr>
          <p:nvPr/>
        </p:nvPicPr>
        <p:blipFill>
          <a:blip r:embed="rId2"/>
          <a:stretch>
            <a:fillRect/>
          </a:stretch>
        </p:blipFill>
        <p:spPr>
          <a:xfrm>
            <a:off x="457200" y="2825496"/>
            <a:ext cx="566928" cy="566928"/>
          </a:xfrm>
          <a:prstGeom prst="rect">
            <a:avLst/>
          </a:prstGeom>
        </p:spPr>
      </p:pic>
      <p:sp>
        <p:nvSpPr>
          <p:cNvPr id="13" name="Rounded Rectangle 12"/>
          <p:cNvSpPr/>
          <p:nvPr/>
        </p:nvSpPr>
        <p:spPr>
          <a:xfrm>
            <a:off x="1143000" y="2825496"/>
            <a:ext cx="6766560" cy="658368"/>
          </a:xfrm>
          <a:prstGeom prst="roundRect">
            <a:avLst>
              <a:gd name="adj" fmla="val 14000"/>
            </a:avLst>
          </a:prstGeom>
          <a:solidFill>
            <a:srgbClr val="E4F4EE"/>
          </a:solidFill>
          <a:ln w="15240">
            <a:solidFill>
              <a:srgbClr val="E07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l"/>
            <a:r>
              <a:rPr sz="1100" b="1">
                <a:solidFill>
                  <a:srgbClr val="E07A5F"/>
                </a:solidFill>
                <a:latin typeface="Inter"/>
              </a:rPr>
              <a:t>Lucía: </a:t>
            </a:r>
            <a:r>
              <a:rPr sz="1300">
                <a:solidFill>
                  <a:srgbClr val="20242E"/>
                </a:solidFill>
                <a:latin typeface="Inter"/>
              </a:rPr>
              <a:t>¡Encantada, Tom!</a:t>
            </a:r>
          </a:p>
        </p:txBody>
      </p:sp>
      <p:pic>
        <p:nvPicPr>
          <p:cNvPr id="14" name="Picture 13" descr="tu.png"/>
          <p:cNvPicPr>
            <a:picLocks noChangeAspect="1"/>
          </p:cNvPicPr>
          <p:nvPr/>
        </p:nvPicPr>
        <p:blipFill>
          <a:blip r:embed="rId3"/>
          <a:stretch>
            <a:fillRect/>
          </a:stretch>
        </p:blipFill>
        <p:spPr>
          <a:xfrm>
            <a:off x="11155680" y="3575304"/>
            <a:ext cx="566928" cy="566928"/>
          </a:xfrm>
          <a:prstGeom prst="rect">
            <a:avLst/>
          </a:prstGeom>
        </p:spPr>
      </p:pic>
      <p:sp>
        <p:nvSpPr>
          <p:cNvPr id="15" name="Rounded Rectangle 14"/>
          <p:cNvSpPr/>
          <p:nvPr/>
        </p:nvSpPr>
        <p:spPr>
          <a:xfrm>
            <a:off x="4754880" y="3575304"/>
            <a:ext cx="6309360" cy="658368"/>
          </a:xfrm>
          <a:prstGeom prst="roundRect">
            <a:avLst>
              <a:gd name="adj" fmla="val 14000"/>
            </a:avLst>
          </a:prstGeom>
          <a:solidFill>
            <a:srgbClr val="EAEEFC"/>
          </a:solidFill>
          <a:ln w="15240">
            <a:solidFill>
              <a:srgbClr val="8A7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r"/>
            <a:r>
              <a:rPr sz="1100" b="1">
                <a:solidFill>
                  <a:srgbClr val="8A7BE0"/>
                </a:solidFill>
                <a:latin typeface="Inter"/>
              </a:rPr>
              <a:t>Tú: </a:t>
            </a:r>
            <a:r>
              <a:rPr sz="1300">
                <a:solidFill>
                  <a:srgbClr val="20242E"/>
                </a:solidFill>
                <a:latin typeface="Inter"/>
              </a:rPr>
              <a:t>Igualmente. ¿Qué tal?</a:t>
            </a:r>
          </a:p>
        </p:txBody>
      </p:sp>
      <p:pic>
        <p:nvPicPr>
          <p:cNvPr id="16" name="Picture 15" descr="lucia.png"/>
          <p:cNvPicPr>
            <a:picLocks noChangeAspect="1"/>
          </p:cNvPicPr>
          <p:nvPr/>
        </p:nvPicPr>
        <p:blipFill>
          <a:blip r:embed="rId2"/>
          <a:stretch>
            <a:fillRect/>
          </a:stretch>
        </p:blipFill>
        <p:spPr>
          <a:xfrm>
            <a:off x="457200" y="4325112"/>
            <a:ext cx="566928" cy="566928"/>
          </a:xfrm>
          <a:prstGeom prst="rect">
            <a:avLst/>
          </a:prstGeom>
        </p:spPr>
      </p:pic>
      <p:sp>
        <p:nvSpPr>
          <p:cNvPr id="17" name="Rounded Rectangle 16"/>
          <p:cNvSpPr/>
          <p:nvPr/>
        </p:nvSpPr>
        <p:spPr>
          <a:xfrm>
            <a:off x="1143000" y="4325112"/>
            <a:ext cx="6766560" cy="658368"/>
          </a:xfrm>
          <a:prstGeom prst="roundRect">
            <a:avLst>
              <a:gd name="adj" fmla="val 14000"/>
            </a:avLst>
          </a:prstGeom>
          <a:solidFill>
            <a:srgbClr val="E4F4EE"/>
          </a:solidFill>
          <a:ln w="15240">
            <a:solidFill>
              <a:srgbClr val="E07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l"/>
            <a:r>
              <a:rPr sz="1100" b="1">
                <a:solidFill>
                  <a:srgbClr val="E07A5F"/>
                </a:solidFill>
                <a:latin typeface="Inter"/>
              </a:rPr>
              <a:t>Lucía: </a:t>
            </a:r>
            <a:r>
              <a:rPr sz="1300">
                <a:solidFill>
                  <a:srgbClr val="20242E"/>
                </a:solidFill>
                <a:latin typeface="Inter"/>
              </a:rPr>
              <a:t>Muy bien, gracias. ¡Hasta luego!</a:t>
            </a:r>
          </a:p>
        </p:txBody>
      </p:sp>
      <p:pic>
        <p:nvPicPr>
          <p:cNvPr id="18" name="Picture 17" descr="tu.png"/>
          <p:cNvPicPr>
            <a:picLocks noChangeAspect="1"/>
          </p:cNvPicPr>
          <p:nvPr/>
        </p:nvPicPr>
        <p:blipFill>
          <a:blip r:embed="rId3"/>
          <a:stretch>
            <a:fillRect/>
          </a:stretch>
        </p:blipFill>
        <p:spPr>
          <a:xfrm>
            <a:off x="11155680" y="5074920"/>
            <a:ext cx="566928" cy="566928"/>
          </a:xfrm>
          <a:prstGeom prst="rect">
            <a:avLst/>
          </a:prstGeom>
        </p:spPr>
      </p:pic>
      <p:sp>
        <p:nvSpPr>
          <p:cNvPr id="19" name="Rounded Rectangle 18"/>
          <p:cNvSpPr/>
          <p:nvPr/>
        </p:nvSpPr>
        <p:spPr>
          <a:xfrm>
            <a:off x="4754880" y="5074920"/>
            <a:ext cx="6309360" cy="658368"/>
          </a:xfrm>
          <a:prstGeom prst="roundRect">
            <a:avLst>
              <a:gd name="adj" fmla="val 14000"/>
            </a:avLst>
          </a:prstGeom>
          <a:solidFill>
            <a:srgbClr val="EAEEFC"/>
          </a:solidFill>
          <a:ln w="15240">
            <a:solidFill>
              <a:srgbClr val="8A7BE0"/>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a:lstStyle/>
          <a:p>
            <a:pPr algn="r"/>
            <a:r>
              <a:rPr sz="1100" b="1">
                <a:solidFill>
                  <a:srgbClr val="8A7BE0"/>
                </a:solidFill>
                <a:latin typeface="Inter"/>
              </a:rPr>
              <a:t>Tú: </a:t>
            </a:r>
            <a:r>
              <a:rPr sz="1300">
                <a:solidFill>
                  <a:srgbClr val="20242E"/>
                </a:solidFill>
                <a:latin typeface="Inter"/>
              </a:rPr>
              <a:t>¡Adiós!</a:t>
            </a:r>
          </a:p>
        </p:txBody>
      </p:sp>
      <p:sp>
        <p:nvSpPr>
          <p:cNvPr id="20" name="Rounded Rectangle 19"/>
          <p:cNvSpPr/>
          <p:nvPr/>
        </p:nvSpPr>
        <p:spPr>
          <a:xfrm>
            <a:off x="457200" y="5532120"/>
            <a:ext cx="11247120" cy="8686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Opmerken (betekenis vóór vorm): </a:t>
            </a:r>
            <a:r>
              <a:rPr sz="1200" b="0" i="0">
                <a:solidFill>
                  <a:srgbClr val="157355"/>
                </a:solidFill>
                <a:latin typeface="Inter"/>
              </a:rPr>
              <a:t>Lucía reageert op «Soy Tom» met </a:t>
            </a:r>
            <a:r>
              <a:rPr sz="1200" b="1" i="0">
                <a:solidFill>
                  <a:srgbClr val="1E9E74"/>
                </a:solidFill>
                <a:latin typeface="Inter"/>
              </a:rPr>
              <a:t>«¡Encantada!»</a:t>
            </a:r>
            <a:r>
              <a:rPr sz="1200" b="0" i="0">
                <a:solidFill>
                  <a:srgbClr val="157355"/>
                </a:solidFill>
                <a:latin typeface="Inter"/>
              </a:rPr>
              <a:t>. Tú antwoordt </a:t>
            </a:r>
            <a:r>
              <a:rPr sz="1200" b="1" i="0">
                <a:solidFill>
                  <a:srgbClr val="1E9E74"/>
                </a:solidFill>
                <a:latin typeface="Inter"/>
              </a:rPr>
              <a:t>«Igualmente»</a:t>
            </a:r>
            <a:r>
              <a:rPr sz="1200" b="0" i="0">
                <a:solidFill>
                  <a:srgbClr val="157355"/>
                </a:solidFill>
                <a:latin typeface="Inter"/>
              </a:rPr>
              <a:t>. Begin = saludo, einde = despedida (Hasta luego / Adiós).</a:t>
            </a:r>
          </a:p>
        </p:txBody>
      </p:sp>
      <p:sp>
        <p:nvSpPr>
          <p:cNvPr id="21" name="Rounded Rectangle 20"/>
          <p:cNvSpPr/>
          <p:nvPr/>
        </p:nvSpPr>
        <p:spPr>
          <a:xfrm>
            <a:off x="594360" y="5404104"/>
            <a:ext cx="154899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OBSERVAR · docent</a:t>
            </a:r>
          </a:p>
        </p:txBody>
      </p:sp>
      <p:sp>
        <p:nvSpPr>
          <p:cNvPr id="22" name="Rectangle 2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4" name="TextBox 2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5" name="TextBox 2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801367"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§4 · LENGUA DE CLASE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¿Qué dices? — la reddingsboei</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Koppel elke situatie aan de juiste klastaal-chunk. Betekenis vóór vorm: kies je 'reddingsboei'.</a:t>
            </a:r>
          </a:p>
        </p:txBody>
      </p:sp>
      <p:sp>
        <p:nvSpPr>
          <p:cNvPr id="8" name="Rounded Rectangle 7"/>
          <p:cNvSpPr/>
          <p:nvPr/>
        </p:nvSpPr>
        <p:spPr>
          <a:xfrm>
            <a:off x="457200" y="1280160"/>
            <a:ext cx="10058400"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50" b="1">
                <a:solidFill>
                  <a:srgbClr val="157355"/>
                </a:solidFill>
                <a:latin typeface="Inter"/>
              </a:rPr>
              <a:t>Banco de frases:  ¿cómo se dice…?  ·  no entiendo  ·  ¿puedes repetir?  ·  más despacio  ·  ¿qué significa…?</a:t>
            </a:r>
          </a:p>
        </p:txBody>
      </p:sp>
      <p:sp>
        <p:nvSpPr>
          <p:cNvPr id="9" name="Rounded Rectangle 8"/>
          <p:cNvSpPr/>
          <p:nvPr/>
        </p:nvSpPr>
        <p:spPr>
          <a:xfrm>
            <a:off x="457200" y="178308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200253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0253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1</a:t>
            </a:r>
          </a:p>
        </p:txBody>
      </p:sp>
      <p:sp>
        <p:nvSpPr>
          <p:cNvPr id="12" name="TextBox 11"/>
          <p:cNvSpPr txBox="1"/>
          <p:nvPr/>
        </p:nvSpPr>
        <p:spPr>
          <a:xfrm>
            <a:off x="1051560" y="178308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De docent praat te snel.</a:t>
            </a:r>
          </a:p>
        </p:txBody>
      </p:sp>
      <p:sp>
        <p:nvSpPr>
          <p:cNvPr id="13" name="Rectangle 12"/>
          <p:cNvSpPr/>
          <p:nvPr/>
        </p:nvSpPr>
        <p:spPr>
          <a:xfrm>
            <a:off x="6172200" y="224028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80136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Más despacio, por favor.</a:t>
            </a:r>
          </a:p>
        </p:txBody>
      </p:sp>
      <p:sp>
        <p:nvSpPr>
          <p:cNvPr id="15" name="Rounded Rectangle 14"/>
          <p:cNvSpPr/>
          <p:nvPr/>
        </p:nvSpPr>
        <p:spPr>
          <a:xfrm>
            <a:off x="457200" y="265176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287121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7121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2</a:t>
            </a:r>
          </a:p>
        </p:txBody>
      </p:sp>
      <p:sp>
        <p:nvSpPr>
          <p:cNvPr id="18" name="TextBox 17"/>
          <p:cNvSpPr txBox="1"/>
          <p:nvPr/>
        </p:nvSpPr>
        <p:spPr>
          <a:xfrm>
            <a:off x="1051560" y="265176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Je kent een woord niet in het Spaans.</a:t>
            </a:r>
          </a:p>
        </p:txBody>
      </p:sp>
      <p:sp>
        <p:nvSpPr>
          <p:cNvPr id="19" name="Rectangle 18"/>
          <p:cNvSpPr/>
          <p:nvPr/>
        </p:nvSpPr>
        <p:spPr>
          <a:xfrm>
            <a:off x="6172200" y="310896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267004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¿Cómo se dice «…» en español?</a:t>
            </a:r>
          </a:p>
        </p:txBody>
      </p:sp>
      <p:sp>
        <p:nvSpPr>
          <p:cNvPr id="21" name="Rounded Rectangle 20"/>
          <p:cNvSpPr/>
          <p:nvPr/>
        </p:nvSpPr>
        <p:spPr>
          <a:xfrm>
            <a:off x="457200" y="352044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6928" y="373989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3989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3</a:t>
            </a:r>
          </a:p>
        </p:txBody>
      </p:sp>
      <p:sp>
        <p:nvSpPr>
          <p:cNvPr id="24" name="TextBox 23"/>
          <p:cNvSpPr txBox="1"/>
          <p:nvPr/>
        </p:nvSpPr>
        <p:spPr>
          <a:xfrm>
            <a:off x="1051560" y="352044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Je verstond de vraag niet.</a:t>
            </a:r>
          </a:p>
        </p:txBody>
      </p:sp>
      <p:sp>
        <p:nvSpPr>
          <p:cNvPr id="25" name="Rectangle 24"/>
          <p:cNvSpPr/>
          <p:nvPr/>
        </p:nvSpPr>
        <p:spPr>
          <a:xfrm>
            <a:off x="6172200" y="397764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353872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¿Puedes repetir, por favor?</a:t>
            </a:r>
          </a:p>
        </p:txBody>
      </p:sp>
      <p:sp>
        <p:nvSpPr>
          <p:cNvPr id="27" name="Rounded Rectangle 26"/>
          <p:cNvSpPr/>
          <p:nvPr/>
        </p:nvSpPr>
        <p:spPr>
          <a:xfrm>
            <a:off x="457200" y="4389120"/>
            <a:ext cx="5577840" cy="777240"/>
          </a:xfrm>
          <a:prstGeom prst="roundRect">
            <a:avLst>
              <a:gd name="adj" fmla="val 5500"/>
            </a:avLst>
          </a:prstGeom>
          <a:solidFill>
            <a:srgbClr val="FFFFFF"/>
          </a:solidFill>
          <a:ln w="1397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4608576"/>
            <a:ext cx="347472" cy="347472"/>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608576"/>
            <a:ext cx="347472" cy="347472"/>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4</a:t>
            </a:r>
          </a:p>
        </p:txBody>
      </p:sp>
      <p:sp>
        <p:nvSpPr>
          <p:cNvPr id="30" name="TextBox 29"/>
          <p:cNvSpPr txBox="1"/>
          <p:nvPr/>
        </p:nvSpPr>
        <p:spPr>
          <a:xfrm>
            <a:off x="1051560" y="4389120"/>
            <a:ext cx="4846320" cy="77724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Je snapt de betekenis van «tarea» niet.</a:t>
            </a:r>
          </a:p>
        </p:txBody>
      </p:sp>
      <p:sp>
        <p:nvSpPr>
          <p:cNvPr id="31" name="Rectangle 30"/>
          <p:cNvSpPr/>
          <p:nvPr/>
        </p:nvSpPr>
        <p:spPr>
          <a:xfrm>
            <a:off x="6172200" y="4846320"/>
            <a:ext cx="5532120" cy="18288"/>
          </a:xfrm>
          <a:prstGeom prst="rect">
            <a:avLst/>
          </a:prstGeom>
          <a:solidFill>
            <a:srgbClr val="E4E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72200" y="4407408"/>
            <a:ext cx="548640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1E9E74"/>
                </a:solidFill>
                <a:latin typeface="Inter"/>
              </a:rPr>
              <a:t>→ ¿Qué significa «tarea»?</a:t>
            </a:r>
          </a:p>
        </p:txBody>
      </p:sp>
      <p:sp>
        <p:nvSpPr>
          <p:cNvPr id="33" name="Rounded Rectangle 32"/>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34" name="Rounded Rectangle 33"/>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5" name="Rounded Rectangle 34">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6" name="TextBox 35"/>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7" name="Rounded Rectangle 36"/>
          <p:cNvSpPr/>
          <p:nvPr/>
        </p:nvSpPr>
        <p:spPr>
          <a:xfrm>
            <a:off x="457200" y="5394960"/>
            <a:ext cx="11247120" cy="50292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Mini-rollenspel (geen steun): </a:t>
            </a:r>
            <a:r>
              <a:rPr sz="1200" b="0" i="0">
                <a:solidFill>
                  <a:srgbClr val="157355"/>
                </a:solidFill>
                <a:latin typeface="Inter"/>
              </a:rPr>
              <a:t>A speelt docent (praat te snel / zegt een nieuw woord); B reageert met de passende chunk. Wissel.</a:t>
            </a:r>
          </a:p>
        </p:txBody>
      </p:sp>
      <p:sp>
        <p:nvSpPr>
          <p:cNvPr id="38" name="Rounded Rectangle 37"/>
          <p:cNvSpPr/>
          <p:nvPr/>
        </p:nvSpPr>
        <p:spPr>
          <a:xfrm>
            <a:off x="594360" y="5266944"/>
            <a:ext cx="1633118"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COMUNICAR · docent</a:t>
            </a:r>
          </a:p>
        </p:txBody>
      </p:sp>
      <p:sp>
        <p:nvSpPr>
          <p:cNvPr id="39" name="Rectangle 38"/>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1" name="TextBox 40"/>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2" name="TextBox 41"/>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5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89499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CULTURA · IDENTIDAD EN DIVERSIDAD</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¿Dónde se habla español?</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Officiële taal in +20 landen. Je koppelt de reis aan de wereldkaart en aan de cast.</a:t>
            </a:r>
          </a:p>
        </p:txBody>
      </p:sp>
      <p:sp>
        <p:nvSpPr>
          <p:cNvPr id="8" name="Rounded Rectangle 7"/>
          <p:cNvSpPr/>
          <p:nvPr/>
        </p:nvSpPr>
        <p:spPr>
          <a:xfrm>
            <a:off x="457200" y="1325880"/>
            <a:ext cx="7040880" cy="4114800"/>
          </a:xfrm>
          <a:prstGeom prst="roundRect">
            <a:avLst>
              <a:gd name="adj" fmla="val 5500"/>
            </a:avLst>
          </a:prstGeom>
          <a:solidFill>
            <a:srgbClr val="E4F4EE"/>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17320"/>
            <a:ext cx="667512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 El mundo hispano — lengua oficial</a:t>
            </a:r>
          </a:p>
        </p:txBody>
      </p:sp>
      <p:sp>
        <p:nvSpPr>
          <p:cNvPr id="10" name="Rounded Rectangle 9"/>
          <p:cNvSpPr/>
          <p:nvPr/>
        </p:nvSpPr>
        <p:spPr>
          <a:xfrm>
            <a:off x="658368" y="1828800"/>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82880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España</a:t>
            </a:r>
          </a:p>
        </p:txBody>
      </p:sp>
      <p:sp>
        <p:nvSpPr>
          <p:cNvPr id="12" name="Rounded Rectangle 11"/>
          <p:cNvSpPr/>
          <p:nvPr/>
        </p:nvSpPr>
        <p:spPr>
          <a:xfrm>
            <a:off x="2898648" y="1828800"/>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8" y="182880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México</a:t>
            </a:r>
          </a:p>
        </p:txBody>
      </p:sp>
      <p:sp>
        <p:nvSpPr>
          <p:cNvPr id="14" name="Rounded Rectangle 13"/>
          <p:cNvSpPr/>
          <p:nvPr/>
        </p:nvSpPr>
        <p:spPr>
          <a:xfrm>
            <a:off x="5138928" y="182880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38928" y="182880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Guatemala</a:t>
            </a:r>
          </a:p>
        </p:txBody>
      </p:sp>
      <p:sp>
        <p:nvSpPr>
          <p:cNvPr id="16" name="Rounded Rectangle 15"/>
          <p:cNvSpPr/>
          <p:nvPr/>
        </p:nvSpPr>
        <p:spPr>
          <a:xfrm>
            <a:off x="658368" y="226771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26771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Honduras</a:t>
            </a:r>
          </a:p>
        </p:txBody>
      </p:sp>
      <p:sp>
        <p:nvSpPr>
          <p:cNvPr id="18" name="Rounded Rectangle 17"/>
          <p:cNvSpPr/>
          <p:nvPr/>
        </p:nvSpPr>
        <p:spPr>
          <a:xfrm>
            <a:off x="2898648" y="226771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98648" y="226771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El Salvador</a:t>
            </a:r>
          </a:p>
        </p:txBody>
      </p:sp>
      <p:sp>
        <p:nvSpPr>
          <p:cNvPr id="20" name="Rounded Rectangle 19"/>
          <p:cNvSpPr/>
          <p:nvPr/>
        </p:nvSpPr>
        <p:spPr>
          <a:xfrm>
            <a:off x="5138928" y="226771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26771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Nicaragua</a:t>
            </a:r>
          </a:p>
        </p:txBody>
      </p:sp>
      <p:sp>
        <p:nvSpPr>
          <p:cNvPr id="22" name="Rounded Rectangle 21"/>
          <p:cNvSpPr/>
          <p:nvPr/>
        </p:nvSpPr>
        <p:spPr>
          <a:xfrm>
            <a:off x="658368" y="2706624"/>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2706624"/>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Costa Rica</a:t>
            </a:r>
          </a:p>
        </p:txBody>
      </p:sp>
      <p:sp>
        <p:nvSpPr>
          <p:cNvPr id="24" name="Rounded Rectangle 23"/>
          <p:cNvSpPr/>
          <p:nvPr/>
        </p:nvSpPr>
        <p:spPr>
          <a:xfrm>
            <a:off x="2898648" y="2706624"/>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8648" y="2706624"/>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Panamá</a:t>
            </a:r>
          </a:p>
        </p:txBody>
      </p:sp>
      <p:sp>
        <p:nvSpPr>
          <p:cNvPr id="26" name="Rounded Rectangle 25"/>
          <p:cNvSpPr/>
          <p:nvPr/>
        </p:nvSpPr>
        <p:spPr>
          <a:xfrm>
            <a:off x="5138928" y="2706624"/>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2706624"/>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Cuba</a:t>
            </a:r>
          </a:p>
        </p:txBody>
      </p:sp>
      <p:sp>
        <p:nvSpPr>
          <p:cNvPr id="28" name="Rounded Rectangle 27"/>
          <p:cNvSpPr/>
          <p:nvPr/>
        </p:nvSpPr>
        <p:spPr>
          <a:xfrm>
            <a:off x="658368" y="3145536"/>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145536"/>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Rep. Dominicana</a:t>
            </a:r>
          </a:p>
        </p:txBody>
      </p:sp>
      <p:sp>
        <p:nvSpPr>
          <p:cNvPr id="30" name="Rounded Rectangle 29"/>
          <p:cNvSpPr/>
          <p:nvPr/>
        </p:nvSpPr>
        <p:spPr>
          <a:xfrm>
            <a:off x="2898648" y="3145536"/>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98648" y="3145536"/>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Puerto Rico</a:t>
            </a:r>
          </a:p>
        </p:txBody>
      </p:sp>
      <p:sp>
        <p:nvSpPr>
          <p:cNvPr id="32" name="Rounded Rectangle 31"/>
          <p:cNvSpPr/>
          <p:nvPr/>
        </p:nvSpPr>
        <p:spPr>
          <a:xfrm>
            <a:off x="5138928" y="3145536"/>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38928" y="3145536"/>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Colombia</a:t>
            </a:r>
          </a:p>
        </p:txBody>
      </p:sp>
      <p:sp>
        <p:nvSpPr>
          <p:cNvPr id="34" name="Rounded Rectangle 33"/>
          <p:cNvSpPr/>
          <p:nvPr/>
        </p:nvSpPr>
        <p:spPr>
          <a:xfrm>
            <a:off x="658368" y="3584448"/>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3584448"/>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Venezuela</a:t>
            </a:r>
          </a:p>
        </p:txBody>
      </p:sp>
      <p:sp>
        <p:nvSpPr>
          <p:cNvPr id="36" name="Rounded Rectangle 35"/>
          <p:cNvSpPr/>
          <p:nvPr/>
        </p:nvSpPr>
        <p:spPr>
          <a:xfrm>
            <a:off x="2898648" y="3584448"/>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3584448"/>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Ecuador</a:t>
            </a:r>
          </a:p>
        </p:txBody>
      </p:sp>
      <p:sp>
        <p:nvSpPr>
          <p:cNvPr id="38" name="Rounded Rectangle 37"/>
          <p:cNvSpPr/>
          <p:nvPr/>
        </p:nvSpPr>
        <p:spPr>
          <a:xfrm>
            <a:off x="5138928" y="3584448"/>
            <a:ext cx="2194560" cy="384048"/>
          </a:xfrm>
          <a:prstGeom prst="roundRect">
            <a:avLst>
              <a:gd name="adj" fmla="val 25000"/>
            </a:avLst>
          </a:prstGeom>
          <a:solidFill>
            <a:srgbClr val="1E9E74"/>
          </a:solidFill>
          <a:ln w="12700">
            <a:solidFill>
              <a:srgbClr val="157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38928" y="3584448"/>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1" i="0">
                <a:solidFill>
                  <a:srgbClr val="FFFFFF"/>
                </a:solidFill>
                <a:latin typeface="Inter"/>
              </a:rPr>
              <a:t>★ Perú</a:t>
            </a:r>
          </a:p>
        </p:txBody>
      </p:sp>
      <p:sp>
        <p:nvSpPr>
          <p:cNvPr id="40" name="Rounded Rectangle 39"/>
          <p:cNvSpPr/>
          <p:nvPr/>
        </p:nvSpPr>
        <p:spPr>
          <a:xfrm>
            <a:off x="658368" y="402336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02336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Bolivia</a:t>
            </a:r>
          </a:p>
        </p:txBody>
      </p:sp>
      <p:sp>
        <p:nvSpPr>
          <p:cNvPr id="42" name="Rounded Rectangle 41"/>
          <p:cNvSpPr/>
          <p:nvPr/>
        </p:nvSpPr>
        <p:spPr>
          <a:xfrm>
            <a:off x="2898648" y="402336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898648" y="402336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Paraguay</a:t>
            </a:r>
          </a:p>
        </p:txBody>
      </p:sp>
      <p:sp>
        <p:nvSpPr>
          <p:cNvPr id="44" name="Rounded Rectangle 43"/>
          <p:cNvSpPr/>
          <p:nvPr/>
        </p:nvSpPr>
        <p:spPr>
          <a:xfrm>
            <a:off x="5138928" y="4023360"/>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38928" y="4023360"/>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Uruguay</a:t>
            </a:r>
          </a:p>
        </p:txBody>
      </p:sp>
      <p:sp>
        <p:nvSpPr>
          <p:cNvPr id="46" name="Rounded Rectangle 45"/>
          <p:cNvSpPr/>
          <p:nvPr/>
        </p:nvSpPr>
        <p:spPr>
          <a:xfrm>
            <a:off x="658368" y="446227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446227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Argentina</a:t>
            </a:r>
          </a:p>
        </p:txBody>
      </p:sp>
      <p:sp>
        <p:nvSpPr>
          <p:cNvPr id="48" name="Rounded Rectangle 47"/>
          <p:cNvSpPr/>
          <p:nvPr/>
        </p:nvSpPr>
        <p:spPr>
          <a:xfrm>
            <a:off x="2898648" y="446227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898648" y="446227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Chile</a:t>
            </a:r>
          </a:p>
        </p:txBody>
      </p:sp>
      <p:sp>
        <p:nvSpPr>
          <p:cNvPr id="50" name="Rounded Rectangle 49"/>
          <p:cNvSpPr/>
          <p:nvPr/>
        </p:nvSpPr>
        <p:spPr>
          <a:xfrm>
            <a:off x="5138928" y="4462272"/>
            <a:ext cx="2194560" cy="384048"/>
          </a:xfrm>
          <a:prstGeom prst="roundRect">
            <a:avLst>
              <a:gd name="adj" fmla="val 25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38928" y="4462272"/>
            <a:ext cx="2194560" cy="384048"/>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050" b="0" i="0">
                <a:solidFill>
                  <a:srgbClr val="20242E"/>
                </a:solidFill>
                <a:latin typeface="Inter"/>
              </a:rPr>
              <a:t>Guinea Ecuatorial</a:t>
            </a:r>
          </a:p>
        </p:txBody>
      </p:sp>
      <p:sp>
        <p:nvSpPr>
          <p:cNvPr id="52" name="TextBox 51"/>
          <p:cNvSpPr txBox="1"/>
          <p:nvPr/>
        </p:nvSpPr>
        <p:spPr>
          <a:xfrm>
            <a:off x="658368" y="5029200"/>
            <a:ext cx="667512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950" b="0" i="1">
                <a:solidFill>
                  <a:srgbClr val="6A6E78"/>
                </a:solidFill>
                <a:latin typeface="Inter"/>
              </a:rPr>
              <a:t>★ = una parada de C5 (España · México · Colombia · Perú)  ·  🇺🇸 EE.UU. = millones de hispanohablantes</a:t>
            </a:r>
          </a:p>
        </p:txBody>
      </p:sp>
      <p:sp>
        <p:nvSpPr>
          <p:cNvPr id="53" name="Rounded Rectangle 52"/>
          <p:cNvSpPr/>
          <p:nvPr/>
        </p:nvSpPr>
        <p:spPr>
          <a:xfrm>
            <a:off x="7680960" y="1463040"/>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63840" y="1517904"/>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~500 mln</a:t>
            </a:r>
          </a:p>
        </p:txBody>
      </p:sp>
      <p:sp>
        <p:nvSpPr>
          <p:cNvPr id="55" name="TextBox 54"/>
          <p:cNvSpPr txBox="1"/>
          <p:nvPr/>
        </p:nvSpPr>
        <p:spPr>
          <a:xfrm>
            <a:off x="7863840" y="1883664"/>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moedertaalsprekers</a:t>
            </a:r>
          </a:p>
        </p:txBody>
      </p:sp>
      <p:sp>
        <p:nvSpPr>
          <p:cNvPr id="56" name="Rounded Rectangle 55"/>
          <p:cNvSpPr/>
          <p:nvPr/>
        </p:nvSpPr>
        <p:spPr>
          <a:xfrm>
            <a:off x="7680960" y="2304288"/>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63840" y="2359152"/>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+20 países</a:t>
            </a:r>
          </a:p>
        </p:txBody>
      </p:sp>
      <p:sp>
        <p:nvSpPr>
          <p:cNvPr id="58" name="TextBox 57"/>
          <p:cNvSpPr txBox="1"/>
          <p:nvPr/>
        </p:nvSpPr>
        <p:spPr>
          <a:xfrm>
            <a:off x="7863840" y="2724912"/>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lengua oficial</a:t>
            </a:r>
          </a:p>
        </p:txBody>
      </p:sp>
      <p:sp>
        <p:nvSpPr>
          <p:cNvPr id="59" name="Rounded Rectangle 58"/>
          <p:cNvSpPr/>
          <p:nvPr/>
        </p:nvSpPr>
        <p:spPr>
          <a:xfrm>
            <a:off x="7680960" y="3145536"/>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63840" y="3200400"/>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2ª lengua</a:t>
            </a:r>
          </a:p>
        </p:txBody>
      </p:sp>
      <p:sp>
        <p:nvSpPr>
          <p:cNvPr id="61" name="TextBox 60"/>
          <p:cNvSpPr txBox="1"/>
          <p:nvPr/>
        </p:nvSpPr>
        <p:spPr>
          <a:xfrm>
            <a:off x="7863840" y="3566160"/>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materna del mundo</a:t>
            </a:r>
          </a:p>
        </p:txBody>
      </p:sp>
      <p:sp>
        <p:nvSpPr>
          <p:cNvPr id="62" name="Rounded Rectangle 61"/>
          <p:cNvSpPr/>
          <p:nvPr/>
        </p:nvSpPr>
        <p:spPr>
          <a:xfrm>
            <a:off x="7680960" y="3986784"/>
            <a:ext cx="4023360" cy="749808"/>
          </a:xfrm>
          <a:prstGeom prst="roundRect">
            <a:avLst>
              <a:gd name="adj" fmla="val 5500"/>
            </a:avLst>
          </a:prstGeom>
          <a:solidFill>
            <a:srgbClr val="FFFFFF"/>
          </a:solidFill>
          <a:ln w="1651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0" y="4041648"/>
            <a:ext cx="3657600" cy="38404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600" b="1" i="0">
                <a:solidFill>
                  <a:srgbClr val="1E9E74"/>
                </a:solidFill>
                <a:latin typeface="Bricolage Grotesque"/>
              </a:rPr>
              <a:t>español = castellano</a:t>
            </a:r>
          </a:p>
        </p:txBody>
      </p:sp>
      <p:sp>
        <p:nvSpPr>
          <p:cNvPr id="64" name="TextBox 63"/>
          <p:cNvSpPr txBox="1"/>
          <p:nvPr/>
        </p:nvSpPr>
        <p:spPr>
          <a:xfrm>
            <a:off x="7863840" y="4407408"/>
            <a:ext cx="36576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6A6E78"/>
                </a:solidFill>
                <a:latin typeface="Inter"/>
              </a:rPr>
              <a:t>twee namen, één taal</a:t>
            </a:r>
          </a:p>
        </p:txBody>
      </p:sp>
      <p:sp>
        <p:nvSpPr>
          <p:cNvPr id="65" name="Rounded Rectangle 64"/>
          <p:cNvSpPr/>
          <p:nvPr/>
        </p:nvSpPr>
        <p:spPr>
          <a:xfrm>
            <a:off x="7680960" y="4846320"/>
            <a:ext cx="4023360" cy="594360"/>
          </a:xfrm>
          <a:prstGeom prst="roundRect">
            <a:avLst>
              <a:gd name="adj" fmla="val 5500"/>
            </a:avLst>
          </a:prstGeom>
          <a:solidFill>
            <a:srgbClr val="F3EEE4"/>
          </a:solidFill>
          <a:ln w="1651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18120" y="4901184"/>
            <a:ext cx="3794760" cy="54864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00" b="1" i="0">
                <a:solidFill>
                  <a:srgbClr val="B7860B"/>
                </a:solidFill>
                <a:latin typeface="Inter"/>
              </a:rPr>
              <a:t>🟡 Cognados: </a:t>
            </a:r>
            <a:r>
              <a:rPr sz="1050" b="0" i="0">
                <a:solidFill>
                  <a:srgbClr val="20242E"/>
                </a:solidFill>
                <a:latin typeface="Inter"/>
              </a:rPr>
              <a:t>hospital, animal, chocolate, familia, taxi… je herkent al véél Spaans!</a:t>
            </a:r>
          </a:p>
        </p:txBody>
      </p:sp>
      <p:sp>
        <p:nvSpPr>
          <p:cNvPr id="67" name="Rounded Rectangle 66"/>
          <p:cNvSpPr/>
          <p:nvPr/>
        </p:nvSpPr>
        <p:spPr>
          <a:xfrm>
            <a:off x="457200" y="5559552"/>
            <a:ext cx="2474366"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 LEER · comprensión lectora</a:t>
            </a:r>
          </a:p>
        </p:txBody>
      </p:sp>
      <p:sp>
        <p:nvSpPr>
          <p:cNvPr id="68" name="TextBox 67"/>
          <p:cNvSpPr txBox="1"/>
          <p:nvPr/>
        </p:nvSpPr>
        <p:spPr>
          <a:xfrm>
            <a:off x="457200" y="5943600"/>
            <a:ext cx="73152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00" b="0" i="0">
                <a:solidFill>
                  <a:srgbClr val="20242E"/>
                </a:solidFill>
                <a:latin typeface="Inter"/>
              </a:rPr>
              <a:t>V/F · Lee la lista: «En Brasil se habla español.»  </a:t>
            </a:r>
          </a:p>
        </p:txBody>
      </p:sp>
      <p:sp>
        <p:nvSpPr>
          <p:cNvPr id="69" name="TextBox 68"/>
          <p:cNvSpPr txBox="1"/>
          <p:nvPr/>
        </p:nvSpPr>
        <p:spPr>
          <a:xfrm>
            <a:off x="5669280" y="5943600"/>
            <a:ext cx="192024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DC2626"/>
                </a:solidFill>
                <a:latin typeface="Inter"/>
              </a:rPr>
              <a:t>→ FALSO (portugués)</a:t>
            </a:r>
          </a:p>
        </p:txBody>
      </p:sp>
      <p:sp>
        <p:nvSpPr>
          <p:cNvPr id="70" name="Rounded Rectangle 69"/>
          <p:cNvSpPr/>
          <p:nvPr/>
        </p:nvSpPr>
        <p:spPr>
          <a:xfrm>
            <a:off x="7772400" y="5943600"/>
            <a:ext cx="3147364" cy="292608"/>
          </a:xfrm>
          <a:prstGeom prst="roundRect">
            <a:avLst>
              <a:gd name="adj" fmla="val 50000"/>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 Online: mapa clicable + flip cards</a:t>
            </a:r>
          </a:p>
        </p:txBody>
      </p:sp>
      <p:sp>
        <p:nvSpPr>
          <p:cNvPr id="71" name="Rectangle 7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73" name="TextBox 7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74" name="TextBox 7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717243"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CULTURA · VARIACIÓN</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Mismo idioma, pequeñas diferencias</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Zelfde taal, kleine verschillen in woorden en klanken. Géén grammatica — enkel bewustwording (A1).</a:t>
            </a:r>
          </a:p>
        </p:txBody>
      </p:sp>
      <p:sp>
        <p:nvSpPr>
          <p:cNvPr id="8" name="Rectangle 7"/>
          <p:cNvSpPr/>
          <p:nvPr/>
        </p:nvSpPr>
        <p:spPr>
          <a:xfrm>
            <a:off x="457200" y="1371600"/>
            <a:ext cx="329184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71600"/>
            <a:ext cx="329184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 España</a:t>
            </a:r>
          </a:p>
        </p:txBody>
      </p:sp>
      <p:sp>
        <p:nvSpPr>
          <p:cNvPr id="10" name="Rectangle 9"/>
          <p:cNvSpPr/>
          <p:nvPr/>
        </p:nvSpPr>
        <p:spPr>
          <a:xfrm>
            <a:off x="3749040" y="1371600"/>
            <a:ext cx="3291840" cy="457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1371600"/>
            <a:ext cx="329184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FFFFFF"/>
                </a:solidFill>
                <a:latin typeface="Inter"/>
              </a:rPr>
              <a:t>🌎 Hispanoamérica</a:t>
            </a:r>
          </a:p>
        </p:txBody>
      </p:sp>
      <p:sp>
        <p:nvSpPr>
          <p:cNvPr id="12" name="Rectangle 11"/>
          <p:cNvSpPr/>
          <p:nvPr/>
        </p:nvSpPr>
        <p:spPr>
          <a:xfrm>
            <a:off x="7040880" y="1371600"/>
            <a:ext cx="3291840" cy="457200"/>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0" y="1371600"/>
            <a:ext cx="3291840" cy="457200"/>
          </a:xfrm>
          <a:prstGeom prst="rect">
            <a:avLst/>
          </a:prstGeom>
          <a:noFill/>
        </p:spPr>
        <p:txBody>
          <a:bodyPr wrap="square" anchor="ctr" lIns="38100" rIns="38100" tIns="25400" bIns="25400">
            <a:spAutoFit/>
          </a:bodyPr>
          <a:lstStyle/>
          <a:p>
            <a:pPr algn="ctr">
              <a:lnSpc>
                <a:spcPct val="106000"/>
              </a:lnSpc>
              <a:spcBef>
                <a:spcPts val="0"/>
              </a:spcBef>
              <a:spcAft>
                <a:spcPts val="200"/>
              </a:spcAft>
            </a:pPr>
            <a:r>
              <a:rPr sz="1300" b="1" i="0">
                <a:solidFill>
                  <a:srgbClr val="157355"/>
                </a:solidFill>
                <a:latin typeface="Inter"/>
              </a:rPr>
              <a:t>🇳🇱 Nederlands</a:t>
            </a:r>
          </a:p>
        </p:txBody>
      </p:sp>
      <p:sp>
        <p:nvSpPr>
          <p:cNvPr id="14" name="Rectangle 13"/>
          <p:cNvSpPr/>
          <p:nvPr/>
        </p:nvSpPr>
        <p:spPr>
          <a:xfrm>
            <a:off x="457200" y="18288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1828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coche</a:t>
            </a:r>
          </a:p>
        </p:txBody>
      </p:sp>
      <p:sp>
        <p:nvSpPr>
          <p:cNvPr id="16" name="Rectangle 15"/>
          <p:cNvSpPr/>
          <p:nvPr/>
        </p:nvSpPr>
        <p:spPr>
          <a:xfrm>
            <a:off x="3749040" y="18288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86200" y="1828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carro</a:t>
            </a:r>
          </a:p>
        </p:txBody>
      </p:sp>
      <p:sp>
        <p:nvSpPr>
          <p:cNvPr id="18" name="Rectangle 17"/>
          <p:cNvSpPr/>
          <p:nvPr/>
        </p:nvSpPr>
        <p:spPr>
          <a:xfrm>
            <a:off x="7040880" y="18288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40" y="1828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auto</a:t>
            </a:r>
          </a:p>
        </p:txBody>
      </p:sp>
      <p:sp>
        <p:nvSpPr>
          <p:cNvPr id="20" name="Rectangle 19"/>
          <p:cNvSpPr/>
          <p:nvPr/>
        </p:nvSpPr>
        <p:spPr>
          <a:xfrm>
            <a:off x="457200" y="22860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2286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móvil</a:t>
            </a:r>
          </a:p>
        </p:txBody>
      </p:sp>
      <p:sp>
        <p:nvSpPr>
          <p:cNvPr id="22" name="Rectangle 21"/>
          <p:cNvSpPr/>
          <p:nvPr/>
        </p:nvSpPr>
        <p:spPr>
          <a:xfrm>
            <a:off x="3749040" y="22860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86200" y="2286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celular</a:t>
            </a:r>
          </a:p>
        </p:txBody>
      </p:sp>
      <p:sp>
        <p:nvSpPr>
          <p:cNvPr id="24" name="Rectangle 23"/>
          <p:cNvSpPr/>
          <p:nvPr/>
        </p:nvSpPr>
        <p:spPr>
          <a:xfrm>
            <a:off x="7040880" y="22860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78040" y="2286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gsm / mobiel</a:t>
            </a:r>
          </a:p>
        </p:txBody>
      </p:sp>
      <p:sp>
        <p:nvSpPr>
          <p:cNvPr id="26" name="Rectangle 25"/>
          <p:cNvSpPr/>
          <p:nvPr/>
        </p:nvSpPr>
        <p:spPr>
          <a:xfrm>
            <a:off x="457200" y="27432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27432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ordenador</a:t>
            </a:r>
          </a:p>
        </p:txBody>
      </p:sp>
      <p:sp>
        <p:nvSpPr>
          <p:cNvPr id="28" name="Rectangle 27"/>
          <p:cNvSpPr/>
          <p:nvPr/>
        </p:nvSpPr>
        <p:spPr>
          <a:xfrm>
            <a:off x="3749040" y="27432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86200" y="27432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la computadora</a:t>
            </a:r>
          </a:p>
        </p:txBody>
      </p:sp>
      <p:sp>
        <p:nvSpPr>
          <p:cNvPr id="30" name="Rectangle 29"/>
          <p:cNvSpPr/>
          <p:nvPr/>
        </p:nvSpPr>
        <p:spPr>
          <a:xfrm>
            <a:off x="7040880" y="27432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78040" y="27432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computer</a:t>
            </a:r>
          </a:p>
        </p:txBody>
      </p:sp>
      <p:sp>
        <p:nvSpPr>
          <p:cNvPr id="32" name="Rectangle 31"/>
          <p:cNvSpPr/>
          <p:nvPr/>
        </p:nvSpPr>
        <p:spPr>
          <a:xfrm>
            <a:off x="457200" y="32004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2004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zumo</a:t>
            </a:r>
          </a:p>
        </p:txBody>
      </p:sp>
      <p:sp>
        <p:nvSpPr>
          <p:cNvPr id="34" name="Rectangle 33"/>
          <p:cNvSpPr/>
          <p:nvPr/>
        </p:nvSpPr>
        <p:spPr>
          <a:xfrm>
            <a:off x="3749040" y="32004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86200" y="32004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el jugo</a:t>
            </a:r>
          </a:p>
        </p:txBody>
      </p:sp>
      <p:sp>
        <p:nvSpPr>
          <p:cNvPr id="36" name="Rectangle 35"/>
          <p:cNvSpPr/>
          <p:nvPr/>
        </p:nvSpPr>
        <p:spPr>
          <a:xfrm>
            <a:off x="7040880" y="32004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32004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het (vruchten)sap</a:t>
            </a:r>
          </a:p>
        </p:txBody>
      </p:sp>
      <p:sp>
        <p:nvSpPr>
          <p:cNvPr id="38" name="Rectangle 37"/>
          <p:cNvSpPr/>
          <p:nvPr/>
        </p:nvSpPr>
        <p:spPr>
          <a:xfrm>
            <a:off x="457200" y="36576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60" y="36576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la patata</a:t>
            </a:r>
          </a:p>
        </p:txBody>
      </p:sp>
      <p:sp>
        <p:nvSpPr>
          <p:cNvPr id="40" name="Rectangle 39"/>
          <p:cNvSpPr/>
          <p:nvPr/>
        </p:nvSpPr>
        <p:spPr>
          <a:xfrm>
            <a:off x="3749040" y="36576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36576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la papa</a:t>
            </a:r>
          </a:p>
        </p:txBody>
      </p:sp>
      <p:sp>
        <p:nvSpPr>
          <p:cNvPr id="42" name="Rectangle 41"/>
          <p:cNvSpPr/>
          <p:nvPr/>
        </p:nvSpPr>
        <p:spPr>
          <a:xfrm>
            <a:off x="7040880" y="36576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78040" y="36576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de aardappel</a:t>
            </a:r>
          </a:p>
        </p:txBody>
      </p:sp>
      <p:sp>
        <p:nvSpPr>
          <p:cNvPr id="44" name="Rectangle 43"/>
          <p:cNvSpPr/>
          <p:nvPr/>
        </p:nvSpPr>
        <p:spPr>
          <a:xfrm>
            <a:off x="457200" y="41148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4114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vosotros</a:t>
            </a:r>
          </a:p>
        </p:txBody>
      </p:sp>
      <p:sp>
        <p:nvSpPr>
          <p:cNvPr id="46" name="Rectangle 45"/>
          <p:cNvSpPr/>
          <p:nvPr/>
        </p:nvSpPr>
        <p:spPr>
          <a:xfrm>
            <a:off x="3749040" y="41148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6200" y="4114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ustedes</a:t>
            </a:r>
          </a:p>
        </p:txBody>
      </p:sp>
      <p:sp>
        <p:nvSpPr>
          <p:cNvPr id="48" name="Rectangle 47"/>
          <p:cNvSpPr/>
          <p:nvPr/>
        </p:nvSpPr>
        <p:spPr>
          <a:xfrm>
            <a:off x="7040880" y="4114800"/>
            <a:ext cx="3291840" cy="457200"/>
          </a:xfrm>
          <a:prstGeom prst="rect">
            <a:avLst/>
          </a:prstGeom>
          <a:solidFill>
            <a:srgbClr val="E4F4EE"/>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78040" y="41148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jullie</a:t>
            </a:r>
          </a:p>
        </p:txBody>
      </p:sp>
      <p:sp>
        <p:nvSpPr>
          <p:cNvPr id="50" name="Rectangle 49"/>
          <p:cNvSpPr/>
          <p:nvPr/>
        </p:nvSpPr>
        <p:spPr>
          <a:xfrm>
            <a:off x="457200" y="45720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4360" y="4572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¡vale!</a:t>
            </a:r>
          </a:p>
        </p:txBody>
      </p:sp>
      <p:sp>
        <p:nvSpPr>
          <p:cNvPr id="52" name="Rectangle 51"/>
          <p:cNvSpPr/>
          <p:nvPr/>
        </p:nvSpPr>
        <p:spPr>
          <a:xfrm>
            <a:off x="3749040" y="45720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886200" y="4572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0">
                <a:solidFill>
                  <a:srgbClr val="20242E"/>
                </a:solidFill>
                <a:latin typeface="Inter"/>
              </a:rPr>
              <a:t>¡dale! / ¡listo!</a:t>
            </a:r>
          </a:p>
        </p:txBody>
      </p:sp>
      <p:sp>
        <p:nvSpPr>
          <p:cNvPr id="54" name="Rectangle 53"/>
          <p:cNvSpPr/>
          <p:nvPr/>
        </p:nvSpPr>
        <p:spPr>
          <a:xfrm>
            <a:off x="7040880" y="4572000"/>
            <a:ext cx="3291840" cy="457200"/>
          </a:xfrm>
          <a:prstGeom prst="rect">
            <a:avLst/>
          </a:prstGeom>
          <a:solidFill>
            <a:srgbClr val="FFFFFF"/>
          </a:solidFill>
          <a:ln w="762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78040" y="4572000"/>
            <a:ext cx="3108960" cy="45720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0" i="1">
                <a:solidFill>
                  <a:srgbClr val="20242E"/>
                </a:solidFill>
                <a:latin typeface="Inter"/>
              </a:rPr>
              <a:t>oké!</a:t>
            </a:r>
          </a:p>
        </p:txBody>
      </p:sp>
      <p:sp>
        <p:nvSpPr>
          <p:cNvPr id="56" name="Rounded Rectangle 55"/>
          <p:cNvSpPr/>
          <p:nvPr/>
        </p:nvSpPr>
        <p:spPr>
          <a:xfrm>
            <a:off x="10515600" y="1371600"/>
            <a:ext cx="1216152" cy="3657600"/>
          </a:xfrm>
          <a:prstGeom prst="roundRect">
            <a:avLst>
              <a:gd name="adj" fmla="val 5500"/>
            </a:avLst>
          </a:prstGeom>
          <a:solidFill>
            <a:srgbClr val="F3EEE4"/>
          </a:solidFill>
          <a:ln w="1651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07040" y="1463040"/>
            <a:ext cx="1051560" cy="347472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800" b="0" i="0">
                <a:solidFill>
                  <a:srgbClr val="20242E"/>
                </a:solidFill>
                <a:latin typeface="Inter"/>
              </a:rPr>
              <a:t>🔊</a:t>
            </a:r>
          </a:p>
          <a:p>
            <a:pPr algn="l">
              <a:lnSpc>
                <a:spcPct val="120000"/>
              </a:lnSpc>
              <a:spcBef>
                <a:spcPts val="0"/>
              </a:spcBef>
              <a:spcAft>
                <a:spcPts val="200"/>
              </a:spcAft>
            </a:pPr>
            <a:r>
              <a:rPr sz="1200" b="1" i="0">
                <a:solidFill>
                  <a:srgbClr val="B7860B"/>
                </a:solidFill>
                <a:latin typeface="Inter"/>
              </a:rPr>
              <a:t>seseo</a:t>
            </a:r>
          </a:p>
          <a:p>
            <a:pPr algn="l">
              <a:lnSpc>
                <a:spcPct val="120000"/>
              </a:lnSpc>
              <a:spcBef>
                <a:spcPts val="0"/>
              </a:spcBef>
              <a:spcAft>
                <a:spcPts val="200"/>
              </a:spcAft>
            </a:pPr>
            <a:r>
              <a:rPr sz="1000" b="0" i="0">
                <a:solidFill>
                  <a:srgbClr val="20242E"/>
                </a:solidFill>
                <a:latin typeface="Inter"/>
              </a:rPr>
              <a:t>c(e/i)/z</a:t>
            </a:r>
          </a:p>
          <a:p>
            <a:pPr algn="l">
              <a:lnSpc>
                <a:spcPct val="120000"/>
              </a:lnSpc>
              <a:spcBef>
                <a:spcPts val="0"/>
              </a:spcBef>
              <a:spcAft>
                <a:spcPts val="200"/>
              </a:spcAft>
            </a:pPr>
            <a:r>
              <a:rPr sz="1000" b="0" i="0">
                <a:solidFill>
                  <a:srgbClr val="20242E"/>
                </a:solidFill>
                <a:latin typeface="Inter"/>
              </a:rPr>
              <a:t>= /s/ in LatAm</a:t>
            </a:r>
          </a:p>
          <a:p>
            <a:pPr algn="l">
              <a:lnSpc>
                <a:spcPct val="120000"/>
              </a:lnSpc>
              <a:spcBef>
                <a:spcPts val="0"/>
              </a:spcBef>
              <a:spcAft>
                <a:spcPts val="200"/>
              </a:spcAft>
            </a:pPr>
            <a:r>
              <a:rPr sz="1000" b="0" i="0">
                <a:solidFill>
                  <a:srgbClr val="20242E"/>
                </a:solidFill>
                <a:latin typeface="Inter"/>
              </a:rPr>
              <a:t>= /θ/ «th»</a:t>
            </a:r>
          </a:p>
          <a:p>
            <a:pPr algn="l">
              <a:lnSpc>
                <a:spcPct val="120000"/>
              </a:lnSpc>
              <a:spcBef>
                <a:spcPts val="0"/>
              </a:spcBef>
              <a:spcAft>
                <a:spcPts val="200"/>
              </a:spcAft>
            </a:pPr>
            <a:r>
              <a:rPr sz="1000" b="0" i="0">
                <a:solidFill>
                  <a:srgbClr val="20242E"/>
                </a:solidFill>
                <a:latin typeface="Inter"/>
              </a:rPr>
              <a:t>in España.</a:t>
            </a:r>
          </a:p>
          <a:p>
            <a:pPr algn="l">
              <a:lnSpc>
                <a:spcPct val="120000"/>
              </a:lnSpc>
              <a:spcBef>
                <a:spcPts val="0"/>
              </a:spcBef>
              <a:spcAft>
                <a:spcPts val="200"/>
              </a:spcAft>
            </a:pPr>
            <a:r>
              <a:rPr sz="1050" b="1" i="0">
                <a:solidFill>
                  <a:srgbClr val="157355"/>
                </a:solidFill>
                <a:latin typeface="Inter"/>
              </a:rPr>
              <a:t>Beide OK!</a:t>
            </a:r>
          </a:p>
        </p:txBody>
      </p:sp>
      <p:sp>
        <p:nvSpPr>
          <p:cNvPr id="58" name="Rounded Rectangle 57"/>
          <p:cNvSpPr/>
          <p:nvPr/>
        </p:nvSpPr>
        <p:spPr>
          <a:xfrm>
            <a:off x="457200" y="5120640"/>
            <a:ext cx="9784080" cy="7772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DC2626"/>
                </a:solidFill>
                <a:latin typeface="Inter"/>
              </a:rPr>
              <a:t>🔴 Valstrik (spelling): </a:t>
            </a:r>
            <a:r>
              <a:rPr sz="1200" b="0" i="0">
                <a:solidFill>
                  <a:srgbClr val="157355"/>
                </a:solidFill>
                <a:latin typeface="Inter"/>
              </a:rPr>
              <a:t>landen mét hoofdletter (España, México, Perú), maar de taal met kleine letter: </a:t>
            </a:r>
            <a:r>
              <a:rPr sz="1200" b="1" i="0">
                <a:solidFill>
                  <a:srgbClr val="1E9E74"/>
                </a:solidFill>
                <a:latin typeface="Inter"/>
              </a:rPr>
              <a:t>el español</a:t>
            </a:r>
            <a:r>
              <a:rPr sz="1200" b="0" i="0">
                <a:solidFill>
                  <a:srgbClr val="157355"/>
                </a:solidFill>
                <a:latin typeface="Inter"/>
              </a:rPr>
              <a:t> (niet «el Español»).</a:t>
            </a:r>
          </a:p>
        </p:txBody>
      </p:sp>
      <p:sp>
        <p:nvSpPr>
          <p:cNvPr id="59" name="Rounded Rectangle 58"/>
          <p:cNvSpPr/>
          <p:nvPr/>
        </p:nvSpPr>
        <p:spPr>
          <a:xfrm>
            <a:off x="594360" y="4992624"/>
            <a:ext cx="1128369"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OJO · docent</a:t>
            </a:r>
          </a:p>
        </p:txBody>
      </p:sp>
      <p:sp>
        <p:nvSpPr>
          <p:cNvPr id="60" name="Rectangle 5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62" name="TextBox 6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63" name="TextBox 6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12836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§5 · LECTURA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5</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«El Club de Español»</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Een echte tekst. Je hoeft niet alles te begrijpen om de informatie eruit te halen.</a:t>
            </a:r>
          </a:p>
        </p:txBody>
      </p:sp>
      <p:sp>
        <p:nvSpPr>
          <p:cNvPr id="9" name="Rounded Rectangle 8"/>
          <p:cNvSpPr/>
          <p:nvPr/>
        </p:nvSpPr>
        <p:spPr>
          <a:xfrm>
            <a:off x="457200" y="1325880"/>
            <a:ext cx="5577840" cy="416052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577840" cy="384048"/>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44168"/>
            <a:ext cx="5303520" cy="36576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50" b="1" i="0">
                <a:solidFill>
                  <a:srgbClr val="FFFFFF"/>
                </a:solidFill>
                <a:latin typeface="Bricolage Grotesque"/>
              </a:rPr>
              <a:t>anuncio (cartel del instituto)</a:t>
            </a:r>
          </a:p>
        </p:txBody>
      </p:sp>
      <p:sp>
        <p:nvSpPr>
          <p:cNvPr id="12" name="TextBox 11"/>
          <p:cNvSpPr txBox="1"/>
          <p:nvPr/>
        </p:nvSpPr>
        <p:spPr>
          <a:xfrm>
            <a:off x="640080" y="1810512"/>
            <a:ext cx="5212080" cy="3566160"/>
          </a:xfrm>
          <a:prstGeom prst="rect">
            <a:avLst/>
          </a:prstGeom>
          <a:noFill/>
        </p:spPr>
        <p:txBody>
          <a:bodyPr wrap="square" anchor="t" lIns="38100" rIns="38100" tIns="25400" bIns="25400">
            <a:spAutoFit/>
          </a:bodyPr>
          <a:lstStyle/>
          <a:p>
            <a:pPr algn="l">
              <a:lnSpc>
                <a:spcPct val="118000"/>
              </a:lnSpc>
              <a:spcBef>
                <a:spcPts val="0"/>
              </a:spcBef>
              <a:spcAft>
                <a:spcPts val="200"/>
              </a:spcAft>
            </a:pPr>
            <a:r>
              <a:rPr sz="1250" b="1" i="0">
                <a:solidFill>
                  <a:srgbClr val="157355"/>
                </a:solidFill>
                <a:latin typeface="Bricolage Grotesque"/>
              </a:rPr>
              <a:t>¡APÚNTATE AL CLUB DE ESPAÑOL! 🇪🇸🇲🇽🇨🇴🇵🇪</a:t>
            </a:r>
          </a:p>
          <a:p>
            <a:pPr algn="l">
              <a:lnSpc>
                <a:spcPct val="118000"/>
              </a:lnSpc>
              <a:spcBef>
                <a:spcPts val="0"/>
              </a:spcBef>
              <a:spcAft>
                <a:spcPts val="200"/>
              </a:spcAft>
            </a:pPr>
            <a:r>
              <a:rPr sz="1050" b="0" i="1">
                <a:solidFill>
                  <a:srgbClr val="6A6E78"/>
                </a:solidFill>
                <a:latin typeface="Inter"/>
              </a:rPr>
              <a:t>Un idioma, veinte países, una ruta.</a:t>
            </a:r>
          </a:p>
          <a:p>
            <a:pPr algn="l">
              <a:lnSpc>
                <a:spcPct val="118000"/>
              </a:lnSpc>
              <a:spcBef>
                <a:spcPts val="0"/>
              </a:spcBef>
              <a:spcAft>
                <a:spcPts val="200"/>
              </a:spcAft>
            </a:pPr>
            <a:r>
              <a:rPr sz="1050" b="0" i="0">
                <a:solidFill>
                  <a:srgbClr val="20242E"/>
                </a:solidFill>
                <a:latin typeface="Inter"/>
              </a:rPr>
              <a:t>¿Hablas un poco de español? ¿O cero español? ¡No importa! En el club hablamos, cantamos y jugamos en español.</a:t>
            </a:r>
          </a:p>
          <a:p>
            <a:pPr algn="l">
              <a:lnSpc>
                <a:spcPct val="118000"/>
              </a:lnSpc>
              <a:spcBef>
                <a:spcPts val="0"/>
              </a:spcBef>
              <a:spcAft>
                <a:spcPts val="200"/>
              </a:spcAft>
            </a:pPr>
            <a:r>
              <a:rPr sz="1050" b="0" i="0">
                <a:solidFill>
                  <a:srgbClr val="20242E"/>
                </a:solidFill>
                <a:latin typeface="Inter"/>
              </a:rPr>
              <a:t>• ¿Cuándo? Los martes y los jueves, de cuatro a cinco.</a:t>
            </a:r>
          </a:p>
          <a:p>
            <a:pPr algn="l">
              <a:lnSpc>
                <a:spcPct val="118000"/>
              </a:lnSpc>
              <a:spcBef>
                <a:spcPts val="0"/>
              </a:spcBef>
              <a:spcAft>
                <a:spcPts val="200"/>
              </a:spcAft>
            </a:pPr>
            <a:r>
              <a:rPr sz="1050" b="0" i="0">
                <a:solidFill>
                  <a:srgbClr val="20242E"/>
                </a:solidFill>
                <a:latin typeface="Inter"/>
              </a:rPr>
              <a:t>• ¿Dónde? En el aula catorce, primera planta.</a:t>
            </a:r>
          </a:p>
          <a:p>
            <a:pPr algn="l">
              <a:lnSpc>
                <a:spcPct val="118000"/>
              </a:lnSpc>
              <a:spcBef>
                <a:spcPts val="0"/>
              </a:spcBef>
              <a:spcAft>
                <a:spcPts val="200"/>
              </a:spcAft>
            </a:pPr>
            <a:r>
              <a:rPr sz="1050" b="0" i="0">
                <a:solidFill>
                  <a:srgbClr val="20242E"/>
                </a:solidFill>
                <a:latin typeface="Inter"/>
              </a:rPr>
              <a:t>• ¿Cuánto cuesta? ¡Cero euros!</a:t>
            </a:r>
          </a:p>
          <a:p>
            <a:pPr algn="l">
              <a:lnSpc>
                <a:spcPct val="118000"/>
              </a:lnSpc>
              <a:spcBef>
                <a:spcPts val="0"/>
              </a:spcBef>
              <a:spcAft>
                <a:spcPts val="200"/>
              </a:spcAft>
            </a:pPr>
            <a:r>
              <a:rPr sz="1050" b="0" i="0">
                <a:solidFill>
                  <a:srgbClr val="20242E"/>
                </a:solidFill>
                <a:latin typeface="Inter"/>
              </a:rPr>
              <a:t>• ¿Cuántos somos? Ahora somos dieciocho. Hay sitio para veinte.</a:t>
            </a:r>
          </a:p>
          <a:p>
            <a:pPr algn="l">
              <a:lnSpc>
                <a:spcPct val="118000"/>
              </a:lnSpc>
              <a:spcBef>
                <a:spcPts val="0"/>
              </a:spcBef>
              <a:spcAft>
                <a:spcPts val="200"/>
              </a:spcAft>
            </a:pPr>
            <a:r>
              <a:rPr sz="1050" b="0" i="0">
                <a:solidFill>
                  <a:srgbClr val="20242E"/>
                </a:solidFill>
                <a:latin typeface="Inter"/>
              </a:rPr>
              <a:t>Este año viajamos por el mundo hispano: España, México, Colombia y Perú. Cada mes, un país y una fiesta.</a:t>
            </a:r>
          </a:p>
          <a:p>
            <a:pPr algn="l">
              <a:lnSpc>
                <a:spcPct val="118000"/>
              </a:lnSpc>
              <a:spcBef>
                <a:spcPts val="0"/>
              </a:spcBef>
              <a:spcAft>
                <a:spcPts val="200"/>
              </a:spcAft>
            </a:pPr>
            <a:r>
              <a:rPr sz="950" b="0" i="0">
                <a:solidFill>
                  <a:srgbClr val="6A6E78"/>
                </a:solidFill>
                <a:latin typeface="Inter"/>
              </a:rPr>
              <a:t>Escribe a: club.espanol@instituto.be — o habla con la señora Ortega.</a:t>
            </a:r>
          </a:p>
        </p:txBody>
      </p:sp>
      <p:sp>
        <p:nvSpPr>
          <p:cNvPr id="13" name="Rounded Rectangle 12"/>
          <p:cNvSpPr/>
          <p:nvPr/>
        </p:nvSpPr>
        <p:spPr>
          <a:xfrm>
            <a:off x="6263640" y="1325880"/>
            <a:ext cx="5468112" cy="1965960"/>
          </a:xfrm>
          <a:prstGeom prst="roundRect">
            <a:avLst>
              <a:gd name="adj" fmla="val 5500"/>
            </a:avLst>
          </a:prstGeom>
          <a:solidFill>
            <a:srgbClr val="F3EEE4"/>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1732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Escanea — busca el dato</a:t>
            </a:r>
          </a:p>
        </p:txBody>
      </p:sp>
      <p:sp>
        <p:nvSpPr>
          <p:cNvPr id="15" name="TextBox 14"/>
          <p:cNvSpPr txBox="1"/>
          <p:nvPr/>
        </p:nvSpPr>
        <p:spPr>
          <a:xfrm>
            <a:off x="6446520" y="1755648"/>
            <a:ext cx="5120640" cy="146304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050" b="0" i="0">
                <a:solidFill>
                  <a:srgbClr val="20242E"/>
                </a:solidFill>
                <a:latin typeface="Inter"/>
              </a:rPr>
              <a:t>1. ¿En qué aula es el club?</a:t>
            </a:r>
          </a:p>
          <a:p>
            <a:pPr algn="l">
              <a:lnSpc>
                <a:spcPct val="125000"/>
              </a:lnSpc>
              <a:spcBef>
                <a:spcPts val="0"/>
              </a:spcBef>
              <a:spcAft>
                <a:spcPts val="200"/>
              </a:spcAft>
            </a:pPr>
            <a:r>
              <a:rPr sz="1050" b="0" i="0">
                <a:solidFill>
                  <a:srgbClr val="20242E"/>
                </a:solidFill>
                <a:latin typeface="Inter"/>
              </a:rPr>
              <a:t>2. ¿Cuántos alumnos hay ahora en el club?</a:t>
            </a:r>
          </a:p>
          <a:p>
            <a:pPr algn="l">
              <a:lnSpc>
                <a:spcPct val="125000"/>
              </a:lnSpc>
              <a:spcBef>
                <a:spcPts val="0"/>
              </a:spcBef>
              <a:spcAft>
                <a:spcPts val="200"/>
              </a:spcAft>
            </a:pPr>
            <a:r>
              <a:rPr sz="1050" b="0" i="0">
                <a:solidFill>
                  <a:srgbClr val="20242E"/>
                </a:solidFill>
                <a:latin typeface="Inter"/>
              </a:rPr>
              <a:t>3. ¿Cuánto cuesta? (en cifras)</a:t>
            </a:r>
          </a:p>
          <a:p>
            <a:pPr algn="l">
              <a:lnSpc>
                <a:spcPct val="125000"/>
              </a:lnSpc>
              <a:spcBef>
                <a:spcPts val="0"/>
              </a:spcBef>
              <a:spcAft>
                <a:spcPts val="200"/>
              </a:spcAft>
            </a:pPr>
            <a:r>
              <a:rPr sz="1050" b="0" i="0">
                <a:solidFill>
                  <a:srgbClr val="20242E"/>
                </a:solidFill>
                <a:latin typeface="Inter"/>
              </a:rPr>
              <a:t>4. ¿Cuántos países visita el club este año?</a:t>
            </a:r>
          </a:p>
        </p:txBody>
      </p:sp>
      <p:sp>
        <p:nvSpPr>
          <p:cNvPr id="16" name="Rounded Rectangle 15"/>
          <p:cNvSpPr/>
          <p:nvPr/>
        </p:nvSpPr>
        <p:spPr>
          <a:xfrm>
            <a:off x="6263640" y="3429000"/>
            <a:ext cx="5468112" cy="20574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52044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¿Verdadero o falso? — y la prueba</a:t>
            </a:r>
          </a:p>
        </p:txBody>
      </p:sp>
      <p:sp>
        <p:nvSpPr>
          <p:cNvPr id="18" name="TextBox 17"/>
          <p:cNvSpPr txBox="1"/>
          <p:nvPr/>
        </p:nvSpPr>
        <p:spPr>
          <a:xfrm>
            <a:off x="6446520" y="3858768"/>
            <a:ext cx="5120640" cy="1554480"/>
          </a:xfrm>
          <a:prstGeom prst="rect">
            <a:avLst/>
          </a:prstGeom>
          <a:noFill/>
        </p:spPr>
        <p:txBody>
          <a:bodyPr wrap="square" anchor="t" lIns="38100" rIns="38100" tIns="25400" bIns="25400">
            <a:spAutoFit/>
          </a:bodyPr>
          <a:lstStyle/>
          <a:p>
            <a:pPr algn="l">
              <a:lnSpc>
                <a:spcPct val="125000"/>
              </a:lnSpc>
              <a:spcBef>
                <a:spcPts val="0"/>
              </a:spcBef>
              <a:spcAft>
                <a:spcPts val="200"/>
              </a:spcAft>
            </a:pPr>
            <a:r>
              <a:rPr sz="1050" b="0" i="0">
                <a:solidFill>
                  <a:srgbClr val="20242E"/>
                </a:solidFill>
                <a:latin typeface="Inter"/>
              </a:rPr>
              <a:t>1. El club es gratis.</a:t>
            </a:r>
          </a:p>
          <a:p>
            <a:pPr algn="l">
              <a:lnSpc>
                <a:spcPct val="125000"/>
              </a:lnSpc>
              <a:spcBef>
                <a:spcPts val="0"/>
              </a:spcBef>
              <a:spcAft>
                <a:spcPts val="200"/>
              </a:spcAft>
            </a:pPr>
            <a:r>
              <a:rPr sz="1050" b="0" i="0">
                <a:solidFill>
                  <a:srgbClr val="20242E"/>
                </a:solidFill>
                <a:latin typeface="Inter"/>
              </a:rPr>
              <a:t>2. El club es solo para alumnos que ya hablan español.</a:t>
            </a:r>
          </a:p>
          <a:p>
            <a:pPr algn="l">
              <a:lnSpc>
                <a:spcPct val="125000"/>
              </a:lnSpc>
              <a:spcBef>
                <a:spcPts val="0"/>
              </a:spcBef>
              <a:spcAft>
                <a:spcPts val="200"/>
              </a:spcAft>
            </a:pPr>
            <a:r>
              <a:rPr sz="1050" b="0" i="0">
                <a:solidFill>
                  <a:srgbClr val="20242E"/>
                </a:solidFill>
                <a:latin typeface="Inter"/>
              </a:rPr>
              <a:t>3. El club se reúne dos días por semana.</a:t>
            </a:r>
          </a:p>
          <a:p>
            <a:pPr algn="l">
              <a:lnSpc>
                <a:spcPct val="125000"/>
              </a:lnSpc>
              <a:spcBef>
                <a:spcPts val="0"/>
              </a:spcBef>
              <a:spcAft>
                <a:spcPts val="200"/>
              </a:spcAft>
            </a:pPr>
            <a:r>
              <a:rPr sz="1050" b="0" i="0">
                <a:solidFill>
                  <a:srgbClr val="20242E"/>
                </a:solidFill>
                <a:latin typeface="Inter"/>
              </a:rPr>
              <a:t>4. Todavía hay sitio en el club.</a:t>
            </a:r>
          </a:p>
        </p:txBody>
      </p:sp>
      <p:sp>
        <p:nvSpPr>
          <p:cNvPr id="19" name="Rounded Rectangle 18"/>
          <p:cNvSpPr/>
          <p:nvPr/>
        </p:nvSpPr>
        <p:spPr>
          <a:xfrm>
            <a:off x="457200" y="5596128"/>
            <a:ext cx="11274552" cy="658368"/>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0" i="0">
                <a:solidFill>
                  <a:srgbClr val="157355"/>
                </a:solidFill>
                <a:latin typeface="Inter"/>
              </a:rPr>
              <a:t>Escanear: 1) 14 · 2) 18 · 3) 0 · 4) 4</a:t>
            </a:r>
          </a:p>
          <a:p>
            <a:pPr>
              <a:lnSpc>
                <a:spcPct val="102000"/>
              </a:lnSpc>
              <a:spcBef>
                <a:spcPts val="0"/>
              </a:spcBef>
              <a:spcAft>
                <a:spcPts val="300"/>
              </a:spcAft>
            </a:pPr>
            <a:r>
              <a:rPr sz="1200" b="0" i="0">
                <a:solidFill>
                  <a:srgbClr val="157355"/>
                </a:solidFill>
                <a:latin typeface="Inter"/>
              </a:rPr>
              <a:t>1) V — «¡Cero euros!»</a:t>
            </a:r>
          </a:p>
          <a:p>
            <a:pPr>
              <a:lnSpc>
                <a:spcPct val="102000"/>
              </a:lnSpc>
              <a:spcBef>
                <a:spcPts val="0"/>
              </a:spcBef>
              <a:spcAft>
                <a:spcPts val="300"/>
              </a:spcAft>
            </a:pPr>
            <a:r>
              <a:rPr sz="1200" b="0" i="0">
                <a:solidFill>
                  <a:srgbClr val="157355"/>
                </a:solidFill>
                <a:latin typeface="Inter"/>
              </a:rPr>
              <a:t>2) F — «¿O cero español? ¡No importa!»</a:t>
            </a:r>
          </a:p>
          <a:p>
            <a:pPr>
              <a:lnSpc>
                <a:spcPct val="102000"/>
              </a:lnSpc>
              <a:spcBef>
                <a:spcPts val="0"/>
              </a:spcBef>
              <a:spcAft>
                <a:spcPts val="300"/>
              </a:spcAft>
            </a:pPr>
            <a:r>
              <a:rPr sz="1200" b="0" i="0">
                <a:solidFill>
                  <a:srgbClr val="157355"/>
                </a:solidFill>
                <a:latin typeface="Inter"/>
              </a:rPr>
              <a:t>3) V — «Los martes y los jueves»</a:t>
            </a:r>
          </a:p>
          <a:p>
            <a:pPr>
              <a:lnSpc>
                <a:spcPct val="102000"/>
              </a:lnSpc>
              <a:spcBef>
                <a:spcPts val="0"/>
              </a:spcBef>
              <a:spcAft>
                <a:spcPts val="300"/>
              </a:spcAft>
            </a:pPr>
            <a:r>
              <a:rPr sz="1200" b="0" i="0">
                <a:solidFill>
                  <a:srgbClr val="157355"/>
                </a:solidFill>
                <a:latin typeface="Inter"/>
              </a:rPr>
              <a:t>4) V — «Hay sitio para veinte»</a:t>
            </a:r>
          </a:p>
        </p:txBody>
      </p:sp>
      <p:sp>
        <p:nvSpPr>
          <p:cNvPr id="20" name="Rounded Rectangle 19"/>
          <p:cNvSpPr/>
          <p:nvPr/>
        </p:nvSpPr>
        <p:spPr>
          <a:xfrm>
            <a:off x="594360" y="5468112"/>
            <a:ext cx="154899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21" name="Rectangle 20"/>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3" name="TextBox 22"/>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4" name="TextBox 23"/>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12836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E9E74"/>
                </a:solidFill>
                <a:latin typeface="Inter"/>
              </a:rPr>
              <a:t>§6 · ESCUCHA</a:t>
            </a:r>
          </a:p>
        </p:txBody>
      </p:sp>
      <p:sp>
        <p:nvSpPr>
          <p:cNvPr id="6" name="TextBox 5"/>
          <p:cNvSpPr txBox="1"/>
          <p:nvPr/>
        </p:nvSpPr>
        <p:spPr>
          <a:xfrm>
            <a:off x="10424160" y="-137160"/>
            <a:ext cx="1737360" cy="1371600"/>
          </a:xfrm>
          <a:prstGeom prst="rect">
            <a:avLst/>
          </a:prstGeom>
          <a:noFill/>
        </p:spPr>
        <p:txBody>
          <a:bodyPr wrap="square" anchor="t" lIns="38100" rIns="38100" tIns="25400" bIns="25400">
            <a:spAutoFit/>
          </a:bodyPr>
          <a:lstStyle/>
          <a:p>
            <a:pPr algn="r">
              <a:lnSpc>
                <a:spcPct val="106000"/>
              </a:lnSpc>
              <a:spcBef>
                <a:spcPts val="0"/>
              </a:spcBef>
              <a:spcAft>
                <a:spcPts val="200"/>
              </a:spcAft>
            </a:pPr>
            <a:r>
              <a:rPr sz="8800" b="1" i="0">
                <a:solidFill>
                  <a:srgbClr val="FFFFFF"/>
                </a:solidFill>
                <a:latin typeface="Bricolage Grotesque"/>
              </a:rPr>
              <a:t>6</a:t>
            </a:r>
          </a:p>
        </p:txBody>
      </p:sp>
      <p:sp>
        <p:nvSpPr>
          <p:cNvPr id="7" name="TextBox 6"/>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«En la puerta de embarque»</a:t>
            </a:r>
          </a:p>
        </p:txBody>
      </p:sp>
      <p:sp>
        <p:nvSpPr>
          <p:cNvPr id="8" name="TextBox 7"/>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Eerst de situatie, dan luisteren. Het transcript komt pas ná de taken.</a:t>
            </a:r>
          </a:p>
        </p:txBody>
      </p:sp>
      <p:sp>
        <p:nvSpPr>
          <p:cNvPr id="9" name="Rounded Rectangle 8"/>
          <p:cNvSpPr/>
          <p:nvPr/>
        </p:nvSpPr>
        <p:spPr>
          <a:xfrm>
            <a:off x="457200" y="1325880"/>
            <a:ext cx="11274552" cy="1051560"/>
          </a:xfrm>
          <a:prstGeom prst="roundRect">
            <a:avLst>
              <a:gd name="adj" fmla="val 5500"/>
            </a:avLst>
          </a:prstGeom>
          <a:solidFill>
            <a:srgbClr val="E4F4EE"/>
          </a:solidFill>
          <a:ln w="1524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17320"/>
            <a:ext cx="10881360" cy="86868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100" b="1" i="0">
                <a:solidFill>
                  <a:srgbClr val="157355"/>
                </a:solidFill>
                <a:latin typeface="Inter"/>
              </a:rPr>
              <a:t>¿Dónde? </a:t>
            </a:r>
            <a:r>
              <a:rPr sz="1100" b="0" i="0">
                <a:solidFill>
                  <a:srgbClr val="20242E"/>
                </a:solidFill>
                <a:latin typeface="Inter"/>
              </a:rPr>
              <a:t>El aeropuerto de Barajas, Madrid — puerta B12</a:t>
            </a:r>
            <a:r>
              <a:rPr sz="1100" b="1" i="0">
                <a:solidFill>
                  <a:srgbClr val="157355"/>
                </a:solidFill>
                <a:latin typeface="Inter"/>
              </a:rPr>
              <a:t>     ¿Quién? </a:t>
            </a:r>
            <a:r>
              <a:rPr sz="1100" b="0" i="0">
                <a:solidFill>
                  <a:srgbClr val="20242E"/>
                </a:solidFill>
                <a:latin typeface="Inter"/>
              </a:rPr>
              <a:t>Lucía (de Sevilla) y tú</a:t>
            </a:r>
          </a:p>
          <a:p>
            <a:pPr algn="l">
              <a:lnSpc>
                <a:spcPct val="120000"/>
              </a:lnSpc>
              <a:spcBef>
                <a:spcPts val="0"/>
              </a:spcBef>
              <a:spcAft>
                <a:spcPts val="200"/>
              </a:spcAft>
            </a:pPr>
            <a:r>
              <a:rPr sz="1100" b="1" i="0">
                <a:solidFill>
                  <a:srgbClr val="157355"/>
                </a:solidFill>
                <a:latin typeface="Inter"/>
              </a:rPr>
              <a:t>¿Qué pasa? </a:t>
            </a:r>
            <a:r>
              <a:rPr sz="1100" b="0" i="0">
                <a:solidFill>
                  <a:srgbClr val="20242E"/>
                </a:solidFill>
                <a:latin typeface="Inter"/>
              </a:rPr>
              <a:t>Esperáis el mismo vuelo y os presentáis</a:t>
            </a:r>
          </a:p>
          <a:p>
            <a:pPr algn="l">
              <a:lnSpc>
                <a:spcPct val="120000"/>
              </a:lnSpc>
              <a:spcBef>
                <a:spcPts val="0"/>
              </a:spcBef>
              <a:spcAft>
                <a:spcPts val="200"/>
              </a:spcAft>
            </a:pPr>
            <a:r>
              <a:rPr sz="1050" b="1" i="0">
                <a:solidFill>
                  <a:srgbClr val="6A6E78"/>
                </a:solidFill>
                <a:latin typeface="Inter"/>
              </a:rPr>
              <a:t>Palabras clave: </a:t>
            </a:r>
            <a:r>
              <a:rPr sz="1050" b="0" i="1">
                <a:solidFill>
                  <a:srgbClr val="20242E"/>
                </a:solidFill>
                <a:latin typeface="Inter"/>
              </a:rPr>
              <a:t>¿Cómo te llamas? · Soy de… · ¿Cómo se escribe?</a:t>
            </a:r>
          </a:p>
        </p:txBody>
      </p:sp>
      <p:sp>
        <p:nvSpPr>
          <p:cNvPr id="11" name="Rounded Rectangle 10"/>
          <p:cNvSpPr/>
          <p:nvPr/>
        </p:nvSpPr>
        <p:spPr>
          <a:xfrm>
            <a:off x="457200" y="2514600"/>
            <a:ext cx="5577840" cy="297180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06040"/>
            <a:ext cx="521208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Escucha con detalle</a:t>
            </a:r>
          </a:p>
        </p:txBody>
      </p:sp>
      <p:sp>
        <p:nvSpPr>
          <p:cNvPr id="13" name="TextBox 12"/>
          <p:cNvSpPr txBox="1"/>
          <p:nvPr/>
        </p:nvSpPr>
        <p:spPr>
          <a:xfrm>
            <a:off x="640080" y="2944368"/>
            <a:ext cx="5212080" cy="2377440"/>
          </a:xfrm>
          <a:prstGeom prst="rect">
            <a:avLst/>
          </a:prstGeom>
          <a:noFill/>
        </p:spPr>
        <p:txBody>
          <a:bodyPr wrap="square" anchor="t" lIns="38100" rIns="38100" tIns="25400" bIns="25400">
            <a:spAutoFit/>
          </a:bodyPr>
          <a:lstStyle/>
          <a:p>
            <a:pPr algn="l">
              <a:lnSpc>
                <a:spcPct val="135000"/>
              </a:lnSpc>
              <a:spcBef>
                <a:spcPts val="0"/>
              </a:spcBef>
              <a:spcAft>
                <a:spcPts val="200"/>
              </a:spcAft>
            </a:pPr>
            <a:r>
              <a:rPr sz="1050" b="0" i="0">
                <a:solidFill>
                  <a:srgbClr val="20242E"/>
                </a:solidFill>
                <a:latin typeface="Inter"/>
              </a:rPr>
              <a:t>1. ¿Cuál es la puerta de embarque?</a:t>
            </a:r>
          </a:p>
          <a:p>
            <a:pPr algn="l">
              <a:lnSpc>
                <a:spcPct val="135000"/>
              </a:lnSpc>
              <a:spcBef>
                <a:spcPts val="0"/>
              </a:spcBef>
              <a:spcAft>
                <a:spcPts val="200"/>
              </a:spcAft>
            </a:pPr>
            <a:r>
              <a:rPr sz="1050" b="0" i="0">
                <a:solidFill>
                  <a:srgbClr val="20242E"/>
                </a:solidFill>
                <a:latin typeface="Inter"/>
              </a:rPr>
              <a:t>2. ¿De dónde es Lucía?</a:t>
            </a:r>
          </a:p>
          <a:p>
            <a:pPr algn="l">
              <a:lnSpc>
                <a:spcPct val="135000"/>
              </a:lnSpc>
              <a:spcBef>
                <a:spcPts val="0"/>
              </a:spcBef>
              <a:spcAft>
                <a:spcPts val="200"/>
              </a:spcAft>
            </a:pPr>
            <a:r>
              <a:rPr sz="1050" b="0" i="0">
                <a:solidFill>
                  <a:srgbClr val="20242E"/>
                </a:solidFill>
                <a:latin typeface="Inter"/>
              </a:rPr>
              <a:t>3. ¿Cuántos años tiene Sam?</a:t>
            </a:r>
          </a:p>
          <a:p>
            <a:pPr algn="l">
              <a:lnSpc>
                <a:spcPct val="135000"/>
              </a:lnSpc>
              <a:spcBef>
                <a:spcPts val="0"/>
              </a:spcBef>
              <a:spcAft>
                <a:spcPts val="200"/>
              </a:spcAft>
            </a:pPr>
            <a:r>
              <a:rPr sz="1050" b="0" i="0">
                <a:solidFill>
                  <a:srgbClr val="20242E"/>
                </a:solidFill>
                <a:latin typeface="Inter"/>
              </a:rPr>
              <a:t>4. ¿Cuántos años tiene Lucía?</a:t>
            </a:r>
          </a:p>
          <a:p>
            <a:pPr algn="l">
              <a:lnSpc>
                <a:spcPct val="135000"/>
              </a:lnSpc>
              <a:spcBef>
                <a:spcPts val="0"/>
              </a:spcBef>
              <a:spcAft>
                <a:spcPts val="200"/>
              </a:spcAft>
            </a:pPr>
            <a:r>
              <a:rPr sz="1050" b="0" i="0">
                <a:solidFill>
                  <a:srgbClr val="20242E"/>
                </a:solidFill>
                <a:latin typeface="Inter"/>
              </a:rPr>
              <a:t>5. ¿A qué hora sale el vuelo?</a:t>
            </a:r>
          </a:p>
        </p:txBody>
      </p:sp>
      <p:sp>
        <p:nvSpPr>
          <p:cNvPr id="14" name="Rounded Rectangle 13"/>
          <p:cNvSpPr/>
          <p:nvPr/>
        </p:nvSpPr>
        <p:spPr>
          <a:xfrm>
            <a:off x="6263640" y="2514600"/>
            <a:ext cx="5468112" cy="2971800"/>
          </a:xfrm>
          <a:prstGeom prst="roundRect">
            <a:avLst>
              <a:gd name="adj" fmla="val 5500"/>
            </a:avLst>
          </a:prstGeom>
          <a:solidFill>
            <a:srgbClr val="F3EEE4"/>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606040"/>
            <a:ext cx="5120640" cy="292608"/>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¿Verdadero o falso? — y la prueba</a:t>
            </a:r>
          </a:p>
        </p:txBody>
      </p:sp>
      <p:sp>
        <p:nvSpPr>
          <p:cNvPr id="16" name="TextBox 15"/>
          <p:cNvSpPr txBox="1"/>
          <p:nvPr/>
        </p:nvSpPr>
        <p:spPr>
          <a:xfrm>
            <a:off x="6446520" y="2944368"/>
            <a:ext cx="5120640" cy="1463040"/>
          </a:xfrm>
          <a:prstGeom prst="rect">
            <a:avLst/>
          </a:prstGeom>
          <a:noFill/>
        </p:spPr>
        <p:txBody>
          <a:bodyPr wrap="square" anchor="t" lIns="38100" rIns="38100" tIns="25400" bIns="25400">
            <a:spAutoFit/>
          </a:bodyPr>
          <a:lstStyle/>
          <a:p>
            <a:pPr algn="l">
              <a:lnSpc>
                <a:spcPct val="135000"/>
              </a:lnSpc>
              <a:spcBef>
                <a:spcPts val="0"/>
              </a:spcBef>
              <a:spcAft>
                <a:spcPts val="200"/>
              </a:spcAft>
            </a:pPr>
            <a:r>
              <a:rPr sz="1050" b="0" i="0">
                <a:solidFill>
                  <a:srgbClr val="20242E"/>
                </a:solidFill>
                <a:latin typeface="Inter"/>
              </a:rPr>
              <a:t>1. Sam habla dos lenguas.</a:t>
            </a:r>
          </a:p>
          <a:p>
            <a:pPr algn="l">
              <a:lnSpc>
                <a:spcPct val="135000"/>
              </a:lnSpc>
              <a:spcBef>
                <a:spcPts val="0"/>
              </a:spcBef>
              <a:spcAft>
                <a:spcPts val="200"/>
              </a:spcAft>
            </a:pPr>
            <a:r>
              <a:rPr sz="1050" b="0" i="0">
                <a:solidFill>
                  <a:srgbClr val="20242E"/>
                </a:solidFill>
                <a:latin typeface="Inter"/>
              </a:rPr>
              <a:t>2. Lucía es de Madrid.</a:t>
            </a:r>
          </a:p>
          <a:p>
            <a:pPr algn="l">
              <a:lnSpc>
                <a:spcPct val="135000"/>
              </a:lnSpc>
              <a:spcBef>
                <a:spcPts val="0"/>
              </a:spcBef>
              <a:spcAft>
                <a:spcPts val="200"/>
              </a:spcAft>
            </a:pPr>
            <a:r>
              <a:rPr sz="1050" b="0" i="0">
                <a:solidFill>
                  <a:srgbClr val="20242E"/>
                </a:solidFill>
                <a:latin typeface="Inter"/>
              </a:rPr>
              <a:t>3. Sam deletrea su nombre.</a:t>
            </a:r>
          </a:p>
        </p:txBody>
      </p:sp>
      <p:sp>
        <p:nvSpPr>
          <p:cNvPr id="17" name="TextBox 16"/>
          <p:cNvSpPr txBox="1"/>
          <p:nvPr/>
        </p:nvSpPr>
        <p:spPr>
          <a:xfrm>
            <a:off x="6446520" y="4572000"/>
            <a:ext cx="5120640" cy="822960"/>
          </a:xfrm>
          <a:prstGeom prst="rect">
            <a:avLst/>
          </a:prstGeom>
          <a:noFill/>
        </p:spPr>
        <p:txBody>
          <a:bodyPr wrap="square" anchor="t" lIns="38100" rIns="38100" tIns="25400" bIns="25400">
            <a:spAutoFit/>
          </a:bodyPr>
          <a:lstStyle/>
          <a:p>
            <a:pPr algn="l">
              <a:lnSpc>
                <a:spcPct val="120000"/>
              </a:lnSpc>
              <a:spcBef>
                <a:spcPts val="0"/>
              </a:spcBef>
              <a:spcAft>
                <a:spcPts val="200"/>
              </a:spcAft>
            </a:pPr>
            <a:r>
              <a:rPr sz="1050" b="1" i="0">
                <a:solidFill>
                  <a:srgbClr val="157355"/>
                </a:solidFill>
                <a:latin typeface="Inter"/>
              </a:rPr>
              <a:t>Tu reacción: </a:t>
            </a:r>
            <a:r>
              <a:rPr sz="1000" b="0" i="0">
                <a:solidFill>
                  <a:srgbClr val="20242E"/>
                </a:solidFill>
                <a:latin typeface="Inter"/>
              </a:rPr>
              <a:t>Lucía te pregunta: «¿Y tú, cómo te llamas y de dónde eres?» Contesta en tres frases: nombre · origen · edad.</a:t>
            </a:r>
          </a:p>
        </p:txBody>
      </p:sp>
      <p:sp>
        <p:nvSpPr>
          <p:cNvPr id="18" name="Rounded Rectangle 17"/>
          <p:cNvSpPr/>
          <p:nvPr/>
        </p:nvSpPr>
        <p:spPr>
          <a:xfrm>
            <a:off x="457200" y="5596128"/>
            <a:ext cx="11274552" cy="658368"/>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0" i="0">
                <a:solidFill>
                  <a:srgbClr val="157355"/>
                </a:solidFill>
                <a:latin typeface="Inter"/>
              </a:rPr>
              <a:t>Detalle: 1) B12 · 2) De Sevilla · 3) 16 · 4) 17 · 5) A las once</a:t>
            </a:r>
          </a:p>
          <a:p>
            <a:pPr>
              <a:lnSpc>
                <a:spcPct val="102000"/>
              </a:lnSpc>
              <a:spcBef>
                <a:spcPts val="0"/>
              </a:spcBef>
              <a:spcAft>
                <a:spcPts val="300"/>
              </a:spcAft>
            </a:pPr>
            <a:r>
              <a:rPr sz="1200" b="0" i="0">
                <a:solidFill>
                  <a:srgbClr val="157355"/>
                </a:solidFill>
                <a:latin typeface="Inter"/>
              </a:rPr>
              <a:t>1) V — «Hablo neerlandés y un poco de español»</a:t>
            </a:r>
          </a:p>
          <a:p>
            <a:pPr>
              <a:lnSpc>
                <a:spcPct val="102000"/>
              </a:lnSpc>
              <a:spcBef>
                <a:spcPts val="0"/>
              </a:spcBef>
              <a:spcAft>
                <a:spcPts val="300"/>
              </a:spcAft>
            </a:pPr>
            <a:r>
              <a:rPr sz="1200" b="0" i="0">
                <a:solidFill>
                  <a:srgbClr val="157355"/>
                </a:solidFill>
                <a:latin typeface="Inter"/>
              </a:rPr>
              <a:t>2) F — «Yo soy de Sevilla»</a:t>
            </a:r>
          </a:p>
          <a:p>
            <a:pPr>
              <a:lnSpc>
                <a:spcPct val="102000"/>
              </a:lnSpc>
              <a:spcBef>
                <a:spcPts val="0"/>
              </a:spcBef>
              <a:spcAft>
                <a:spcPts val="300"/>
              </a:spcAft>
            </a:pPr>
            <a:r>
              <a:rPr sz="1200" b="0" i="0">
                <a:solidFill>
                  <a:srgbClr val="157355"/>
                </a:solidFill>
                <a:latin typeface="Inter"/>
              </a:rPr>
              <a:t>3) V — «Ese, a, eme»</a:t>
            </a:r>
          </a:p>
        </p:txBody>
      </p:sp>
      <p:sp>
        <p:nvSpPr>
          <p:cNvPr id="19" name="Rounded Rectangle 18"/>
          <p:cNvSpPr/>
          <p:nvPr/>
        </p:nvSpPr>
        <p:spPr>
          <a:xfrm>
            <a:off x="594360" y="5468112"/>
            <a:ext cx="154899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20" name="Rectangle 19"/>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22" name="TextBox 21"/>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23" name="TextBox 22"/>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2306116"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TAREA FINAL · EINDMISSIE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Tu tarjeta de embarque</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Jouw instapkaart voor La Ruta. Alles komt samen: spellen · groeten · één klasvraag stellen.</a:t>
            </a:r>
          </a:p>
        </p:txBody>
      </p:sp>
      <p:sp>
        <p:nvSpPr>
          <p:cNvPr id="8" name="Rounded Rectangle 7"/>
          <p:cNvSpPr/>
          <p:nvPr/>
        </p:nvSpPr>
        <p:spPr>
          <a:xfrm>
            <a:off x="457200" y="1325880"/>
            <a:ext cx="6035040" cy="2880360"/>
          </a:xfrm>
          <a:prstGeom prst="roundRect">
            <a:avLst>
              <a:gd name="adj" fmla="val 5500"/>
            </a:avLst>
          </a:prstGeom>
          <a:solidFill>
            <a:srgbClr val="FFFFFF"/>
          </a:solidFill>
          <a:ln w="1905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417320"/>
            <a:ext cx="566928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157355"/>
                </a:solidFill>
                <a:latin typeface="Bricolage Grotesque"/>
              </a:rPr>
              <a:t>Communicatief kader (§14)</a:t>
            </a:r>
          </a:p>
        </p:txBody>
      </p:sp>
      <p:sp>
        <p:nvSpPr>
          <p:cNvPr id="10" name="TextBox 9"/>
          <p:cNvSpPr txBox="1"/>
          <p:nvPr/>
        </p:nvSpPr>
        <p:spPr>
          <a:xfrm>
            <a:off x="621792" y="1810512"/>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Situación</a:t>
            </a:r>
          </a:p>
        </p:txBody>
      </p:sp>
      <p:sp>
        <p:nvSpPr>
          <p:cNvPr id="11" name="TextBox 10"/>
          <p:cNvSpPr txBox="1"/>
          <p:nvPr/>
        </p:nvSpPr>
        <p:spPr>
          <a:xfrm>
            <a:off x="2514600" y="1810512"/>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Aan de gate stel je je kort voor voor de eerste etappe.</a:t>
            </a:r>
          </a:p>
        </p:txBody>
      </p:sp>
      <p:sp>
        <p:nvSpPr>
          <p:cNvPr id="12" name="TextBox 11"/>
          <p:cNvSpPr txBox="1"/>
          <p:nvPr/>
        </p:nvSpPr>
        <p:spPr>
          <a:xfrm>
            <a:off x="621792" y="2286000"/>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Afzender</a:t>
            </a:r>
          </a:p>
        </p:txBody>
      </p:sp>
      <p:sp>
        <p:nvSpPr>
          <p:cNvPr id="13" name="TextBox 12"/>
          <p:cNvSpPr txBox="1"/>
          <p:nvPr/>
        </p:nvSpPr>
        <p:spPr>
          <a:xfrm>
            <a:off x="2514600" y="2286000"/>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jij (de reiziger).</a:t>
            </a:r>
          </a:p>
        </p:txBody>
      </p:sp>
      <p:sp>
        <p:nvSpPr>
          <p:cNvPr id="14" name="TextBox 13"/>
          <p:cNvSpPr txBox="1"/>
          <p:nvPr/>
        </p:nvSpPr>
        <p:spPr>
          <a:xfrm>
            <a:off x="621792" y="2761488"/>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Ontvanger</a:t>
            </a:r>
          </a:p>
        </p:txBody>
      </p:sp>
      <p:sp>
        <p:nvSpPr>
          <p:cNvPr id="15" name="TextBox 14"/>
          <p:cNvSpPr txBox="1"/>
          <p:nvPr/>
        </p:nvSpPr>
        <p:spPr>
          <a:xfrm>
            <a:off x="2514600" y="2761488"/>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een klasgenoot / de mochila / de klas.</a:t>
            </a:r>
          </a:p>
        </p:txBody>
      </p:sp>
      <p:sp>
        <p:nvSpPr>
          <p:cNvPr id="16" name="TextBox 15"/>
          <p:cNvSpPr txBox="1"/>
          <p:nvPr/>
        </p:nvSpPr>
        <p:spPr>
          <a:xfrm>
            <a:off x="621792" y="3236976"/>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Doel</a:t>
            </a:r>
          </a:p>
        </p:txBody>
      </p:sp>
      <p:sp>
        <p:nvSpPr>
          <p:cNvPr id="17" name="TextBox 16"/>
          <p:cNvSpPr txBox="1"/>
          <p:nvPr/>
        </p:nvSpPr>
        <p:spPr>
          <a:xfrm>
            <a:off x="2514600" y="3236976"/>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voorstellen + spellen · groeten · één klasvraag stellen.</a:t>
            </a:r>
          </a:p>
        </p:txBody>
      </p:sp>
      <p:sp>
        <p:nvSpPr>
          <p:cNvPr id="18" name="TextBox 17"/>
          <p:cNvSpPr txBox="1"/>
          <p:nvPr/>
        </p:nvSpPr>
        <p:spPr>
          <a:xfrm>
            <a:off x="621792" y="3712464"/>
            <a:ext cx="1874519"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 Resultaat</a:t>
            </a:r>
          </a:p>
        </p:txBody>
      </p:sp>
      <p:sp>
        <p:nvSpPr>
          <p:cNvPr id="19" name="TextBox 18"/>
          <p:cNvSpPr txBox="1"/>
          <p:nvPr/>
        </p:nvSpPr>
        <p:spPr>
          <a:xfrm>
            <a:off x="2514600" y="3712464"/>
            <a:ext cx="3886200" cy="457200"/>
          </a:xfrm>
          <a:prstGeom prst="rect">
            <a:avLst/>
          </a:prstGeom>
          <a:noFill/>
        </p:spPr>
        <p:txBody>
          <a:bodyPr wrap="square" anchor="t" lIns="38100" rIns="38100" tIns="25400" bIns="25400">
            <a:spAutoFit/>
          </a:bodyPr>
          <a:lstStyle/>
          <a:p>
            <a:pPr algn="l">
              <a:lnSpc>
                <a:spcPct val="104000"/>
              </a:lnSpc>
              <a:spcBef>
                <a:spcPts val="0"/>
              </a:spcBef>
              <a:spcAft>
                <a:spcPts val="200"/>
              </a:spcAft>
            </a:pPr>
            <a:r>
              <a:rPr sz="1100" b="0" i="0">
                <a:solidFill>
                  <a:srgbClr val="20242E"/>
                </a:solidFill>
                <a:latin typeface="Inter"/>
              </a:rPr>
              <a:t>ingevulde tarjeta + korte gesproken kennismaking (live/opname).</a:t>
            </a:r>
          </a:p>
        </p:txBody>
      </p:sp>
      <p:sp>
        <p:nvSpPr>
          <p:cNvPr id="20" name="Rounded Rectangle 19"/>
          <p:cNvSpPr/>
          <p:nvPr/>
        </p:nvSpPr>
        <p:spPr>
          <a:xfrm>
            <a:off x="6675120" y="1325880"/>
            <a:ext cx="5029200" cy="2011680"/>
          </a:xfrm>
          <a:prstGeom prst="roundRect">
            <a:avLst>
              <a:gd name="adj" fmla="val 5500"/>
            </a:avLst>
          </a:prstGeom>
          <a:solidFill>
            <a:srgbClr val="E4F4EE"/>
          </a:solidFill>
          <a:ln w="2032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75120" y="1325880"/>
            <a:ext cx="5029200" cy="457200"/>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1344168"/>
            <a:ext cx="4754880" cy="420624"/>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250" b="1" i="0">
                <a:solidFill>
                  <a:srgbClr val="FFFFFF"/>
                </a:solidFill>
                <a:latin typeface="Bricolage Grotesque"/>
              </a:rPr>
              <a:t>✈  TARJETA DE EMBARQUE · LA RUTA</a:t>
            </a:r>
          </a:p>
        </p:txBody>
      </p:sp>
      <p:sp>
        <p:nvSpPr>
          <p:cNvPr id="23" name="TextBox 22"/>
          <p:cNvSpPr txBox="1"/>
          <p:nvPr/>
        </p:nvSpPr>
        <p:spPr>
          <a:xfrm>
            <a:off x="6858000" y="1920240"/>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NOMBRE / NAAM</a:t>
            </a:r>
          </a:p>
        </p:txBody>
      </p:sp>
      <p:sp>
        <p:nvSpPr>
          <p:cNvPr id="24" name="TextBox 23"/>
          <p:cNvSpPr txBox="1"/>
          <p:nvPr/>
        </p:nvSpPr>
        <p:spPr>
          <a:xfrm>
            <a:off x="9235440" y="1920240"/>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___________</a:t>
            </a:r>
          </a:p>
        </p:txBody>
      </p:sp>
      <p:sp>
        <p:nvSpPr>
          <p:cNvPr id="25" name="TextBox 24"/>
          <p:cNvSpPr txBox="1"/>
          <p:nvPr/>
        </p:nvSpPr>
        <p:spPr>
          <a:xfrm>
            <a:off x="6858000" y="2176272"/>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DESTINO</a:t>
            </a:r>
          </a:p>
        </p:txBody>
      </p:sp>
      <p:sp>
        <p:nvSpPr>
          <p:cNvPr id="26" name="TextBox 25"/>
          <p:cNvSpPr txBox="1"/>
          <p:nvPr/>
        </p:nvSpPr>
        <p:spPr>
          <a:xfrm>
            <a:off x="9235440" y="2176272"/>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ESPAÑA</a:t>
            </a:r>
          </a:p>
        </p:txBody>
      </p:sp>
      <p:sp>
        <p:nvSpPr>
          <p:cNvPr id="27" name="TextBox 26"/>
          <p:cNvSpPr txBox="1"/>
          <p:nvPr/>
        </p:nvSpPr>
        <p:spPr>
          <a:xfrm>
            <a:off x="6858000" y="2432304"/>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RUTA</a:t>
            </a:r>
          </a:p>
        </p:txBody>
      </p:sp>
      <p:sp>
        <p:nvSpPr>
          <p:cNvPr id="28" name="TextBox 27"/>
          <p:cNvSpPr txBox="1"/>
          <p:nvPr/>
        </p:nvSpPr>
        <p:spPr>
          <a:xfrm>
            <a:off x="9235440" y="2432304"/>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EL MUNDO HISPANO</a:t>
            </a:r>
          </a:p>
        </p:txBody>
      </p:sp>
      <p:sp>
        <p:nvSpPr>
          <p:cNvPr id="29" name="TextBox 28"/>
          <p:cNvSpPr txBox="1"/>
          <p:nvPr/>
        </p:nvSpPr>
        <p:spPr>
          <a:xfrm>
            <a:off x="6858000" y="2688336"/>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PUERTA (gate)</a:t>
            </a:r>
          </a:p>
        </p:txBody>
      </p:sp>
      <p:sp>
        <p:nvSpPr>
          <p:cNvPr id="30" name="TextBox 29"/>
          <p:cNvSpPr txBox="1"/>
          <p:nvPr/>
        </p:nvSpPr>
        <p:spPr>
          <a:xfrm>
            <a:off x="9235440" y="2688336"/>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U0</a:t>
            </a:r>
          </a:p>
        </p:txBody>
      </p:sp>
      <p:sp>
        <p:nvSpPr>
          <p:cNvPr id="31" name="TextBox 30"/>
          <p:cNvSpPr txBox="1"/>
          <p:nvPr/>
        </p:nvSpPr>
        <p:spPr>
          <a:xfrm>
            <a:off x="6858000" y="2944368"/>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1" i="0">
                <a:solidFill>
                  <a:srgbClr val="6A6E78"/>
                </a:solidFill>
                <a:latin typeface="Inter"/>
              </a:rPr>
              <a:t>ASIENTO</a:t>
            </a:r>
          </a:p>
        </p:txBody>
      </p:sp>
      <p:sp>
        <p:nvSpPr>
          <p:cNvPr id="32" name="TextBox 31"/>
          <p:cNvSpPr txBox="1"/>
          <p:nvPr/>
        </p:nvSpPr>
        <p:spPr>
          <a:xfrm>
            <a:off x="9235440" y="2944368"/>
            <a:ext cx="23774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57355"/>
                </a:solidFill>
                <a:latin typeface="Inter"/>
              </a:rPr>
              <a:t>___</a:t>
            </a:r>
          </a:p>
        </p:txBody>
      </p:sp>
      <p:sp>
        <p:nvSpPr>
          <p:cNvPr id="33" name="TextBox 32"/>
          <p:cNvSpPr txBox="1"/>
          <p:nvPr/>
        </p:nvSpPr>
        <p:spPr>
          <a:xfrm>
            <a:off x="6858000" y="3200400"/>
            <a:ext cx="4572000" cy="18288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00" b="0" i="0">
                <a:solidFill>
                  <a:srgbClr val="20242E"/>
                </a:solidFill>
                <a:latin typeface="Inter"/>
              </a:rPr>
              <a:t>▮▮▯▮▯▮▮▯▮  ·  🎒</a:t>
            </a:r>
          </a:p>
        </p:txBody>
      </p:sp>
      <p:sp>
        <p:nvSpPr>
          <p:cNvPr id="34" name="TextBox 33"/>
          <p:cNvSpPr txBox="1"/>
          <p:nvPr/>
        </p:nvSpPr>
        <p:spPr>
          <a:xfrm>
            <a:off x="6675120" y="3520440"/>
            <a:ext cx="502920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00" b="1" i="0">
                <a:solidFill>
                  <a:srgbClr val="157355"/>
                </a:solidFill>
                <a:latin typeface="Bricolage Grotesque"/>
              </a:rPr>
              <a:t>Pasos (steun bouwt af):</a:t>
            </a:r>
          </a:p>
        </p:txBody>
      </p:sp>
      <p:sp>
        <p:nvSpPr>
          <p:cNvPr id="35" name="Rounded Rectangle 34"/>
          <p:cNvSpPr/>
          <p:nvPr/>
        </p:nvSpPr>
        <p:spPr>
          <a:xfrm>
            <a:off x="6675120" y="384048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1 Prepara tu tarjeta (MODEL)</a:t>
            </a:r>
          </a:p>
        </p:txBody>
      </p:sp>
      <p:sp>
        <p:nvSpPr>
          <p:cNvPr id="36" name="Rounded Rectangle 35"/>
          <p:cNvSpPr/>
          <p:nvPr/>
        </p:nvSpPr>
        <p:spPr>
          <a:xfrm>
            <a:off x="6675120" y="420624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2 Ensaya tu nombre (alfabet)</a:t>
            </a:r>
          </a:p>
        </p:txBody>
      </p:sp>
      <p:sp>
        <p:nvSpPr>
          <p:cNvPr id="37" name="Rounded Rectangle 36"/>
          <p:cNvSpPr/>
          <p:nvPr/>
        </p:nvSpPr>
        <p:spPr>
          <a:xfrm>
            <a:off x="6675120" y="457200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3 Escribe tu mini-diálogo (frame)</a:t>
            </a:r>
          </a:p>
        </p:txBody>
      </p:sp>
      <p:sp>
        <p:nvSpPr>
          <p:cNvPr id="38" name="Rounded Rectangle 37"/>
          <p:cNvSpPr/>
          <p:nvPr/>
        </p:nvSpPr>
        <p:spPr>
          <a:xfrm>
            <a:off x="6675120" y="493776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4 Practica en duo (cue)</a:t>
            </a:r>
          </a:p>
        </p:txBody>
      </p:sp>
      <p:sp>
        <p:nvSpPr>
          <p:cNvPr id="39" name="Rounded Rectangle 38"/>
          <p:cNvSpPr/>
          <p:nvPr/>
        </p:nvSpPr>
        <p:spPr>
          <a:xfrm>
            <a:off x="6675120" y="5303520"/>
            <a:ext cx="45720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50" b="1">
                <a:solidFill>
                  <a:srgbClr val="157355"/>
                </a:solidFill>
                <a:latin typeface="Inter"/>
              </a:rPr>
              <a:t>5 Preséntate (SIN AYUDA)</a:t>
            </a:r>
          </a:p>
        </p:txBody>
      </p:sp>
      <p:sp>
        <p:nvSpPr>
          <p:cNvPr id="40" name="Rounded Rectangle 39"/>
          <p:cNvSpPr/>
          <p:nvPr/>
        </p:nvSpPr>
        <p:spPr>
          <a:xfrm>
            <a:off x="457200" y="4343400"/>
            <a:ext cx="6035040" cy="146304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E9E74"/>
                </a:solidFill>
                <a:latin typeface="Inter"/>
              </a:rPr>
              <a:t>Modelo (en la puerta):</a:t>
            </a:r>
          </a:p>
          <a:p>
            <a:pPr>
              <a:lnSpc>
                <a:spcPct val="102000"/>
              </a:lnSpc>
              <a:spcBef>
                <a:spcPts val="0"/>
              </a:spcBef>
              <a:spcAft>
                <a:spcPts val="300"/>
              </a:spcAft>
            </a:pPr>
            <a:r>
              <a:rPr sz="1100" b="0" i="0">
                <a:solidFill>
                  <a:srgbClr val="157355"/>
                </a:solidFill>
                <a:latin typeface="Inter"/>
              </a:rPr>
              <a:t>Lucía: ¡Hola! Yo soy Lucía. ¿Y tú?</a:t>
            </a:r>
          </a:p>
          <a:p>
            <a:pPr>
              <a:lnSpc>
                <a:spcPct val="102000"/>
              </a:lnSpc>
              <a:spcBef>
                <a:spcPts val="0"/>
              </a:spcBef>
              <a:spcAft>
                <a:spcPts val="300"/>
              </a:spcAft>
            </a:pPr>
            <a:r>
              <a:rPr sz="1100" b="0" i="0">
                <a:solidFill>
                  <a:srgbClr val="157355"/>
                </a:solidFill>
                <a:latin typeface="Inter"/>
              </a:rPr>
              <a:t>Tú: ¡Hola! Yo soy Sam.  — Lucía: ¿Cómo se escribe?</a:t>
            </a:r>
          </a:p>
          <a:p>
            <a:pPr>
              <a:lnSpc>
                <a:spcPct val="102000"/>
              </a:lnSpc>
              <a:spcBef>
                <a:spcPts val="0"/>
              </a:spcBef>
              <a:spcAft>
                <a:spcPts val="300"/>
              </a:spcAft>
            </a:pPr>
            <a:r>
              <a:rPr sz="1100" b="0" i="0">
                <a:solidFill>
                  <a:srgbClr val="157355"/>
                </a:solidFill>
                <a:latin typeface="Inter"/>
              </a:rPr>
              <a:t>Tú: Ese-a-eme. Sam.  Una pregunta: ¿cómo se dice «rugzak»?</a:t>
            </a:r>
          </a:p>
          <a:p>
            <a:pPr>
              <a:lnSpc>
                <a:spcPct val="102000"/>
              </a:lnSpc>
              <a:spcBef>
                <a:spcPts val="0"/>
              </a:spcBef>
              <a:spcAft>
                <a:spcPts val="300"/>
              </a:spcAft>
            </a:pPr>
            <a:r>
              <a:rPr sz="1100" b="0" i="0">
                <a:solidFill>
                  <a:srgbClr val="157355"/>
                </a:solidFill>
                <a:latin typeface="Inter"/>
              </a:rPr>
              <a:t>Lucía: Se dice «la mochila». — Tú: ¡Gracias! ¡Hasta luego!</a:t>
            </a:r>
          </a:p>
        </p:txBody>
      </p:sp>
      <p:sp>
        <p:nvSpPr>
          <p:cNvPr id="41" name="Rounded Rectangle 40"/>
          <p:cNvSpPr/>
          <p:nvPr/>
        </p:nvSpPr>
        <p:spPr>
          <a:xfrm>
            <a:off x="594360" y="4215384"/>
            <a:ext cx="138074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MODELO · docent</a:t>
            </a:r>
          </a:p>
        </p:txBody>
      </p:sp>
      <p:sp>
        <p:nvSpPr>
          <p:cNvPr id="42" name="Rectangle 41"/>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4" name="TextBox 43"/>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5" name="TextBox 44"/>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B7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1464868"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B7860B"/>
                </a:solidFill>
                <a:latin typeface="Inter"/>
              </a:rPr>
              <a:t>QUIZ · RETRIEVAL</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«La mezcla» — gemengde quiz</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Vijf mini-items, elk uit een ándere sectie. Kies zélf de juiste regel. (retrieval vóór herlezen, §14)</a:t>
            </a:r>
          </a:p>
        </p:txBody>
      </p:sp>
      <p:sp>
        <p:nvSpPr>
          <p:cNvPr id="8" name="Rounded Rectangle 7"/>
          <p:cNvSpPr/>
          <p:nvPr/>
        </p:nvSpPr>
        <p:spPr>
          <a:xfrm>
            <a:off x="457200" y="137160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50876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1 · §2</a:t>
            </a:r>
          </a:p>
        </p:txBody>
      </p:sp>
      <p:sp>
        <p:nvSpPr>
          <p:cNvPr id="10" name="TextBox 9"/>
          <p:cNvSpPr txBox="1"/>
          <p:nvPr/>
        </p:nvSpPr>
        <p:spPr>
          <a:xfrm>
            <a:off x="1783080" y="137160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¿Lleva tilde: «Peru» o «Perú»?</a:t>
            </a:r>
          </a:p>
        </p:txBody>
      </p:sp>
      <p:sp>
        <p:nvSpPr>
          <p:cNvPr id="11" name="Rounded Rectangle 10"/>
          <p:cNvSpPr/>
          <p:nvPr/>
        </p:nvSpPr>
        <p:spPr>
          <a:xfrm>
            <a:off x="8686800" y="149961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Perú</a:t>
            </a:r>
          </a:p>
        </p:txBody>
      </p:sp>
      <p:sp>
        <p:nvSpPr>
          <p:cNvPr id="12" name="Rounded Rectangle 11"/>
          <p:cNvSpPr/>
          <p:nvPr/>
        </p:nvSpPr>
        <p:spPr>
          <a:xfrm>
            <a:off x="457200" y="201168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214884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2 · §1</a:t>
            </a:r>
          </a:p>
        </p:txBody>
      </p:sp>
      <p:sp>
        <p:nvSpPr>
          <p:cNvPr id="14" name="TextBox 13"/>
          <p:cNvSpPr txBox="1"/>
          <p:nvPr/>
        </p:nvSpPr>
        <p:spPr>
          <a:xfrm>
            <a:off x="1783080" y="201168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¿«h» klinkt of niet in «hola»?</a:t>
            </a:r>
          </a:p>
        </p:txBody>
      </p:sp>
      <p:sp>
        <p:nvSpPr>
          <p:cNvPr id="15" name="Rounded Rectangle 14"/>
          <p:cNvSpPr/>
          <p:nvPr/>
        </p:nvSpPr>
        <p:spPr>
          <a:xfrm>
            <a:off x="8686800" y="213969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de h zwijgt</a:t>
            </a:r>
          </a:p>
        </p:txBody>
      </p:sp>
      <p:sp>
        <p:nvSpPr>
          <p:cNvPr id="16" name="Rounded Rectangle 15"/>
          <p:cNvSpPr/>
          <p:nvPr/>
        </p:nvSpPr>
        <p:spPr>
          <a:xfrm>
            <a:off x="457200" y="265176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 y="278892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3 · §3</a:t>
            </a:r>
          </a:p>
        </p:txBody>
      </p:sp>
      <p:sp>
        <p:nvSpPr>
          <p:cNvPr id="18" name="TextBox 17"/>
          <p:cNvSpPr txBox="1"/>
          <p:nvPr/>
        </p:nvSpPr>
        <p:spPr>
          <a:xfrm>
            <a:off x="1783080" y="265176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Escribe 47 en letras.</a:t>
            </a:r>
          </a:p>
        </p:txBody>
      </p:sp>
      <p:sp>
        <p:nvSpPr>
          <p:cNvPr id="19" name="Rounded Rectangle 18"/>
          <p:cNvSpPr/>
          <p:nvPr/>
        </p:nvSpPr>
        <p:spPr>
          <a:xfrm>
            <a:off x="8686800" y="277977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cuarenta y siete</a:t>
            </a:r>
          </a:p>
        </p:txBody>
      </p:sp>
      <p:sp>
        <p:nvSpPr>
          <p:cNvPr id="20" name="Rounded Rectangle 19"/>
          <p:cNvSpPr/>
          <p:nvPr/>
        </p:nvSpPr>
        <p:spPr>
          <a:xfrm>
            <a:off x="457200" y="329184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66928" y="342900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4 · §4</a:t>
            </a:r>
          </a:p>
        </p:txBody>
      </p:sp>
      <p:sp>
        <p:nvSpPr>
          <p:cNvPr id="22" name="TextBox 21"/>
          <p:cNvSpPr txBox="1"/>
          <p:nvPr/>
        </p:nvSpPr>
        <p:spPr>
          <a:xfrm>
            <a:off x="1783080" y="329184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¿Encantado o encantada dice Nina?</a:t>
            </a:r>
          </a:p>
        </p:txBody>
      </p:sp>
      <p:sp>
        <p:nvSpPr>
          <p:cNvPr id="23" name="Rounded Rectangle 22"/>
          <p:cNvSpPr/>
          <p:nvPr/>
        </p:nvSpPr>
        <p:spPr>
          <a:xfrm>
            <a:off x="8686800" y="341985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Encantada</a:t>
            </a:r>
          </a:p>
        </p:txBody>
      </p:sp>
      <p:sp>
        <p:nvSpPr>
          <p:cNvPr id="24" name="Rounded Rectangle 23"/>
          <p:cNvSpPr/>
          <p:nvPr/>
        </p:nvSpPr>
        <p:spPr>
          <a:xfrm>
            <a:off x="457200" y="3931920"/>
            <a:ext cx="11247120" cy="566928"/>
          </a:xfrm>
          <a:prstGeom prst="roundRect">
            <a:avLst>
              <a:gd name="adj" fmla="val 5500"/>
            </a:avLst>
          </a:prstGeom>
          <a:solidFill>
            <a:srgbClr val="FFFFFF"/>
          </a:solidFill>
          <a:ln w="1270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66928" y="4069080"/>
            <a:ext cx="1051560" cy="292608"/>
          </a:xfrm>
          <a:prstGeom prst="roundRect">
            <a:avLst>
              <a:gd name="adj" fmla="val 5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000" b="1">
                <a:solidFill>
                  <a:srgbClr val="157355"/>
                </a:solidFill>
                <a:latin typeface="Inter"/>
              </a:rPr>
              <a:t>5 · §2</a:t>
            </a:r>
          </a:p>
        </p:txBody>
      </p:sp>
      <p:sp>
        <p:nvSpPr>
          <p:cNvPr id="26" name="TextBox 25"/>
          <p:cNvSpPr txBox="1"/>
          <p:nvPr/>
        </p:nvSpPr>
        <p:spPr>
          <a:xfrm>
            <a:off x="1783080" y="3931920"/>
            <a:ext cx="6766560" cy="566928"/>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350" b="0" i="0">
                <a:solidFill>
                  <a:srgbClr val="20242E"/>
                </a:solidFill>
                <a:latin typeface="Inter"/>
              </a:rPr>
              <a:t>Ordena: llana / esdrújula → «casa», «México».</a:t>
            </a:r>
          </a:p>
        </p:txBody>
      </p:sp>
      <p:sp>
        <p:nvSpPr>
          <p:cNvPr id="27" name="Rounded Rectangle 26"/>
          <p:cNvSpPr/>
          <p:nvPr/>
        </p:nvSpPr>
        <p:spPr>
          <a:xfrm>
            <a:off x="8686800" y="4059936"/>
            <a:ext cx="2926080" cy="310896"/>
          </a:xfrm>
          <a:prstGeom prst="roundRect">
            <a:avLst>
              <a:gd name="adj" fmla="val 50000"/>
            </a:avLst>
          </a:prstGeom>
          <a:solidFill>
            <a:srgbClr val="1E9E74"/>
          </a:solidFill>
          <a:ln w="12700">
            <a:solidFill>
              <a:srgbClr val="157355"/>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FFFFFF"/>
                </a:solidFill>
                <a:latin typeface="Inter"/>
              </a:rPr>
              <a:t>✓ casa=llana · México=esdrújula</a:t>
            </a:r>
          </a:p>
        </p:txBody>
      </p:sp>
      <p:sp>
        <p:nvSpPr>
          <p:cNvPr id="28" name="Rounded Rectangle 27"/>
          <p:cNvSpPr/>
          <p:nvPr/>
        </p:nvSpPr>
        <p:spPr>
          <a:xfrm>
            <a:off x="457200" y="6053328"/>
            <a:ext cx="2093976" cy="365760"/>
          </a:xfrm>
          <a:prstGeom prst="roundRect">
            <a:avLst>
              <a:gd name="adj" fmla="val 50000"/>
            </a:avLst>
          </a:prstGeom>
          <a:solidFill>
            <a:srgbClr val="1E9E74"/>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FFFFFF"/>
                </a:solidFill>
                <a:latin typeface="Inter"/>
              </a:rPr>
              <a:t>▶  Mostrar solución</a:t>
            </a:r>
          </a:p>
        </p:txBody>
      </p:sp>
      <p:sp>
        <p:nvSpPr>
          <p:cNvPr id="29" name="Rounded Rectangle 28"/>
          <p:cNvSpPr/>
          <p:nvPr/>
        </p:nvSpPr>
        <p:spPr>
          <a:xfrm>
            <a:off x="2697480" y="6053328"/>
            <a:ext cx="1088136"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Saltar</a:t>
            </a:r>
          </a:p>
        </p:txBody>
      </p:sp>
      <p:sp>
        <p:nvSpPr>
          <p:cNvPr id="30" name="Rounded Rectangle 29">
            <a:hlinkClick action="ppaction://hlinksldjump" r:id="rId3"/>
          </p:cNvPr>
          <p:cNvSpPr/>
          <p:nvPr/>
        </p:nvSpPr>
        <p:spPr>
          <a:xfrm>
            <a:off x="3931920" y="6053328"/>
            <a:ext cx="1691639" cy="365760"/>
          </a:xfrm>
          <a:prstGeom prst="roundRect">
            <a:avLst>
              <a:gd name="adj" fmla="val 50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sz="1050" b="1">
                <a:solidFill>
                  <a:srgbClr val="157355"/>
                </a:solidFill>
                <a:latin typeface="Inter"/>
              </a:rPr>
              <a:t>⌂  Menú (dia 2)</a:t>
            </a:r>
          </a:p>
        </p:txBody>
      </p:sp>
      <p:sp>
        <p:nvSpPr>
          <p:cNvPr id="31" name="TextBox 30"/>
          <p:cNvSpPr txBox="1"/>
          <p:nvPr/>
        </p:nvSpPr>
        <p:spPr>
          <a:xfrm>
            <a:off x="8321040" y="6053328"/>
            <a:ext cx="3383280" cy="36576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850" b="0" i="1">
                <a:solidFill>
                  <a:srgbClr val="6A6E78"/>
                </a:solidFill>
                <a:latin typeface="Inter"/>
              </a:rPr>
              <a:t>Noodroute (§5): werkt zonder audio/internet</a:t>
            </a:r>
          </a:p>
        </p:txBody>
      </p:sp>
      <p:sp>
        <p:nvSpPr>
          <p:cNvPr id="32" name="Rounded Rectangle 31"/>
          <p:cNvSpPr/>
          <p:nvPr/>
        </p:nvSpPr>
        <p:spPr>
          <a:xfrm>
            <a:off x="457200" y="4754880"/>
            <a:ext cx="11247120" cy="1097280"/>
          </a:xfrm>
          <a:prstGeom prst="roundRect">
            <a:avLst>
              <a:gd name="adj" fmla="val 6000"/>
            </a:avLst>
          </a:prstGeom>
          <a:solidFill>
            <a:srgbClr val="E4F4EE"/>
          </a:solidFill>
          <a:ln w="19050">
            <a:solidFill>
              <a:srgbClr val="1E9E7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39700" bIns="76200"/>
          <a:lstStyle/>
          <a:p>
            <a:pPr algn="ctr">
              <a:lnSpc>
                <a:spcPct val="102000"/>
              </a:lnSpc>
              <a:spcBef>
                <a:spcPts val="0"/>
              </a:spcBef>
              <a:spcAft>
                <a:spcPts val="300"/>
              </a:spcAft>
            </a:pPr>
            <a:r>
              <a:rPr sz="1200" b="1" i="0">
                <a:solidFill>
                  <a:srgbClr val="157355"/>
                </a:solidFill>
                <a:latin typeface="Inter"/>
              </a:rPr>
              <a:t>1 </a:t>
            </a:r>
            <a:r>
              <a:rPr sz="1200" b="1" i="0">
                <a:solidFill>
                  <a:srgbClr val="1E9E74"/>
                </a:solidFill>
                <a:latin typeface="Inter"/>
              </a:rPr>
              <a:t>Perú</a:t>
            </a:r>
            <a:r>
              <a:rPr sz="1200" b="0" i="0">
                <a:solidFill>
                  <a:srgbClr val="157355"/>
                </a:solidFill>
                <a:latin typeface="Inter"/>
              </a:rPr>
              <a:t> (aguda -ú)   ·   </a:t>
            </a:r>
            <a:r>
              <a:rPr sz="1200" b="1" i="0">
                <a:solidFill>
                  <a:srgbClr val="157355"/>
                </a:solidFill>
                <a:latin typeface="Inter"/>
              </a:rPr>
              <a:t>2 </a:t>
            </a:r>
            <a:r>
              <a:rPr sz="1200" b="1" i="0">
                <a:solidFill>
                  <a:srgbClr val="1E9E74"/>
                </a:solidFill>
                <a:latin typeface="Inter"/>
              </a:rPr>
              <a:t>de h zwijgt</a:t>
            </a:r>
            <a:r>
              <a:rPr sz="1200" b="0" i="0">
                <a:solidFill>
                  <a:srgbClr val="157355"/>
                </a:solidFill>
                <a:latin typeface="Inter"/>
              </a:rPr>
              <a:t> (hola = «ola»)   ·   </a:t>
            </a:r>
            <a:r>
              <a:rPr sz="1200" b="1" i="0">
                <a:solidFill>
                  <a:srgbClr val="157355"/>
                </a:solidFill>
                <a:latin typeface="Inter"/>
              </a:rPr>
              <a:t>3 </a:t>
            </a:r>
            <a:r>
              <a:rPr sz="1200" b="1" i="0">
                <a:solidFill>
                  <a:srgbClr val="1E9E74"/>
                </a:solidFill>
                <a:latin typeface="Inter"/>
              </a:rPr>
              <a:t>cuarenta y siete</a:t>
            </a:r>
          </a:p>
          <a:p>
            <a:pPr>
              <a:lnSpc>
                <a:spcPct val="102000"/>
              </a:lnSpc>
              <a:spcBef>
                <a:spcPts val="0"/>
              </a:spcBef>
              <a:spcAft>
                <a:spcPts val="300"/>
              </a:spcAft>
            </a:pPr>
            <a:r>
              <a:rPr sz="1200" b="1" i="0">
                <a:solidFill>
                  <a:srgbClr val="157355"/>
                </a:solidFill>
                <a:latin typeface="Inter"/>
              </a:rPr>
              <a:t>4 </a:t>
            </a:r>
            <a:r>
              <a:rPr sz="1200" b="1" i="0">
                <a:solidFill>
                  <a:srgbClr val="1E9E74"/>
                </a:solidFill>
                <a:latin typeface="Inter"/>
              </a:rPr>
              <a:t>Encantada</a:t>
            </a:r>
            <a:r>
              <a:rPr sz="1200" b="0" i="0">
                <a:solidFill>
                  <a:srgbClr val="157355"/>
                </a:solidFill>
                <a:latin typeface="Inter"/>
              </a:rPr>
              <a:t> (Nina is een meisje — de uitgang volgt wie spreekt)   ·   </a:t>
            </a:r>
            <a:r>
              <a:rPr sz="1200" b="1" i="0">
                <a:solidFill>
                  <a:srgbClr val="157355"/>
                </a:solidFill>
                <a:latin typeface="Inter"/>
              </a:rPr>
              <a:t>5 </a:t>
            </a:r>
            <a:r>
              <a:rPr sz="1200" b="1" i="0">
                <a:solidFill>
                  <a:srgbClr val="1E9E74"/>
                </a:solidFill>
                <a:latin typeface="Inter"/>
              </a:rPr>
              <a:t>casa = llana · México = esdrújula</a:t>
            </a:r>
          </a:p>
        </p:txBody>
      </p:sp>
      <p:sp>
        <p:nvSpPr>
          <p:cNvPr id="33" name="Rounded Rectangle 32"/>
          <p:cNvSpPr/>
          <p:nvPr/>
        </p:nvSpPr>
        <p:spPr>
          <a:xfrm>
            <a:off x="594360" y="4626864"/>
            <a:ext cx="1548993" cy="292608"/>
          </a:xfrm>
          <a:prstGeom prst="roundRect">
            <a:avLst>
              <a:gd name="adj" fmla="val 50000"/>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950" b="1">
                <a:solidFill>
                  <a:srgbClr val="FFFFFF"/>
                </a:solidFill>
                <a:latin typeface="Inter"/>
              </a:rPr>
              <a:t>SOLUCIÓN · docent</a:t>
            </a:r>
          </a:p>
        </p:txBody>
      </p:sp>
      <p:sp>
        <p:nvSpPr>
          <p:cNvPr id="34" name="Rectangle 3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6" name="TextBox 3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7" name="TextBox 3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79187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157355"/>
                </a:solidFill>
                <a:latin typeface="Inter"/>
              </a:rPr>
              <a:t>◎ REPASO</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Lo esencial de un vistazo + semáforo</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De hele U0 op één plaat + zelfevaluatie. Retrieval eerst (dia 19), dán terugbladeren.</a:t>
            </a:r>
          </a:p>
        </p:txBody>
      </p:sp>
      <p:sp>
        <p:nvSpPr>
          <p:cNvPr id="8" name="Rounded Rectangle 7"/>
          <p:cNvSpPr/>
          <p:nvPr/>
        </p:nvSpPr>
        <p:spPr>
          <a:xfrm>
            <a:off x="457200" y="1325880"/>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25880"/>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399032"/>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El mundo hispano</a:t>
            </a:r>
          </a:p>
        </p:txBody>
      </p:sp>
      <p:sp>
        <p:nvSpPr>
          <p:cNvPr id="11" name="TextBox 10"/>
          <p:cNvSpPr txBox="1"/>
          <p:nvPr/>
        </p:nvSpPr>
        <p:spPr>
          <a:xfrm>
            <a:off x="713232" y="182880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+20 landen · ~500 mln sprekers</a:t>
            </a:r>
          </a:p>
        </p:txBody>
      </p:sp>
      <p:sp>
        <p:nvSpPr>
          <p:cNvPr id="12" name="TextBox 11"/>
          <p:cNvSpPr txBox="1"/>
          <p:nvPr/>
        </p:nvSpPr>
        <p:spPr>
          <a:xfrm>
            <a:off x="713232" y="2157984"/>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español = castellano</a:t>
            </a:r>
          </a:p>
        </p:txBody>
      </p:sp>
      <p:sp>
        <p:nvSpPr>
          <p:cNvPr id="13" name="TextBox 12"/>
          <p:cNvSpPr txBox="1"/>
          <p:nvPr/>
        </p:nvSpPr>
        <p:spPr>
          <a:xfrm>
            <a:off x="713232" y="2487168"/>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kleine verschillen (coche/carro)</a:t>
            </a:r>
          </a:p>
        </p:txBody>
      </p:sp>
      <p:sp>
        <p:nvSpPr>
          <p:cNvPr id="14" name="Rounded Rectangle 13"/>
          <p:cNvSpPr/>
          <p:nvPr/>
        </p:nvSpPr>
        <p:spPr>
          <a:xfrm>
            <a:off x="6172200" y="1325880"/>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325880"/>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399032"/>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Sonar en español</a:t>
            </a:r>
          </a:p>
        </p:txBody>
      </p:sp>
      <p:sp>
        <p:nvSpPr>
          <p:cNvPr id="17" name="TextBox 16"/>
          <p:cNvSpPr txBox="1"/>
          <p:nvPr/>
        </p:nvSpPr>
        <p:spPr>
          <a:xfrm>
            <a:off x="6428232" y="182880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27 letras (+ñ) · h zwijgt · b=v</a:t>
            </a:r>
          </a:p>
        </p:txBody>
      </p:sp>
      <p:sp>
        <p:nvSpPr>
          <p:cNvPr id="18" name="TextBox 17"/>
          <p:cNvSpPr txBox="1"/>
          <p:nvPr/>
        </p:nvSpPr>
        <p:spPr>
          <a:xfrm>
            <a:off x="6428232" y="2157984"/>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j+ge/gi=jota · ll/y=«j» · ñ=«nj»</a:t>
            </a:r>
          </a:p>
        </p:txBody>
      </p:sp>
      <p:sp>
        <p:nvSpPr>
          <p:cNvPr id="19" name="TextBox 18"/>
          <p:cNvSpPr txBox="1"/>
          <p:nvPr/>
        </p:nvSpPr>
        <p:spPr>
          <a:xfrm>
            <a:off x="6428232" y="2487168"/>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qu=«k» · z/ce/ci=«th» · r↔rr</a:t>
            </a:r>
          </a:p>
        </p:txBody>
      </p:sp>
      <p:sp>
        <p:nvSpPr>
          <p:cNvPr id="20" name="Rounded Rectangle 19"/>
          <p:cNvSpPr/>
          <p:nvPr/>
        </p:nvSpPr>
        <p:spPr>
          <a:xfrm>
            <a:off x="457200" y="3090672"/>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090672"/>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163824"/>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La regla del sombrero</a:t>
            </a:r>
          </a:p>
        </p:txBody>
      </p:sp>
      <p:sp>
        <p:nvSpPr>
          <p:cNvPr id="23" name="TextBox 22"/>
          <p:cNvSpPr txBox="1"/>
          <p:nvPr/>
        </p:nvSpPr>
        <p:spPr>
          <a:xfrm>
            <a:off x="713232" y="3593592"/>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esdrújula → altijd ´</a:t>
            </a:r>
          </a:p>
        </p:txBody>
      </p:sp>
      <p:sp>
        <p:nvSpPr>
          <p:cNvPr id="24" name="TextBox 23"/>
          <p:cNvSpPr txBox="1"/>
          <p:nvPr/>
        </p:nvSpPr>
        <p:spPr>
          <a:xfrm>
            <a:off x="713232" y="3922776"/>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aguda → ´ als -n/-s/klinker</a:t>
            </a:r>
          </a:p>
        </p:txBody>
      </p:sp>
      <p:sp>
        <p:nvSpPr>
          <p:cNvPr id="25" name="TextBox 24"/>
          <p:cNvSpPr txBox="1"/>
          <p:nvPr/>
        </p:nvSpPr>
        <p:spPr>
          <a:xfrm>
            <a:off x="713232" y="425196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llana → ´ als NIET zo · monosíl. geen</a:t>
            </a:r>
          </a:p>
        </p:txBody>
      </p:sp>
      <p:sp>
        <p:nvSpPr>
          <p:cNvPr id="26" name="Rounded Rectangle 25"/>
          <p:cNvSpPr/>
          <p:nvPr/>
        </p:nvSpPr>
        <p:spPr>
          <a:xfrm>
            <a:off x="6172200" y="3090672"/>
            <a:ext cx="5532120" cy="1600200"/>
          </a:xfrm>
          <a:prstGeom prst="roundRect">
            <a:avLst>
              <a:gd name="adj" fmla="val 5500"/>
            </a:avLst>
          </a:prstGeom>
          <a:solidFill>
            <a:srgbClr val="FFFFFF"/>
          </a:solidFill>
          <a:ln w="1778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090672"/>
            <a:ext cx="109728" cy="1600200"/>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3163824"/>
            <a:ext cx="5166360" cy="36576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400" b="1" i="0">
                <a:solidFill>
                  <a:srgbClr val="157355"/>
                </a:solidFill>
                <a:latin typeface="Bricolage Grotesque"/>
              </a:rPr>
              <a:t>🔢 Números &amp; 👋 saludos</a:t>
            </a:r>
          </a:p>
        </p:txBody>
      </p:sp>
      <p:sp>
        <p:nvSpPr>
          <p:cNvPr id="29" name="TextBox 28"/>
          <p:cNvSpPr txBox="1"/>
          <p:nvPr/>
        </p:nvSpPr>
        <p:spPr>
          <a:xfrm>
            <a:off x="6428232" y="3593592"/>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0-15 apart · 16-29 één woord</a:t>
            </a:r>
          </a:p>
        </p:txBody>
      </p:sp>
      <p:sp>
        <p:nvSpPr>
          <p:cNvPr id="30" name="TextBox 29"/>
          <p:cNvSpPr txBox="1"/>
          <p:nvPr/>
        </p:nvSpPr>
        <p:spPr>
          <a:xfrm>
            <a:off x="6428232" y="3922776"/>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30-100 decena+y+unidad</a:t>
            </a:r>
          </a:p>
        </p:txBody>
      </p:sp>
      <p:sp>
        <p:nvSpPr>
          <p:cNvPr id="31" name="TextBox 30"/>
          <p:cNvSpPr txBox="1"/>
          <p:nvPr/>
        </p:nvSpPr>
        <p:spPr>
          <a:xfrm>
            <a:off x="6428232" y="4251960"/>
            <a:ext cx="5120640" cy="320040"/>
          </a:xfrm>
          <a:prstGeom prst="rect">
            <a:avLst/>
          </a:prstGeom>
          <a:noFill/>
        </p:spPr>
        <p:txBody>
          <a:bodyPr wrap="square" anchor="t" lIns="38100" rIns="38100" tIns="25400" bIns="25400">
            <a:spAutoFit/>
          </a:bodyPr>
          <a:lstStyle/>
          <a:p>
            <a:pPr algn="l">
              <a:lnSpc>
                <a:spcPct val="100000"/>
              </a:lnSpc>
              <a:spcBef>
                <a:spcPts val="0"/>
              </a:spcBef>
              <a:spcAft>
                <a:spcPts val="200"/>
              </a:spcAft>
            </a:pPr>
            <a:r>
              <a:rPr sz="1150" b="1" i="0">
                <a:solidFill>
                  <a:srgbClr val="1E9E74"/>
                </a:solidFill>
                <a:latin typeface="Inter"/>
              </a:rPr>
              <a:t>• </a:t>
            </a:r>
            <a:r>
              <a:rPr sz="1150" b="0" i="0">
                <a:solidFill>
                  <a:srgbClr val="20242E"/>
                </a:solidFill>
                <a:latin typeface="Inter"/>
              </a:rPr>
              <a:t>edad = tener años (🔴 niet ser)</a:t>
            </a:r>
          </a:p>
        </p:txBody>
      </p:sp>
      <p:sp>
        <p:nvSpPr>
          <p:cNvPr id="32" name="Rounded Rectangle 31"/>
          <p:cNvSpPr/>
          <p:nvPr/>
        </p:nvSpPr>
        <p:spPr>
          <a:xfrm>
            <a:off x="457200" y="4983480"/>
            <a:ext cx="11274552" cy="960120"/>
          </a:xfrm>
          <a:prstGeom prst="roundRect">
            <a:avLst>
              <a:gd name="adj" fmla="val 5500"/>
            </a:avLst>
          </a:prstGeom>
          <a:solidFill>
            <a:srgbClr val="F3EEE4"/>
          </a:solidFill>
          <a:ln w="16510">
            <a:solidFill>
              <a:srgbClr val="B7860B"/>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 y="5047488"/>
            <a:ext cx="365760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00" b="1" i="0">
                <a:solidFill>
                  <a:srgbClr val="157355"/>
                </a:solidFill>
                <a:latin typeface="Bricolage Grotesque"/>
              </a:rPr>
              <a:t>🚦 Semáforo — ¿cómo lo llevas?</a:t>
            </a:r>
          </a:p>
        </p:txBody>
      </p:sp>
      <p:sp>
        <p:nvSpPr>
          <p:cNvPr id="34" name="TextBox 33"/>
          <p:cNvSpPr txBox="1"/>
          <p:nvPr/>
        </p:nvSpPr>
        <p:spPr>
          <a:xfrm>
            <a:off x="621792" y="5394960"/>
            <a:ext cx="10972800" cy="502920"/>
          </a:xfrm>
          <a:prstGeom prst="rect">
            <a:avLst/>
          </a:prstGeom>
          <a:noFill/>
        </p:spPr>
        <p:txBody>
          <a:bodyPr wrap="square" anchor="t" lIns="38100" rIns="38100" tIns="25400" bIns="25400">
            <a:spAutoFit/>
          </a:bodyPr>
          <a:lstStyle/>
          <a:p>
            <a:pPr algn="l">
              <a:lnSpc>
                <a:spcPct val="105000"/>
              </a:lnSpc>
              <a:spcBef>
                <a:spcPts val="0"/>
              </a:spcBef>
              <a:spcAft>
                <a:spcPts val="200"/>
              </a:spcAft>
            </a:pPr>
            <a:r>
              <a:rPr sz="1150" b="0" i="0">
                <a:solidFill>
                  <a:srgbClr val="20242E"/>
                </a:solidFill>
                <a:latin typeface="Inter"/>
              </a:rPr>
              <a:t>🔴 nog niet  ·  🟠 met steun  ·  🟢 zelfstandig — kleur per rij (receptief «ik herken» / productief «ik doe het zelf»). </a:t>
            </a:r>
            <a:r>
              <a:rPr sz="1150" b="0" i="1">
                <a:solidFill>
                  <a:srgbClr val="6A6E78"/>
                </a:solidFill>
                <a:latin typeface="Inter"/>
              </a:rPr>
              <a:t>Volledige checklist in de PDF/HTML.</a:t>
            </a:r>
          </a:p>
        </p:txBody>
      </p:sp>
      <p:sp>
        <p:nvSpPr>
          <p:cNvPr id="35" name="Rectangle 34"/>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37" name="TextBox 36"/>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38" name="TextBox 37"/>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202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57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
            <a:ext cx="3063239"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88900" rIns="88900" tIns="12700" bIns="12700"/>
          <a:lstStyle/>
          <a:p>
            <a:pPr algn="ctr"/>
            <a:r>
              <a:rPr sz="1100" b="1">
                <a:solidFill>
                  <a:srgbClr val="20242E"/>
                </a:solidFill>
                <a:latin typeface="Inter"/>
              </a:rPr>
              <a:t>TEACHER_NOTES · DOSSIER DEL DOCENTE</a:t>
            </a:r>
          </a:p>
        </p:txBody>
      </p:sp>
      <p:sp>
        <p:nvSpPr>
          <p:cNvPr id="6" name="TextBox 5"/>
          <p:cNvSpPr txBox="1"/>
          <p:nvPr/>
        </p:nvSpPr>
        <p:spPr>
          <a:xfrm>
            <a:off x="457200" y="457200"/>
            <a:ext cx="9692640" cy="5029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2700" b="1" i="0">
                <a:solidFill>
                  <a:srgbClr val="FFFFFF"/>
                </a:solidFill>
                <a:latin typeface="Bricolage Grotesque"/>
              </a:rPr>
              <a:t>Verloop · noodroute · cross-refs</a:t>
            </a:r>
          </a:p>
        </p:txBody>
      </p:sp>
      <p:sp>
        <p:nvSpPr>
          <p:cNvPr id="7" name="TextBox 6"/>
          <p:cNvSpPr txBox="1"/>
          <p:nvPr/>
        </p:nvSpPr>
        <p:spPr>
          <a:xfrm>
            <a:off x="502920" y="932688"/>
            <a:ext cx="9692640" cy="27432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0" i="1">
                <a:solidFill>
                  <a:srgbClr val="E4F4EE"/>
                </a:solidFill>
                <a:latin typeface="Inter"/>
              </a:rPr>
              <a:t>Alleen voor de leerkracht — niet projecteren. Timing 50 min, technische noodroute en verwijzingen.</a:t>
            </a:r>
          </a:p>
        </p:txBody>
      </p:sp>
      <p:sp>
        <p:nvSpPr>
          <p:cNvPr id="8" name="Rounded Rectangle 7"/>
          <p:cNvSpPr/>
          <p:nvPr/>
        </p:nvSpPr>
        <p:spPr>
          <a:xfrm>
            <a:off x="457200" y="1325880"/>
            <a:ext cx="5577840" cy="4160520"/>
          </a:xfrm>
          <a:prstGeom prst="roundRect">
            <a:avLst>
              <a:gd name="adj" fmla="val 5500"/>
            </a:avLst>
          </a:prstGeom>
          <a:solidFill>
            <a:srgbClr val="FFFFFF"/>
          </a:solidFill>
          <a:ln w="15240">
            <a:solidFill>
              <a:srgbClr val="E4E3DE"/>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417320"/>
            <a:ext cx="521208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350" b="1" i="0">
                <a:solidFill>
                  <a:srgbClr val="157355"/>
                </a:solidFill>
                <a:latin typeface="Bricolage Grotesque"/>
              </a:rPr>
              <a:t>⏱ Verdeling over 50 min</a:t>
            </a:r>
          </a:p>
        </p:txBody>
      </p:sp>
      <p:sp>
        <p:nvSpPr>
          <p:cNvPr id="10" name="TextBox 9"/>
          <p:cNvSpPr txBox="1"/>
          <p:nvPr/>
        </p:nvSpPr>
        <p:spPr>
          <a:xfrm>
            <a:off x="640080" y="182880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Oriëntatie</a:t>
            </a:r>
          </a:p>
        </p:txBody>
      </p:sp>
      <p:sp>
        <p:nvSpPr>
          <p:cNvPr id="11" name="TextBox 10"/>
          <p:cNvSpPr txBox="1"/>
          <p:nvPr/>
        </p:nvSpPr>
        <p:spPr>
          <a:xfrm>
            <a:off x="2377440" y="182880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menu · cast · kaart</a:t>
            </a:r>
          </a:p>
        </p:txBody>
      </p:sp>
      <p:sp>
        <p:nvSpPr>
          <p:cNvPr id="12" name="TextBox 11"/>
          <p:cNvSpPr txBox="1"/>
          <p:nvPr/>
        </p:nvSpPr>
        <p:spPr>
          <a:xfrm>
            <a:off x="4617720" y="182880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5'</a:t>
            </a:r>
          </a:p>
        </p:txBody>
      </p:sp>
      <p:sp>
        <p:nvSpPr>
          <p:cNvPr id="13" name="TextBox 12"/>
          <p:cNvSpPr txBox="1"/>
          <p:nvPr/>
        </p:nvSpPr>
        <p:spPr>
          <a:xfrm>
            <a:off x="5120640" y="182880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2-3</a:t>
            </a:r>
          </a:p>
        </p:txBody>
      </p:sp>
      <p:sp>
        <p:nvSpPr>
          <p:cNvPr id="14" name="TextBox 13"/>
          <p:cNvSpPr txBox="1"/>
          <p:nvPr/>
        </p:nvSpPr>
        <p:spPr>
          <a:xfrm>
            <a:off x="640080" y="233172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Begrijpen</a:t>
            </a:r>
          </a:p>
        </p:txBody>
      </p:sp>
      <p:sp>
        <p:nvSpPr>
          <p:cNvPr id="15" name="TextBox 14"/>
          <p:cNvSpPr txBox="1"/>
          <p:nvPr/>
        </p:nvSpPr>
        <p:spPr>
          <a:xfrm>
            <a:off x="2377440" y="233172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alfabet · klanktrampas</a:t>
            </a:r>
          </a:p>
        </p:txBody>
      </p:sp>
      <p:sp>
        <p:nvSpPr>
          <p:cNvPr id="16" name="TextBox 15"/>
          <p:cNvSpPr txBox="1"/>
          <p:nvPr/>
        </p:nvSpPr>
        <p:spPr>
          <a:xfrm>
            <a:off x="4617720" y="233172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8'</a:t>
            </a:r>
          </a:p>
        </p:txBody>
      </p:sp>
      <p:sp>
        <p:nvSpPr>
          <p:cNvPr id="17" name="TextBox 16"/>
          <p:cNvSpPr txBox="1"/>
          <p:nvPr/>
        </p:nvSpPr>
        <p:spPr>
          <a:xfrm>
            <a:off x="5120640" y="233172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4-5</a:t>
            </a:r>
          </a:p>
        </p:txBody>
      </p:sp>
      <p:sp>
        <p:nvSpPr>
          <p:cNvPr id="18" name="TextBox 17"/>
          <p:cNvSpPr txBox="1"/>
          <p:nvPr/>
        </p:nvSpPr>
        <p:spPr>
          <a:xfrm>
            <a:off x="640080" y="283464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Opmerken</a:t>
            </a:r>
          </a:p>
        </p:txBody>
      </p:sp>
      <p:sp>
        <p:nvSpPr>
          <p:cNvPr id="19" name="TextBox 18"/>
          <p:cNvSpPr txBox="1"/>
          <p:nvPr/>
        </p:nvSpPr>
        <p:spPr>
          <a:xfrm>
            <a:off x="2377440" y="283464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sílaba tónica · sombrero</a:t>
            </a:r>
          </a:p>
        </p:txBody>
      </p:sp>
      <p:sp>
        <p:nvSpPr>
          <p:cNvPr id="20" name="TextBox 19"/>
          <p:cNvSpPr txBox="1"/>
          <p:nvPr/>
        </p:nvSpPr>
        <p:spPr>
          <a:xfrm>
            <a:off x="4617720" y="283464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7'</a:t>
            </a:r>
          </a:p>
        </p:txBody>
      </p:sp>
      <p:sp>
        <p:nvSpPr>
          <p:cNvPr id="21" name="TextBox 20"/>
          <p:cNvSpPr txBox="1"/>
          <p:nvPr/>
        </p:nvSpPr>
        <p:spPr>
          <a:xfrm>
            <a:off x="5120640" y="283464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7-8</a:t>
            </a:r>
          </a:p>
        </p:txBody>
      </p:sp>
      <p:sp>
        <p:nvSpPr>
          <p:cNvPr id="22" name="TextBox 21"/>
          <p:cNvSpPr txBox="1"/>
          <p:nvPr/>
        </p:nvSpPr>
        <p:spPr>
          <a:xfrm>
            <a:off x="640080" y="333756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Oefenen (steun)</a:t>
            </a:r>
          </a:p>
        </p:txBody>
      </p:sp>
      <p:sp>
        <p:nvSpPr>
          <p:cNvPr id="23" name="TextBox 22"/>
          <p:cNvSpPr txBox="1"/>
          <p:nvPr/>
        </p:nvSpPr>
        <p:spPr>
          <a:xfrm>
            <a:off x="2377440" y="333756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quizzes · números</a:t>
            </a:r>
          </a:p>
        </p:txBody>
      </p:sp>
      <p:sp>
        <p:nvSpPr>
          <p:cNvPr id="24" name="TextBox 23"/>
          <p:cNvSpPr txBox="1"/>
          <p:nvPr/>
        </p:nvSpPr>
        <p:spPr>
          <a:xfrm>
            <a:off x="4617720" y="333756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12'</a:t>
            </a:r>
          </a:p>
        </p:txBody>
      </p:sp>
      <p:sp>
        <p:nvSpPr>
          <p:cNvPr id="25" name="TextBox 24"/>
          <p:cNvSpPr txBox="1"/>
          <p:nvPr/>
        </p:nvSpPr>
        <p:spPr>
          <a:xfrm>
            <a:off x="5120640" y="333756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6·9·10-12</a:t>
            </a:r>
          </a:p>
        </p:txBody>
      </p:sp>
      <p:sp>
        <p:nvSpPr>
          <p:cNvPr id="26" name="TextBox 25"/>
          <p:cNvSpPr txBox="1"/>
          <p:nvPr/>
        </p:nvSpPr>
        <p:spPr>
          <a:xfrm>
            <a:off x="640080" y="384048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Productie</a:t>
            </a:r>
          </a:p>
        </p:txBody>
      </p:sp>
      <p:sp>
        <p:nvSpPr>
          <p:cNvPr id="27" name="TextBox 26"/>
          <p:cNvSpPr txBox="1"/>
          <p:nvPr/>
        </p:nvSpPr>
        <p:spPr>
          <a:xfrm>
            <a:off x="2377440" y="384048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saludos · diálogo · tarea</a:t>
            </a:r>
          </a:p>
        </p:txBody>
      </p:sp>
      <p:sp>
        <p:nvSpPr>
          <p:cNvPr id="28" name="TextBox 27"/>
          <p:cNvSpPr txBox="1"/>
          <p:nvPr/>
        </p:nvSpPr>
        <p:spPr>
          <a:xfrm>
            <a:off x="4617720" y="384048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10'</a:t>
            </a:r>
          </a:p>
        </p:txBody>
      </p:sp>
      <p:sp>
        <p:nvSpPr>
          <p:cNvPr id="29" name="TextBox 28"/>
          <p:cNvSpPr txBox="1"/>
          <p:nvPr/>
        </p:nvSpPr>
        <p:spPr>
          <a:xfrm>
            <a:off x="5120640" y="384048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13-18</a:t>
            </a:r>
          </a:p>
        </p:txBody>
      </p:sp>
      <p:sp>
        <p:nvSpPr>
          <p:cNvPr id="30" name="TextBox 29"/>
          <p:cNvSpPr txBox="1"/>
          <p:nvPr/>
        </p:nvSpPr>
        <p:spPr>
          <a:xfrm>
            <a:off x="640080" y="434340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Feedback</a:t>
            </a:r>
          </a:p>
        </p:txBody>
      </p:sp>
      <p:sp>
        <p:nvSpPr>
          <p:cNvPr id="31" name="TextBox 30"/>
          <p:cNvSpPr txBox="1"/>
          <p:nvPr/>
        </p:nvSpPr>
        <p:spPr>
          <a:xfrm>
            <a:off x="2377440" y="434340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modelantwoord · peer</a:t>
            </a:r>
          </a:p>
        </p:txBody>
      </p:sp>
      <p:sp>
        <p:nvSpPr>
          <p:cNvPr id="32" name="TextBox 31"/>
          <p:cNvSpPr txBox="1"/>
          <p:nvPr/>
        </p:nvSpPr>
        <p:spPr>
          <a:xfrm>
            <a:off x="4617720" y="434340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5'</a:t>
            </a:r>
          </a:p>
        </p:txBody>
      </p:sp>
      <p:sp>
        <p:nvSpPr>
          <p:cNvPr id="33" name="TextBox 32"/>
          <p:cNvSpPr txBox="1"/>
          <p:nvPr/>
        </p:nvSpPr>
        <p:spPr>
          <a:xfrm>
            <a:off x="5120640" y="434340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19</a:t>
            </a:r>
          </a:p>
        </p:txBody>
      </p:sp>
      <p:sp>
        <p:nvSpPr>
          <p:cNvPr id="34" name="TextBox 33"/>
          <p:cNvSpPr txBox="1"/>
          <p:nvPr/>
        </p:nvSpPr>
        <p:spPr>
          <a:xfrm>
            <a:off x="640080" y="4846320"/>
            <a:ext cx="18288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20242E"/>
                </a:solidFill>
                <a:latin typeface="Inter"/>
              </a:rPr>
              <a:t>Exit</a:t>
            </a:r>
          </a:p>
        </p:txBody>
      </p:sp>
      <p:sp>
        <p:nvSpPr>
          <p:cNvPr id="35" name="TextBox 34"/>
          <p:cNvSpPr txBox="1"/>
          <p:nvPr/>
        </p:nvSpPr>
        <p:spPr>
          <a:xfrm>
            <a:off x="2377440" y="4846320"/>
            <a:ext cx="228600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050" b="0" i="0">
                <a:solidFill>
                  <a:srgbClr val="6A6E78"/>
                </a:solidFill>
                <a:latin typeface="Inter"/>
              </a:rPr>
              <a:t>repaso · semáforo · online</a:t>
            </a:r>
          </a:p>
        </p:txBody>
      </p:sp>
      <p:sp>
        <p:nvSpPr>
          <p:cNvPr id="36" name="TextBox 35"/>
          <p:cNvSpPr txBox="1"/>
          <p:nvPr/>
        </p:nvSpPr>
        <p:spPr>
          <a:xfrm>
            <a:off x="4617720" y="4846320"/>
            <a:ext cx="6400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150" b="1" i="0">
                <a:solidFill>
                  <a:srgbClr val="1E9E74"/>
                </a:solidFill>
                <a:latin typeface="Inter"/>
              </a:rPr>
              <a:t>3'</a:t>
            </a:r>
          </a:p>
        </p:txBody>
      </p:sp>
      <p:sp>
        <p:nvSpPr>
          <p:cNvPr id="37" name="TextBox 36"/>
          <p:cNvSpPr txBox="1"/>
          <p:nvPr/>
        </p:nvSpPr>
        <p:spPr>
          <a:xfrm>
            <a:off x="5120640" y="4846320"/>
            <a:ext cx="868680" cy="45720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850" b="0" i="0">
                <a:solidFill>
                  <a:srgbClr val="6A6E78"/>
                </a:solidFill>
                <a:latin typeface="Inter"/>
              </a:rPr>
              <a:t>dia 20</a:t>
            </a:r>
          </a:p>
        </p:txBody>
      </p:sp>
      <p:sp>
        <p:nvSpPr>
          <p:cNvPr id="38" name="Rounded Rectangle 37"/>
          <p:cNvSpPr/>
          <p:nvPr/>
        </p:nvSpPr>
        <p:spPr>
          <a:xfrm>
            <a:off x="6263640" y="1325880"/>
            <a:ext cx="5440680" cy="1965960"/>
          </a:xfrm>
          <a:prstGeom prst="roundRect">
            <a:avLst>
              <a:gd name="adj" fmla="val 5500"/>
            </a:avLst>
          </a:prstGeom>
          <a:solidFill>
            <a:srgbClr val="FDECEC"/>
          </a:solidFill>
          <a:ln w="15240">
            <a:solidFill>
              <a:srgbClr val="DC2626"/>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1417320"/>
            <a:ext cx="512064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DC2626"/>
                </a:solidFill>
                <a:latin typeface="Bricolage Grotesque"/>
              </a:rPr>
              <a:t>🆘 Noodroute (§5) — altijd beschikbaar</a:t>
            </a:r>
          </a:p>
        </p:txBody>
      </p:sp>
      <p:sp>
        <p:nvSpPr>
          <p:cNvPr id="40" name="TextBox 39"/>
          <p:cNvSpPr txBox="1"/>
          <p:nvPr/>
        </p:nvSpPr>
        <p:spPr>
          <a:xfrm>
            <a:off x="6446520" y="1810512"/>
            <a:ext cx="5120640" cy="1417320"/>
          </a:xfrm>
          <a:prstGeom prst="rect">
            <a:avLst/>
          </a:prstGeom>
          <a:noFill/>
        </p:spPr>
        <p:txBody>
          <a:bodyPr wrap="square" anchor="t" lIns="38100" rIns="38100" tIns="25400" bIns="25400">
            <a:spAutoFit/>
          </a:bodyPr>
          <a:lstStyle/>
          <a:p>
            <a:pPr algn="l">
              <a:lnSpc>
                <a:spcPct val="112000"/>
              </a:lnSpc>
              <a:spcBef>
                <a:spcPts val="0"/>
              </a:spcBef>
              <a:spcAft>
                <a:spcPts val="200"/>
              </a:spcAft>
            </a:pPr>
            <a:r>
              <a:rPr sz="1100" b="0" i="0">
                <a:solidFill>
                  <a:srgbClr val="20242E"/>
                </a:solidFill>
                <a:latin typeface="Inter"/>
              </a:rPr>
              <a:t>• Elke oefendia: knop ▶ Mostrar solución · ⏭ Saltar · ⌂ Menú (dia 2).</a:t>
            </a:r>
          </a:p>
          <a:p>
            <a:pPr algn="l">
              <a:lnSpc>
                <a:spcPct val="112000"/>
              </a:lnSpc>
              <a:spcBef>
                <a:spcPts val="0"/>
              </a:spcBef>
              <a:spcAft>
                <a:spcPts val="200"/>
              </a:spcAft>
            </a:pPr>
            <a:r>
              <a:rPr sz="1100" b="0" i="0">
                <a:solidFill>
                  <a:srgbClr val="20242E"/>
                </a:solidFill>
                <a:latin typeface="Inter"/>
              </a:rPr>
              <a:t>• Valt audio/video/internet weg → alle content staat óók als tekst/beeld op de dia (statische fallback).</a:t>
            </a:r>
          </a:p>
          <a:p>
            <a:pPr algn="l">
              <a:lnSpc>
                <a:spcPct val="112000"/>
              </a:lnSpc>
              <a:spcBef>
                <a:spcPts val="0"/>
              </a:spcBef>
              <a:spcAft>
                <a:spcPts val="200"/>
              </a:spcAft>
            </a:pPr>
            <a:r>
              <a:rPr sz="1100" b="0" i="0">
                <a:solidFill>
                  <a:srgbClr val="20242E"/>
                </a:solidFill>
                <a:latin typeface="Inter"/>
              </a:rPr>
              <a:t>• Docentversie .pptx = vrije navigatie + oplossing in de notities; leerlingversie .ppsx = gewone diavoorstelling (geen kiosk): elke klik onthult het volgende antwoord (fade). Geen docentnotities.</a:t>
            </a:r>
          </a:p>
        </p:txBody>
      </p:sp>
      <p:sp>
        <p:nvSpPr>
          <p:cNvPr id="41" name="Rounded Rectangle 40"/>
          <p:cNvSpPr/>
          <p:nvPr/>
        </p:nvSpPr>
        <p:spPr>
          <a:xfrm>
            <a:off x="6263640" y="3429000"/>
            <a:ext cx="5440680" cy="2057400"/>
          </a:xfrm>
          <a:prstGeom prst="roundRect">
            <a:avLst>
              <a:gd name="adj" fmla="val 5500"/>
            </a:avLst>
          </a:prstGeom>
          <a:solidFill>
            <a:srgbClr val="E4F4EE"/>
          </a:solidFill>
          <a:ln w="15240">
            <a:solidFill>
              <a:srgbClr val="1E9E74"/>
            </a:solidFill>
          </a:ln>
          <a:effectLst>
            <a:outerShdw blurRad="90000" dist="38000" dir="5400000" rotWithShape="0">
              <a:srgbClr val="20242E">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3520440"/>
            <a:ext cx="5120640" cy="320040"/>
          </a:xfrm>
          <a:prstGeom prst="rect">
            <a:avLst/>
          </a:prstGeom>
          <a:noFill/>
        </p:spPr>
        <p:txBody>
          <a:bodyPr wrap="square" anchor="t" lIns="38100" rIns="38100" tIns="25400" bIns="25400">
            <a:spAutoFit/>
          </a:bodyPr>
          <a:lstStyle/>
          <a:p>
            <a:pPr algn="l">
              <a:lnSpc>
                <a:spcPct val="106000"/>
              </a:lnSpc>
              <a:spcBef>
                <a:spcPts val="0"/>
              </a:spcBef>
              <a:spcAft>
                <a:spcPts val="200"/>
              </a:spcAft>
            </a:pPr>
            <a:r>
              <a:rPr sz="1250" b="1" i="0">
                <a:solidFill>
                  <a:srgbClr val="157355"/>
                </a:solidFill>
                <a:latin typeface="Bricolage Grotesque"/>
              </a:rPr>
              <a:t>🔗 Cross-refs (§16)</a:t>
            </a:r>
          </a:p>
        </p:txBody>
      </p:sp>
      <p:sp>
        <p:nvSpPr>
          <p:cNvPr id="43" name="TextBox 42"/>
          <p:cNvSpPr txBox="1"/>
          <p:nvPr/>
        </p:nvSpPr>
        <p:spPr>
          <a:xfrm>
            <a:off x="6446520" y="3913632"/>
            <a:ext cx="5120640" cy="1508760"/>
          </a:xfrm>
          <a:prstGeom prst="rect">
            <a:avLst/>
          </a:prstGeom>
          <a:noFill/>
        </p:spPr>
        <p:txBody>
          <a:bodyPr wrap="square" anchor="t" lIns="38100" rIns="38100" tIns="25400" bIns="25400">
            <a:spAutoFit/>
          </a:bodyPr>
          <a:lstStyle/>
          <a:p>
            <a:pPr algn="l">
              <a:lnSpc>
                <a:spcPct val="110000"/>
              </a:lnSpc>
              <a:spcBef>
                <a:spcPts val="0"/>
              </a:spcBef>
              <a:spcAft>
                <a:spcPts val="200"/>
              </a:spcAft>
            </a:pPr>
            <a:r>
              <a:rPr sz="1100" b="1" i="0">
                <a:solidFill>
                  <a:srgbClr val="157355"/>
                </a:solidFill>
                <a:latin typeface="Inter"/>
              </a:rPr>
              <a:t>📄 Cursus (PDF/Word): </a:t>
            </a:r>
            <a:r>
              <a:rPr sz="1100" b="0" i="0">
                <a:solidFill>
                  <a:srgbClr val="20242E"/>
                </a:solidFill>
                <a:latin typeface="Inter"/>
              </a:rPr>
              <a:t>U0 §1-§4 · Cultura · Tarea · Repaso · §V Vocabulario.</a:t>
            </a:r>
          </a:p>
          <a:p>
            <a:pPr algn="l">
              <a:lnSpc>
                <a:spcPct val="110000"/>
              </a:lnSpc>
              <a:spcBef>
                <a:spcPts val="0"/>
              </a:spcBef>
              <a:spcAft>
                <a:spcPts val="200"/>
              </a:spcAft>
            </a:pPr>
            <a:r>
              <a:rPr sz="1100" b="1" i="0">
                <a:solidFill>
                  <a:srgbClr val="157355"/>
                </a:solidFill>
                <a:latin typeface="Inter"/>
              </a:rPr>
              <a:t>💻 Online (HTML): </a:t>
            </a:r>
            <a:r>
              <a:rPr sz="1100" b="0" i="0">
                <a:solidFill>
                  <a:srgbClr val="20242E"/>
                </a:solidFill>
                <a:latin typeface="Inter"/>
              </a:rPr>
              <a:t>flip-cards (alfabet·getallen·cast) · ShadowingPlayer · info-gap teléfonos · bingo · ~10 spaans-motor-spellen.</a:t>
            </a:r>
          </a:p>
          <a:p>
            <a:pPr algn="l">
              <a:lnSpc>
                <a:spcPct val="110000"/>
              </a:lnSpc>
              <a:spcBef>
                <a:spcPts val="0"/>
              </a:spcBef>
              <a:spcAft>
                <a:spcPts val="200"/>
              </a:spcAft>
            </a:pPr>
            <a:r>
              <a:rPr sz="1100" b="1" i="0">
                <a:solidFill>
                  <a:srgbClr val="157355"/>
                </a:solidFill>
                <a:latin typeface="Inter"/>
              </a:rPr>
              <a:t>➕ Extra-tab: </a:t>
            </a:r>
            <a:r>
              <a:rPr sz="1100" b="0" i="0">
                <a:solidFill>
                  <a:srgbClr val="20242E"/>
                </a:solidFill>
                <a:latin typeface="Inter"/>
              </a:rPr>
              <a:t>profe-video «alfabeto» + «números 0-100» · Genially «saludos»/«sílaba tónica» (arche-ele) — links door leerkracht.</a:t>
            </a:r>
          </a:p>
        </p:txBody>
      </p:sp>
      <p:sp>
        <p:nvSpPr>
          <p:cNvPr id="44" name="Rectangle 43"/>
          <p:cNvSpPr/>
          <p:nvPr/>
        </p:nvSpPr>
        <p:spPr>
          <a:xfrm>
            <a:off x="0" y="6547104"/>
            <a:ext cx="12191695" cy="310896"/>
          </a:xfrm>
          <a:prstGeom prst="rect">
            <a:avLst/>
          </a:prstGeom>
          <a:solidFill>
            <a:srgbClr val="F3E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6565392"/>
            <a:ext cx="5486400" cy="274320"/>
          </a:xfrm>
          <a:prstGeom prst="rect">
            <a:avLst/>
          </a:prstGeom>
          <a:noFill/>
        </p:spPr>
        <p:txBody>
          <a:bodyPr wrap="square" anchor="ctr" lIns="38100" rIns="38100" tIns="25400" bIns="25400">
            <a:spAutoFit/>
          </a:bodyPr>
          <a:lstStyle/>
          <a:p>
            <a:pPr algn="l">
              <a:lnSpc>
                <a:spcPct val="106000"/>
              </a:lnSpc>
              <a:spcBef>
                <a:spcPts val="0"/>
              </a:spcBef>
              <a:spcAft>
                <a:spcPts val="200"/>
              </a:spcAft>
            </a:pPr>
            <a:r>
              <a:rPr sz="1100" b="1" i="0">
                <a:solidFill>
                  <a:srgbClr val="1E9E74"/>
                </a:solidFill>
                <a:latin typeface="Inter"/>
              </a:rPr>
              <a:t>● </a:t>
            </a:r>
            <a:r>
              <a:rPr sz="950" b="0" i="0">
                <a:solidFill>
                  <a:srgbClr val="6A6E78"/>
                </a:solidFill>
                <a:latin typeface="Inter"/>
              </a:rPr>
              <a:t>U0 · ¡EMPEZAMOS!   ·   C5 · A1 · La Ruta</a:t>
            </a:r>
          </a:p>
        </p:txBody>
      </p:sp>
      <p:sp>
        <p:nvSpPr>
          <p:cNvPr id="46" name="TextBox 45"/>
          <p:cNvSpPr txBox="1"/>
          <p:nvPr/>
        </p:nvSpPr>
        <p:spPr>
          <a:xfrm>
            <a:off x="8686800" y="6565392"/>
            <a:ext cx="306324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00" b="0" i="1">
                <a:solidFill>
                  <a:srgbClr val="6A6E78"/>
                </a:solidFill>
                <a:latin typeface="Inter"/>
              </a:rPr>
              <a:t>Docentenversie — met oplossingen</a:t>
            </a:r>
          </a:p>
        </p:txBody>
      </p:sp>
      <p:sp>
        <p:nvSpPr>
          <p:cNvPr id="47" name="TextBox 46"/>
          <p:cNvSpPr txBox="1"/>
          <p:nvPr/>
        </p:nvSpPr>
        <p:spPr>
          <a:xfrm>
            <a:off x="11475720" y="6565392"/>
            <a:ext cx="457200" cy="274320"/>
          </a:xfrm>
          <a:prstGeom prst="rect">
            <a:avLst/>
          </a:prstGeom>
          <a:noFill/>
        </p:spPr>
        <p:txBody>
          <a:bodyPr wrap="square" anchor="ctr" lIns="38100" rIns="38100" tIns="25400" bIns="25400">
            <a:spAutoFit/>
          </a:bodyPr>
          <a:lstStyle/>
          <a:p>
            <a:pPr algn="r">
              <a:lnSpc>
                <a:spcPct val="106000"/>
              </a:lnSpc>
              <a:spcBef>
                <a:spcPts val="0"/>
              </a:spcBef>
              <a:spcAft>
                <a:spcPts val="200"/>
              </a:spcAft>
            </a:pPr>
            <a:r>
              <a:rPr sz="950" b="1" i="0">
                <a:solidFill>
                  <a:srgbClr val="157355"/>
                </a:solidFill>
                <a:latin typeface="In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2 · PUZZEL &amp; ESCAPE</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subasta de sonidos</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En equipos</a:t>
            </a:r>
          </a:p>
          <a:p>
            <a:pPr algn="r"/>
            <a:r>
              <a:rPr sz="1000">
                <a:solidFill>
                  <a:srgbClr val="E4F4EE"/>
                </a:solidFill>
                <a:latin typeface="Inter"/>
              </a:rPr>
              <a:t>± 15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Cada equipo tiene cien puntos. Se subastan ocho lotes de sonidos.</a:t>
            </a:r>
          </a:p>
          <a:p>
            <a:pPr algn="l"/>
            <a:r>
              <a:rPr sz="1100" i="1">
                <a:solidFill>
                  <a:srgbClr val="6A6E78"/>
                </a:solidFill>
                <a:latin typeface="Inter"/>
              </a:rPr>
              <a:t>Elk team heeft honderd punten. Er worden acht klankloten geveild.</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Je mag pas bieden ná het horen van het lot, en je mag niet overleggen terwijl je biedt. De duurste loten zijn de valstrikken.</a:t>
            </a:r>
          </a:p>
        </p:txBody>
      </p:sp>
      <p:sp>
        <p:nvSpPr>
          <p:cNvPr id="11" name="Tarjeta 0"/>
          <p:cNvSpPr/>
          <p:nvPr/>
        </p:nvSpPr>
        <p:spPr>
          <a:xfrm>
            <a:off x="457200"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1 · 10 pts</a:t>
            </a:r>
          </a:p>
          <a:p>
            <a:pPr algn="l"/>
            <a:r>
              <a:rPr sz="1000">
                <a:solidFill>
                  <a:srgbClr val="20242E"/>
                </a:solidFill>
                <a:latin typeface="Inter"/>
              </a:rPr>
              <a:t>gato   ·   gente</a:t>
            </a:r>
          </a:p>
        </p:txBody>
      </p:sp>
      <p:sp>
        <p:nvSpPr>
          <p:cNvPr id="13" name="Onthul 0"/>
          <p:cNvSpPr/>
          <p:nvPr/>
        </p:nvSpPr>
        <p:spPr>
          <a:xfrm>
            <a:off x="548640"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nthulTxt 0"/>
          <p:cNvSpPr txBox="1"/>
          <p:nvPr/>
        </p:nvSpPr>
        <p:spPr>
          <a:xfrm>
            <a:off x="566928"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g + a/o/u = harde g</a:t>
            </a:r>
          </a:p>
        </p:txBody>
      </p:sp>
      <p:sp>
        <p:nvSpPr>
          <p:cNvPr id="15" name="Tarjeta 1"/>
          <p:cNvSpPr/>
          <p:nvPr/>
        </p:nvSpPr>
        <p:spPr>
          <a:xfrm>
            <a:off x="4264152"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1"/>
          <p:cNvSpPr txBox="1"/>
          <p:nvPr/>
        </p:nvSpPr>
        <p:spPr>
          <a:xfrm>
            <a:off x="4355592"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2 · 10 pts</a:t>
            </a:r>
          </a:p>
          <a:p>
            <a:pPr algn="l"/>
            <a:r>
              <a:rPr sz="1000">
                <a:solidFill>
                  <a:srgbClr val="20242E"/>
                </a:solidFill>
                <a:latin typeface="Inter"/>
              </a:rPr>
              <a:t>queso   ·   cero</a:t>
            </a:r>
          </a:p>
        </p:txBody>
      </p:sp>
      <p:sp>
        <p:nvSpPr>
          <p:cNvPr id="17" name="Onthul 1"/>
          <p:cNvSpPr/>
          <p:nvPr/>
        </p:nvSpPr>
        <p:spPr>
          <a:xfrm>
            <a:off x="4355592"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thulTxt 1"/>
          <p:cNvSpPr txBox="1"/>
          <p:nvPr/>
        </p:nvSpPr>
        <p:spPr>
          <a:xfrm>
            <a:off x="4373880"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qu = k</a:t>
            </a:r>
          </a:p>
        </p:txBody>
      </p:sp>
      <p:sp>
        <p:nvSpPr>
          <p:cNvPr id="19" name="Tarjeta 2"/>
          <p:cNvSpPr/>
          <p:nvPr/>
        </p:nvSpPr>
        <p:spPr>
          <a:xfrm>
            <a:off x="8071104" y="2670048"/>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2"/>
          <p:cNvSpPr txBox="1"/>
          <p:nvPr/>
        </p:nvSpPr>
        <p:spPr>
          <a:xfrm>
            <a:off x="8162544" y="2724912"/>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3 · 25 pts</a:t>
            </a:r>
          </a:p>
          <a:p>
            <a:pPr algn="l"/>
            <a:r>
              <a:rPr sz="1000">
                <a:solidFill>
                  <a:srgbClr val="20242E"/>
                </a:solidFill>
                <a:latin typeface="Inter"/>
              </a:rPr>
              <a:t>hola   ·   ola</a:t>
            </a:r>
          </a:p>
        </p:txBody>
      </p:sp>
      <p:sp>
        <p:nvSpPr>
          <p:cNvPr id="21" name="Onthul 2"/>
          <p:cNvSpPr/>
          <p:nvPr/>
        </p:nvSpPr>
        <p:spPr>
          <a:xfrm>
            <a:off x="8162544" y="3547872"/>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2"/>
          <p:cNvSpPr txBox="1"/>
          <p:nvPr/>
        </p:nvSpPr>
        <p:spPr>
          <a:xfrm>
            <a:off x="8180832" y="3547872"/>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IGUAL — de hache zwijgt altijd — de twee woor…</a:t>
            </a:r>
          </a:p>
        </p:txBody>
      </p:sp>
      <p:sp>
        <p:nvSpPr>
          <p:cNvPr id="23" name="Tarjeta 3"/>
          <p:cNvSpPr/>
          <p:nvPr/>
        </p:nvSpPr>
        <p:spPr>
          <a:xfrm>
            <a:off x="457200"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3"/>
          <p:cNvSpPr txBox="1"/>
          <p:nvPr/>
        </p:nvSpPr>
        <p:spPr>
          <a:xfrm>
            <a:off x="548640"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4 · 15 pts</a:t>
            </a:r>
          </a:p>
          <a:p>
            <a:pPr algn="l"/>
            <a:r>
              <a:rPr sz="1000">
                <a:solidFill>
                  <a:srgbClr val="20242E"/>
                </a:solidFill>
                <a:latin typeface="Inter"/>
              </a:rPr>
              <a:t>perro   ·   pero</a:t>
            </a:r>
          </a:p>
        </p:txBody>
      </p:sp>
      <p:sp>
        <p:nvSpPr>
          <p:cNvPr id="25" name="Onthul 3"/>
          <p:cNvSpPr/>
          <p:nvPr/>
        </p:nvSpPr>
        <p:spPr>
          <a:xfrm>
            <a:off x="548640"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3"/>
          <p:cNvSpPr txBox="1"/>
          <p:nvPr/>
        </p:nvSpPr>
        <p:spPr>
          <a:xfrm>
            <a:off x="566928"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rr = rollende r</a:t>
            </a:r>
          </a:p>
        </p:txBody>
      </p:sp>
      <p:sp>
        <p:nvSpPr>
          <p:cNvPr id="27" name="Tarjeta 4"/>
          <p:cNvSpPr/>
          <p:nvPr/>
        </p:nvSpPr>
        <p:spPr>
          <a:xfrm>
            <a:off x="4264152"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4"/>
          <p:cNvSpPr txBox="1"/>
          <p:nvPr/>
        </p:nvSpPr>
        <p:spPr>
          <a:xfrm>
            <a:off x="4355592"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5 · 25 pts</a:t>
            </a:r>
          </a:p>
          <a:p>
            <a:pPr algn="l"/>
            <a:r>
              <a:rPr sz="1000">
                <a:solidFill>
                  <a:srgbClr val="20242E"/>
                </a:solidFill>
                <a:latin typeface="Inter"/>
              </a:rPr>
              <a:t>vino   ·   bino</a:t>
            </a:r>
          </a:p>
        </p:txBody>
      </p:sp>
      <p:sp>
        <p:nvSpPr>
          <p:cNvPr id="29" name="Onthul 4"/>
          <p:cNvSpPr/>
          <p:nvPr/>
        </p:nvSpPr>
        <p:spPr>
          <a:xfrm>
            <a:off x="4355592"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4"/>
          <p:cNvSpPr txBox="1"/>
          <p:nvPr/>
        </p:nvSpPr>
        <p:spPr>
          <a:xfrm>
            <a:off x="4373880"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IGUAL — v en b klinken in het Spaans hetzelfde</a:t>
            </a:r>
          </a:p>
        </p:txBody>
      </p:sp>
      <p:sp>
        <p:nvSpPr>
          <p:cNvPr id="31" name="Tarjeta 5"/>
          <p:cNvSpPr/>
          <p:nvPr/>
        </p:nvSpPr>
        <p:spPr>
          <a:xfrm>
            <a:off x="8071104" y="3968496"/>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5"/>
          <p:cNvSpPr txBox="1"/>
          <p:nvPr/>
        </p:nvSpPr>
        <p:spPr>
          <a:xfrm>
            <a:off x="8162544" y="4023360"/>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6 · 15 pts</a:t>
            </a:r>
          </a:p>
          <a:p>
            <a:pPr algn="l"/>
            <a:r>
              <a:rPr sz="1000">
                <a:solidFill>
                  <a:srgbClr val="20242E"/>
                </a:solidFill>
                <a:latin typeface="Inter"/>
              </a:rPr>
              <a:t>guitarra   ·   gitano</a:t>
            </a:r>
          </a:p>
        </p:txBody>
      </p:sp>
      <p:sp>
        <p:nvSpPr>
          <p:cNvPr id="33" name="Onthul 5"/>
          <p:cNvSpPr/>
          <p:nvPr/>
        </p:nvSpPr>
        <p:spPr>
          <a:xfrm>
            <a:off x="8162544" y="4846320"/>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nthulTxt 5"/>
          <p:cNvSpPr txBox="1"/>
          <p:nvPr/>
        </p:nvSpPr>
        <p:spPr>
          <a:xfrm>
            <a:off x="8180832" y="4846320"/>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gui = harde g (u zwijgt)</a:t>
            </a:r>
          </a:p>
        </p:txBody>
      </p:sp>
      <p:sp>
        <p:nvSpPr>
          <p:cNvPr id="35" name="Tarjeta 6"/>
          <p:cNvSpPr/>
          <p:nvPr/>
        </p:nvSpPr>
        <p:spPr>
          <a:xfrm>
            <a:off x="457200"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6"/>
          <p:cNvSpPr txBox="1"/>
          <p:nvPr/>
        </p:nvSpPr>
        <p:spPr>
          <a:xfrm>
            <a:off x="548640" y="5321808"/>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7 · 20 pts</a:t>
            </a:r>
          </a:p>
          <a:p>
            <a:pPr algn="l"/>
            <a:r>
              <a:rPr sz="1000">
                <a:solidFill>
                  <a:srgbClr val="20242E"/>
                </a:solidFill>
                <a:latin typeface="Inter"/>
              </a:rPr>
              <a:t>año   ·   ano</a:t>
            </a:r>
          </a:p>
        </p:txBody>
      </p:sp>
      <p:sp>
        <p:nvSpPr>
          <p:cNvPr id="37" name="Onthul 6"/>
          <p:cNvSpPr/>
          <p:nvPr/>
        </p:nvSpPr>
        <p:spPr>
          <a:xfrm>
            <a:off x="548640" y="6144768"/>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nthulTxt 6"/>
          <p:cNvSpPr txBox="1"/>
          <p:nvPr/>
        </p:nvSpPr>
        <p:spPr>
          <a:xfrm>
            <a:off x="566928" y="6144768"/>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ñ is een eigen letter met een eig…</a:t>
            </a:r>
          </a:p>
        </p:txBody>
      </p:sp>
      <p:sp>
        <p:nvSpPr>
          <p:cNvPr id="39" name="Tarjeta 7"/>
          <p:cNvSpPr/>
          <p:nvPr/>
        </p:nvSpPr>
        <p:spPr>
          <a:xfrm>
            <a:off x="4264152" y="5266944"/>
            <a:ext cx="3660648"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7"/>
          <p:cNvSpPr txBox="1"/>
          <p:nvPr/>
        </p:nvSpPr>
        <p:spPr>
          <a:xfrm>
            <a:off x="4355592" y="5321808"/>
            <a:ext cx="3477768"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LOTE 8 · 20 pts</a:t>
            </a:r>
          </a:p>
          <a:p>
            <a:pPr algn="l"/>
            <a:r>
              <a:rPr sz="1000">
                <a:solidFill>
                  <a:srgbClr val="20242E"/>
                </a:solidFill>
                <a:latin typeface="Inter"/>
              </a:rPr>
              <a:t>casa   ·   caza</a:t>
            </a:r>
          </a:p>
        </p:txBody>
      </p:sp>
      <p:sp>
        <p:nvSpPr>
          <p:cNvPr id="41" name="Onthul 7"/>
          <p:cNvSpPr/>
          <p:nvPr/>
        </p:nvSpPr>
        <p:spPr>
          <a:xfrm>
            <a:off x="4355592" y="6144768"/>
            <a:ext cx="3477768"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nthulTxt 7"/>
          <p:cNvSpPr txBox="1"/>
          <p:nvPr/>
        </p:nvSpPr>
        <p:spPr>
          <a:xfrm>
            <a:off x="4373880" y="6144768"/>
            <a:ext cx="3441192" cy="237744"/>
          </a:xfrm>
          <a:prstGeom prst="rect">
            <a:avLst/>
          </a:prstGeom>
          <a:noFill/>
        </p:spPr>
        <p:txBody>
          <a:bodyPr wrap="square" anchor="ctr" lIns="45720" rIns="45720" tIns="27432" bIns="27432">
            <a:normAutofit/>
          </a:bodyPr>
          <a:lstStyle/>
          <a:p>
            <a:pPr algn="l"/>
            <a:r>
              <a:rPr sz="850" b="1">
                <a:solidFill>
                  <a:srgbClr val="157355"/>
                </a:solidFill>
                <a:latin typeface="Inter"/>
              </a:rPr>
              <a:t>DIFERENTE — s = 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00"/>
                                        <p:tgtEl>
                                          <p:spTgt spid="3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4"/>
                                        </p:tgtEl>
                                        <p:attrNameLst>
                                          <p:attrName>style.visibility</p:attrName>
                                        </p:attrNameLst>
                                      </p:cBhvr>
                                      <p:to>
                                        <p:strVal val="visible"/>
                                      </p:to>
                                    </p:set>
                                    <p:animEffect transition="in" filter="fade">
                                      <p:cBhvr>
                                        <p:cTn id="64" dur="500"/>
                                        <p:tgtEl>
                                          <p:spTgt spid="34"/>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7"/>
                                        </p:tgtEl>
                                        <p:attrNameLst>
                                          <p:attrName>style.visibility</p:attrName>
                                        </p:attrNameLst>
                                      </p:cBhvr>
                                      <p:to>
                                        <p:strVal val="visible"/>
                                      </p:to>
                                    </p:set>
                                    <p:animEffect transition="in" filter="fade">
                                      <p:cBhvr>
                                        <p:cTn id="69" dur="500"/>
                                        <p:tgtEl>
                                          <p:spTgt spid="37"/>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500"/>
                                        <p:tgtEl>
                                          <p:spTgt spid="4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5 · PUZZEL &amp; ESCAPE</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La tilde en el semáforo</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Toda la clase · de pie</a:t>
            </a:r>
          </a:p>
          <a:p>
            <a:pPr algn="r"/>
            <a:r>
              <a:rPr sz="1000">
                <a:solidFill>
                  <a:srgbClr val="E4F4EE"/>
                </a:solidFill>
                <a:latin typeface="Inter"/>
              </a:rPr>
              <a:t>± 10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De pie. La clase es un semáforo: izquierda, centro, derecha.</a:t>
            </a:r>
          </a:p>
          <a:p>
            <a:pPr algn="l"/>
            <a:r>
              <a:rPr sz="1100" i="1">
                <a:solidFill>
                  <a:srgbClr val="6A6E78"/>
                </a:solidFill>
                <a:latin typeface="Inter"/>
              </a:rPr>
              <a:t>Rechtstaan. De klas is een verkeerslicht: links, midden, rechts.</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Je beslist op wat je hóórt, niet op wat je ziet — het woord staat pas op het scherm ná de beslissing. Wie te laat is, gaat zitten.</a:t>
            </a:r>
          </a:p>
        </p:txBody>
      </p:sp>
      <p:sp>
        <p:nvSpPr>
          <p:cNvPr id="11" name="Tarjeta 0"/>
          <p:cNvSpPr/>
          <p:nvPr/>
        </p:nvSpPr>
        <p:spPr>
          <a:xfrm>
            <a:off x="457200"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café</a:t>
            </a:r>
          </a:p>
        </p:txBody>
      </p:sp>
      <p:sp>
        <p:nvSpPr>
          <p:cNvPr id="13" name="Onthul 0"/>
          <p:cNvSpPr/>
          <p:nvPr/>
        </p:nvSpPr>
        <p:spPr>
          <a:xfrm>
            <a:off x="548640"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nthulTxt 0"/>
          <p:cNvSpPr txBox="1"/>
          <p:nvPr/>
        </p:nvSpPr>
        <p:spPr>
          <a:xfrm>
            <a:off x="566928"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«fé»</a:t>
            </a:r>
          </a:p>
        </p:txBody>
      </p:sp>
      <p:sp>
        <p:nvSpPr>
          <p:cNvPr id="15" name="Tarjeta 1"/>
          <p:cNvSpPr/>
          <p:nvPr/>
        </p:nvSpPr>
        <p:spPr>
          <a:xfrm>
            <a:off x="3312414"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1"/>
          <p:cNvSpPr txBox="1"/>
          <p:nvPr/>
        </p:nvSpPr>
        <p:spPr>
          <a:xfrm>
            <a:off x="3403854"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casa</a:t>
            </a:r>
          </a:p>
        </p:txBody>
      </p:sp>
      <p:sp>
        <p:nvSpPr>
          <p:cNvPr id="17" name="Onthul 1"/>
          <p:cNvSpPr/>
          <p:nvPr/>
        </p:nvSpPr>
        <p:spPr>
          <a:xfrm>
            <a:off x="3403854"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nthulTxt 1"/>
          <p:cNvSpPr txBox="1"/>
          <p:nvPr/>
        </p:nvSpPr>
        <p:spPr>
          <a:xfrm>
            <a:off x="3422142"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«ca»</a:t>
            </a:r>
          </a:p>
        </p:txBody>
      </p:sp>
      <p:sp>
        <p:nvSpPr>
          <p:cNvPr id="19" name="Tarjeta 2"/>
          <p:cNvSpPr/>
          <p:nvPr/>
        </p:nvSpPr>
        <p:spPr>
          <a:xfrm>
            <a:off x="6167628"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2"/>
          <p:cNvSpPr txBox="1"/>
          <p:nvPr/>
        </p:nvSpPr>
        <p:spPr>
          <a:xfrm>
            <a:off x="6259068"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México</a:t>
            </a:r>
          </a:p>
        </p:txBody>
      </p:sp>
      <p:sp>
        <p:nvSpPr>
          <p:cNvPr id="21" name="Onthul 2"/>
          <p:cNvSpPr/>
          <p:nvPr/>
        </p:nvSpPr>
        <p:spPr>
          <a:xfrm>
            <a:off x="6259068"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2"/>
          <p:cNvSpPr txBox="1"/>
          <p:nvPr/>
        </p:nvSpPr>
        <p:spPr>
          <a:xfrm>
            <a:off x="6277356"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«Mé»</a:t>
            </a:r>
          </a:p>
        </p:txBody>
      </p:sp>
      <p:sp>
        <p:nvSpPr>
          <p:cNvPr id="23" name="Tarjeta 3"/>
          <p:cNvSpPr/>
          <p:nvPr/>
        </p:nvSpPr>
        <p:spPr>
          <a:xfrm>
            <a:off x="9022842" y="2670048"/>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3"/>
          <p:cNvSpPr txBox="1"/>
          <p:nvPr/>
        </p:nvSpPr>
        <p:spPr>
          <a:xfrm>
            <a:off x="9114282" y="2724912"/>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teléfono</a:t>
            </a:r>
          </a:p>
        </p:txBody>
      </p:sp>
      <p:sp>
        <p:nvSpPr>
          <p:cNvPr id="25" name="Onthul 3"/>
          <p:cNvSpPr/>
          <p:nvPr/>
        </p:nvSpPr>
        <p:spPr>
          <a:xfrm>
            <a:off x="9114282" y="327583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3"/>
          <p:cNvSpPr txBox="1"/>
          <p:nvPr/>
        </p:nvSpPr>
        <p:spPr>
          <a:xfrm>
            <a:off x="9132570" y="327583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«lé»</a:t>
            </a:r>
          </a:p>
        </p:txBody>
      </p:sp>
      <p:sp>
        <p:nvSpPr>
          <p:cNvPr id="27" name="Tarjeta 4"/>
          <p:cNvSpPr/>
          <p:nvPr/>
        </p:nvSpPr>
        <p:spPr>
          <a:xfrm>
            <a:off x="457200"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4"/>
          <p:cNvSpPr txBox="1"/>
          <p:nvPr/>
        </p:nvSpPr>
        <p:spPr>
          <a:xfrm>
            <a:off x="548640"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Perú</a:t>
            </a:r>
          </a:p>
        </p:txBody>
      </p:sp>
      <p:sp>
        <p:nvSpPr>
          <p:cNvPr id="29" name="Onthul 4"/>
          <p:cNvSpPr/>
          <p:nvPr/>
        </p:nvSpPr>
        <p:spPr>
          <a:xfrm>
            <a:off x="548640"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4"/>
          <p:cNvSpPr txBox="1"/>
          <p:nvPr/>
        </p:nvSpPr>
        <p:spPr>
          <a:xfrm>
            <a:off x="566928"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«rú»</a:t>
            </a:r>
          </a:p>
        </p:txBody>
      </p:sp>
      <p:sp>
        <p:nvSpPr>
          <p:cNvPr id="31" name="Tarjeta 5"/>
          <p:cNvSpPr/>
          <p:nvPr/>
        </p:nvSpPr>
        <p:spPr>
          <a:xfrm>
            <a:off x="3312414"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5"/>
          <p:cNvSpPr txBox="1"/>
          <p:nvPr/>
        </p:nvSpPr>
        <p:spPr>
          <a:xfrm>
            <a:off x="3403854"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número</a:t>
            </a:r>
          </a:p>
        </p:txBody>
      </p:sp>
      <p:sp>
        <p:nvSpPr>
          <p:cNvPr id="33" name="Onthul 5"/>
          <p:cNvSpPr/>
          <p:nvPr/>
        </p:nvSpPr>
        <p:spPr>
          <a:xfrm>
            <a:off x="3403854"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nthulTxt 5"/>
          <p:cNvSpPr txBox="1"/>
          <p:nvPr/>
        </p:nvSpPr>
        <p:spPr>
          <a:xfrm>
            <a:off x="3422142"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«nú»</a:t>
            </a:r>
          </a:p>
        </p:txBody>
      </p:sp>
      <p:sp>
        <p:nvSpPr>
          <p:cNvPr id="35" name="Tarjeta 6"/>
          <p:cNvSpPr/>
          <p:nvPr/>
        </p:nvSpPr>
        <p:spPr>
          <a:xfrm>
            <a:off x="6167628"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6"/>
          <p:cNvSpPr txBox="1"/>
          <p:nvPr/>
        </p:nvSpPr>
        <p:spPr>
          <a:xfrm>
            <a:off x="6259068"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mesa</a:t>
            </a:r>
          </a:p>
        </p:txBody>
      </p:sp>
      <p:sp>
        <p:nvSpPr>
          <p:cNvPr id="37" name="Onthul 6"/>
          <p:cNvSpPr/>
          <p:nvPr/>
        </p:nvSpPr>
        <p:spPr>
          <a:xfrm>
            <a:off x="6259068"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nthulTxt 6"/>
          <p:cNvSpPr txBox="1"/>
          <p:nvPr/>
        </p:nvSpPr>
        <p:spPr>
          <a:xfrm>
            <a:off x="6277356"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«me»</a:t>
            </a:r>
          </a:p>
        </p:txBody>
      </p:sp>
      <p:sp>
        <p:nvSpPr>
          <p:cNvPr id="39" name="Tarjeta 7"/>
          <p:cNvSpPr/>
          <p:nvPr/>
        </p:nvSpPr>
        <p:spPr>
          <a:xfrm>
            <a:off x="9022842" y="3696462"/>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7"/>
          <p:cNvSpPr txBox="1"/>
          <p:nvPr/>
        </p:nvSpPr>
        <p:spPr>
          <a:xfrm>
            <a:off x="9114282" y="3751326"/>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jamón</a:t>
            </a:r>
          </a:p>
        </p:txBody>
      </p:sp>
      <p:sp>
        <p:nvSpPr>
          <p:cNvPr id="41" name="Onthul 7"/>
          <p:cNvSpPr/>
          <p:nvPr/>
        </p:nvSpPr>
        <p:spPr>
          <a:xfrm>
            <a:off x="9114282" y="4302252"/>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nthulTxt 7"/>
          <p:cNvSpPr txBox="1"/>
          <p:nvPr/>
        </p:nvSpPr>
        <p:spPr>
          <a:xfrm>
            <a:off x="9132570" y="4302252"/>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«món»</a:t>
            </a:r>
          </a:p>
        </p:txBody>
      </p:sp>
      <p:sp>
        <p:nvSpPr>
          <p:cNvPr id="43" name="Tarjeta 8"/>
          <p:cNvSpPr/>
          <p:nvPr/>
        </p:nvSpPr>
        <p:spPr>
          <a:xfrm>
            <a:off x="457200"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arjetaTxt 8"/>
          <p:cNvSpPr txBox="1"/>
          <p:nvPr/>
        </p:nvSpPr>
        <p:spPr>
          <a:xfrm>
            <a:off x="548640"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sábado</a:t>
            </a:r>
          </a:p>
        </p:txBody>
      </p:sp>
      <p:sp>
        <p:nvSpPr>
          <p:cNvPr id="45" name="Onthul 8"/>
          <p:cNvSpPr/>
          <p:nvPr/>
        </p:nvSpPr>
        <p:spPr>
          <a:xfrm>
            <a:off x="548640"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nthulTxt 8"/>
          <p:cNvSpPr txBox="1"/>
          <p:nvPr/>
        </p:nvSpPr>
        <p:spPr>
          <a:xfrm>
            <a:off x="566928"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«sá»</a:t>
            </a:r>
          </a:p>
        </p:txBody>
      </p:sp>
      <p:sp>
        <p:nvSpPr>
          <p:cNvPr id="47" name="Tarjeta 9"/>
          <p:cNvSpPr/>
          <p:nvPr/>
        </p:nvSpPr>
        <p:spPr>
          <a:xfrm>
            <a:off x="3312414"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arjetaTxt 9"/>
          <p:cNvSpPr txBox="1"/>
          <p:nvPr/>
        </p:nvSpPr>
        <p:spPr>
          <a:xfrm>
            <a:off x="3403854"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papel</a:t>
            </a:r>
          </a:p>
        </p:txBody>
      </p:sp>
      <p:sp>
        <p:nvSpPr>
          <p:cNvPr id="49" name="Onthul 9"/>
          <p:cNvSpPr/>
          <p:nvPr/>
        </p:nvSpPr>
        <p:spPr>
          <a:xfrm>
            <a:off x="3403854"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nthulTxt 9"/>
          <p:cNvSpPr txBox="1"/>
          <p:nvPr/>
        </p:nvSpPr>
        <p:spPr>
          <a:xfrm>
            <a:off x="3422142"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«pel»</a:t>
            </a:r>
          </a:p>
        </p:txBody>
      </p:sp>
      <p:sp>
        <p:nvSpPr>
          <p:cNvPr id="51" name="Tarjeta 10"/>
          <p:cNvSpPr/>
          <p:nvPr/>
        </p:nvSpPr>
        <p:spPr>
          <a:xfrm>
            <a:off x="6167628"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arjetaTxt 10"/>
          <p:cNvSpPr txBox="1"/>
          <p:nvPr/>
        </p:nvSpPr>
        <p:spPr>
          <a:xfrm>
            <a:off x="6259068"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lápiz</a:t>
            </a:r>
          </a:p>
        </p:txBody>
      </p:sp>
      <p:sp>
        <p:nvSpPr>
          <p:cNvPr id="53" name="Onthul 10"/>
          <p:cNvSpPr/>
          <p:nvPr/>
        </p:nvSpPr>
        <p:spPr>
          <a:xfrm>
            <a:off x="6259068"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nthulTxt 10"/>
          <p:cNvSpPr txBox="1"/>
          <p:nvPr/>
        </p:nvSpPr>
        <p:spPr>
          <a:xfrm>
            <a:off x="6277356"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«lá»</a:t>
            </a:r>
          </a:p>
        </p:txBody>
      </p:sp>
      <p:sp>
        <p:nvSpPr>
          <p:cNvPr id="55" name="Tarjeta 11"/>
          <p:cNvSpPr/>
          <p:nvPr/>
        </p:nvSpPr>
        <p:spPr>
          <a:xfrm>
            <a:off x="9022842" y="4722876"/>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arjetaTxt 11"/>
          <p:cNvSpPr txBox="1"/>
          <p:nvPr/>
        </p:nvSpPr>
        <p:spPr>
          <a:xfrm>
            <a:off x="9114282" y="4777740"/>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música</a:t>
            </a:r>
          </a:p>
        </p:txBody>
      </p:sp>
      <p:sp>
        <p:nvSpPr>
          <p:cNvPr id="57" name="Onthul 11"/>
          <p:cNvSpPr/>
          <p:nvPr/>
        </p:nvSpPr>
        <p:spPr>
          <a:xfrm>
            <a:off x="9114282" y="5328666"/>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nthulTxt 11"/>
          <p:cNvSpPr txBox="1"/>
          <p:nvPr/>
        </p:nvSpPr>
        <p:spPr>
          <a:xfrm>
            <a:off x="9132570" y="5328666"/>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«mú»</a:t>
            </a:r>
          </a:p>
        </p:txBody>
      </p:sp>
      <p:sp>
        <p:nvSpPr>
          <p:cNvPr id="59" name="Tarjeta 12"/>
          <p:cNvSpPr/>
          <p:nvPr/>
        </p:nvSpPr>
        <p:spPr>
          <a:xfrm>
            <a:off x="457200"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arjetaTxt 12"/>
          <p:cNvSpPr txBox="1"/>
          <p:nvPr/>
        </p:nvSpPr>
        <p:spPr>
          <a:xfrm>
            <a:off x="548640" y="5804154"/>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reloj</a:t>
            </a:r>
          </a:p>
        </p:txBody>
      </p:sp>
      <p:sp>
        <p:nvSpPr>
          <p:cNvPr id="61" name="Onthul 12"/>
          <p:cNvSpPr/>
          <p:nvPr/>
        </p:nvSpPr>
        <p:spPr>
          <a:xfrm>
            <a:off x="548640" y="635508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nthulTxt 12"/>
          <p:cNvSpPr txBox="1"/>
          <p:nvPr/>
        </p:nvSpPr>
        <p:spPr>
          <a:xfrm>
            <a:off x="566928" y="635508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aguda — «loj»</a:t>
            </a:r>
          </a:p>
        </p:txBody>
      </p:sp>
      <p:sp>
        <p:nvSpPr>
          <p:cNvPr id="63" name="Tarjeta 13"/>
          <p:cNvSpPr/>
          <p:nvPr/>
        </p:nvSpPr>
        <p:spPr>
          <a:xfrm>
            <a:off x="3312414"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arjetaTxt 13"/>
          <p:cNvSpPr txBox="1"/>
          <p:nvPr/>
        </p:nvSpPr>
        <p:spPr>
          <a:xfrm>
            <a:off x="3403854" y="5804154"/>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ventana</a:t>
            </a:r>
          </a:p>
        </p:txBody>
      </p:sp>
      <p:sp>
        <p:nvSpPr>
          <p:cNvPr id="65" name="Onthul 13"/>
          <p:cNvSpPr/>
          <p:nvPr/>
        </p:nvSpPr>
        <p:spPr>
          <a:xfrm>
            <a:off x="3403854" y="635508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nthulTxt 13"/>
          <p:cNvSpPr txBox="1"/>
          <p:nvPr/>
        </p:nvSpPr>
        <p:spPr>
          <a:xfrm>
            <a:off x="3422142" y="635508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llana — «ta»</a:t>
            </a:r>
          </a:p>
        </p:txBody>
      </p:sp>
      <p:sp>
        <p:nvSpPr>
          <p:cNvPr id="67" name="Tarjeta 14"/>
          <p:cNvSpPr/>
          <p:nvPr/>
        </p:nvSpPr>
        <p:spPr>
          <a:xfrm>
            <a:off x="6167628" y="5749290"/>
            <a:ext cx="2708910" cy="898398"/>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arjetaTxt 14"/>
          <p:cNvSpPr txBox="1"/>
          <p:nvPr/>
        </p:nvSpPr>
        <p:spPr>
          <a:xfrm>
            <a:off x="6259068" y="5804154"/>
            <a:ext cx="2526030" cy="587502"/>
          </a:xfrm>
          <a:prstGeom prst="rect">
            <a:avLst/>
          </a:prstGeom>
          <a:noFill/>
        </p:spPr>
        <p:txBody>
          <a:bodyPr wrap="square" anchor="t" lIns="45720" rIns="45720" tIns="27432" bIns="27432">
            <a:normAutofit/>
          </a:bodyPr>
          <a:lstStyle/>
          <a:p>
            <a:pPr algn="l"/>
            <a:r>
              <a:rPr sz="1100" b="1">
                <a:solidFill>
                  <a:srgbClr val="157355"/>
                </a:solidFill>
                <a:latin typeface="Bricolage Grotesque"/>
              </a:rPr>
              <a:t>plátano</a:t>
            </a:r>
          </a:p>
        </p:txBody>
      </p:sp>
      <p:sp>
        <p:nvSpPr>
          <p:cNvPr id="69" name="Onthul 14"/>
          <p:cNvSpPr/>
          <p:nvPr/>
        </p:nvSpPr>
        <p:spPr>
          <a:xfrm>
            <a:off x="6259068" y="635508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nthulTxt 14"/>
          <p:cNvSpPr txBox="1"/>
          <p:nvPr/>
        </p:nvSpPr>
        <p:spPr>
          <a:xfrm>
            <a:off x="6277356" y="635508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esdrújula — «plá»</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500"/>
                                        <p:tgtEl>
                                          <p:spTgt spid="2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500"/>
                                        <p:tgtEl>
                                          <p:spTgt spid="2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500"/>
                                        <p:tgtEl>
                                          <p:spTgt spid="2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00"/>
                                        <p:tgtEl>
                                          <p:spTgt spid="3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4"/>
                                        </p:tgtEl>
                                        <p:attrNameLst>
                                          <p:attrName>style.visibility</p:attrName>
                                        </p:attrNameLst>
                                      </p:cBhvr>
                                      <p:to>
                                        <p:strVal val="visible"/>
                                      </p:to>
                                    </p:set>
                                    <p:animEffect transition="in" filter="fade">
                                      <p:cBhvr>
                                        <p:cTn id="64" dur="500"/>
                                        <p:tgtEl>
                                          <p:spTgt spid="34"/>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7"/>
                                        </p:tgtEl>
                                        <p:attrNameLst>
                                          <p:attrName>style.visibility</p:attrName>
                                        </p:attrNameLst>
                                      </p:cBhvr>
                                      <p:to>
                                        <p:strVal val="visible"/>
                                      </p:to>
                                    </p:set>
                                    <p:animEffect transition="in" filter="fade">
                                      <p:cBhvr>
                                        <p:cTn id="69" dur="500"/>
                                        <p:tgtEl>
                                          <p:spTgt spid="37"/>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click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500"/>
                                        <p:tgtEl>
                                          <p:spTgt spid="38"/>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500"/>
                                        <p:tgtEl>
                                          <p:spTgt spid="4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2"/>
                                        </p:tgtEl>
                                        <p:attrNameLst>
                                          <p:attrName>style.visibility</p:attrName>
                                        </p:attrNameLst>
                                      </p:cBhvr>
                                      <p:to>
                                        <p:strVal val="visible"/>
                                      </p:to>
                                    </p:set>
                                    <p:animEffect transition="in" filter="fade">
                                      <p:cBhvr>
                                        <p:cTn id="84" dur="500"/>
                                        <p:tgtEl>
                                          <p:spTgt spid="4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500"/>
                                        <p:tgtEl>
                                          <p:spTgt spid="45"/>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50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500"/>
                                        <p:tgtEl>
                                          <p:spTgt spid="49"/>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500"/>
                                        <p:tgtEl>
                                          <p:spTgt spid="50"/>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53"/>
                                        </p:tgtEl>
                                        <p:attrNameLst>
                                          <p:attrName>style.visibility</p:attrName>
                                        </p:attrNameLst>
                                      </p:cBhvr>
                                      <p:to>
                                        <p:strVal val="visible"/>
                                      </p:to>
                                    </p:set>
                                    <p:animEffect transition="in" filter="fade">
                                      <p:cBhvr>
                                        <p:cTn id="109" dur="500"/>
                                        <p:tgtEl>
                                          <p:spTgt spid="53"/>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500"/>
                                        <p:tgtEl>
                                          <p:spTgt spid="54"/>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500"/>
                                        <p:tgtEl>
                                          <p:spTgt spid="57"/>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58"/>
                                        </p:tgtEl>
                                        <p:attrNameLst>
                                          <p:attrName>style.visibility</p:attrName>
                                        </p:attrNameLst>
                                      </p:cBhvr>
                                      <p:to>
                                        <p:strVal val="visible"/>
                                      </p:to>
                                    </p:set>
                                    <p:animEffect transition="in" filter="fade">
                                      <p:cBhvr>
                                        <p:cTn id="124" dur="500"/>
                                        <p:tgtEl>
                                          <p:spTgt spid="58"/>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500"/>
                                        <p:tgtEl>
                                          <p:spTgt spid="61"/>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clickEffect">
                                  <p:stCondLst>
                                    <p:cond delay="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500"/>
                                        <p:tgtEl>
                                          <p:spTgt spid="62"/>
                                        </p:tgtEl>
                                      </p:cBhvr>
                                    </p:animEffect>
                                  </p:childTnLst>
                                </p:cTn>
                              </p:par>
                            </p:childTnLst>
                          </p:cTn>
                        </p:par>
                      </p:childTnLst>
                    </p:cTn>
                  </p:par>
                  <p:par>
                    <p:cTn id="135" fill="hold">
                      <p:stCondLst>
                        <p:cond delay="indefinite"/>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65"/>
                                        </p:tgtEl>
                                        <p:attrNameLst>
                                          <p:attrName>style.visibility</p:attrName>
                                        </p:attrNameLst>
                                      </p:cBhvr>
                                      <p:to>
                                        <p:strVal val="visible"/>
                                      </p:to>
                                    </p:set>
                                    <p:animEffect transition="in" filter="fade">
                                      <p:cBhvr>
                                        <p:cTn id="139" dur="500"/>
                                        <p:tgtEl>
                                          <p:spTgt spid="65"/>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500"/>
                                        <p:tgtEl>
                                          <p:spTgt spid="66"/>
                                        </p:tgtEl>
                                      </p:cBhvr>
                                    </p:animEffect>
                                  </p:childTnLst>
                                </p:cTn>
                              </p:par>
                            </p:childTnLst>
                          </p:cTn>
                        </p:par>
                      </p:childTnLst>
                    </p:cTn>
                  </p:par>
                  <p:par>
                    <p:cTn id="145" fill="hold">
                      <p:stCondLst>
                        <p:cond delay="indefinite"/>
                      </p:stCondLst>
                      <p:childTnLst>
                        <p:par>
                          <p:cTn id="146" fill="hold">
                            <p:stCondLst>
                              <p:cond delay="0"/>
                            </p:stCondLst>
                            <p:childTnLst>
                              <p:par>
                                <p:cTn id="147" presetID="10" presetClass="entr" presetSubtype="0" fill="hold" grpId="0" nodeType="clickEffect">
                                  <p:stCondLst>
                                    <p:cond delay="0"/>
                                  </p:stCondLst>
                                  <p:childTnLst>
                                    <p:set>
                                      <p:cBhvr>
                                        <p:cTn id="148" dur="1" fill="hold">
                                          <p:stCondLst>
                                            <p:cond delay="0"/>
                                          </p:stCondLst>
                                        </p:cTn>
                                        <p:tgtEl>
                                          <p:spTgt spid="69"/>
                                        </p:tgtEl>
                                        <p:attrNameLst>
                                          <p:attrName>style.visibility</p:attrName>
                                        </p:attrNameLst>
                                      </p:cBhvr>
                                      <p:to>
                                        <p:strVal val="visible"/>
                                      </p:to>
                                    </p:set>
                                    <p:animEffect transition="in" filter="fade">
                                      <p:cBhvr>
                                        <p:cTn id="149" dur="500"/>
                                        <p:tgtEl>
                                          <p:spTgt spid="6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clickEffect">
                                  <p:stCondLst>
                                    <p:cond delay="0"/>
                                  </p:stCondLst>
                                  <p:childTnLst>
                                    <p:set>
                                      <p:cBhvr>
                                        <p:cTn id="153" dur="1" fill="hold">
                                          <p:stCondLst>
                                            <p:cond delay="0"/>
                                          </p:stCondLst>
                                        </p:cTn>
                                        <p:tgtEl>
                                          <p:spTgt spid="70"/>
                                        </p:tgtEl>
                                        <p:attrNameLst>
                                          <p:attrName>style.visibility</p:attrName>
                                        </p:attrNameLst>
                                      </p:cBhvr>
                                      <p:to>
                                        <p:strVal val="visible"/>
                                      </p:to>
                                    </p:set>
                                    <p:animEffect transition="in" filter="fade">
                                      <p:cBhvr>
                                        <p:cTn id="154"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ndo"/>
          <p:cNvSpPr/>
          <p:nvPr/>
        </p:nvSpPr>
        <p:spPr>
          <a:xfrm>
            <a:off x="0" y="0"/>
            <a:ext cx="12191695"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abecera"/>
          <p:cNvSpPr/>
          <p:nvPr/>
        </p:nvSpPr>
        <p:spPr>
          <a:xfrm>
            <a:off x="0" y="0"/>
            <a:ext cx="12191695" cy="1078992"/>
          </a:xfrm>
          <a:prstGeom prst="rect">
            <a:avLst/>
          </a:prstGeom>
          <a:solidFill>
            <a:srgbClr val="1E9E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hip"/>
          <p:cNvSpPr/>
          <p:nvPr/>
        </p:nvSpPr>
        <p:spPr>
          <a:xfrm>
            <a:off x="457200" y="182880"/>
            <a:ext cx="30175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hipTxt"/>
          <p:cNvSpPr txBox="1"/>
          <p:nvPr/>
        </p:nvSpPr>
        <p:spPr>
          <a:xfrm>
            <a:off x="457200" y="173736"/>
            <a:ext cx="3017520" cy="310896"/>
          </a:xfrm>
          <a:prstGeom prst="rect">
            <a:avLst/>
          </a:prstGeom>
          <a:noFill/>
        </p:spPr>
        <p:txBody>
          <a:bodyPr wrap="square" anchor="ctr" lIns="45720" rIns="45720" tIns="27432" bIns="27432">
            <a:normAutofit/>
          </a:bodyPr>
          <a:lstStyle/>
          <a:p>
            <a:pPr algn="ctr"/>
            <a:r>
              <a:rPr sz="950" b="1">
                <a:solidFill>
                  <a:srgbClr val="157355"/>
                </a:solidFill>
                <a:latin typeface="Inter"/>
              </a:rPr>
              <a:t>RETO 6 · MEDIAFORMAT</a:t>
            </a:r>
          </a:p>
        </p:txBody>
      </p:sp>
      <p:sp>
        <p:nvSpPr>
          <p:cNvPr id="6" name="Titulo"/>
          <p:cNvSpPr txBox="1"/>
          <p:nvPr/>
        </p:nvSpPr>
        <p:spPr>
          <a:xfrm>
            <a:off x="457200" y="502920"/>
            <a:ext cx="8412480" cy="475488"/>
          </a:xfrm>
          <a:prstGeom prst="rect">
            <a:avLst/>
          </a:prstGeom>
          <a:noFill/>
        </p:spPr>
        <p:txBody>
          <a:bodyPr wrap="square" anchor="t" lIns="45720" rIns="45720" tIns="27432" bIns="27432">
            <a:normAutofit/>
          </a:bodyPr>
          <a:lstStyle/>
          <a:p>
            <a:pPr algn="l"/>
            <a:r>
              <a:rPr sz="2700" b="1">
                <a:solidFill>
                  <a:srgbClr val="FFFFFF"/>
                </a:solidFill>
                <a:latin typeface="Bricolage Grotesque"/>
              </a:rPr>
              <a:t>Radio Nombres</a:t>
            </a:r>
          </a:p>
        </p:txBody>
      </p:sp>
      <p:sp>
        <p:nvSpPr>
          <p:cNvPr id="7" name="Badges"/>
          <p:cNvSpPr txBox="1"/>
          <p:nvPr/>
        </p:nvSpPr>
        <p:spPr>
          <a:xfrm>
            <a:off x="9052560" y="256032"/>
            <a:ext cx="2651760" cy="640080"/>
          </a:xfrm>
          <a:prstGeom prst="rect">
            <a:avLst/>
          </a:prstGeom>
          <a:noFill/>
        </p:spPr>
        <p:txBody>
          <a:bodyPr wrap="square" anchor="t" lIns="45720" rIns="45720" tIns="27432" bIns="27432">
            <a:normAutofit/>
          </a:bodyPr>
          <a:lstStyle/>
          <a:p>
            <a:pPr algn="r"/>
            <a:r>
              <a:rPr sz="1000">
                <a:solidFill>
                  <a:srgbClr val="E4F4EE"/>
                </a:solidFill>
                <a:latin typeface="Inter"/>
              </a:rPr>
              <a:t>🏫 Toda la clase</a:t>
            </a:r>
          </a:p>
          <a:p>
            <a:pPr algn="r"/>
            <a:r>
              <a:rPr sz="1000">
                <a:solidFill>
                  <a:srgbClr val="E4F4EE"/>
                </a:solidFill>
                <a:latin typeface="Inter"/>
              </a:rPr>
              <a:t>± 12 min · ★★☆</a:t>
            </a:r>
          </a:p>
        </p:txBody>
      </p:sp>
      <p:sp>
        <p:nvSpPr>
          <p:cNvPr id="8" name="Gancho"/>
          <p:cNvSpPr txBox="1"/>
          <p:nvPr/>
        </p:nvSpPr>
        <p:spPr>
          <a:xfrm>
            <a:off x="457200" y="1225296"/>
            <a:ext cx="11274552" cy="566928"/>
          </a:xfrm>
          <a:prstGeom prst="rect">
            <a:avLst/>
          </a:prstGeom>
          <a:noFill/>
        </p:spPr>
        <p:txBody>
          <a:bodyPr wrap="square" anchor="t" lIns="45720" rIns="45720" tIns="27432" bIns="27432">
            <a:normAutofit/>
          </a:bodyPr>
          <a:lstStyle/>
          <a:p>
            <a:pPr algn="l"/>
            <a:r>
              <a:rPr sz="1600" b="1">
                <a:solidFill>
                  <a:srgbClr val="157355"/>
                </a:solidFill>
                <a:latin typeface="Bricolage Grotesque"/>
              </a:rPr>
              <a:t>Bienvenidos a Radio Nombres, el concurso donde solo cuentan las letras.</a:t>
            </a:r>
          </a:p>
          <a:p>
            <a:pPr algn="l"/>
            <a:r>
              <a:rPr sz="1100" i="1">
                <a:solidFill>
                  <a:srgbClr val="6A6E78"/>
                </a:solidFill>
                <a:latin typeface="Inter"/>
              </a:rPr>
              <a:t>Welkom bij Radio Namen — de spelshow waarin alleen de letters tellen.</a:t>
            </a:r>
          </a:p>
        </p:txBody>
      </p:sp>
      <p:sp>
        <p:nvSpPr>
          <p:cNvPr id="9" name="ReglaCaja"/>
          <p:cNvSpPr/>
          <p:nvPr/>
        </p:nvSpPr>
        <p:spPr>
          <a:xfrm>
            <a:off x="457200" y="1847088"/>
            <a:ext cx="11274552" cy="658368"/>
          </a:xfrm>
          <a:prstGeom prst="roundRect">
            <a:avLst>
              <a:gd name="adj" fmla="val 5000"/>
            </a:avLst>
          </a:prstGeom>
          <a:solidFill>
            <a:srgbClr val="FBF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laTxt"/>
          <p:cNvSpPr txBox="1"/>
          <p:nvPr/>
        </p:nvSpPr>
        <p:spPr>
          <a:xfrm>
            <a:off x="603504" y="1883664"/>
            <a:ext cx="10972800" cy="585216"/>
          </a:xfrm>
          <a:prstGeom prst="rect">
            <a:avLst/>
          </a:prstGeom>
          <a:noFill/>
        </p:spPr>
        <p:txBody>
          <a:bodyPr wrap="square" anchor="t" lIns="45720" rIns="45720" tIns="27432" bIns="27432">
            <a:normAutofit/>
          </a:bodyPr>
          <a:lstStyle/>
          <a:p>
            <a:pPr algn="l"/>
            <a:r>
              <a:rPr sz="850" b="1">
                <a:solidFill>
                  <a:srgbClr val="B7860B"/>
                </a:solidFill>
                <a:latin typeface="Inter"/>
              </a:rPr>
              <a:t>LA REGLA DEL RETO</a:t>
            </a:r>
          </a:p>
          <a:p>
            <a:pPr algn="l"/>
            <a:r>
              <a:rPr sz="1100">
                <a:solidFill>
                  <a:srgbClr val="20242E"/>
                </a:solidFill>
                <a:latin typeface="Inter"/>
              </a:rPr>
              <a:t>Je zegt de lettersnamen (efe, hache, uve doble), nooit de klanken. Wie «ffff» zegt in plaats van «efe», verliest de beurt.</a:t>
            </a:r>
          </a:p>
        </p:txBody>
      </p:sp>
      <p:sp>
        <p:nvSpPr>
          <p:cNvPr id="11" name="Tarjeta 0"/>
          <p:cNvSpPr/>
          <p:nvPr/>
        </p:nvSpPr>
        <p:spPr>
          <a:xfrm>
            <a:off x="457200"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rjetaTxt 0"/>
          <p:cNvSpPr txBox="1"/>
          <p:nvPr/>
        </p:nvSpPr>
        <p:spPr>
          <a:xfrm>
            <a:off x="548640"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1</a:t>
            </a:r>
          </a:p>
          <a:p>
            <a:pPr algn="l"/>
            <a:r>
              <a:rPr sz="1000">
                <a:solidFill>
                  <a:srgbClr val="20242E"/>
                </a:solidFill>
                <a:latin typeface="Inter"/>
              </a:rPr>
              <a:t>Ronda 1 — los compañeros: deletrea el nombre de alguien de la clase.</a:t>
            </a:r>
          </a:p>
        </p:txBody>
      </p:sp>
      <p:sp>
        <p:nvSpPr>
          <p:cNvPr id="13" name="Tarjeta 1"/>
          <p:cNvSpPr/>
          <p:nvPr/>
        </p:nvSpPr>
        <p:spPr>
          <a:xfrm>
            <a:off x="3312414"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rjetaTxt 1"/>
          <p:cNvSpPr txBox="1"/>
          <p:nvPr/>
        </p:nvSpPr>
        <p:spPr>
          <a:xfrm>
            <a:off x="3403854"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2</a:t>
            </a:r>
          </a:p>
          <a:p>
            <a:pPr algn="l"/>
            <a:r>
              <a:rPr sz="1000">
                <a:solidFill>
                  <a:srgbClr val="20242E"/>
                </a:solidFill>
                <a:latin typeface="Inter"/>
              </a:rPr>
              <a:t>Ronda 2 — las ciudades: el/la profe dice la ciudad, tú la deletreas.</a:t>
            </a:r>
          </a:p>
        </p:txBody>
      </p:sp>
      <p:sp>
        <p:nvSpPr>
          <p:cNvPr id="15" name="Tarjeta 2"/>
          <p:cNvSpPr/>
          <p:nvPr/>
        </p:nvSpPr>
        <p:spPr>
          <a:xfrm>
            <a:off x="6167628"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rjetaTxt 2"/>
          <p:cNvSpPr txBox="1"/>
          <p:nvPr/>
        </p:nvSpPr>
        <p:spPr>
          <a:xfrm>
            <a:off x="6259068"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3</a:t>
            </a:r>
          </a:p>
          <a:p>
            <a:pPr algn="l"/>
            <a:r>
              <a:rPr sz="1000">
                <a:solidFill>
                  <a:srgbClr val="20242E"/>
                </a:solidFill>
                <a:latin typeface="Inter"/>
              </a:rPr>
              <a:t>Ronda 3 — las trampas: nombres flamencos con w, y, ij, j.</a:t>
            </a:r>
          </a:p>
        </p:txBody>
      </p:sp>
      <p:sp>
        <p:nvSpPr>
          <p:cNvPr id="17" name="Tarjeta 3"/>
          <p:cNvSpPr/>
          <p:nvPr/>
        </p:nvSpPr>
        <p:spPr>
          <a:xfrm>
            <a:off x="9022842" y="2670048"/>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arjetaTxt 3"/>
          <p:cNvSpPr txBox="1"/>
          <p:nvPr/>
        </p:nvSpPr>
        <p:spPr>
          <a:xfrm>
            <a:off x="9114282" y="2724912"/>
            <a:ext cx="2526030" cy="1060704"/>
          </a:xfrm>
          <a:prstGeom prst="rect">
            <a:avLst/>
          </a:prstGeom>
          <a:noFill/>
        </p:spPr>
        <p:txBody>
          <a:bodyPr wrap="square" anchor="t" lIns="45720" rIns="45720" tIns="27432" bIns="27432">
            <a:normAutofit/>
          </a:bodyPr>
          <a:lstStyle/>
          <a:p>
            <a:pPr algn="l"/>
            <a:r>
              <a:rPr sz="1100" b="1">
                <a:solidFill>
                  <a:srgbClr val="157355"/>
                </a:solidFill>
                <a:latin typeface="Bricolage Grotesque"/>
              </a:rPr>
              <a:t>Ronda 4</a:t>
            </a:r>
          </a:p>
          <a:p>
            <a:pPr algn="l"/>
            <a:r>
              <a:rPr sz="1000">
                <a:solidFill>
                  <a:srgbClr val="20242E"/>
                </a:solidFill>
                <a:latin typeface="Inter"/>
              </a:rPr>
              <a:t>Final — el nombre más largo de la clase, sin errores.</a:t>
            </a:r>
          </a:p>
        </p:txBody>
      </p:sp>
      <p:sp>
        <p:nvSpPr>
          <p:cNvPr id="19" name="Tarjeta 4"/>
          <p:cNvSpPr/>
          <p:nvPr/>
        </p:nvSpPr>
        <p:spPr>
          <a:xfrm>
            <a:off x="457200"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rjetaTxt 4"/>
          <p:cNvSpPr txBox="1"/>
          <p:nvPr/>
        </p:nvSpPr>
        <p:spPr>
          <a:xfrm>
            <a:off x="548640"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W</a:t>
            </a:r>
          </a:p>
          <a:p>
            <a:pPr algn="l"/>
            <a:r>
              <a:rPr sz="1000">
                <a:solidFill>
                  <a:srgbClr val="20242E"/>
                </a:solidFill>
                <a:latin typeface="Inter"/>
              </a:rPr>
              <a:t>uve doble</a:t>
            </a:r>
          </a:p>
        </p:txBody>
      </p:sp>
      <p:sp>
        <p:nvSpPr>
          <p:cNvPr id="21" name="Onthul 4"/>
          <p:cNvSpPr/>
          <p:nvPr/>
        </p:nvSpPr>
        <p:spPr>
          <a:xfrm>
            <a:off x="548640"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nthulTxt 4"/>
          <p:cNvSpPr txBox="1"/>
          <p:nvPr/>
        </p:nvSpPr>
        <p:spPr>
          <a:xfrm>
            <a:off x="566928"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Wouter</a:t>
            </a:r>
          </a:p>
        </p:txBody>
      </p:sp>
      <p:sp>
        <p:nvSpPr>
          <p:cNvPr id="23" name="Tarjeta 5"/>
          <p:cNvSpPr/>
          <p:nvPr/>
        </p:nvSpPr>
        <p:spPr>
          <a:xfrm>
            <a:off x="3312414"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rjetaTxt 5"/>
          <p:cNvSpPr txBox="1"/>
          <p:nvPr/>
        </p:nvSpPr>
        <p:spPr>
          <a:xfrm>
            <a:off x="3403854"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Y</a:t>
            </a:r>
          </a:p>
          <a:p>
            <a:pPr algn="l"/>
            <a:r>
              <a:rPr sz="1000">
                <a:solidFill>
                  <a:srgbClr val="20242E"/>
                </a:solidFill>
                <a:latin typeface="Inter"/>
              </a:rPr>
              <a:t>i griega / ye</a:t>
            </a:r>
          </a:p>
        </p:txBody>
      </p:sp>
      <p:sp>
        <p:nvSpPr>
          <p:cNvPr id="25" name="Onthul 5"/>
          <p:cNvSpPr/>
          <p:nvPr/>
        </p:nvSpPr>
        <p:spPr>
          <a:xfrm>
            <a:off x="3403854"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nthulTxt 5"/>
          <p:cNvSpPr txBox="1"/>
          <p:nvPr/>
        </p:nvSpPr>
        <p:spPr>
          <a:xfrm>
            <a:off x="3422142"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Yara</a:t>
            </a:r>
          </a:p>
        </p:txBody>
      </p:sp>
      <p:sp>
        <p:nvSpPr>
          <p:cNvPr id="27" name="Tarjeta 6"/>
          <p:cNvSpPr/>
          <p:nvPr/>
        </p:nvSpPr>
        <p:spPr>
          <a:xfrm>
            <a:off x="6167628"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rjetaTxt 6"/>
          <p:cNvSpPr txBox="1"/>
          <p:nvPr/>
        </p:nvSpPr>
        <p:spPr>
          <a:xfrm>
            <a:off x="6259068"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J</a:t>
            </a:r>
          </a:p>
          <a:p>
            <a:pPr algn="l"/>
            <a:r>
              <a:rPr sz="1000">
                <a:solidFill>
                  <a:srgbClr val="20242E"/>
                </a:solidFill>
                <a:latin typeface="Inter"/>
              </a:rPr>
              <a:t>jota</a:t>
            </a:r>
          </a:p>
        </p:txBody>
      </p:sp>
      <p:sp>
        <p:nvSpPr>
          <p:cNvPr id="29" name="Onthul 6"/>
          <p:cNvSpPr/>
          <p:nvPr/>
        </p:nvSpPr>
        <p:spPr>
          <a:xfrm>
            <a:off x="6259068"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nthulTxt 6"/>
          <p:cNvSpPr txBox="1"/>
          <p:nvPr/>
        </p:nvSpPr>
        <p:spPr>
          <a:xfrm>
            <a:off x="6277356"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Jeroen</a:t>
            </a:r>
          </a:p>
        </p:txBody>
      </p:sp>
      <p:sp>
        <p:nvSpPr>
          <p:cNvPr id="31" name="Tarjeta 7"/>
          <p:cNvSpPr/>
          <p:nvPr/>
        </p:nvSpPr>
        <p:spPr>
          <a:xfrm>
            <a:off x="9022842" y="3968496"/>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arjetaTxt 7"/>
          <p:cNvSpPr txBox="1"/>
          <p:nvPr/>
        </p:nvSpPr>
        <p:spPr>
          <a:xfrm>
            <a:off x="9114282" y="4023360"/>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H</a:t>
            </a:r>
          </a:p>
          <a:p>
            <a:pPr algn="l"/>
            <a:r>
              <a:rPr sz="1000">
                <a:solidFill>
                  <a:srgbClr val="20242E"/>
                </a:solidFill>
                <a:latin typeface="Inter"/>
              </a:rPr>
              <a:t>hache — zwijgt!</a:t>
            </a:r>
          </a:p>
        </p:txBody>
      </p:sp>
      <p:sp>
        <p:nvSpPr>
          <p:cNvPr id="33" name="Onthul 7"/>
          <p:cNvSpPr/>
          <p:nvPr/>
        </p:nvSpPr>
        <p:spPr>
          <a:xfrm>
            <a:off x="9114282" y="4846320"/>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nthulTxt 7"/>
          <p:cNvSpPr txBox="1"/>
          <p:nvPr/>
        </p:nvSpPr>
        <p:spPr>
          <a:xfrm>
            <a:off x="9132570" y="4846320"/>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Huelva</a:t>
            </a:r>
          </a:p>
        </p:txBody>
      </p:sp>
      <p:sp>
        <p:nvSpPr>
          <p:cNvPr id="35" name="Tarjeta 8"/>
          <p:cNvSpPr/>
          <p:nvPr/>
        </p:nvSpPr>
        <p:spPr>
          <a:xfrm>
            <a:off x="457200" y="5266944"/>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arjetaTxt 8"/>
          <p:cNvSpPr txBox="1"/>
          <p:nvPr/>
        </p:nvSpPr>
        <p:spPr>
          <a:xfrm>
            <a:off x="548640" y="5321808"/>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Z</a:t>
            </a:r>
          </a:p>
          <a:p>
            <a:pPr algn="l"/>
            <a:r>
              <a:rPr sz="1000">
                <a:solidFill>
                  <a:srgbClr val="20242E"/>
                </a:solidFill>
                <a:latin typeface="Inter"/>
              </a:rPr>
              <a:t>zeta</a:t>
            </a:r>
          </a:p>
        </p:txBody>
      </p:sp>
      <p:sp>
        <p:nvSpPr>
          <p:cNvPr id="37" name="Onthul 8"/>
          <p:cNvSpPr/>
          <p:nvPr/>
        </p:nvSpPr>
        <p:spPr>
          <a:xfrm>
            <a:off x="548640" y="614476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nthulTxt 8"/>
          <p:cNvSpPr txBox="1"/>
          <p:nvPr/>
        </p:nvSpPr>
        <p:spPr>
          <a:xfrm>
            <a:off x="566928" y="614476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Zaragoza</a:t>
            </a:r>
          </a:p>
        </p:txBody>
      </p:sp>
      <p:sp>
        <p:nvSpPr>
          <p:cNvPr id="39" name="Tarjeta 9"/>
          <p:cNvSpPr/>
          <p:nvPr/>
        </p:nvSpPr>
        <p:spPr>
          <a:xfrm>
            <a:off x="3312414" y="5266944"/>
            <a:ext cx="2708910" cy="1170432"/>
          </a:xfrm>
          <a:prstGeom prst="roundRect">
            <a:avLst>
              <a:gd name="adj" fmla="val 6000"/>
            </a:avLst>
          </a:prstGeom>
          <a:solidFill>
            <a:srgbClr val="FFFFFF"/>
          </a:solidFill>
          <a:ln w="12700">
            <a:solidFill>
              <a:srgbClr val="E4E3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arjetaTxt 9"/>
          <p:cNvSpPr txBox="1"/>
          <p:nvPr/>
        </p:nvSpPr>
        <p:spPr>
          <a:xfrm>
            <a:off x="3403854" y="5321808"/>
            <a:ext cx="2526030" cy="859536"/>
          </a:xfrm>
          <a:prstGeom prst="rect">
            <a:avLst/>
          </a:prstGeom>
          <a:noFill/>
        </p:spPr>
        <p:txBody>
          <a:bodyPr wrap="square" anchor="t" lIns="45720" rIns="45720" tIns="27432" bIns="27432">
            <a:normAutofit/>
          </a:bodyPr>
          <a:lstStyle/>
          <a:p>
            <a:pPr algn="l"/>
            <a:r>
              <a:rPr sz="1100" b="1">
                <a:solidFill>
                  <a:srgbClr val="157355"/>
                </a:solidFill>
                <a:latin typeface="Bricolage Grotesque"/>
              </a:rPr>
              <a:t>X</a:t>
            </a:r>
          </a:p>
          <a:p>
            <a:pPr algn="l"/>
            <a:r>
              <a:rPr sz="1000">
                <a:solidFill>
                  <a:srgbClr val="20242E"/>
                </a:solidFill>
                <a:latin typeface="Inter"/>
              </a:rPr>
              <a:t>equis</a:t>
            </a:r>
          </a:p>
        </p:txBody>
      </p:sp>
      <p:sp>
        <p:nvSpPr>
          <p:cNvPr id="41" name="Onthul 9"/>
          <p:cNvSpPr/>
          <p:nvPr/>
        </p:nvSpPr>
        <p:spPr>
          <a:xfrm>
            <a:off x="3403854" y="6144768"/>
            <a:ext cx="2526030" cy="237744"/>
          </a:xfrm>
          <a:prstGeom prst="roundRect">
            <a:avLst>
              <a:gd name="adj" fmla="val 20000"/>
            </a:avLst>
          </a:prstGeom>
          <a:solidFill>
            <a:srgbClr val="E4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nthulTxt 9"/>
          <p:cNvSpPr txBox="1"/>
          <p:nvPr/>
        </p:nvSpPr>
        <p:spPr>
          <a:xfrm>
            <a:off x="3422142" y="6144768"/>
            <a:ext cx="2489454" cy="237744"/>
          </a:xfrm>
          <a:prstGeom prst="rect">
            <a:avLst/>
          </a:prstGeom>
          <a:noFill/>
        </p:spPr>
        <p:txBody>
          <a:bodyPr wrap="square" anchor="ctr" lIns="45720" rIns="45720" tIns="27432" bIns="27432">
            <a:normAutofit/>
          </a:bodyPr>
          <a:lstStyle/>
          <a:p>
            <a:pPr algn="l"/>
            <a:r>
              <a:rPr sz="850" b="1">
                <a:solidFill>
                  <a:srgbClr val="157355"/>
                </a:solidFill>
                <a:latin typeface="Inter"/>
              </a:rPr>
              <a:t>in Xavier</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7" presetID="10" presetClass="entr" presetSubtype="0" fill="hold" grpId="0" nodeType="clickEffect">
                                  <p:stCondLst>
                                    <p:cond delay="0"/>
                                  </p:stCondLst>
                                  <p:childTnLst>
                                    <p:set>
                                      <p:cBhvr>
                                        <p:cTn id="8" dur="1" fill="hold">
                                          <p:stCondLst>
                                            <p:cond delay="0"/>
                                          </p:stCondLst>
                                        </p:cTn>
                                        <p:tgtEl>
                                          <p:spTgt spid="21"/>
                                        </p:tgtEl>
                                        <p:attrNameLst>
                                          <p:attrName>style.visibility</p:attrName>
                                        </p:attrNameLst>
                                      </p:cBhvr>
                                      <p:to>
                                        <p:strVal val="visible"/>
                                      </p:to>
                                    </p:set>
                                    <p:animEffect transition="in" filter="fade">
                                      <p:cBhvr>
                                        <p:cTn id="9" dur="500"/>
                                        <p:tgtEl>
                                          <p:spTgt spid="2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500"/>
                                        <p:tgtEl>
                                          <p:spTgt spid="22"/>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00"/>
                                        <p:tgtEl>
                                          <p:spTgt spid="2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500"/>
                                        <p:tgtEl>
                                          <p:spTgt spid="3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500"/>
                                        <p:tgtEl>
                                          <p:spTgt spid="3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8"/>
                                        </p:tgtEl>
                                        <p:attrNameLst>
                                          <p:attrName>style.visibility</p:attrName>
                                        </p:attrNameLst>
                                      </p:cBhvr>
                                      <p:to>
                                        <p:strVal val="visible"/>
                                      </p:to>
                                    </p:set>
                                    <p:animEffect transition="in" filter="fade">
                                      <p:cBhvr>
                                        <p:cTn id="54" dur="500"/>
                                        <p:tgtEl>
                                          <p:spTgt spid="3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500"/>
                                        <p:tgtEl>
                                          <p:spTgt spid="4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2"/>
                                        </p:tgtEl>
                                        <p:attrNameLst>
                                          <p:attrName>style.visibility</p:attrName>
                                        </p:attrNameLst>
                                      </p:cBhvr>
                                      <p:to>
                                        <p:strVal val="visible"/>
                                      </p:to>
                                    </p:set>
                                    <p:animEffect transition="in" filter="fade">
                                      <p:cBhvr>
                                        <p:cTn id="6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