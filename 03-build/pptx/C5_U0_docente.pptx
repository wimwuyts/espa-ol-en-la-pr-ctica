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TITLE. Open de reis (La Ruta). Stel cast + mochila voor (30-40 s). Klasritueel: laat de klas straks (§4/opener) de NAAM van de mochila kiezen. Instructietaal: Spaans-eerst met NL-steun. Timing hele les: 50 min — zie dia TEACHER_NOTES. Docentversie = vrije navigatie + oplossing in notities; leerlingversie (.ppsx) = gewone diavoorstelling waarin elke klik het volgende antwoord onthult (geen kiosk).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LESSON_MENU (idee 1: interactieve startpagina · idee 3: niet-lineaire keuze). Vaste navigatie: elke tegel = hyperlink naar de betreffende dia; op elke oefendia staat ⌂ Menú terug hierheen. Kies je route naargelang de klas (zij-instromers): begin gerust bij §4 (saludos) om drempel te verlagen, of lineair §1→Repaso. Richttijd totaal 50 min (zie laatste dia).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Audiopaneel personages (idee 34). Klik-per-avatar speelt in HTML de chunk af; hier klassikaal voorlezen. Laat elke leerling één castlid 'nadoen' (soy … de …). Kies NU samen de naam van de mochila (schrijf op bord). Differentiatie: sterke leerlingen voegen '¿y tú?' toe. Cross-ref: HTML flip-cards cast · PDF opener A.1.3.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VOCABULARY (idee 21 woordmuur · idee 22 beeld-woord-audio). Fase: context→observeren→regel. Speel eerst 'la canción del abecedario' (audio) — luister, nog niet schrijven. Rode vakjes = klanktrampas (dia 5). Observatievragen (en parejas, NL): welke letternaam verrast? welke letter zie je niet in NL (ñ)? welke hoor je nooit (h)? Actividad: 'Deletrea tu nombre' — modelo 'Me llamo Lucía: ele-u-ce-i-a, con tilde en la i'. Cross-ref: HTML flip-cards alfabet · PDF §1.1.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Uitspraak in 6 families (PronunciationCard). Route: 'Caza de sonidos' — beluister het intro-tekstje en onderstreep de jota (Jorge, Gijón, colegio, gente, jamón). Betekenis eerst (waar komt Jorge vandaan?). Escucha y repite met opname (ListenRepeatRecorder). Sombrero-brug: het golfje op ñ + puntjes op güe/güi horen bij §2. De klanktrampa-quiz staat op de volgende dia.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(idee 12 meerkeuze met feedback · idee 38 uitspraakcontrast). Onthul-flow: laat de klas eerst kiezen (klik audio), DAN de solución tonen. Belangrijk: b=v en h muda maken sommige paren identiek — dat is geen valstrik-fout maar Spaans. Na kiezen: elke leerling spreekt BEIDE vormen zelf in (van receptie → productie). Trabalenguas als extra: 'Rápido corre el carro del ferrocarril'.</a:t>
            </a:r>
          </a:p>
          <a:p/>
          <a:p>
            <a:r>
              <a:t>— SOLUCIÓN (docent · presenter view) —</a:t>
            </a:r>
          </a:p>
          <a:p>
            <a:r>
              <a:t>A · «geen fout, dat is Spaans!»  vaca=baca en hola=ola klinken IDENTIEK (b=v, h muda). gente≠tente (jota-klank), casa≠caza (s ↔ th).</a:t>
            </a:r>
          </a:p>
          <a:p>
            <a:r>
              <a:t>B · r/rr:  één tik tussen klinkers (pero) ↔ rol bij rr, woordbegin en na n/l/s (perro, Roma, Enrique). Betekenis verandert!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GRAMMAR-noticing (idee 27 Morph kan het hoedje visueel laten 'landen'). Fase: context→observeren→regel, NOG geen tilde-regel. Laat de klas hardop lezen en klappen (Escucha y da una palmada, 8 woorden). Truc: tel van achteren — última(1)·penúltima(2)·antepenúltima(3), heb je nodig op dia 8. Sombrero-familie: golfje ~ (ñ) en puntjes ¨ (güe) zijn ándere hoedjes dan de tilde 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(idee 29 beslisboom · idee 27 Morph). Laat de klas eerst sorteren (Ordena por familia) vóór je de regel-tabel toont. Ezelsbrug: a-GU-das is zelf een llana maar 'wijst naar het einde'; es-DRÚ-ju-las doet wat de naam zegt. Grootste A1-fout = TE VEEL tildes zetten. Recycling-teaser: joven→jóvenes / canción→canciones (hoedje verspringt) komt pas later. Cross-ref: HTML klikbare beslisboom (StressTapper).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(idee 11 klik-om-te-onthullen · idee 14 zoek de fout). Laat elke leerling eerst zelf beslissen + de regel benoemen ('waarom?'), dan solución. Vervolg: 'Clínica de tildes' (foutenkliniek): ✗cásada→casa, ✗Mexico→México, ✗telefóno→teléfono, ✗árból→árbol. Het CORRECTE model komt altijd als laatste, nooit de fout alleen (§14). Communicatief slot: 'Sube el sombrero al mapa' met paradas (Perú, México, Bogotá, Panamá dragen ´).</a:t>
            </a:r>
          </a:p>
          <a:p/>
          <a:p>
            <a:r>
              <a:t>— SOLUCIÓN (docent · presenter view) —</a:t>
            </a:r>
          </a:p>
          <a:p>
            <a:r>
              <a:t>Perú (aguda -ú) · café (aguda -é) · casa → GEEN (llana -a) · árbol (llana -l → wél) · México (esdrújula → altijd)</a:t>
            </a:r>
          </a:p>
          <a:p>
            <a:r>
              <a:t>número (esdrújula) · lunes → GEEN (llana -s) · adiós (aguda -s → wél)</a:t>
            </a:r>
          </a:p>
          <a:p>
            <a:r>
              <a:t>🔴 Ojo — geen hoedjes strooien! lunes en profesor krijgen er GÉÉN. De grootste A1-fout is te veel tildes zetten.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VOCABULARY (idee 21/22 · idee 19 timer voor snelle oproep). Verborgen vertaling: hoor het getal vóór het NL-gloss verschijnt. Trucs per laag: los blokjes / aan elkaar / machine met 'y'. 4 hoedjes in laag 2: dieciSÉis, veintiDÓS, veintiTRÉS, veintiSÉis (sluit aan bij §2!). Speel 'Bingo del mundo hispano' (ronde 2 = leerling is spelleider). Volgende dia: valstrikken + oefening leeftijd/telefoon.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functioneel (idee 25 zinsbouwer · idee 30 grammaticakliniek). Context vóór vorm: we willen LEEFTIJDEN zeggen → daarvoor dient tener. Substitutietabel: kies één blok per kolom, spreek de zin hardop. Kernfout ser↔tener stevig inoefenen (keert terug in U1). Info-gap 'intercambio de teléfonos' (A/B): leerlingen moeten práten om elkaars nummer te weten. Communicatief slot §3: encuesta '¿Cuántos años tiene la clase?' + rapporteren in 3e 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WRITING (idee 42 schrijfopdracht · idee 36 microdictee). Leerling schrijft ECHT (antwoordruimte). 16-29 aan elkaar (één woord), 30-100 met 'y' (drie woorden). Zelfcorrectie met de solución-laag. Uitbreiding dictee: 'Tengo dieciséis años', 'Vivo en el número veintidós', 'Somos treinta y tres en clase'. Getal in cijfers ÉN letters, mét juiste tilde (koppelt §3 + §2).</a:t>
            </a:r>
          </a:p>
          <a:p/>
          <a:p>
            <a:r>
              <a:t>— SOLUCIÓN (docent · presenter view) —</a:t>
            </a:r>
          </a:p>
          <a:p>
            <a:r>
              <a:t>18 dieciocho  ·  24 veinticuatro  ·  53 cincuenta y tres</a:t>
            </a:r>
          </a:p>
          <a:p>
            <a:r>
              <a:t>71 setenta y uno  ·  96 noventa y seis  ·  47 cuarenta y siete</a:t>
            </a:r>
          </a:p>
          <a:p>
            <a:r>
              <a:t>Mini-transfer: schrijf jouw huisnummer en jouw schoenmaat voluit in letters.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SPEAKING (idee 34 audiopaneel · idee 21 klikbare chunks). Chunks = één geheel, niet losse woorden. 🔴 Valstrikken: Encantado (jongen) / Encantada (meisje) — volgt WIE spreekt. Buenos días/tardes/noches in MEERVOUD. Me llamo = wederkerend. ¿Qué tal? niet woord-voor-woord. h is stom. tú vs usted (usted enkel herkennen). Hang de klasposter 'Cartel de la clase' met de lengua de clase het hele jaar op (spreiding).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READING→SPEAKING (idee 34 audiopaneel · idee 37 shadowing). Speel het model (2 stemmen). Shadowing in 4 stappen: volledige tekst → alleen sleutelwoorden → geen tekst → eigen variant ('Me llamo [naam]. ¿Cómo te llamas?'). Opname → terugluisteren → 1 verbeterpunt → opnieuw (RecordReflectRetry). Substitutiecarrousel: naam · herkomst · leeftijd roteert. Cross-ref: HTML ShadowingPlayer.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SPEAKING/interactie (idee 39 rollenkaart · idee 43 peerfeedback). De rechterkolom (→ chunk) is de oplossing: toon ze pas na de klaspoging. Klasposter 'Cartel de la clase' ophangen. Dit is compensatie-/strategie-taal (LPD lengua de clase) — laat leerlingen ze het hele jaar echt gebruiken i.p.v. NL. Encantad_ clínica del error kan hier ook: Diego zegt Encantado, Nina zegt Encantada (uitgang volgt wie spreekt).</a:t>
            </a:r>
          </a:p>
          <a:p/>
          <a:p>
            <a:r>
              <a:t>— SOLUCIÓN (docent · presenter view) —</a:t>
            </a:r>
          </a:p>
          <a:p>
            <a:r>
              <a:t>Mini-rollenspel (geen steun): A speelt docent (praat te snel / zegt een nieuw woord); B reageert met de passende chunk. Wissel.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CULTURE (idee 2 klikbare kaart · idee 47 zoom). Component Identiteit in diversiteit (leerplan). Juist/fout met bewijs: 'In Brasil is español officieel?' (nee → portugués) · 'Perú está en Europa?' (nee). Coloca a la cast: Lucía→Sevilla, Diego→CDMX, Valen→Cartagena, Nina→Cusco. Strategie cognados. 🔴 Spelling: landen mét hoofdletter (España), taal met kleine letter (el español). Volgende dia: variatie ES↔LatAm.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CULTURE (idee 38 klankcontrast). Kernidee A1: dezelfde taal, kleine verschillen — bewustwording, geen toets. Woordparen matchen (met beginletter als cue): coche/carro, móvil/celular, patata/papa, zumo/jugo. Communicatief slot: mini-encuesta 'Yo prefiero «celular» porque suena bien' → verslag klas. Onze parada start in España → wij vertrekken van /θ/ (th), maar beide varianten zijn correct.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READING. Route: voorspellen → globaal → scannen → juist/fout MET BEWIJS → betekenis uit context → zelf schrijven. Laat de tekst staan tijdens het scannen: informatie terugvinden is lezen, uit het hoofd opzeggen is iets anders. Eis bij elke V/F de zin uit de tekst — dat is de stap die gokken onmogelijk maakt. Dezelfde tekst staat in de cursus (met schrijfruimte) en op de hub (zelfcorrigerend, met vertaalknop).</a:t>
            </a:r>
          </a:p>
          <a:p/>
          <a:p>
            <a:r>
              <a:t>— SOLUCIÓN (docent · presenter view) —</a:t>
            </a:r>
          </a:p>
          <a:p>
            <a:r>
              <a:t>Escanear: 1) 14 · 2) 18 · 3) 0 · 4) 4</a:t>
            </a:r>
          </a:p>
          <a:p>
            <a:r>
              <a:t>1) V — «¡Cero euros!»</a:t>
            </a:r>
          </a:p>
          <a:p>
            <a:r>
              <a:t>2) F — «¿O cero español? ¡No importa!»</a:t>
            </a:r>
          </a:p>
          <a:p>
            <a:r>
              <a:t>3) V — «Los martes y los jueves»</a:t>
            </a:r>
          </a:p>
          <a:p>
            <a:r>
              <a:t>4) V — «Hay sitio para veinte»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LISTENING. Zes treden: situatie vooraf → globaal → vijf details → juist/fout MET BEWIJS → transcript pas ná de taken → productieve reactie. Speel het fragment minstens twee keer: één keer globaal (boeken dicht), daarna gericht. Het transcript staat op de hub en gaat daar pas open als de taken gedaan zijn — meelezen tijdens het luisteren maakt er een leesoefening van. Zolang er geen opname is, leest de computerstem het gesprek voor met een eigen stem per spreker. Noodroute: het fragment ook voorlezen kan, met twee leerlingen in de rollen.</a:t>
            </a:r>
          </a:p>
          <a:p/>
          <a:p>
            <a:r>
              <a:t>— SOLUCIÓN (docent · presenter view) —</a:t>
            </a:r>
          </a:p>
          <a:p>
            <a:r>
              <a:t>Detalle: 1) B12 · 2) De Sevilla · 3) 16 · 4) 17 · 5) A las once</a:t>
            </a:r>
          </a:p>
          <a:p>
            <a:r>
              <a:t>1) V — «Hablo neerlandés y un poco de español»</a:t>
            </a:r>
          </a:p>
          <a:p>
            <a:r>
              <a:t>2) F — «Yo soy de Sevilla»</a:t>
            </a:r>
          </a:p>
          <a:p>
            <a:r>
              <a:t>3) V — «Ese, a, eme»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FINAL_MISSION (idee 45 vier-vaardighedenmissie · idee 42 zelfopbouwende schrijftaak). Keten 3: model beluisteren → stappen ordenen → uitdrukkingen oefenen → eigen dialoog. Steun bouwt af per paso (MODEL→FRAME→CUE→GEEN). Succescriteria: spelt naam verstaanbaar · groet + afscheid · stelt 1 klasvraag. Feedback &amp; herneming: na paso 5 één verbeterpunt kiezen → opnieuw inspreken (RecordReflectRetry). 🔴 Spel-valstrikken NL→ES: W=uve doble, Y=i griega/ye, J=jota, H=hache (stom). Cross-ref: HTML VoiceMessageTask.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(idee 17 Jeopardy-achtig · idee 18 oplopende reeks). Gemengde ophaal over de hele unit — geen aangeduide regel, leerling kiest zelf. Extra items: 'Pasaporte fonético' (Zaragoza·Málaga·Bogotá·Cáceres·Ecuador·Panamá hardop + familie benoemen) en 'Dictado mixto' (getal in cijfers+letters mét tilde). Sluit af met 'Check-in en la puerta' = generale repetitie van de Tarjeta de embarque.</a:t>
            </a:r>
          </a:p>
          <a:p/>
          <a:p>
            <a:r>
              <a:t>— SOLUCIÓN (docent · presenter view) —</a:t>
            </a:r>
          </a:p>
          <a:p>
            <a:r>
              <a:t>1 Perú (aguda -ú)   ·   2 de h zwijgt (hola = «ola»)   ·   3 cuarenta y siete</a:t>
            </a:r>
          </a:p>
          <a:p>
            <a:r>
              <a:t>4 Encantada (Nina is een meisje — de uitgang volgt wie spreekt)   ·   5 casa = llana · México = esdrújula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REPASO/FEEDBACK (idee 8 voortgangsmeter · idee 23 flashcards afbouw). SummaryQuadrant = spiekkaart. BESLIST 2026-07-26: het echte inoefen-repaso staat ONLINE (spellen + zelfcorrectie); print/PPT = spiekkaart + semáforo + 'Repasa jugando (online)'. Laat leerlingen het semáforo eerlijk inkleuren (receptief/productief apart, statusladder 0-5). Vooruitblik U1 «¿Quién eres?» (Madrid): naam &amp; e-mail spellen, edad met tener, saludos openen elke kennismaking (recycling).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TEACHER_NOTES. Deze dia niet projecteren (of overslaan in de leerlingversie .ppsx). Differentiatie / zij-instromers: U0 vertrekt van nul, dus geschikt voor iedereen. Con apoyo = frames open houden; desafío = frames dicht + tempo op. Beoordeling: de Tarjeta de embarque (dia 18) dekt spellen+groeten+klasvraag. Alle LPD-codes III-Spa-d nog concreet in te vullen (zie bron-md Bijlage C). Print-hygiëne / kleurlagen: cursusgroen = navigatie; functionele kleuren (blauw persoon · oranje werkw · paars tijd) enkel bij taalmarkering.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slide" Target="slide4.xml"/><Relationship Id="rId4" Type="http://schemas.openxmlformats.org/officeDocument/2006/relationships/slide" Target="slide7.xml"/><Relationship Id="rId5" Type="http://schemas.openxmlformats.org/officeDocument/2006/relationships/slide" Target="slide10.xml"/><Relationship Id="rId6" Type="http://schemas.openxmlformats.org/officeDocument/2006/relationships/slide" Target="slide13.xml"/><Relationship Id="rId7" Type="http://schemas.openxmlformats.org/officeDocument/2006/relationships/slide" Target="slide16.xml"/><Relationship Id="rId8" Type="http://schemas.openxmlformats.org/officeDocument/2006/relationships/slide" Target="slide18.xml"/><Relationship Id="rId9" Type="http://schemas.openxmlformats.org/officeDocument/2006/relationships/slide" Target="slide19.xml"/><Relationship Id="rId10" Type="http://schemas.openxmlformats.org/officeDocument/2006/relationships/slide" Target="slide2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slide" Target="slide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82296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3108960" cy="3291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0" b="1" i="0">
                <a:solidFill>
                  <a:srgbClr val="2EB085"/>
                </a:solidFill>
                <a:latin typeface="Bricolage Grotesque"/>
              </a:rPr>
              <a:t>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777240"/>
            <a:ext cx="323148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57355"/>
                </a:solidFill>
                <a:latin typeface="Inter"/>
              </a:rPr>
              <a:t>LA RUTA · PARADA 0 · EL MUNDO HISPANO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34440"/>
            <a:ext cx="786384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7200" b="1" i="0">
                <a:solidFill>
                  <a:srgbClr val="FFFFFF"/>
                </a:solidFill>
                <a:latin typeface="Bricolage Grotesque"/>
              </a:rPr>
              <a:t>¡Empezamos!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468880"/>
            <a:ext cx="76809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1">
                <a:solidFill>
                  <a:srgbClr val="E4F4EE"/>
                </a:solidFill>
                <a:latin typeface="Inter"/>
              </a:rPr>
              <a:t>We beginnen! — jouw eerste stappen in het Spaans en op La Ruta.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3063240"/>
            <a:ext cx="76809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Bricolage Grotesque"/>
              </a:rPr>
              <a:t>¿Estás listo/a para el viaje?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4F4EE"/>
                </a:solidFill>
                <a:latin typeface="Inter"/>
              </a:rPr>
              <a:t>Klaar voor de reis?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262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La gente de la ruta — je reisgezellen</a:t>
            </a:r>
          </a:p>
        </p:txBody>
      </p:sp>
      <p:pic>
        <p:nvPicPr>
          <p:cNvPr id="11" name="Picture 10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937760"/>
            <a:ext cx="914400" cy="914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Lucia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Sevilla 🇪🇸</a:t>
            </a:r>
          </a:p>
        </p:txBody>
      </p:sp>
      <p:pic>
        <p:nvPicPr>
          <p:cNvPr id="13" name="Picture 12" descr="die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59" y="4937760"/>
            <a:ext cx="9144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85999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Diego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CDMX 🇲🇽</a:t>
            </a:r>
          </a:p>
        </p:txBody>
      </p:sp>
      <p:pic>
        <p:nvPicPr>
          <p:cNvPr id="15" name="Picture 14" descr="val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78" y="493776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18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Valen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Cartagena 🇨🇴</a:t>
            </a:r>
          </a:p>
        </p:txBody>
      </p:sp>
      <p:pic>
        <p:nvPicPr>
          <p:cNvPr id="17" name="Picture 16" descr="n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197" y="4937760"/>
            <a:ext cx="914400" cy="914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37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Nina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Cusco 🇵🇪</a:t>
            </a:r>
          </a:p>
        </p:txBody>
      </p:sp>
      <p:pic>
        <p:nvPicPr>
          <p:cNvPr id="19" name="Picture 18" descr="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16" y="4937760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909556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Tú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de reiziger = jij</a:t>
            </a:r>
          </a:p>
        </p:txBody>
      </p:sp>
      <p:pic>
        <p:nvPicPr>
          <p:cNvPr id="21" name="Picture 20" descr="mochil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35" y="4937760"/>
            <a:ext cx="914400" cy="914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84075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Mochila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La mochila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MENÚ DE LA LECCIÓN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mapa de la Unidad 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Kies je route — klik een tegel (of volg de volgorde). Alles oefent naar de Tarea final toe.</a:t>
            </a:r>
          </a:p>
        </p:txBody>
      </p:sp>
      <p:sp>
        <p:nvSpPr>
          <p:cNvPr id="9" name="Rounded Rectangle 8">
            <a:hlinkClick action="ppaction://hlinksldjump" r:id="rId3"/>
          </p:cNvPr>
          <p:cNvSpPr/>
          <p:nvPr/>
        </p:nvSpPr>
        <p:spPr>
          <a:xfrm>
            <a:off x="457200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action="ppaction://hlinksldjump" r:id="rId3"/>
          </p:cNvPr>
          <p:cNvSpPr/>
          <p:nvPr/>
        </p:nvSpPr>
        <p:spPr>
          <a:xfrm>
            <a:off x="457200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Sonar en español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alfabet · uitspraak · klanktrampas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4</a:t>
            </a:r>
          </a:p>
        </p:txBody>
      </p:sp>
      <p:sp>
        <p:nvSpPr>
          <p:cNvPr id="15" name="Rounded Rectangle 14">
            <a:hlinkClick action="ppaction://hlinksldjump" r:id="rId4"/>
          </p:cNvPr>
          <p:cNvSpPr/>
          <p:nvPr/>
        </p:nvSpPr>
        <p:spPr>
          <a:xfrm>
            <a:off x="3328416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action="ppaction://hlinksldjump" r:id="rId4"/>
          </p:cNvPr>
          <p:cNvSpPr/>
          <p:nvPr/>
        </p:nvSpPr>
        <p:spPr>
          <a:xfrm>
            <a:off x="3328416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La regla del sombrero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klemtoon · aguda/llana/esdrújula · tilde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3008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7</a:t>
            </a:r>
          </a:p>
        </p:txBody>
      </p:sp>
      <p:sp>
        <p:nvSpPr>
          <p:cNvPr id="21" name="Rounded Rectangle 20">
            <a:hlinkClick action="ppaction://hlinksldjump" r:id="rId5"/>
          </p:cNvPr>
          <p:cNvSpPr/>
          <p:nvPr/>
        </p:nvSpPr>
        <p:spPr>
          <a:xfrm>
            <a:off x="6199632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>
            <a:hlinkClick action="ppaction://hlinksldjump" r:id="rId5"/>
          </p:cNvPr>
          <p:cNvSpPr/>
          <p:nvPr/>
        </p:nvSpPr>
        <p:spPr>
          <a:xfrm>
            <a:off x="6199632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60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984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Números 0–100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tellen · leeftijd · telefoon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64224" y="324612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10</a:t>
            </a:r>
          </a:p>
        </p:txBody>
      </p:sp>
      <p:sp>
        <p:nvSpPr>
          <p:cNvPr id="27" name="Rounded Rectangle 26">
            <a:hlinkClick action="ppaction://hlinksldjump" r:id="rId6"/>
          </p:cNvPr>
          <p:cNvSpPr/>
          <p:nvPr/>
        </p:nvSpPr>
        <p:spPr>
          <a:xfrm>
            <a:off x="9070848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>
            <a:hlinkClick action="ppaction://hlinksldjump" r:id="rId6"/>
          </p:cNvPr>
          <p:cNvSpPr/>
          <p:nvPr/>
        </p:nvSpPr>
        <p:spPr>
          <a:xfrm>
            <a:off x="9070848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80576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Saludos y clase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groeten · voorstellen · lengua de clase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5440" y="324612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13</a:t>
            </a:r>
          </a:p>
        </p:txBody>
      </p:sp>
      <p:sp>
        <p:nvSpPr>
          <p:cNvPr id="33" name="Rounded Rectangle 32">
            <a:hlinkClick action="ppaction://hlinksldjump" r:id="rId7"/>
          </p:cNvPr>
          <p:cNvSpPr/>
          <p:nvPr/>
        </p:nvSpPr>
        <p:spPr>
          <a:xfrm>
            <a:off x="457200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>
            <a:hlinkClick action="ppaction://hlinksldjump" r:id="rId7"/>
          </p:cNvPr>
          <p:cNvSpPr/>
          <p:nvPr/>
        </p:nvSpPr>
        <p:spPr>
          <a:xfrm>
            <a:off x="457200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66928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Cultura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¿Dónde se habla español? (+20 países)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16</a:t>
            </a:r>
          </a:p>
        </p:txBody>
      </p:sp>
      <p:sp>
        <p:nvSpPr>
          <p:cNvPr id="39" name="Rounded Rectangle 38">
            <a:hlinkClick action="ppaction://hlinksldjump" r:id="rId8"/>
          </p:cNvPr>
          <p:cNvSpPr/>
          <p:nvPr/>
        </p:nvSpPr>
        <p:spPr>
          <a:xfrm>
            <a:off x="3328416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>
            <a:hlinkClick action="ppaction://hlinksldjump" r:id="rId8"/>
          </p:cNvPr>
          <p:cNvSpPr/>
          <p:nvPr/>
        </p:nvSpPr>
        <p:spPr>
          <a:xfrm>
            <a:off x="3328416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438144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✈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58768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Tarea final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93008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Tarjeta de embarque (eindmissie)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93008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18</a:t>
            </a:r>
          </a:p>
        </p:txBody>
      </p:sp>
      <p:sp>
        <p:nvSpPr>
          <p:cNvPr id="45" name="Rounded Rectangle 44">
            <a:hlinkClick action="ppaction://hlinksldjump" r:id="rId9"/>
          </p:cNvPr>
          <p:cNvSpPr/>
          <p:nvPr/>
        </p:nvSpPr>
        <p:spPr>
          <a:xfrm>
            <a:off x="6199632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B7860B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>
            <a:hlinkClick action="ppaction://hlinksldjump" r:id="rId9"/>
          </p:cNvPr>
          <p:cNvSpPr/>
          <p:nvPr/>
        </p:nvSpPr>
        <p:spPr>
          <a:xfrm>
            <a:off x="6199632" y="3840480"/>
            <a:ext cx="2743200" cy="457200"/>
          </a:xfrm>
          <a:prstGeom prst="rect">
            <a:avLst/>
          </a:prstGeom>
          <a:solidFill>
            <a:srgbClr val="B7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309360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B7860B"/>
                </a:solidFill>
                <a:latin typeface="Bricolage Grotesque"/>
              </a:rPr>
              <a:t>?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9984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Quiz «La mezcla»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64224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gemengde ophaal — mét oplossing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64224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19</a:t>
            </a:r>
          </a:p>
        </p:txBody>
      </p:sp>
      <p:sp>
        <p:nvSpPr>
          <p:cNvPr id="51" name="Rounded Rectangle 50">
            <a:hlinkClick action="ppaction://hlinksldjump" r:id="rId10"/>
          </p:cNvPr>
          <p:cNvSpPr/>
          <p:nvPr/>
        </p:nvSpPr>
        <p:spPr>
          <a:xfrm>
            <a:off x="9070848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>
            <a:hlinkClick action="ppaction://hlinksldjump" r:id="rId10"/>
          </p:cNvPr>
          <p:cNvSpPr/>
          <p:nvPr/>
        </p:nvSpPr>
        <p:spPr>
          <a:xfrm>
            <a:off x="9070848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180576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◎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0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Repaso + semáforo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lo esencial · zelfevaluatie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235440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20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LA RUTA · PERSONAJES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gente de la ruta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Je koppelt de reis aan mensen, niet aan een landenlijst. Tú = de reiziger (jij).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417320"/>
            <a:ext cx="2212848" cy="3931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2860">
            <a:solidFill>
              <a:srgbClr val="E07A5F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2212848" cy="128016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1737360"/>
            <a:ext cx="1371600" cy="1371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3200400"/>
            <a:ext cx="2212848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0242E"/>
                </a:solidFill>
                <a:latin typeface="Bricolage Grotesque"/>
              </a:rPr>
              <a:t>Lucía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566160"/>
            <a:ext cx="2212848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E07A5F"/>
                </a:solidFill>
                <a:latin typeface="Inter"/>
              </a:rPr>
              <a:t>Sevilla 🇪🇸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931920"/>
            <a:ext cx="1938528" cy="822960"/>
          </a:xfrm>
          <a:prstGeom prst="roundRect">
            <a:avLst>
              <a:gd name="adj" fmla="val 1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100" i="1" b="1">
                <a:solidFill>
                  <a:srgbClr val="157355"/>
                </a:solidFill>
                <a:latin typeface="Inter"/>
              </a:rPr>
              <a:t>«¡Hola! Yo soy Lucía, de Sevilla.»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4846320"/>
            <a:ext cx="199339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gastvrouw España · familie (U2)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88920" y="1417320"/>
            <a:ext cx="2212848" cy="3931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2860">
            <a:solidFill>
              <a:srgbClr val="5B8DEF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88920" y="1417320"/>
            <a:ext cx="2212848" cy="128016"/>
          </a:xfrm>
          <a:prstGeom prst="rect">
            <a:avLst/>
          </a:prstGeom>
          <a:solidFill>
            <a:srgbClr val="5B8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ie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9544" y="1737360"/>
            <a:ext cx="1371600" cy="13716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788920" y="3200400"/>
            <a:ext cx="2212848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0242E"/>
                </a:solidFill>
                <a:latin typeface="Bricolage Grotesque"/>
              </a:rPr>
              <a:t>Diego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88920" y="3566160"/>
            <a:ext cx="2212848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8DEF"/>
                </a:solidFill>
                <a:latin typeface="Inter"/>
              </a:rPr>
              <a:t>CDMX 🇲🇽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926080" y="3931920"/>
            <a:ext cx="1938528" cy="822960"/>
          </a:xfrm>
          <a:prstGeom prst="roundRect">
            <a:avLst>
              <a:gd name="adj" fmla="val 1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100" i="1" b="1">
                <a:solidFill>
                  <a:srgbClr val="157355"/>
                </a:solidFill>
                <a:latin typeface="Inter"/>
              </a:rPr>
              <a:t>«¡Qué onda! Soy Diego, de México.»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98648" y="4846320"/>
            <a:ext cx="199339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eten &amp; markt (U5–U6)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20640" y="1417320"/>
            <a:ext cx="2212848" cy="3931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2860">
            <a:solidFill>
              <a:srgbClr val="2FA8A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20640" y="1417320"/>
            <a:ext cx="2212848" cy="128016"/>
          </a:xfrm>
          <a:prstGeom prst="rect">
            <a:avLst/>
          </a:prstGeom>
          <a:solidFill>
            <a:srgbClr val="2FA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val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41264" y="1737360"/>
            <a:ext cx="1371600" cy="13716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120640" y="3200400"/>
            <a:ext cx="2212848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0242E"/>
                </a:solidFill>
                <a:latin typeface="Bricolage Grotesque"/>
              </a:rPr>
              <a:t>Valen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0" y="3566160"/>
            <a:ext cx="2212848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FA8A0"/>
                </a:solidFill>
                <a:latin typeface="Inter"/>
              </a:rPr>
              <a:t>Cartagena 🇨🇴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257800" y="3931920"/>
            <a:ext cx="1938528" cy="822960"/>
          </a:xfrm>
          <a:prstGeom prst="roundRect">
            <a:avLst>
              <a:gd name="adj" fmla="val 1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100" i="1" b="1">
                <a:solidFill>
                  <a:srgbClr val="157355"/>
                </a:solidFill>
                <a:latin typeface="Inter"/>
              </a:rPr>
              <a:t>«¡Hey! Soy Valen, de Colombia.»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30368" y="4846320"/>
            <a:ext cx="199339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wonen &amp; barrio (U7)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452360" y="1417320"/>
            <a:ext cx="2212848" cy="3931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2860">
            <a:solidFill>
              <a:srgbClr val="D69A2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52360" y="1417320"/>
            <a:ext cx="2212848" cy="128016"/>
          </a:xfrm>
          <a:prstGeom prst="rect">
            <a:avLst/>
          </a:prstGeom>
          <a:solidFill>
            <a:srgbClr val="D69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n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72984" y="1737360"/>
            <a:ext cx="1371600" cy="13716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452360" y="3200400"/>
            <a:ext cx="2212848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0242E"/>
                </a:solidFill>
                <a:latin typeface="Bricolage Grotesque"/>
              </a:rPr>
              <a:t>Nina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52360" y="3566160"/>
            <a:ext cx="2212848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9A2E"/>
                </a:solidFill>
                <a:latin typeface="Inter"/>
              </a:rPr>
              <a:t>Cusco 🇵🇪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589520" y="3931920"/>
            <a:ext cx="1938528" cy="822960"/>
          </a:xfrm>
          <a:prstGeom prst="roundRect">
            <a:avLst>
              <a:gd name="adj" fmla="val 1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100" i="1" b="1">
                <a:solidFill>
                  <a:srgbClr val="157355"/>
                </a:solidFill>
                <a:latin typeface="Inter"/>
              </a:rPr>
              <a:t>«¡Buenas! Soy Nina, de Perú.»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62088" y="4846320"/>
            <a:ext cx="199339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reizen &amp; natuur (U8)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784080" y="1417320"/>
            <a:ext cx="2212848" cy="3931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2860">
            <a:solidFill>
              <a:srgbClr val="8A7BE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784080" y="1417320"/>
            <a:ext cx="2212848" cy="128016"/>
          </a:xfrm>
          <a:prstGeom prst="rect">
            <a:avLst/>
          </a:prstGeom>
          <a:solidFill>
            <a:srgbClr val="8A7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04704" y="1737360"/>
            <a:ext cx="1371600" cy="137160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9784080" y="3200400"/>
            <a:ext cx="2212848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0242E"/>
                </a:solidFill>
                <a:latin typeface="Bricolage Grotesque"/>
              </a:rPr>
              <a:t>Tú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84080" y="3566160"/>
            <a:ext cx="2212848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8A7BE0"/>
                </a:solidFill>
                <a:latin typeface="Inter"/>
              </a:rPr>
              <a:t>Flandes 🇧🇪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921240" y="3931920"/>
            <a:ext cx="1938528" cy="822960"/>
          </a:xfrm>
          <a:prstGeom prst="roundRect">
            <a:avLst>
              <a:gd name="adj" fmla="val 1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/>
          <a:lstStyle/>
          <a:p>
            <a:pPr algn="ctr"/>
            <a:r>
              <a:rPr sz="1100" i="1" b="1">
                <a:solidFill>
                  <a:srgbClr val="157355"/>
                </a:solidFill>
                <a:latin typeface="Inter"/>
              </a:rPr>
              <a:t>«Yo soy… — en jij?»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93808" y="4846320"/>
            <a:ext cx="199339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de reiziger = JIJ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5486400"/>
            <a:ext cx="112471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🎒 </a:t>
            </a:r>
            <a:r>
              <a:rPr sz="1250" b="1" i="0">
                <a:solidFill>
                  <a:srgbClr val="157355"/>
                </a:solidFill>
                <a:latin typeface="Bricolage Grotesque"/>
              </a:rPr>
              <a:t>La mochila viajera</a:t>
            </a:r>
            <a:r>
              <a:rPr sz="1200" b="0" i="0">
                <a:solidFill>
                  <a:srgbClr val="20242E"/>
                </a:solidFill>
                <a:latin typeface="Inter"/>
              </a:rPr>
              <a:t>  = reisgezel. Klasritueel: </a:t>
            </a:r>
            <a:r>
              <a:rPr sz="1200" b="1" i="1">
                <a:solidFill>
                  <a:srgbClr val="1E9E74"/>
                </a:solidFill>
                <a:latin typeface="Inter"/>
              </a:rPr>
              <a:t>¿Cómo se llama nuestra mochila?</a:t>
            </a:r>
            <a:r>
              <a:rPr sz="1200" b="0" i="0">
                <a:solidFill>
                  <a:srgbClr val="20242E"/>
                </a:solidFill>
                <a:latin typeface="Inter"/>
              </a:rPr>
              <a:t>  (de klas kiest de naam — meteen een mini-taak).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Teaser C6: </a:t>
            </a:r>
            <a:r>
              <a:rPr sz="1050" b="1" i="1">
                <a:solidFill>
                  <a:srgbClr val="6A6E78"/>
                </a:solidFill>
                <a:latin typeface="Inter"/>
              </a:rPr>
              <a:t>Mateo, de Buenos Aires 🇦🇷</a:t>
            </a:r>
            <a:r>
              <a:rPr sz="1050" b="0" i="1">
                <a:solidFill>
                  <a:srgbClr val="6A6E78"/>
                </a:solidFill>
                <a:latin typeface="Inter"/>
              </a:rPr>
              <a:t> komt er pas in het 6de bij (voseo). Niet productief in C5.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SONAR EN ESPAÑOL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abecedario — las 27 letras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Spaans lees je zoals je het schrijft. Eén keer de klankregels → daarna lees je bijna elk woord correct hardop.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4712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57355"/>
                </a:solidFill>
                <a:latin typeface="Inter"/>
              </a:rPr>
              <a:t>Doel: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de klanken &amp; letters herkennen · je naam kunnen spellen (deletrear).  </a:t>
            </a:r>
            <a:r>
              <a:rPr sz="950" b="0" i="1">
                <a:solidFill>
                  <a:srgbClr val="6A6E78"/>
                </a:solidFill>
                <a:latin typeface="Inter"/>
              </a:rPr>
              <a:t>[LPD · Taalsysteem — klank–schriftbeeld A1]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69164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71907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3055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719072" y="169164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19072" y="171907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19072" y="213055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be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80944" y="169164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80944" y="171907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80944" y="213055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42816" y="169164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42816" y="171907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42816" y="213055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de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504688" y="169164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04688" y="171907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04688" y="213055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766560" y="169164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66560" y="171907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66560" y="213055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efe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28432" y="169164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DECEC"/>
          </a:solidFill>
          <a:ln w="190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28432" y="171907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DC2626"/>
                </a:solidFill>
                <a:latin typeface="Bricolage Grotesque"/>
              </a:rPr>
              <a:t>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28432" y="213055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ge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290304" y="169164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DECEC"/>
          </a:solidFill>
          <a:ln w="190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90304" y="171907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DC2626"/>
                </a:solidFill>
                <a:latin typeface="Bricolage Grotesque"/>
              </a:rPr>
              <a:t>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90304" y="213055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hache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552176" y="169164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552176" y="171907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52176" y="213055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i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251460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DECEC"/>
          </a:solidFill>
          <a:ln w="190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254203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DC2626"/>
                </a:solidFill>
                <a:latin typeface="Bricolage Grotesque"/>
              </a:rPr>
              <a:t>J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295351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jota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719072" y="251460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719072" y="254203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719072" y="295351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ka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980944" y="251460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980944" y="254203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980944" y="295351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ele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242816" y="251460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42816" y="254203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42816" y="295351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eme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504688" y="251460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504688" y="254203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504688" y="295351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ene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766560" y="251460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DECEC"/>
          </a:solidFill>
          <a:ln w="190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766560" y="254203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DC2626"/>
                </a:solidFill>
                <a:latin typeface="Bricolage Grotesque"/>
              </a:rPr>
              <a:t>Ñ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766560" y="295351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eñe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028432" y="251460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028432" y="254203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028432" y="295351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o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290304" y="251460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290304" y="254203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P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290304" y="295351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pe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0552176" y="251460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552176" y="254203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Q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552176" y="295351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cu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57200" y="333756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DECEC"/>
          </a:solidFill>
          <a:ln w="190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57200" y="336499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DC2626"/>
                </a:solidFill>
                <a:latin typeface="Bricolage Grotesque"/>
              </a:rPr>
              <a:t>R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7200" y="377647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erre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719072" y="333756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719072" y="336499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719072" y="377647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ese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980944" y="333756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980944" y="336499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80944" y="377647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te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242816" y="333756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242816" y="336499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U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42816" y="377647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u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504688" y="333756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DECEC"/>
          </a:solidFill>
          <a:ln w="190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504688" y="336499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DC2626"/>
                </a:solidFill>
                <a:latin typeface="Bricolage Grotesque"/>
              </a:rPr>
              <a:t>V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504688" y="377647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uve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766560" y="333756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766560" y="336499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W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766560" y="377647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uve doble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8028432" y="333756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028432" y="336499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X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028432" y="377647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equis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9290304" y="333756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9290304" y="336499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157355"/>
                </a:solidFill>
                <a:latin typeface="Bricolage Grotesque"/>
              </a:rPr>
              <a:t>Y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290304" y="377647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ye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10552176" y="3337560"/>
            <a:ext cx="1216152" cy="749808"/>
          </a:xfrm>
          <a:prstGeom prst="roundRect">
            <a:avLst>
              <a:gd name="adj" fmla="val 5500"/>
            </a:avLst>
          </a:prstGeom>
          <a:solidFill>
            <a:srgbClr val="FDECEC"/>
          </a:solidFill>
          <a:ln w="190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52176" y="3364992"/>
            <a:ext cx="1216152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DC2626"/>
                </a:solidFill>
                <a:latin typeface="Bricolage Grotesque"/>
              </a:rPr>
              <a:t>Z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552176" y="3776472"/>
            <a:ext cx="121615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zeta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457200" y="4617720"/>
            <a:ext cx="292608" cy="292608"/>
          </a:xfrm>
          <a:prstGeom prst="roundRect">
            <a:avLst>
              <a:gd name="adj" fmla="val 20000"/>
            </a:avLst>
          </a:prstGeom>
          <a:solidFill>
            <a:srgbClr val="FDECEC"/>
          </a:solidFill>
          <a:ln w="1778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22960" y="4599432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= klanktrampa (klinkt anders dan in het NL) → dia 5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457200" y="5074920"/>
            <a:ext cx="11274552" cy="8686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Regla ·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27 letras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= 26 van het NL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+ ñ</a:t>
            </a:r>
            <a:r>
              <a:rPr sz="1200" b="0" i="0">
                <a:solidFill>
                  <a:srgbClr val="157355"/>
                </a:solidFill>
                <a:latin typeface="Inter"/>
              </a:rPr>
              <a:t>.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ch / ll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= dígrafos (klankcombinaties), géén aparte letters meer.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De letternaam verraadt soms de klank: </a:t>
            </a:r>
            <a:r>
              <a:rPr sz="1200" b="1" i="1">
                <a:solidFill>
                  <a:srgbClr val="1E9E74"/>
                </a:solidFill>
                <a:latin typeface="Inter"/>
              </a:rPr>
              <a:t>«jota», «ge», «zeta».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¿Welke letter zie je niet in het NL? →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ñ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 ·  ¿Welke hoor je nooit? →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h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594360" y="4946904"/>
            <a:ext cx="2221991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OBSERVAR + REGLA · docent</a:t>
            </a:r>
          </a:p>
        </p:txBody>
      </p:sp>
      <p:sp>
        <p:nvSpPr>
          <p:cNvPr id="95" name="Rectangle 9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64261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TRAMPAS PARA NEERLANDESES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Los sonidos que cambian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Een handvol letters doet iets anders dan je gewend bent. Vorm + label + icoon dragen de info (geen kleur alleen).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280160"/>
            <a:ext cx="3776472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280160"/>
            <a:ext cx="109728" cy="1572768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335024"/>
            <a:ext cx="3502152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La jota /x/</a:t>
            </a:r>
            <a:r>
              <a:rPr sz="1150" b="1" i="0">
                <a:solidFill>
                  <a:srgbClr val="1E9E74"/>
                </a:solidFill>
                <a:latin typeface="Inter"/>
              </a:rPr>
              <a:t>   j · ge · gi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91640"/>
            <a:ext cx="350215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hard, achter in de keel — als «ch» in lachen, acht, Bach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148840"/>
            <a:ext cx="3502152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6A6E78"/>
                </a:solidFill>
                <a:latin typeface="Inter"/>
              </a:rPr>
              <a:t>Ej.: </a:t>
            </a:r>
            <a:r>
              <a:rPr sz="1050" b="0" i="1">
                <a:solidFill>
                  <a:srgbClr val="20242E"/>
                </a:solidFill>
                <a:latin typeface="Inter"/>
              </a:rPr>
              <a:t>Juan · jamón · gente · Gijón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441448"/>
            <a:ext cx="3502152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DC2626"/>
                </a:solidFill>
                <a:latin typeface="Inter"/>
              </a:rPr>
              <a:t>🔴 niet de NL-j! Juan = «Choean»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24528" y="1280160"/>
            <a:ext cx="3776472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24528" y="1280160"/>
            <a:ext cx="109728" cy="1572768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07408" y="1335024"/>
            <a:ext cx="3502152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ll / y /ʝ/</a:t>
            </a:r>
            <a:r>
              <a:rPr sz="1150" b="1" i="0">
                <a:solidFill>
                  <a:srgbClr val="1E9E74"/>
                </a:solidFill>
                <a:latin typeface="Inter"/>
              </a:rPr>
              <a:t>   ll · 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7408" y="1691640"/>
            <a:ext cx="350215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als «j» in ja, jong (yeísmo)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07408" y="2148840"/>
            <a:ext cx="3502152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6A6E78"/>
                </a:solidFill>
                <a:latin typeface="Inter"/>
              </a:rPr>
              <a:t>Ej.: </a:t>
            </a:r>
            <a:r>
              <a:rPr sz="1050" b="0" i="1">
                <a:solidFill>
                  <a:srgbClr val="20242E"/>
                </a:solidFill>
                <a:latin typeface="Inter"/>
              </a:rPr>
              <a:t>calle · paella · yo · playa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07408" y="2441448"/>
            <a:ext cx="3502152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DC2626"/>
                </a:solidFill>
                <a:latin typeface="Inter"/>
              </a:rPr>
              <a:t>🔴 paella = «pa-e-JA», geen l-l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3296" y="1280160"/>
            <a:ext cx="3776472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83296" y="1280160"/>
            <a:ext cx="109728" cy="1572768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66176" y="1335024"/>
            <a:ext cx="3502152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ñ /ɲ/</a:t>
            </a:r>
            <a:r>
              <a:rPr sz="1150" b="1" i="0">
                <a:solidFill>
                  <a:srgbClr val="1E9E74"/>
                </a:solidFill>
                <a:latin typeface="Inter"/>
              </a:rPr>
              <a:t>   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66176" y="1691640"/>
            <a:ext cx="350215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als «nj» in oranje, Anja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66176" y="2148840"/>
            <a:ext cx="3502152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6A6E78"/>
                </a:solidFill>
                <a:latin typeface="Inter"/>
              </a:rPr>
              <a:t>Ej.: </a:t>
            </a:r>
            <a:r>
              <a:rPr sz="1050" b="0" i="1">
                <a:solidFill>
                  <a:srgbClr val="20242E"/>
                </a:solidFill>
                <a:latin typeface="Inter"/>
              </a:rPr>
              <a:t>España · niño · año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66176" y="2441448"/>
            <a:ext cx="3502152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DC2626"/>
                </a:solidFill>
                <a:latin typeface="Inter"/>
              </a:rPr>
              <a:t>🔴 año ≠ ano — het streepje telt!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5760" y="2962656"/>
            <a:ext cx="3776472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5760" y="2962656"/>
            <a:ext cx="109728" cy="1572768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3017520"/>
            <a:ext cx="3502152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b = v /b/</a:t>
            </a:r>
            <a:r>
              <a:rPr sz="1150" b="1" i="0">
                <a:solidFill>
                  <a:srgbClr val="1E9E74"/>
                </a:solidFill>
                <a:latin typeface="Inter"/>
              </a:rPr>
              <a:t>   b · v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3374136"/>
            <a:ext cx="350215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b én v klinken exact gelijk (/b/)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3831336"/>
            <a:ext cx="3502152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6A6E78"/>
                </a:solidFill>
                <a:latin typeface="Inter"/>
              </a:rPr>
              <a:t>Ej.: </a:t>
            </a:r>
            <a:r>
              <a:rPr sz="1050" b="0" i="1">
                <a:solidFill>
                  <a:srgbClr val="20242E"/>
                </a:solidFill>
                <a:latin typeface="Inter"/>
              </a:rPr>
              <a:t>Bélgica · vino · Sevilla · vivir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4123944"/>
            <a:ext cx="3502152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DC2626"/>
                </a:solidFill>
                <a:latin typeface="Inter"/>
              </a:rPr>
              <a:t>🔴 vivir = «bi-bir»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24528" y="2962656"/>
            <a:ext cx="3776472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224528" y="2962656"/>
            <a:ext cx="109728" cy="1572768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07408" y="3017520"/>
            <a:ext cx="3502152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h muda</a:t>
            </a:r>
            <a:r>
              <a:rPr sz="1150" b="1" i="0">
                <a:solidFill>
                  <a:srgbClr val="1E9E74"/>
                </a:solidFill>
                <a:latin typeface="Inter"/>
              </a:rPr>
              <a:t>   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07408" y="3374136"/>
            <a:ext cx="350215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de h zwijgt altijd — doe alsof ze er niet staat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07408" y="3831336"/>
            <a:ext cx="3502152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6A6E78"/>
                </a:solidFill>
                <a:latin typeface="Inter"/>
              </a:rPr>
              <a:t>Ej.: </a:t>
            </a:r>
            <a:r>
              <a:rPr sz="1050" b="0" i="1">
                <a:solidFill>
                  <a:srgbClr val="20242E"/>
                </a:solidFill>
                <a:latin typeface="Inter"/>
              </a:rPr>
              <a:t>hola · hora · ahora · hay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07408" y="4123944"/>
            <a:ext cx="3502152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DC2626"/>
                </a:solidFill>
                <a:latin typeface="Inter"/>
              </a:rPr>
              <a:t>🔴 hola = «ola» (ch = wél eigen klank)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83296" y="2962656"/>
            <a:ext cx="3776472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83296" y="2962656"/>
            <a:ext cx="109728" cy="1572768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66176" y="3017520"/>
            <a:ext cx="3502152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qu / z /k/ /θ/</a:t>
            </a:r>
            <a:r>
              <a:rPr sz="1150" b="1" i="0">
                <a:solidFill>
                  <a:srgbClr val="1E9E74"/>
                </a:solidFill>
                <a:latin typeface="Inter"/>
              </a:rPr>
              <a:t>   qu · z · ce · ci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66176" y="3374136"/>
            <a:ext cx="350215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qu = «k» (u zwijgt) · z/ce/ci = «th» (España)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66176" y="3831336"/>
            <a:ext cx="3502152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6A6E78"/>
                </a:solidFill>
                <a:latin typeface="Inter"/>
              </a:rPr>
              <a:t>Ej.: </a:t>
            </a:r>
            <a:r>
              <a:rPr sz="1050" b="0" i="1">
                <a:solidFill>
                  <a:srgbClr val="20242E"/>
                </a:solidFill>
                <a:latin typeface="Inter"/>
              </a:rPr>
              <a:t>queso · aquí · zapato · gracias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66176" y="4123944"/>
            <a:ext cx="3502152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DC2626"/>
                </a:solidFill>
                <a:latin typeface="Inter"/>
              </a:rPr>
              <a:t>🔴 aquí = «a-kie», gracias met «th»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474366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QUIZ · ESCUCHA Y DECIDE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oyes? — klankdiscriminatie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Je hoort één woord; kruis aan wat je hoort. Daarna spreek je beide vormen zelf in. (idee 38: uitspraakcontrast)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A · ¿B o V? ¿H o sin H?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91640"/>
            <a:ext cx="54864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691640"/>
            <a:ext cx="3657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9E74"/>
                </a:solidFill>
                <a:latin typeface="Inter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1691640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vaca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1691640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baca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31720" y="1810512"/>
            <a:ext cx="329184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350008"/>
            <a:ext cx="54864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350008"/>
            <a:ext cx="3657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9E74"/>
                </a:solidFill>
                <a:latin typeface="Inter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2350008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gente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2350008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tente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331720" y="2468880"/>
            <a:ext cx="329184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008376"/>
            <a:ext cx="54864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008376"/>
            <a:ext cx="3657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9E74"/>
                </a:solidFill>
                <a:latin typeface="Inter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3008376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casa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80" y="3008376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caza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331720" y="3127248"/>
            <a:ext cx="329184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3666744"/>
            <a:ext cx="54864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3666744"/>
            <a:ext cx="3657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9E74"/>
                </a:solidFill>
                <a:latin typeface="Inter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3666744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hola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83280" y="3666744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ola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331720" y="3785616"/>
            <a:ext cx="329184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132588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B · ¿</a:t>
            </a:r>
            <a:r>
              <a:rPr sz="1400" b="1" i="0">
                <a:solidFill>
                  <a:srgbClr val="157355"/>
                </a:solidFill>
                <a:latin typeface="Bricolage Grotesque"/>
              </a:rPr>
              <a:t>pero</a:t>
            </a:r>
            <a:r>
              <a:rPr sz="1400" b="1" i="0">
                <a:solidFill>
                  <a:srgbClr val="157355"/>
                </a:solidFill>
                <a:latin typeface="Bricolage Grotesque"/>
              </a:rPr>
              <a:t> o </a:t>
            </a:r>
            <a:r>
              <a:rPr sz="1400" b="1" i="0">
                <a:solidFill>
                  <a:srgbClr val="157355"/>
                </a:solidFill>
                <a:latin typeface="Bricolage Grotesque"/>
              </a:rPr>
              <a:t>perro</a:t>
            </a:r>
            <a:r>
              <a:rPr sz="1400" b="1" i="0">
                <a:solidFill>
                  <a:srgbClr val="157355"/>
                </a:solidFill>
                <a:latin typeface="Bricolage Grotesque"/>
              </a:rPr>
              <a:t>? — één tik ↔ rol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09360" y="1691640"/>
            <a:ext cx="539496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19088" y="1691640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pero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55279" y="1691640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perro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0" y="1691640"/>
            <a:ext cx="20116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maar / hond 🐶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09360" y="2350008"/>
            <a:ext cx="539496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19088" y="2350008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caro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55279" y="2350008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carro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0" y="2350008"/>
            <a:ext cx="20116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duur / kar 🚗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309360" y="3008376"/>
            <a:ext cx="539496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19088" y="3008376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coro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55279" y="3008376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corro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0" y="3008376"/>
            <a:ext cx="20116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koor / ik ren 🏃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309360" y="3666744"/>
            <a:ext cx="539496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19088" y="3666744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pera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55279" y="3666744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perra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01200" y="3666744"/>
            <a:ext cx="20116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peer / teef 🍐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8" name="Rounded Rectangle 47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57200" y="4434840"/>
            <a:ext cx="11247120" cy="9601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 · «geen fout, dat is Spaans!» 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vaca=baca en hola=ola klinken IDENTIEK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(b=v, h muda).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gente≠tente (jota-klank), casa≠caza (s ↔ th).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B · r/rr: 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één tik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tussen klinkers (pero) ↔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rol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bij rr, woordbegin en na n/l/s (perro, Roma, Enrique). Betekenis verandert!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94360" y="4306824"/>
            <a:ext cx="2306116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+ uitleg · docent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TALLER DE LENGUA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acento — «la regla del sombrero»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Welke lettergreep zeg je harder (sílaba tónica)? En wanneer schrijf je een hoedje (´)?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4712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① Observeren — luister &amp; klap 👏.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Elk woord heeft één 'sterke' lettergreep. Klap ze aan.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737360"/>
            <a:ext cx="1371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café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28800" y="1865376"/>
            <a:ext cx="758952" cy="310896"/>
          </a:xfrm>
          <a:prstGeom prst="roundRect">
            <a:avLst>
              <a:gd name="adj" fmla="val 25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 b="0">
                <a:solidFill>
                  <a:srgbClr val="157355"/>
                </a:solidFill>
                <a:latin typeface="Inter"/>
              </a:rPr>
              <a:t>ca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42616" y="1792224"/>
            <a:ext cx="758952" cy="457200"/>
          </a:xfrm>
          <a:prstGeom prst="roundRect">
            <a:avLst>
              <a:gd name="adj" fmla="val 25000"/>
            </a:avLst>
          </a:prstGeom>
          <a:solidFill>
            <a:srgbClr val="1E9E74"/>
          </a:solidFill>
          <a:ln w="15240">
            <a:solidFill>
              <a:srgbClr val="15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FÉ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42616" y="1627632"/>
            <a:ext cx="758952" cy="228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1737360"/>
            <a:ext cx="15544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(laatste)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1737360"/>
            <a:ext cx="1371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casa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43800" y="1792224"/>
            <a:ext cx="758952" cy="457200"/>
          </a:xfrm>
          <a:prstGeom prst="roundRect">
            <a:avLst>
              <a:gd name="adj" fmla="val 25000"/>
            </a:avLst>
          </a:prstGeom>
          <a:solidFill>
            <a:srgbClr val="1E9E74"/>
          </a:solidFill>
          <a:ln w="15240">
            <a:solidFill>
              <a:srgbClr val="15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43800" y="1627632"/>
            <a:ext cx="758952" cy="228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57616" y="1865376"/>
            <a:ext cx="758952" cy="310896"/>
          </a:xfrm>
          <a:prstGeom prst="roundRect">
            <a:avLst>
              <a:gd name="adj" fmla="val 25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 b="0">
                <a:solidFill>
                  <a:srgbClr val="157355"/>
                </a:solidFill>
                <a:latin typeface="Inter"/>
              </a:rPr>
              <a:t>sa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5560" y="1737360"/>
            <a:ext cx="15544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(voorlaatste)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395728"/>
            <a:ext cx="1371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México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828800" y="2450592"/>
            <a:ext cx="758952" cy="457200"/>
          </a:xfrm>
          <a:prstGeom prst="roundRect">
            <a:avLst>
              <a:gd name="adj" fmla="val 25000"/>
            </a:avLst>
          </a:prstGeom>
          <a:solidFill>
            <a:srgbClr val="1E9E74"/>
          </a:solidFill>
          <a:ln w="15240">
            <a:solidFill>
              <a:srgbClr val="15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MÉ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2286000"/>
            <a:ext cx="758952" cy="228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🎩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42616" y="2523744"/>
            <a:ext cx="758952" cy="310896"/>
          </a:xfrm>
          <a:prstGeom prst="roundRect">
            <a:avLst>
              <a:gd name="adj" fmla="val 25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 b="0">
                <a:solidFill>
                  <a:srgbClr val="157355"/>
                </a:solidFill>
                <a:latin typeface="Inter"/>
              </a:rPr>
              <a:t>xi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56432" y="2523744"/>
            <a:ext cx="758952" cy="310896"/>
          </a:xfrm>
          <a:prstGeom prst="roundRect">
            <a:avLst>
              <a:gd name="adj" fmla="val 25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 b="0">
                <a:solidFill>
                  <a:srgbClr val="157355"/>
                </a:solidFill>
                <a:latin typeface="Inter"/>
              </a:rPr>
              <a:t>co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2395728"/>
            <a:ext cx="15544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(3e van achteren)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72200" y="2395728"/>
            <a:ext cx="1371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teléfono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543800" y="2523744"/>
            <a:ext cx="758952" cy="310896"/>
          </a:xfrm>
          <a:prstGeom prst="roundRect">
            <a:avLst>
              <a:gd name="adj" fmla="val 25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 b="0">
                <a:solidFill>
                  <a:srgbClr val="157355"/>
                </a:solidFill>
                <a:latin typeface="Inter"/>
              </a:rPr>
              <a:t>te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357616" y="2450592"/>
            <a:ext cx="758952" cy="457200"/>
          </a:xfrm>
          <a:prstGeom prst="roundRect">
            <a:avLst>
              <a:gd name="adj" fmla="val 25000"/>
            </a:avLst>
          </a:prstGeom>
          <a:solidFill>
            <a:srgbClr val="1E9E74"/>
          </a:solidFill>
          <a:ln w="15240">
            <a:solidFill>
              <a:srgbClr val="15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LÉ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57616" y="2286000"/>
            <a:ext cx="758952" cy="228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🎩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71432" y="2523744"/>
            <a:ext cx="758952" cy="310896"/>
          </a:xfrm>
          <a:prstGeom prst="roundRect">
            <a:avLst>
              <a:gd name="adj" fmla="val 25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 b="0">
                <a:solidFill>
                  <a:srgbClr val="157355"/>
                </a:solidFill>
                <a:latin typeface="Inter"/>
              </a:rPr>
              <a:t>fo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985248" y="2523744"/>
            <a:ext cx="758952" cy="310896"/>
          </a:xfrm>
          <a:prstGeom prst="roundRect">
            <a:avLst>
              <a:gd name="adj" fmla="val 25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 b="0">
                <a:solidFill>
                  <a:srgbClr val="157355"/>
                </a:solidFill>
                <a:latin typeface="Inter"/>
              </a:rPr>
              <a:t>no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5560" y="2395728"/>
            <a:ext cx="15544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(3e van achteren)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3054096"/>
            <a:ext cx="1371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Perú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828800" y="3182112"/>
            <a:ext cx="758952" cy="310896"/>
          </a:xfrm>
          <a:prstGeom prst="roundRect">
            <a:avLst>
              <a:gd name="adj" fmla="val 25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 b="0">
                <a:solidFill>
                  <a:srgbClr val="157355"/>
                </a:solidFill>
                <a:latin typeface="Inter"/>
              </a:rPr>
              <a:t>pe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642616" y="3108960"/>
            <a:ext cx="758952" cy="457200"/>
          </a:xfrm>
          <a:prstGeom prst="roundRect">
            <a:avLst>
              <a:gd name="adj" fmla="val 25000"/>
            </a:avLst>
          </a:prstGeom>
          <a:solidFill>
            <a:srgbClr val="1E9E74"/>
          </a:solidFill>
          <a:ln w="15240">
            <a:solidFill>
              <a:srgbClr val="15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RÚ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642616" y="2944368"/>
            <a:ext cx="758952" cy="228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🎩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80560" y="3054096"/>
            <a:ext cx="15544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(laatste)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72200" y="3054096"/>
            <a:ext cx="1371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número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543800" y="3108960"/>
            <a:ext cx="758952" cy="457200"/>
          </a:xfrm>
          <a:prstGeom prst="roundRect">
            <a:avLst>
              <a:gd name="adj" fmla="val 25000"/>
            </a:avLst>
          </a:prstGeom>
          <a:solidFill>
            <a:srgbClr val="1E9E74"/>
          </a:solidFill>
          <a:ln w="15240">
            <a:solidFill>
              <a:srgbClr val="15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NÚ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43800" y="2944368"/>
            <a:ext cx="758952" cy="228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🎩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357616" y="3182112"/>
            <a:ext cx="758952" cy="310896"/>
          </a:xfrm>
          <a:prstGeom prst="roundRect">
            <a:avLst>
              <a:gd name="adj" fmla="val 25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 b="0">
                <a:solidFill>
                  <a:srgbClr val="157355"/>
                </a:solidFill>
                <a:latin typeface="Inter"/>
              </a:rPr>
              <a:t>me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171432" y="3182112"/>
            <a:ext cx="758952" cy="310896"/>
          </a:xfrm>
          <a:prstGeom prst="roundRect">
            <a:avLst>
              <a:gd name="adj" fmla="val 25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 b="0">
                <a:solidFill>
                  <a:srgbClr val="157355"/>
                </a:solidFill>
                <a:latin typeface="Inter"/>
              </a:rPr>
              <a:t>ro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054096"/>
            <a:ext cx="15544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(3e van achteren)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57200" y="4160520"/>
            <a:ext cx="11247120" cy="12344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Regla 1 ·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Elk woord heeft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één sílaba tónica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— die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hoor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je altijd; het streepje (´)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schrijf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je maar soms.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Kernvalstrik: </a:t>
            </a:r>
            <a:r>
              <a:rPr sz="1200" b="1" i="0">
                <a:solidFill>
                  <a:srgbClr val="DC2626"/>
                </a:solidFill>
                <a:latin typeface="Inter"/>
              </a:rPr>
              <a:t>klemtoon ≠ tilde</a:t>
            </a:r>
            <a:r>
              <a:rPr sz="1200" b="0" i="0">
                <a:solidFill>
                  <a:srgbClr val="157355"/>
                </a:solidFill>
                <a:latin typeface="Inter"/>
              </a:rPr>
              <a:t>.  Bij casa hoor je de klap op 'ca', maar er staat géén hoedje.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NL-valstrik: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leg je Nederlandse klemtoon af — «pe-RÚ» (niet PE-ru), «es-pa-ÑOL» (niet ES-panjol).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94360" y="4032504"/>
            <a:ext cx="2221991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OBSERVAR → REGLA · docent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06116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LA REGLA DEL SOMBRERO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Tres familias · ¿cuándo la tilde?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Drie families naar de plaats van de klap — en dé regel voor het hoedje: de magische eindletters -n, -s, klinker.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3657600" cy="1600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E07A5F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3657600" cy="420624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298448"/>
            <a:ext cx="365760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Bricolage Grotesque"/>
              </a:rPr>
              <a:t>agudas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773936"/>
            <a:ext cx="33832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klap op de </a:t>
            </a:r>
            <a:r>
              <a:rPr sz="1100" b="1" i="0">
                <a:solidFill>
                  <a:srgbClr val="E07A5F"/>
                </a:solidFill>
                <a:latin typeface="Inter"/>
              </a:rPr>
              <a:t>laatste lettergreep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148840"/>
            <a:ext cx="338328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20242E"/>
                </a:solidFill>
                <a:latin typeface="Inter"/>
              </a:rPr>
              <a:t>ca-fé · Pe-rú · es-pa-ñol · Ma-drid · ja-món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61104" y="1280160"/>
            <a:ext cx="3657600" cy="1600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61104" y="1280160"/>
            <a:ext cx="3657600" cy="420624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61104" y="1298448"/>
            <a:ext cx="365760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Bricolage Grotesque"/>
              </a:rPr>
              <a:t>llanas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98264" y="1773936"/>
            <a:ext cx="33832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klap op de </a:t>
            </a:r>
            <a:r>
              <a:rPr sz="1100" b="1" i="0">
                <a:solidFill>
                  <a:srgbClr val="1E9E74"/>
                </a:solidFill>
                <a:latin typeface="Inter"/>
              </a:rPr>
              <a:t>voorlaatste (de gewoonste!)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98264" y="2148840"/>
            <a:ext cx="338328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20242E"/>
                </a:solidFill>
                <a:latin typeface="Inter"/>
              </a:rPr>
              <a:t>ca-sa · lu-nes · a-mi-go · ár-bol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65008" y="1280160"/>
            <a:ext cx="3657600" cy="1600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8A7BE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65008" y="1280160"/>
            <a:ext cx="3657600" cy="420624"/>
          </a:xfrm>
          <a:prstGeom prst="rect">
            <a:avLst/>
          </a:prstGeom>
          <a:solidFill>
            <a:srgbClr val="8A7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65008" y="1298448"/>
            <a:ext cx="365760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Bricolage Grotesque"/>
              </a:rPr>
              <a:t>esdrújulas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02168" y="1773936"/>
            <a:ext cx="33832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klap op de </a:t>
            </a:r>
            <a:r>
              <a:rPr sz="1100" b="1" i="0">
                <a:solidFill>
                  <a:srgbClr val="8A7BE0"/>
                </a:solidFill>
                <a:latin typeface="Inter"/>
              </a:rPr>
              <a:t>derde van achteren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02168" y="2148840"/>
            <a:ext cx="338328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20242E"/>
                </a:solidFill>
                <a:latin typeface="Inter"/>
              </a:rPr>
              <a:t>Mé-xi-co · te-lé-fo-no · mú-si-ca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46120"/>
            <a:ext cx="6766560" cy="23317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1E9E74"/>
                </a:solidFill>
                <a:latin typeface="Inter"/>
              </a:rPr>
              <a:t>REGLA DEL SOMBRERO 🎩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• Esdrújula →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SIEMPRE ´</a:t>
            </a:r>
            <a:r>
              <a:rPr sz="1200" b="0" i="1">
                <a:solidFill>
                  <a:srgbClr val="157355"/>
                </a:solidFill>
                <a:latin typeface="Inter"/>
              </a:rPr>
              <a:t>  (México, teléfono, música)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• Aguda → ´ als ze eindigt op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-n, -s of klinker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1">
                <a:solidFill>
                  <a:srgbClr val="157355"/>
                </a:solidFill>
                <a:latin typeface="Inter"/>
              </a:rPr>
              <a:t>     wél: café, Perú, jamón, adiós  ·  niet: Madrid, español, reloj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• Llana → ´ als ze NÍET zo eindigt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1">
                <a:solidFill>
                  <a:srgbClr val="157355"/>
                </a:solidFill>
                <a:latin typeface="Inter"/>
              </a:rPr>
              <a:t>     wél: árbol, lápiz, Cádiz  ·  niet: casa, lunes, examen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• Monosílabo (1 lettergreep) → géén ´ (sol, pan, tres)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" y="3118104"/>
            <a:ext cx="138074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REGLA · de kern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06640" y="3246120"/>
            <a:ext cx="4315968" cy="233172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 w="17780">
            <a:solidFill>
              <a:srgbClr val="B7860B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9520" y="3337560"/>
            <a:ext cx="40233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B7860B"/>
                </a:solidFill>
                <a:latin typeface="Bricolage Grotesque"/>
              </a:rPr>
              <a:t>🟡 Spiegel-truc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20" y="3749039"/>
            <a:ext cx="40233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Dezelfde 3 eindletters (-n · -s · klinker) doen bij </a:t>
            </a:r>
            <a:r>
              <a:rPr sz="1100" b="1" i="0">
                <a:solidFill>
                  <a:srgbClr val="E07A5F"/>
                </a:solidFill>
                <a:latin typeface="Inter"/>
              </a:rPr>
              <a:t>agudas</a:t>
            </a:r>
            <a:r>
              <a:rPr sz="1100" b="0" i="0">
                <a:solidFill>
                  <a:srgbClr val="20242E"/>
                </a:solidFill>
                <a:latin typeface="Inter"/>
              </a:rPr>
              <a:t> het hoedje verschijnen en bij </a:t>
            </a:r>
            <a:r>
              <a:rPr sz="1100" b="1" i="0">
                <a:solidFill>
                  <a:srgbClr val="1E9E74"/>
                </a:solidFill>
                <a:latin typeface="Inter"/>
              </a:rPr>
              <a:t>llanas</a:t>
            </a:r>
            <a:r>
              <a:rPr sz="1100" b="0" i="0">
                <a:solidFill>
                  <a:srgbClr val="20242E"/>
                </a:solidFill>
                <a:latin typeface="Inter"/>
              </a:rPr>
              <a:t> verdwijnen.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0" y="4663440"/>
            <a:ext cx="4023360" cy="868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57355"/>
                </a:solidFill>
                <a:latin typeface="Inter"/>
              </a:rPr>
              <a:t>Beslisboom: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¿Esdrújula? </a:t>
            </a:r>
            <a:r>
              <a:rPr sz="1100" b="1" i="0">
                <a:solidFill>
                  <a:srgbClr val="1E9E74"/>
                </a:solidFill>
                <a:latin typeface="Inter"/>
              </a:rPr>
              <a:t>→ sí: 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¿No? → ¿termina en -n/-s/vocal?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aguda: sí→´  ·  llana: no→´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9024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QUIZ · COLOCA LA TILDE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¿Lleva sombrero o no?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Zet de tilde ALLEEN waar het moet — en enkel op de tónica-klinker. Beslis eerst, onthul dan.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417320"/>
            <a:ext cx="2651760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490472"/>
            <a:ext cx="26517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0242E"/>
                </a:solidFill>
                <a:latin typeface="Bricolage Grotesque"/>
              </a:rPr>
              <a:t>Peru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26517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6A6E78"/>
                </a:solidFill>
                <a:latin typeface="Inter"/>
              </a:rPr>
              <a:t>☐ con ´    ☐ sin 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0120" y="1993392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Perú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73552" y="1417320"/>
            <a:ext cx="2651760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73552" y="1490472"/>
            <a:ext cx="26517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0242E"/>
                </a:solidFill>
                <a:latin typeface="Bricolage Grotesque"/>
              </a:rPr>
              <a:t>cafe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73552" y="1920240"/>
            <a:ext cx="26517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6A6E78"/>
                </a:solidFill>
                <a:latin typeface="Inter"/>
              </a:rPr>
              <a:t>☐ con ´    ☐ sin 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76472" y="1993392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café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89904" y="1417320"/>
            <a:ext cx="2651760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89904" y="1490472"/>
            <a:ext cx="26517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0242E"/>
                </a:solidFill>
                <a:latin typeface="Bricolage Grotesque"/>
              </a:rPr>
              <a:t>casa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9904" y="1920240"/>
            <a:ext cx="26517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6A6E78"/>
                </a:solidFill>
                <a:latin typeface="Inter"/>
              </a:rPr>
              <a:t>☐ con ´    ☐ sin ´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92824" y="1993392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casa · sin 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06256" y="1417320"/>
            <a:ext cx="2651760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06256" y="1490472"/>
            <a:ext cx="26517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0242E"/>
                </a:solidFill>
                <a:latin typeface="Bricolage Grotesque"/>
              </a:rPr>
              <a:t>arbol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06256" y="1920240"/>
            <a:ext cx="26517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6A6E78"/>
                </a:solidFill>
                <a:latin typeface="Inter"/>
              </a:rPr>
              <a:t>☐ con ´    ☐ sin 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409176" y="1993392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árbol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468880"/>
            <a:ext cx="2651760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2542032"/>
            <a:ext cx="26517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0242E"/>
                </a:solidFill>
                <a:latin typeface="Bricolage Grotesque"/>
              </a:rPr>
              <a:t>Mexico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2971800"/>
            <a:ext cx="26517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6A6E78"/>
                </a:solidFill>
                <a:latin typeface="Inter"/>
              </a:rPr>
              <a:t>☐ con ´    ☐ sin 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0120" y="3044952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México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73552" y="2468880"/>
            <a:ext cx="2651760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73552" y="2542032"/>
            <a:ext cx="26517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0242E"/>
                </a:solidFill>
                <a:latin typeface="Bricolage Grotesque"/>
              </a:rPr>
              <a:t>numero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73552" y="2971800"/>
            <a:ext cx="26517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6A6E78"/>
                </a:solidFill>
                <a:latin typeface="Inter"/>
              </a:rPr>
              <a:t>☐ con ´    ☐ sin ´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776472" y="3044952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número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089904" y="2468880"/>
            <a:ext cx="2651760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89904" y="2542032"/>
            <a:ext cx="26517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0242E"/>
                </a:solidFill>
                <a:latin typeface="Bricolage Grotesque"/>
              </a:rPr>
              <a:t>lunes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89904" y="2971800"/>
            <a:ext cx="26517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6A6E78"/>
                </a:solidFill>
                <a:latin typeface="Inter"/>
              </a:rPr>
              <a:t>☐ con ´    ☐ sin ´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92824" y="3044952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lunes · sin ´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906256" y="2468880"/>
            <a:ext cx="2651760" cy="868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06256" y="2542032"/>
            <a:ext cx="26517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0242E"/>
                </a:solidFill>
                <a:latin typeface="Bricolage Grotesque"/>
              </a:rPr>
              <a:t>adios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06256" y="2971800"/>
            <a:ext cx="26517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6A6E78"/>
                </a:solidFill>
                <a:latin typeface="Inter"/>
              </a:rPr>
              <a:t>☐ con ´    ☐ sin ´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409176" y="3044952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adiós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2" name="Rounded Rectangle 41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57200" y="3977639"/>
            <a:ext cx="11247120" cy="14173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Perú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(aguda -ú) ·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café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(aguda -é) ·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casa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→ GEEN (llana -a) ·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árbol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(llana -l → wél) ·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México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(esdrújula → altijd)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número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(esdrújula) ·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lunes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→ GEEN (llana -s) ·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adiós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(aguda -s → wél)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Ojo — geen hoedjes strooien!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lunes en profesor krijgen er GÉÉN. De grootste A1-fout is te veel tildes zetten.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94360" y="3849623"/>
            <a:ext cx="2306116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+ uitleg · docent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Números 0–100 — en tres capas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Geen kale lijst: drie bouwlagen, elk met één truc. Voor je leeftijd (edad) en je telefoonnummer.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11274552" cy="14173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25880"/>
            <a:ext cx="11274552" cy="384048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44168"/>
            <a:ext cx="11000232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Bricolage Grotesque"/>
              </a:rPr>
              <a:t>Laag 1 · los cimientos (0–15)</a:t>
            </a:r>
            <a:r>
              <a:rPr sz="1050" b="0" i="1">
                <a:solidFill>
                  <a:srgbClr val="E4F4EE"/>
                </a:solidFill>
                <a:latin typeface="Inter"/>
              </a:rPr>
              <a:t>   apart leren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1801368"/>
            <a:ext cx="10945368" cy="868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0 cero · 1 uno · 2 dos · 3 tres · 4 cuatro · 5 cinco · 6 seis · 7 siete · 8 ocho · 9 nueve · 10 diez · 11 once · 12 doce · 13 trece · 14 catorce · 15 quince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880360"/>
            <a:ext cx="11274552" cy="14173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880360"/>
            <a:ext cx="11274552" cy="384048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2898648"/>
            <a:ext cx="11000232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Bricolage Grotesque"/>
              </a:rPr>
              <a:t>Laag 2 · «todo junto» (16–29)</a:t>
            </a:r>
            <a:r>
              <a:rPr sz="1050" b="0" i="1">
                <a:solidFill>
                  <a:srgbClr val="E4F4EE"/>
                </a:solidFill>
                <a:latin typeface="Inter"/>
              </a:rPr>
              <a:t>   één woord, geen «y» · let op 4 hoedjes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3355848"/>
            <a:ext cx="10945368" cy="868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16 dieciséis · 17 diecisiete · 18 dieciocho · 19 diecinueve · 20 veinte · 21 veintiuno · 22 veintidós · 23 veintitrés · 24 veinticuatro · 25 veinticinco · 26 veintiséis · 27 veintisiete · 28 veintiocho · 29 veintinueve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434840"/>
            <a:ext cx="7132320" cy="14173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434840"/>
            <a:ext cx="7132320" cy="384048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453128"/>
            <a:ext cx="68580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Bricolage Grotesque"/>
              </a:rPr>
              <a:t>Laag 3 · las decenas + «y» (30–100)</a:t>
            </a:r>
            <a:r>
              <a:rPr sz="1050" b="0" i="1">
                <a:solidFill>
                  <a:srgbClr val="E4F4EE"/>
                </a:solidFill>
                <a:latin typeface="Inter"/>
              </a:rPr>
              <a:t>   drie stukjes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4892040"/>
            <a:ext cx="685800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30 treinta · 40 cuarenta · 50 cincuenta · 60 sesenta · 70 setenta · 80 ochenta · 90 noventa · 100 cien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0" y="4434840"/>
            <a:ext cx="3959352" cy="141732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 w="17780">
            <a:solidFill>
              <a:srgbClr val="B7860B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36992" y="4526280"/>
            <a:ext cx="36576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B7860B"/>
                </a:solidFill>
                <a:latin typeface="Bricolage Grotesque"/>
              </a:rPr>
              <a:t>⚙ La máquina «y»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36992" y="4892040"/>
            <a:ext cx="365760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563EB"/>
                </a:solidFill>
                <a:latin typeface="Inter"/>
              </a:rPr>
              <a:t>[ decena ] +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y</a:t>
            </a:r>
            <a:r>
              <a:rPr sz="1200" b="1" i="0">
                <a:solidFill>
                  <a:srgbClr val="1E9E74"/>
                </a:solidFill>
                <a:latin typeface="Inter"/>
              </a:rPr>
              <a:t> + [ unidad ]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563EB"/>
                </a:solidFill>
                <a:latin typeface="Inter"/>
              </a:rPr>
              <a:t>treinta </a:t>
            </a:r>
            <a:r>
              <a:rPr sz="1200" b="1" i="0">
                <a:solidFill>
                  <a:srgbClr val="EA7317"/>
                </a:solidFill>
                <a:latin typeface="Inter"/>
              </a:rPr>
              <a:t>y</a:t>
            </a:r>
            <a:r>
              <a:rPr sz="1200" b="0" i="0">
                <a:solidFill>
                  <a:srgbClr val="1E9E74"/>
                </a:solidFill>
                <a:latin typeface="Inter"/>
              </a:rPr>
              <a:t> cinco → </a:t>
            </a:r>
            <a:r>
              <a:rPr sz="1200" b="1" i="0">
                <a:solidFill>
                  <a:srgbClr val="20242E"/>
                </a:solidFill>
                <a:latin typeface="Inter"/>
              </a:rPr>
              <a:t>35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563EB"/>
                </a:solidFill>
                <a:latin typeface="Inter"/>
              </a:rPr>
              <a:t>noventa </a:t>
            </a:r>
            <a:r>
              <a:rPr sz="1200" b="1" i="0">
                <a:solidFill>
                  <a:srgbClr val="EA7317"/>
                </a:solidFill>
                <a:latin typeface="Inter"/>
              </a:rPr>
              <a:t>y</a:t>
            </a:r>
            <a:r>
              <a:rPr sz="1200" b="0" i="0">
                <a:solidFill>
                  <a:srgbClr val="1E9E74"/>
                </a:solidFill>
                <a:latin typeface="Inter"/>
              </a:rPr>
              <a:t> nueve → </a:t>
            </a:r>
            <a:r>
              <a:rPr sz="1200" b="1" i="0">
                <a:solidFill>
                  <a:srgbClr val="20242E"/>
                </a:solidFill>
                <a:latin typeface="Inter"/>
              </a:rPr>
              <a:t>99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¡OJO! + TU EDAD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Valstrikken + «tener … años»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kernvalstrik van U0/U1: leeftijd = tener, niet ser. En de substitutietabel om je edad te zeggen.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25880"/>
            <a:ext cx="5577840" cy="4114800"/>
          </a:xfrm>
          <a:prstGeom prst="roundRect">
            <a:avLst>
              <a:gd name="adj" fmla="val 5500"/>
            </a:avLst>
          </a:prstGeom>
          <a:solidFill>
            <a:srgbClr val="FDECEC"/>
          </a:solidFill>
          <a:ln w="17780">
            <a:solidFill>
              <a:srgbClr val="DC2626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44752"/>
            <a:ext cx="52120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DC2626"/>
                </a:solidFill>
                <a:latin typeface="Bricolage Grotesque"/>
              </a:rPr>
              <a:t>🔴 Trampas para neerlandeses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874519"/>
            <a:ext cx="5257800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• Leeftijd = tener, niet ser.  </a:t>
            </a:r>
            <a:r>
              <a:rPr sz="1050" b="0" i="0">
                <a:solidFill>
                  <a:srgbClr val="157355"/>
                </a:solidFill>
                <a:latin typeface="Inter"/>
              </a:rPr>
              <a:t>Tengo 14 años ✔  ·  ~Soy 14 años~ ✘ (NL «ik ben 14»)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450591"/>
            <a:ext cx="5257800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• «y» alleen bij 30–100.  </a:t>
            </a:r>
            <a:r>
              <a:rPr sz="1050" b="0" i="0">
                <a:solidFill>
                  <a:srgbClr val="157355"/>
                </a:solidFill>
                <a:latin typeface="Inter"/>
              </a:rPr>
              <a:t>dieciséis (1 woord) ↔ treinta y seis (3 woorden)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26663"/>
            <a:ext cx="5257800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• «y» klinkt als /i/.  </a:t>
            </a:r>
            <a:r>
              <a:rPr sz="1050" b="0" i="0">
                <a:solidFill>
                  <a:srgbClr val="157355"/>
                </a:solidFill>
                <a:latin typeface="Inter"/>
              </a:rPr>
              <a:t>cuarenta y cinco = [koe-a-REN-ta i SIN-ko]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02735"/>
            <a:ext cx="5257800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• Hoedjes niet vergeten.  </a:t>
            </a:r>
            <a:r>
              <a:rPr sz="1050" b="0" i="0">
                <a:solidFill>
                  <a:srgbClr val="157355"/>
                </a:solidFill>
                <a:latin typeface="Inter"/>
              </a:rPr>
              <a:t>~veintidos~ → veintidós · ~dieciseis~ → dieciséis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178807"/>
            <a:ext cx="5257800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• 100 = cien.  </a:t>
            </a:r>
            <a:r>
              <a:rPr sz="1050" b="0" i="0">
                <a:solidFill>
                  <a:srgbClr val="157355"/>
                </a:solidFill>
                <a:latin typeface="Inter"/>
              </a:rPr>
              <a:t>cien años, cien euros (niet ciento voor exact 100)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754879"/>
            <a:ext cx="5257800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• Lastige paren.  </a:t>
            </a:r>
            <a:r>
              <a:rPr sz="1050" b="0" i="0">
                <a:solidFill>
                  <a:srgbClr val="157355"/>
                </a:solidFill>
                <a:latin typeface="Inter"/>
              </a:rPr>
              <a:t>seis↔siete · nueve↔nuevo → extra luisteren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137160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Substitutietabel — </a:t>
            </a:r>
            <a:r>
              <a:rPr sz="1300" b="1" i="0">
                <a:solidFill>
                  <a:srgbClr val="EA7317"/>
                </a:solidFill>
                <a:latin typeface="Bricolage Grotesque"/>
              </a:rPr>
              <a:t>tener + número + años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1783080"/>
            <a:ext cx="1737360" cy="3840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0" y="1783080"/>
            <a:ext cx="17373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Inter"/>
              </a:rPr>
              <a:t>Persoon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6720" y="1783080"/>
            <a:ext cx="1371600" cy="384048"/>
          </a:xfrm>
          <a:prstGeom prst="rect">
            <a:avLst/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0" y="1783080"/>
            <a:ext cx="137160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Inter"/>
              </a:rPr>
              <a:t>tener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418320" y="1783080"/>
            <a:ext cx="2286000" cy="3840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0" y="1783080"/>
            <a:ext cx="228600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Inter"/>
              </a:rPr>
              <a:t>número + años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2167128"/>
            <a:ext cx="173736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2167128"/>
            <a:ext cx="173736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563EB"/>
                </a:solidFill>
                <a:latin typeface="Inter"/>
              </a:rPr>
              <a:t>Yo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46720" y="2167128"/>
            <a:ext cx="137160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0" y="2167128"/>
            <a:ext cx="137160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EA7317"/>
                </a:solidFill>
                <a:latin typeface="Inter"/>
              </a:rPr>
              <a:t>tengo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418320" y="2167128"/>
            <a:ext cx="228600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18320" y="2167128"/>
            <a:ext cx="228600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3AED"/>
                </a:solidFill>
                <a:latin typeface="Inter"/>
              </a:rPr>
              <a:t>catorce años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0" y="2569464"/>
            <a:ext cx="173736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09360" y="2569464"/>
            <a:ext cx="173736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563EB"/>
                </a:solidFill>
                <a:latin typeface="Inter"/>
              </a:rPr>
              <a:t>Tú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46720" y="2569464"/>
            <a:ext cx="137160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46720" y="2569464"/>
            <a:ext cx="137160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EA7317"/>
                </a:solidFill>
                <a:latin typeface="Inter"/>
              </a:rPr>
              <a:t>tienes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418320" y="2569464"/>
            <a:ext cx="228600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418320" y="2569464"/>
            <a:ext cx="228600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3AED"/>
                </a:solidFill>
                <a:latin typeface="Inter"/>
              </a:rPr>
              <a:t>quince años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09360" y="2971800"/>
            <a:ext cx="173736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09360" y="2971800"/>
            <a:ext cx="173736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563EB"/>
                </a:solidFill>
                <a:latin typeface="Inter"/>
              </a:rPr>
              <a:t>Lucía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46720" y="2971800"/>
            <a:ext cx="137160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46720" y="2971800"/>
            <a:ext cx="137160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EA7317"/>
                </a:solidFill>
                <a:latin typeface="Inter"/>
              </a:rPr>
              <a:t>tiene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418320" y="2971800"/>
            <a:ext cx="228600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418320" y="2971800"/>
            <a:ext cx="228600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3AED"/>
                </a:solidFill>
                <a:latin typeface="Inter"/>
              </a:rPr>
              <a:t>dieciséis años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09360" y="3374136"/>
            <a:ext cx="173736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09360" y="3374136"/>
            <a:ext cx="173736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563EB"/>
                </a:solidFill>
                <a:latin typeface="Inter"/>
              </a:rPr>
              <a:t>Mi hermano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046720" y="3374136"/>
            <a:ext cx="137160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46720" y="3374136"/>
            <a:ext cx="137160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EA7317"/>
                </a:solidFill>
                <a:latin typeface="Inter"/>
              </a:rPr>
              <a:t>tiene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418320" y="3374136"/>
            <a:ext cx="2286000" cy="402336"/>
          </a:xfrm>
          <a:prstGeom prst="rect">
            <a:avLst/>
          </a:prstGeom>
          <a:solidFill>
            <a:srgbClr val="FFFFFF"/>
          </a:solidFill>
          <a:ln w="1016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418320" y="3374136"/>
            <a:ext cx="228600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7C3AED"/>
                </a:solidFill>
                <a:latin typeface="Inter"/>
              </a:rPr>
              <a:t>veinte años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3913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360920" y="3950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25512" y="3904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013801" y="3950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78393" y="3904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609989" y="3950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774581" y="3904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092792" y="3950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257384" y="3904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688980" y="3950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853572" y="3904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309360" y="4297680"/>
            <a:ext cx="5394960" cy="114300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Vraag-antwoordspiegel:  </a:t>
            </a:r>
            <a:r>
              <a:rPr sz="1200" b="1" i="0">
                <a:solidFill>
                  <a:srgbClr val="7C3AED"/>
                </a:solidFill>
                <a:latin typeface="Inter"/>
              </a:rPr>
              <a:t>¿Cuántos años tienes?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→ </a:t>
            </a:r>
            <a:r>
              <a:rPr sz="1200" b="1" i="0">
                <a:solidFill>
                  <a:srgbClr val="EA7317"/>
                </a:solidFill>
                <a:latin typeface="Inter"/>
              </a:rPr>
              <a:t>Tengo ___ años.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Apocope: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veintiún años, treinta y un años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 (uno → un vóór «años»).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446520" y="4169664"/>
            <a:ext cx="138074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MODELO · docent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89499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PRACTICA · ESCRIBE EN LETRAS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Completa el número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Let op: 16–29 = één woord · 30–100 = drie woorden met «y». Schrijf voluit.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463040"/>
            <a:ext cx="361188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1664208"/>
            <a:ext cx="640080" cy="502920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664208"/>
            <a:ext cx="6400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57355"/>
                </a:solidFill>
                <a:latin typeface="Bricolage Grotesque"/>
              </a:rPr>
              <a:t>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1463040"/>
            <a:ext cx="2651760" cy="9144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0242E"/>
                </a:solidFill>
                <a:latin typeface="Inter"/>
              </a:rPr>
              <a:t>dieci______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25880" y="1965960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 dieciocho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1463040"/>
            <a:ext cx="361188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61688" y="1664208"/>
            <a:ext cx="640080" cy="502920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61688" y="1664208"/>
            <a:ext cx="6400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57355"/>
                </a:solidFill>
                <a:latin typeface="Bricolage Grotesque"/>
              </a:rPr>
              <a:t>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0" y="1463040"/>
            <a:ext cx="2651760" cy="9144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0242E"/>
                </a:solidFill>
                <a:latin typeface="Inter"/>
              </a:rPr>
              <a:t>veinti______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20640" y="1965960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 veinticuatro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1463040"/>
            <a:ext cx="361188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156448" y="1664208"/>
            <a:ext cx="640080" cy="502920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6448" y="1664208"/>
            <a:ext cx="6400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57355"/>
                </a:solidFill>
                <a:latin typeface="Bricolage Grotesque"/>
              </a:rPr>
              <a:t>53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400" y="1463040"/>
            <a:ext cx="2651760" cy="9144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0242E"/>
                </a:solidFill>
                <a:latin typeface="Inter"/>
              </a:rPr>
              <a:t>cincuenta ___ ______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15400" y="1965960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 cincuenta y tres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2578608"/>
            <a:ext cx="361188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66928" y="2779776"/>
            <a:ext cx="640080" cy="502920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2779776"/>
            <a:ext cx="6400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57355"/>
                </a:solidFill>
                <a:latin typeface="Bricolage Grotesque"/>
              </a:rPr>
              <a:t>71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25880" y="2578608"/>
            <a:ext cx="2651760" cy="9144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0242E"/>
                </a:solidFill>
                <a:latin typeface="Inter"/>
              </a:rPr>
              <a:t>______ y ______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325880" y="3081528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 setenta y uno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51960" y="2578608"/>
            <a:ext cx="361188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361688" y="2779776"/>
            <a:ext cx="640080" cy="502920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61688" y="2779776"/>
            <a:ext cx="6400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57355"/>
                </a:solidFill>
                <a:latin typeface="Bricolage Grotesque"/>
              </a:rPr>
              <a:t>96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20640" y="2578608"/>
            <a:ext cx="2651760" cy="9144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0242E"/>
                </a:solidFill>
                <a:latin typeface="Inter"/>
              </a:rPr>
              <a:t>______ y ______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120640" y="3081528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 noventa y seis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46720" y="2578608"/>
            <a:ext cx="361188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156448" y="2779776"/>
            <a:ext cx="640080" cy="502920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56448" y="2779776"/>
            <a:ext cx="6400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157355"/>
                </a:solidFill>
                <a:latin typeface="Bricolage Grotesque"/>
              </a:rPr>
              <a:t>47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15400" y="2578608"/>
            <a:ext cx="2651760" cy="9144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0242E"/>
                </a:solidFill>
                <a:latin typeface="Inter"/>
              </a:rPr>
              <a:t>______ y ______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15400" y="3081528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 cuarenta y siete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0" name="Rounded Rectangle 39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4206240"/>
            <a:ext cx="11247120" cy="11887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18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dieciocho</a:t>
            </a:r>
            <a:r>
              <a:rPr sz="1200" b="1" i="0">
                <a:solidFill>
                  <a:srgbClr val="157355"/>
                </a:solidFill>
                <a:latin typeface="Inter"/>
              </a:rPr>
              <a:t>  ·  24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veinticuatro</a:t>
            </a:r>
            <a:r>
              <a:rPr sz="1200" b="1" i="0">
                <a:solidFill>
                  <a:srgbClr val="157355"/>
                </a:solidFill>
                <a:latin typeface="Inter"/>
              </a:rPr>
              <a:t>  ·  53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cincuenta y tres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71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setenta y uno</a:t>
            </a:r>
            <a:r>
              <a:rPr sz="1200" b="1" i="0">
                <a:solidFill>
                  <a:srgbClr val="157355"/>
                </a:solidFill>
                <a:latin typeface="Inter"/>
              </a:rPr>
              <a:t>  ·  96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noventa y seis</a:t>
            </a:r>
            <a:r>
              <a:rPr sz="1200" b="1" i="0">
                <a:solidFill>
                  <a:srgbClr val="157355"/>
                </a:solidFill>
                <a:latin typeface="Inter"/>
              </a:rPr>
              <a:t>  ·  47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cuarenta y siete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Mini-transfer: </a:t>
            </a:r>
            <a:r>
              <a:rPr sz="1200" b="0" i="1">
                <a:solidFill>
                  <a:srgbClr val="157355"/>
                </a:solidFill>
                <a:latin typeface="Inter"/>
              </a:rPr>
              <a:t>schrijf jouw huisnummer en jouw schoenmaat voluit in letters.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94360" y="40782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SALUDOS · SPEAKING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Saludar y presentarse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Kant-en-klare chunks: je leert ze als één geheel. Ze openen elke kennismaking op de reis.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3657600" cy="4114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9050">
            <a:solidFill>
              <a:srgbClr val="EA7317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25880"/>
            <a:ext cx="3657600" cy="438912"/>
          </a:xfrm>
          <a:prstGeom prst="rect">
            <a:avLst/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44168"/>
            <a:ext cx="338328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🟠 Saludar / despedirse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1874519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¡Hola! · Buenos días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Hallo! · Goedemorgen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441447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Buenas tardes / noches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Goeimiddag / -avond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008375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¿Qué tal? · ¿Cómo estás?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Hoe gaat het?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3575303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(Muy) bien, gracias. ¿Y tú?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(Heel) goed, dank je. En jij?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142231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Adiós · Hasta luego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Dag · Tot straks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4709159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Chao (informal)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Doei (onder vrienden)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51960" y="1325880"/>
            <a:ext cx="3657600" cy="4114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9050">
            <a:solidFill>
              <a:srgbClr val="2563EB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51960" y="1325880"/>
            <a:ext cx="3657600" cy="43891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20" y="1344168"/>
            <a:ext cx="338328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🔵 Presentarse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16552" y="1874519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Me llamo … / Soy …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Ik heet … / Ik ben 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16552" y="2441447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¿Cómo te llamas?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Hoe heet jij?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16552" y="3008375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Encantado / Encantada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Aangenaam (m / v)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6552" y="3575303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Mucho gusto · Igualmente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Aangenaam · Insgelijks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16552" y="4142231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Este es… / Esta es…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Dit is… (m / v)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16552" y="4709159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Soy de Bélgica.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Ik kom uit België.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1325880"/>
            <a:ext cx="3657600" cy="4114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9050">
            <a:solidFill>
              <a:srgbClr val="EAB308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46720" y="1325880"/>
            <a:ext cx="3657600" cy="438912"/>
          </a:xfrm>
          <a:prstGeom prst="rect">
            <a:avLst/>
          </a:prstGeom>
          <a:solidFill>
            <a:srgbClr val="EAB3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83880" y="1344168"/>
            <a:ext cx="3383280" cy="40233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🟡 Lengua de clase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11312" y="1874519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¿Cómo se dice … en español?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Hoe zeg je … in het Spaans?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1312" y="2441447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¿Qué significa …?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Wat betekent …?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1312" y="3008375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No entiendo.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Ik begrijp het niet.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1312" y="3575303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¿Puedes repetir, por favor?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Kun je herhalen, a.u.b.?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1312" y="4142231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Más despacio, por favor.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Trager, a.u.b.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2" y="4709159"/>
            <a:ext cx="3328416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¿Cómo se escribe?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Hoe schrijf je dat?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DIÁLOGO · MODELO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Presentarse en vivo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Een kennismaking van begin tot eind. Route: saludar → presentarse → preguntar → reaccionar → despedirse.</a:t>
            </a:r>
          </a:p>
        </p:txBody>
      </p:sp>
      <p:pic>
        <p:nvPicPr>
          <p:cNvPr id="8" name="Picture 7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566928" cy="56692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1143000" y="1325880"/>
            <a:ext cx="6766560" cy="658368"/>
          </a:xfrm>
          <a:prstGeom prst="roundRect">
            <a:avLst>
              <a:gd name="adj" fmla="val 14000"/>
            </a:avLst>
          </a:prstGeom>
          <a:solidFill>
            <a:srgbClr val="E4F4EE"/>
          </a:solidFill>
          <a:ln w="15240">
            <a:solidFill>
              <a:srgbClr val="E07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/>
          <a:lstStyle/>
          <a:p>
            <a:pPr algn="l"/>
            <a:r>
              <a:rPr sz="1100" b="1">
                <a:solidFill>
                  <a:srgbClr val="E07A5F"/>
                </a:solidFill>
                <a:latin typeface="Inter"/>
              </a:rPr>
              <a:t>Lucía: </a:t>
            </a:r>
            <a:r>
              <a:rPr sz="1300">
                <a:solidFill>
                  <a:srgbClr val="20242E"/>
                </a:solidFill>
                <a:latin typeface="Inter"/>
              </a:rPr>
              <a:t>¡Hola! Buenos días. Me llamo Lucía. ¿Y tú, cómo te llamas?</a:t>
            </a:r>
          </a:p>
        </p:txBody>
      </p:sp>
      <p:pic>
        <p:nvPicPr>
          <p:cNvPr id="10" name="Picture 9" descr="t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0" y="2075688"/>
            <a:ext cx="566928" cy="566928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4754880" y="2075688"/>
            <a:ext cx="6309360" cy="658368"/>
          </a:xfrm>
          <a:prstGeom prst="roundRect">
            <a:avLst>
              <a:gd name="adj" fmla="val 14000"/>
            </a:avLst>
          </a:prstGeom>
          <a:solidFill>
            <a:srgbClr val="EAEEFC"/>
          </a:solidFill>
          <a:ln w="15240">
            <a:solidFill>
              <a:srgbClr val="8A7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/>
          <a:lstStyle/>
          <a:p>
            <a:pPr algn="r"/>
            <a:r>
              <a:rPr sz="1100" b="1">
                <a:solidFill>
                  <a:srgbClr val="8A7BE0"/>
                </a:solidFill>
                <a:latin typeface="Inter"/>
              </a:rPr>
              <a:t>Tú: </a:t>
            </a:r>
            <a:r>
              <a:rPr sz="1300">
                <a:solidFill>
                  <a:srgbClr val="20242E"/>
                </a:solidFill>
                <a:latin typeface="Inter"/>
              </a:rPr>
              <a:t>Hola, buenos días. Soy Tom. Soy de Bélgica.</a:t>
            </a:r>
          </a:p>
        </p:txBody>
      </p:sp>
      <p:pic>
        <p:nvPicPr>
          <p:cNvPr id="12" name="Picture 11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825496"/>
            <a:ext cx="566928" cy="566928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143000" y="2825496"/>
            <a:ext cx="6766560" cy="658368"/>
          </a:xfrm>
          <a:prstGeom prst="roundRect">
            <a:avLst>
              <a:gd name="adj" fmla="val 14000"/>
            </a:avLst>
          </a:prstGeom>
          <a:solidFill>
            <a:srgbClr val="E4F4EE"/>
          </a:solidFill>
          <a:ln w="15240">
            <a:solidFill>
              <a:srgbClr val="E07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/>
          <a:lstStyle/>
          <a:p>
            <a:pPr algn="l"/>
            <a:r>
              <a:rPr sz="1100" b="1">
                <a:solidFill>
                  <a:srgbClr val="E07A5F"/>
                </a:solidFill>
                <a:latin typeface="Inter"/>
              </a:rPr>
              <a:t>Lucía: </a:t>
            </a:r>
            <a:r>
              <a:rPr sz="1300">
                <a:solidFill>
                  <a:srgbClr val="20242E"/>
                </a:solidFill>
                <a:latin typeface="Inter"/>
              </a:rPr>
              <a:t>¡Encantada, Tom!</a:t>
            </a:r>
          </a:p>
        </p:txBody>
      </p:sp>
      <p:pic>
        <p:nvPicPr>
          <p:cNvPr id="14" name="Picture 13" descr="t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0" y="3575304"/>
            <a:ext cx="566928" cy="566928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754880" y="3575304"/>
            <a:ext cx="6309360" cy="658368"/>
          </a:xfrm>
          <a:prstGeom prst="roundRect">
            <a:avLst>
              <a:gd name="adj" fmla="val 14000"/>
            </a:avLst>
          </a:prstGeom>
          <a:solidFill>
            <a:srgbClr val="EAEEFC"/>
          </a:solidFill>
          <a:ln w="15240">
            <a:solidFill>
              <a:srgbClr val="8A7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/>
          <a:lstStyle/>
          <a:p>
            <a:pPr algn="r"/>
            <a:r>
              <a:rPr sz="1100" b="1">
                <a:solidFill>
                  <a:srgbClr val="8A7BE0"/>
                </a:solidFill>
                <a:latin typeface="Inter"/>
              </a:rPr>
              <a:t>Tú: </a:t>
            </a:r>
            <a:r>
              <a:rPr sz="1300">
                <a:solidFill>
                  <a:srgbClr val="20242E"/>
                </a:solidFill>
                <a:latin typeface="Inter"/>
              </a:rPr>
              <a:t>Igualmente. ¿Qué tal?</a:t>
            </a:r>
          </a:p>
        </p:txBody>
      </p:sp>
      <p:pic>
        <p:nvPicPr>
          <p:cNvPr id="16" name="Picture 15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325112"/>
            <a:ext cx="566928" cy="566928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1143000" y="4325112"/>
            <a:ext cx="6766560" cy="658368"/>
          </a:xfrm>
          <a:prstGeom prst="roundRect">
            <a:avLst>
              <a:gd name="adj" fmla="val 14000"/>
            </a:avLst>
          </a:prstGeom>
          <a:solidFill>
            <a:srgbClr val="E4F4EE"/>
          </a:solidFill>
          <a:ln w="15240">
            <a:solidFill>
              <a:srgbClr val="E07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/>
          <a:lstStyle/>
          <a:p>
            <a:pPr algn="l"/>
            <a:r>
              <a:rPr sz="1100" b="1">
                <a:solidFill>
                  <a:srgbClr val="E07A5F"/>
                </a:solidFill>
                <a:latin typeface="Inter"/>
              </a:rPr>
              <a:t>Lucía: </a:t>
            </a:r>
            <a:r>
              <a:rPr sz="1300">
                <a:solidFill>
                  <a:srgbClr val="20242E"/>
                </a:solidFill>
                <a:latin typeface="Inter"/>
              </a:rPr>
              <a:t>Muy bien, gracias. ¡Hasta luego!</a:t>
            </a:r>
          </a:p>
        </p:txBody>
      </p:sp>
      <p:pic>
        <p:nvPicPr>
          <p:cNvPr id="18" name="Picture 17" descr="t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0" y="5074920"/>
            <a:ext cx="566928" cy="566928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754880" y="5074920"/>
            <a:ext cx="6309360" cy="658368"/>
          </a:xfrm>
          <a:prstGeom prst="roundRect">
            <a:avLst>
              <a:gd name="adj" fmla="val 14000"/>
            </a:avLst>
          </a:prstGeom>
          <a:solidFill>
            <a:srgbClr val="EAEEFC"/>
          </a:solidFill>
          <a:ln w="15240">
            <a:solidFill>
              <a:srgbClr val="8A7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/>
          <a:lstStyle/>
          <a:p>
            <a:pPr algn="r"/>
            <a:r>
              <a:rPr sz="1100" b="1">
                <a:solidFill>
                  <a:srgbClr val="8A7BE0"/>
                </a:solidFill>
                <a:latin typeface="Inter"/>
              </a:rPr>
              <a:t>Tú: </a:t>
            </a:r>
            <a:r>
              <a:rPr sz="1300">
                <a:solidFill>
                  <a:srgbClr val="20242E"/>
                </a:solidFill>
                <a:latin typeface="Inter"/>
              </a:rPr>
              <a:t>¡Adiós!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553212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Opmerken (betekenis vóór vorm):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Lucía reageert op «Soy Tom» met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«¡Encantada!»</a:t>
            </a:r>
            <a:r>
              <a:rPr sz="1200" b="0" i="0">
                <a:solidFill>
                  <a:srgbClr val="157355"/>
                </a:solidFill>
                <a:latin typeface="Inter"/>
              </a:rPr>
              <a:t>. Tú antwoordt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«Igualmente»</a:t>
            </a:r>
            <a:r>
              <a:rPr sz="1200" b="0" i="0">
                <a:solidFill>
                  <a:srgbClr val="157355"/>
                </a:solidFill>
                <a:latin typeface="Inter"/>
              </a:rPr>
              <a:t>. Begin = saludo, einde = despedida (Hasta luego / Adiós).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540410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OBSERVAR · docent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LENGUA DE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dices? — la reddingsboei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Koppel elke situatie aan de juiste klastaal-chunk. Betekenis vóór vorm: kies je 'reddingsboei'.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10058400" cy="292608"/>
          </a:xfrm>
          <a:prstGeom prst="roundRect">
            <a:avLst>
              <a:gd name="adj" fmla="val 50000"/>
            </a:avLst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50" b="1">
                <a:solidFill>
                  <a:srgbClr val="157355"/>
                </a:solidFill>
                <a:latin typeface="Inter"/>
              </a:rPr>
              <a:t>Banco de frases:  ¿cómo se dice…?  ·  no entiendo  ·  ¿puedes repetir?  ·  más despacio  ·  ¿qué significa…?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783080"/>
            <a:ext cx="557784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397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2002536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002536"/>
            <a:ext cx="347472" cy="34747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1783080"/>
            <a:ext cx="4846320" cy="7772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De docent praat te snel.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2240280"/>
            <a:ext cx="5532120" cy="18288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72200" y="1801368"/>
            <a:ext cx="54864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E9E74"/>
                </a:solidFill>
                <a:latin typeface="Inter"/>
              </a:rPr>
              <a:t>→ Más despacio, por favor.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651760"/>
            <a:ext cx="557784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397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" y="2871216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2871216"/>
            <a:ext cx="347472" cy="34747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2651760"/>
            <a:ext cx="4846320" cy="7772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Je kent een woord niet in het Spaans.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200" y="3108960"/>
            <a:ext cx="5532120" cy="18288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2200" y="2670048"/>
            <a:ext cx="54864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E9E74"/>
                </a:solidFill>
                <a:latin typeface="Inter"/>
              </a:rPr>
              <a:t>→ ¿Cómo se dice «…» en español?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520440"/>
            <a:ext cx="557784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397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66928" y="3739896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3739896"/>
            <a:ext cx="347472" cy="34747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Inter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3520440"/>
            <a:ext cx="4846320" cy="7772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Je verstond de vraag niet.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977640"/>
            <a:ext cx="5532120" cy="18288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72200" y="3538728"/>
            <a:ext cx="54864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E9E74"/>
                </a:solidFill>
                <a:latin typeface="Inter"/>
              </a:rPr>
              <a:t>→ ¿Puedes repetir, por favor?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4389120"/>
            <a:ext cx="557784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397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66928" y="4608576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4608576"/>
            <a:ext cx="347472" cy="34747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Inter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4389120"/>
            <a:ext cx="4846320" cy="7772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Je snapt de betekenis van «tarea» niet.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72200" y="4846320"/>
            <a:ext cx="5532120" cy="18288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72200" y="4407408"/>
            <a:ext cx="54864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E9E74"/>
                </a:solidFill>
                <a:latin typeface="Inter"/>
              </a:rPr>
              <a:t>→ ¿Qué significa «tarea»?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539496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Mini-rollenspel (geen steun):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A speelt docent (praat te snel / zegt een nieuw woord); B reageert met de passende chunk. Wissel.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5266944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COMUNICAR · docent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89499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CULTURA · IDENTIDAD EN DIVERSIDAD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¿Dónde se habla español?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Officiële taal in +20 landen. Je koppelt de reis aan de wereldkaart en aan de cast.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25880"/>
            <a:ext cx="7040880" cy="411480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17320"/>
            <a:ext cx="66751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🗺️ El mundo hispano — lengua oficial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828800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828800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FFFFFF"/>
                </a:solidFill>
                <a:latin typeface="Inter"/>
              </a:rPr>
              <a:t>★ España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98648" y="1828800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98648" y="1828800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FFFFFF"/>
                </a:solidFill>
                <a:latin typeface="Inter"/>
              </a:rPr>
              <a:t>★ México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38928" y="1828800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38928" y="1828800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Guatemala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2267712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267712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Honduras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898648" y="2267712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98648" y="2267712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El Salvador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38928" y="2267712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38928" y="2267712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Nicaragua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706624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2706624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Costa Rica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898648" y="2706624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898648" y="2706624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Panamá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138928" y="2706624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38928" y="2706624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Cuba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3145536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3145536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Rep. Dominicana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98648" y="3145536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898648" y="3145536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Puerto Rico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138928" y="3145536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38928" y="3145536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FFFFFF"/>
                </a:solidFill>
                <a:latin typeface="Inter"/>
              </a:rPr>
              <a:t>★ Colombia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" y="3584448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" y="3584448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Venezuela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898648" y="3584448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898648" y="3584448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Ecuador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138928" y="3584448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138928" y="3584448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FFFFFF"/>
                </a:solidFill>
                <a:latin typeface="Inter"/>
              </a:rPr>
              <a:t>★ Perú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8368" y="4023360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4023360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Bolivia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898648" y="4023360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98648" y="4023360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Paraguay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138928" y="4023360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138928" y="4023360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Uruguay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58368" y="4462272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8368" y="4462272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Argentina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898648" y="4462272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898648" y="4462272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Chile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138928" y="4462272"/>
            <a:ext cx="219456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138928" y="4462272"/>
            <a:ext cx="219456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Guinea Ecuatorial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8368" y="5029200"/>
            <a:ext cx="667512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1">
                <a:solidFill>
                  <a:srgbClr val="6A6E78"/>
                </a:solidFill>
                <a:latin typeface="Inter"/>
              </a:rPr>
              <a:t>★ = una parada de C5 (España · México · Colombia · Perú)  ·  🇺🇸 EE.UU. = millones de hispanohablantes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680960" y="1463040"/>
            <a:ext cx="40233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863840" y="1517904"/>
            <a:ext cx="365760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1E9E74"/>
                </a:solidFill>
                <a:latin typeface="Bricolage Grotesque"/>
              </a:rPr>
              <a:t>~500 mln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863840" y="1883664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moedertaalsprekers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680960" y="2304288"/>
            <a:ext cx="40233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863840" y="2359152"/>
            <a:ext cx="365760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1E9E74"/>
                </a:solidFill>
                <a:latin typeface="Bricolage Grotesque"/>
              </a:rPr>
              <a:t>+20 países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863840" y="2724912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lengua oficial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680960" y="3145536"/>
            <a:ext cx="40233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63840" y="3200400"/>
            <a:ext cx="365760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1E9E74"/>
                </a:solidFill>
                <a:latin typeface="Bricolage Grotesque"/>
              </a:rPr>
              <a:t>2ª lengua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863840" y="3566160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materna del mundo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680960" y="3986784"/>
            <a:ext cx="40233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863840" y="4041648"/>
            <a:ext cx="365760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1E9E74"/>
                </a:solidFill>
                <a:latin typeface="Bricolage Grotesque"/>
              </a:rPr>
              <a:t>español = castellano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63840" y="4407408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twee namen, één taal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680960" y="4846320"/>
            <a:ext cx="4023360" cy="59436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 w="16510">
            <a:solidFill>
              <a:srgbClr val="B7860B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818120" y="4901184"/>
            <a:ext cx="3794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B7860B"/>
                </a:solidFill>
                <a:latin typeface="Inter"/>
              </a:rPr>
              <a:t>🟡 Cognados: </a:t>
            </a:r>
            <a:r>
              <a:rPr sz="1050" b="0" i="0">
                <a:solidFill>
                  <a:srgbClr val="20242E"/>
                </a:solidFill>
                <a:latin typeface="Inter"/>
              </a:rPr>
              <a:t>hospital, animal, chocolate, familia, taxi… je herkent al véél Spaans!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57200" y="5559552"/>
            <a:ext cx="2474366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👀 LEER · comprensión lectora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7315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V/F · Lee la lista: «En Brasil se habla español.»  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669280" y="5943600"/>
            <a:ext cx="192024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C2626"/>
                </a:solidFill>
                <a:latin typeface="Inter"/>
              </a:rPr>
              <a:t>→ FALSO (portugués)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772400" y="5943600"/>
            <a:ext cx="3147364" cy="292608"/>
          </a:xfrm>
          <a:prstGeom prst="roundRect">
            <a:avLst>
              <a:gd name="adj" fmla="val 50000"/>
            </a:avLst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157355"/>
                </a:solidFill>
                <a:latin typeface="Inter"/>
              </a:rPr>
              <a:t>🔗 Online: mapa clicable + flip cards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717243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CULTURA · VARIACIÓN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Mismo idioma, pequeñas diferencias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Zelfde taal, kleine verschillen in woorden en klanken. Géén grammatica — enkel bewustwording (A1).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29184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329184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Inter"/>
              </a:rPr>
              <a:t>🇪🇸 España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49040" y="1371600"/>
            <a:ext cx="329184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40" y="1371600"/>
            <a:ext cx="329184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Inter"/>
              </a:rPr>
              <a:t>🌎 Hispanoamérica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0880" y="1371600"/>
            <a:ext cx="3291840" cy="457200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40880" y="1371600"/>
            <a:ext cx="329184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🇳🇱 Nederlands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8288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18288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el coche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49040" y="18288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86200" y="18288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el carro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40880" y="18288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78040" y="18288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20242E"/>
                </a:solidFill>
                <a:latin typeface="Inter"/>
              </a:rPr>
              <a:t>de auto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286000"/>
            <a:ext cx="3291840" cy="457200"/>
          </a:xfrm>
          <a:prstGeom prst="rect">
            <a:avLst/>
          </a:prstGeom>
          <a:solidFill>
            <a:srgbClr val="E4F4EE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22860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el móvil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749040" y="2286000"/>
            <a:ext cx="3291840" cy="457200"/>
          </a:xfrm>
          <a:prstGeom prst="rect">
            <a:avLst/>
          </a:prstGeom>
          <a:solidFill>
            <a:srgbClr val="E4F4EE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22860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el celular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40880" y="2286000"/>
            <a:ext cx="3291840" cy="457200"/>
          </a:xfrm>
          <a:prstGeom prst="rect">
            <a:avLst/>
          </a:prstGeom>
          <a:solidFill>
            <a:srgbClr val="E4F4EE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78040" y="22860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20242E"/>
                </a:solidFill>
                <a:latin typeface="Inter"/>
              </a:rPr>
              <a:t>de gsm / mobiel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27432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27432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el ordenador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49040" y="27432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86200" y="27432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la computadora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040880" y="27432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78040" y="27432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20242E"/>
                </a:solidFill>
                <a:latin typeface="Inter"/>
              </a:rPr>
              <a:t>de computer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3200400"/>
            <a:ext cx="3291840" cy="457200"/>
          </a:xfrm>
          <a:prstGeom prst="rect">
            <a:avLst/>
          </a:prstGeom>
          <a:solidFill>
            <a:srgbClr val="E4F4EE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2004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el zumo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749040" y="3200400"/>
            <a:ext cx="3291840" cy="457200"/>
          </a:xfrm>
          <a:prstGeom prst="rect">
            <a:avLst/>
          </a:prstGeom>
          <a:solidFill>
            <a:srgbClr val="E4F4EE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886200" y="32004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el jugo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040880" y="3200400"/>
            <a:ext cx="3291840" cy="457200"/>
          </a:xfrm>
          <a:prstGeom prst="rect">
            <a:avLst/>
          </a:prstGeom>
          <a:solidFill>
            <a:srgbClr val="E4F4EE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178040" y="32004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20242E"/>
                </a:solidFill>
                <a:latin typeface="Inter"/>
              </a:rPr>
              <a:t>het (vruchten)sap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36576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4360" y="36576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la patata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749040" y="36576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886200" y="36576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la papa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040880" y="36576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178040" y="36576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20242E"/>
                </a:solidFill>
                <a:latin typeface="Inter"/>
              </a:rPr>
              <a:t>de aardappel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200" y="4114800"/>
            <a:ext cx="3291840" cy="457200"/>
          </a:xfrm>
          <a:prstGeom prst="rect">
            <a:avLst/>
          </a:prstGeom>
          <a:solidFill>
            <a:srgbClr val="E4F4EE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4360" y="41148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vosotros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749040" y="4114800"/>
            <a:ext cx="3291840" cy="457200"/>
          </a:xfrm>
          <a:prstGeom prst="rect">
            <a:avLst/>
          </a:prstGeom>
          <a:solidFill>
            <a:srgbClr val="E4F4EE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886200" y="41148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ustedes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040880" y="4114800"/>
            <a:ext cx="3291840" cy="457200"/>
          </a:xfrm>
          <a:prstGeom prst="rect">
            <a:avLst/>
          </a:prstGeom>
          <a:solidFill>
            <a:srgbClr val="E4F4EE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78040" y="41148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20242E"/>
                </a:solidFill>
                <a:latin typeface="Inter"/>
              </a:rPr>
              <a:t>jullie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45720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94360" y="45720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¡vale!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749040" y="45720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886200" y="45720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¡dale! / ¡listo!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40880" y="4572000"/>
            <a:ext cx="329184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178040" y="4572000"/>
            <a:ext cx="310896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20242E"/>
                </a:solidFill>
                <a:latin typeface="Inter"/>
              </a:rPr>
              <a:t>oké!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0515600" y="1371600"/>
            <a:ext cx="1216152" cy="365760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 w="16510">
            <a:solidFill>
              <a:srgbClr val="B7860B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607040" y="1463040"/>
            <a:ext cx="1051560" cy="34747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🔊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B7860B"/>
                </a:solidFill>
                <a:latin typeface="Inter"/>
              </a:rPr>
              <a:t>seseo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c(e/i)/z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= /s/ in LatAm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= /θ/ «th»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in España.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157355"/>
                </a:solidFill>
                <a:latin typeface="Inter"/>
              </a:rPr>
              <a:t>Beide OK!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57200" y="5120640"/>
            <a:ext cx="978408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Valstrik (spelling):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landen mét hoofdletter (España, México, Perú), maar de taal met kleine letter: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el español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(niet «el Español»).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94360" y="4992624"/>
            <a:ext cx="1128369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OJO · docent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12836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§5 · LECTURA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«El Club de Español»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Een echte tekst. Je hoeft niet alles te begrijpen om de informatie eruit te halen.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5577840" cy="4160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25880"/>
            <a:ext cx="5577840" cy="384048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44168"/>
            <a:ext cx="53035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Bricolage Grotesque"/>
              </a:rPr>
              <a:t>anuncio (cartel del instituto)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810512"/>
            <a:ext cx="5212080" cy="35661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Bricolage Grotesque"/>
              </a:rPr>
              <a:t>¡APÚNTATE AL CLUB DE ESPAÑOL! 🇪🇸🇲🇽🇨🇴🇵🇪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Un idioma, veinte países, una ruta.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¿Hablas un poco de español? ¿O cero español? ¡No importa! En el club hablamos, cantamos y jugamos en español.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• ¿Cuándo? Los martes y los jueves, de cuatro a cinco.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• ¿Dónde? En el aula catorce, primera planta.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• ¿Cuánto cuesta? ¡Cero euros!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• ¿Cuántos somos? Ahora somos dieciocho. Hay sitio para veinte.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Este año viajamos por el mundo hispano: España, México, Colombia y Perú. Cada mes, un país y una fiesta.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Escribe a: club.espanol@instituto.be — o habla con la señora Ortega.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325880"/>
            <a:ext cx="5468112" cy="196596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417320"/>
            <a:ext cx="5120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Escanea — busca el dato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175564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1. ¿En qué aula es el club?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2. ¿Cuántos alumnos hay ahora en el club?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3. ¿Cuánto cuesta? (en cifras)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4. ¿Cuántos países visita el club este año?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429000"/>
            <a:ext cx="5468112" cy="2057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3520440"/>
            <a:ext cx="5120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¿Verdadero o falso? — y la prueba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3858768"/>
            <a:ext cx="5120640" cy="1554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1. El club es gratis.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2. El club es solo para alumnos que ya hablan español.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3. El club se reúne dos días por semana.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4. Todavía hay sitio en el club.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596128"/>
            <a:ext cx="11274552" cy="658368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Escanear: 1) 14 · 2) 18 · 3) 0 · 4) 4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1) V — «¡Cero euros!»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2) F — «¿O cero español? ¡No importa!»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3) V — «Los martes y los jueves»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4) V — «Hay sitio para veinte»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5468112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12836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§6 · ESCUCHA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«En la puerta de embarque»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Eerst de situatie, dan luisteren. Het transcript komt pas ná de taken.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11274552" cy="105156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524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417320"/>
            <a:ext cx="10881360" cy="868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57355"/>
                </a:solidFill>
                <a:latin typeface="Inter"/>
              </a:rPr>
              <a:t>¿Dónde?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El aeropuerto de Barajas, Madrid — puerta B12</a:t>
            </a:r>
            <a:r>
              <a:rPr sz="1100" b="1" i="0">
                <a:solidFill>
                  <a:srgbClr val="157355"/>
                </a:solidFill>
                <a:latin typeface="Inter"/>
              </a:rPr>
              <a:t>     ¿Quién?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Lucía (de Sevilla) y tú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57355"/>
                </a:solidFill>
                <a:latin typeface="Inter"/>
              </a:rPr>
              <a:t>¿Qué pasa?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Esperáis el mismo vuelo y os presentáis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6A6E78"/>
                </a:solidFill>
                <a:latin typeface="Inter"/>
              </a:rPr>
              <a:t>Palabras clave: </a:t>
            </a:r>
            <a:r>
              <a:rPr sz="1050" b="0" i="1">
                <a:solidFill>
                  <a:srgbClr val="20242E"/>
                </a:solidFill>
                <a:latin typeface="Inter"/>
              </a:rPr>
              <a:t>¿Cómo te llamas? · Soy de… · ¿Cómo se escribe?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514600"/>
            <a:ext cx="5577840" cy="2971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606040"/>
            <a:ext cx="521208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Escucha con detalle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944368"/>
            <a:ext cx="5212080" cy="23774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1. ¿Cuál es la puerta de embarque?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2. ¿De dónde es Lucía?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3. ¿Cuántos años tiene Sam?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4. ¿Cuántos años tiene Lucía?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5. ¿A qué hora sale el vuelo?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2514600"/>
            <a:ext cx="5468112" cy="297180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606040"/>
            <a:ext cx="5120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¿Verdadero o falso? — y la prueba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94436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1. Sam habla dos lenguas.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2. Lucía es de Madrid.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3. Sam deletrea su nombre.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4572000"/>
            <a:ext cx="512064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157355"/>
                </a:solidFill>
                <a:latin typeface="Inter"/>
              </a:rPr>
              <a:t>Tu reacción: </a:t>
            </a:r>
            <a:r>
              <a:rPr sz="1000" b="0" i="0">
                <a:solidFill>
                  <a:srgbClr val="20242E"/>
                </a:solidFill>
                <a:latin typeface="Inter"/>
              </a:rPr>
              <a:t>Lucía te pregunta: «¿Y tú, cómo te llamas y de dónde eres?» Contesta en tres frases: nombre · origen · edad.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596128"/>
            <a:ext cx="11274552" cy="658368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Detalle: 1) B12 · 2) De Sevilla · 3) 16 · 4) 17 · 5) A las once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1) V — «Hablo neerlandés y un poco de español»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2) F — «Yo soy de Sevilla»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3) V — «Ese, a, eme»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5468112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06116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★ TAREA FINAL · EINDMISSIE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Tu tarjeta de embarque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Jouw instapkaart voor La Ruta. Alles komt samen: spellen · groeten · één klasvraag stellen.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25880"/>
            <a:ext cx="6035040" cy="28803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905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1417320"/>
            <a:ext cx="56692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Bricolage Grotesque"/>
              </a:rPr>
              <a:t>Communicatief kader (§14)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1810512"/>
            <a:ext cx="1874519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✈️ Situación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14600" y="1810512"/>
            <a:ext cx="3886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Aan de gate stel je je kort voor voor de eerste etappe.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86000"/>
            <a:ext cx="1874519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🗣️ Afzender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4600" y="2286000"/>
            <a:ext cx="3886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jij (de reiziger).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2761488"/>
            <a:ext cx="1874519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👥 Ontvanger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14600" y="2761488"/>
            <a:ext cx="3886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een klasgenoot / de mochila / de klas.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3236976"/>
            <a:ext cx="1874519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🎯 Doel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14600" y="3236976"/>
            <a:ext cx="3886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voorstellen + spellen · groeten · één klasvraag stellen.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3712464"/>
            <a:ext cx="1874519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🎁 Resultaat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14600" y="3712464"/>
            <a:ext cx="3886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ingevulde tarjeta + korte gesproken kennismaking (live/opname).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75120" y="1325880"/>
            <a:ext cx="5029200" cy="201168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2032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675120" y="1325880"/>
            <a:ext cx="5029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12280" y="1344168"/>
            <a:ext cx="4754880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Bricolage Grotesque"/>
              </a:rPr>
              <a:t>✈  TARJETA DE EMBARQUE · LA RUTA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1920240"/>
            <a:ext cx="23774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6A6E78"/>
                </a:solidFill>
                <a:latin typeface="Inter"/>
              </a:rPr>
              <a:t>NOMBRE / NAAM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5440" y="1920240"/>
            <a:ext cx="23774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___________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2176272"/>
            <a:ext cx="23774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6A6E78"/>
                </a:solidFill>
                <a:latin typeface="Inter"/>
              </a:rPr>
              <a:t>DESTINO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2176272"/>
            <a:ext cx="23774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ESPAÑA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2432304"/>
            <a:ext cx="23774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6A6E78"/>
                </a:solidFill>
                <a:latin typeface="Inter"/>
              </a:rPr>
              <a:t>RUTA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2432304"/>
            <a:ext cx="23774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EL MUNDO HISPANO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0" y="2688336"/>
            <a:ext cx="23774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6A6E78"/>
                </a:solidFill>
                <a:latin typeface="Inter"/>
              </a:rPr>
              <a:t>PUERTA (gate)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35440" y="2688336"/>
            <a:ext cx="23774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U0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0" y="2944368"/>
            <a:ext cx="23774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6A6E78"/>
                </a:solidFill>
                <a:latin typeface="Inter"/>
              </a:rPr>
              <a:t>ASIENTO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35440" y="2944368"/>
            <a:ext cx="23774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___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0" y="3200400"/>
            <a:ext cx="4572000" cy="1828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▮▮▯▮▯▮▮▯▮  ·  🎒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75120" y="3520440"/>
            <a:ext cx="50292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Pasos (steun bouwt af):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675120" y="3840480"/>
            <a:ext cx="457200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1 Prepara tu tarjeta (MODEL)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675120" y="4206240"/>
            <a:ext cx="457200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2 Ensaya tu nombre (alfabet)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675120" y="4572000"/>
            <a:ext cx="457200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3 Escribe tu mini-diálogo (frame)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675120" y="4937760"/>
            <a:ext cx="457200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4 Practica en duo (cue)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675120" y="5303520"/>
            <a:ext cx="457200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5 Preséntate (SIN AYUDA)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4343400"/>
            <a:ext cx="6035040" cy="14630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Modelo (en la puerta):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57355"/>
                </a:solidFill>
                <a:latin typeface="Inter"/>
              </a:rPr>
              <a:t>Lucía: ¡Hola! Yo soy Lucía. ¿Y tú?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57355"/>
                </a:solidFill>
                <a:latin typeface="Inter"/>
              </a:rPr>
              <a:t>Tú: ¡Hola! Yo soy Sam.  — Lucía: ¿Cómo se escribe?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57355"/>
                </a:solidFill>
                <a:latin typeface="Inter"/>
              </a:rPr>
              <a:t>Tú: Ese-a-eme. Sam.  Una pregunta: ¿cómo se dice «rugzak»?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57355"/>
                </a:solidFill>
                <a:latin typeface="Inter"/>
              </a:rPr>
              <a:t>Lucía: Se dice «la mochila». — Tú: ¡Gracias! ¡Hasta luego!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94360" y="4215384"/>
            <a:ext cx="138074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MODELO · docent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B7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B7860B"/>
                </a:solidFill>
                <a:latin typeface="Inter"/>
              </a:rPr>
              <a:t>QUIZ · RETRIEVAL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«La mezcla» — gemengde quiz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Vijf mini-items, elk uit een ándere sectie. Kies zélf de juiste regel. (retrieval vóór herlezen, §14)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71600"/>
            <a:ext cx="11247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150876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157355"/>
                </a:solidFill>
                <a:latin typeface="Inter"/>
              </a:rPr>
              <a:t>1 · §2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1371600"/>
            <a:ext cx="67665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20242E"/>
                </a:solidFill>
                <a:latin typeface="Inter"/>
              </a:rPr>
              <a:t>¿Lleva tilde: «Peru» o «Perú»?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0" y="1499616"/>
            <a:ext cx="292608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 Perú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011680"/>
            <a:ext cx="11247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66928" y="214884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157355"/>
                </a:solidFill>
                <a:latin typeface="Inter"/>
              </a:rPr>
              <a:t>2 · §1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011680"/>
            <a:ext cx="67665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20242E"/>
                </a:solidFill>
                <a:latin typeface="Inter"/>
              </a:rPr>
              <a:t>¿«h» klinkt of niet in «hola»?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0" y="2139696"/>
            <a:ext cx="292608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 de h zwijgt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651760"/>
            <a:ext cx="11247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66928" y="278892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157355"/>
                </a:solidFill>
                <a:latin typeface="Inter"/>
              </a:rPr>
              <a:t>3 · §3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3080" y="2651760"/>
            <a:ext cx="67665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20242E"/>
                </a:solidFill>
                <a:latin typeface="Inter"/>
              </a:rPr>
              <a:t>Escribe 47 en letras.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0" y="2779776"/>
            <a:ext cx="292608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 cuarenta y siete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291840"/>
            <a:ext cx="11247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66928" y="342900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157355"/>
                </a:solidFill>
                <a:latin typeface="Inter"/>
              </a:rPr>
              <a:t>4 · §4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83080" y="3291840"/>
            <a:ext cx="67665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20242E"/>
                </a:solidFill>
                <a:latin typeface="Inter"/>
              </a:rPr>
              <a:t>¿Encantado o encantada dice Nina?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86800" y="3419856"/>
            <a:ext cx="292608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 Encantada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3931920"/>
            <a:ext cx="11247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66928" y="406908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157355"/>
                </a:solidFill>
                <a:latin typeface="Inter"/>
              </a:rPr>
              <a:t>5 · §2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83080" y="3931920"/>
            <a:ext cx="67665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20242E"/>
                </a:solidFill>
                <a:latin typeface="Inter"/>
              </a:rPr>
              <a:t>Ordena: llana / esdrújula → «casa», «México».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86800" y="4059936"/>
            <a:ext cx="2926080" cy="310896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✓ casa=llana · México=esdrújula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0" name="Rounded Rectangle 29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4754880"/>
            <a:ext cx="11247120" cy="10972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1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Perú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(aguda -ú)   ·  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2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de h zwijgt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(hola = «ola»)   ·  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3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cuarenta y siete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4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Encantada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(Nina is een meisje — de uitgang volgt wie spreekt)   ·  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5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casa = llana · México = esdrújula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462686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◎ REPASO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 + semáforo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hele U0 op één plaat + zelfevaluatie. Retrieval eerst (dia 19), dán terugbladeren.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25880"/>
            <a:ext cx="5532120" cy="1600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25880"/>
            <a:ext cx="109728" cy="1600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399032"/>
            <a:ext cx="51663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🗺️ El mundo hispano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1828800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+20 landen · ~500 mln sprekers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2157984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español = castellano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2487168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kleine verschillen (coche/carro)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25880"/>
            <a:ext cx="5532120" cy="1600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325880"/>
            <a:ext cx="109728" cy="1600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1399032"/>
            <a:ext cx="51663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🔤 Sonar en español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8232" y="1828800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27 letras (+ñ) · h zwijgt · b=v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8232" y="2157984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j+ge/gi=jota · ll/y=«j» · ñ=«nj»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8232" y="2487168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qu=«k» · z/ce/ci=«th» · r↔rr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090672"/>
            <a:ext cx="5532120" cy="1600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3090672"/>
            <a:ext cx="109728" cy="1600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163824"/>
            <a:ext cx="51663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🎩 La regla del sombrero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3593592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esdrújula → altijd 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3922776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aguda → ´ als -n/-s/klinker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" y="4251960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llana → ´ als NIET zo · monosíl. geen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3090672"/>
            <a:ext cx="5532120" cy="16002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3090672"/>
            <a:ext cx="109728" cy="1600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3163824"/>
            <a:ext cx="51663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🔢 Números &amp; 👋 saludos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28232" y="3593592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0-15 apart · 16-29 één woord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28232" y="3922776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30-100 decena+y+unidad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28232" y="4251960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edad = tener años (🔴 niet ser)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4983480"/>
            <a:ext cx="11274552" cy="96012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 w="16510">
            <a:solidFill>
              <a:srgbClr val="B7860B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1792" y="5047488"/>
            <a:ext cx="36576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🚦 Semáforo — ¿cómo lo llevas?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" y="5394960"/>
            <a:ext cx="1097280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🔴 nog niet  ·  🟠 met steun  ·  🟢 zelfstandig — kleur per rij (receptief «ik herken» / productief «ik doe het zelf»). </a:t>
            </a:r>
            <a:r>
              <a:rPr sz="1150" b="0" i="1">
                <a:solidFill>
                  <a:srgbClr val="6A6E78"/>
                </a:solidFill>
                <a:latin typeface="Inter"/>
              </a:rPr>
              <a:t>Volledige checklist in de PDF/HTML.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202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306323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20242E"/>
                </a:solidFill>
                <a:latin typeface="Inter"/>
              </a:rPr>
              <a:t>TEACHER_NOTES · DOSSIER DEL DOCENTE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Verloop · noodroute · cross-refs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Alleen voor de leerkracht — niet projecteren. Timing 50 min, technische noodroute en verwijzingen.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325880"/>
            <a:ext cx="5577840" cy="4160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1417320"/>
            <a:ext cx="52120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⏱ Verdeling over 50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828800"/>
            <a:ext cx="18288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Oriëntatie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40" y="1828800"/>
            <a:ext cx="22860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6A6E78"/>
                </a:solidFill>
                <a:latin typeface="Inter"/>
              </a:rPr>
              <a:t>menu · cast · kaart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1828800"/>
            <a:ext cx="6400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5'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1828800"/>
            <a:ext cx="8686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dia 2-3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31720"/>
            <a:ext cx="18288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Begrijpen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331720"/>
            <a:ext cx="22860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6A6E78"/>
                </a:solidFill>
                <a:latin typeface="Inter"/>
              </a:rPr>
              <a:t>alfabet · klanktrampas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2331720"/>
            <a:ext cx="6400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8'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2331720"/>
            <a:ext cx="8686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dia 4-5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834640"/>
            <a:ext cx="18288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Opmerken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40" y="2834640"/>
            <a:ext cx="22860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6A6E78"/>
                </a:solidFill>
                <a:latin typeface="Inter"/>
              </a:rPr>
              <a:t>sílaba tónica · sombrero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720" y="2834640"/>
            <a:ext cx="6400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7'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640" y="2834640"/>
            <a:ext cx="8686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dia 7-8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337560"/>
            <a:ext cx="18288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Oefenen (steun)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77440" y="3337560"/>
            <a:ext cx="22860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6A6E78"/>
                </a:solidFill>
                <a:latin typeface="Inter"/>
              </a:rPr>
              <a:t>quizzes · números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17720" y="3337560"/>
            <a:ext cx="6400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12'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40" y="3337560"/>
            <a:ext cx="8686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dia 6·9·10-12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3840480"/>
            <a:ext cx="18288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Productie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77440" y="3840480"/>
            <a:ext cx="22860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6A6E78"/>
                </a:solidFill>
                <a:latin typeface="Inter"/>
              </a:rPr>
              <a:t>saludos · diálogo · tarea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7720" y="3840480"/>
            <a:ext cx="6400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10'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0640" y="3840480"/>
            <a:ext cx="8686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dia 13-18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343400"/>
            <a:ext cx="18288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Feedback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77440" y="4343400"/>
            <a:ext cx="22860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6A6E78"/>
                </a:solidFill>
                <a:latin typeface="Inter"/>
              </a:rPr>
              <a:t>modelantwoord · peer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7720" y="4343400"/>
            <a:ext cx="6400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5'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20640" y="4343400"/>
            <a:ext cx="8686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dia 19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4846320"/>
            <a:ext cx="18288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Exit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77440" y="4846320"/>
            <a:ext cx="22860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6A6E78"/>
                </a:solidFill>
                <a:latin typeface="Inter"/>
              </a:rPr>
              <a:t>repaso · semáforo · online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4846320"/>
            <a:ext cx="6400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E9E74"/>
                </a:solidFill>
                <a:latin typeface="Inter"/>
              </a:rPr>
              <a:t>3'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0640" y="4846320"/>
            <a:ext cx="8686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dia 20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63640" y="1325880"/>
            <a:ext cx="5440680" cy="1965960"/>
          </a:xfrm>
          <a:prstGeom prst="roundRect">
            <a:avLst>
              <a:gd name="adj" fmla="val 5500"/>
            </a:avLst>
          </a:prstGeom>
          <a:solidFill>
            <a:srgbClr val="FDECEC"/>
          </a:solidFill>
          <a:ln w="15240">
            <a:solidFill>
              <a:srgbClr val="DC2626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46520" y="1417320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DC2626"/>
                </a:solidFill>
                <a:latin typeface="Bricolage Grotesque"/>
              </a:rPr>
              <a:t>🆘 Noodroute (§5) — altijd beschikbaar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46520" y="1810512"/>
            <a:ext cx="5120640" cy="1417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• Elke oefendia: knop ▶ Mostrar solución · ⏭ Saltar · ⌂ Menú (dia 2).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• Valt audio/video/internet weg → alle content staat óók als tekst/beeld op de dia (statische fallback).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• Docentversie .pptx = vrije navigatie + oplossing in de notities; leerlingversie .ppsx = gewone diavoorstelling (geen kiosk): elke klik onthult het volgende antwoord (fade). Geen docentnotities.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63640" y="3429000"/>
            <a:ext cx="5440680" cy="205740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524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46520" y="3520440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Bricolage Grotesque"/>
              </a:rPr>
              <a:t>🔗 Cross-refs (§16)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46520" y="3913632"/>
            <a:ext cx="5120640" cy="1508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57355"/>
                </a:solidFill>
                <a:latin typeface="Inter"/>
              </a:rPr>
              <a:t>📄 Cursus (PDF/Word):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U0 §1-§4 · Cultura · Tarea · Repaso · §V Vocabulario.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57355"/>
                </a:solidFill>
                <a:latin typeface="Inter"/>
              </a:rPr>
              <a:t>💻 Online (HTML):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flip-cards (alfabet·getallen·cast) · ShadowingPlayer · info-gap teléfonos · bingo · ~10 spaans-motor-spellen.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57355"/>
                </a:solidFill>
                <a:latin typeface="Inter"/>
              </a:rPr>
              <a:t>➕ Extra-tab: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profe-video «alfabeto» + «números 0-100» · Genially «saludos»/«sílaba tónica» (arche-ele) — links door leerkracht.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