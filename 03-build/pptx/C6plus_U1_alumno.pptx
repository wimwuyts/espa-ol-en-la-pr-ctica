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ESPAÑA · EL DÍA A DÍA 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El día a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Tu rutina, la hora, cómo te sientes y qué te gusta (reflexivos · ser/estar · gustar).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¿Cómo es un día en tu vida?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Hoe ziet jouw dag eruit?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1: España (Lucía)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día a día»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hora 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15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Mi rutina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acciones · conectores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Reflexivos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me/te/se + verbo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Ser / estar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identiteit ↔ gevoel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Gustar + 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gusta… porque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perfiles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horario español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🗓️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día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blog + presentación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acciones de la rutina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je dag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levanto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sta 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levantarse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ducho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douche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ducharse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desayuno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ontbijt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desayunar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como / meriendo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eet / snack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 las 2 /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hago los deberes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maak huiswerk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por la tarde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vuelvo a casa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keer terug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volver (o→ue)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ceno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eet 's avonds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cenar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acuesto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ga naar bed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acostarse (o→ue)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Conectores de secuencia: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primero · luego · después · por último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Un día: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Primero me levanto, luego me ducho, después desayuno y por último voy al instituto.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Frecuencia: siempre · normalmente · a veces · nunca.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reflexivos — la acción vuelve a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Kleur = de functie. Pronombre (me/te/se…) +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me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levanto </a:t>
            </a:r>
            <a:r>
              <a:rPr sz="2400" b="1" i="0">
                <a:solidFill>
                  <a:srgbClr val="64748B"/>
                </a:solidFill>
                <a:latin typeface="Bricolage Grotesque"/>
              </a:rPr>
              <a:t>a las siete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Los pronombres reflexivos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yo → 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levanto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tú → 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te levantas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él/ella → 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se levanta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nosotros → 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29184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nos levantamos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vosotros →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96849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os levantáis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ellos → 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64515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se levantan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pronombre + verbo, in die volgorde. Het pronomen past bij het onderwerp: me (yo), te (tú), se (él/ella)…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los reflexivos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 verschijnt.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___ (levantarse) a las 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¿Tú ___ (ducharse) hoy?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5915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te duchas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Lucía ___ (despertarse) temprano.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63824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despierta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(acostarse) a las 11.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nos acostamos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Diego ___ (vestirse) rápido.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35915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viste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6576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Ellos ___ (peinarse) ahora.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163824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se peinan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Pronombre + vorm: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me/te/se/nos/os/se + verbo. Cambio vocálico: me despierto, me acuesto, me visto (nosotros/vosotros GEEN wissel).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«levantarse» — klik om te onthullen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Denk eerst pronombre + vorm; klik dan de kaart.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te levantas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se levanta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nos levantamos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os levantáis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5B3E83"/>
                </a:solidFill>
                <a:latin typeface="Bricolage Grotesque"/>
              </a:rPr>
              <a:t>se levantan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🟣 </a:t>
            </a:r>
            <a:r>
              <a:rPr sz="1300" b="1" i="0">
                <a:solidFill>
                  <a:srgbClr val="5B3E83"/>
                </a:solidFill>
                <a:latin typeface="Inter"/>
              </a:rPr>
              <a:t>La posición: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normaal vóór het werkwoord (Me ducho); bij infinitief mag ook achteraan: Quiero ducharme = Me quiero duchar.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bota: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cambio vocálico in yo·tú·él·ellos (me despierto, me acuesto), NIET in nosotros/vosotros.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vs estar — el contraste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ser = wie/wat je bent (permanent) · estar = waar/hoe (plaats/gevoel).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Inter"/>
              </a:rPr>
              <a:t>Lucía </a:t>
            </a:r>
            <a:r>
              <a:rPr sz="1800" b="1" i="0">
                <a:solidFill>
                  <a:srgbClr val="2563EB"/>
                </a:solidFill>
                <a:latin typeface="Inter"/>
              </a:rPr>
              <a:t>es </a:t>
            </a:r>
            <a:r>
              <a:rPr sz="1800" b="1" i="0">
                <a:solidFill>
                  <a:srgbClr val="20242E"/>
                </a:solidFill>
                <a:latin typeface="Inter"/>
              </a:rPr>
              <a:t>simpática</a:t>
            </a:r>
            <a:r>
              <a:rPr sz="1200" b="0" i="0">
                <a:solidFill>
                  <a:srgbClr val="6A6E78"/>
                </a:solidFill>
                <a:latin typeface="Inter"/>
              </a:rPr>
              <a:t>  (karakter)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Inter"/>
              </a:rPr>
              <a:t>Lucía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está </a:t>
            </a:r>
            <a:r>
              <a:rPr sz="1800" b="1" i="0">
                <a:solidFill>
                  <a:srgbClr val="20242E"/>
                </a:solidFill>
                <a:latin typeface="Inter"/>
              </a:rPr>
              <a:t>cansada</a:t>
            </a:r>
            <a:r>
              <a:rPr sz="1200" b="0" i="0">
                <a:solidFill>
                  <a:srgbClr val="6A6E78"/>
                </a:solidFill>
                <a:latin typeface="Inter"/>
              </a:rPr>
              <a:t>  (gevoel nu)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identiteit / herkomst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beroep / karakter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uur &amp; datum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estar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plaats (dónde)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estar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gevoel / toestand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🔴 es ≠ está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aburrido: saai ≠ verveelt zich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permanent/eigenschap → ser (soy simpático) · plaats/gevoel/toestand nu → estar (estoy cansado).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¿ser o estar?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betekenis.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Lucía ___ de Sevilla.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Hoy ___ cansado.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___ estudiante.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soy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mochila ___ en clase.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clase ___ aburrida (saai).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(Yo) ___ aburrido (nu).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Contraste: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 aburrido = saai (eigenschap) · está aburrido = verveelt zich (nu). Idem: es/está listo, rico, bueno.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perfiles — «¿Qué les gusta?»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 su día y sus gustos.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despierto a las siete y me levanto enseguida. Como a las tres. Por la tarde me gusta bailar flamenco. Hoy estoy contenta porque es viernes.»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levanto a las seis y media. Me encantan los videojuegos, pero no me gusta nada madrugar. Me acuesto a las once. Estoy cansado, pero feliz.»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¿A qué hora se levanta Lucía?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las siete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le gusta a Lucía?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Bailar flamenco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NO le gusta a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Madrugar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está Diego?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Cansado, pero feliz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la hora, los gustos y el ánimo — niet élk woord.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con Lucía (el horario)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un momento → la hora + la acción.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🌅 la mañana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7:00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se levanta y se ducha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🍽️ la comida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14:00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come (¡tarde!)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📓 la tarde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18:00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hace los deberes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🌙 la noche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¿Qué hora?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22:00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¿Qué hace?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C56A9"/>
                </a:solidFill>
                <a:latin typeface="Inter"/>
              </a:rPr>
              <a:t>cena y se acuesta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«Me llamo Lucía. Me levanto a las siete, me ducho y desayuno. Como a las dos…»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 schrijven: elke leerling noteert zijn eigen horario.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Gustar — ¡al revés! ¿gusta o gustan?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Me gusta la música = de muziek bevalt míj. Nooit «yo gusto».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6E78"/>
                </a:solidFill>
                <a:latin typeface="Inter"/>
              </a:rPr>
              <a:t>NL: </a:t>
            </a:r>
            <a:r>
              <a:rPr sz="1400" b="1" i="0">
                <a:solidFill>
                  <a:srgbClr val="2563EB"/>
                </a:solidFill>
                <a:latin typeface="Inter"/>
              </a:rPr>
              <a:t>Ik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vind muziek leuk.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6E78"/>
                </a:solidFill>
                <a:latin typeface="Inter"/>
              </a:rPr>
              <a:t>ES: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Me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gusta </a:t>
            </a:r>
            <a:r>
              <a:rPr sz="1400" b="1" i="0">
                <a:solidFill>
                  <a:srgbClr val="B4309A"/>
                </a:solidFill>
                <a:latin typeface="Inter"/>
              </a:rPr>
              <a:t>la música</a:t>
            </a:r>
            <a:r>
              <a:rPr sz="14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+ 1 cosa (el/la)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infinitivo (bailar)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80360"/>
            <a:ext cx="36576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953512"/>
            <a:ext cx="33832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gustan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264408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varias cosas (los/las)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¿A quién?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(a mí) me · (a ti) te · (a él/ella) le · (a nosotros) nos · (a vosotros) os · (a ellos) 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werkwoord volgt het DING (ev/mv), niet de persoon. Me gusta el fútbol · Me gustan los perros.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nunca «yo gusto» · met sustantivo altijd el/la/los/las.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3982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QUIZ · P3-SEED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Gustos: pronombre + «porque»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 Y da tu opinión con «me gusta… porque…».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___ el fútbol.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gusta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2257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22576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ti ___ los deportes.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22576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te gustan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906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Lucía ___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090672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le gusta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mis padres ___ la siesta.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les gusta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2257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22576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no ___ los lunes.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22576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me gustan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906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090672"/>
            <a:ext cx="356616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nosotros ___ viajar.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090672"/>
            <a:ext cx="16459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nos gusta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1124712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escala: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 encanta 😍 → me gusta mucho → me gusta 🙂 → no me gusta → no me gusta nada 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548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P3-seed (mi opinión):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 gusta la música latina porque es alegre. No me gustan los lunes porque estoy cansado.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Reageren: a mí también (+) · a mí tampoco (−).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6268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¡Cuenta tu día!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Despertar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despierto a las…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Higiene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ducho y me visto.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Desayuno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Desayuno…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Instituto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Voy al insti a las…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Tarde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Hago los deberes / me gusta…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Ceno y me acuesto a las…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4325112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día a día»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«Me levanto a las siete, me ducho y desayuno. Voy al insti a las ocho. Por la tarde me gusta bailar. Ceno y me acuesto a las once.»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día a día (el blog)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dagblog.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aquí tu día: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5 verbos reflexivos (me levanto…)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hora (a las siete)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conectores (primero, luego…)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frecuencia (siempre, a veces)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gusto (me gusta… porque…)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cómo estás (estoy…)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«Normalmente me levanto a las siete. Primero me ducho, luego desayuno. Como a las dos. Por la tarde me gusta bailar porque es divertido. Me acuesto a las once. Hoy estoy contento.»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hora y los sentimientos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 la 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1:00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Son las 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2:00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y cuarto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y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554480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menos cuarto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:45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 punto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op het uur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contento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blij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cansado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2322576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moe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nervioso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nerveus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aburrido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verveeld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hora es?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hoe laat is het?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¿a qué hora?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3090672"/>
            <a:ext cx="9144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om hoe laat?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hora: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 la una (1) · son las + 2,3… · y cuarto/y media/menos cuarto. ¿A qué hora? → A las siete.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Sentimientos: estar + adjetivo (estoy contento/cansado). Concordancia: contento/contenta.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Sílaba tónica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uitspraak en verbinden.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acento en los reflexivos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DU-cho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llana (voorlaatste)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 des-PIER-ta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des-per-TAR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aguda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MIÉR-co-les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esdrújula (tilde!)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primero · luego · después · porque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 me levanto, ___ me ducho.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783080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primero … luego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 desayuno.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441448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después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Me gusta el finde ___ no hay clase.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099816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3657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___, me acuesto.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758184"/>
            <a:ext cx="14630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→ por último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meeste reflexieve vormen zijn llana (me DU-cho); draagt het een tilde, volg de tilde.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«want» én «omdat» = porque · «dus» = así que/por eso.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1: ESPAÑA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horario español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 verschijnt. Un día hispano tiene su ritmo.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🍽️ Se come tarde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España is la comida (lunch) de hoofdmaaltijd, om 14–15u. La cena is licht en laat: 21–22u. Desayuno = klein.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comida ≠ el desayuno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😴 La siesta — mito y realidad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Na de comida rusten sommigen even (la siesta), vooral in kleine steden en de zomer. In grote steden bijna niemand meer.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geen siesta voor iedereen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🌎 No es igual en todo el mundo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México eet men ook rond 14–15u maar ontbijt steviger. In veel LatAm-landen eet men vroeger dan in España.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hispano ≠ un solo horario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compara tu horario con el de España. ¿A qué hora comes tú? ¿Y cenas?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«Un martes cualquiera»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Een echte tekst. Je hoeft niet alles te begrijpen om de informatie eruit te halen.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7784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77840" cy="384048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5303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Bricolage Grotesque"/>
              </a:rPr>
              <a:t>entrada de blog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5212080" cy="3566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UN MARTES CUALQUIERA 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vida en España · entrada del 12 de marzo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Me despierto a las siete menos cuarto, pero no me levanto hasta las siete. Me ducho rápido, me visto y desayuno un café con tostadas.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 las ocho salgo de casa. La facultad está lejos, así que voy en autobús. Las clases empiezan a las nueve y terminan a la una y media.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Como con mis compañeros en la cafetería. Me gusta mucho la tortilla de patatas, pero no me gustan nada las lentejas.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07:00 — me levanto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08:00 — salgo de casa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09:00 — empiezan las clases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13:30 — termino y como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17:00 — estudio en la biblioteca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23:30 — me acuesto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la tarde estudio en la biblioteca hasta las siete. Después voy al gimnasio dos días por semana. Estoy cansada, pero estoy contenta.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Me acuesto a las once y media. ¿Y tú? ¿A qué hora te acuestas?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468112" cy="19659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Escanea — busca el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5564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¿A qué hora se levanta Marta?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¿Cómo va a la facultad?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¿A qué hora terminan las clases?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¿Dónde estudia por la tarde?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¿Cuántos días por semana va al gimnasio?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468112" cy="2057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58768"/>
            <a:ext cx="512064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Marta se ducha por la mañana.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A Marta le gustan las lentejas.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Marta come sola.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Marta se acuesta a las once y media.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Marta va a la facultad en coche.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Escanear: 1) a las siete · 2) en autobús · 3) a la una y media · 4) en la biblioteca · 5) dos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1) V — «me ducho rápido»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2) F — «no me gustan nada las lentejas»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3) F — «como con mis compañeros»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4) V — «me acuesto a las once y media»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5) F — «voy en autobús»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46811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C6+ · el día a día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ESCUCHA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«Entrevista a un deportista»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Eerst de situatie, dan luisteren. Het transcript komt pas ná de taken.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0515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¿Dónde?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La radio del instituto, Salamanca</a:t>
            </a:r>
            <a:r>
              <a:rPr sz="1100" b="1" i="0">
                <a:solidFill>
                  <a:srgbClr val="5B3E83"/>
                </a:solidFill>
                <a:latin typeface="Inter"/>
              </a:rPr>
              <a:t>     ¿Quién?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Una periodista escolar y Hugo, nadador de dieciocho años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¿Qué pasa?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Le pregunta por su rutina y por lo que le gusta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Palabras clave: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¿a qué hora? · me levanto · me gusta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5577840" cy="2971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2120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Escucha con detalle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5212080" cy="23774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¿A qué hora se levanta Hugo?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¿Cómo va a la piscina?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¿Cuántas horas entrena al día?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¿Cuándo estudia?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¿A qué hora se acuesta?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14600"/>
            <a:ext cx="5468112" cy="29718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4436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A Hugo le gusta madrugar.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A Hugo le gustan las carreras.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Hugo se ducha antes de desayunar.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Tu reacción: </a:t>
            </a:r>
            <a:r>
              <a:rPr sz="1000" b="0" i="0">
                <a:solidFill>
                  <a:srgbClr val="20242E"/>
                </a:solidFill>
                <a:latin typeface="Inter"/>
              </a:rPr>
              <a:t>Contesta tú a la periodista: ¿a qué hora te levantas, qué haces primero, qué te gusta y qué no te gusta, y a qué hora te acuestas?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Detalle: 1) A las cinco y media · 2) En bici · 3) Cuatro · 4) Por la noche · 5) A las diez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1) F — «no me gusta nada»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2) V — «me gustan mucho las carreras»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3) V — «me ducho, desayuno mucho»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6811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C6+ · el día a día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🗓️ Tarea final · Mi día a día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Maak je dagblog voor de klasmuur y preséntalo en pareja.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Planifica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6–8 acciones + la hora (me levanto a las…)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tu 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6–8 frases: reflexivos + conectores + hora + frecuencia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gustos y ánimo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«me gusta… porque…» y «por la mañana estoy…»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en pareja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lee en voz alta; tu compañero/a anota una hora y pregunta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Graba tu presentación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5 verbos reflexivos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la hora + conectores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ser/estar + gustar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 (porque)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(el muro) · doel je dag delen · situatie het begin van het jaar · resultaat: blog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(levantarse)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tú (ducharse)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te duchas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(acostarse)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nos acostamos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Lucía ___ de Sevilla (ser/estar)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Hoy ___ cansado (ser/estar)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___ los perros (gusta/gustan)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gustan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 Diego ___ gusta el fútbol (pron.)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3:30 = son las tres…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y media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reflexivos · ser/estar · gustar + OI · la hora · «me gusta… porque».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(13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La hora: es la una · son las dos… · y cuarto/y media/menos cuarto · A las siete me levanto.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Reflexivos: pronombre (me·te·se·nos·os·se) + verbo. Cambio vocálico: me despierto, me acuesto, me visto.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Ser vs estar: ser = identiteit/karakter (soy simpático) · estar = plaats/gevoel (estoy cansado). es aburrido ≠ está aburrido.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Gustar + OI: me/te/le/nos/os/les + gusta (1/inf.) / gustan (varios). ¡Al revés!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nunca «yo gusto» · me gusta el fútbol (lidwoord) · me/te/se bij reflexief · a mí también (niet yo también).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hora zeggen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rutina met reflexivos vertellen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vs estar contrasteren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gustar + OI gebruiken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una opinión con «me gusta… porque»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EL DÍA A DÍA   ·   C6+ · el día a día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