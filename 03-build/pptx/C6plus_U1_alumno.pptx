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8" r:id="rId29"/>
    <p:sldId id="279" r:id="rId30"/>
    <p:sldId id="280" r:id="rId31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4 · Terapia de compañeros de piso — ⚖️ onderhandeling &amp; dilemma</a:t>
            </a:r>
          </a:p>
          <a:p>
            <a:r>
              <a:t>OPDRACHT: Twee leggen uit, één bemiddelt. De bemiddelaar vat beide standpunten samen vóór hij voorstelt.</a:t>
            </a:r>
          </a:p>
          <a:p>
            <a:r>
              <a:t>DE REGEL: De bemiddelaar mag pas een oplossing voorstellen nadat hij béide standpunten heeft samengevat — in de derde persoon, met reflexieve werkwoorden. Vóór die samenvatting is elk voorstel ongeldig.</a:t>
            </a:r>
          </a:p>
          <a:p>
            <a:r>
              <a:t>VERLOOP: Repartid los papeles: A, B y mediador/-a. | A y B cuentan su rutina y su queja. | El mediador resume las dos posturas en tercera persona. | Solo entonces: una propuesta concreta con horas. | ¿Firman los dos? Cambiad de papel.</a:t>
            </a:r>
          </a:p>
          <a:p>
            <a:r>
              <a:t>SLEUTEL: De samenvatting in de derde persoon is de eigenlijke oefening: «se levanta a las seis» tegenover «te levantas a las seis». Wie de rol van bemiddelaar goed speelt, vervoegt het hele reflexieve paradigma zonder dat het een drill lijkt.  ||  «Si te he entendido bien» is de sleutelchunk van bemiddelen en komt in elke ronde terug.  ||  Beide bewoners hebben gelijk: er is geen schuldige. Elk voorstel dat één van de twee vraagt zijn ritme volledig om te gooien, wordt niet getekend — en dat hoort zo.</a:t>
            </a:r>
          </a:p>
          <a:p>
            <a:r>
              <a:t>NOTA: Drie ronden met wisselende rollen zorgt dat iedereen één keer bemiddelaar is. Dat is de rol waar het meeste Spaans in zit.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6 · El termómetro emocional — 🔬 onderzoek &amp; data</a:t>
            </a:r>
          </a:p>
          <a:p>
            <a:r>
              <a:t>OPDRACHT: Stem anoniem, maak de grafiek en beschrijf de week met estar.</a:t>
            </a:r>
          </a:p>
          <a:p>
            <a:r>
              <a:t>DE REGEL: Alles anoniem, en elke conclusie gebruikt «estar» met een percentage of een aantal. «La clase es cansada» is fout in twee opzichten — vorm én inhoud.</a:t>
            </a:r>
          </a:p>
          <a:p>
            <a:r>
              <a:t>VERLOOP: Cada uno vota en anónimo: ¿cómo estás hoy, del uno al cinco? | Contad y haced el gráfico en la pizarra. | Escribid tres frases con estar y una cifra. | Repetid el viernes. ¿Ha cambiado algo?</a:t>
            </a:r>
          </a:p>
          <a:p>
            <a:r>
              <a:t>SLEUTEL: Het contrast dat de reto bewijst: «estoy» voor de stemming van vandaag, «es» alleen voor het gemiddelde als getal («la media es de 3,4»). Dat ene «es» temidden van al die «estoy»-vormen maakt de regel zichtbaar.  ||  «Está mejor que el lunes» introduceert de comparativo, die verderop in C6 terugkomt — een vooruitwijzing zonder er les van te maken.  ||  Toets de drie zinnen, niet het gemiddelde. En herhaal de meting: pas de tweéde keer zien leerlingen dat een klas een stemming heeft die verandert.</a:t>
            </a:r>
          </a:p>
          <a:p>
            <a:r>
              <a:t>NOTA: Houd het anoniem en vraag nooit door. Wie zich slecht voelt, mag dat aangeven zonder dat er een gesprek volgt — dat is de afspraak die de reto veilig maakt.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7 · Rutinas extremas — 🎭 simulatie met beperking</a:t>
            </a:r>
          </a:p>
          <a:p>
            <a:r>
              <a:t>OPDRACHT: Vergelijk een extreme routine met de jouwe en zeg wat jou onmogelijk lijkt.</a:t>
            </a:r>
          </a:p>
          <a:p>
            <a:r>
              <a:t>DE REGEL: Elke vergelijking noemt twee uren: het zijne en het jouwe. «Se levanta muy temprano» telt niet; «se levanta a las cuatro y yo a las siete» wel.</a:t>
            </a:r>
          </a:p>
          <a:p>
            <a:r>
              <a:t>VERLOOP: Elegid una rutina extrema. | Comparad hora por hora con la vuestra. | Decid qué os parece imposible y por qué. | ¿Podéis vivir así una semana? Votad.</a:t>
            </a:r>
          </a:p>
          <a:p>
            <a:r>
              <a:t>SLEUTEL: De astronaut is de leukste maar de zwemmer is didactisch de beste: zijn dag botst het hardst met een schooldag, dus de vergelijkingen komen vanzelf.  ||  «Mientras» plus presente is de conector die de reto binnenhaalt: twee handelingen op hetzelfde moment, twee verschillende personen.  ||  De vorm die op de tong ligt («yo no podría») is condicional en hoort niet in dit leerplan. Daarom geeft het marco «yo no puedo»; «para mí es imposible» werkt even goed.</a:t>
            </a:r>
          </a:p>
          <a:p>
            <a:r>
              <a:t>NOTA: De zestien zonsopgangen per dag in het ruimtestation zorgen altijd voor discussie. Laat die even lopen: het is echte inhoud, in het Spaans.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ESPAÑA · EL DÍA A DÍA 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día a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rutina, la hora, cómo te sientes y qué te gusta (reflexivos · ser/estar · gustar).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¿Cómo es un día en tu vida?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ziet jouw dag eruit?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1: España (Lucía)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día a día»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acciones · conectores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Reflexivos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me/te/se + verbo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identiteit ↔ gevoel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Gustar + OI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gusta… porque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🌞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horario español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🗓️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día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presentación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acciones de la rutina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dag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levanto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sta 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levantarse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ducho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douche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ducharse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desayuno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ontbijt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desayunar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como / meriendo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/ snack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 las 2 /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hago los deberes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maak huiswerk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la tarde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vuelvo a casa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keer terug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volver (o→ue)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ceno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's avonds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cenar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acuesto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ga naar bed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acostarse (o→ue)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Conectores de secuencia: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primero · luego · después · por último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Un día: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Primero me levanto, luego me ducho, después desayuno y por último voy al instituto.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Frecuencia: siempre · normalmente · a veces · nunca.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reflexivos — la acción vuelve a 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Pronombre (me/te/se…) +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me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levanto </a:t>
            </a:r>
            <a:r>
              <a:rPr sz="2400" b="1" i="0">
                <a:solidFill>
                  <a:srgbClr val="64748B"/>
                </a:solidFill>
                <a:latin typeface="Bricolage Grotesque"/>
              </a:rPr>
              <a:t>a las siete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Los pronombres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yo →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tú →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te levantas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él/ella → 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nosotros →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 levantamos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vosotros →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os levantáis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ellos → 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pronombre + verbo, in die volgorde. Het pronomen past bij het onderwerp: me (yo), te (tú), se (él/ella)…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los reflexivos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(levantarse) a las 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(ducharse) hoy?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Lucía ___ (despertarse) temprano.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despierta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(acostarse) a las 11.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(vestirse) rápido.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viste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___ (peinarse) ahora.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peinan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Pronombre + vorm: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me/te/se/nos/os/se + verbo. Cambio vocálico: me despierto, me acuesto, me visto (nosotros/vosotros GEEN wissel).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«levantarse» — klik om te onthullen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Denk eerst pronombre + vorm; klik dan de kaart.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🟣 </a:t>
            </a:r>
            <a:r>
              <a:rPr sz="1300" b="1" i="0">
                <a:solidFill>
                  <a:srgbClr val="5B3E83"/>
                </a:solidFill>
                <a:latin typeface="Inter"/>
              </a:rPr>
              <a:t>La posición: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normaal vóór het werkwoord (Me ducho); bij infinitief mag ook achteraan: Quiero ducharme = Me quiero duchar.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bota: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cambio vocálico in yo·tú·él·ellos (me despierto, me acuesto), NIET in nosotros/vosotros.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vs estar — el contraste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ser = wie/wat je bent (permanent) · estar = waar/hoe (plaats/gevoel).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2563EB"/>
                </a:solidFill>
                <a:latin typeface="Inter"/>
              </a:rPr>
              <a:t>es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simpática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(karakter)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cansada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(gevoel nu)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identiteit / herkomst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beroep / karakter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uur &amp; datum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788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plaats (dónde)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gevoel / toestand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🔴 es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aburrido: saai ≠ verveelt zich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 simpático) · plaats/gevoel/toestand nu → estar (estoy cansado).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estar?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betekenis.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___ de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Hoy ___ cansado.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mochila ___ en clase.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clase ___ aburrida (saai).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(Yo) ___ aburrido (nu).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Contraste: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aburrido = saai (eigenschap) · está aburrido = verveelt zich (nu). Idem: es/está listo, rico, bueno.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«¿Qué les gusta?»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su día y sus gustos.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despierto a las siete y me levanto enseguida. Como a las tres. Por la tarde me gusta bailar flamenco. Hoy estoy contenta porque es viernes.»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levanto a las seis y media. Me encantan los videojuegos, pero no me gusta nada madrugar. Me acuesto a las once. Estoy cansado, pero feliz.»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 qué hora se levanta Lucía?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 gusta a Lucía?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NO le gusta a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está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Cansado, pero feliz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la hora, los gustos y el ánimo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con Lucía (el horario)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un momento → la hora + la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🌅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se levanta y se ducha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🍽️ la comida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14:00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come (¡tarde!)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📓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18:00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hace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🌙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22:00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cena y se acuesta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llamo Lucía. Me levanto a las siete, me ducho y desayuno. Como a las dos…»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schrijven: elke leerling noteert zijn eigen horario.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¡al revés! 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Me gusta la música = de muziek bevalt míj. Nooit «yo gusto».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NL: </a:t>
            </a:r>
            <a:r>
              <a:rPr sz="1400" b="1" i="0">
                <a:solidFill>
                  <a:srgbClr val="2563EB"/>
                </a:solidFill>
                <a:latin typeface="Inter"/>
              </a:rPr>
              <a:t>Ik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vind muziek leuk.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ES: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Me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gusta </a:t>
            </a:r>
            <a:r>
              <a:rPr sz="1400" b="1" i="0">
                <a:solidFill>
                  <a:srgbClr val="B4309A"/>
                </a:solidFill>
                <a:latin typeface="Inter"/>
              </a:rPr>
              <a:t>la música</a:t>
            </a:r>
            <a:r>
              <a:rPr sz="14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+ 1 cosa (el/la)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infinitivo (bailar)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varias cosas (los/las)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¿A quién?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(a mí) me · (a ti) te · (a él/ella) le · (a nosotros) nos · (a vosotros) os · (a ellos) 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262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werkwoord volgt het DING (ev/mv), niet de persoon. Me gusta el fútbol · Me gustan los perros.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nunca «yo gusto» · met sustantivo altijd el/la/los/las.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3982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QUIZ · P3-SEED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Gustos: pronombre + «porque»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Y da tu opinión con «me gusta… porque…».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___ el fútbol.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 ___ los deportes.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gustan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Lucía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 gusta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mis padres ___ la siesta.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les gusta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no ___ los lunes.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 ___ viajar.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gusta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160520"/>
            <a:ext cx="1124712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escala: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encanta 😍 → me gusta mucho → me gusta 🙂 → no me gusta → no me gusta nada 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P3-seed (mi opinión):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 gusta la música latina porque es alegre. No me gustan los lunes porque estoy cansado.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Reageren: a mí también (+) · a mí tampoco (−).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día!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Despertar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despierto a las…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Higiene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ducho y me visto.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Desayuno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Desayuno…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Instituto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al insti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Hago los deberes / me gusta…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Ceno y me acuesto a las…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32511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día a día»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levanto a las siete, me ducho y desayuno. Voy al insti a las ocho. Por la tarde me gusta bailar. Ceno y me acuesto a las once.»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día a día (el blog)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dagblog.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día: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5 verbos reflexivos (me levanto…)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hora (a las siete)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luego…)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frecuencia (siempre, a veces)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gusto (me gusta… porque…)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estás (estoy…)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«Normalmente me levanto a las siete. Primero me ducho, luego desayuno. Como a las dos. Por la tarde me gusta bailar porque es divertido. Me acuesto a las once. Hoy estoy contento.»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hora y los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Son las 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2:00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cuarto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menos cuarto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punto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op het uur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contento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blij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cansado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moe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nervioso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nerveus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verveeld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hoe laat is het?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om hoe laat?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la una (1) · son las + 2,3… · y cuarto/y media/menos cuarto. ¿A qué hora? → A las siete.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Sentimientos: estar + adjetivo (estoy contento/cansado). Concordancia: contento/contenta.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 en los reflexivos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DU-cho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des-PIER-ta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des-per-TAR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MIÉR-co-les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primero · luego · después ·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me levanto, ___ me ducho.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783080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primero … luego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2441448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después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gusta el finde ___ no hay clase.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099816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___, me acuesto.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3758184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 último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reflexieve vormen zijn llana (me DU-cho); draagt het een tilde, volg de tilde.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«dus» = así que/por eso.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1: ESPAÑA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Un día hispano tiene su ritmo.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🍽️ Se come tarde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is la comida (lunch) de hoofdmaaltijd, om 14–15u. La cena is licht en laat: 21–22u. Desayuno = klein.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comida ≠ el desayuno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😴 La siesta — mito y realidad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 de comida rusten sommigen even (la siesta), vooral in kleine steden en de zomer. In grote steden bijna niemand meer.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geen siesta voor iedereen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🌎 No es igual en todo el mundo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México eet men ook rond 14–15u maar ontbijt steviger. In veel LatAm-landen eet men vroeger dan in España.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hispano ≠ un solo horario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horario con el de España. ¿A qué hora comes tú? ¿Y cenas?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«Un martes cualquiera»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entrada de blog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UN MARTES CUALQUIERA 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vida en España · entrada del 12 de marzo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despierto a las siete menos cuarto, pero no me levanto hasta las siete. Me ducho rápido, me visto y desayuno un café con tostadas.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 las ocho salgo de casa. La facultad está lejos, así que voy en autobús. Las clases empiezan a las nueve y terminan a la una y media.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Como con mis compañeros en la cafetería. Me gusta mucho la tortilla de patatas, pero no me gustan nada las lentejas.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07:00 — me levanto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08:00 — salgo de casa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09:00 — empiezan las clases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13:30 — termino y como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17:00 — estudio en la biblioteca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23:30 — me acuesto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la tarde estudio en la biblioteca hasta las siete. Después voy al gimnasio dos días por semana. Estoy cansada, pero estoy contenta.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Me acuesto a las once y media. ¿Y tú? ¿A qué hora te acuestas?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Marta?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facultad?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¿A qué hora terminan las clases?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¿Dónde estudia por la tarde?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días por semana va al gimnasio?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Marta se ducha por la mañana.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Marta le gustan las lentejas.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Marta come sola.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Marta se acuesta a las once y media.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Marta va a la facultad en coche.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Escanear: 1) a las siete · 2) en autobús · 3) a la una y media · 4) en la biblioteca · 5) 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V — «me ducho rápido»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«no me gustan nada las lentejas»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F — «como con mis compañeros»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4) V — «me acuesto a las once y media»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5) F — «voy en autobús»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«Entrevista a un deportista»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La radio del instituto, Salamanca</a:t>
            </a:r>
            <a:r>
              <a:rPr sz="1100" b="1" i="0">
                <a:solidFill>
                  <a:srgbClr val="5B3E83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Una periodista escolar y Hugo, nadador de dieciocho años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Le pregunta por su rutina y por lo que le gusta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¿a qué hora? · me levanto · me gusta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Hugo?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piscina?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¿Cuántas horas entrena al día?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¿Cuándo estudia?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¿A qué hora se acuesta?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A Hugo le gusta madrugar.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Hugo le gustan las carreras.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Hugo se ducha antes de desayunar.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Contesta tú a la periodista: ¿a qué hora te levantas, qué haces primero, qué te gusta y qué no te gusta, y a qué hora te acuestas?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Detalle: 1) A las cinco y media · 2) En bici · 3) Cuatro · 4) Por la noche · 5) A las diez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F — «no me gusta nada»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V — «me gustan mucho las carreras»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V — «me ducho, desayuno mucho»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🗓️ Tarea final · Mi día a día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dagblog voor de klasmuur y preséntalo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acciones + la hora (me levanto a las…)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frases: reflexivos + conectores + hora + frecuencia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gustos y ánimo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gusta… porque…» y «por la mañana estoy…»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en pareja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lee en voz alta; tu compañero/a anota una hora y pregunta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verbos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la hora + conectores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ser/estar + gustar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 dag delen · situatie het begin van het jaar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(levantarse)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tú (ducharse)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(acostarse)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Lucía ___ de Sevilla (ser/estar)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Hoy ___ cansado (ser/estar)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___ los perros (gusta/gustan)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Diego ___ gusta el fútbol (pron.)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3:30 = son las tres…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 media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reflexivos · ser/estar · gustar + OI · la hora · «me gusta… porque».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cuarto/y media/menos cuarto · A las siete me levanto.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pronombre (me·te·se·nos·os·se) + verbo. Cambio vocálico: me despierto, me acuesto, me visto.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Ser vs estar: ser = identiteit/karakter (soy simpático) · estar = plaats/gevoel (estoy cansado). es aburrido ≠ está aburrido.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+ OI: me/te/le/nos/os/les + gusta (1/inf.) / gustan (varios). ¡Al revés!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nunca «yo gusto» · me gusta el fútbol (lidwoord) · me/te/se bij reflexief · a mí también (niet yo también).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 vertellen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 estar contrasteren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gustar + OI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una opinión con «me gusta… porque»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4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Terapia de compañeros de piso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Uno se levanta a las seis. El otro se acuesta a las tres. Viven juntos.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ene staat op om zes uur. De andere gaat slapen om drie uur. Ze wonen samen.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De bemiddelaar mag pas een oplossing voorstellen nadat hij béide standpunten heeft samengevat — in de derde persoon, met reflexieve werkwoorden. Vóór die samenvatting is elk voorstel ongeldig.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Compañero/a 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 levantas a las seis, te duchas con música y desayunas en la cocina. A las diez de la noche ya estás dormido/-a.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Compañero/a B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 acuestas a las tres, te levantas a mediodía y estudias de noche. La ducha de las seis te despierta cada día.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tomas partido. Resumes primero, propones después.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queja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ducha de las seis se oye en toda la casa.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queja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cocina está sucia a mediodía.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queja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luz del salón está encendida a las dos de la mañana.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queja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Nadie se acuerda de sacar la basura.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 te he entendido bien, tú te … a las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 tú, en cambio, te … a las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Los dos tenéis razón en que …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os parece si …?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¿Estáis de acuerdo con esto?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6 · ONDERZOEK &amp; DATA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termómetro emocional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★★☆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¿Cómo está la clase hoy? En cifras, y sin nombres.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Hoe is de klas er vandaag aan toe? In cijfers, en zonder namen.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Alles anoniem, en elke conclusie gebruikt «estar» met een percentage of een aantal. «La clase es cansada» is fout in twee opzichten — vorm én inhoud.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1 · fatal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fatal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2 · regular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regular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3 · normal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bien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4 · contento/-a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contento/-a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5 · genial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genial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… % de la clase está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Hoy hay más gente … que el lunes.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Nadie está … , y eso es buena señal.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media de la clase es de … sobre cinco.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viernes la clase está … que el lunes.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Acuerdo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Nadie tiene que decir por qué. El termómetro mide la clase, no a las personas.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7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Rutinas extremas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Astronauta, panadero de noche, nadadora olímpica. ¿Quién tiene el peor despertador?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Astronaut, nachtbakker, olympisch zwemster. Wie heeft de ergste wekker?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Elke vergelijking noemt twee uren: het zijne en het jouwe. «Se levanta muy temprano» telt niet; «se levanta a las cuatro y yo a las siete» wel.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astronauta en la EEI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despierta a las 6:00 UTC · hace deporte dos horas al día · ve dieciséis amaneceres · se duerme atado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panadero/-a de noche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entra a las 23:00 · el primer pan sale a las 5:00 · se acuesta a las 14:00 · libra los domingos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nadador/-a olímpico/-a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levanta a las 4:45 · dos entrenamientos al día · come cinco veces · se acuesta a las 21:00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médico/-a de urgencias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turnos de doce horas · come cuando puede · duerme de día una semana de cada tres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levanta a las … y yo a las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Mientras él/ella …, yo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 que me parece imposible es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no puedo … , porque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 eso nos parecemos: los dos nos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